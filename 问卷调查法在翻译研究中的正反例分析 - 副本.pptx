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2677/ae.2024.1491756" TargetMode="External"/><Relationship Id="rId2" Type="http://schemas.openxmlformats.org/officeDocument/2006/relationships/hyperlink" Target="https://heep.fltrp.com/contents/17124643420005637?type=1" TargetMode="External"/><Relationship Id="rId3" Type="http://schemas.openxmlformats.org/officeDocument/2006/relationships/hyperlink" Target="https://iots.shisu.edu.cn/b8/2b/c15638a178219/page.ht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280160"/>
            <a:ext cx="5669280" cy="5669280"/>
          </a:xfrm>
          <a:prstGeom prst="ellipse">
            <a:avLst/>
          </a:prstGeom>
          <a:solidFill>
            <a:srgbClr val="1E2A5E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548640"/>
            <a:ext cx="3108960" cy="3108960"/>
          </a:xfrm>
          <a:prstGeom prst="ellipse">
            <a:avLst/>
          </a:prstGeom>
          <a:solidFill>
            <a:srgbClr val="31417E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9800" y="2377440"/>
            <a:ext cx="822960" cy="822960"/>
          </a:xfrm>
          <a:prstGeom prst="ellipse">
            <a:avLst/>
          </a:prstGeom>
          <a:solidFill>
            <a:srgbClr val="DFA53B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234440"/>
            <a:ext cx="164592" cy="1554480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129844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翻译研究方法 · 课程小组展示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7373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正反例分析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78408" y="34015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问卷调查法专项 · 第1小组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8408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10 月 12 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5806440"/>
            <a:ext cx="45720" cy="0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5669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基于真实翻译研究案例的正反例对比分析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3911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645920" y="2020824"/>
            <a:ext cx="27432" cy="822960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9659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问卷调查法的核心特征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828800" y="244144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· 适用场景 · 优势与局限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03911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269480" y="2020824"/>
            <a:ext cx="27432" cy="822960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14" name="Text 12"/>
          <p:cNvSpPr/>
          <p:nvPr/>
        </p:nvSpPr>
        <p:spPr>
          <a:xfrm>
            <a:off x="7452360" y="19659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正例分析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52360" y="244144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案例1：汉语翻译语体识别 · 案例2：翻译技术培训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300984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57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1645920" y="3538728"/>
            <a:ext cx="27432" cy="822960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348386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反例分析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828800" y="39593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问题1：问卷设计缺陷 · 问题2：数据分析不规范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3300984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557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7269480" y="3538728"/>
            <a:ext cx="27432" cy="822960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24" name="Text 22"/>
          <p:cNvSpPr/>
          <p:nvPr/>
        </p:nvSpPr>
        <p:spPr>
          <a:xfrm>
            <a:off x="7452360" y="348386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正反对比与方法总结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452360" y="39593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七维度对比 · 关键启示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4818888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074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1645920" y="5056632"/>
            <a:ext cx="27432" cy="822960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0" y="500176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828800" y="547725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课堂讨论与互动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17920" y="4818888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5074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7269480" y="5056632"/>
            <a:ext cx="27432" cy="822960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34" name="Text 32"/>
          <p:cNvSpPr/>
          <p:nvPr/>
        </p:nvSpPr>
        <p:spPr>
          <a:xfrm>
            <a:off x="7452360" y="500176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452360" y="547725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中英文文献 · 高亮链接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方法概述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问卷调查法在翻译研究中的核心特征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11000232" cy="713232"/>
          </a:xfrm>
          <a:prstGeom prst="roundRect">
            <a:avLst>
              <a:gd name="adj" fmla="val 7692"/>
            </a:avLst>
          </a:prstGeom>
          <a:solidFill>
            <a:srgbClr val="1E2A5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以标准化问卷为工具，系统收集翻译相关数据的</a:t>
            </a:r>
            <a:pPr indent="0" marL="0">
              <a:buNone/>
            </a:pPr>
            <a:r>
              <a:rPr lang="en-US" sz="14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定量研究方法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017520"/>
            <a:ext cx="5120640" cy="475488"/>
          </a:xfrm>
          <a:prstGeom prst="roundRect">
            <a:avLst>
              <a:gd name="adj" fmla="val 11538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3136392"/>
            <a:ext cx="47914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读者对译文的反应 / 评价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3017520"/>
            <a:ext cx="5120640" cy="475488"/>
          </a:xfrm>
          <a:prstGeom prst="roundRect">
            <a:avLst>
              <a:gd name="adj" fmla="val 11538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3136392"/>
            <a:ext cx="47914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译者行为 / 策略调查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657600"/>
            <a:ext cx="5120640" cy="475488"/>
          </a:xfrm>
          <a:prstGeom prst="roundRect">
            <a:avLst>
              <a:gd name="adj" fmla="val 11538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776472"/>
            <a:ext cx="47914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翻译教学效果评估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3657600"/>
            <a:ext cx="5120640" cy="475488"/>
          </a:xfrm>
          <a:prstGeom prst="roundRect">
            <a:avLst>
              <a:gd name="adj" fmla="val 11538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3776472"/>
            <a:ext cx="47914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翻译行业现状分析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46520" y="3017520"/>
            <a:ext cx="5148072" cy="1325880"/>
          </a:xfrm>
          <a:prstGeom prst="roundRect">
            <a:avLst>
              <a:gd name="adj" fmla="val 4138"/>
            </a:avLst>
          </a:prstGeom>
          <a:solidFill>
            <a:srgbClr val="E4F4ED"/>
          </a:solidFill>
          <a:ln w="12700">
            <a:solidFill>
              <a:srgbClr val="2E9E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163824"/>
            <a:ext cx="47823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大规模数据收集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3547872"/>
            <a:ext cx="47823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标准化操作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3931920"/>
            <a:ext cx="47823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易于定量分析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局限性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46520" y="4937760"/>
            <a:ext cx="5148072" cy="1325880"/>
          </a:xfrm>
          <a:prstGeom prst="roundRect">
            <a:avLst>
              <a:gd name="adj" fmla="val 4138"/>
            </a:avLst>
          </a:prstGeom>
          <a:solidFill>
            <a:srgbClr val="FBE9E7"/>
          </a:solidFill>
          <a:ln w="12700">
            <a:solidFill>
              <a:srgbClr val="C94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5084064"/>
            <a:ext cx="47823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回收率难以保证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5468112"/>
            <a:ext cx="47823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缺乏深度定性分析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5852160"/>
            <a:ext cx="47823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受问卷设计质量影响大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正例分析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科学规范的问卷调查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532888"/>
            <a:ext cx="365760" cy="365760"/>
          </a:xfrm>
          <a:prstGeom prst="ellipse">
            <a:avLst/>
          </a:prstGeom>
          <a:solidFill>
            <a:srgbClr val="2E9E6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32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55117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明确的研究问题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3154680"/>
            <a:ext cx="365760" cy="365760"/>
          </a:xfrm>
          <a:prstGeom prst="ellipse">
            <a:avLst/>
          </a:prstGeom>
          <a:solidFill>
            <a:srgbClr val="2E9E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1729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严谨的问卷设计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3776472"/>
            <a:ext cx="365760" cy="365760"/>
          </a:xfrm>
          <a:prstGeom prst="ellipse">
            <a:avLst/>
          </a:prstGeom>
          <a:solidFill>
            <a:srgbClr val="2E9E6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76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7947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规范的调查流程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4398264"/>
            <a:ext cx="365760" cy="365760"/>
          </a:xfrm>
          <a:prstGeom prst="ellipse">
            <a:avLst/>
          </a:prstGeom>
          <a:solidFill>
            <a:srgbClr val="2E9E6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398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4165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科学的数据分析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46520" y="1828800"/>
            <a:ext cx="5148072" cy="3291840"/>
          </a:xfrm>
          <a:prstGeom prst="roundRect">
            <a:avLst>
              <a:gd name="adj" fmla="val 1667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案例选取标准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20840" y="2551176"/>
            <a:ext cx="4599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发表于核心期刊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20840" y="3172968"/>
            <a:ext cx="4599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问卷设计逻辑清晰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20840" y="3794760"/>
            <a:ext cx="4599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数据分析方法得当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20840" y="4416552"/>
            <a:ext cx="4599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结论可靠可信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94360" y="5440680"/>
            <a:ext cx="11000232" cy="658368"/>
          </a:xfrm>
          <a:prstGeom prst="roundRect">
            <a:avLst>
              <a:gd name="adj" fmla="val 8333"/>
            </a:avLst>
          </a:prstGeom>
          <a:solidFill>
            <a:srgbClr val="1E2A5E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44068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好的问卷调查 = 好问题 + 好设计 + 好流程 + 好分析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正例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汉语翻译语体识别研究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1000232" cy="603504"/>
          </a:xfrm>
          <a:prstGeom prst="roundRect">
            <a:avLst>
              <a:gd name="adj" fmla="val 7576"/>
            </a:avLst>
          </a:prstGeom>
          <a:solidFill>
            <a:srgbClr val="DCE4F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64208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案例来源：</a:t>
            </a:r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郑剑委《翻译出版生产中的译者行为体系研究》相关研究 · 《外语研究》类核心期刊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395728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237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889504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汉语读者能否识别汉语翻译语体？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其影响因素是什么？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7124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统计方法：</a:t>
            </a:r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卡方检验、相关性分析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3159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总识别率与英语水平成正比（r = 0.67, p &lt; 0.01）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读者类型与识别能力无显著相关性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2395728"/>
            <a:ext cx="5148072" cy="2286000"/>
          </a:xfrm>
          <a:prstGeom prst="roundRect">
            <a:avLst>
              <a:gd name="adj" fmla="val 2400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5237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问卷设计亮点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2889504"/>
            <a:ext cx="46908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双盲原则：被试不知文本是原创还是翻译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3273552"/>
            <a:ext cx="46908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样本代表性：300 名不同类型读者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3657600"/>
            <a:ext cx="46908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问题中性：避免诱导性表述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4041648"/>
            <a:ext cx="46908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混合题型：判断题 + 理由选择题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4846320"/>
            <a:ext cx="11000232" cy="1371600"/>
          </a:xfrm>
          <a:prstGeom prst="roundRect">
            <a:avLst>
              <a:gd name="adj" fmla="val 4000"/>
            </a:avLst>
          </a:prstGeom>
          <a:solidFill>
            <a:srgbClr val="E4F4ED"/>
          </a:solidFill>
          <a:ln w="12700">
            <a:solidFill>
              <a:srgbClr val="2E9E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95604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值得借鉴的方面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321808"/>
            <a:ext cx="5349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预调查：</a:t>
            </a:r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小规模测试后修正问卷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63640" y="5321808"/>
            <a:ext cx="5349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信度检验：</a:t>
            </a:r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Cronbach's α = 0.85（优秀）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5724144"/>
            <a:ext cx="5349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效度检验：</a:t>
            </a:r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专家评审 + 因子分析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63640" y="5724144"/>
            <a:ext cx="5349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透明化：</a:t>
            </a:r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详细报告调查过程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正例 1 · 问卷示例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问卷设计截图示例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37360"/>
            <a:ext cx="6492240" cy="512064"/>
          </a:xfrm>
          <a:prstGeom prst="roundRect">
            <a:avLst>
              <a:gd name="adj" fmla="val 10714"/>
            </a:avLst>
          </a:prstGeom>
          <a:solidFill>
            <a:srgbClr val="1E2A5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示例问题（中性 · 无诱导）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45059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请判断以下文本是原创文本还是翻译文本：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816352"/>
            <a:ext cx="5852160" cy="822960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816352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文本 A：汉语段落 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74904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83080" y="3785616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6A72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0552" y="373075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原创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54680" y="3785616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6A72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02152" y="373075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20624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您选择的依据是？（可多选）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590288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6A72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6152" y="455371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语言表达习惯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0" y="4590288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6A72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0672" y="455371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句式结构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4590288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6A72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455371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词汇选择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502920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其他：____________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1737360"/>
            <a:ext cx="4279392" cy="4297680"/>
          </a:xfrm>
          <a:prstGeom prst="roundRect">
            <a:avLst>
              <a:gd name="adj" fmla="val 1282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设计亮点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89520" y="2487168"/>
            <a:ext cx="384048" cy="384048"/>
          </a:xfrm>
          <a:prstGeom prst="ellipse">
            <a:avLst/>
          </a:prstGeom>
          <a:solidFill>
            <a:srgbClr val="2E9E6E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0" y="2487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38160" y="2450592"/>
            <a:ext cx="3182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中性表述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138160" y="2779776"/>
            <a:ext cx="3182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问题不预设答案，避免诱导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589520" y="3447288"/>
            <a:ext cx="384048" cy="384048"/>
          </a:xfrm>
          <a:prstGeom prst="ellipse">
            <a:avLst/>
          </a:prstGeom>
          <a:solidFill>
            <a:srgbClr val="2E9E6E"/>
          </a:solidFill>
          <a:ln/>
        </p:spPr>
      </p:sp>
      <p:sp>
        <p:nvSpPr>
          <p:cNvPr id="32" name="Text 30"/>
          <p:cNvSpPr/>
          <p:nvPr/>
        </p:nvSpPr>
        <p:spPr>
          <a:xfrm>
            <a:off x="7589520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38160" y="3410712"/>
            <a:ext cx="3182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逻辑严密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138160" y="3739896"/>
            <a:ext cx="3182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选项互斥且穷尽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589520" y="4407408"/>
            <a:ext cx="384048" cy="384048"/>
          </a:xfrm>
          <a:prstGeom prst="ellipse">
            <a:avLst/>
          </a:prstGeom>
          <a:solidFill>
            <a:srgbClr val="DFA53B"/>
          </a:solidFill>
          <a:ln/>
        </p:spPr>
      </p:sp>
      <p:sp>
        <p:nvSpPr>
          <p:cNvPr id="36" name="Text 34"/>
          <p:cNvSpPr/>
          <p:nvPr/>
        </p:nvSpPr>
        <p:spPr>
          <a:xfrm>
            <a:off x="7589520" y="4407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38160" y="4370832"/>
            <a:ext cx="3182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开放性补充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138160" y="4700016"/>
            <a:ext cx="3182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允许被试提供其他理由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正例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翻译技术培训效果调研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1000232" cy="603504"/>
          </a:xfrm>
          <a:prstGeom prst="roundRect">
            <a:avLst>
              <a:gd name="adj" fmla="val 7576"/>
            </a:avLst>
          </a:prstGeom>
          <a:solidFill>
            <a:srgbClr val="DCE4F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64208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案例来源：</a:t>
            </a:r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Schaeffer et al. (2020) TICQ 问卷 · 肖维青、熊凌崧（2023）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395728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237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889504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翻译技术培训的效果如何？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学生对培训的满意度与能力提升如何？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7124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0416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 385 名 MTI 学生，回收率 94%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33425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描述性统计 + 方差分析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60857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53.76% 认为教材系统覆盖翻译技术知识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2395728"/>
            <a:ext cx="5148072" cy="2286000"/>
          </a:xfrm>
          <a:prstGeom prst="roundRect">
            <a:avLst>
              <a:gd name="adj" fmla="val 2400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5237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问卷设计亮点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2907792"/>
            <a:ext cx="46908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理论框架：基于 Kirkpatrick 模型（反应层 + 行为层）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3364992"/>
            <a:ext cx="46908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维度全面：教材系统性 / 教学方法 / 评估方式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3822192"/>
            <a:ext cx="46908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量表设计：李克特 5 级量表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846320"/>
            <a:ext cx="11000232" cy="1371600"/>
          </a:xfrm>
          <a:prstGeom prst="roundRect">
            <a:avLst>
              <a:gd name="adj" fmla="val 4000"/>
            </a:avLst>
          </a:prstGeom>
          <a:solidFill>
            <a:srgbClr val="E4F4ED"/>
          </a:solidFill>
          <a:ln w="12700">
            <a:solidFill>
              <a:srgbClr val="2E9E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5604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值得借鉴的方面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532180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混合方法：</a:t>
            </a:r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 + 访谈（8 名学生）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89120" y="532180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分层分析：</a:t>
            </a:r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按年级 / 专业分组对比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955280" y="532180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结果可视化：</a:t>
            </a:r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图表清晰展示趋势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反例分析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常见问题与典型案例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1000232" cy="603504"/>
          </a:xfrm>
          <a:prstGeom prst="roundRect">
            <a:avLst>
              <a:gd name="adj" fmla="val 7576"/>
            </a:avLst>
          </a:prstGeom>
          <a:solidFill>
            <a:srgbClr val="DCE4F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64208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</a:t>
            </a:r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王水、赵建军（2024）· 基于 376 篇文科硕士论文的调查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487168"/>
            <a:ext cx="2615184" cy="1783080"/>
          </a:xfrm>
          <a:prstGeom prst="roundRect">
            <a:avLst>
              <a:gd name="adj" fmla="val 3077"/>
            </a:avLst>
          </a:prstGeom>
          <a:solidFill>
            <a:srgbClr val="FBE9E7"/>
          </a:solidFill>
          <a:ln w="12700">
            <a:solidFill>
              <a:srgbClr val="C94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9748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49.47%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40156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问卷结构不完整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767328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（186 篇）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92424" y="2487168"/>
            <a:ext cx="2615184" cy="1783080"/>
          </a:xfrm>
          <a:prstGeom prst="roundRect">
            <a:avLst>
              <a:gd name="adj" fmla="val 3077"/>
            </a:avLst>
          </a:prstGeom>
          <a:solidFill>
            <a:srgbClr val="FBE9E7"/>
          </a:solidFill>
          <a:ln w="12700">
            <a:solidFill>
              <a:srgbClr val="C94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9584" y="269748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82.99%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29584" y="340156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缺乏预调查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9584" y="3767328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（294 篇无说明）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90488" y="2487168"/>
            <a:ext cx="2615184" cy="1783080"/>
          </a:xfrm>
          <a:prstGeom prst="roundRect">
            <a:avLst>
              <a:gd name="adj" fmla="val 3077"/>
            </a:avLst>
          </a:prstGeom>
          <a:solidFill>
            <a:srgbClr val="FBE9E7"/>
          </a:solidFill>
          <a:ln w="12700">
            <a:solidFill>
              <a:srgbClr val="C94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269748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 &lt; 200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27648" y="340156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样本量不足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7648" y="3767328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88552" y="2487168"/>
            <a:ext cx="2615184" cy="1783080"/>
          </a:xfrm>
          <a:prstGeom prst="roundRect">
            <a:avLst>
              <a:gd name="adj" fmla="val 3077"/>
            </a:avLst>
          </a:prstGeom>
          <a:solidFill>
            <a:srgbClr val="FBE9E7"/>
          </a:solidFill>
          <a:ln w="12700">
            <a:solidFill>
              <a:srgbClr val="C94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25712" y="269748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占比极高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25712" y="340156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缺乏信效度检验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25712" y="3767328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内部一致性未知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" y="4572000"/>
            <a:ext cx="11000232" cy="1554480"/>
          </a:xfrm>
          <a:prstGeom prst="roundRect">
            <a:avLst>
              <a:gd name="adj" fmla="val 3529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8680" y="5212080"/>
            <a:ext cx="457200" cy="457200"/>
          </a:xfrm>
          <a:prstGeom prst="ellipse">
            <a:avLst/>
          </a:prstGeom>
          <a:solidFill>
            <a:srgbClr val="C9463D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08760" y="52669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问卷设计粗糙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4434840" y="5212080"/>
            <a:ext cx="457200" cy="457200"/>
          </a:xfrm>
          <a:prstGeom prst="ellipse">
            <a:avLst/>
          </a:prstGeom>
          <a:solidFill>
            <a:srgbClr val="C9463D"/>
          </a:solidFill>
          <a:ln/>
        </p:spPr>
      </p:sp>
      <p:sp>
        <p:nvSpPr>
          <p:cNvPr id="30" name="Text 28"/>
          <p:cNvSpPr/>
          <p:nvPr/>
        </p:nvSpPr>
        <p:spPr>
          <a:xfrm>
            <a:off x="443484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74920" y="52669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调查过程随意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8001000" y="5212080"/>
            <a:ext cx="457200" cy="457200"/>
          </a:xfrm>
          <a:prstGeom prst="ellipse">
            <a:avLst/>
          </a:prstGeom>
          <a:solidFill>
            <a:srgbClr val="C9463D"/>
          </a:solidFill>
          <a:ln/>
        </p:spPr>
      </p:sp>
      <p:sp>
        <p:nvSpPr>
          <p:cNvPr id="33" name="Text 31"/>
          <p:cNvSpPr/>
          <p:nvPr/>
        </p:nvSpPr>
        <p:spPr>
          <a:xfrm>
            <a:off x="800100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41080" y="52669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数据分析不规范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问卷设计缺陷：诱导性提问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5852160" cy="45720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语言学及应用语言学硕士论文（2019–2022）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340864"/>
            <a:ext cx="585216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5059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具体案例（问题原文）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798064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“有人认为西安话有一千多年的历史，在西安生活一定要使用西安方言。您认为呢？”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63931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选项：□ 同意　□ 不同意　□ 无所谓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224528"/>
            <a:ext cx="5852160" cy="2011680"/>
          </a:xfrm>
          <a:prstGeom prst="roundRect">
            <a:avLst>
              <a:gd name="adj" fmla="val 2727"/>
            </a:avLst>
          </a:prstGeom>
          <a:solidFill>
            <a:srgbClr val="FBE9E7"/>
          </a:solidFill>
          <a:ln w="12700">
            <a:solidFill>
              <a:srgbClr val="C94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33425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70001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隐含立场：问题本身暗示“西安话很重要”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诱导回答：被试易受暗示，倾向选择“同意”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54126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缺乏中性：未提供平衡的背景信息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1737360"/>
            <a:ext cx="4873752" cy="201168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8470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2212848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数据偏差：结果缺乏客观性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2633472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信度受损：问卷整体可信度下降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3054096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结论不可靠：研究发现可能被误导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0840" y="3931920"/>
            <a:ext cx="4873752" cy="2304288"/>
          </a:xfrm>
          <a:prstGeom prst="roundRect">
            <a:avLst>
              <a:gd name="adj" fmla="val 2381"/>
            </a:avLst>
          </a:prstGeom>
          <a:solidFill>
            <a:srgbClr val="E4F4ED"/>
          </a:solidFill>
          <a:ln w="12700">
            <a:solidFill>
              <a:srgbClr val="2E9E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404164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改进建议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4407408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中性表述：“您认为在西安生活是否需要使用西安方言？”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4956048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平衡选项：提供“强烈同意”到“强烈不同意”5 级量表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5504688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背景说明：在问卷开头提供中性的背景介绍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数据分析不规范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5852160" cy="45720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语言学及应用语言学硕士论文（2019–2022）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340864"/>
            <a:ext cx="5852160" cy="2926080"/>
          </a:xfrm>
          <a:prstGeom prst="roundRect">
            <a:avLst>
              <a:gd name="adj" fmla="val 1875"/>
            </a:avLst>
          </a:prstGeom>
          <a:solidFill>
            <a:srgbClr val="FBE9E7"/>
          </a:solidFill>
          <a:ln w="12700">
            <a:solidFill>
              <a:srgbClr val="C94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5059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具体问题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81635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缺乏信度检验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3118104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82.99% 未做 Cronbach's α，内部一致性无法保证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59359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缺乏效度检验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895344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 以上未做因子分析，是否测量目标概念未知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37083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统计方法错误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4672584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用卡方检验分析连续变量，忽视正态性检验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20840" y="1737360"/>
            <a:ext cx="487375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8470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2212848"/>
            <a:ext cx="4416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研究目标：</a:t>
            </a:r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探索学生翻译策略使用情况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2578608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仅使用频数分析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2980944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未做相关性 / 回归分析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3383280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结论仅停留在描述层面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5029200"/>
            <a:ext cx="11000232" cy="1188720"/>
          </a:xfrm>
          <a:prstGeom prst="roundRect">
            <a:avLst>
              <a:gd name="adj" fmla="val 4615"/>
            </a:avLst>
          </a:prstGeom>
          <a:solidFill>
            <a:srgbClr val="E4F4ED"/>
          </a:solidFill>
          <a:ln w="12700">
            <a:solidFill>
              <a:srgbClr val="2E9E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13892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改进建议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5046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信度检验：</a:t>
            </a:r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Cronbach's α &gt; 0.7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55046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效度检验：</a:t>
            </a:r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因子分析 + 专家评审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55280" y="55046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高级分析：</a:t>
            </a:r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相关性（Pearson/Spearman）、回归分析、方差分析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对比总结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正反例对比分析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100023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02836"/>
                <a:gridCol w="440283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正例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反例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46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A5E"/>
                          </a:solidFill>
                        </a:rPr>
                        <a:t>研究问题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明确具体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模糊宽泛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A5E"/>
                          </a:solidFill>
                        </a:rPr>
                        <a:t>问卷设计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中性、逻辑严密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诱导性、逻辑不全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A5E"/>
                          </a:solidFill>
                        </a:rPr>
                        <a:t>样本规模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300+，代表性强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&lt; 200，代表性弱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A5E"/>
                          </a:solidFill>
                        </a:rPr>
                        <a:t>预调查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有，修正后正式调查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无，直接正式调查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A5E"/>
                          </a:solidFill>
                        </a:rPr>
                        <a:t>信效度检验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有（α &gt; 0.7，因子分析）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无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A5E"/>
                          </a:solidFill>
                        </a:rPr>
                        <a:t>统计方法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多样（卡方、相关、回归）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单一（仅频数）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A5E"/>
                          </a:solidFill>
                        </a:rPr>
                        <a:t>结论可靠性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高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低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5532120"/>
            <a:ext cx="11000232" cy="685800"/>
          </a:xfrm>
          <a:prstGeom prst="roundRect">
            <a:avLst>
              <a:gd name="adj" fmla="val 8000"/>
            </a:avLst>
          </a:prstGeom>
          <a:solidFill>
            <a:srgbClr val="1E2A5E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55321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关键启示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科学性：严谨设计 + 规范流程　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系统性：设计、调查、分析缺一不可　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反思性：每一步都需要验证与改进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课堂互动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83080"/>
            <a:ext cx="109728" cy="1874520"/>
          </a:xfrm>
          <a:prstGeom prst="rect">
            <a:avLst/>
          </a:prstGeom>
          <a:solidFill>
            <a:srgbClr val="31417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476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141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方法应用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2350008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研究“MTI 学生对机器翻译态度”，如何设计一份科学问卷？（提示：问题中性、选项设置、信效度检验）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783080"/>
            <a:ext cx="109728" cy="1874520"/>
          </a:xfrm>
          <a:prstGeom prst="rect">
            <a:avLst/>
          </a:prstGeom>
          <a:solidFill>
            <a:srgbClr val="C9463D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9476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问题识别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92240" y="2350008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“翻译软件非常有用，您认为呢？”——这个问卷问题存在什么设计缺陷？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895344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895344"/>
            <a:ext cx="109728" cy="1874520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5993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68680" y="4462272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问卷回收率只有 30%，如何提高数据质量？（提示：样本量、调查方式、激励措施）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895344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895344"/>
            <a:ext cx="109728" cy="1874520"/>
          </a:xfrm>
          <a:prstGeom prst="rect">
            <a:avLst/>
          </a:prstGeom>
          <a:solidFill>
            <a:srgbClr val="2E9E6E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05993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方法组合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92240" y="4462272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问卷调查法在翻译研究中常与哪种方法结合？为什么？（提示：访谈法，弥补深度不足）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中文文献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139696"/>
            <a:ext cx="11000232" cy="201168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860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王水，赵建军. (2024). 问卷调查法在文科硕士学位论文中的应用状况分析——以语言学及应用语言学专业为例. 《教育进展》14(9), 962-969. </a:t>
            </a:r>
            <a:pPr indent="0" marL="0">
              <a:lnSpc>
                <a:spcPct val="120000"/>
              </a:lnSpc>
              <a:buNone/>
            </a:pPr>
            <a:r>
              <a:rPr lang="en-US" sz="1200" u="sng" dirty="0">
                <a:solidFill>
                  <a:srgbClr val="1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 / 链接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郑剑委. (2021). 翻译出版生产中的译者行为体系研究. 外语教学与研究出版社. </a:t>
            </a:r>
            <a:pPr indent="0" marL="0">
              <a:lnSpc>
                <a:spcPct val="120000"/>
              </a:lnSpc>
              <a:buNone/>
            </a:pPr>
            <a:r>
              <a:rPr lang="en-US" sz="1200" u="sng" dirty="0">
                <a:solidFill>
                  <a:srgbClr val="1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 / 链接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英文文献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4745736"/>
            <a:ext cx="11000232" cy="1463040"/>
          </a:xfrm>
          <a:prstGeom prst="roundRect">
            <a:avLst>
              <a:gd name="adj" fmla="val 3750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8920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Schaeffer, L., et al. (2020). Translation and Interpreting Competence Questionnaire (TICQ). Journal of Translation Studies.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55321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 肖维青，熊凌崧. (2023). 翻译测试研究二十年：现状与展望. 上海国际研究院. </a:t>
            </a:r>
            <a:pPr indent="0" marL="0">
              <a:buNone/>
            </a:pPr>
            <a:r>
              <a:rPr lang="en-US" sz="1200" u="sng" dirty="0">
                <a:solidFill>
                  <a:srgbClr val="1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链接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1E2A5E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4023360"/>
            <a:ext cx="3108960" cy="3108960"/>
          </a:xfrm>
          <a:prstGeom prst="ellipse">
            <a:avLst/>
          </a:prstGeom>
          <a:solidFill>
            <a:srgbClr val="31417E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417320"/>
            <a:ext cx="164592" cy="1554480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78408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邹老师的悉心指导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21608" y="3493008"/>
            <a:ext cx="91440" cy="91440"/>
          </a:xfrm>
          <a:prstGeom prst="ellipse">
            <a:avLst/>
          </a:prstGeom>
          <a:solidFill>
            <a:srgbClr val="DFA53B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995928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小组成员的通力合作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39128" y="3493008"/>
            <a:ext cx="91440" cy="91440"/>
          </a:xfrm>
          <a:prstGeom prst="ellipse">
            <a:avLst/>
          </a:prstGeom>
          <a:solidFill>
            <a:srgbClr val="DFA53B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013448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同学们的耐心聆听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初稿已提前一周发送至老师邮箱审阅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78408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邮箱：小组长邮箱（请补充）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问卷调查法在翻译研究中的正反例分析</dc:title>
  <dc:subject>PptxGenJS Presentation</dc:subject>
  <dc:creator>第1小组（问卷调查法专项）</dc:creator>
  <cp:lastModifiedBy>第1小组（问卷调查法专项）</cp:lastModifiedBy>
  <cp:revision>1</cp:revision>
  <dcterms:created xsi:type="dcterms:W3CDTF">2026-09-20T10:30:10Z</dcterms:created>
  <dcterms:modified xsi:type="dcterms:W3CDTF">2026-09-20T10:30:10Z</dcterms:modified>
</cp:coreProperties>
</file>