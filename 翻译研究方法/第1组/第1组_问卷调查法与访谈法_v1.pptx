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封面（不计入正文页数）。开场 30 秒：说明本组 4 人分工与顺序，提示每人不超过 8 分钟、超时扣分；请组员把手机计时器打开。分工若有调整，本页必须同步修改（老师审阅重点）。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本页面供组内使用，交给老师的定稿可保留（体现规范性），也可删除。提醒：初稿发老师邮箱必须提前一周；对 10.12 的汇报即 10.05 前发出。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口播目录 40 秒即可，不要逐条念。强调两件事：本组按课程框架“方法概述+正反案例+思考题”组织；以及 ②④ 板块的案例类型符合“中英文+期刊/学位论文不单一”的要求。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 分钟中的 1 分 30 秒。先给定义（30 秒），再用右侧三个“常见混淆”制造认知冲突（60 秒），最后强调调查法/问卷/渠道三分（30 秒）。可举手提问：本课哪些方法才能研究“过程”？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分 30 秒。重点：多数本科/硕士同学的“问卷”=A 类封闭题+在线渠道+横断设计，这是默认组合而不是方法本身；C、D 两类常被忽略（渠道不等于方法；面板设计能回答变化问题）。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分钟。强调“导语”和“敏感题位置”两点：这两处最容易被同学忽略，也最影响回收率与真实性。可展示自己拟用的问卷开头（附录 S32 有示例）。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分 30 秒。逐步快讲（每步 8 秒），停留两处：S5 前测（同学最常跳过）、S7 质检（决定数据可信）。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分钟。左栏讲“能做什么”，右下讲“不能做什么”——这是老师审阅时很看重的方法论边界意识，也为第 4、5 组的方法埋钩子（可以点名衔接）。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分 30 秒。先讲案例 1（行业型），再讲案例 2（关系型），指出二者对应问卷研究的两大用途：描述群体状况 vs 检验变量关系。优点 A–F 由熊芮/方燕的案例页展开，本页只点题。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分 30 秒。逐行讲“他们怎么做”，不讲结论数字。强调③质量控制是两篇的共同亮点，而⑤结论分寸是国内调查类论文最欠缺的。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分钟收尾。六条优点说快，重点落在最后一段“可商榷之处”——把话头交给陈冠臻的缺陷清单，形成组内衔接。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秒过场。请陈冠臻上台时先说自己这一板块的“工具”是六问诊断单。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分钟。开篇先说明“反面案例”的选择立场：我们不用假想稻草人，而用真实论文中可核查的报告缺陷 + 一个合成教学案例；并强调合规性表格，回应老师的“类型不单一”要求。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分 30 秒。这页是本板块的工具页，讲清楚“六问”怎么用，后面两页才有力。提醒：批评要落到页码与原句。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分 30 秒（本板块主体）。按 A→F 走，每条 20 秒：读“原文式表述”→说为什么→给最小改动。结尾抛出：这六条里有几条在我们组自己的作业里也出现过？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分 30 秒。这是本组刻意加的一层：训练同学把“方法缺陷”与“报告缺陷”分开——老师在答辩中最常问的就是“你是没做，还是没写”。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分钟。表格逐行 5 秒快讲；三句话小结放慢。结束语：请熊芮从“问不出来的部分”接上——访谈。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秒过场。熊芮接话可用一句：问卷测到“分布”，访谈要拿到“理由”。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分钟 30 秒。定义 40 秒，右栏对照 50 秒。落点：两种方法可以互相“喂”问题——为 ④ 板块的案例（问卷+访谈序列设计）埋伏笔。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分 30 秒。这页是“概念澄清”，也预告 ④ 板块的反例来源：一篇真实综述给出的问题清单。可提问：《中国翻译》上的名家访谈属于哪一类？（答：文体，除非有分析与编码。）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分钟。分类不是背定义，而是选设计：请同学在心里填一句“我的研究用 A 中的半结构式 + B 中的个别访谈，因为……”。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分钟 30 秒。右栏表格是全场最实用的部分，语速放慢，逐条念一句示例。补充：提纲不是问题清单的堆量，一份 6–8 个主问题、每个配 2 个探针的提纲，比 30 个问题的提纲更好用。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分钟。伦理部分强调“不是走形式”：老师审阅时如果看到知情同意说明，会直接加印象分。可举一个反例：某作业把受访者真名与单位写进论文正文。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分 30 秒收尾（含小结 15 秒）：本板块四问已答完——是什么、与文体之别、怎么问、怎么写成主题。交给方燕做案例。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秒过场。方燕提示自己会用“一篇英文期刊正例 + 国内论文共性反例”的组合，正好满足课程“类型不单一”。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分钟 30 秒。逐卡介绍，强调“评价口径”六件事（与 ③ 板块的操作步骤对应），后面三页按此口径推进。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分钟。这一页只讲“设计与现场”，把转录编码留给下一页。右侧红卡是本组刻意设置的“挑剔”环节，课堂讨论时可直接抛给全班：如果陈述与文本冲突，你信哪个？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分 30 秒。先沿证据链横着讲一遍（40 秒），再挑 2 条“可迁移做法”细讲。最后一条“落地计划”是加分项铺垫：课程允许用小研究实际做一遍方法并汇报，可得加分。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分钟。这是本板块核心页：逐行讲“症状→为什么→最小改动”，每行 15 秒。最后三张黄卡各点一句，对应老师强调的“访谈的规范性与原创性”问题。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分钟。表格只念“环节 + 你至少要做到”两列；小结三条慢讲；把话筒交给讨论页。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主持人提示：不要 8 问全用；老师要求每题 1–2 道，我们备 8 道，现场按时间取 4 道（Q1/Q3/Q5/Q6）。每问后必须“自己先答一遍”，避免冷场。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本页可不在课堂放映（老师若要求可展示，体现规范性）。组内定稿会上逐条过一遍即可。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放映时 10 秒带过。提醒：老师审阅时会重点检查“案例是否真实、能否查到”，因此每一条都要有 DOI/页码。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本页是加分项材料：如果真的做了小研究，把回收数据与编码表截图放上来；如果来不及，至少要说明“我们计划怎么做”，同样体现方法落地能力。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结束语 20 秒：感谢邹老师与全班；把 Q&amp;A 引到未用完的思考题上。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697" cy="6967728"/>
          </a:xfrm>
          <a:prstGeom prst="rect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89520" y="0"/>
            <a:ext cx="7315" cy="6858000"/>
          </a:xfrm>
          <a:prstGeom prst="rect">
            <a:avLst/>
          </a:prstGeom>
          <a:solidFill>
            <a:srgbClr val="1C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73568" y="0"/>
            <a:ext cx="7315" cy="6858000"/>
          </a:xfrm>
          <a:prstGeom prst="rect">
            <a:avLst/>
          </a:prstGeom>
          <a:solidFill>
            <a:srgbClr val="1C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357616" y="0"/>
            <a:ext cx="7315" cy="6858000"/>
          </a:xfrm>
          <a:prstGeom prst="rect">
            <a:avLst/>
          </a:prstGeom>
          <a:solidFill>
            <a:srgbClr val="1C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41664" y="0"/>
            <a:ext cx="7315" cy="6858000"/>
          </a:xfrm>
          <a:prstGeom prst="rect">
            <a:avLst/>
          </a:prstGeom>
          <a:solidFill>
            <a:srgbClr val="1C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25712" y="0"/>
            <a:ext cx="7315" cy="6858000"/>
          </a:xfrm>
          <a:prstGeom prst="rect">
            <a:avLst/>
          </a:prstGeom>
          <a:solidFill>
            <a:srgbClr val="1C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509760" y="0"/>
            <a:ext cx="7315" cy="6858000"/>
          </a:xfrm>
          <a:prstGeom prst="rect">
            <a:avLst/>
          </a:prstGeom>
          <a:solidFill>
            <a:srgbClr val="1C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893808" y="0"/>
            <a:ext cx="7315" cy="6858000"/>
          </a:xfrm>
          <a:prstGeom prst="rect">
            <a:avLst/>
          </a:prstGeom>
          <a:solidFill>
            <a:srgbClr val="1C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277856" y="0"/>
            <a:ext cx="7315" cy="6858000"/>
          </a:xfrm>
          <a:prstGeom prst="rect">
            <a:avLst/>
          </a:prstGeom>
          <a:solidFill>
            <a:srgbClr val="1C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661904" y="0"/>
            <a:ext cx="7315" cy="6858000"/>
          </a:xfrm>
          <a:prstGeom prst="rect">
            <a:avLst/>
          </a:prstGeom>
          <a:solidFill>
            <a:srgbClr val="1C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566928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D2603A"/>
                </a:solidFill>
                <a:latin typeface="Microsoft YaHei"/>
                <a:ea typeface="Microsoft YaHei"/>
                <a:cs typeface="Microsoft YaHei"/>
              </a:rPr>
              <a:t>翻 译 研 究 方 法 · TRANSLATION RESEARCH METHODOLOGY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932688"/>
            <a:ext cx="85953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9AA4B8"/>
                </a:solidFill>
                <a:latin typeface="Microsoft YaHei"/>
                <a:ea typeface="Microsoft YaHei"/>
                <a:cs typeface="Microsoft YaHei"/>
              </a:rPr>
              <a:t>翻译研究具体方法（1）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4100" b="1" i="0">
                <a:solidFill>
                  <a:srgbClr val="F5F3EE"/>
                </a:solidFill>
                <a:latin typeface="Microsoft YaHei"/>
                <a:ea typeface="Microsoft YaHei"/>
                <a:cs typeface="Microsoft YaHei"/>
              </a:rPr>
              <a:t>问卷调查法  ×  访谈法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788920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963E"/>
                </a:solidFill>
                <a:latin typeface="Consolas"/>
                <a:ea typeface="Microsoft YaHei"/>
                <a:cs typeface="Microsoft YaHei"/>
              </a:rPr>
              <a:t>Survey Study: Questionnaire  &amp;  Interview</a:t>
            </a:r>
          </a:p>
          <a:p>
            <a:pPr algn="l">
              <a:lnSpc>
                <a:spcPct val="132000"/>
              </a:lnSpc>
              <a:spcBef>
                <a:spcPts val="800"/>
              </a:spcBef>
              <a:spcAft>
                <a:spcPts val="0"/>
              </a:spcAft>
            </a:pPr>
            <a:r>
              <a:rPr sz="1150" b="0" i="0">
                <a:solidFill>
                  <a:srgbClr val="9AA4B8"/>
                </a:solidFill>
                <a:latin typeface="Microsoft YaHei"/>
                <a:ea typeface="Microsoft YaHei"/>
                <a:cs typeface="Microsoft YaHei"/>
              </a:rPr>
              <a:t>第 1 组 · 2026–2027 学年第 1 学期 第 7 周（10.12 周一 下午第 3–4 节）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73568" y="969264"/>
            <a:ext cx="3657600" cy="2103120"/>
          </a:xfrm>
          <a:prstGeom prst="rect">
            <a:avLst/>
          </a:prstGeom>
          <a:solidFill>
            <a:srgbClr val="1B2437"/>
          </a:solidFill>
          <a:ln w="11430">
            <a:solidFill>
              <a:srgbClr val="3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73568" y="969264"/>
            <a:ext cx="3657600" cy="45720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3024" y="1152144"/>
            <a:ext cx="32186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7EAF1"/>
                </a:solidFill>
                <a:latin typeface="Microsoft YaHei"/>
                <a:ea typeface="Microsoft YaHei"/>
                <a:cs typeface="Microsoft YaHei"/>
              </a:rPr>
              <a:t>译者技术使用与态度调查问卷</a:t>
            </a:r>
          </a:p>
          <a:p>
            <a:pPr algn="l">
              <a:lnSpc>
                <a:spcPct val="132000"/>
              </a:lnSpc>
              <a:spcBef>
                <a:spcPts val="200"/>
              </a:spcBef>
              <a:spcAft>
                <a:spcPts val="0"/>
              </a:spcAft>
            </a:pPr>
            <a:r>
              <a:rPr sz="850" b="0" i="0">
                <a:solidFill>
                  <a:srgbClr val="8E99AE"/>
                </a:solidFill>
                <a:latin typeface="Consolas"/>
                <a:ea typeface="Microsoft YaHei"/>
                <a:cs typeface="Microsoft YaHei"/>
              </a:rPr>
              <a:t>Technology Use &amp; Attitudes · 匿名 · 约 8 分钟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4" y="1609344"/>
            <a:ext cx="32186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E7EAF1"/>
                </a:solidFill>
                <a:latin typeface="Microsoft YaHei"/>
                <a:ea typeface="Microsoft YaHei"/>
                <a:cs typeface="Microsoft YaHei"/>
              </a:rPr>
              <a:t>1. 我在专业翻译任务中 routinely 使用 CAT 工具。</a:t>
            </a:r>
          </a:p>
        </p:txBody>
      </p:sp>
      <p:sp>
        <p:nvSpPr>
          <p:cNvPr id="20" name="Oval 19"/>
          <p:cNvSpPr/>
          <p:nvPr/>
        </p:nvSpPr>
        <p:spPr>
          <a:xfrm>
            <a:off x="8247888" y="1810512"/>
            <a:ext cx="146304" cy="146304"/>
          </a:xfrm>
          <a:prstGeom prst="ellipse">
            <a:avLst/>
          </a:prstGeom>
          <a:solidFill>
            <a:srgbClr val="D2603A"/>
          </a:solidFill>
          <a:ln w="9525">
            <a:solidFill>
              <a:srgbClr val="3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76488" y="1810512"/>
            <a:ext cx="146304" cy="146304"/>
          </a:xfrm>
          <a:prstGeom prst="ellipse">
            <a:avLst/>
          </a:prstGeom>
          <a:solidFill>
            <a:srgbClr val="D2603A"/>
          </a:solidFill>
          <a:ln w="9525">
            <a:solidFill>
              <a:srgbClr val="3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05088" y="1810512"/>
            <a:ext cx="146304" cy="146304"/>
          </a:xfrm>
          <a:prstGeom prst="ellipse">
            <a:avLst/>
          </a:prstGeom>
          <a:solidFill>
            <a:srgbClr val="D2603A"/>
          </a:solidFill>
          <a:ln w="9525">
            <a:solidFill>
              <a:srgbClr val="3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933688" y="1810512"/>
            <a:ext cx="146304" cy="146304"/>
          </a:xfrm>
          <a:prstGeom prst="ellipse">
            <a:avLst/>
          </a:prstGeom>
          <a:solidFill>
            <a:srgbClr val="D2603A"/>
          </a:solidFill>
          <a:ln w="9525">
            <a:solidFill>
              <a:srgbClr val="3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62288" y="1810512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7888" y="1956816"/>
            <a:ext cx="3108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E99AE"/>
                </a:solidFill>
                <a:latin typeface="Microsoft YaHei"/>
                <a:ea typeface="Microsoft YaHei"/>
                <a:cs typeface="Microsoft YaHei"/>
              </a:rPr>
              <a:t>完全不同意                                  完全同意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3024" y="2066543"/>
            <a:ext cx="32186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E7EAF1"/>
                </a:solidFill>
                <a:latin typeface="Microsoft YaHei"/>
                <a:ea typeface="Microsoft YaHei"/>
                <a:cs typeface="Microsoft YaHei"/>
              </a:rPr>
              <a:t>2. 我担心机器翻译后编辑会拉低译文质量。</a:t>
            </a:r>
          </a:p>
        </p:txBody>
      </p:sp>
      <p:sp>
        <p:nvSpPr>
          <p:cNvPr id="27" name="Oval 26"/>
          <p:cNvSpPr/>
          <p:nvPr/>
        </p:nvSpPr>
        <p:spPr>
          <a:xfrm>
            <a:off x="8247888" y="2267712"/>
            <a:ext cx="146304" cy="146304"/>
          </a:xfrm>
          <a:prstGeom prst="ellipse">
            <a:avLst/>
          </a:prstGeom>
          <a:solidFill>
            <a:srgbClr val="C8963E"/>
          </a:solidFill>
          <a:ln w="9525">
            <a:solidFill>
              <a:srgbClr val="3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76488" y="2267712"/>
            <a:ext cx="146304" cy="146304"/>
          </a:xfrm>
          <a:prstGeom prst="ellipse">
            <a:avLst/>
          </a:prstGeom>
          <a:solidFill>
            <a:srgbClr val="C8963E"/>
          </a:solidFill>
          <a:ln w="9525">
            <a:solidFill>
              <a:srgbClr val="3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705088" y="2267712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33688" y="2267712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62288" y="2267712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47888" y="2414015"/>
            <a:ext cx="3108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E99AE"/>
                </a:solidFill>
                <a:latin typeface="Microsoft YaHei"/>
                <a:ea typeface="Microsoft YaHei"/>
                <a:cs typeface="Microsoft YaHei"/>
              </a:rPr>
              <a:t>完全不同意                                  完全同意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3024" y="2523744"/>
            <a:ext cx="32186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E7EAF1"/>
                </a:solidFill>
                <a:latin typeface="Microsoft YaHei"/>
                <a:ea typeface="Microsoft YaHei"/>
                <a:cs typeface="Microsoft YaHei"/>
              </a:rPr>
              <a:t>3. 我愿意为技术训练投入额外时间。</a:t>
            </a:r>
          </a:p>
        </p:txBody>
      </p:sp>
      <p:sp>
        <p:nvSpPr>
          <p:cNvPr id="34" name="Oval 33"/>
          <p:cNvSpPr/>
          <p:nvPr/>
        </p:nvSpPr>
        <p:spPr>
          <a:xfrm>
            <a:off x="8247888" y="2724912"/>
            <a:ext cx="146304" cy="146304"/>
          </a:xfrm>
          <a:prstGeom prst="ellipse">
            <a:avLst/>
          </a:prstGeom>
          <a:solidFill>
            <a:srgbClr val="2B7C85"/>
          </a:solidFill>
          <a:ln w="9525">
            <a:solidFill>
              <a:srgbClr val="3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76488" y="2724912"/>
            <a:ext cx="146304" cy="146304"/>
          </a:xfrm>
          <a:prstGeom prst="ellipse">
            <a:avLst/>
          </a:prstGeom>
          <a:solidFill>
            <a:srgbClr val="2B7C85"/>
          </a:solidFill>
          <a:ln w="9525">
            <a:solidFill>
              <a:srgbClr val="3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05088" y="2724912"/>
            <a:ext cx="146304" cy="146304"/>
          </a:xfrm>
          <a:prstGeom prst="ellipse">
            <a:avLst/>
          </a:prstGeom>
          <a:solidFill>
            <a:srgbClr val="2B7C85"/>
          </a:solidFill>
          <a:ln w="9525">
            <a:solidFill>
              <a:srgbClr val="3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933688" y="2724912"/>
            <a:ext cx="146304" cy="146304"/>
          </a:xfrm>
          <a:prstGeom prst="ellipse">
            <a:avLst/>
          </a:prstGeom>
          <a:solidFill>
            <a:srgbClr val="2B7C85"/>
          </a:solidFill>
          <a:ln w="9525">
            <a:solidFill>
              <a:srgbClr val="3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162288" y="2724912"/>
            <a:ext cx="146304" cy="146304"/>
          </a:xfrm>
          <a:prstGeom prst="ellipse">
            <a:avLst/>
          </a:prstGeom>
          <a:solidFill>
            <a:srgbClr val="2B7C85"/>
          </a:solidFill>
          <a:ln w="9525">
            <a:solidFill>
              <a:srgbClr val="3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47888" y="2871215"/>
            <a:ext cx="3108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E99AE"/>
                </a:solidFill>
                <a:latin typeface="Microsoft YaHei"/>
                <a:ea typeface="Microsoft YaHei"/>
                <a:cs typeface="Microsoft YaHei"/>
              </a:rPr>
              <a:t>完全不同意                                  完全同意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3611880"/>
            <a:ext cx="7040880" cy="10972"/>
          </a:xfrm>
          <a:prstGeom prst="rect">
            <a:avLst/>
          </a:prstGeom>
          <a:solidFill>
            <a:srgbClr val="334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3703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C8963E"/>
                </a:solidFill>
                <a:latin typeface="Microsoft YaHei"/>
                <a:ea typeface="Microsoft YaHei"/>
                <a:cs typeface="Microsoft YaHei"/>
              </a:rPr>
              <a:t>成员内容分工明细（课程要求：组长须在首页标注）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069080"/>
            <a:ext cx="1691640" cy="950976"/>
          </a:xfrm>
          <a:prstGeom prst="rect">
            <a:avLst/>
          </a:prstGeom>
          <a:solidFill>
            <a:srgbClr val="18213A"/>
          </a:solidFill>
          <a:ln w="9525">
            <a:solidFill>
              <a:srgbClr val="2C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6928" y="4069080"/>
            <a:ext cx="1691640" cy="41148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3232" y="4215384"/>
            <a:ext cx="139903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3EE"/>
                </a:solidFill>
                <a:latin typeface="Microsoft YaHei"/>
                <a:ea typeface="Microsoft YaHei"/>
                <a:cs typeface="Microsoft YaHei"/>
              </a:rPr>
              <a:t>于萍</a:t>
            </a:r>
            <a:r>
              <a:rPr sz="950" b="1" i="0">
                <a:solidFill>
                  <a:srgbClr val="D2603A"/>
                </a:solidFill>
                <a:latin typeface="Microsoft YaHei"/>
                <a:ea typeface="Microsoft YaHei"/>
                <a:cs typeface="Microsoft YaHei"/>
              </a:rPr>
              <a:t>  组长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1019" b="0" i="0">
                <a:solidFill>
                  <a:srgbClr val="C3CAD8"/>
                </a:solidFill>
                <a:latin typeface="Microsoft YaHei"/>
                <a:ea typeface="Microsoft YaHei"/>
                <a:cs typeface="Microsoft YaHei"/>
              </a:rPr>
              <a:t>① 方法A概述</a:t>
            </a:r>
          </a:p>
          <a:p>
            <a:pPr algn="l">
              <a:lnSpc>
                <a:spcPct val="132000"/>
              </a:lnSpc>
              <a:spcBef>
                <a:spcPts val="500"/>
              </a:spcBef>
              <a:spcAft>
                <a:spcPts val="0"/>
              </a:spcAft>
            </a:pPr>
            <a:r>
              <a:rPr sz="880" b="0" i="0">
                <a:solidFill>
                  <a:srgbClr val="8E99AE"/>
                </a:solidFill>
                <a:latin typeface="Consolas"/>
                <a:ea typeface="Microsoft YaHei"/>
                <a:cs typeface="Microsoft YaHei"/>
              </a:rPr>
              <a:t>S4–S11 · 8 页 · 8′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350008" y="4069080"/>
            <a:ext cx="1691640" cy="950976"/>
          </a:xfrm>
          <a:prstGeom prst="rect">
            <a:avLst/>
          </a:prstGeom>
          <a:solidFill>
            <a:srgbClr val="18213A"/>
          </a:solidFill>
          <a:ln w="9525">
            <a:solidFill>
              <a:srgbClr val="2C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350008" y="4069080"/>
            <a:ext cx="1691640" cy="41148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96312" y="4215384"/>
            <a:ext cx="139903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3EE"/>
                </a:solidFill>
                <a:latin typeface="Microsoft YaHei"/>
                <a:ea typeface="Microsoft YaHei"/>
                <a:cs typeface="Microsoft YaHei"/>
              </a:rPr>
              <a:t>陈冠臻</a:t>
            </a:r>
            <a:r>
              <a:rPr sz="950" b="1" i="0">
                <a:solidFill>
                  <a:srgbClr val="D2603A"/>
                </a:solidFill>
                <a:latin typeface="Microsoft YaHei"/>
                <a:ea typeface="Microsoft YaHei"/>
                <a:cs typeface="Microsoft YaHei"/>
              </a:rPr>
              <a:t>  组员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1019" b="0" i="0">
                <a:solidFill>
                  <a:srgbClr val="C3CAD8"/>
                </a:solidFill>
                <a:latin typeface="Microsoft YaHei"/>
                <a:ea typeface="Microsoft YaHei"/>
                <a:cs typeface="Microsoft YaHei"/>
              </a:rPr>
              <a:t>② 方法A正反例分析</a:t>
            </a:r>
          </a:p>
          <a:p>
            <a:pPr algn="l">
              <a:lnSpc>
                <a:spcPct val="132000"/>
              </a:lnSpc>
              <a:spcBef>
                <a:spcPts val="500"/>
              </a:spcBef>
              <a:spcAft>
                <a:spcPts val="0"/>
              </a:spcAft>
            </a:pPr>
            <a:r>
              <a:rPr sz="880" b="0" i="0">
                <a:solidFill>
                  <a:srgbClr val="8E99AE"/>
                </a:solidFill>
                <a:latin typeface="Consolas"/>
                <a:ea typeface="Microsoft YaHei"/>
                <a:cs typeface="Microsoft YaHei"/>
              </a:rPr>
              <a:t>S13–S17 · 5 页 · 8′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33088" y="4069080"/>
            <a:ext cx="1691640" cy="950976"/>
          </a:xfrm>
          <a:prstGeom prst="rect">
            <a:avLst/>
          </a:prstGeom>
          <a:solidFill>
            <a:srgbClr val="18213A"/>
          </a:solidFill>
          <a:ln w="9525">
            <a:solidFill>
              <a:srgbClr val="2C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133088" y="4069080"/>
            <a:ext cx="1691640" cy="41148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79392" y="4215384"/>
            <a:ext cx="139903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3EE"/>
                </a:solidFill>
                <a:latin typeface="Microsoft YaHei"/>
                <a:ea typeface="Microsoft YaHei"/>
                <a:cs typeface="Microsoft YaHei"/>
              </a:rPr>
              <a:t>熊芮</a:t>
            </a:r>
            <a:r>
              <a:rPr sz="950" b="1" i="0">
                <a:solidFill>
                  <a:srgbClr val="2B7C85"/>
                </a:solidFill>
                <a:latin typeface="Microsoft YaHei"/>
                <a:ea typeface="Microsoft YaHei"/>
                <a:cs typeface="Microsoft YaHei"/>
              </a:rPr>
              <a:t>  组员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1019" b="0" i="0">
                <a:solidFill>
                  <a:srgbClr val="C3CAD8"/>
                </a:solidFill>
                <a:latin typeface="Microsoft YaHei"/>
                <a:ea typeface="Microsoft YaHei"/>
                <a:cs typeface="Microsoft YaHei"/>
              </a:rPr>
              <a:t>③ 方法B概述</a:t>
            </a:r>
          </a:p>
          <a:p>
            <a:pPr algn="l">
              <a:lnSpc>
                <a:spcPct val="132000"/>
              </a:lnSpc>
              <a:spcBef>
                <a:spcPts val="500"/>
              </a:spcBef>
              <a:spcAft>
                <a:spcPts val="0"/>
              </a:spcAft>
            </a:pPr>
            <a:r>
              <a:rPr sz="880" b="0" i="0">
                <a:solidFill>
                  <a:srgbClr val="8E99AE"/>
                </a:solidFill>
                <a:latin typeface="Consolas"/>
                <a:ea typeface="Microsoft YaHei"/>
                <a:cs typeface="Microsoft YaHei"/>
              </a:rPr>
              <a:t>S19–S24 · 6 页 · 8′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16168" y="4069080"/>
            <a:ext cx="1691640" cy="950976"/>
          </a:xfrm>
          <a:prstGeom prst="rect">
            <a:avLst/>
          </a:prstGeom>
          <a:solidFill>
            <a:srgbClr val="18213A"/>
          </a:solidFill>
          <a:ln w="9525">
            <a:solidFill>
              <a:srgbClr val="2C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916168" y="4069080"/>
            <a:ext cx="1691640" cy="41148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62472" y="4215384"/>
            <a:ext cx="139903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3EE"/>
                </a:solidFill>
                <a:latin typeface="Microsoft YaHei"/>
                <a:ea typeface="Microsoft YaHei"/>
                <a:cs typeface="Microsoft YaHei"/>
              </a:rPr>
              <a:t>方燕</a:t>
            </a:r>
            <a:r>
              <a:rPr sz="950" b="1" i="0">
                <a:solidFill>
                  <a:srgbClr val="2B7C85"/>
                </a:solidFill>
                <a:latin typeface="Microsoft YaHei"/>
                <a:ea typeface="Microsoft YaHei"/>
                <a:cs typeface="Microsoft YaHei"/>
              </a:rPr>
              <a:t>  组员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1019" b="0" i="0">
                <a:solidFill>
                  <a:srgbClr val="C3CAD8"/>
                </a:solidFill>
                <a:latin typeface="Microsoft YaHei"/>
                <a:ea typeface="Microsoft YaHei"/>
                <a:cs typeface="Microsoft YaHei"/>
              </a:rPr>
              <a:t>④ 方法B正反例分析</a:t>
            </a:r>
          </a:p>
          <a:p>
            <a:pPr algn="l">
              <a:lnSpc>
                <a:spcPct val="132000"/>
              </a:lnSpc>
              <a:spcBef>
                <a:spcPts val="500"/>
              </a:spcBef>
              <a:spcAft>
                <a:spcPts val="0"/>
              </a:spcAft>
            </a:pPr>
            <a:r>
              <a:rPr sz="880" b="0" i="0">
                <a:solidFill>
                  <a:srgbClr val="8E99AE"/>
                </a:solidFill>
                <a:latin typeface="Consolas"/>
                <a:ea typeface="Microsoft YaHei"/>
                <a:cs typeface="Microsoft YaHei"/>
              </a:rPr>
              <a:t>S26–S30 · 5 页 · 8′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5303520"/>
            <a:ext cx="7223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E99AE"/>
                </a:solidFill>
                <a:latin typeface="Microsoft YaHei"/>
                <a:ea typeface="Microsoft YaHei"/>
                <a:cs typeface="Microsoft YaHei"/>
              </a:rPr>
              <a:t>本组讨论主持：方燕（思考题汇总见 S31）｜计时提醒：于萍｜案例文献核对：全员（定稿前逐条回原文复核）</a:t>
            </a:r>
          </a:p>
          <a:p>
            <a:pPr algn="l">
              <a:lnSpc>
                <a:spcPct val="132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 i="0">
                <a:solidFill>
                  <a:srgbClr val="6C7891"/>
                </a:solidFill>
                <a:latin typeface="Consolas"/>
                <a:ea typeface="Microsoft YaHei"/>
                <a:cs typeface="Microsoft YaHei"/>
              </a:rPr>
              <a:t>文件版本 v1（2026-09-15）· 本组自研模板 · 请全组沿用，不替换主题字体/配色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697" cy="6967728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96012" cy="96012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9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HOW TO USE THIS TEMPLATE · 全组必读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使用说明与课程硬约束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5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先读这一页，再动你的 8 页正文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90472"/>
            <a:ext cx="11055096" cy="10972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309360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《翻译研究方法》2026–2027 学年第 1 学期 · 第 1 组 · 10.12 课堂展示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528816"/>
            <a:ext cx="3118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50" b="1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第 00 / 35 页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700784"/>
            <a:ext cx="3564117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700784"/>
            <a:ext cx="3564117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808" y="1911095"/>
            <a:ext cx="214884" cy="214884"/>
          </a:xfrm>
          <a:prstGeom prst="roundRect">
            <a:avLst>
              <a:gd name="adj" fmla="val 18000"/>
            </a:avLst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" y="1883664"/>
            <a:ext cx="28646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语言与时长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" y="2221991"/>
            <a:ext cx="2846313" cy="717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PPT 页面与口头汇报，中英文皆可（本模板以
中文为主、关键术语附英文）。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" y="2939796"/>
            <a:ext cx="2846313" cy="717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每人不超过 8 分钟：建议稿子写到 7 分 30 秒
，留 30 秒缓冲。超时扣分。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3925" y="1700784"/>
            <a:ext cx="3564117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13925" y="1700784"/>
            <a:ext cx="3564117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96805" y="1911095"/>
            <a:ext cx="214884" cy="214884"/>
          </a:xfrm>
          <a:prstGeom prst="roundRect">
            <a:avLst>
              <a:gd name="adj" fmla="val 18000"/>
            </a:avLst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30561" y="1883664"/>
            <a:ext cx="28646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页数上限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8849" y="2221991"/>
            <a:ext cx="2846313" cy="1435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每人正文不超过 8 页；封面、目录、章节页、
思考题页、参考文献页、致谢页不计入。删内容
优先删“综述式铺垫”，保留操作步骤与证据。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0923" y="1700784"/>
            <a:ext cx="3564117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60923" y="1700784"/>
            <a:ext cx="3564117" cy="50292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43803" y="1911095"/>
            <a:ext cx="214884" cy="214884"/>
          </a:xfrm>
          <a:prstGeom prst="roundRect">
            <a:avLst>
              <a:gd name="adj" fmla="val 18000"/>
            </a:avLst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7559" y="1883664"/>
            <a:ext cx="28646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案例“类型不单一”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847" y="2221991"/>
            <a:ext cx="2846313" cy="717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正反例须跨类型（中文/英文 × 期刊论文/硕博
学位论文），且必须是翻译研究领域文献。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847" y="2939796"/>
            <a:ext cx="2846313" cy="717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本组当前组合：期刊论文 2 篇 + 学位论文/SSC
I 期刊 2 篇（见 ②④ 板块），定稿前须逐条核对
原文数据。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931920"/>
            <a:ext cx="3564117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3931920"/>
            <a:ext cx="3564117" cy="50292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9808" y="4142232"/>
            <a:ext cx="214884" cy="214884"/>
          </a:xfrm>
          <a:prstGeom prst="roundRect">
            <a:avLst>
              <a:gd name="adj" fmla="val 18000"/>
            </a:avLst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3564" y="4114800"/>
            <a:ext cx="28646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思考题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1852" y="4453128"/>
            <a:ext cx="2846313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两种方法各 1–2 道，汇总在 S27（共 8 道备选
，现场用 4 道）。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1852" y="5170932"/>
            <a:ext cx="2846313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问题要能被本课所学方法回答，避免“你觉得
呢”式空问。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13925" y="3931920"/>
            <a:ext cx="3564117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13925" y="3931920"/>
            <a:ext cx="3564117" cy="5029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496805" y="4142232"/>
            <a:ext cx="214884" cy="214884"/>
          </a:xfrm>
          <a:prstGeom prst="roundRect">
            <a:avLst>
              <a:gd name="adj" fmla="val 18000"/>
            </a:avLst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30561" y="4114800"/>
            <a:ext cx="28646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风格与母版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8849" y="4453128"/>
            <a:ext cx="2846313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四色规则：①②橙（方法 A）／③④青（方法 
B）；卡片、页脚、进度条已内置。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8849" y="5170932"/>
            <a:ext cx="2846313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字体统一：中文微软雅黑，西文 Arial，英文
标签 Consolas；不新增颜色。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60923" y="3931920"/>
            <a:ext cx="3564117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60923" y="3931920"/>
            <a:ext cx="3564117" cy="5029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243803" y="4142232"/>
            <a:ext cx="214884" cy="214884"/>
          </a:xfrm>
          <a:prstGeom prst="roundRect">
            <a:avLst>
              <a:gd name="adj" fmla="val 18000"/>
            </a:avLst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77559" y="4114800"/>
            <a:ext cx="28646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审核与排练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847" y="4453128"/>
            <a:ext cx="2846313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组长于萍最迟 10.05 前将初稿 PPTX+PDF 发 z
oubing@139.com（邮箱用汉语拼音命名，避免
判为垃圾邮件）。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847" y="5170932"/>
            <a:ext cx="2846313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老师反馈 → 修改定稿 → 到教室电脑预演一次 
→ 拷贝 .pptx/.ppt/PDF 到桌面。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5742432"/>
            <a:ext cx="11058113" cy="402336"/>
          </a:xfrm>
          <a:prstGeom prst="rect">
            <a:avLst/>
          </a:prstGeom>
          <a:solidFill>
            <a:srgbClr val="F8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6928" y="5742432"/>
            <a:ext cx="50292" cy="40233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7824" y="5870448"/>
            <a:ext cx="1049118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全页可编辑（未贴图）；案例数字请在定稿前对照原文 PDF 复核并标页码。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697" cy="6967728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96012" cy="9601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9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目录 · 四个板块与时间轴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5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A=Questionnaire ｜ B=Interview ｜ 全组 30 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90472"/>
            <a:ext cx="11055096" cy="10972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309360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《翻译研究方法》2026–2027 学年第 1 学期 · 第 1 组 · 10.12 课堂展示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528816"/>
            <a:ext cx="3118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50" b="1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第 00 / 35 页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700784"/>
            <a:ext cx="11058113" cy="7406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700784"/>
            <a:ext cx="11058113" cy="45720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79222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D2603A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1801368"/>
            <a:ext cx="78638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方法 A 概述｜什么是问卷调查法</a:t>
            </a:r>
          </a:p>
          <a:p>
            <a:pPr algn="l">
              <a:lnSpc>
                <a:spcPct val="126000"/>
              </a:lnSpc>
              <a:spcBef>
                <a:spcPts val="300"/>
              </a:spcBef>
              <a:spcAft>
                <a:spcPts val="0"/>
              </a:spcAft>
            </a:pPr>
            <a:r>
              <a:rPr sz="1019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类型与形式 / 结构与题干设计 / 操作八步 / 适用领域 / 正例分析（S9–S11）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47601" y="193852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于萍 · 8 页 · 8′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551176"/>
            <a:ext cx="11058113" cy="7406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551176"/>
            <a:ext cx="11058113" cy="45720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64261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D2603A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2651760"/>
            <a:ext cx="78638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方法 A 正反例分析｜问卷法用得对不对</a:t>
            </a:r>
          </a:p>
          <a:p>
            <a:pPr algn="l">
              <a:lnSpc>
                <a:spcPct val="126000"/>
              </a:lnSpc>
              <a:spcBef>
                <a:spcPts val="300"/>
              </a:spcBef>
              <a:spcAft>
                <a:spcPts val="0"/>
              </a:spcAft>
            </a:pPr>
            <a:r>
              <a:rPr sz="1019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案例定位 / 六问诊断单 / 反例六病（S15）/ 可商榷之处 / 改进清单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7601" y="27889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陈冠臻 · 5 页 · 8′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401568"/>
            <a:ext cx="11058113" cy="7406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401568"/>
            <a:ext cx="11058113" cy="45720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349300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B7C85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3502152"/>
            <a:ext cx="78638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方法 B 概述｜什么是访谈法</a:t>
            </a:r>
          </a:p>
          <a:p>
            <a:pPr algn="l">
              <a:lnSpc>
                <a:spcPct val="126000"/>
              </a:lnSpc>
              <a:spcBef>
                <a:spcPts val="300"/>
              </a:spcBef>
              <a:spcAft>
                <a:spcPts val="0"/>
              </a:spcAft>
            </a:pPr>
            <a:r>
              <a:rPr sz="1019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概念与类型 / “文体 vs 方法”之辨 / 提纲与试测 / 现场技巧 / 转录编码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7601" y="363931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熊芮 · 6 页 · 8′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251960"/>
            <a:ext cx="11058113" cy="7406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4251960"/>
            <a:ext cx="11058113" cy="45720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4343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B7C85"/>
                </a:solidFill>
                <a:latin typeface="Microsoft YaHei"/>
                <a:ea typeface="Microsoft YaHei"/>
                <a:cs typeface="Microsoft YaHei"/>
              </a:rPr>
              <a:t>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4352544"/>
            <a:ext cx="78638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方法 B 正反例分析｜访谈法用得对不对</a:t>
            </a:r>
          </a:p>
          <a:p>
            <a:pPr algn="l">
              <a:lnSpc>
                <a:spcPct val="126000"/>
              </a:lnSpc>
              <a:spcBef>
                <a:spcPts val="300"/>
              </a:spcBef>
              <a:spcAft>
                <a:spcPts val="0"/>
              </a:spcAft>
            </a:pPr>
            <a:r>
              <a:rPr sz="1019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案例档案 / 正例提纲与现场 / 证据链 / 反例六环节 / 对照表（S26–S30）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7601" y="4489704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方燕 · 5 页 · 8′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5102352"/>
            <a:ext cx="11058113" cy="7406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5102352"/>
            <a:ext cx="11058113" cy="4572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519379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8963E"/>
                </a:solidFill>
                <a:latin typeface="Microsoft YaHei"/>
                <a:ea typeface="Microsoft YaHei"/>
                <a:cs typeface="Microsoft YaHei"/>
              </a:rPr>
              <a:t>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5202936"/>
            <a:ext cx="78638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全组思考题 · 提交前自检 · 参考文献</a:t>
            </a:r>
          </a:p>
          <a:p>
            <a:pPr algn="l">
              <a:lnSpc>
                <a:spcPct val="126000"/>
              </a:lnSpc>
              <a:spcBef>
                <a:spcPts val="300"/>
              </a:spcBef>
              <a:spcAft>
                <a:spcPts val="0"/>
              </a:spcAft>
            </a:pPr>
            <a:r>
              <a:rPr sz="1019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问卷 4 问 + 访谈 4 问 / 课程要求逐项勾选 / 方法论文献清单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47601" y="534009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主持人：方燕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5934456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课堂流程：① → ② → ③ → ④ → ⑤ 讨论（思考题按课程要求引导全班）· 底部进度条标注当前发言人 · 每人 8 分钟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697" cy="6967728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96012" cy="9601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9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板块 ① 方法 A 概述 · 于萍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什么是问卷调查法：一个可用的定义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5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Survey study (questionnaire) — standardized instrument, planned sample, statistical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90472"/>
            <a:ext cx="11055096" cy="10972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03920" y="6144768"/>
            <a:ext cx="747522" cy="137160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83446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62972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42498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6318504"/>
            <a:ext cx="31181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D2603A"/>
                </a:solidFill>
                <a:latin typeface="Microsoft YaHei"/>
                <a:ea typeface="Microsoft YaHei"/>
                <a:cs typeface="Microsoft YaHei"/>
              </a:rPr>
              <a:t>主讲 于萍 · 方法 A 概述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09360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《翻译研究方法》2026–2027 学年第 1 学期 · 第 1 组 · 10.12 课堂展示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528816"/>
            <a:ext cx="3118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50" b="1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第 04 / 35 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1700784"/>
            <a:ext cx="6903720" cy="1225296"/>
          </a:xfrm>
          <a:prstGeom prst="rect">
            <a:avLst/>
          </a:prstGeom>
          <a:solidFill>
            <a:srgbClr val="F9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700784"/>
            <a:ext cx="50292" cy="1225296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1975104"/>
            <a:ext cx="6336792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00">
                <a:solidFill>
                  <a:srgbClr val="D2603A"/>
                </a:solidFill>
                <a:latin typeface="Microsoft YaHei"/>
                <a:ea typeface="Microsoft YaHei"/>
                <a:cs typeface="Microsoft YaHei"/>
              </a:rPr>
              <a:t>定 义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研究者用统一编制、以封闭式问题为主的标准化书面提问工具（问卷），按预定抽样方案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向样本收集资料，再经统计处理，用以回答描述、解释、评估类研究问题的方法。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999232"/>
            <a:ext cx="6903720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· 三个关键词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标准化（同题同序同选项）· 自我报告 · 抽样（谁被问到＝结论边界）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557015"/>
            <a:ext cx="6903720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· 一次编制，多点使用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工具质量＝数据质量：问卷是测量工具，不是问题清单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370832"/>
            <a:ext cx="217932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370832"/>
            <a:ext cx="2179320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9808" y="4581144"/>
            <a:ext cx="214884" cy="214884"/>
          </a:xfrm>
          <a:prstGeom prst="roundRect">
            <a:avLst>
              <a:gd name="adj" fmla="val 18000"/>
            </a:avLst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3564" y="4553712"/>
            <a:ext cx="14798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调查法 Survey research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" y="4882896"/>
            <a:ext cx="1479804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研究设计：向样本收集数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据以推断总体（可含访谈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、电话调查）。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9128" y="4370832"/>
            <a:ext cx="217932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29128" y="4370832"/>
            <a:ext cx="2179320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112008" y="4581144"/>
            <a:ext cx="214884" cy="214884"/>
          </a:xfrm>
          <a:prstGeom prst="roundRect">
            <a:avLst>
              <a:gd name="adj" fmla="val 18000"/>
            </a:avLst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45764" y="4553712"/>
            <a:ext cx="14798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问卷 Questionnaire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5764" y="4882896"/>
            <a:ext cx="1479804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资料收集与测量工具：题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项+量表+指导语的书面装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置。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91328" y="4370832"/>
            <a:ext cx="217932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91328" y="4370832"/>
            <a:ext cx="2179320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74208" y="4581144"/>
            <a:ext cx="214884" cy="214884"/>
          </a:xfrm>
          <a:prstGeom prst="roundRect">
            <a:avLst>
              <a:gd name="adj" fmla="val 18000"/>
            </a:avLst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7964" y="4553712"/>
            <a:ext cx="14798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网络问卷 e-survey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7964" y="4882896"/>
            <a:ext cx="1479804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发放途径：问卷星/Qualtri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cs 只是渠道，不是一种方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法。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80960" y="1700784"/>
            <a:ext cx="3944081" cy="4370832"/>
          </a:xfrm>
          <a:prstGeom prst="rect">
            <a:avLst/>
          </a:prstGeom>
          <a:solidFill>
            <a:srgbClr val="FAF2EE"/>
          </a:solidFill>
          <a:ln w="9525">
            <a:solidFill>
              <a:srgbClr val="EB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80960" y="1700784"/>
            <a:ext cx="3944081" cy="45720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82127" y="188366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别把这三句话搞混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82127" y="2231136"/>
            <a:ext cx="353872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4451F"/>
                </a:solidFill>
                <a:latin typeface="Microsoft YaHei"/>
                <a:ea typeface="Microsoft YaHei"/>
                <a:cs typeface="Microsoft YaHei"/>
              </a:rPr>
              <a:t>误 · “我们做了问卷”＝方法</a:t>
            </a:r>
          </a:p>
          <a:p>
            <a:pPr algn="l">
              <a:lnSpc>
                <a:spcPct val="126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缺环节：方法应写成“调查设计＋测量工具＋统计分析”三件套
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82127" y="3236976"/>
            <a:ext cx="353872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4451F"/>
                </a:solidFill>
                <a:latin typeface="Microsoft YaHei"/>
                <a:ea typeface="Microsoft YaHei"/>
                <a:cs typeface="Microsoft YaHei"/>
              </a:rPr>
              <a:t>误 · “发放问卷”＝研究</a:t>
            </a:r>
          </a:p>
          <a:p>
            <a:pPr algn="l">
              <a:lnSpc>
                <a:spcPct val="126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问卷只是取料动作；研究问题、抽样与分析逻辑才是方法本体。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82127" y="4242816"/>
            <a:ext cx="353872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4451F"/>
                </a:solidFill>
                <a:latin typeface="Microsoft YaHei"/>
                <a:ea typeface="Microsoft YaHei"/>
                <a:cs typeface="Microsoft YaHei"/>
              </a:rPr>
              <a:t>误 · 自陈数据＝实际行为</a:t>
            </a:r>
          </a:p>
          <a:p>
            <a:pPr algn="l">
              <a:lnSpc>
                <a:spcPct val="126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问卷得到的是“说出来”的陈述；过程类问题需键盘记录、眼动
、TAPs 等。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5303520"/>
            <a:ext cx="3538728" cy="566928"/>
          </a:xfrm>
          <a:prstGeom prst="rect">
            <a:avLst/>
          </a:prstGeom>
          <a:solidFill>
            <a:srgbClr val="F9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882127" y="5303520"/>
            <a:ext cx="50292" cy="566928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93023" y="5431536"/>
            <a:ext cx="2971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44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本组提醒：写“研究方法”时先答三问——问谁（抽样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44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）、问什么（构念→题项）、怎么算（统计）。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697" cy="6967728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96012" cy="9601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9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板块 ① 方法 A 概述 · 于萍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问卷的四条分类轴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5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structure / mode / administration /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90472"/>
            <a:ext cx="11055096" cy="10972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03920" y="6144768"/>
            <a:ext cx="747522" cy="137160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83446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62972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42498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6318504"/>
            <a:ext cx="31181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D2603A"/>
                </a:solidFill>
                <a:latin typeface="Microsoft YaHei"/>
                <a:ea typeface="Microsoft YaHei"/>
                <a:cs typeface="Microsoft YaHei"/>
              </a:rPr>
              <a:t>主讲 于萍 · 方法 A 概述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09360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《翻译研究方法》2026–2027 学年第 1 学期 · 第 1 组 · 10.12 课堂展示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528816"/>
            <a:ext cx="3118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50" b="1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第 05 / 35 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1719072"/>
            <a:ext cx="2627368" cy="23042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719072"/>
            <a:ext cx="2627368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8" y="1929384"/>
            <a:ext cx="214884" cy="214884"/>
          </a:xfrm>
          <a:prstGeom prst="roundRect">
            <a:avLst>
              <a:gd name="adj" fmla="val 18000"/>
            </a:avLst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3564" y="1901952"/>
            <a:ext cx="19278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按问题结构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3564" y="2176272"/>
            <a:ext cx="19278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BY ITEM 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" y="2514599"/>
            <a:ext cx="1909564" cy="460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封闭题：单选、多选、矩阵、
量表、排序、滑块、NPS。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" y="2974848"/>
            <a:ext cx="1909564" cy="460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开放题：填空、简答；便于编
码但增加作答负担。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" y="3435096"/>
            <a:ext cx="1909564" cy="460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混合型：主体封闭 + 1–2 道开
放题收口。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77176" y="1719072"/>
            <a:ext cx="2627368" cy="23042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77176" y="1719072"/>
            <a:ext cx="2627368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560056" y="1929384"/>
            <a:ext cx="214884" cy="214884"/>
          </a:xfrm>
          <a:prstGeom prst="roundRect">
            <a:avLst>
              <a:gd name="adj" fmla="val 18000"/>
            </a:avLst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93812" y="1901952"/>
            <a:ext cx="19278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按施测方式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93812" y="2176272"/>
            <a:ext cx="19278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BY ADMINISTRATION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12100" y="2514599"/>
            <a:ext cx="1909564" cy="460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自填式：纸质 / 在线 / 邮件链
接 / 现场扫码。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12100" y="2974848"/>
            <a:ext cx="1909564" cy="460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他填式（替代访谈）：电话访
问、入户代填。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12100" y="3435096"/>
            <a:ext cx="1909564" cy="460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混合式：自填为主，对未答项
补做短访谈。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87424" y="1719072"/>
            <a:ext cx="2627368" cy="23042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87424" y="1719072"/>
            <a:ext cx="2627368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70304" y="1929384"/>
            <a:ext cx="214884" cy="214884"/>
          </a:xfrm>
          <a:prstGeom prst="roundRect">
            <a:avLst>
              <a:gd name="adj" fmla="val 18000"/>
            </a:avLst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04060" y="1901952"/>
            <a:ext cx="19278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按发放渠道与载体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04060" y="2176272"/>
            <a:ext cx="19278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BY MODE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2348" y="2514599"/>
            <a:ext cx="1909564" cy="460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85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平台问卷（问卷星、Credamo、
Qualtrics、Google Forms）。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2348" y="2974848"/>
            <a:ext cx="1909564" cy="460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85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嵌入式：挂在学习平台/工作系
统内，回收率高但伦理要报备。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2348" y="3435096"/>
            <a:ext cx="1909564" cy="460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纸质：低技术或保密场景，需
要双人录入校验。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97673" y="1719072"/>
            <a:ext cx="2627368" cy="23042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997673" y="1719072"/>
            <a:ext cx="2627368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180553" y="1929384"/>
            <a:ext cx="214884" cy="214884"/>
          </a:xfrm>
          <a:prstGeom prst="roundRect">
            <a:avLst>
              <a:gd name="adj" fmla="val 18000"/>
            </a:avLst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14309" y="1901952"/>
            <a:ext cx="19278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按时间设计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14309" y="2176272"/>
            <a:ext cx="19278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BY DESIGN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32597" y="2514599"/>
            <a:ext cx="1909564" cy="460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横断调查：一时点描述与相关
分析，最常见。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32597" y="2974848"/>
            <a:ext cx="1909564" cy="460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重复横断：同总体不同时点两
卷，可做趋势比较。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32597" y="3435096"/>
            <a:ext cx="1909564" cy="460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面板调查：同批受访者多次作
答，成本与流失高。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4133087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测量层次（决定你能做什么统计）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4443984"/>
            <a:ext cx="3566160" cy="566928"/>
          </a:xfrm>
          <a:prstGeom prst="rect">
            <a:avLst/>
          </a:prstGeom>
          <a:solidFill>
            <a:srgbClr val="F9F2ED"/>
          </a:solidFill>
          <a:ln w="9525">
            <a:solidFill>
              <a:srgbClr val="EB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3232" y="4517136"/>
            <a:ext cx="3273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名义：性别、语向、企业类型 → 频数/卡方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61104" y="4443984"/>
            <a:ext cx="3566160" cy="566928"/>
          </a:xfrm>
          <a:prstGeom prst="rect">
            <a:avLst/>
          </a:prstGeom>
          <a:solidFill>
            <a:srgbClr val="F9F2ED"/>
          </a:solidFill>
          <a:ln w="9525">
            <a:solidFill>
              <a:srgbClr val="EB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07408" y="4517136"/>
            <a:ext cx="3273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顺序：非常低→非常高（李克特）→ 中位数/秩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55279" y="4443984"/>
            <a:ext cx="3566160" cy="566928"/>
          </a:xfrm>
          <a:prstGeom prst="rect">
            <a:avLst/>
          </a:prstGeom>
          <a:solidFill>
            <a:srgbClr val="F9F2ED"/>
          </a:solidFill>
          <a:ln w="9525">
            <a:solidFill>
              <a:srgbClr val="EB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01583" y="4517136"/>
            <a:ext cx="3273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等距·比率：译龄年数、字数/小时、测试分 → 均值/回归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5175504"/>
            <a:ext cx="11055096" cy="475488"/>
          </a:xfrm>
          <a:prstGeom prst="rect">
            <a:avLst/>
          </a:prstGeom>
          <a:solidFill>
            <a:srgbClr val="F9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66928" y="5175504"/>
            <a:ext cx="50292" cy="475488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7824" y="5303520"/>
            <a:ext cx="1048816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李克特题项是顺序数据；把它当等距数据求均值可行，但要说明约定俗成的理由，并报告信度。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697" cy="6967728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96012" cy="9601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9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板块 ① 方法 A 概述 · 于萍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一份好问卷的骨架：从导语到收尾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5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anatomy of a questionnaire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90472"/>
            <a:ext cx="11055096" cy="10972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03920" y="6144768"/>
            <a:ext cx="747522" cy="137160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83446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62972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42498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6318504"/>
            <a:ext cx="31181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D2603A"/>
                </a:solidFill>
                <a:latin typeface="Microsoft YaHei"/>
                <a:ea typeface="Microsoft YaHei"/>
                <a:cs typeface="Microsoft YaHei"/>
              </a:rPr>
              <a:t>主讲 于萍 · 方法 A 概述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09360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《翻译研究方法》2026–2027 学年第 1 学期 · 第 1 组 · 10.12 课堂展示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528816"/>
            <a:ext cx="3118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50" b="1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第 06 / 35 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1719072"/>
            <a:ext cx="5437616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719072"/>
            <a:ext cx="5437616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1901952"/>
            <a:ext cx="5071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① 标题 + 导语（最常被砍，最影响回收）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2240279"/>
            <a:ext cx="5053568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必须写明：研究者身份、目的、时长、匿名与数据用途、自愿与退出权、联系方式。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2363724"/>
            <a:ext cx="5053568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示例：“本研究由 ×× 大学 MA2 ××× 承担，仅用于课程研究，不向第三方共享。”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7424" y="1719072"/>
            <a:ext cx="5437616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7424" y="1719072"/>
            <a:ext cx="5437616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0304" y="1901952"/>
            <a:ext cx="5071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② 填答说明与示例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8592" y="2240279"/>
            <a:ext cx="5053568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一页只讲一件事：单选/多选/量表计分方式；给 1 个示例题。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8592" y="2363724"/>
            <a:ext cx="5053568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中英双语对照时，说明以哪种语言为准。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2761488"/>
            <a:ext cx="5437616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2761488"/>
            <a:ext cx="5437616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2944368"/>
            <a:ext cx="5071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③ 甄别题与配额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3282696"/>
            <a:ext cx="5053568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是否执业译员、语向、译龄、是否使用后编辑——决定后续分组比较能否成立。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3406139"/>
            <a:ext cx="5053568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甄别题放在最前，避免筛选后样本被“污染”（讨论太多概念）。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87424" y="2761488"/>
            <a:ext cx="5437616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7424" y="2761488"/>
            <a:ext cx="5437616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0304" y="2944368"/>
            <a:ext cx="5071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④ 主体题块（按构念分组，不按“想到什么问什么”）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8592" y="3282696"/>
            <a:ext cx="5053568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每个构念 3–6 题；先易后难、先熟悉后陌生；同一构念的题项打散以防规律作答。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8592" y="3406139"/>
            <a:ext cx="5053568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题号连续，方便受访者与论文中引用“题项 7–12”。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3803904"/>
            <a:ext cx="5437616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6928" y="3803904"/>
            <a:ext cx="5437616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3986784"/>
            <a:ext cx="5071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⑤ 注意力检查与反向题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" y="4325112"/>
            <a:ext cx="5053568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1–2 题即可，如“本题请选择‘比较不同意’”；用于数据清洗而非计分。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" y="4448556"/>
            <a:ext cx="5053568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反向题需在编码时重述，报告剔除人数与理由。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87424" y="3803904"/>
            <a:ext cx="5437616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87424" y="3803904"/>
            <a:ext cx="5437616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0304" y="3986784"/>
            <a:ext cx="5071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⑥ 敏感题与开放题收尾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88592" y="4325112"/>
            <a:ext cx="5053568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报酬、违规、对甲方的负面评价放后段，并给出区间选项与“不愿回答”。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88592" y="4448556"/>
            <a:ext cx="5053568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最后一题：“还有什么是我们没有问到但重要的？”——常被引用为质性补充材料。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4846320"/>
            <a:ext cx="5437616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6928" y="4846320"/>
            <a:ext cx="5437616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808" y="5029200"/>
            <a:ext cx="5071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⑦ 谢辞与回信承诺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" y="5367528"/>
            <a:ext cx="5053568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说明结果反馈方式（汇总表/邮件），提升可信度与回收意愿。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8096" y="5490972"/>
            <a:ext cx="5053568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若有小礼品，避免价值过高形成激励偏差。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579729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题型→统计：单选/多选→频数、卡方；矩阵/量表→均值、α、因子分析；排序题→秩相关；开放题→编码后转主题。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697" cy="6967728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96012" cy="9601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9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板块 ① 方法 A 概述 · 于萍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操作步骤：八步走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5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eight stages of a survey study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90472"/>
            <a:ext cx="11055096" cy="10972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03920" y="6144768"/>
            <a:ext cx="747522" cy="137160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83446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62972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42498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6318504"/>
            <a:ext cx="31181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D2603A"/>
                </a:solidFill>
                <a:latin typeface="Microsoft YaHei"/>
                <a:ea typeface="Microsoft YaHei"/>
                <a:cs typeface="Microsoft YaHei"/>
              </a:rPr>
              <a:t>主讲 于萍 · 方法 A 概述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09360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《翻译研究方法》2026–2027 学年第 1 学期 · 第 1 组 · 10.12 课堂展示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528816"/>
            <a:ext cx="3118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50" b="1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第 07 / 35 页</a:t>
            </a:r>
          </a:p>
        </p:txBody>
      </p:sp>
      <p:sp>
        <p:nvSpPr>
          <p:cNvPr id="15" name="Pentagon 14"/>
          <p:cNvSpPr/>
          <p:nvPr/>
        </p:nvSpPr>
        <p:spPr>
          <a:xfrm>
            <a:off x="566928" y="1755648"/>
            <a:ext cx="2654800" cy="1051560"/>
          </a:xfrm>
          <a:prstGeom prst="homePlate">
            <a:avLst>
              <a:gd name="adj" fmla="val 16000"/>
            </a:avLst>
          </a:prstGeom>
          <a:solidFill>
            <a:srgbClr val="F9EFEA"/>
          </a:solidFill>
          <a:ln w="9525">
            <a:solidFill>
              <a:srgbClr val="EFCC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82880" tIns="109728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S1  研究问题与假设</a:t>
            </a:r>
          </a:p>
          <a:p>
            <a:pPr algn="l">
              <a:lnSpc>
                <a:spcPct val="128000"/>
              </a:lnSpc>
              <a:spcBef>
                <a:spcPts val="30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问题→构念→变量→指标；写下“本研究
要回答的三句话”。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3139432" y="2532888"/>
            <a:ext cx="164592" cy="146304"/>
          </a:xfrm>
          <a:prstGeom prst="triangle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Pentagon 16"/>
          <p:cNvSpPr/>
          <p:nvPr/>
        </p:nvSpPr>
        <p:spPr>
          <a:xfrm>
            <a:off x="3368032" y="1755648"/>
            <a:ext cx="2654800" cy="1051560"/>
          </a:xfrm>
          <a:prstGeom prst="homePlate">
            <a:avLst>
              <a:gd name="adj" fmla="val 16000"/>
            </a:avLst>
          </a:prstGeom>
          <a:solidFill>
            <a:srgbClr val="F9EFEA"/>
          </a:solidFill>
          <a:ln w="9525">
            <a:solidFill>
              <a:srgbClr val="EFCC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82880" tIns="109728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S2  界定总体与抽样</a:t>
            </a:r>
          </a:p>
          <a:p>
            <a:pPr algn="l">
              <a:lnSpc>
                <a:spcPct val="128000"/>
              </a:lnSpc>
              <a:spcBef>
                <a:spcPts val="30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抽样框（协会会员名录/企业库/班级名册
）；方法+样本量+理由。</a:t>
            </a:r>
          </a:p>
        </p:txBody>
      </p:sp>
      <p:sp>
        <p:nvSpPr>
          <p:cNvPr id="18" name="Isosceles Triangle 17"/>
          <p:cNvSpPr/>
          <p:nvPr/>
        </p:nvSpPr>
        <p:spPr>
          <a:xfrm rot="5400000">
            <a:off x="5940536" y="2532888"/>
            <a:ext cx="164592" cy="146304"/>
          </a:xfrm>
          <a:prstGeom prst="triangle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Pentagon 18"/>
          <p:cNvSpPr/>
          <p:nvPr/>
        </p:nvSpPr>
        <p:spPr>
          <a:xfrm>
            <a:off x="6169136" y="1755648"/>
            <a:ext cx="2654800" cy="1051560"/>
          </a:xfrm>
          <a:prstGeom prst="homePlate">
            <a:avLst>
              <a:gd name="adj" fmla="val 16000"/>
            </a:avLst>
          </a:prstGeom>
          <a:solidFill>
            <a:srgbClr val="F9EFEA"/>
          </a:solidFill>
          <a:ln w="9525">
            <a:solidFill>
              <a:srgbClr val="EFCC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82880" tIns="109728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S3  工具选择</a:t>
            </a:r>
          </a:p>
          <a:p>
            <a:pPr algn="l">
              <a:lnSpc>
                <a:spcPct val="128000"/>
              </a:lnSpc>
              <a:spcBef>
                <a:spcPts val="30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能改编就改编成熟量表；自编须说明来源
与维度。</a:t>
            </a:r>
          </a:p>
        </p:txBody>
      </p:sp>
      <p:sp>
        <p:nvSpPr>
          <p:cNvPr id="20" name="Isosceles Triangle 19"/>
          <p:cNvSpPr/>
          <p:nvPr/>
        </p:nvSpPr>
        <p:spPr>
          <a:xfrm rot="5400000">
            <a:off x="8741641" y="2532888"/>
            <a:ext cx="164592" cy="146304"/>
          </a:xfrm>
          <a:prstGeom prst="triangle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Pentagon 20"/>
          <p:cNvSpPr/>
          <p:nvPr/>
        </p:nvSpPr>
        <p:spPr>
          <a:xfrm>
            <a:off x="8970241" y="1755648"/>
            <a:ext cx="2654800" cy="1051560"/>
          </a:xfrm>
          <a:prstGeom prst="homePlate">
            <a:avLst>
              <a:gd name="adj" fmla="val 16000"/>
            </a:avLst>
          </a:prstGeom>
          <a:solidFill>
            <a:srgbClr val="F9EFEA"/>
          </a:solidFill>
          <a:ln w="9525">
            <a:solidFill>
              <a:srgbClr val="EFCC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82880" tIns="109728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S4  题项起草与排序</a:t>
            </a:r>
          </a:p>
          <a:p>
            <a:pPr algn="l">
              <a:lnSpc>
                <a:spcPct val="128000"/>
              </a:lnSpc>
              <a:spcBef>
                <a:spcPts val="30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清晰性/单一性/中立性/简洁性；选项穷尽
且互斥。</a:t>
            </a:r>
          </a:p>
        </p:txBody>
      </p:sp>
      <p:sp>
        <p:nvSpPr>
          <p:cNvPr id="22" name="Pentagon 21"/>
          <p:cNvSpPr/>
          <p:nvPr/>
        </p:nvSpPr>
        <p:spPr>
          <a:xfrm>
            <a:off x="8970241" y="3008376"/>
            <a:ext cx="2654800" cy="1051560"/>
          </a:xfrm>
          <a:prstGeom prst="homePlate">
            <a:avLst>
              <a:gd name="adj" fmla="val 16000"/>
            </a:avLst>
          </a:prstGeom>
          <a:solidFill>
            <a:srgbClr val="F9EFEA"/>
          </a:solidFill>
          <a:ln w="9525">
            <a:solidFill>
              <a:srgbClr val="EFCC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82880" tIns="109728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S5  专家评审与前测</a:t>
            </a:r>
          </a:p>
          <a:p>
            <a:pPr algn="l">
              <a:lnSpc>
                <a:spcPct val="128000"/>
              </a:lnSpc>
              <a:spcBef>
                <a:spcPts val="30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2–3 位同行评议；10–20 人认知访谈；n=
30–50 预试跑信度。</a:t>
            </a:r>
          </a:p>
        </p:txBody>
      </p:sp>
      <p:sp>
        <p:nvSpPr>
          <p:cNvPr id="23" name="Pentagon 22"/>
          <p:cNvSpPr/>
          <p:nvPr/>
        </p:nvSpPr>
        <p:spPr>
          <a:xfrm>
            <a:off x="6169136" y="3008376"/>
            <a:ext cx="2654800" cy="1051560"/>
          </a:xfrm>
          <a:prstGeom prst="homePlate">
            <a:avLst>
              <a:gd name="adj" fmla="val 16000"/>
            </a:avLst>
          </a:prstGeom>
          <a:solidFill>
            <a:srgbClr val="F9EFEA"/>
          </a:solidFill>
          <a:ln w="9525">
            <a:solidFill>
              <a:srgbClr val="EFCC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82880" tIns="109728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S6  发放与回收管理</a:t>
            </a:r>
          </a:p>
          <a:p>
            <a:pPr algn="l">
              <a:lnSpc>
                <a:spcPct val="128000"/>
              </a:lnSpc>
              <a:spcBef>
                <a:spcPts val="30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开放窗口、2–3 次提醒、记录发放/回收/
有效三份数字。</a:t>
            </a:r>
          </a:p>
        </p:txBody>
      </p:sp>
      <p:sp>
        <p:nvSpPr>
          <p:cNvPr id="24" name="Isosceles Triangle 23"/>
          <p:cNvSpPr/>
          <p:nvPr/>
        </p:nvSpPr>
        <p:spPr>
          <a:xfrm rot="16200000">
            <a:off x="6086840" y="3785615"/>
            <a:ext cx="164592" cy="146304"/>
          </a:xfrm>
          <a:prstGeom prst="triangle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Pentagon 24"/>
          <p:cNvSpPr/>
          <p:nvPr/>
        </p:nvSpPr>
        <p:spPr>
          <a:xfrm>
            <a:off x="3368032" y="3008376"/>
            <a:ext cx="2654800" cy="1051560"/>
          </a:xfrm>
          <a:prstGeom prst="homePlate">
            <a:avLst>
              <a:gd name="adj" fmla="val 16000"/>
            </a:avLst>
          </a:prstGeom>
          <a:solidFill>
            <a:srgbClr val="F9EFEA"/>
          </a:solidFill>
          <a:ln w="9525">
            <a:solidFill>
              <a:srgbClr val="EFCC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82880" tIns="109728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S7  数据清洗与质检</a:t>
            </a:r>
          </a:p>
          <a:p>
            <a:pPr algn="l">
              <a:lnSpc>
                <a:spcPct val="128000"/>
              </a:lnSpc>
              <a:spcBef>
                <a:spcPts val="30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作答时长、直线作答、检查题、缺失值处
理规则先行确定。</a:t>
            </a:r>
          </a:p>
        </p:txBody>
      </p:sp>
      <p:sp>
        <p:nvSpPr>
          <p:cNvPr id="26" name="Isosceles Triangle 25"/>
          <p:cNvSpPr/>
          <p:nvPr/>
        </p:nvSpPr>
        <p:spPr>
          <a:xfrm rot="16200000">
            <a:off x="3285736" y="3785615"/>
            <a:ext cx="164592" cy="146304"/>
          </a:xfrm>
          <a:prstGeom prst="triangle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Pentagon 26"/>
          <p:cNvSpPr/>
          <p:nvPr/>
        </p:nvSpPr>
        <p:spPr>
          <a:xfrm>
            <a:off x="566928" y="3008376"/>
            <a:ext cx="2654800" cy="1051560"/>
          </a:xfrm>
          <a:prstGeom prst="homePlate">
            <a:avLst>
              <a:gd name="adj" fmla="val 16000"/>
            </a:avLst>
          </a:prstGeom>
          <a:solidFill>
            <a:srgbClr val="F9EFEA"/>
          </a:solidFill>
          <a:ln w="9525">
            <a:solidFill>
              <a:srgbClr val="EFCC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82880" tIns="109728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S8  分析与报告</a:t>
            </a:r>
          </a:p>
          <a:p>
            <a:pPr algn="l">
              <a:lnSpc>
                <a:spcPct val="128000"/>
              </a:lnSpc>
              <a:spcBef>
                <a:spcPts val="30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信度/效度证据→描述→组间比较/建模→
局限与推论范围。</a:t>
            </a:r>
          </a:p>
        </p:txBody>
      </p:sp>
      <p:sp>
        <p:nvSpPr>
          <p:cNvPr id="28" name="Isosceles Triangle 27"/>
          <p:cNvSpPr/>
          <p:nvPr/>
        </p:nvSpPr>
        <p:spPr>
          <a:xfrm rot="16200000">
            <a:off x="484632" y="3785615"/>
            <a:ext cx="164592" cy="146304"/>
          </a:xfrm>
          <a:prstGeom prst="triangle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4224528"/>
            <a:ext cx="544068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4224528"/>
            <a:ext cx="5440680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43891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关键节点的检查证据（写进论文“研究设计”一节）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" y="4681728"/>
            <a:ext cx="502920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抽样：抽样框如何获得，剔除了哪些人（如“作答 &lt; 60 秒”）。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4988052"/>
            <a:ext cx="502920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前测：专家意见如何导致删改（列出改动的 3 道题）。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" y="5294376"/>
            <a:ext cx="502920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回收：发放 400 / 回收 218 / 有效 205，并说明差额原因。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" y="5600700"/>
            <a:ext cx="502920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质检：直线作答与检查题不通过者人数；缺失值按个案删除还是插补。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9632" y="4224528"/>
            <a:ext cx="5422392" cy="1810512"/>
          </a:xfrm>
          <a:prstGeom prst="rect">
            <a:avLst/>
          </a:prstGeom>
          <a:solidFill>
            <a:srgbClr val="F9F2ED"/>
          </a:solidFill>
          <a:ln w="9525">
            <a:solidFill>
              <a:srgbClr val="EB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3891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构念—指标—题项：一条不能断的链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663440"/>
            <a:ext cx="5029200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D2603A"/>
                </a:solidFill>
                <a:latin typeface="Microsoft YaHei"/>
                <a:ea typeface="Microsoft YaHei"/>
                <a:cs typeface="Microsoft YaHei"/>
              </a:rPr>
              <a:t>◆ 元认知监控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   → 检查漏译 / 对照参考译文 / 据效果调策略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D2603A"/>
                </a:solidFill>
                <a:latin typeface="Microsoft YaHei"/>
                <a:ea typeface="Microsoft YaHei"/>
                <a:cs typeface="Microsoft YaHei"/>
              </a:rPr>
              <a:t>◆ 技术接受度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   → 有用性 + 易用性 + 使用频率 + 付费意愿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632704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B4451F"/>
                </a:solidFill>
                <a:latin typeface="Microsoft YaHei"/>
                <a:ea typeface="Microsoft YaHei"/>
                <a:cs typeface="Microsoft YaHei"/>
              </a:rPr>
              <a:t>断链处＝答辩现场被追问处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697" cy="6967728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96012" cy="9601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9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板块 ① 方法 A 概述 · 于萍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适用于哪些翻译研究课题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5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where questionnaires fit in TS / ITS · and where they do not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90472"/>
            <a:ext cx="11055096" cy="10972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03920" y="6144768"/>
            <a:ext cx="747522" cy="137160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83446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62972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42498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6318504"/>
            <a:ext cx="31181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D2603A"/>
                </a:solidFill>
                <a:latin typeface="Microsoft YaHei"/>
                <a:ea typeface="Microsoft YaHei"/>
                <a:cs typeface="Microsoft YaHei"/>
              </a:rPr>
              <a:t>主讲 于萍 · 方法 A 概述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09360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《翻译研究方法》2026–2027 学年第 1 学期 · 第 1 组 · 10.12 课堂展示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528816"/>
            <a:ext cx="3118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50" b="1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第 08 / 35 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1719072"/>
            <a:ext cx="3564117" cy="13441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719072"/>
            <a:ext cx="3564117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1901952"/>
            <a:ext cx="31983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译者与口译员群体状况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2240279"/>
            <a:ext cx="3180069" cy="347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94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职业身份、译龄、语向、报酬、工时、认证考试经历。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2587751"/>
            <a:ext cx="3180069" cy="347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94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典型产出：行业“体检报告”，为政策与教学提供基线
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3925" y="1719072"/>
            <a:ext cx="3564117" cy="13441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13925" y="1719072"/>
            <a:ext cx="3564117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6805" y="1901952"/>
            <a:ext cx="31983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翻译技术与工具使用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5093" y="2240279"/>
            <a:ext cx="3180069" cy="347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94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CAT / MTPE / 术语库 / 机器翻译与生成式 AI 的使用频率
、态度、培训需求。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5093" y="2587751"/>
            <a:ext cx="3180069" cy="347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例：王华树、陈涅奥（2021）企业侧调查。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60923" y="1719072"/>
            <a:ext cx="3564117" cy="13441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60923" y="1719072"/>
            <a:ext cx="3564117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3803" y="1901952"/>
            <a:ext cx="31983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翻译能力与个体差异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2091" y="2240279"/>
            <a:ext cx="3180069" cy="347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94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子能力自评量表、元认知与思辨倾向、焦虑与动机（可
与测试分数联用）。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2091" y="2587751"/>
            <a:ext cx="3180069" cy="347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例：莫梓、曾曙静（2023）163 名译者。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209544"/>
            <a:ext cx="3564117" cy="13441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3209544"/>
            <a:ext cx="3564117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3392424"/>
            <a:ext cx="31983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翻译教学与课程评估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3730752"/>
            <a:ext cx="3180069" cy="694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学习者满意度、任务难度自陈、用人单位对毕业生
能力评价、课程前后测（准实验）。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13925" y="3209544"/>
            <a:ext cx="3564117" cy="13441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13925" y="3209544"/>
            <a:ext cx="3564117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96805" y="3392424"/>
            <a:ext cx="31983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读者 / 受众接受与产品评价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15093" y="3730752"/>
            <a:ext cx="3180069" cy="694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对译本可读性、忠实度、标题与字幕的偏好；可结
合评阅任务（混合设计）。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60923" y="3209544"/>
            <a:ext cx="3564117" cy="13441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60923" y="3209544"/>
            <a:ext cx="3564117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43803" y="3392424"/>
            <a:ext cx="31983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行业规范、伦理与政策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62091" y="3730752"/>
            <a:ext cx="3180069" cy="694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对术语标准、翻译质量规范、AI 署名与保密条款的
认知与遵守情况。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663440"/>
            <a:ext cx="11055096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F0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6928" y="4663440"/>
            <a:ext cx="54864" cy="1298448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" y="4791456"/>
            <a:ext cx="10607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451F"/>
                </a:solidFill>
                <a:latin typeface="Microsoft YaHei"/>
                <a:ea typeface="Microsoft YaHei"/>
                <a:cs typeface="Microsoft YaHei"/>
              </a:rPr>
              <a:t>不适用于（或必须与其他方法合用）：</a:t>
            </a:r>
          </a:p>
          <a:p>
            <a:pPr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</a:pPr>
            <a:r>
              <a:rPr sz="10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① 过程与在线加工（谁在想什么、何时卡住）→ 键盘记录、眼动、有声思维；② 深层动机与身份建构的生成机制 → 访谈、民族志；③ 因果效应检验 → 实验/准实验；④ 极敏感或极专业群体（司法、口译现场保密要求）→ 无法保证自陈真实性；⑤ 文本层面的语言特征与规范 → 语料库与文本分析。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697" cy="6967728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96012" cy="9601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9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板块 ① 方法 A 概述 · 于萍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正例分析：两篇期刊论文如何把问卷做扎实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5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① 行业调查型（描述—比较）  ② 能力关系型（相关—建模）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90472"/>
            <a:ext cx="11055096" cy="10972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03920" y="6144768"/>
            <a:ext cx="747522" cy="137160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83446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62972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42498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6318504"/>
            <a:ext cx="31181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D2603A"/>
                </a:solidFill>
                <a:latin typeface="Microsoft YaHei"/>
                <a:ea typeface="Microsoft YaHei"/>
                <a:cs typeface="Microsoft YaHei"/>
              </a:rPr>
              <a:t>主讲 于萍 · 方法 A 概述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09360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《翻译研究方法》2026–2027 学年第 1 学期 · 第 1 组 · 10.12 课堂展示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528816"/>
            <a:ext cx="3118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50" b="1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第 09 / 35 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18517" y="457200"/>
            <a:ext cx="1906524" cy="237744"/>
          </a:xfrm>
          <a:prstGeom prst="roundRect">
            <a:avLst>
              <a:gd name="adj" fmla="val 40000"/>
            </a:avLst>
          </a:prstGeom>
          <a:solidFill>
            <a:srgbClr val="F4E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64821" y="498348"/>
            <a:ext cx="19065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6A22"/>
                </a:solidFill>
                <a:latin typeface="Microsoft YaHei"/>
                <a:ea typeface="Microsoft YaHei"/>
                <a:cs typeface="Microsoft YaHei"/>
              </a:rPr>
              <a:t>引用前请核对原文页码与数据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1810512"/>
            <a:ext cx="11055096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1810512"/>
            <a:ext cx="11055096" cy="45720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1938528"/>
            <a:ext cx="106070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案例 1｜行业技术采纳调查</a:t>
            </a:r>
          </a:p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r>
              <a:rPr sz="94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王华树, 陈涅奥. 中国语言服务企业机器翻译与译后编辑应用调查研究[J]. 北京第二外国语学院学报, 2021, 43(5): 23-37.</a:t>
            </a:r>
          </a:p>
          <a:p>
            <a:pPr algn="l">
              <a:lnSpc>
                <a:spcPct val="128000"/>
              </a:lnSpc>
              <a:spcBef>
                <a:spcPts val="300"/>
              </a:spcBef>
              <a:spcAft>
                <a:spcPts val="0"/>
              </a:spcAft>
            </a:pPr>
            <a:r>
              <a:rPr sz="985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研究问题：中国语言服务企业如何使用机器翻译（MT）与译后编辑（MTPE），存在哪些障碍与需求。
设计与发现：以企业为单位发放问卷，218 家企业受访；9 成企业使用 MT，MTPE 项目占比约 30%，多数企业仅把 MTPE 用于参考级/常规级文本；对系统的核心期待是质量与垂直领域能力。</a:t>
            </a:r>
          </a:p>
          <a:p>
            <a:pPr algn="l">
              <a:lnSpc>
                <a:spcPct val="132000"/>
              </a:lnSpc>
              <a:spcBef>
                <a:spcPts val="400"/>
              </a:spcBef>
              <a:spcAft>
                <a:spcPts val="0"/>
              </a:spcAft>
            </a:pPr>
            <a:r>
              <a:rPr sz="880" b="1" i="0">
                <a:solidFill>
                  <a:srgbClr val="D2603A"/>
                </a:solidFill>
                <a:latin typeface="Microsoft YaHei"/>
                <a:ea typeface="Microsoft YaHei"/>
                <a:cs typeface="Microsoft YaHei"/>
              </a:rPr>
              <a:t>课程框架对应：研究问题 ✓ 方法设计 ✓ 主要发现 ✓ 操作步骤（见下页） ✓ 方法评析（①③ 见下页，②④ 见 ② 板块）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163824"/>
            <a:ext cx="11055096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163824"/>
            <a:ext cx="11055096" cy="45720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3291840"/>
            <a:ext cx="106070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案例 2｜译者能力关系研究</a:t>
            </a:r>
          </a:p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r>
              <a:rPr sz="94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莫梓, 曾曙静. 译者元认知监控、思辨倾向和翻译能力的关系研究[J]. 北京第二外国语学院学报, 2023, 45(6): 94-109.</a:t>
            </a:r>
          </a:p>
          <a:p>
            <a:pPr algn="l">
              <a:lnSpc>
                <a:spcPct val="128000"/>
              </a:lnSpc>
              <a:spcBef>
                <a:spcPts val="300"/>
              </a:spcBef>
              <a:spcAft>
                <a:spcPts val="0"/>
              </a:spcAft>
            </a:pPr>
            <a:r>
              <a:rPr sz="985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研究问题：译者元认知监控、思辨倾向如何影响翻译能力。
设计与发现：163 名有 100 小时以上翻译实践的译者；三份工具（元认知监控问卷、思辨倾向问卷、翻译测试卷）；三者两两显著正相关，结构模型拟合良好，元认知监控既直接影响也经由思辨倾向间接影响翻译能力。</a:t>
            </a:r>
          </a:p>
          <a:p>
            <a:pPr algn="l">
              <a:lnSpc>
                <a:spcPct val="132000"/>
              </a:lnSpc>
              <a:spcBef>
                <a:spcPts val="400"/>
              </a:spcBef>
              <a:spcAft>
                <a:spcPts val="0"/>
              </a:spcAft>
            </a:pPr>
            <a:r>
              <a:rPr sz="880" b="1" i="0">
                <a:solidFill>
                  <a:srgbClr val="D2603A"/>
                </a:solidFill>
                <a:latin typeface="Microsoft YaHei"/>
                <a:ea typeface="Microsoft YaHei"/>
                <a:cs typeface="Microsoft YaHei"/>
              </a:rPr>
              <a:t>课程框架对应：研究问题 ✓ 方法设计 ✓ 主要发现 ✓ 操作步骤（见下页） ✓ 方法评析（①③ 见下页，②④ 见 ② 板块）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425696"/>
            <a:ext cx="3564117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4425696"/>
            <a:ext cx="3564117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608576"/>
            <a:ext cx="31983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A｜总体界定清楚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937759"/>
            <a:ext cx="3198357" cy="137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以协会统计企业在营名单为参照总体。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13925" y="4425696"/>
            <a:ext cx="3564117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13925" y="4425696"/>
            <a:ext cx="3564117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96805" y="4608576"/>
            <a:ext cx="31983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B｜题项有编制原则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6805" y="4937759"/>
            <a:ext cx="3198357" cy="137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32 题；清晰、单一、中立、简洁。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60923" y="4425696"/>
            <a:ext cx="3564117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60923" y="4425696"/>
            <a:ext cx="3564117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3803" y="4608576"/>
            <a:ext cx="31983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C｜内置一致性检验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3803" y="4937759"/>
            <a:ext cx="3198357" cy="137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“前后照应题”查矛盾作答。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5349240"/>
            <a:ext cx="3564117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6928" y="5349240"/>
            <a:ext cx="3564117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5532120"/>
            <a:ext cx="31983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D｜测量标准可见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861303"/>
            <a:ext cx="3198357" cy="137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报告因子载荷、item-total、α。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13925" y="5349240"/>
            <a:ext cx="3564117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13925" y="5349240"/>
            <a:ext cx="3564117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96805" y="5532120"/>
            <a:ext cx="31983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E｜纳入条件可核查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96805" y="5861303"/>
            <a:ext cx="3198357" cy="137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“译龄 &gt;100 小时”成为门槛。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60923" y="5349240"/>
            <a:ext cx="3564117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60923" y="5349240"/>
            <a:ext cx="3564117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43803" y="5532120"/>
            <a:ext cx="31983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F｜工具—结论对齐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3803" y="5861303"/>
            <a:ext cx="3198357" cy="137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测试卷测能力；结论止于相关。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697" cy="6967728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96012" cy="9601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9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板块 ① 方法 A 概述 · 于萍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两篇论文的操作环节拆解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5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replicate their workflow in five stations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90472"/>
            <a:ext cx="11055096" cy="10972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03920" y="6144768"/>
            <a:ext cx="747522" cy="137160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83446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62972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42498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6318504"/>
            <a:ext cx="31181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D2603A"/>
                </a:solidFill>
                <a:latin typeface="Microsoft YaHei"/>
                <a:ea typeface="Microsoft YaHei"/>
                <a:cs typeface="Microsoft YaHei"/>
              </a:rPr>
              <a:t>主讲 于萍 · 方法 A 概述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09360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《翻译研究方法》2026–2027 学年第 1 学期 · 第 1 组 · 10.12 课堂展示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528816"/>
            <a:ext cx="3118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50" b="1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第 10 / 35 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1755648"/>
            <a:ext cx="11055096" cy="34747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1755648"/>
            <a:ext cx="127101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环节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75688" y="1755648"/>
            <a:ext cx="470001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 1（2021 · 行业调查）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2007" y="1755648"/>
            <a:ext cx="464515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 2（2023 · 能力关系）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103120"/>
            <a:ext cx="11055096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2743200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2316073"/>
            <a:ext cx="127101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① 抽样与对象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75688" y="2236419"/>
            <a:ext cx="470001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以 9 734 家在营语言服务企业为参照总体，取 218 家；受访角色覆盖决策/管理/译员/
审校，兼顾层级与角色差异。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7" y="2236419"/>
            <a:ext cx="46451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以“翻译实践 &gt;100 小时”为纳入条件，得 163 名译者；把“有经验”这一模糊标签
转成可核查门槛。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743200"/>
            <a:ext cx="11055096" cy="640080"/>
          </a:xfrm>
          <a:prstGeom prst="rect">
            <a:avLst/>
          </a:prstGeom>
          <a:solidFill>
            <a:srgbClr val="F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3383280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2956153"/>
            <a:ext cx="127101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② 工具编制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75688" y="2876499"/>
            <a:ext cx="470001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平台“问卷星”编制 32 题；题干强调清晰性、单一性、中立性、无预设立场；程度题
用李克特量表。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2007" y="2876499"/>
            <a:ext cx="46451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自编+改编三份工具：元认知监控 12 题、思辨倾向 15 题、翻译测试卷（含汉译英/英
译汉审校题）。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383279"/>
            <a:ext cx="11055096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4023359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596233"/>
            <a:ext cx="127101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③ 质量控制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75688" y="3596233"/>
            <a:ext cx="470001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设置前后照应题检验矛盾作答；问卷题目严格围绕调研主题，避免跑题题项。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22007" y="3516579"/>
            <a:ext cx="46451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报告 EFA 结果（因子负荷 0.53–0.87）与内部一致性；题项按因子归入四个/五个维度
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4023359"/>
            <a:ext cx="11055096" cy="640080"/>
          </a:xfrm>
          <a:prstGeom prst="rect">
            <a:avLst/>
          </a:prstGeom>
          <a:solidFill>
            <a:srgbClr val="F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4663440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4236313"/>
            <a:ext cx="127101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④ 回收与分析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75688" y="4156659"/>
            <a:ext cx="470001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按筛选后的 218 份有效问卷统计；结果以企业为单位呈报比例与分布；再据数据讨论
问题与对策。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22007" y="4156659"/>
            <a:ext cx="46451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相关分析 → 结构方程模型，报告 p/GFI/RMSEA/CFI 等拟合指数，检验直接与间接效
应。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4663440"/>
            <a:ext cx="11055096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6928" y="5303520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4876393"/>
            <a:ext cx="127101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⑤ 结论分寸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75688" y="4796739"/>
            <a:ext cx="470001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结论限于“应用现状 + 障碍 + 三方建议（行业/高校/译者）”，未把企业自陈等同于
绩效测量。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22007" y="4876393"/>
            <a:ext cx="46451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结论限于“关联与影响模型”，讨论部分交代样本与横断面设计的限制。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5431536"/>
            <a:ext cx="11055096" cy="566928"/>
          </a:xfrm>
          <a:prstGeom prst="rect">
            <a:avLst/>
          </a:prstGeom>
          <a:solidFill>
            <a:srgbClr val="F9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6928" y="5431536"/>
            <a:ext cx="50292" cy="566928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" y="5559552"/>
            <a:ext cx="1048816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复现要点：若你只有 1 个月和 3 个人，也至少要走完“界定总体 → 改编工具 → 前测 → 记录回收 → 报告信度”这五步，缺一步都会在答辩时被追问。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697" cy="6967728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96012" cy="9601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9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板块 ① 方法 A 概述 · 于萍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值得学习的六点（以及“别照抄”的提醒）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5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transferable practices for your own study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90472"/>
            <a:ext cx="11055096" cy="10972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03920" y="6144768"/>
            <a:ext cx="747522" cy="137160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83446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62972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42498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6318504"/>
            <a:ext cx="31181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D2603A"/>
                </a:solidFill>
                <a:latin typeface="Microsoft YaHei"/>
                <a:ea typeface="Microsoft YaHei"/>
                <a:cs typeface="Microsoft YaHei"/>
              </a:rPr>
              <a:t>主讲 于萍 · 方法 A 概述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09360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《翻译研究方法》2026–2027 学年第 1 学期 · 第 1 组 · 10.12 课堂展示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528816"/>
            <a:ext cx="3118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50" b="1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第 11 / 35 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1737360"/>
            <a:ext cx="3564117" cy="1435607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737360"/>
            <a:ext cx="3564117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8" y="1947672"/>
            <a:ext cx="214884" cy="214884"/>
          </a:xfrm>
          <a:prstGeom prst="roundRect">
            <a:avLst>
              <a:gd name="adj" fmla="val 18000"/>
            </a:avLst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3564" y="1920240"/>
            <a:ext cx="28646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问题—变量—题项—统计一条链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3564" y="2249424"/>
            <a:ext cx="2864601" cy="795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两篇都能指出每个题项服务于哪个变量、每个变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量用哪道题测、哪道题算哪个统计量；不出现“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孤儿题项”。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3925" y="1737360"/>
            <a:ext cx="3564117" cy="1435607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13925" y="1737360"/>
            <a:ext cx="3564117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96805" y="1947672"/>
            <a:ext cx="214884" cy="214884"/>
          </a:xfrm>
          <a:prstGeom prst="roundRect">
            <a:avLst>
              <a:gd name="adj" fmla="val 18000"/>
            </a:avLst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30561" y="1920240"/>
            <a:ext cx="28646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工具来源与信效度可查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30561" y="2249424"/>
            <a:ext cx="2864601" cy="795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改编要注明来源并报告 α、因子结构；自编要说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清维度生成过程（文献＋访谈＋专家）。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60923" y="1737360"/>
            <a:ext cx="3564117" cy="1435607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60923" y="1737360"/>
            <a:ext cx="3564117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43803" y="1947672"/>
            <a:ext cx="214884" cy="214884"/>
          </a:xfrm>
          <a:prstGeom prst="roundRect">
            <a:avLst>
              <a:gd name="adj" fmla="val 18000"/>
            </a:avLst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7559" y="1920240"/>
            <a:ext cx="28646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样本条件与回收过程写清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77559" y="2249424"/>
            <a:ext cx="2864601" cy="795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报告纳入/排除条件、发放与回收差额、剔除规则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，读者才能判断结论的可推论范围。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19272"/>
            <a:ext cx="3564117" cy="1435607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3319272"/>
            <a:ext cx="3564117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49808" y="3529584"/>
            <a:ext cx="214884" cy="214884"/>
          </a:xfrm>
          <a:prstGeom prst="roundRect">
            <a:avLst>
              <a:gd name="adj" fmla="val 18000"/>
            </a:avLst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3564" y="3502152"/>
            <a:ext cx="28646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把质量控制做进工具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3564" y="3831335"/>
            <a:ext cx="2864601" cy="795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前后照应题、检查题、作答时长阈值：事前设计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优于事后清洗，且应在论文中报告。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13925" y="3319272"/>
            <a:ext cx="3564117" cy="1435607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13925" y="3319272"/>
            <a:ext cx="3564117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496805" y="3529584"/>
            <a:ext cx="214884" cy="214884"/>
          </a:xfrm>
          <a:prstGeom prst="roundRect">
            <a:avLst>
              <a:gd name="adj" fmla="val 18000"/>
            </a:avLst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30561" y="3502152"/>
            <a:ext cx="28646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结论分寸与局限交代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30561" y="3831335"/>
            <a:ext cx="2864601" cy="795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横断面自陈数据只支撑“关联/分布”，不支撑因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果与机制；局限段落要写“样本怎么来的”。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60923" y="3319272"/>
            <a:ext cx="3564117" cy="1435607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60923" y="3319272"/>
            <a:ext cx="3564117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243803" y="3529584"/>
            <a:ext cx="214884" cy="214884"/>
          </a:xfrm>
          <a:prstGeom prst="roundRect">
            <a:avLst>
              <a:gd name="adj" fmla="val 18000"/>
            </a:avLst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77559" y="3502152"/>
            <a:ext cx="28646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公开问卷与数据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77559" y="3831335"/>
            <a:ext cx="2864601" cy="795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以附录或开放仓库公开题项，既提升可信度，也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便于他人复现——同学作业强烈建议附上问卷原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卷。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4901184"/>
            <a:ext cx="11055096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F0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6928" y="4901184"/>
            <a:ext cx="54864" cy="1097280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502920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B4451F"/>
                </a:solidFill>
                <a:latin typeface="Microsoft YaHei"/>
                <a:ea typeface="Microsoft YaHei"/>
                <a:cs typeface="Microsoft YaHei"/>
              </a:rPr>
              <a:t>可商榷之处（供 ② 板块陈冠臻展开）：</a:t>
            </a:r>
          </a:p>
          <a:p>
            <a:pPr algn="l">
              <a:lnSpc>
                <a:spcPct val="138000"/>
              </a:lnSpc>
              <a:spcBef>
                <a:spcPts val="40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案例 1 属行业调查：未报告应答率、抽样框获取方式与量表信度，且文中出现“319 家需求方/144 名自由译者”等数字，疑来自同项目相关调查，引用时须核对口径（企业/人员单位不同，不能相加比较）；案例 2 未交代招募渠道与回收过程，且以横断面自陈数据建立“影响模型”，因果解释需谨慎。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697" cy="6967728"/>
          </a:xfrm>
          <a:prstGeom prst="rect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417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D2603A"/>
                </a:solidFill>
                <a:latin typeface="Microsoft YaHei"/>
                <a:ea typeface="Microsoft YaHei"/>
                <a:cs typeface="Microsoft YaHei"/>
              </a:rPr>
              <a:t>板块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5F3EE"/>
                </a:solidFill>
                <a:latin typeface="Microsoft YaHei"/>
                <a:ea typeface="Microsoft YaHei"/>
                <a:cs typeface="Microsoft YaHei"/>
              </a:rPr>
              <a:t>方法 A 正反案例分析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3101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AA4B8"/>
                </a:solidFill>
                <a:latin typeface="Consolas"/>
                <a:ea typeface="Microsoft YaHei"/>
                <a:cs typeface="Microsoft YaHei"/>
              </a:rPr>
              <a:t>Station 2 · Case analysis of questionnaire studies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767328"/>
            <a:ext cx="6035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3CAD8"/>
                </a:solidFill>
                <a:latin typeface="Microsoft YaHei"/>
                <a:ea typeface="Microsoft YaHei"/>
                <a:cs typeface="Microsoft YaHei"/>
              </a:rPr>
              <a:t>主讲：陈冠臻  ·  正文 5 页  ·  8 分钟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</a:pPr>
            <a:r>
              <a:rPr sz="1150" b="0" i="0">
                <a:solidFill>
                  <a:srgbClr val="9AA4B8"/>
                </a:solidFill>
                <a:latin typeface="Microsoft YaHei"/>
                <a:ea typeface="Microsoft YaHei"/>
                <a:cs typeface="Microsoft YaHei"/>
              </a:rPr>
              <a:t>本板块任务：先建立一份“六问诊断单”，再用它拆解一篇可商榷的问卷使用案例；对照 ① 板块给出的两篇正例，说明“同样的方法，为什么会写出两种质量的论文”。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3767328"/>
            <a:ext cx="3931920" cy="475488"/>
          </a:xfrm>
          <a:prstGeom prst="rect">
            <a:avLst/>
          </a:prstGeom>
          <a:solidFill>
            <a:srgbClr val="18213A"/>
          </a:solidFill>
          <a:ln w="9525">
            <a:solidFill>
              <a:srgbClr val="2C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71231" y="3858768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F3EE"/>
                </a:solidFill>
                <a:latin typeface="Microsoft YaHei"/>
                <a:ea typeface="Microsoft YaHei"/>
                <a:cs typeface="Microsoft YaHei"/>
              </a:rPr>
              <a:t>案例定位</a:t>
            </a:r>
            <a:r>
              <a:rPr sz="950" b="0" i="0">
                <a:solidFill>
                  <a:srgbClr val="D2603A"/>
                </a:solidFill>
                <a:latin typeface="Consolas"/>
                <a:ea typeface="Microsoft YaHei"/>
                <a:cs typeface="Microsoft YaHei"/>
              </a:rPr>
              <a:t>   S13 两篇文献对照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4334256"/>
            <a:ext cx="3931920" cy="475488"/>
          </a:xfrm>
          <a:prstGeom prst="rect">
            <a:avLst/>
          </a:prstGeom>
          <a:solidFill>
            <a:srgbClr val="18213A"/>
          </a:solidFill>
          <a:ln w="9525">
            <a:solidFill>
              <a:srgbClr val="2C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4425696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F3EE"/>
                </a:solidFill>
                <a:latin typeface="Microsoft YaHei"/>
                <a:ea typeface="Microsoft YaHei"/>
                <a:cs typeface="Microsoft YaHei"/>
              </a:rPr>
              <a:t>六问诊断单</a:t>
            </a:r>
            <a:r>
              <a:rPr sz="950" b="0" i="0">
                <a:solidFill>
                  <a:srgbClr val="D2603A"/>
                </a:solidFill>
                <a:latin typeface="Consolas"/>
                <a:ea typeface="Microsoft YaHei"/>
                <a:cs typeface="Microsoft YaHei"/>
              </a:rPr>
              <a:t>   S14 分析工具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4901184"/>
            <a:ext cx="3931920" cy="475488"/>
          </a:xfrm>
          <a:prstGeom prst="rect">
            <a:avLst/>
          </a:prstGeom>
          <a:solidFill>
            <a:srgbClr val="18213A"/>
          </a:solidFill>
          <a:ln w="9525">
            <a:solidFill>
              <a:srgbClr val="2C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4992624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F3EE"/>
                </a:solidFill>
                <a:latin typeface="Microsoft YaHei"/>
                <a:ea typeface="Microsoft YaHei"/>
                <a:cs typeface="Microsoft YaHei"/>
              </a:rPr>
              <a:t>缺陷逐条</a:t>
            </a:r>
            <a:r>
              <a:rPr sz="950" b="0" i="0">
                <a:solidFill>
                  <a:srgbClr val="D2603A"/>
                </a:solidFill>
                <a:latin typeface="Consolas"/>
                <a:ea typeface="Microsoft YaHei"/>
                <a:cs typeface="Microsoft YaHei"/>
              </a:rPr>
              <a:t>   S15 反例拆解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5468112"/>
            <a:ext cx="3931920" cy="475488"/>
          </a:xfrm>
          <a:prstGeom prst="rect">
            <a:avLst/>
          </a:prstGeom>
          <a:solidFill>
            <a:srgbClr val="18213A"/>
          </a:solidFill>
          <a:ln w="9525">
            <a:solidFill>
              <a:srgbClr val="2C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71231" y="5559552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F3EE"/>
                </a:solidFill>
                <a:latin typeface="Microsoft YaHei"/>
                <a:ea typeface="Microsoft YaHei"/>
                <a:cs typeface="Microsoft YaHei"/>
              </a:rPr>
              <a:t>改进方案</a:t>
            </a:r>
            <a:r>
              <a:rPr sz="950" b="0" i="0">
                <a:solidFill>
                  <a:srgbClr val="D2603A"/>
                </a:solidFill>
                <a:latin typeface="Consolas"/>
                <a:ea typeface="Microsoft YaHei"/>
                <a:cs typeface="Microsoft YaHei"/>
              </a:rPr>
              <a:t>   S16 可执行清单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5989320"/>
            <a:ext cx="10268712" cy="10972"/>
          </a:xfrm>
          <a:prstGeom prst="rect">
            <a:avLst/>
          </a:prstGeom>
          <a:solidFill>
            <a:srgbClr val="334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608990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891"/>
                </a:solidFill>
                <a:latin typeface="Consolas"/>
                <a:ea typeface="Microsoft YaHei"/>
                <a:cs typeface="Microsoft YaHei"/>
              </a:rPr>
              <a:t>下一页起为陈冠臻的正文（5 页，建议 7 分 30 秒讲完）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09360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9CFDA"/>
                </a:solidFill>
                <a:latin typeface="Microsoft YaHei"/>
                <a:ea typeface="Microsoft YaHei"/>
                <a:cs typeface="Microsoft YaHei"/>
              </a:rPr>
              <a:t>《翻译研究方法》2026–2027 学年第 1 学期 · 第 1 组 · 10.12 课堂展示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528816"/>
            <a:ext cx="3118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9CFDA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50" b="1" i="0">
                <a:solidFill>
                  <a:srgbClr val="C9CFDA"/>
                </a:solidFill>
                <a:latin typeface="Consolas"/>
                <a:ea typeface="Microsoft YaHei"/>
                <a:cs typeface="Microsoft YaHei"/>
              </a:rPr>
              <a:t>第 12 / 35 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697" cy="6967728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96012" cy="9601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9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板块 ② 方法 A 案例 · 陈冠臻 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案例定位：一篇“可商榷”，一篇“教学合成”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5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why these two · and how to read the type-diversity rule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90472"/>
            <a:ext cx="11055096" cy="10972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03920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83446" y="6144768"/>
            <a:ext cx="747522" cy="137160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62972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42498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6318504"/>
            <a:ext cx="31181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D2603A"/>
                </a:solidFill>
                <a:latin typeface="Microsoft YaHei"/>
                <a:ea typeface="Microsoft YaHei"/>
                <a:cs typeface="Microsoft YaHei"/>
              </a:rPr>
              <a:t>主讲 陈冠臻 · 方法 A 案例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09360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《翻译研究方法》2026–2027 学年第 1 学期 · 第 1 组 · 10.12 课堂展示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528816"/>
            <a:ext cx="3118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50" b="1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第 13 / 35 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24320" y="457200"/>
            <a:ext cx="3100720" cy="237744"/>
          </a:xfrm>
          <a:prstGeom prst="roundRect">
            <a:avLst>
              <a:gd name="adj" fmla="val 40000"/>
            </a:avLst>
          </a:prstGeom>
          <a:solidFill>
            <a:srgbClr val="F4E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70624" y="498348"/>
            <a:ext cx="310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6A22"/>
                </a:solidFill>
                <a:latin typeface="Microsoft YaHei"/>
                <a:ea typeface="Microsoft YaHei"/>
                <a:cs typeface="Microsoft YaHei"/>
              </a:rPr>
              <a:t>案例信息已核对书目 · 数据请定稿前逐条回原文复核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1810512"/>
            <a:ext cx="3564117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1810512"/>
            <a:ext cx="3564117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1993392"/>
            <a:ext cx="31983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① 正例对照物（已在 ① 板块介绍）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267712"/>
            <a:ext cx="319835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TYPE: 中文 CSSCI 扩展 · 期刊论文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2606039"/>
            <a:ext cx="3180069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王华树 &amp; 陈涅奥（2021）行业调查 + 莫梓 &amp; 曾曙静
（2023）能力关系研究。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538727"/>
            <a:ext cx="3180069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共同点：样本条件可核查、题项与构念对应、质量
控制在工具内。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13925" y="1810512"/>
            <a:ext cx="3564117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13925" y="1810512"/>
            <a:ext cx="3564117" cy="50292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96805" y="1993392"/>
            <a:ext cx="31983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② 反面素材 A：行业问卷的可商榷报告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6805" y="2267712"/>
            <a:ext cx="319835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TYPE: 中文期刊论文（同一篇文章的另一面）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15093" y="2606039"/>
            <a:ext cx="3180069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不是“造假式”反例，而是“合规但不严谨”的高
频类型：样本口径、单位混用、缺信效度与回收报告
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5093" y="3538727"/>
            <a:ext cx="3180069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选择理由：这类写法在硕博论文与课程作业中最常
见，可改进、可对照。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60923" y="1810512"/>
            <a:ext cx="3564117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60923" y="1810512"/>
            <a:ext cx="3564117" cy="50292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43803" y="1993392"/>
            <a:ext cx="31983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③ 反面素材 B：教学合成案例（自拟）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3803" y="2267712"/>
            <a:ext cx="319835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TYPE: 硕士学位论文（合成，用于演示）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2091" y="2606039"/>
            <a:ext cx="3180069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抽取《翻译研究方法论》课上常见“六病”合成一
篇案例：研究问题与题项错位、选项不穷尽、无预试
、样本局限不外推不足等。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2091" y="3538727"/>
            <a:ext cx="3180069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透明说明：合成案例便于逐条演示；定稿时可换成
组内某篇真实 MTI 学位论文并核对页码。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4773168"/>
            <a:ext cx="11055096" cy="347472"/>
          </a:xfrm>
          <a:prstGeom prst="rect">
            <a:avLst/>
          </a:prstGeom>
          <a:solidFill>
            <a:srgbClr val="24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4773168"/>
            <a:ext cx="259384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课程要求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98520" y="4773168"/>
            <a:ext cx="70347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本组做法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79608" y="4773168"/>
            <a:ext cx="98755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是否合规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5120640"/>
            <a:ext cx="11055096" cy="2804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6928" y="5401056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5152136"/>
            <a:ext cx="2593848" cy="188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所选论文类型不能单一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98520" y="5152136"/>
            <a:ext cx="7034784" cy="188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期刊论文（中文 2 篇）＋ 学位论文（合成教学案例，可替换为真实 MTI 论文）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79608" y="5152136"/>
            <a:ext cx="987552" cy="188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✓ 满足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5401056"/>
            <a:ext cx="11055096" cy="280416"/>
          </a:xfrm>
          <a:prstGeom prst="rect">
            <a:avLst/>
          </a:prstGeom>
          <a:solidFill>
            <a:srgbClr val="F1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6928" y="5681472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5432552"/>
            <a:ext cx="2593848" cy="188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须为翻译研究领域文献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98520" y="5432552"/>
            <a:ext cx="7034784" cy="188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两篇均为翻译/口笔译研究（企业技术使用、译者能力），案例主题为 MTPE 与能力评估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79608" y="5432552"/>
            <a:ext cx="987552" cy="188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✓ 满足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5681472"/>
            <a:ext cx="11055096" cy="2804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66928" y="5961888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8368" y="5712968"/>
            <a:ext cx="2593848" cy="188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正反例各先介绍问题与设计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98520" y="5712968"/>
            <a:ext cx="7034784" cy="188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每案例统一按“问题→设计→发现→操作步骤→方法评析”五段呈现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79608" y="5712968"/>
            <a:ext cx="987552" cy="188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✓ 满足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697" cy="6967728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96012" cy="9601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9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板块 ② 方法 A 案例 · 陈冠臻 2/5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六问诊断单：分析任何问卷案例都能用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5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a reusable checklist for questionnaire critique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90472"/>
            <a:ext cx="11055096" cy="10972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03920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83446" y="6144768"/>
            <a:ext cx="747522" cy="137160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62972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42498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6318504"/>
            <a:ext cx="31181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D2603A"/>
                </a:solidFill>
                <a:latin typeface="Microsoft YaHei"/>
                <a:ea typeface="Microsoft YaHei"/>
                <a:cs typeface="Microsoft YaHei"/>
              </a:rPr>
              <a:t>主讲 陈冠臻 · 方法 A 案例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09360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《翻译研究方法》2026–2027 学年第 1 学期 · 第 1 组 · 10.12 课堂展示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528816"/>
            <a:ext cx="3118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50" b="1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第 14 / 35 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1755648"/>
            <a:ext cx="3564117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755648"/>
            <a:ext cx="3564117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8" y="1965960"/>
            <a:ext cx="214884" cy="214884"/>
          </a:xfrm>
          <a:prstGeom prst="roundRect">
            <a:avLst>
              <a:gd name="adj" fmla="val 18000"/>
            </a:avLst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3564" y="1938528"/>
            <a:ext cx="28646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问题与对象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3564" y="2267712"/>
            <a:ext cx="286460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研究问题能否用自陈数据回答？总体界定是否清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楚（谁被排除）？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3925" y="1755648"/>
            <a:ext cx="3564117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13925" y="1755648"/>
            <a:ext cx="3564117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96805" y="1965960"/>
            <a:ext cx="214884" cy="214884"/>
          </a:xfrm>
          <a:prstGeom prst="roundRect">
            <a:avLst>
              <a:gd name="adj" fmla="val 18000"/>
            </a:avLst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30561" y="1938528"/>
            <a:ext cx="28646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抽样与回收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30561" y="2267712"/>
            <a:ext cx="286460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有无抽样框？应答率如何？未答者是否可能与答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者不同（无应答偏差）？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60923" y="1755648"/>
            <a:ext cx="3564117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60923" y="1755648"/>
            <a:ext cx="3564117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43803" y="1965960"/>
            <a:ext cx="214884" cy="214884"/>
          </a:xfrm>
          <a:prstGeom prst="roundRect">
            <a:avLst>
              <a:gd name="adj" fmla="val 18000"/>
            </a:avLst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7559" y="1938528"/>
            <a:ext cx="28646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工具与题项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77559" y="2267712"/>
            <a:ext cx="286460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题项—构念对照表；选项穷尽互斥；有无“双重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问题”“诱导问法”。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072384"/>
            <a:ext cx="3564117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3072384"/>
            <a:ext cx="3564117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49808" y="3282696"/>
            <a:ext cx="214884" cy="214884"/>
          </a:xfrm>
          <a:prstGeom prst="roundRect">
            <a:avLst>
              <a:gd name="adj" fmla="val 18000"/>
            </a:avLst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3564" y="3255264"/>
            <a:ext cx="28646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预试与信效度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3564" y="3584448"/>
            <a:ext cx="2864601" cy="530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专家评审、认知访谈、预试样本量、α/因子结构/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测量不变性。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13925" y="3072384"/>
            <a:ext cx="3564117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13925" y="3072384"/>
            <a:ext cx="3564117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496805" y="3282696"/>
            <a:ext cx="214884" cy="214884"/>
          </a:xfrm>
          <a:prstGeom prst="roundRect">
            <a:avLst>
              <a:gd name="adj" fmla="val 18000"/>
            </a:avLst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30561" y="3255264"/>
            <a:ext cx="28646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数据与清洗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30561" y="3584448"/>
            <a:ext cx="2864601" cy="530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缺失值规则、注意力检查、直线作答剔除、多重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选择题计分说明。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60923" y="3072384"/>
            <a:ext cx="3564117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60923" y="3072384"/>
            <a:ext cx="3564117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243803" y="3282696"/>
            <a:ext cx="214884" cy="214884"/>
          </a:xfrm>
          <a:prstGeom prst="roundRect">
            <a:avLst>
              <a:gd name="adj" fmla="val 18000"/>
            </a:avLst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77559" y="3255264"/>
            <a:ext cx="28646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结论与外推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77559" y="3584448"/>
            <a:ext cx="2864601" cy="530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样本能撑多远？相关是否被写成因果？局限是否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只是套话。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4370832"/>
            <a:ext cx="3564117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6928" y="4370832"/>
            <a:ext cx="3564117" cy="50292"/>
          </a:xfrm>
          <a:prstGeom prst="rect">
            <a:avLst/>
          </a:prstGeom>
          <a:solidFill>
            <a:srgbClr val="24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808" y="4553712"/>
            <a:ext cx="31983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论文里的“证据锚点”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" y="4892040"/>
            <a:ext cx="3180069" cy="52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在方法/设计章节中检索六个数字：N（发放/回收/
有效）、题项数、α、载荷、应答率、模型拟合指数。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8096" y="5417820"/>
            <a:ext cx="3180069" cy="52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六个数字都能找到＝可核查；缺 3 个以上＝报告透
明度不足。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13925" y="4370832"/>
            <a:ext cx="3564117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313925" y="4370832"/>
            <a:ext cx="3564117" cy="50292"/>
          </a:xfrm>
          <a:prstGeom prst="rect">
            <a:avLst/>
          </a:prstGeom>
          <a:solidFill>
            <a:srgbClr val="24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96805" y="4553712"/>
            <a:ext cx="31983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现场演示方法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15093" y="4892040"/>
            <a:ext cx="3180069" cy="52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把论文“研究设计”一节投影在旁边（或附录 PDF 
截图），逐格对照六问打 ✓/✗。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15093" y="5417820"/>
            <a:ext cx="3180069" cy="52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结论必须引用原文句子：不要说“作者做得不好”
，要说“第 × 页仅写‘发放并回收问卷’，未报告应
答率”。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60923" y="4370832"/>
            <a:ext cx="3564117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060923" y="4370832"/>
            <a:ext cx="3564117" cy="50292"/>
          </a:xfrm>
          <a:prstGeom prst="rect">
            <a:avLst/>
          </a:prstGeom>
          <a:solidFill>
            <a:srgbClr val="24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43803" y="4553712"/>
            <a:ext cx="31983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评价语气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62091" y="4892040"/>
            <a:ext cx="3180069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区分三类问题：① 方法本身局限（无可避免，如自
陈偏差）；② 设计取舍（可商榷，如只做横断面）；
③ 报告缺陷（可修正，如漏报信度）。批评只针对第 
③ 与第 ② 类。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697" cy="6967728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96012" cy="96012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9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板块 ② 方法 A 案例 · 陈冠臻 3/5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反面案例拆解：一篇 MTI 论文的问卷使用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5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teaching case (synthesized) · 六病齐现 · 逐条可替换为真实论文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90472"/>
            <a:ext cx="11055096" cy="10972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03920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83446" y="6144768"/>
            <a:ext cx="747522" cy="137160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62972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42498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6318504"/>
            <a:ext cx="31181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B4451F"/>
                </a:solidFill>
                <a:latin typeface="Microsoft YaHei"/>
                <a:ea typeface="Microsoft YaHei"/>
                <a:cs typeface="Microsoft YaHei"/>
              </a:rPr>
              <a:t>主讲 陈冠臻 · 方法 A 案例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09360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《翻译研究方法》2026–2027 学年第 1 学期 · 第 1 组 · 10.12 课堂展示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528816"/>
            <a:ext cx="3118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50" b="1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第 15 / 35 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682496"/>
            <a:ext cx="110550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《翻译焦虑对 MTI 学生汉译英表现的影响研究》（硕士学位论文，合成案例，定稿前替换为真实文献并核对页码）：研究问题＝焦虑是否影响译文质量；方法＝“采用问卷调查法＋成绩分析”；自编问卷 20 题（李克特 5 点），向某校 MTI 一年级 90 人发放，回收 81 份，有效 76 份，以百分比排序报告并给出教学建议。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231136"/>
            <a:ext cx="11055096" cy="347472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231136"/>
            <a:ext cx="2383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#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3052" y="2231136"/>
            <a:ext cx="127336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缺陷类型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2720" y="2231136"/>
            <a:ext cx="2967807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原文式表述（案例）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6832" y="2231136"/>
            <a:ext cx="287621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为什么是问题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9352" y="2231136"/>
            <a:ext cx="2967807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最小改动方案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578608"/>
            <a:ext cx="11055096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108960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2741574"/>
            <a:ext cx="2383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3052" y="2741574"/>
            <a:ext cx="127336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构念错位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2720" y="2666796"/>
            <a:ext cx="296780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题项多为“多久查一次词典”“是否紧张”的频率与情绪
描述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6832" y="2666796"/>
            <a:ext cx="287621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研究问题问的是“能力/表现”，问卷测的是“习惯/情绪
”：变量与结论不在同一层面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9352" y="2666796"/>
            <a:ext cx="296780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先做操作定义表：焦虑→生理/认知/行为三层，每层 3 题
；质量用评分量表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108960"/>
            <a:ext cx="11055096" cy="530352"/>
          </a:xfrm>
          <a:prstGeom prst="rect">
            <a:avLst/>
          </a:prstGeom>
          <a:solidFill>
            <a:srgbClr val="F8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3639312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271926"/>
            <a:ext cx="2383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3052" y="3271926"/>
            <a:ext cx="127336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工具来源含糊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2720" y="3197148"/>
            <a:ext cx="296780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仅写“参考相关文献自编”，无题项池、无专家名单、无
前测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6832" y="3271926"/>
            <a:ext cx="287621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无法判断内容效度；答辩时“问卷从哪来”必答不能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9352" y="3197148"/>
            <a:ext cx="296780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列“来源—改编程度—改动原因”三列，附预试 α 与删题
记录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3639311"/>
            <a:ext cx="11055096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6928" y="4169663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3802278"/>
            <a:ext cx="2383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3052" y="3802278"/>
            <a:ext cx="127336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量表混用与计分误用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62720" y="3727500"/>
            <a:ext cx="296780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20 题里混入 5 道多选、2 道“其他”，李克特题按总分相
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76832" y="3727500"/>
            <a:ext cx="287621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多选题不可累加计分；“其他”未编码即并入总分 → 总
分口径混乱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9352" y="3727500"/>
            <a:ext cx="296780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多选仅做频数；开放“其他”单独编码；量表计分规则写
在分析段首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4169663"/>
            <a:ext cx="11055096" cy="530352"/>
          </a:xfrm>
          <a:prstGeom prst="rect">
            <a:avLst/>
          </a:prstGeom>
          <a:solidFill>
            <a:srgbClr val="F8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" y="4700016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" y="4332630"/>
            <a:ext cx="2383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3052" y="4332630"/>
            <a:ext cx="127336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选项穷尽性不足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62720" y="4257852"/>
            <a:ext cx="296780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“你有翻译实习经历吗？A 有 B 没有”；“你每周译多少
小时？1/2/3 小时”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76832" y="4257852"/>
            <a:ext cx="287621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漏“在读无机会”“&gt;3 小时”等区间；缺失尾部导致分
布失真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9352" y="4257852"/>
            <a:ext cx="296780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选项设计做“穷尽＋互斥”两查；数值题给区间并含“以
上”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" y="4700016"/>
            <a:ext cx="11055096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66928" y="5230368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" y="4862982"/>
            <a:ext cx="2383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3052" y="4862982"/>
            <a:ext cx="127336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回收与偏差未报告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62720" y="4788204"/>
            <a:ext cx="296780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回收 81/有效 76，未说明剔除 5 份的理由；未做无应答者
比较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76832" y="4788204"/>
            <a:ext cx="287621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76 人的代表性无法评估；自选择样本可能本就是“愿谈
焦虑”的学生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99352" y="4862982"/>
            <a:ext cx="296780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报告剔除规则；比较答/未答者的公开成绩特征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66928" y="5230368"/>
            <a:ext cx="11055096" cy="530352"/>
          </a:xfrm>
          <a:prstGeom prst="rect">
            <a:avLst/>
          </a:prstGeom>
          <a:solidFill>
            <a:srgbClr val="F8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6928" y="5760720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8368" y="5393334"/>
            <a:ext cx="2383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F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3052" y="5393334"/>
            <a:ext cx="127336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分析与结论越界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462720" y="5318556"/>
            <a:ext cx="296780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仅百分比排序＋t 检验一处；结论写“焦虑显著损害译文质
量”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76832" y="5318556"/>
            <a:ext cx="287621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横断面自陈＋单一学校样本，支撑不了“损害”这一因
果断言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99352" y="5318556"/>
            <a:ext cx="296780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改为“高焦虑组与低焦虑组成绩差异”，并加局限段：样
本/设计/测量三处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" y="5833872"/>
            <a:ext cx="11055096" cy="402336"/>
          </a:xfrm>
          <a:prstGeom prst="rect">
            <a:avLst/>
          </a:prstGeom>
          <a:solidFill>
            <a:srgbClr val="F7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6928" y="5833872"/>
            <a:ext cx="50292" cy="402336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77824" y="5961888"/>
            <a:ext cx="1048816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一句总结：这篇论文的“方法”不是问卷调查法，而是“发了一份自己写的表”。方法名称不能代替方法链条：问题—总体—工具—回收—分析—分寸。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697" cy="6967728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96012" cy="96012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9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板块 ② 方法 A 案例 · 陈冠臻 4/5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第二处对照：真实行业调查里“可商榷的报告”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5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even good studies can be under-reported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90472"/>
            <a:ext cx="11055096" cy="10972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03920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83446" y="6144768"/>
            <a:ext cx="747522" cy="137160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62972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42498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6318504"/>
            <a:ext cx="31181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B4451F"/>
                </a:solidFill>
                <a:latin typeface="Microsoft YaHei"/>
                <a:ea typeface="Microsoft YaHei"/>
                <a:cs typeface="Microsoft YaHei"/>
              </a:rPr>
              <a:t>主讲 陈冠臻 · 方法 A 案例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09360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《翻译研究方法》2026–2027 学年第 1 学期 · 第 1 组 · 10.12 课堂展示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528816"/>
            <a:ext cx="3118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50" b="1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第 16 / 35 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1773936"/>
            <a:ext cx="5437616" cy="13075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773936"/>
            <a:ext cx="5437616" cy="50292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1956816"/>
            <a:ext cx="5071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口径 1｜总体单位在“企业”与“人员”之间滑动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2295144"/>
            <a:ext cx="50535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35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文章以 218 家企业为调查单位，但讨论中同时出现“319 家需求方”“144 名自由译者”。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2514600"/>
            <a:ext cx="50535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风险：读者会把三类群体的百分比横向比较（企业 ≠ 译者）。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2734056"/>
            <a:ext cx="50535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改法：分节呈报，每节首句标明“本节单位为企业/人员”。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7424" y="1773936"/>
            <a:ext cx="5437616" cy="13075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7424" y="1773936"/>
            <a:ext cx="5437616" cy="50292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0304" y="1956816"/>
            <a:ext cx="5071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口径 2｜未报告发放—回收—有效三段数字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8592" y="2295144"/>
            <a:ext cx="50535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文本给出“筛选过后的 218 份有效问卷”，但发放数、回收数、剔除规则缺失。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8592" y="2514600"/>
            <a:ext cx="50535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风险：无法判断应答率与无应答偏差，样本自选择问题不可评估。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8592" y="2734056"/>
            <a:ext cx="50535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改法：给一张三行小表（发放/回收/有效），并写剔除标准。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227832"/>
            <a:ext cx="5437616" cy="13075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3227832"/>
            <a:ext cx="5437616" cy="50292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3410712"/>
            <a:ext cx="5071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口径 3｜李克特题与多选混排，信度未报告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" y="3749040"/>
            <a:ext cx="5053568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17 单选 + 15 多选，程度题用李克特；未见 α、维度结构或一致性检验结果。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" y="3968496"/>
            <a:ext cx="5053568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风险：“前后照应题”只能发现个别矛盾，不等于信度证据。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" y="4187952"/>
            <a:ext cx="5053568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改法：对成组成段的量表报 α；照应题结果单独说明。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7424" y="3227832"/>
            <a:ext cx="5437616" cy="13075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87424" y="3227832"/>
            <a:ext cx="5437616" cy="50292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0304" y="3410712"/>
            <a:ext cx="5071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口径 4｜渠道与情境不明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8592" y="3749040"/>
            <a:ext cx="5053568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35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使用问卷星发放（平台已说明），但受访人如何被触达（企业邮箱/微信群/协会转发）未交代。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8592" y="3968496"/>
            <a:ext cx="5053568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风险：不同触达路径的人群构成不同，影响外推。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8592" y="4187952"/>
            <a:ext cx="5053568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改法：写一句招募路径与时间窗（含 2 次提醒日期）。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4681728"/>
            <a:ext cx="11055096" cy="1353312"/>
          </a:xfrm>
          <a:prstGeom prst="rect">
            <a:avLst/>
          </a:prstGeom>
          <a:solidFill>
            <a:srgbClr val="EDF2F0"/>
          </a:solidFill>
          <a:ln w="9525">
            <a:solidFill>
              <a:srgbClr val="CF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6928" y="4681728"/>
            <a:ext cx="54864" cy="135331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4809744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同时必须公平指出：这些是“报告层面的可商榷”，不影响该文作为行业描述的参考价值——它明确交代了题项编制原则、角色分层与一致性检验设计，仍优于多数学生作业。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0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→ 方法论启示：批评一篇论文，先分清“做错了”与“没写清”。前者要改设计，后者只要改写作规范；两者的改进清单完全不同。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697" cy="6967728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96012" cy="9601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9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板块 ② 方法 A 案例 · 陈冠臻 5/5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改进清单与小结：把方法链条补齐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5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from critique to a reproducible protocol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90472"/>
            <a:ext cx="11055096" cy="10972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03920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83446" y="6144768"/>
            <a:ext cx="747522" cy="137160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62972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42498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6318504"/>
            <a:ext cx="31181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D2603A"/>
                </a:solidFill>
                <a:latin typeface="Microsoft YaHei"/>
                <a:ea typeface="Microsoft YaHei"/>
                <a:cs typeface="Microsoft YaHei"/>
              </a:rPr>
              <a:t>主讲 陈冠臻 · 方法 A 案例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09360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《翻译研究方法》2026–2027 学年第 1 学期 · 第 1 组 · 10.12 课堂展示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528816"/>
            <a:ext cx="3118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50" b="1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第 17 / 35 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1755648"/>
            <a:ext cx="11055096" cy="34747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1755648"/>
            <a:ext cx="1088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环节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92808" y="1755648"/>
            <a:ext cx="264261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反例（合成案例）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7" y="1755648"/>
            <a:ext cx="506577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改进方案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93807" y="1755648"/>
            <a:ext cx="167335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判断标准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103120"/>
            <a:ext cx="11055096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2505456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200452"/>
            <a:ext cx="10881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92808" y="2200452"/>
            <a:ext cx="264261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焦虑影响 MTI 学生译文质量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7" y="2200452"/>
            <a:ext cx="50657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在样本条件下，自陈焦虑与译文评分差异是否相关？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93807" y="2200452"/>
            <a:ext cx="16733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可核查、可证伪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2505456"/>
            <a:ext cx="11055096" cy="402336"/>
          </a:xfrm>
          <a:prstGeom prst="rect">
            <a:avLst/>
          </a:prstGeom>
          <a:solidFill>
            <a:srgbClr val="F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2907791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2602788"/>
            <a:ext cx="10881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总体与抽样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92808" y="2602788"/>
            <a:ext cx="264261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某校 2024 级 MTI 一年级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1727" y="2602788"/>
            <a:ext cx="50657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该市 3 所 MTI 授权点 2 个年级全体（N=412），分层按语向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93807" y="2602788"/>
            <a:ext cx="16733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写明抽样框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2907791"/>
            <a:ext cx="11055096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3310127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3005124"/>
            <a:ext cx="10881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工具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92808" y="3005124"/>
            <a:ext cx="264261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自编 20 题，直接发放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81727" y="3005124"/>
            <a:ext cx="50657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改编成熟量表（如 FLCAS）+ 5 题 pilot → 2 位专家评议 → 修订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93807" y="3005124"/>
            <a:ext cx="16733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留下修订记录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310128"/>
            <a:ext cx="11055096" cy="402336"/>
          </a:xfrm>
          <a:prstGeom prst="rect">
            <a:avLst/>
          </a:prstGeom>
          <a:solidFill>
            <a:srgbClr val="F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" y="3712464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3407460"/>
            <a:ext cx="10881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信效度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92808" y="3407460"/>
            <a:ext cx="264261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未报告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1727" y="3407460"/>
            <a:ext cx="50657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预试 n=48：α=0.86；KMO=0.82；删 2 题（载荷&lt;0.45）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93807" y="3407460"/>
            <a:ext cx="16733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报告删题与理由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3712463"/>
            <a:ext cx="11055096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6928" y="4114800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3809796"/>
            <a:ext cx="10881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实施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92808" y="3809796"/>
            <a:ext cx="264261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课堂统一发放一次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81727" y="3809796"/>
            <a:ext cx="50657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线上开放 14 天 + 邮件提醒 2 次；记录发放/回收/有效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93807" y="3809796"/>
            <a:ext cx="16733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报应答率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" y="4114800"/>
            <a:ext cx="11055096" cy="402336"/>
          </a:xfrm>
          <a:prstGeom prst="rect">
            <a:avLst/>
          </a:prstGeom>
          <a:solidFill>
            <a:srgbClr val="F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66928" y="4517136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" y="4212132"/>
            <a:ext cx="10881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清洗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92808" y="4212132"/>
            <a:ext cx="264261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未说明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81727" y="4212132"/>
            <a:ext cx="50657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剔除：作答 &lt;90 秒（n=4）、检查题错（n=2）、规律作答（n=1）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93807" y="4212132"/>
            <a:ext cx="16733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规则先于数据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" y="4517136"/>
            <a:ext cx="11055096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6928" y="4919472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8" y="4614468"/>
            <a:ext cx="10881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分析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92808" y="4614468"/>
            <a:ext cx="264261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百分比排序 + 一处 t 检验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81727" y="4614468"/>
            <a:ext cx="50657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描述 + 相关 + 控制译龄的回归 + 报告效应量与 95% CI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93807" y="4614468"/>
            <a:ext cx="16733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口径与模型对齐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8" y="4919472"/>
            <a:ext cx="11055096" cy="402336"/>
          </a:xfrm>
          <a:prstGeom prst="rect">
            <a:avLst/>
          </a:prstGeom>
          <a:solidFill>
            <a:srgbClr val="F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66928" y="5321808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8368" y="5016804"/>
            <a:ext cx="10881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892808" y="5016804"/>
            <a:ext cx="264261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焦虑显著损害译文质量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81727" y="5016804"/>
            <a:ext cx="50657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焦虑与评分呈负相关，解释量 β=−0.21；不外推因果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93807" y="5016804"/>
            <a:ext cx="16733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分寸＝证据等级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66928" y="5303520"/>
            <a:ext cx="1105509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49808" y="5449824"/>
            <a:ext cx="10689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本板块三句话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8096" y="5788152"/>
            <a:ext cx="10671048" cy="7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链条要闭合：问题—工具—分析—结论对应。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8096" y="5864352"/>
            <a:ext cx="10671048" cy="7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“方法问题”多是“写作问题”：该报的数字报齐。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8096" y="5940551"/>
            <a:ext cx="10671048" cy="7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最小可改单元：一条指导语、一个选项、一张表。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697" cy="6967728"/>
          </a:xfrm>
          <a:prstGeom prst="rect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417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B7C85"/>
                </a:solidFill>
                <a:latin typeface="Microsoft YaHei"/>
                <a:ea typeface="Microsoft YaHei"/>
                <a:cs typeface="Microsoft YaHei"/>
              </a:rPr>
              <a:t>板块 ③ 方法 B 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5F3EE"/>
                </a:solidFill>
                <a:latin typeface="Microsoft YaHei"/>
                <a:ea typeface="Microsoft YaHei"/>
                <a:cs typeface="Microsoft YaHei"/>
              </a:rPr>
              <a:t>访谈法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3101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AA4B8"/>
                </a:solidFill>
                <a:latin typeface="Consolas"/>
                <a:ea typeface="Microsoft YaHei"/>
                <a:cs typeface="Microsoft YaHei"/>
              </a:rPr>
              <a:t>Survey study: Interview · 主讲 熊芮 · 正文 6 页</a:t>
            </a:r>
          </a:p>
        </p:txBody>
      </p:sp>
      <p:sp>
        <p:nvSpPr>
          <p:cNvPr id="7" name="Rectangle 6"/>
          <p:cNvSpPr/>
          <p:nvPr/>
        </p:nvSpPr>
        <p:spPr>
          <a:xfrm>
            <a:off x="7178040" y="3639312"/>
            <a:ext cx="4160520" cy="2121408"/>
          </a:xfrm>
          <a:prstGeom prst="rect">
            <a:avLst/>
          </a:prstGeom>
          <a:solidFill>
            <a:srgbClr val="1B2437"/>
          </a:solidFill>
          <a:ln w="11430">
            <a:solidFill>
              <a:srgbClr val="3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78040" y="3639312"/>
            <a:ext cx="4160520" cy="45720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79208" y="3890772"/>
            <a:ext cx="64008" cy="64008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07223" y="3858768"/>
            <a:ext cx="359359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B7C85"/>
                </a:solidFill>
                <a:latin typeface="Microsoft YaHei"/>
                <a:ea typeface="Microsoft YaHei"/>
                <a:cs typeface="Microsoft YaHei"/>
              </a:rPr>
              <a:t>研究者</a:t>
            </a:r>
          </a:p>
          <a:p>
            <a:pPr algn="l">
              <a:lnSpc>
                <a:spcPct val="124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E7EAF1"/>
                </a:solidFill>
                <a:latin typeface="Microsoft YaHei"/>
                <a:ea typeface="Microsoft YaHei"/>
                <a:cs typeface="Microsoft YaHei"/>
              </a:rPr>
              <a:t>您说“报价决定我是否接后编辑”，能举个最近的例子吗？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9208" y="4347972"/>
            <a:ext cx="64008" cy="64008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07223" y="4315968"/>
            <a:ext cx="359359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2603A"/>
                </a:solidFill>
                <a:latin typeface="Microsoft YaHei"/>
                <a:ea typeface="Microsoft YaHei"/>
                <a:cs typeface="Microsoft YaHei"/>
              </a:rPr>
              <a:t>译者 T07</a:t>
            </a:r>
          </a:p>
          <a:p>
            <a:pPr algn="l">
              <a:lnSpc>
                <a:spcPct val="124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E7EAF1"/>
                </a:solidFill>
                <a:latin typeface="Microsoft YaHei"/>
                <a:ea typeface="Microsoft YaHei"/>
                <a:cs typeface="Microsoft YaHei"/>
              </a:rPr>
              <a:t>去年 12 月的能源标书，MT 输出很顺但术语全错，当晚退回。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79208" y="4805172"/>
            <a:ext cx="64008" cy="64008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07223" y="4773168"/>
            <a:ext cx="359359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B7C85"/>
                </a:solidFill>
                <a:latin typeface="Microsoft YaHei"/>
                <a:ea typeface="Microsoft YaHei"/>
                <a:cs typeface="Microsoft YaHei"/>
              </a:rPr>
              <a:t>研究者</a:t>
            </a:r>
          </a:p>
          <a:p>
            <a:pPr algn="l">
              <a:lnSpc>
                <a:spcPct val="124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E7EAF1"/>
                </a:solidFill>
                <a:latin typeface="Microsoft YaHei"/>
                <a:ea typeface="Microsoft YaHei"/>
                <a:cs typeface="Microsoft YaHei"/>
              </a:rPr>
              <a:t>那一次之后，您和项目经理的关系有变化吗？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79208" y="5262372"/>
            <a:ext cx="64008" cy="64008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07223" y="5230368"/>
            <a:ext cx="359359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2603A"/>
                </a:solidFill>
                <a:latin typeface="Microsoft YaHei"/>
                <a:ea typeface="Microsoft YaHei"/>
                <a:cs typeface="Microsoft YaHei"/>
              </a:rPr>
              <a:t>译者 T07</a:t>
            </a:r>
          </a:p>
          <a:p>
            <a:pPr algn="l">
              <a:lnSpc>
                <a:spcPct val="124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E7EAF1"/>
                </a:solidFill>
                <a:latin typeface="Microsoft YaHei"/>
                <a:ea typeface="Microsoft YaHei"/>
                <a:cs typeface="Microsoft YaHei"/>
              </a:rPr>
              <a:t>他们开始让我参与译前准备——这就是您问的“话语权”。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79208" y="5504688"/>
            <a:ext cx="375818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8E99AE"/>
                </a:solidFill>
                <a:latin typeface="Microsoft YaHei"/>
                <a:ea typeface="Microsoft YaHei"/>
                <a:cs typeface="Microsoft YaHei"/>
              </a:rPr>
              <a:t>追问＝把判断落到事件 · 录音+田野笔记 · 逐字转录后编码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767328"/>
            <a:ext cx="5852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3CAD8"/>
                </a:solidFill>
                <a:latin typeface="Microsoft YaHei"/>
                <a:ea typeface="Microsoft YaHei"/>
                <a:cs typeface="Microsoft YaHei"/>
              </a:rPr>
              <a:t>本板块回答四个问题：</a:t>
            </a:r>
          </a:p>
          <a:p>
            <a:pPr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0" i="0">
                <a:solidFill>
                  <a:srgbClr val="9AA4B8"/>
                </a:solidFill>
                <a:latin typeface="Microsoft YaHei"/>
                <a:ea typeface="Microsoft YaHei"/>
                <a:cs typeface="Microsoft YaHei"/>
              </a:rPr>
              <a:t>1  访谈法是什么，与“访谈文章”有何不同；</a:t>
            </a:r>
          </a:p>
          <a:p>
            <a:pPr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0" i="0">
                <a:solidFill>
                  <a:srgbClr val="9AA4B8"/>
                </a:solidFill>
                <a:latin typeface="Microsoft YaHei"/>
                <a:ea typeface="Microsoft YaHei"/>
                <a:cs typeface="Microsoft YaHei"/>
              </a:rPr>
              <a:t>2  提纲怎么写、怎么试测；</a:t>
            </a:r>
          </a:p>
          <a:p>
            <a:pPr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0" i="0">
                <a:solidFill>
                  <a:srgbClr val="9AA4B8"/>
                </a:solidFill>
                <a:latin typeface="Microsoft YaHei"/>
                <a:ea typeface="Microsoft YaHei"/>
                <a:cs typeface="Microsoft YaHei"/>
              </a:rPr>
              <a:t>3  现场怎么问、怎么记、怎么转录；</a:t>
            </a:r>
          </a:p>
          <a:p>
            <a:pPr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0" i="0">
                <a:solidFill>
                  <a:srgbClr val="9AA4B8"/>
                </a:solidFill>
                <a:latin typeface="Microsoft YaHei"/>
                <a:ea typeface="Microsoft YaHei"/>
                <a:cs typeface="Microsoft YaHei"/>
              </a:rPr>
              <a:t>4  资料怎么编码成主题，怎么写进论文。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309360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9CFDA"/>
                </a:solidFill>
                <a:latin typeface="Microsoft YaHei"/>
                <a:ea typeface="Microsoft YaHei"/>
                <a:cs typeface="Microsoft YaHei"/>
              </a:rPr>
              <a:t>《翻译研究方法》2026–2027 学年第 1 学期 · 第 1 组 · 10.12 课堂展示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6528816"/>
            <a:ext cx="3118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9CFDA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50" b="1" i="0">
                <a:solidFill>
                  <a:srgbClr val="C9CFDA"/>
                </a:solidFill>
                <a:latin typeface="Consolas"/>
                <a:ea typeface="Microsoft YaHei"/>
                <a:cs typeface="Microsoft YaHei"/>
              </a:rPr>
              <a:t>第 18 / 35 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697" cy="6967728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96012" cy="9601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9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板块 ③ 方法 B 概述 · 熊芮 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什么是访谈法：结构化对话，质性资料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5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Interview research — a purposeful, recorded, transcribed, coded conversation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90472"/>
            <a:ext cx="11055096" cy="10972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03920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83446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62972" y="6144768"/>
            <a:ext cx="747522" cy="137160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42498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6318504"/>
            <a:ext cx="31181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2B7C85"/>
                </a:solidFill>
                <a:latin typeface="Microsoft YaHei"/>
                <a:ea typeface="Microsoft YaHei"/>
                <a:cs typeface="Microsoft YaHei"/>
              </a:rPr>
              <a:t>主讲 熊芮 · 方法 B 概述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09360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《翻译研究方法》2026–2027 学年第 1 学期 · 第 1 组 · 10.12 课堂展示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528816"/>
            <a:ext cx="3118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50" b="1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第 19 / 35 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1664208"/>
            <a:ext cx="6858000" cy="896112"/>
          </a:xfrm>
          <a:prstGeom prst="rect">
            <a:avLst/>
          </a:prstGeom>
          <a:solidFill>
            <a:srgbClr val="ED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664208"/>
            <a:ext cx="50292" cy="89611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1938528"/>
            <a:ext cx="62910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00">
                <a:solidFill>
                  <a:srgbClr val="2B7C85"/>
                </a:solidFill>
                <a:latin typeface="Microsoft YaHei"/>
                <a:ea typeface="Microsoft YaHei"/>
                <a:cs typeface="Microsoft YaHei"/>
              </a:rPr>
              <a:t>定 义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研究者在明确的研究问题指引下，按访谈提纲（结构式／半结构式／非结构式）与受访者进行有记录的互动式提问，把口头叙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述转录为文本，经编码与主题化后据以回答研究问题的质性资料收集与分析方法。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2596896"/>
            <a:ext cx="6446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核心资产　互动的“探因能力”：追问、澄清、要例子、复述确认——把判断落到事件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一句概括　为“发现别人头脑里的那些东西”而生：理由、权衡、情境、行话的真实含义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328416"/>
            <a:ext cx="3337560" cy="8168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3328416"/>
            <a:ext cx="3337560" cy="5029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9808" y="3538728"/>
            <a:ext cx="214884" cy="214884"/>
          </a:xfrm>
          <a:prstGeom prst="roundRect">
            <a:avLst>
              <a:gd name="adj" fmla="val 18000"/>
            </a:avLst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" y="3511296"/>
            <a:ext cx="26380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关系与角色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3564" y="3840480"/>
            <a:ext cx="2638044" cy="1767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双方共同生产数据；对方的身份、利益、表达习惯皆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属资料。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87368" y="3328416"/>
            <a:ext cx="3337560" cy="8168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87368" y="3328416"/>
            <a:ext cx="3337560" cy="5029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270248" y="3538728"/>
            <a:ext cx="214884" cy="214884"/>
          </a:xfrm>
          <a:prstGeom prst="roundRect">
            <a:avLst>
              <a:gd name="adj" fmla="val 18000"/>
            </a:avLst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4004" y="3511296"/>
            <a:ext cx="26380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资料形态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04004" y="3840480"/>
            <a:ext cx="2638044" cy="1767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录音 → 逐字转录 → 编码簿 → 主题图；过程可回溯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才可核查。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4291584"/>
            <a:ext cx="3337560" cy="8168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4291584"/>
            <a:ext cx="3337560" cy="5029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9808" y="4501896"/>
            <a:ext cx="214884" cy="214884"/>
          </a:xfrm>
          <a:prstGeom prst="roundRect">
            <a:avLst>
              <a:gd name="adj" fmla="val 18000"/>
            </a:avLst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3564" y="4474464"/>
            <a:ext cx="26380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推论方式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3564" y="4803648"/>
            <a:ext cx="2638044" cy="176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不求统计代表性，求“可转移性”：把情境写细，读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者自判边界。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87368" y="4291584"/>
            <a:ext cx="3337560" cy="8168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087368" y="4291584"/>
            <a:ext cx="3337560" cy="5029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270248" y="4501896"/>
            <a:ext cx="214884" cy="214884"/>
          </a:xfrm>
          <a:prstGeom prst="roundRect">
            <a:avLst>
              <a:gd name="adj" fmla="val 18000"/>
            </a:avLst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04004" y="4474464"/>
            <a:ext cx="26380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分析工具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04004" y="4803648"/>
            <a:ext cx="2638044" cy="176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主题分析六步（Braun &amp; Clarke 2006）、内容分析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、IPA。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5254752"/>
            <a:ext cx="3337560" cy="8168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6928" y="5254752"/>
            <a:ext cx="3337560" cy="5029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49808" y="5465064"/>
            <a:ext cx="214884" cy="214884"/>
          </a:xfrm>
          <a:prstGeom prst="roundRect">
            <a:avLst>
              <a:gd name="adj" fmla="val 18000"/>
            </a:avLst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3564" y="5437632"/>
            <a:ext cx="26380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常见产出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3564" y="5766816"/>
            <a:ext cx="2638044" cy="176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主题表 ＋ 典型引语 ＋ 过程模型；一般不做显著性检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验。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87368" y="5254752"/>
            <a:ext cx="3337560" cy="8168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087368" y="5254752"/>
            <a:ext cx="3337560" cy="5029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270248" y="5465064"/>
            <a:ext cx="214884" cy="214884"/>
          </a:xfrm>
          <a:prstGeom prst="roundRect">
            <a:avLst>
              <a:gd name="adj" fmla="val 18000"/>
            </a:avLst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04004" y="5437632"/>
            <a:ext cx="26380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常见误用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04004" y="5766816"/>
            <a:ext cx="2638044" cy="176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只引用不编码；3 人样本下总体结论。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07808" y="1664208"/>
            <a:ext cx="4017233" cy="4407408"/>
          </a:xfrm>
          <a:prstGeom prst="rect">
            <a:avLst/>
          </a:prstGeom>
          <a:solidFill>
            <a:srgbClr val="EFF3F1"/>
          </a:solidFill>
          <a:ln w="9525">
            <a:solidFill>
              <a:srgbClr val="D3E1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07808" y="1664208"/>
            <a:ext cx="4017233" cy="45720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08975" y="1810512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访谈 vs 问卷（不是高低，是分工）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08975" y="2103120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7C85"/>
                </a:solidFill>
                <a:latin typeface="Microsoft YaHei"/>
                <a:ea typeface="Microsoft YaHei"/>
                <a:cs typeface="Microsoft YaHei"/>
              </a:rPr>
              <a:t>目的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30768" y="2103120"/>
            <a:ext cx="1481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分布、关联、群体差异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85248" y="2103120"/>
            <a:ext cx="1536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意义、机制、情境、话语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08975" y="2478024"/>
            <a:ext cx="3749039" cy="7315"/>
          </a:xfrm>
          <a:prstGeom prst="rect">
            <a:avLst/>
          </a:prstGeom>
          <a:solidFill>
            <a:srgbClr val="CFD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808975" y="2523744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7C85"/>
                </a:solidFill>
                <a:latin typeface="Microsoft YaHei"/>
                <a:ea typeface="Microsoft YaHei"/>
                <a:cs typeface="Microsoft YaHei"/>
              </a:rPr>
              <a:t>工具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30768" y="2523744"/>
            <a:ext cx="1481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问卷（题项封闭）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85248" y="2523744"/>
            <a:ext cx="1536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提纲（问题开放）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808975" y="2898648"/>
            <a:ext cx="3749039" cy="7315"/>
          </a:xfrm>
          <a:prstGeom prst="rect">
            <a:avLst/>
          </a:prstGeom>
          <a:solidFill>
            <a:srgbClr val="CFD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808975" y="2944368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7C85"/>
                </a:solidFill>
                <a:latin typeface="Microsoft YaHei"/>
                <a:ea typeface="Microsoft YaHei"/>
                <a:cs typeface="Microsoft YaHei"/>
              </a:rPr>
              <a:t>样本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30768" y="2944368"/>
            <a:ext cx="1481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几十到几百，看应答率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85248" y="2944368"/>
            <a:ext cx="1536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几人到几十人，看信息量与重复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808975" y="3319272"/>
            <a:ext cx="3749039" cy="7315"/>
          </a:xfrm>
          <a:prstGeom prst="rect">
            <a:avLst/>
          </a:prstGeom>
          <a:solidFill>
            <a:srgbClr val="CFD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08975" y="3364991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7C85"/>
                </a:solidFill>
                <a:latin typeface="Microsoft YaHei"/>
                <a:ea typeface="Microsoft YaHei"/>
                <a:cs typeface="Microsoft YaHei"/>
              </a:rPr>
              <a:t>分析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30768" y="3364991"/>
            <a:ext cx="1481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统计检验、效应量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85248" y="3364991"/>
            <a:ext cx="1536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编码、主题、负例分析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808975" y="3739896"/>
            <a:ext cx="3749039" cy="7315"/>
          </a:xfrm>
          <a:prstGeom prst="rect">
            <a:avLst/>
          </a:prstGeom>
          <a:solidFill>
            <a:srgbClr val="CFD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808975" y="3785615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7C85"/>
                </a:solidFill>
                <a:latin typeface="Microsoft YaHei"/>
                <a:ea typeface="Microsoft YaHei"/>
                <a:cs typeface="Microsoft YaHei"/>
              </a:rPr>
              <a:t>弱点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430768" y="3785615"/>
            <a:ext cx="1481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不知“为什么”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85248" y="3785615"/>
            <a:ext cx="1536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不知“有多普遍”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607808" y="4572000"/>
            <a:ext cx="4017233" cy="768096"/>
          </a:xfrm>
          <a:prstGeom prst="rect">
            <a:avLst/>
          </a:prstGeom>
          <a:solidFill>
            <a:srgbClr val="ED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607808" y="4572000"/>
            <a:ext cx="50292" cy="768096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918704" y="4700016"/>
            <a:ext cx="3450305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本组建议：写成“序列”——问卷给出分布，访谈解释异常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点；不要并列两个互不相干的方法。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697" cy="6967728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96012" cy="9601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9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板块 ③ 方法 B 概述 · 熊芮 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先分清：访谈作为“文体” vs 访谈作为“方法”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5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interview as genre ≠ interview as method · 殷海红（2020）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90472"/>
            <a:ext cx="11055096" cy="10972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03920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83446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62972" y="6144768"/>
            <a:ext cx="747522" cy="137160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42498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6318504"/>
            <a:ext cx="31181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2B7C85"/>
                </a:solidFill>
                <a:latin typeface="Microsoft YaHei"/>
                <a:ea typeface="Microsoft YaHei"/>
                <a:cs typeface="Microsoft YaHei"/>
              </a:rPr>
              <a:t>主讲 熊芮 · 方法 B 概述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09360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《翻译研究方法》2026–2027 学年第 1 学期 · 第 1 组 · 10.12 课堂展示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528816"/>
            <a:ext cx="3118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50" b="1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第 20 / 35 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32717" y="457200"/>
            <a:ext cx="2592324" cy="237744"/>
          </a:xfrm>
          <a:prstGeom prst="roundRect">
            <a:avLst>
              <a:gd name="adj" fmla="val 40000"/>
            </a:avLst>
          </a:prstGeom>
          <a:solidFill>
            <a:srgbClr val="F4E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9021" y="498348"/>
            <a:ext cx="25923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6A22"/>
                </a:solidFill>
                <a:latin typeface="Microsoft YaHei"/>
                <a:ea typeface="Microsoft YaHei"/>
                <a:cs typeface="Microsoft YaHei"/>
              </a:rPr>
              <a:t>统计数字引自该综述，引用请核对原文页码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1792224"/>
            <a:ext cx="5437616" cy="21396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1792224"/>
            <a:ext cx="5437616" cy="50292"/>
          </a:xfrm>
          <a:prstGeom prst="rect">
            <a:avLst/>
          </a:prstGeom>
          <a:solidFill>
            <a:srgbClr val="6C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1975104"/>
            <a:ext cx="5071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文体性访谈（journalistic / dialogue genre）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2313432"/>
            <a:ext cx="5053568" cy="496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结构：问—答原文，编后记交代背景；不编码、不系统分析。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2810256"/>
            <a:ext cx="5053568" cy="496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目的：呈现知名学者/译者的观点，传播思想、记录现场。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307080"/>
            <a:ext cx="5053568" cy="496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合法性：作为学术文体有价值，但不能自称“本研究采用访谈法收集并分析数
据”。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7424" y="1792224"/>
            <a:ext cx="5437616" cy="21396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87424" y="1792224"/>
            <a:ext cx="5437616" cy="5029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0304" y="1975104"/>
            <a:ext cx="5071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方法性访谈（qualitative data collection）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8592" y="2313432"/>
            <a:ext cx="5053568" cy="496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结构：研究问题→对象选择→提纲→录音→转录→编码→主题→可信度措施。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8592" y="2810256"/>
            <a:ext cx="5053568" cy="496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目的：用口头叙述回答一个具体研究问题。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8592" y="3307080"/>
            <a:ext cx="5053568" cy="496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产出：编码簿、主题图、引语—分析—结论的证据链。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4078224"/>
            <a:ext cx="11055096" cy="34747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4078224"/>
            <a:ext cx="104241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47088" y="4078224"/>
            <a:ext cx="561441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综述发现（2009—2018 · CNKI 翻译类访谈）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07807" y="4078224"/>
            <a:ext cx="395935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方法论含义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425696"/>
            <a:ext cx="11055096" cy="2999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4725619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4470196"/>
            <a:ext cx="1042416" cy="2084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对象分布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47088" y="4470196"/>
            <a:ext cx="5614416" cy="2084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30/45 篇为访谈国外译者、作家、汉学家（66.7%）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07807" y="4470196"/>
            <a:ext cx="3959352" cy="2084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对象由“名气”而非研究需要选取 → 抽样逻辑缺失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4725619"/>
            <a:ext cx="11055096" cy="299923"/>
          </a:xfrm>
          <a:prstGeom prst="rect">
            <a:avLst/>
          </a:prstGeom>
          <a:solidFill>
            <a:srgbClr val="F2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" y="5025542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4770120"/>
            <a:ext cx="1042416" cy="2084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用途分布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47088" y="4770120"/>
            <a:ext cx="5614416" cy="2084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把访谈当质性资料收集方法的仅 5 篇（约 11%）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07807" y="4770120"/>
            <a:ext cx="3959352" cy="2084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访谈多数没有被“分析”，只被“引用”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5025542"/>
            <a:ext cx="11055096" cy="2999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" y="5325465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" y="5070043"/>
            <a:ext cx="1042416" cy="2084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规范性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47088" y="5070043"/>
            <a:ext cx="5614416" cy="2084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呈现形式缺规范：转录、翻译、引用规则交代不足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07807" y="5070043"/>
            <a:ext cx="3959352" cy="2084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读者无从判断引语是否被改动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5325465"/>
            <a:ext cx="11055096" cy="299923"/>
          </a:xfrm>
          <a:prstGeom prst="rect">
            <a:avLst/>
          </a:prstGeom>
          <a:solidFill>
            <a:srgbClr val="F2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66928" y="5625388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5369966"/>
            <a:ext cx="1042416" cy="2084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研究目的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47088" y="5369966"/>
            <a:ext cx="5614416" cy="2084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部分论文缺乏明晰的研究问题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07807" y="5369966"/>
            <a:ext cx="3959352" cy="2084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“为访而访”，结论只是受访者意见汇编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5625388"/>
            <a:ext cx="11055096" cy="2999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6928" y="5925312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" y="5669889"/>
            <a:ext cx="1042416" cy="2084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时效性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47088" y="5669889"/>
            <a:ext cx="5614416" cy="2084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追问“历史与理论脉络”比重过高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07807" y="5669889"/>
            <a:ext cx="3959352" cy="2084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研究发现的当下解释力下降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" y="5998464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文献：殷海红. 国内翻译类访谈综述：2009—2018[J]. 上海理工大学学报（社会科学版）, 2020, 42(3): 215-219, 237.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697" cy="6967728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96012" cy="9601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9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板块 ③ 方法 B 概述 · 熊芮 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访谈的四条分类轴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5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structure / participants / medium / function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90472"/>
            <a:ext cx="11055096" cy="10972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03920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83446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62972" y="6144768"/>
            <a:ext cx="747522" cy="137160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42498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6318504"/>
            <a:ext cx="31181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2B7C85"/>
                </a:solidFill>
                <a:latin typeface="Microsoft YaHei"/>
                <a:ea typeface="Microsoft YaHei"/>
                <a:cs typeface="Microsoft YaHei"/>
              </a:rPr>
              <a:t>主讲 熊芮 · 方法 B 概述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09360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《翻译研究方法》2026–2027 学年第 1 学期 · 第 1 组 · 10.12 课堂展示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528816"/>
            <a:ext cx="3118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50" b="1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第 21 / 35 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1773936"/>
            <a:ext cx="2627368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773936"/>
            <a:ext cx="2627368" cy="5029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8" y="1984248"/>
            <a:ext cx="214884" cy="214884"/>
          </a:xfrm>
          <a:prstGeom prst="roundRect">
            <a:avLst>
              <a:gd name="adj" fmla="val 18000"/>
            </a:avLst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3564" y="1956816"/>
            <a:ext cx="19278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按结构化程度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3564" y="2231136"/>
            <a:ext cx="19278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BY 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" y="2569463"/>
            <a:ext cx="1909564" cy="697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结构式：问题、顺序、措辞固
定 → 可跨样本计数，接近“口头
问卷”。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" y="3267456"/>
            <a:ext cx="1909564" cy="697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半结构式：提纲固定、措辞与
顺序灵活（本研究最常用）。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" y="3965448"/>
            <a:ext cx="1909564" cy="697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非结构式：从一段叙述开始（
叙事访谈），分析负担最大。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77176" y="1773936"/>
            <a:ext cx="2627368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77176" y="1773936"/>
            <a:ext cx="2627368" cy="5029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560056" y="1984248"/>
            <a:ext cx="214884" cy="214884"/>
          </a:xfrm>
          <a:prstGeom prst="roundRect">
            <a:avLst>
              <a:gd name="adj" fmla="val 18000"/>
            </a:avLst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93812" y="1956816"/>
            <a:ext cx="19278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按参与人数与互动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93812" y="2231136"/>
            <a:ext cx="19278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BY PARTICIPANTS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12100" y="2569463"/>
            <a:ext cx="1909564" cy="697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个别访谈：适合敏感话题（报
价、违规、师生冲突）。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12100" y="3267456"/>
            <a:ext cx="1909564" cy="697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焦点小组：群体互动可暴露分
歧，但需处理权威压制与从众。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12100" y="3965448"/>
            <a:ext cx="1909564" cy="697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多轮访谈：跟踪同一人，观察
观念与实践的变化。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87424" y="1773936"/>
            <a:ext cx="2627368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87424" y="1773936"/>
            <a:ext cx="2627368" cy="5029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70304" y="1984248"/>
            <a:ext cx="214884" cy="214884"/>
          </a:xfrm>
          <a:prstGeom prst="roundRect">
            <a:avLst>
              <a:gd name="adj" fmla="val 18000"/>
            </a:avLst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04060" y="1956816"/>
            <a:ext cx="19278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按媒介与情境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04060" y="2231136"/>
            <a:ext cx="19278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BY MEDIUM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2348" y="2569463"/>
            <a:ext cx="1909564" cy="697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面对面：可记田野笔记（停顿
、修改、手势）。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2348" y="3267456"/>
            <a:ext cx="1909564" cy="697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腾讯会议/Zoom：跨地域可行
；需本机录音＋网络录音双备份
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2348" y="3965448"/>
            <a:ext cx="1909564" cy="697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邮件/异步：适合时差与高强
度保密场景，但追问成本高。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97673" y="1773936"/>
            <a:ext cx="2627368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997673" y="1773936"/>
            <a:ext cx="2627368" cy="5029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180553" y="1984248"/>
            <a:ext cx="214884" cy="214884"/>
          </a:xfrm>
          <a:prstGeom prst="roundRect">
            <a:avLst>
              <a:gd name="adj" fmla="val 18000"/>
            </a:avLst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14309" y="1956816"/>
            <a:ext cx="19278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按研究中的功能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14309" y="2231136"/>
            <a:ext cx="19278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BY FUNCTION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32597" y="2569463"/>
            <a:ext cx="1909564" cy="697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作为主方法：回答“为什么/
如何”。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32597" y="3267456"/>
            <a:ext cx="1909564" cy="697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作为前测：为问卷题项做认知
访谈（think-aloud 式提问）。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32597" y="3965448"/>
            <a:ext cx="1909564" cy="697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作为后测/受访者检验：用访
谈解释异常统计结果。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4956048"/>
            <a:ext cx="11055096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66928" y="4956048"/>
            <a:ext cx="50292" cy="1060704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4672" y="5084064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混合模式的现实提醒：远程访谈会丢失副语言信息（谁在看稿、谁打断谁），也带来录音许可与数据合规问题；口译研究中的现场访谈常因机构保密要求无法进入，此时用“事后回顾式访谈”（stimulated recall）替代，并在方法部分明确标注限制。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697" cy="6967728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96012" cy="9601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9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板块 ③ 方法 B 概述 · 熊芮 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访谈提纲：写法、顺序与试测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5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guide design: funnel · probes · pilot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90472"/>
            <a:ext cx="11055096" cy="10972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03920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83446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62972" y="6144768"/>
            <a:ext cx="747522" cy="137160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42498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6318504"/>
            <a:ext cx="31181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2B7C85"/>
                </a:solidFill>
                <a:latin typeface="Microsoft YaHei"/>
                <a:ea typeface="Microsoft YaHei"/>
                <a:cs typeface="Microsoft YaHei"/>
              </a:rPr>
              <a:t>主讲 熊芮 · 方法 B 概述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09360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《翻译研究方法》2026–2027 学年第 1 学期 · 第 1 组 · 10.12 课堂展示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528816"/>
            <a:ext cx="3118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50" b="1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第 22 / 35 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1755648"/>
            <a:ext cx="5437616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755648"/>
            <a:ext cx="5437616" cy="5029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8" y="1965960"/>
            <a:ext cx="214884" cy="214884"/>
          </a:xfrm>
          <a:prstGeom prst="roundRect">
            <a:avLst>
              <a:gd name="adj" fmla="val 18000"/>
            </a:avLst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3564" y="1938528"/>
            <a:ext cx="47381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模块顺序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3564" y="2267712"/>
            <a:ext cx="4738100" cy="128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暖场（背景/日常工作）→ 核心经验 → 关键事件 → 反思与展望 → 收尾开放问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7424" y="1755648"/>
            <a:ext cx="5437616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7424" y="1755648"/>
            <a:ext cx="5437616" cy="5029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70304" y="1965960"/>
            <a:ext cx="214884" cy="214884"/>
          </a:xfrm>
          <a:prstGeom prst="roundRect">
            <a:avLst>
              <a:gd name="adj" fmla="val 18000"/>
            </a:avLst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4060" y="1938528"/>
            <a:ext cx="47381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主问题写法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4060" y="2267712"/>
            <a:ext cx="4738100" cy="128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“能说说最近一次……吗”；避免“是否/为什么你觉得”式封闭或归因问法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2670048"/>
            <a:ext cx="5437616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2670048"/>
            <a:ext cx="5437616" cy="5029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9808" y="2880360"/>
            <a:ext cx="214884" cy="214884"/>
          </a:xfrm>
          <a:prstGeom prst="roundRect">
            <a:avLst>
              <a:gd name="adj" fmla="val 18000"/>
            </a:avLst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" y="2852928"/>
            <a:ext cx="47381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追问与探针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3564" y="3182112"/>
            <a:ext cx="4738100" cy="128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请举例 · 当时怎么想的 · 谁同意谁反对 · 与上次有何不同（写在提纲旁栏）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87424" y="2670048"/>
            <a:ext cx="5437616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7424" y="2670048"/>
            <a:ext cx="5437616" cy="5029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70304" y="2880360"/>
            <a:ext cx="214884" cy="214884"/>
          </a:xfrm>
          <a:prstGeom prst="roundRect">
            <a:avLst>
              <a:gd name="adj" fmla="val 18000"/>
            </a:avLst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04060" y="2852928"/>
            <a:ext cx="47381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试测与迭代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04060" y="3182112"/>
            <a:ext cx="4738100" cy="128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同事互测 1 次 + 试访 2–3 人；保留 v0/v1/v2 版本记录，附录呈现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3584448"/>
            <a:ext cx="11055096" cy="34747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3584448"/>
            <a:ext cx="195681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类型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61488" y="3584448"/>
            <a:ext cx="67116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示例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19488" y="3584448"/>
            <a:ext cx="19476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诊断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3931920"/>
            <a:ext cx="11055096" cy="3401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6928" y="4272076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3994912"/>
            <a:ext cx="1956815" cy="2487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好问法（可直接照抄句式）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61488" y="3994912"/>
            <a:ext cx="6711696" cy="2487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“您第一次接到译后编辑任务时，心里最担心什么？后来发生了什么？”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19488" y="3994912"/>
            <a:ext cx="1947672" cy="2487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落到事件、留出叙述空间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4272076"/>
            <a:ext cx="11055096" cy="340156"/>
          </a:xfrm>
          <a:prstGeom prst="rect">
            <a:avLst/>
          </a:prstGeom>
          <a:solidFill>
            <a:srgbClr val="F2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6928" y="4612233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4335068"/>
            <a:ext cx="1956815" cy="2487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好问法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61488" y="4335068"/>
            <a:ext cx="6711696" cy="2487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“在您看来，一份‘能交付’的译文需要满足哪些条件？请按重要程度说说。”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19488" y="4335068"/>
            <a:ext cx="1947672" cy="2487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让受访者自己定义标准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4612233"/>
            <a:ext cx="11055096" cy="3401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66928" y="4952390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8368" y="4675225"/>
            <a:ext cx="1956815" cy="2487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差问法（预设答案）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61488" y="4675225"/>
            <a:ext cx="6711696" cy="2487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“您是不是觉得机器翻译降低了译者的收入？”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19488" y="4675225"/>
            <a:ext cx="1947672" cy="2487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诱导：只等一个“是”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4952390"/>
            <a:ext cx="11055096" cy="340156"/>
          </a:xfrm>
          <a:prstGeom prst="rect">
            <a:avLst/>
          </a:prstGeom>
          <a:solidFill>
            <a:srgbClr val="F2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66928" y="5292547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8368" y="5015382"/>
            <a:ext cx="1956815" cy="2487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差问法（概念先行）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61488" y="5015382"/>
            <a:ext cx="6711696" cy="2487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“您如何理解译者的惯习（habitus）？”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19488" y="5015382"/>
            <a:ext cx="1947672" cy="2487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把研究者术语塞进受访者嘴里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6928" y="5292547"/>
            <a:ext cx="11055096" cy="3401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66928" y="5632704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" y="5355539"/>
            <a:ext cx="1956815" cy="2487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差问法（过大过空）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61488" y="5355539"/>
            <a:ext cx="6711696" cy="2487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“您怎么评价中国翻译行业的发展？”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19488" y="5361228"/>
            <a:ext cx="1947672" cy="2487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无法在 3 分钟内作答，答案必然套话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" y="5724144"/>
            <a:ext cx="11055096" cy="438912"/>
          </a:xfrm>
          <a:prstGeom prst="rect">
            <a:avLst/>
          </a:prstGeom>
          <a:solidFill>
            <a:srgbClr val="ED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6928" y="5724144"/>
            <a:ext cx="50292" cy="43891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77824" y="5852159"/>
            <a:ext cx="1048816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提纲是“研究问题的时间分配表”：每个模块要能对应一个子问题；删掉你不需要答案的题，而不是舍不得删的题。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697" cy="6967728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96012" cy="9601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9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板块 ③ 方法 B 概述 · 熊芮 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进入现场：伦理、技巧与记录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5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consent · craft · documentation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90472"/>
            <a:ext cx="11055096" cy="10972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03920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83446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62972" y="6144768"/>
            <a:ext cx="747522" cy="137160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42498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6318504"/>
            <a:ext cx="31181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2B7C85"/>
                </a:solidFill>
                <a:latin typeface="Microsoft YaHei"/>
                <a:ea typeface="Microsoft YaHei"/>
                <a:cs typeface="Microsoft YaHei"/>
              </a:rPr>
              <a:t>主讲 熊芮 · 方法 B 概述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09360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《翻译研究方法》2026–2027 学年第 1 学期 · 第 1 组 · 10.12 课堂展示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528816"/>
            <a:ext cx="3118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50" b="1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第 23 / 35 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1773936"/>
            <a:ext cx="3564117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773936"/>
            <a:ext cx="3564117" cy="5029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1956816"/>
            <a:ext cx="31983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① 知情同意与伦理（不可省略的四件小事）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2295144"/>
            <a:ext cx="3180069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书面/邮件告知：目的、录音与转录用途、匿名化方
式、数据保存期限与销毁时间。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2816351"/>
            <a:ext cx="3180069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引用权限：是否允许原文引用、是否需回看引语（
member check）、化名由谁定。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3337559"/>
            <a:ext cx="3180069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特殊场景：法庭/医疗/企业内部项目须确认保密义
务优先于研究需要。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3925" y="1773936"/>
            <a:ext cx="3564117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13925" y="1773936"/>
            <a:ext cx="3564117" cy="5029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6805" y="1956816"/>
            <a:ext cx="31983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② 提问与追问的手感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5093" y="2295144"/>
            <a:ext cx="3180069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说话比例：研究者 &lt; 30%；一句“然后呢”比三段
解释更有用。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5093" y="2816351"/>
            <a:ext cx="3180069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复述式追问：“我听到的是——报价决定接不接，对
吗？”（把概括权还给受访者）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15093" y="3337559"/>
            <a:ext cx="3180069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沉默：留出 3–5 秒；多数关键信息出现在第一次沉
默之后。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60923" y="1773936"/>
            <a:ext cx="3564117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60923" y="1773936"/>
            <a:ext cx="3564117" cy="5029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3803" y="1956816"/>
            <a:ext cx="31983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③ 记录与材料包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2091" y="2295144"/>
            <a:ext cx="3180069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双录音（手机 + 录音笔）；每场后 24 小时内写田野
笔记（场地、迟疑、笑、回避）。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2091" y="2816351"/>
            <a:ext cx="3180069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建立“受访者档案”：编号、背景、可核实信息、
访谈日期与时长、转录字数。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2091" y="3337559"/>
            <a:ext cx="3180069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文件命名规范：I_T07_2026-10-08_v1.docx；转录
稿与分析稿分开存放。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133087"/>
            <a:ext cx="11055096" cy="34747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4133087"/>
            <a:ext cx="9966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时机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01368" y="4133087"/>
            <a:ext cx="652881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本组经验动作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76487" y="4133087"/>
            <a:ext cx="30906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4480559"/>
            <a:ext cx="11055096" cy="2999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4780483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4529937"/>
            <a:ext cx="996696" cy="2084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进入前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01368" y="4529937"/>
            <a:ext cx="6528815" cy="2084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读 2 篇对方写的东西、看 1 段工作视频；备好 3 个术语的说法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76487" y="4529937"/>
            <a:ext cx="3090672" cy="2084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不被当外行，少解释成本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80483"/>
            <a:ext cx="11055096" cy="299923"/>
          </a:xfrm>
          <a:prstGeom prst="rect">
            <a:avLst/>
          </a:prstGeom>
          <a:solidFill>
            <a:srgbClr val="F2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6928" y="5080406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4829860"/>
            <a:ext cx="996696" cy="2084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提问中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01368" y="4829860"/>
            <a:ext cx="6528815" cy="2084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先问行为，后问态度；先“怎么做”，再“为什么”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76487" y="4829860"/>
            <a:ext cx="3090672" cy="2084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行为更可靠，态度受社会赞许影响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5080406"/>
            <a:ext cx="11055096" cy="2999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66928" y="5380329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" y="5129783"/>
            <a:ext cx="996696" cy="2084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敏感处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01368" y="5129783"/>
            <a:ext cx="6528815" cy="2084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把评判权交出去：“有人说……您怎么看这种说法？”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76487" y="5129783"/>
            <a:ext cx="3090672" cy="2084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降低防御，得到真实分歧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" y="5380329"/>
            <a:ext cx="11055096" cy="299923"/>
          </a:xfrm>
          <a:prstGeom prst="rect">
            <a:avLst/>
          </a:prstGeom>
          <a:solidFill>
            <a:srgbClr val="F2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66928" y="5680252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" y="5429707"/>
            <a:ext cx="996696" cy="2084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结束时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01368" y="5429707"/>
            <a:ext cx="6528815" cy="2084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“下次还能再问您一个问题吗？”（为回访/受访者检验铺路）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76487" y="5429707"/>
            <a:ext cx="3090672" cy="2084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多轮访谈的可及性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66928" y="5680252"/>
            <a:ext cx="11055096" cy="2999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6928" y="5980176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8368" y="5729630"/>
            <a:ext cx="996696" cy="2084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离场后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01368" y="5729630"/>
            <a:ext cx="6528815" cy="2084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立即补记：没记下来的“感觉”会在两天后消失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76487" y="5729630"/>
            <a:ext cx="3090672" cy="2084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田野笔记是可审计性的关键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697" cy="6967728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96012" cy="9601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9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板块 ③ 方法 B 概述 · 熊芮 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从录音到主题：转录、编码与可信度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5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transcription · coding · trustworthiness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90472"/>
            <a:ext cx="11055096" cy="10972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03920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83446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62972" y="6144768"/>
            <a:ext cx="747522" cy="137160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42498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6318504"/>
            <a:ext cx="31181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2B7C85"/>
                </a:solidFill>
                <a:latin typeface="Microsoft YaHei"/>
                <a:ea typeface="Microsoft YaHei"/>
                <a:cs typeface="Microsoft YaHei"/>
              </a:rPr>
              <a:t>主讲 熊芮 · 方法 B 概述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09360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《翻译研究方法》2026–2027 学年第 1 学期 · 第 1 组 · 10.12 课堂展示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528816"/>
            <a:ext cx="3118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50" b="1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第 24 / 35 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1755648"/>
            <a:ext cx="11055096" cy="34747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1755648"/>
            <a:ext cx="1088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环节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92808" y="1755648"/>
            <a:ext cx="6803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动作要点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42248" y="1755648"/>
            <a:ext cx="27249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常见提醒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103120"/>
            <a:ext cx="11055096" cy="4145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2517647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2205736"/>
            <a:ext cx="1088136" cy="323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① 转录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92808" y="2205736"/>
            <a:ext cx="6803136" cy="323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逐字转录（含重复、修正、笑、停顿），用符号体系：[重叠] …… （笑） [听不清]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42248" y="2205736"/>
            <a:ext cx="2724912" cy="323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转录即第一次分析：改一个字＝改一次数据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517647"/>
            <a:ext cx="11055096" cy="414528"/>
          </a:xfrm>
          <a:prstGeom prst="rect">
            <a:avLst/>
          </a:prstGeom>
          <a:solidFill>
            <a:srgbClr val="F2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2932175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2620264"/>
            <a:ext cx="1088136" cy="323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② 双语处理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92808" y="2620264"/>
            <a:ext cx="6803136" cy="323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跨语言访谈：原文＋译文并置，标注回译者与校对者，说明“可懂度”处理原则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42248" y="2545079"/>
            <a:ext cx="2724912" cy="323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殷海红（2020）指出“翻译性转录”是失范高发
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2932176"/>
            <a:ext cx="11055096" cy="4145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3346704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034792"/>
            <a:ext cx="1088136" cy="323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③ 编码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92808" y="3034792"/>
            <a:ext cx="6803136" cy="323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开放式编码 → 归类 → 主题；Braun &amp; Clarke (2006) 六阶段：熟悉数据→初始编码→寻主题→复核→定义命名→成文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42248" y="3034792"/>
            <a:ext cx="2724912" cy="323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编码簿要有条目、定义、正例、负例四栏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3346704"/>
            <a:ext cx="11055096" cy="414528"/>
          </a:xfrm>
          <a:prstGeom prst="rect">
            <a:avLst/>
          </a:prstGeom>
          <a:solidFill>
            <a:srgbClr val="F2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3761232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3449320"/>
            <a:ext cx="1088136" cy="323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④ 多人编码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92808" y="3449320"/>
            <a:ext cx="6803136" cy="323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两名研究者独立编码 20% 语料 → 讨论不一致 → 修订编码簿 → 全量编码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42248" y="3374136"/>
            <a:ext cx="2724912" cy="323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报告一致性（如 κ 或一致率）比只说“反复讨论
”更硬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3761232"/>
            <a:ext cx="11055096" cy="4145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6928" y="4175760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3863847"/>
            <a:ext cx="1088136" cy="323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⑤ 可信度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92808" y="3863847"/>
            <a:ext cx="6803136" cy="323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三角互证（访谈×文本×语料/过程数据）、负例分析、受访者检验、审计追踪（可回溯的材料链）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42248" y="3863847"/>
            <a:ext cx="2724912" cy="323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质性研究的“信效度”对应物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4175760"/>
            <a:ext cx="11055096" cy="414528"/>
          </a:xfrm>
          <a:prstGeom prst="rect">
            <a:avLst/>
          </a:prstGeom>
          <a:solidFill>
            <a:srgbClr val="F2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6928" y="4590288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4278376"/>
            <a:ext cx="1088136" cy="323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⑥ 写作呈现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92808" y="4278376"/>
            <a:ext cx="6803136" cy="323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主题 × 受访者矩阵表 + 每个主题 2–3 条引语 + 分析性语言（不是引语堆砌）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42248" y="4278376"/>
            <a:ext cx="2724912" cy="323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引语是证据，不是结论本身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4718304"/>
            <a:ext cx="2627368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66928" y="4718304"/>
            <a:ext cx="2627368" cy="5029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9808" y="4901184"/>
            <a:ext cx="2261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翻译研究特别注意（1）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8" y="5230368"/>
            <a:ext cx="226160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口语转书面不要“替他写论文”：删语气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词可以，改语义不行；被反复“润色”的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引语不可信。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77176" y="4718304"/>
            <a:ext cx="2627368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377176" y="4718304"/>
            <a:ext cx="2627368" cy="5029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60056" y="4901184"/>
            <a:ext cx="2261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特别注意（2）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60056" y="5230368"/>
            <a:ext cx="226160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圈内人身份：你是同学/同行，受访者会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省略“不言自明”的信息——要把常识问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出来。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87424" y="4718304"/>
            <a:ext cx="2627368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187424" y="4718304"/>
            <a:ext cx="2627368" cy="5029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70304" y="4901184"/>
            <a:ext cx="2261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特别注意（3）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70304" y="5230368"/>
            <a:ext cx="226160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工具辅助：录音转写软件只解决打字速度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，不解决分析；转写稿仍需人工校对（错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误率足以毁掉编码）。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997673" y="4718304"/>
            <a:ext cx="2627368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997673" y="4718304"/>
            <a:ext cx="2627368" cy="5029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80553" y="4901184"/>
            <a:ext cx="2261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特别注意（4）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53" y="5230368"/>
            <a:ext cx="226160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伦理延续：发表前把主题与引语回给受访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者核对，并留存同意记录。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697" cy="6967728"/>
          </a:xfrm>
          <a:prstGeom prst="rect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417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B7C85"/>
                </a:solidFill>
                <a:latin typeface="Microsoft YaHei"/>
                <a:ea typeface="Microsoft YaHei"/>
                <a:cs typeface="Microsoft YaHei"/>
              </a:rPr>
              <a:t>板块 ④ 方法 B 正反案例分析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5F3EE"/>
                </a:solidFill>
                <a:latin typeface="Microsoft YaHei"/>
                <a:ea typeface="Microsoft YaHei"/>
                <a:cs typeface="Microsoft YaHei"/>
              </a:rPr>
              <a:t>访谈法：正反案例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3101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AA4B8"/>
                </a:solidFill>
                <a:latin typeface="Consolas"/>
                <a:ea typeface="Microsoft YaHei"/>
                <a:cs typeface="Microsoft YaHei"/>
              </a:rPr>
              <a:t>Station 4 · Interview studies, good and under-reported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703320"/>
            <a:ext cx="61264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3CAD8"/>
                </a:solidFill>
                <a:latin typeface="Microsoft YaHei"/>
                <a:ea typeface="Microsoft YaHei"/>
                <a:cs typeface="Microsoft YaHei"/>
              </a:rPr>
              <a:t>主讲：方燕  ·  正文 5 页  ·  8 分钟</a:t>
            </a:r>
          </a:p>
          <a:p>
            <a:pPr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</a:pPr>
            <a:r>
              <a:rPr sz="1120" b="0" i="0">
                <a:solidFill>
                  <a:srgbClr val="9AA4B8"/>
                </a:solidFill>
                <a:latin typeface="Microsoft YaHei"/>
                <a:ea typeface="Microsoft YaHei"/>
                <a:cs typeface="Microsoft YaHei"/>
              </a:rPr>
              <a:t>正例：Zehnalová &amp; Kubátová（Target 2022）——半结构访谈 × 文本分析的双料设计。
反例：国内翻译类访谈论文的共性缺陷（依据殷海红 2020 综述），并给出可执行的改进清单。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3703320"/>
            <a:ext cx="1874519" cy="512064"/>
          </a:xfrm>
          <a:prstGeom prst="rect">
            <a:avLst/>
          </a:prstGeom>
          <a:solidFill>
            <a:srgbClr val="18213A"/>
          </a:solidFill>
          <a:ln w="9525">
            <a:solidFill>
              <a:srgbClr val="2C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52944" y="38039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3EE"/>
                </a:solidFill>
                <a:latin typeface="Microsoft YaHei"/>
                <a:ea typeface="Microsoft YaHei"/>
                <a:cs typeface="Microsoft YaHei"/>
              </a:rPr>
              <a:t>案例档案</a:t>
            </a:r>
          </a:p>
          <a:p>
            <a:pPr algn="l">
              <a:lnSpc>
                <a:spcPct val="132000"/>
              </a:lnSpc>
              <a:spcBef>
                <a:spcPts val="200"/>
              </a:spcBef>
              <a:spcAft>
                <a:spcPts val="0"/>
              </a:spcAft>
            </a:pPr>
            <a:r>
              <a:rPr sz="860" b="0" i="0">
                <a:solidFill>
                  <a:srgbClr val="2B7C85"/>
                </a:solidFill>
                <a:latin typeface="Consolas"/>
                <a:ea typeface="Microsoft YaHei"/>
                <a:cs typeface="Microsoft YaHei"/>
              </a:rPr>
              <a:t>S27 文献与问题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18320" y="3703320"/>
            <a:ext cx="1874519" cy="512064"/>
          </a:xfrm>
          <a:prstGeom prst="rect">
            <a:avLst/>
          </a:prstGeom>
          <a:solidFill>
            <a:srgbClr val="18213A"/>
          </a:solidFill>
          <a:ln w="9525">
            <a:solidFill>
              <a:srgbClr val="2C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64624" y="38039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3EE"/>
                </a:solidFill>
                <a:latin typeface="Microsoft YaHei"/>
                <a:ea typeface="Microsoft YaHei"/>
                <a:cs typeface="Microsoft YaHei"/>
              </a:rPr>
              <a:t>正例拆解</a:t>
            </a:r>
          </a:p>
          <a:p>
            <a:pPr algn="l">
              <a:lnSpc>
                <a:spcPct val="132000"/>
              </a:lnSpc>
              <a:spcBef>
                <a:spcPts val="200"/>
              </a:spcBef>
              <a:spcAft>
                <a:spcPts val="0"/>
              </a:spcAft>
            </a:pPr>
            <a:r>
              <a:rPr sz="860" b="0" i="0">
                <a:solidFill>
                  <a:srgbClr val="2B7C85"/>
                </a:solidFill>
                <a:latin typeface="Consolas"/>
                <a:ea typeface="Microsoft YaHei"/>
                <a:cs typeface="Microsoft YaHei"/>
              </a:rPr>
              <a:t>S28 提纲·现场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4306824"/>
            <a:ext cx="1874519" cy="512064"/>
          </a:xfrm>
          <a:prstGeom prst="rect">
            <a:avLst/>
          </a:prstGeom>
          <a:solidFill>
            <a:srgbClr val="18213A"/>
          </a:solidFill>
          <a:ln w="9525">
            <a:solidFill>
              <a:srgbClr val="2C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52944" y="440740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3EE"/>
                </a:solidFill>
                <a:latin typeface="Microsoft YaHei"/>
                <a:ea typeface="Microsoft YaHei"/>
                <a:cs typeface="Microsoft YaHei"/>
              </a:rPr>
              <a:t>证据链</a:t>
            </a:r>
          </a:p>
          <a:p>
            <a:pPr algn="l">
              <a:lnSpc>
                <a:spcPct val="132000"/>
              </a:lnSpc>
              <a:spcBef>
                <a:spcPts val="200"/>
              </a:spcBef>
              <a:spcAft>
                <a:spcPts val="0"/>
              </a:spcAft>
            </a:pPr>
            <a:r>
              <a:rPr sz="860" b="0" i="0">
                <a:solidFill>
                  <a:srgbClr val="2B7C85"/>
                </a:solidFill>
                <a:latin typeface="Consolas"/>
                <a:ea typeface="Microsoft YaHei"/>
                <a:cs typeface="Microsoft YaHei"/>
              </a:rPr>
              <a:t>S29 转录·编码·价值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8320" y="4306824"/>
            <a:ext cx="1874519" cy="512064"/>
          </a:xfrm>
          <a:prstGeom prst="rect">
            <a:avLst/>
          </a:prstGeom>
          <a:solidFill>
            <a:srgbClr val="18213A"/>
          </a:solidFill>
          <a:ln w="9525">
            <a:solidFill>
              <a:srgbClr val="2C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64624" y="440740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3EE"/>
                </a:solidFill>
                <a:latin typeface="Microsoft YaHei"/>
                <a:ea typeface="Microsoft YaHei"/>
                <a:cs typeface="Microsoft YaHei"/>
              </a:rPr>
              <a:t>反例与改进</a:t>
            </a:r>
          </a:p>
          <a:p>
            <a:pPr algn="l">
              <a:lnSpc>
                <a:spcPct val="132000"/>
              </a:lnSpc>
              <a:spcBef>
                <a:spcPts val="200"/>
              </a:spcBef>
              <a:spcAft>
                <a:spcPts val="0"/>
              </a:spcAft>
            </a:pPr>
            <a:r>
              <a:rPr sz="860" b="0" i="0">
                <a:solidFill>
                  <a:srgbClr val="2B7C85"/>
                </a:solidFill>
                <a:latin typeface="Consolas"/>
                <a:ea typeface="Microsoft YaHei"/>
                <a:cs typeface="Microsoft YaHei"/>
              </a:rPr>
              <a:t>S30 六环节对照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309360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9CFDA"/>
                </a:solidFill>
                <a:latin typeface="Microsoft YaHei"/>
                <a:ea typeface="Microsoft YaHei"/>
                <a:cs typeface="Microsoft YaHei"/>
              </a:rPr>
              <a:t>《翻译研究方法》2026–2027 学年第 1 学期 · 第 1 组 · 10.12 课堂展示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6528816"/>
            <a:ext cx="3118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9CFDA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50" b="1" i="0">
                <a:solidFill>
                  <a:srgbClr val="C9CFDA"/>
                </a:solidFill>
                <a:latin typeface="Consolas"/>
                <a:ea typeface="Microsoft YaHei"/>
                <a:cs typeface="Microsoft YaHei"/>
              </a:rPr>
              <a:t>第 25 / 35 页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697" cy="6967728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96012" cy="9601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9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板块 ④ 方法 B 案例 · 方燕 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案例档案：两篇文献，一个共同的问题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5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case dossiers · 期刊论文（英文 SSCI）＋ 期刊综述（中文）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90472"/>
            <a:ext cx="11055096" cy="10972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03920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83446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62972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42498" y="6144768"/>
            <a:ext cx="747522" cy="137160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6318504"/>
            <a:ext cx="31181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2B7C85"/>
                </a:solidFill>
                <a:latin typeface="Microsoft YaHei"/>
                <a:ea typeface="Microsoft YaHei"/>
                <a:cs typeface="Microsoft YaHei"/>
              </a:rPr>
              <a:t>主讲 方燕 · 方法 B 案例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09360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《翻译研究方法》2026–2027 学年第 1 学期 · 第 1 组 · 10.12 课堂展示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528816"/>
            <a:ext cx="3118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50" b="1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第 26 / 35 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30720" y="457200"/>
            <a:ext cx="3094321" cy="237744"/>
          </a:xfrm>
          <a:prstGeom prst="roundRect">
            <a:avLst>
              <a:gd name="adj" fmla="val 40000"/>
            </a:avLst>
          </a:prstGeom>
          <a:solidFill>
            <a:srgbClr val="F4E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77024" y="498348"/>
            <a:ext cx="309432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6A22"/>
                </a:solidFill>
                <a:latin typeface="Microsoft YaHei"/>
                <a:ea typeface="Microsoft YaHei"/>
                <a:cs typeface="Microsoft YaHei"/>
              </a:rPr>
              <a:t>书目信息已核对；页码/细节请在定稿前对照原文复核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1810512"/>
            <a:ext cx="5437616" cy="27066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1810512"/>
            <a:ext cx="5437616" cy="5029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1993392"/>
            <a:ext cx="5071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正例｜访谈×文本的双料方法论文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267712"/>
            <a:ext cx="50718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Zehnalová, J. &amp; Kubátová, H. (2022). Target, 34(2), 196–218.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2606039"/>
            <a:ext cx="5053568" cy="445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研究问题：译者如何翻译、为何这样翻、他们“实际在做的事”是什么。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051809"/>
            <a:ext cx="5053568" cy="445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设计：比较式文本分析（译文产品）＋半结构访谈（实践者的社会情境与反思
），以布迪厄式概念（habitus / doxa）为解释框架。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3497579"/>
            <a:ext cx="5053568" cy="445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材料：文学翻译修订案例（Galeano《火的记忆》法译本及其修订）。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3943349"/>
            <a:ext cx="5053568" cy="445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看点：明确写出“两种方法如何配合”，即资料采集、分析、解释的接口。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7424" y="1810512"/>
            <a:ext cx="5437616" cy="27066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7424" y="1810512"/>
            <a:ext cx="5437616" cy="50292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0304" y="1993392"/>
            <a:ext cx="5071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反例来源｜国内翻译类访谈的病群画像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304" y="2267712"/>
            <a:ext cx="50718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殷海红（2020）. 上海理工大学学报（社科版）, 42(3), 215-219, 237.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8592" y="2606039"/>
            <a:ext cx="5053568" cy="445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研究问题：2009–2018 年 CNKI 翻译类访谈论文（约 45 篇）呈现怎样的规范
问题。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8592" y="3051809"/>
            <a:ext cx="5053568" cy="445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设计：文献普查＋按访谈对象身份/学术领域/用途归类＋问题归纳。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8592" y="3497579"/>
            <a:ext cx="5053568" cy="445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关键数据：66.7% 访谈国外译者、作家与汉学家；作为质性资料收集方法者仅
 5 篇（约 11%）。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8592" y="3943349"/>
            <a:ext cx="5053568" cy="445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看点：它不是“坏研究”，而是一份“病历”，告诉我们同学最常犯哪些错。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4681728"/>
            <a:ext cx="110550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为什么把这两篇放在一起：一英一中、同为期刊论文，满足“案例类型不单一”；若老师要求再加学位论文，定稿时可换为本组筛出的 1 篇 MTI 论文（其访谈章节问题典型）。两篇的对照点只有一个——方法链条是否闭合：前者接口清楚，后者（多数访谈类论文）只走到“引用引语”。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5943600"/>
            <a:ext cx="11055096" cy="365760"/>
          </a:xfrm>
          <a:prstGeom prst="rect">
            <a:avLst/>
          </a:prstGeom>
          <a:solidFill>
            <a:srgbClr val="ED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5943600"/>
            <a:ext cx="50292" cy="365760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7824" y="6071616"/>
            <a:ext cx="10488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本板块的评价口径：只看六件事——对象如何选、提纲如何写、现场如何做、资料如何转、材料如何析、结论如何限。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697" cy="6967728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96012" cy="9601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9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板块 ④ 方法 B 案例 · 方燕 2/5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正例拆解（上）：提纲设计与进入现场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5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how the interview guide was built and used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90472"/>
            <a:ext cx="11055096" cy="10972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03920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83446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62972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42498" y="6144768"/>
            <a:ext cx="747522" cy="137160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6318504"/>
            <a:ext cx="31181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2B7C85"/>
                </a:solidFill>
                <a:latin typeface="Microsoft YaHei"/>
                <a:ea typeface="Microsoft YaHei"/>
                <a:cs typeface="Microsoft YaHei"/>
              </a:rPr>
              <a:t>主讲 方燕 · 方法 B 案例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09360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《翻译研究方法》2026–2027 学年第 1 学期 · 第 1 组 · 10.12 课堂展示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528816"/>
            <a:ext cx="3118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50" b="1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第 27 / 35 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1773936"/>
            <a:ext cx="5437616" cy="1234439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773936"/>
            <a:ext cx="5437616" cy="5029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8" y="1984248"/>
            <a:ext cx="214884" cy="214884"/>
          </a:xfrm>
          <a:prstGeom prst="roundRect">
            <a:avLst>
              <a:gd name="adj" fmla="val 18000"/>
            </a:avLst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3564" y="1956816"/>
            <a:ext cx="47381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问题从文本里来，不从想象里来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3564" y="2286000"/>
            <a:ext cx="47381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先做译文与原文的对比分析，标出“异常/改动点”（增补、删节、改写、修订）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，再把每个改动点变成访谈中的追问对象。→ 访谈问题有证据指向，不是泛泛的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“您怎么看”。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7424" y="1773936"/>
            <a:ext cx="5437616" cy="1234439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7424" y="1773936"/>
            <a:ext cx="5437616" cy="5029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70304" y="1984248"/>
            <a:ext cx="214884" cy="214884"/>
          </a:xfrm>
          <a:prstGeom prst="roundRect">
            <a:avLst>
              <a:gd name="adj" fmla="val 18000"/>
            </a:avLst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4060" y="1956816"/>
            <a:ext cx="47381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提纲分块服务于“解释”而非“描述”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4060" y="2286000"/>
            <a:ext cx="47381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围绕三问成块：选择（做了什么）→ 动机（为什么）→ 约束（谁能不同意）。每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块下配开放式主问＋探针（“那次协商具体怎么发生？”）。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154679"/>
            <a:ext cx="5437616" cy="1234439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3154679"/>
            <a:ext cx="5437616" cy="5029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9808" y="3364991"/>
            <a:ext cx="214884" cy="214884"/>
          </a:xfrm>
          <a:prstGeom prst="roundRect">
            <a:avLst>
              <a:gd name="adj" fmla="val 18000"/>
            </a:avLst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" y="3337560"/>
            <a:ext cx="47381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情境与身份先于提问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3564" y="3666744"/>
            <a:ext cx="47381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以社会学框架界定受访者的位置（译者/修订者在出版链条中的角色、与编辑与作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者的关系），提纲据此安排敏感话题的顺序，把“利益相关”的问题放在关系建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立之后。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87424" y="3154679"/>
            <a:ext cx="5437616" cy="1234439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7424" y="3154679"/>
            <a:ext cx="5437616" cy="5029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70304" y="3364991"/>
            <a:ext cx="214884" cy="214884"/>
          </a:xfrm>
          <a:prstGeom prst="roundRect">
            <a:avLst>
              <a:gd name="adj" fmla="val 18000"/>
            </a:avLst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04060" y="3337560"/>
            <a:ext cx="47381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学科分工透明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04060" y="3666744"/>
            <a:ext cx="47381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论文交代翻译学与社会学在“资料采集—分析—解释”上的分工与各自的编码工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具，读者可据此判断哪些结论来自文本、哪些来自陈述。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4553712"/>
            <a:ext cx="5440680" cy="1463040"/>
          </a:xfrm>
          <a:prstGeom prst="rect">
            <a:avLst/>
          </a:prstGeom>
          <a:solidFill>
            <a:srgbClr val="EFF3F1"/>
          </a:solidFill>
          <a:ln w="9525">
            <a:solidFill>
              <a:srgbClr val="D3E1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" y="4681728"/>
            <a:ext cx="50292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优点清单（访谈法层面）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" y="4974336"/>
            <a:ext cx="5029200" cy="251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访谈与文本互证：避免“只靠回忆说话”。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" y="5225796"/>
            <a:ext cx="5029200" cy="251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提纲由研究问题反推，模块—子问题一一对应。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" y="5477256"/>
            <a:ext cx="5029200" cy="251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敏感话题排序体现对被访者处境的理解。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" y="5728716"/>
            <a:ext cx="5029200" cy="251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方法接口写到可被复用的程度（方法论文价值）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9632" y="4553712"/>
            <a:ext cx="5422392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F0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4681728"/>
            <a:ext cx="50292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451F"/>
                </a:solidFill>
                <a:latin typeface="Microsoft YaHei"/>
                <a:ea typeface="Microsoft YaHei"/>
                <a:cs typeface="Microsoft YaHei"/>
              </a:rPr>
              <a:t>仍要挑剔的三点（课堂讨论用）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974336"/>
            <a:ext cx="50292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受访者数量与选择理由需回原文核对：质性研究样本小不是问题，不说明选择逻辑
才是问题。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309616"/>
            <a:ext cx="50292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“文本异常点”与“访谈陈述”之间可能存在不一致：谁的解释更被采信？论文需
明说裁决规则。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5644896"/>
            <a:ext cx="50292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跨语言材料（捷克语/法语/英语）的翻译与转录规则须检查是否交代。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697" cy="6967728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96012" cy="9601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9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板块 ④ 方法 B 案例 · 方燕 3/5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正例拆解（下）：证据链与可迁移的做法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5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triangulation → themes → transferable protocol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90472"/>
            <a:ext cx="11055096" cy="10972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03920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83446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62972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42498" y="6144768"/>
            <a:ext cx="747522" cy="137160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6318504"/>
            <a:ext cx="31181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2B7C85"/>
                </a:solidFill>
                <a:latin typeface="Microsoft YaHei"/>
                <a:ea typeface="Microsoft YaHei"/>
                <a:cs typeface="Microsoft YaHei"/>
              </a:rPr>
              <a:t>主讲 方燕 · 方法 B 案例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09360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《翻译研究方法》2026–2027 学年第 1 学期 · 第 1 组 · 10.12 课堂展示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528816"/>
            <a:ext cx="3118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50" b="1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第 28 / 35 页</a:t>
            </a:r>
          </a:p>
        </p:txBody>
      </p:sp>
      <p:sp>
        <p:nvSpPr>
          <p:cNvPr id="15" name="Pentagon 14"/>
          <p:cNvSpPr/>
          <p:nvPr/>
        </p:nvSpPr>
        <p:spPr>
          <a:xfrm>
            <a:off x="566928" y="1773936"/>
            <a:ext cx="2094579" cy="1170432"/>
          </a:xfrm>
          <a:prstGeom prst="homePlate">
            <a:avLst>
              <a:gd name="adj" fmla="val 16000"/>
            </a:avLst>
          </a:prstGeom>
          <a:solidFill>
            <a:srgbClr val="ECF1EF"/>
          </a:solidFill>
          <a:ln w="9525">
            <a:solidFill>
              <a:srgbClr val="BDD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82880" tIns="109728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E1  文本证据</a:t>
            </a:r>
          </a:p>
          <a:p>
            <a:pPr algn="l">
              <a:lnSpc>
                <a:spcPct val="128000"/>
              </a:lnSpc>
              <a:spcBef>
                <a:spcPts val="300"/>
              </a:spcBef>
              <a:spcAft>
                <a:spcPts val="0"/>
              </a:spcAft>
            </a:pPr>
            <a:r>
              <a:rPr sz="10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原文—译文并置对照表，标
注增删改类型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2579211" y="2670048"/>
            <a:ext cx="164592" cy="146304"/>
          </a:xfrm>
          <a:prstGeom prst="triangle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Pentagon 16"/>
          <p:cNvSpPr/>
          <p:nvPr/>
        </p:nvSpPr>
        <p:spPr>
          <a:xfrm>
            <a:off x="2807811" y="1773936"/>
            <a:ext cx="2094579" cy="1170432"/>
          </a:xfrm>
          <a:prstGeom prst="homePlate">
            <a:avLst>
              <a:gd name="adj" fmla="val 16000"/>
            </a:avLst>
          </a:prstGeom>
          <a:solidFill>
            <a:srgbClr val="ECF1EF"/>
          </a:solidFill>
          <a:ln w="9525">
            <a:solidFill>
              <a:srgbClr val="BDD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82880" tIns="109728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E2  陈述证据</a:t>
            </a:r>
          </a:p>
          <a:p>
            <a:pPr algn="l">
              <a:lnSpc>
                <a:spcPct val="128000"/>
              </a:lnSpc>
              <a:spcBef>
                <a:spcPts val="300"/>
              </a:spcBef>
              <a:spcAft>
                <a:spcPts val="0"/>
              </a:spcAft>
            </a:pPr>
            <a:r>
              <a:rPr sz="10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访谈中的理由、协商过程、
约束条件</a:t>
            </a:r>
          </a:p>
        </p:txBody>
      </p:sp>
      <p:sp>
        <p:nvSpPr>
          <p:cNvPr id="18" name="Isosceles Triangle 17"/>
          <p:cNvSpPr/>
          <p:nvPr/>
        </p:nvSpPr>
        <p:spPr>
          <a:xfrm rot="5400000">
            <a:off x="4820095" y="2670048"/>
            <a:ext cx="164592" cy="146304"/>
          </a:xfrm>
          <a:prstGeom prst="triangle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Pentagon 18"/>
          <p:cNvSpPr/>
          <p:nvPr/>
        </p:nvSpPr>
        <p:spPr>
          <a:xfrm>
            <a:off x="5048695" y="1773936"/>
            <a:ext cx="2094579" cy="1170432"/>
          </a:xfrm>
          <a:prstGeom prst="homePlate">
            <a:avLst>
              <a:gd name="adj" fmla="val 16000"/>
            </a:avLst>
          </a:prstGeom>
          <a:solidFill>
            <a:srgbClr val="ECF1EF"/>
          </a:solidFill>
          <a:ln w="9525">
            <a:solidFill>
              <a:srgbClr val="BDD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82880" tIns="109728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E3  接口</a:t>
            </a:r>
          </a:p>
          <a:p>
            <a:pPr algn="l">
              <a:lnSpc>
                <a:spcPct val="128000"/>
              </a:lnSpc>
              <a:spcBef>
                <a:spcPts val="300"/>
              </a:spcBef>
              <a:spcAft>
                <a:spcPts val="0"/>
              </a:spcAft>
            </a:pPr>
            <a:r>
              <a:rPr sz="10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逐条对齐：该改动 ↔ 该陈述
是否自洽</a:t>
            </a:r>
          </a:p>
        </p:txBody>
      </p:sp>
      <p:sp>
        <p:nvSpPr>
          <p:cNvPr id="20" name="Isosceles Triangle 19"/>
          <p:cNvSpPr/>
          <p:nvPr/>
        </p:nvSpPr>
        <p:spPr>
          <a:xfrm rot="5400000">
            <a:off x="7060978" y="2670048"/>
            <a:ext cx="164592" cy="146304"/>
          </a:xfrm>
          <a:prstGeom prst="triangle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Pentagon 20"/>
          <p:cNvSpPr/>
          <p:nvPr/>
        </p:nvSpPr>
        <p:spPr>
          <a:xfrm>
            <a:off x="7289578" y="1773936"/>
            <a:ext cx="2094579" cy="1170432"/>
          </a:xfrm>
          <a:prstGeom prst="homePlate">
            <a:avLst>
              <a:gd name="adj" fmla="val 16000"/>
            </a:avLst>
          </a:prstGeom>
          <a:solidFill>
            <a:srgbClr val="ECF1EF"/>
          </a:solidFill>
          <a:ln w="9525">
            <a:solidFill>
              <a:srgbClr val="BDD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82880" tIns="109728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E4  解释</a:t>
            </a:r>
          </a:p>
          <a:p>
            <a:pPr algn="l">
              <a:lnSpc>
                <a:spcPct val="128000"/>
              </a:lnSpc>
              <a:spcBef>
                <a:spcPts val="300"/>
              </a:spcBef>
              <a:spcAft>
                <a:spcPts val="0"/>
              </a:spcAft>
            </a:pPr>
            <a:r>
              <a:rPr sz="10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以情境化概念解释不一致处</a:t>
            </a:r>
          </a:p>
        </p:txBody>
      </p:sp>
      <p:sp>
        <p:nvSpPr>
          <p:cNvPr id="22" name="Isosceles Triangle 21"/>
          <p:cNvSpPr/>
          <p:nvPr/>
        </p:nvSpPr>
        <p:spPr>
          <a:xfrm rot="5400000">
            <a:off x="9301862" y="2670048"/>
            <a:ext cx="164592" cy="146304"/>
          </a:xfrm>
          <a:prstGeom prst="triangle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Pentagon 22"/>
          <p:cNvSpPr/>
          <p:nvPr/>
        </p:nvSpPr>
        <p:spPr>
          <a:xfrm>
            <a:off x="9530462" y="1773936"/>
            <a:ext cx="2094579" cy="1170432"/>
          </a:xfrm>
          <a:prstGeom prst="homePlate">
            <a:avLst>
              <a:gd name="adj" fmla="val 16000"/>
            </a:avLst>
          </a:prstGeom>
          <a:solidFill>
            <a:srgbClr val="ECF1EF"/>
          </a:solidFill>
          <a:ln w="9525">
            <a:solidFill>
              <a:srgbClr val="BDD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82880" tIns="109728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E5  限定</a:t>
            </a:r>
          </a:p>
          <a:p>
            <a:pPr algn="l">
              <a:lnSpc>
                <a:spcPct val="128000"/>
              </a:lnSpc>
              <a:spcBef>
                <a:spcPts val="300"/>
              </a:spcBef>
              <a:spcAft>
                <a:spcPts val="0"/>
              </a:spcAft>
            </a:pPr>
            <a:r>
              <a:rPr sz="10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结论只写到“此个案此链条
”的范围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145536"/>
            <a:ext cx="3564117" cy="13441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3145536"/>
            <a:ext cx="3564117" cy="5029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328416"/>
            <a:ext cx="31983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可迁移做法 1｜“异常点驱动”的提问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3657600"/>
            <a:ext cx="3198357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不要问“您翻译时考虑什么”，要问“这一段的这句您改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了三次，能讲讲那两次为什么改吗”。访谈从产品差异切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入，效率与深度同时提升。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13925" y="3145536"/>
            <a:ext cx="3564117" cy="13441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13925" y="3145536"/>
            <a:ext cx="3564117" cy="5029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96805" y="3328416"/>
            <a:ext cx="31983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可迁移做法 2｜双栏记录表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6805" y="3657600"/>
            <a:ext cx="3198357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左栏记受访者原话，右栏记可核实的文本位置（页码/段落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）。转录时两栏合并，分析时可直接引用“T07-2026.10.0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8 / P12 ¶3”。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60923" y="3145536"/>
            <a:ext cx="3564117" cy="13441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60923" y="3145536"/>
            <a:ext cx="3564117" cy="5029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3803" y="3328416"/>
            <a:ext cx="31983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可迁移做法 3｜不一致即主题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3803" y="3657600"/>
            <a:ext cx="3198357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陈述与文本冲突不当作“数据噪声”，而单列一个主题（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自我形象、机构约束、行业话语）——这类主题往往最有解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释力。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636008"/>
            <a:ext cx="3564117" cy="13441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6928" y="4636008"/>
            <a:ext cx="3564117" cy="5029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4818888"/>
            <a:ext cx="31983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可迁移做法 4｜材料包与审计追踪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" y="5148072"/>
            <a:ext cx="3198357" cy="704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附录放提纲、编码簿节选、主题×受访者矩阵；这是质性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论文的“可核查性”凭证，也是课程作业的加分项。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13925" y="4636008"/>
            <a:ext cx="3564117" cy="13441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13925" y="4636008"/>
            <a:ext cx="3564117" cy="5029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96805" y="4818888"/>
            <a:ext cx="31983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局限也要学：把限制写清楚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96805" y="5148072"/>
            <a:ext cx="3198357" cy="704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该文明确指出单一案例链条、语言与情境的特殊性；不写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局限的质性论文，等于把推广责任推给读者。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60923" y="4636008"/>
            <a:ext cx="3564117" cy="13441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60923" y="4636008"/>
            <a:ext cx="3564117" cy="5029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43803" y="4818888"/>
            <a:ext cx="31983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本组落地计划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43803" y="5148072"/>
            <a:ext cx="3198357" cy="704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10 月 20 日前完成 6 人次半结构访谈（本校 MTI 2 年级 + 执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业译者 3 人 + 企业项目经理 1 人），双编码 + 矩阵表，形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成课程小研究。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697" cy="6967728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96012" cy="96012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9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板块 ④ 方法 B 案例 · 方燕 4/5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反例拆解：访谈论文的六个失范环节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5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diagnosis by stage · 依据殷海红（2020）+ 教学合成例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90472"/>
            <a:ext cx="11055096" cy="10972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03920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83446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62972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42498" y="6144768"/>
            <a:ext cx="747522" cy="137160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6318504"/>
            <a:ext cx="31181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B4451F"/>
                </a:solidFill>
                <a:latin typeface="Microsoft YaHei"/>
                <a:ea typeface="Microsoft YaHei"/>
                <a:cs typeface="Microsoft YaHei"/>
              </a:rPr>
              <a:t>主讲 方燕 · 方法 B 案例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09360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《翻译研究方法》2026–2027 学年第 1 学期 · 第 1 组 · 10.12 课堂展示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528816"/>
            <a:ext cx="3118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50" b="1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第 29 / 35 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1755648"/>
            <a:ext cx="11055096" cy="347472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1755648"/>
            <a:ext cx="1088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环节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92808" y="1755648"/>
            <a:ext cx="35112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典型症状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50408" y="1755648"/>
            <a:ext cx="250545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为什么伤研究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1755648"/>
            <a:ext cx="336499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最小改动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103120"/>
            <a:ext cx="11055096" cy="542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2645664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272182"/>
            <a:ext cx="1088136" cy="451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① 选题与目的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92808" y="2272182"/>
            <a:ext cx="3511296" cy="451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为“致敬名家”而访；无研究问题，只有话题清单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50408" y="2272182"/>
            <a:ext cx="2505456" cy="451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访谈对象按“名气”选，不按“信息”选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2272182"/>
            <a:ext cx="3364991" cy="451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写出被访者入选标准（与主题相关的经验类型）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2645664"/>
            <a:ext cx="11055096" cy="542544"/>
          </a:xfrm>
          <a:prstGeom prst="rect">
            <a:avLst/>
          </a:prstGeom>
          <a:solidFill>
            <a:srgbClr val="F8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3188207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2814726"/>
            <a:ext cx="1088136" cy="451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② 对象与抽样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92808" y="2814726"/>
            <a:ext cx="3511296" cy="451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只访 1 人不说明理由；10 人却称“普遍”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50408" y="2814726"/>
            <a:ext cx="2505456" cy="451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样本逻辑与结论强度不匹配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02168" y="2814726"/>
            <a:ext cx="3364991" cy="451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小样本可以，但须说明饱和与边界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3188207"/>
            <a:ext cx="11055096" cy="542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3730752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3357270"/>
            <a:ext cx="1088136" cy="451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③ 提纲设计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92808" y="3357270"/>
            <a:ext cx="3511296" cy="451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10 个大问题一次问完；先问概念（“您怎么看文化转向”）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50408" y="3357270"/>
            <a:ext cx="2505456" cy="451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答案必然空泛；无法追问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02168" y="3357270"/>
            <a:ext cx="3364991" cy="451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6–8 个主问，先行为后态度，配探针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730752"/>
            <a:ext cx="11055096" cy="542544"/>
          </a:xfrm>
          <a:prstGeom prst="rect">
            <a:avLst/>
          </a:prstGeom>
          <a:solidFill>
            <a:srgbClr val="F8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" y="4273296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3899814"/>
            <a:ext cx="1088136" cy="451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④ 现场与记录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92808" y="3899814"/>
            <a:ext cx="3511296" cy="451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无录音、只靠笔记；临时改用“访谈”为“笔谈”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50408" y="3899814"/>
            <a:ext cx="2505456" cy="451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材料不可回溯，引语无法核对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02168" y="3899814"/>
            <a:ext cx="3364991" cy="451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双录音 + 24 小时内补田野笔记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4273296"/>
            <a:ext cx="11055096" cy="542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6928" y="4815840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4442358"/>
            <a:ext cx="1088136" cy="451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⑤ 转录与翻译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92808" y="4442358"/>
            <a:ext cx="3511296" cy="451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把口语“整理”成书面语；回译不留原文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50408" y="4442358"/>
            <a:ext cx="2505456" cy="451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这是改写不是转录，语义漂移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02168" y="4442358"/>
            <a:ext cx="3364991" cy="451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原文/译文并置，只删语气词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" y="4815840"/>
            <a:ext cx="11055096" cy="542544"/>
          </a:xfrm>
          <a:prstGeom prst="rect">
            <a:avLst/>
          </a:prstGeom>
          <a:solidFill>
            <a:srgbClr val="F8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66928" y="5358384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" y="4984902"/>
            <a:ext cx="1088136" cy="451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⑥ 分析与写作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92808" y="4984902"/>
            <a:ext cx="3511296" cy="451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问答体原样刊发；只堆引语不作分析；无授权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50408" y="4984902"/>
            <a:ext cx="2505456" cy="451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读者看到观点，看不到研究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02168" y="4984902"/>
            <a:ext cx="3364991" cy="451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主题×受访者矩阵 + 分析段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" y="5468112"/>
            <a:ext cx="3564117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6928" y="5468112"/>
            <a:ext cx="3564117" cy="50292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9808" y="5650992"/>
            <a:ext cx="31983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症状 1｜“访谈”与“对话体”混用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808" y="5980176"/>
            <a:ext cx="3198357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标题写“基于访谈的研究”，正文是问答实录。判别法：有无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编码、有无主题、引语是否服务于一个可证伪的结论。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313925" y="5468112"/>
            <a:ext cx="3564117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313925" y="5468112"/>
            <a:ext cx="3564117" cy="50292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96805" y="5650992"/>
            <a:ext cx="31983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症状 2｜引语当结论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96805" y="5980176"/>
            <a:ext cx="3198357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“正如某教授所说……”反复出现，等于把结论外包给受访者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。研究者的分析段必须比引语长。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60923" y="5468112"/>
            <a:ext cx="3564117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060923" y="5468112"/>
            <a:ext cx="3564117" cy="50292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43803" y="5650992"/>
            <a:ext cx="31983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症状 3｜伦理与著作权空白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43803" y="5980176"/>
            <a:ext cx="3198357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未获引用授权、化名未确认、受访者要求删句仍被发表——不仅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失范，还可能侵权。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697" cy="6967728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96012" cy="9601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9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板块 ④ 方法 B 案例 · 方燕 5/5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六环节对照：差距不在“会不会”，在“做没做”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5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a stage-by-stage scorecard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90472"/>
            <a:ext cx="11055096" cy="10972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03920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83446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62972" y="6144768"/>
            <a:ext cx="747522" cy="1371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42498" y="6144768"/>
            <a:ext cx="747522" cy="137160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6318504"/>
            <a:ext cx="31181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2B7C85"/>
                </a:solidFill>
                <a:latin typeface="Microsoft YaHei"/>
                <a:ea typeface="Microsoft YaHei"/>
                <a:cs typeface="Microsoft YaHei"/>
              </a:rPr>
              <a:t>主讲 方燕 · 方法 B 案例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09360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《翻译研究方法》2026–2027 学年第 1 学期 · 第 1 组 · 10.12 课堂展示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528816"/>
            <a:ext cx="3118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50" b="1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第 30 / 35 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1755648"/>
            <a:ext cx="11055096" cy="34747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1755648"/>
            <a:ext cx="90525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环节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9928" y="1755648"/>
            <a:ext cx="383133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正例的做法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87567" y="1755648"/>
            <a:ext cx="2916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反例的做法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0807" y="1755648"/>
            <a:ext cx="281635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你至少要做到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103120"/>
            <a:ext cx="11055096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2505456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198827"/>
            <a:ext cx="9052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对象选择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09928" y="2198827"/>
            <a:ext cx="383133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以出版链条位置与参与度选受访者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87567" y="2198827"/>
            <a:ext cx="29169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按名气/可及性选取，无标准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50807" y="2198827"/>
            <a:ext cx="28163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入选标准写进方法段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2505456"/>
            <a:ext cx="11055096" cy="402336"/>
          </a:xfrm>
          <a:prstGeom prst="rect">
            <a:avLst/>
          </a:prstGeom>
          <a:solidFill>
            <a:srgbClr val="F2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2907791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2601163"/>
            <a:ext cx="9052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提纲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9928" y="2601163"/>
            <a:ext cx="383133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围绕“选择—动机—约束”成块，异常点驱动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87567" y="2601163"/>
            <a:ext cx="29169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话题清单式，概念先行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50807" y="2601163"/>
            <a:ext cx="28163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6–8 主问 + 探针表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2907791"/>
            <a:ext cx="11055096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3310127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3003499"/>
            <a:ext cx="9052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现场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09928" y="3003499"/>
            <a:ext cx="383133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关系建立后再进敏感话题；追问到事件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87567" y="3003499"/>
            <a:ext cx="29169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一次问完，不追问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50807" y="3003499"/>
            <a:ext cx="28163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追问三句（举例/当时怎么想/谁不同意）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310128"/>
            <a:ext cx="11055096" cy="402336"/>
          </a:xfrm>
          <a:prstGeom prst="rect">
            <a:avLst/>
          </a:prstGeom>
          <a:solidFill>
            <a:srgbClr val="F2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" y="3712464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3405835"/>
            <a:ext cx="9052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转录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09928" y="3405835"/>
            <a:ext cx="383133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逐字＋原文译文并置，规则明确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87567" y="3405835"/>
            <a:ext cx="29169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整理成书面语，不留原文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50807" y="3405835"/>
            <a:ext cx="28163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转录规则一页纸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3712463"/>
            <a:ext cx="11055096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6928" y="4114800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3808171"/>
            <a:ext cx="9052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分析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09928" y="3808171"/>
            <a:ext cx="383133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编码簿 + 主题与文本互证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87567" y="3808171"/>
            <a:ext cx="29169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引语堆砌或问答实录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50807" y="3808171"/>
            <a:ext cx="28163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主题×受访者矩阵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" y="4114800"/>
            <a:ext cx="11055096" cy="402336"/>
          </a:xfrm>
          <a:prstGeom prst="rect">
            <a:avLst/>
          </a:prstGeom>
          <a:solidFill>
            <a:srgbClr val="F2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66928" y="4517136"/>
            <a:ext cx="11055096" cy="7315"/>
          </a:xfrm>
          <a:prstGeom prst="rect">
            <a:avLst/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" y="4210507"/>
            <a:ext cx="9052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09928" y="4210507"/>
            <a:ext cx="383133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止于此个案此链条；写明限制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87567" y="4210507"/>
            <a:ext cx="29169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直接推广到“译者群体”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50807" y="4210507"/>
            <a:ext cx="28163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限定句 + 局限段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" y="4681728"/>
            <a:ext cx="7498079" cy="1316736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9808" y="4828032"/>
            <a:ext cx="7132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本组小结（方法与写作各半）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8096" y="5166360"/>
            <a:ext cx="7114031" cy="234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① 问卷与访谈不是“深浅之争”，而是“分布—理由”分工：能配对使用最好（问卷发现异常 → 访谈追问）。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8096" y="5401056"/>
            <a:ext cx="7114031" cy="234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② 两者共同的失范模式是一样的：链条断裂（问题与题项错位 / 问题与引语错位）。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8096" y="5635752"/>
            <a:ext cx="7114031" cy="234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③ 改进的最小单元：一条指导语、一个选项、一句追问、一张矩阵表——不需要推翻研究。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47888" y="4681728"/>
            <a:ext cx="3377153" cy="1316736"/>
          </a:xfrm>
          <a:prstGeom prst="rect">
            <a:avLst/>
          </a:prstGeom>
          <a:solidFill>
            <a:srgbClr val="EDF2F0"/>
          </a:solidFill>
          <a:ln w="9525">
            <a:solidFill>
              <a:srgbClr val="D3E1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30768" y="4791456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下一站：思考题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0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由主持人方燕引导全班讨论（S27）</a:t>
            </a:r>
          </a:p>
          <a:p>
            <a:pPr algn="l">
              <a:lnSpc>
                <a:spcPct val="132000"/>
              </a:lnSpc>
              <a:spcBef>
                <a:spcPts val="400"/>
              </a:spcBef>
              <a:spcAft>
                <a:spcPts val="0"/>
              </a:spcAft>
            </a:pPr>
            <a:r>
              <a:rPr sz="960" b="0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两种方法各 4 问 · 现场用 4 问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697" cy="6967728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96012" cy="96012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9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DISCUSSION · 全组思考题（每种方法 4 问，现场选 4 问）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思考题与讨论组织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5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facilitator: 方燕 · 计时与收束: 于萍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90472"/>
            <a:ext cx="11055096" cy="10972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309360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《翻译研究方法》2026–2027 学年第 1 学期 · 第 1 组 · 10.12 课堂展示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528816"/>
            <a:ext cx="3118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50" b="1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第 31 / 35 页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64208"/>
            <a:ext cx="543761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5437616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847088"/>
            <a:ext cx="5071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Q1 · 方法边界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176272"/>
            <a:ext cx="50718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研究“译者是否使用了机器翻译后编辑”可以问问卷；为什么“在什么情况下放弃后编辑”更该问访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谈？两种方法各自的“不可为”是什么？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7424" y="1664208"/>
            <a:ext cx="543761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7424" y="1664208"/>
            <a:ext cx="5437616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0304" y="1847088"/>
            <a:ext cx="5071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Q2 · 抽样追问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304" y="2176272"/>
            <a:ext cx="50718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王华树 &amp; 陈涅奥（2021）以 218 家企业为样本但未报应答率。若你是评审，会要求补哪三个数字？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没有这些数字，结论必须收缩到什么程度？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651760"/>
            <a:ext cx="543761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2651760"/>
            <a:ext cx="5437616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2834640"/>
            <a:ext cx="5071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Q3 · 题项设计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163824"/>
            <a:ext cx="5071856" cy="201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把“我担心机器翻译降低我的收入”改成两个不含诱导与双重含义的题项，并说明各自测的是态度还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是行为预期。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7424" y="2651760"/>
            <a:ext cx="543761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7424" y="2651760"/>
            <a:ext cx="5437616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0304" y="2834640"/>
            <a:ext cx="5071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Q4 · 统计分寸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0304" y="3163824"/>
            <a:ext cx="5071856" cy="201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莫梓 &amp; 曾曙静（2023）用横断面自评数据建立“影响模型”。因果表述改到什么程度才算诚实？还能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加什么数据补这一课？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639312"/>
            <a:ext cx="543761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3639312"/>
            <a:ext cx="5437616" cy="5029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3822192"/>
            <a:ext cx="5071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Q5 · 文体与方法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151376"/>
            <a:ext cx="5071856" cy="201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《中国翻译》等刊上的名家访谈属于哪种？若想把它改造成方法性研究，最小需要新增哪三个环节？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87424" y="3639312"/>
            <a:ext cx="543761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7424" y="3639312"/>
            <a:ext cx="5437616" cy="5029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0304" y="3822192"/>
            <a:ext cx="5071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Q6 · 提纲实操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0304" y="4151376"/>
            <a:ext cx="5071856" cy="201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给“MTI 学生为何回避文学翻译”这一题目写 1 个主问题 + 2 个探针；要求：不含“是否”、不含理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论术语、能引出具体事件。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4626864"/>
            <a:ext cx="543761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4626864"/>
            <a:ext cx="5437616" cy="5029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4809744"/>
            <a:ext cx="5071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Q7 · 样本逻辑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5138928"/>
            <a:ext cx="5071856" cy="201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访谈做 3 人和做 30 人，什么时候 3 人就够？请用地道的质性研究语言（信息丰富度、重复/饱和、可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转移性）说清楚。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87424" y="4626864"/>
            <a:ext cx="543761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87424" y="4626864"/>
            <a:ext cx="5437616" cy="5029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70304" y="4809744"/>
            <a:ext cx="5071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Q8 · 混合设计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70304" y="5138928"/>
            <a:ext cx="5071856" cy="201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问卷显示“高年级译者对 AI 态度更消极”。请设计一个访谈追问方案（对象 4–6 人、提纲 3 个模块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），说明它要回答问卷回答不了的什么。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5541264"/>
            <a:ext cx="11058113" cy="603504"/>
          </a:xfrm>
          <a:prstGeom prst="rect">
            <a:avLst/>
          </a:prstGeom>
          <a:solidFill>
            <a:srgbClr val="F8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6928" y="5541264"/>
            <a:ext cx="50292" cy="6035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" y="5669279"/>
            <a:ext cx="1049118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现场组织：Q1、Q5 各点 1–2 人（先易后难）→ Q3、Q6 现场口头出题、本组即时点评 → 一句收束：方法是否成立，取决于“链条闭合”，不取决于工具多不多。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分工与计时：Q1–Q4 于萍/陈冠臻答问，Q5–Q8 熊芮/方燕答问；合计 5–6 分钟，超时由计时人（于萍）示意收尾。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697" cy="6967728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96012" cy="96012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9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PRE-SUBMISSION CHECKLIST · 组内自检与提交流程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定稿前逐条勾选（全组）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5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10.05 初稿送审 → 10.09 定稿 → 10.11 预演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90472"/>
            <a:ext cx="11055096" cy="10972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309360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《翻译研究方法》2026–2027 学年第 1 学期 · 第 1 组 · 10.12 课堂展示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528816"/>
            <a:ext cx="3118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50" b="1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第 32 / 35 页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773936"/>
            <a:ext cx="5437616" cy="1426463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773936"/>
            <a:ext cx="5437616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956816"/>
            <a:ext cx="5071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内容（课程框架要求）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295144"/>
            <a:ext cx="5053568" cy="194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方法概述五问齐：是什么 / 优劣势 / 步骤 / 适用 / 注意。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489453"/>
            <a:ext cx="5053568" cy="194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正例：问题—设计—发现—操作—优点分析五段完整。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683763"/>
            <a:ext cx="5053568" cy="194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反例：问题—设计—缺陷分析—改进四段完整。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2878073"/>
            <a:ext cx="5053568" cy="194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思考题 2–4 道（本组 8 道备选）。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7424" y="1773936"/>
            <a:ext cx="5437616" cy="1426463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7424" y="1773936"/>
            <a:ext cx="5437616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0304" y="1956816"/>
            <a:ext cx="5071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案例合规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8592" y="2295144"/>
            <a:ext cx="5053568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类型不单一：中文期刊 2 篇 + 英文期刊 1 篇（+ 可替换 1 篇学位论文）。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8592" y="2554223"/>
            <a:ext cx="5053568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全部为翻译/口笔译研究领域文献。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8592" y="2813303"/>
            <a:ext cx="5053568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每条数据（N、回收、α）已回原文核对并标注页码。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346703"/>
            <a:ext cx="5437616" cy="1426463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3346703"/>
            <a:ext cx="5437616" cy="5029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529584"/>
            <a:ext cx="5071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形式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3867912"/>
            <a:ext cx="5053568" cy="259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每人正文 ≤ 8 页；本组 ①8 ②5 ③6 ④5（合计 24 页）。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4126992"/>
            <a:ext cx="5053568" cy="259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封面注明分工；统一本组模板与配色；无动效、无花哨转场。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4386072"/>
            <a:ext cx="5053568" cy="259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参考文献格式统一（APA 与 GB/T 7714 各一套，按老师要求二选一）。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87424" y="3346703"/>
            <a:ext cx="5437616" cy="1426463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7424" y="3346703"/>
            <a:ext cx="5437616" cy="50292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0304" y="3529584"/>
            <a:ext cx="5071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提交与预演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8592" y="3867912"/>
            <a:ext cx="5053568" cy="259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组长于萍 10.05 前将 PPTX + PDF 发 zoubing@139.com（拼音邮箱名）。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8592" y="4126992"/>
            <a:ext cx="5053568" cy="259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按反馈修改 → 10.09 定稿 → 10.11 到教室电脑预演 1 次。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8592" y="4386072"/>
            <a:ext cx="5053568" cy="259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每人计时排练 2 遍，录音回听；超 30 秒者删内容而不是加快语速。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4919472"/>
            <a:ext cx="7498079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5065776"/>
            <a:ext cx="7132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三条最容易丢分的细节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" y="5404104"/>
            <a:ext cx="7114031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· ① 忘记写“注意事项/常见问题”——这是课程明确要求的一栏；② 只夸不批或只批不建（反例须给改进方案）；③ 参
考文献里出现未在正文引用的“装饰性书目”。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7888" y="4919472"/>
            <a:ext cx="3383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版本命名规范</a:t>
            </a:r>
          </a:p>
          <a:p>
            <a: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</a:pPr>
            <a:r>
              <a:rPr sz="96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第1组_问卷调查法与访谈法_v2_20261009.pptx
同目录附：案例PDF/问卷原卷/访谈提纲/转录样本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697" cy="6967728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96012" cy="96012"/>
          </a:xfrm>
          <a:prstGeom prst="rect">
            <a:avLst/>
          </a:prstGeom>
          <a:solidFill>
            <a:srgbClr val="24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9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REFERENCES · 方法与案例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参考文献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5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案例文献以 ✓ 标出；工具与方法论著作供延伸阅读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90472"/>
            <a:ext cx="11055096" cy="10972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309360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《翻译研究方法》2026–2027 学年第 1 学期 · 第 1 组 · 10.12 课堂展示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528816"/>
            <a:ext cx="3118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50" b="1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第 33 / 35 页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737360"/>
            <a:ext cx="5468112" cy="42245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737360"/>
            <a:ext cx="5468112" cy="45720"/>
          </a:xfrm>
          <a:prstGeom prst="rect">
            <a:avLst/>
          </a:prstGeom>
          <a:solidFill>
            <a:srgbClr val="24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883664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方法论文献（设计依据）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212848"/>
            <a:ext cx="5029200" cy="3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Babbie, E. The Practice of Social Research (15th ed.). Cengage, 2021.（第 6–8 章：调查与测量）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619552"/>
            <a:ext cx="5029200" cy="3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Dillman, D. A., Smyth, J. D., &amp; Christian, L. M. Internet, Phone, Mail, and Mixed-Mode Surveys (5th ed.). Wiley, 2023.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026257"/>
            <a:ext cx="5029200" cy="22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Groves, R. M. et al. Survey Methodology (2nd ed.). Wiley, 2009.（无应答偏差、覆盖误差）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3266186"/>
            <a:ext cx="5029200" cy="3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Krejcie, R. V., &amp; Morgan, D. W. (1970). Determining sample size for research activities. EPR, 26(3), 607–610.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3672890"/>
            <a:ext cx="5029200" cy="3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Podsakoff, P. M. et al. (2003). Common method biases in behavioral research. Journal of Applied Psychology, 88(5), 879–903.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079595"/>
            <a:ext cx="5029200" cy="22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Kvale, S. InterViews: An Introduction to Qualitative Research Interviewing. Sage, 1996.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4319524"/>
            <a:ext cx="5029200" cy="3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Braun, V., &amp; Clarke, V. (2006). Using thematic analysis in psychology. Qualitative Research in Psychology, 3(2), 77–101.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726228"/>
            <a:ext cx="5029200" cy="3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Lincoln, Y. S., &amp; Guba, E. G. Naturalistic Inquiry. Sage, 1985.（可信度/可转移性等质性标准）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5132933"/>
            <a:ext cx="5029200" cy="22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风笑天. 《社会研究方法》（最新版）. 中国人民大学出版社.（问卷设计与抽样章节）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5372862"/>
            <a:ext cx="5029200" cy="3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苗兴壮/胡因等主编.《翻译研究方法论》类课程教材任选其一作为对照（组内确认后统一版本）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9632" y="1737360"/>
            <a:ext cx="5440680" cy="4224528"/>
          </a:xfrm>
          <a:prstGeom prst="rect">
            <a:avLst/>
          </a:prstGeom>
          <a:solidFill>
            <a:srgbClr val="FAF5F0"/>
          </a:solidFill>
          <a:ln w="9525">
            <a:solidFill>
              <a:srgbClr val="E7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9632" y="1737360"/>
            <a:ext cx="5440680" cy="45720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883664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案例文献（正反例所据）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212848"/>
            <a:ext cx="5029200" cy="3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✓ 王华树, 陈涅奥. (2021). 中国语言服务企业机器翻译与译后编辑应用调查研究. 北京第二外国语学院学报, 43(5), 23–37.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610408"/>
            <a:ext cx="5029200" cy="3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✓ 莫梓, 曾曙静. (2023). 译者元认知监控、思辨倾向和翻译能力的关系研究. 北京第二外国语学院学报, 45(6), 94–109.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007969"/>
            <a:ext cx="5029200" cy="3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✓ 殷海红. (2020). 国内翻译类访谈综述：2009—2018. 上海理工大学学报（社会科学版）, 42(3), 215–219, 237.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405530"/>
            <a:ext cx="5029200" cy="3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✓ Zehnalová, J., &amp; Kubátová, H. (2022). A methodology of translatological and sociological cooperation… Target, 34(2), 196–218. https://doi.org/10.1075/target.20024.zeh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803091"/>
            <a:ext cx="5029200" cy="537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44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Zhang, W., Li, A. W., &amp; Wu, C. (2025). University students’ perceptions of using generative AI in translation practices. Instructional Science, 53, 633–655.（问卷+访谈序列设计示例）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349559"/>
            <a:ext cx="5029200" cy="3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Massey, G., &amp; Wang, L. Questionnaires and interviews (entry). In An Encyclopedia of Translation Studies / TS &amp; I 方法论手册（电子版，供引用前核对版本与页码）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747120"/>
            <a:ext cx="5029200" cy="3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（待补）1 篇 MTI 硕士学位论文：访谈/问卷章节存在典型缺陷，用于替换教学合成案例——定稿前完成书目与页码核对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03504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B4451F"/>
                </a:solidFill>
                <a:latin typeface="Microsoft YaHei"/>
                <a:ea typeface="Microsoft YaHei"/>
                <a:cs typeface="Microsoft YaHei"/>
              </a:rPr>
              <a:t>引用规范：正文用“（作者, 年份）”，文末按 GB/T 7714 或 APA 统一（老师指定为准）；✓＝本组案例，数据已核对书目页，定稿前补页码。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697" cy="6967728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96012" cy="96012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9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APPENDIX · 本组自制材料（示例）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问卷样张 × 访谈提纲样张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5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把“方法”变成可交的东西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90472"/>
            <a:ext cx="11055096" cy="10972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309360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《翻译研究方法》2026–2027 学年第 1 学期 · 第 1 组 · 10.12 课堂展示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528816"/>
            <a:ext cx="3118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50" b="1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第 34 / 35 页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737360"/>
            <a:ext cx="5468112" cy="2103120"/>
          </a:xfrm>
          <a:prstGeom prst="rect">
            <a:avLst/>
          </a:prstGeom>
          <a:solidFill>
            <a:srgbClr val="FFFFFF"/>
          </a:solidFill>
          <a:ln w="11430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737360"/>
            <a:ext cx="5468112" cy="45720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19202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译者技术使用与态度调查问卷</a:t>
            </a:r>
          </a:p>
          <a:p>
            <a:pPr algn="l">
              <a:lnSpc>
                <a:spcPct val="132000"/>
              </a:lnSpc>
              <a:spcBef>
                <a:spcPts val="200"/>
              </a:spcBef>
              <a:spcAft>
                <a:spcPts val="0"/>
              </a:spcAft>
            </a:pPr>
            <a:r>
              <a:rPr sz="850" b="0" i="0">
                <a:solidFill>
                  <a:srgbClr val="6C7480"/>
                </a:solidFill>
                <a:latin typeface="Consolas"/>
                <a:ea typeface="Microsoft YaHei"/>
                <a:cs typeface="Microsoft YaHei"/>
              </a:rPr>
              <a:t>Technology Use &amp; Attitudes · 匿名 · 约 8 分钟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377439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1. 我在专业翻译任务中 routinely 使用 CAT 工具。</a:t>
            </a:r>
          </a:p>
        </p:txBody>
      </p:sp>
      <p:sp>
        <p:nvSpPr>
          <p:cNvPr id="14" name="Oval 13"/>
          <p:cNvSpPr/>
          <p:nvPr/>
        </p:nvSpPr>
        <p:spPr>
          <a:xfrm>
            <a:off x="841247" y="2578608"/>
            <a:ext cx="146304" cy="146304"/>
          </a:xfrm>
          <a:prstGeom prst="ellipse">
            <a:avLst/>
          </a:prstGeom>
          <a:solidFill>
            <a:srgbClr val="D2603A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69848" y="2578608"/>
            <a:ext cx="146304" cy="146304"/>
          </a:xfrm>
          <a:prstGeom prst="ellipse">
            <a:avLst/>
          </a:prstGeom>
          <a:solidFill>
            <a:srgbClr val="D2603A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98448" y="2578608"/>
            <a:ext cx="146304" cy="146304"/>
          </a:xfrm>
          <a:prstGeom prst="ellipse">
            <a:avLst/>
          </a:prstGeom>
          <a:solidFill>
            <a:srgbClr val="D2603A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527048" y="2578608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755648" y="2578608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2724911"/>
            <a:ext cx="49194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完全不同意                                  完全同意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2834639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2. 我担心机器翻译后编辑会拉低译文质量。</a:t>
            </a:r>
          </a:p>
        </p:txBody>
      </p:sp>
      <p:sp>
        <p:nvSpPr>
          <p:cNvPr id="21" name="Oval 20"/>
          <p:cNvSpPr/>
          <p:nvPr/>
        </p:nvSpPr>
        <p:spPr>
          <a:xfrm>
            <a:off x="841247" y="3035808"/>
            <a:ext cx="146304" cy="146304"/>
          </a:xfrm>
          <a:prstGeom prst="ellipse">
            <a:avLst/>
          </a:prstGeom>
          <a:solidFill>
            <a:srgbClr val="C8963E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69848" y="3035808"/>
            <a:ext cx="146304" cy="146304"/>
          </a:xfrm>
          <a:prstGeom prst="ellipse">
            <a:avLst/>
          </a:prstGeom>
          <a:solidFill>
            <a:srgbClr val="C8963E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98448" y="3035808"/>
            <a:ext cx="146304" cy="146304"/>
          </a:xfrm>
          <a:prstGeom prst="ellipse">
            <a:avLst/>
          </a:prstGeom>
          <a:solidFill>
            <a:srgbClr val="C8963E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527048" y="3035808"/>
            <a:ext cx="146304" cy="146304"/>
          </a:xfrm>
          <a:prstGeom prst="ellipse">
            <a:avLst/>
          </a:prstGeom>
          <a:solidFill>
            <a:srgbClr val="C8963E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755648" y="3035808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" y="3182111"/>
            <a:ext cx="49194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完全不同意                                  完全同意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3291839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3. 我愿意为技术训练投入额外时间。</a:t>
            </a:r>
          </a:p>
        </p:txBody>
      </p:sp>
      <p:sp>
        <p:nvSpPr>
          <p:cNvPr id="28" name="Oval 27"/>
          <p:cNvSpPr/>
          <p:nvPr/>
        </p:nvSpPr>
        <p:spPr>
          <a:xfrm>
            <a:off x="841247" y="3493008"/>
            <a:ext cx="146304" cy="146304"/>
          </a:xfrm>
          <a:prstGeom prst="ellipse">
            <a:avLst/>
          </a:prstGeom>
          <a:solidFill>
            <a:srgbClr val="2B7C85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69848" y="3493008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298448" y="3493008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527048" y="3493008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755648" y="3493008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7" y="3639311"/>
            <a:ext cx="49194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C7480"/>
                </a:solidFill>
                <a:latin typeface="Microsoft YaHei"/>
                <a:ea typeface="Microsoft YaHei"/>
                <a:cs typeface="Microsoft YaHei"/>
              </a:rPr>
              <a:t>完全不同意                                  完全同意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3968496"/>
            <a:ext cx="546811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· 李克特 5 点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</a:pPr>
            <a:r>
              <a:rPr sz="8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计分前须验证信度（α）与因子结构；改编题项须标注来源与改动。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4489704"/>
            <a:ext cx="546811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· 发放方案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</a:pPr>
            <a:r>
              <a:rPr sz="8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本校 MTI 1–2 年级全体 + 本地企业译者；线上开放 14 天，两次提醒。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72784" y="1737360"/>
            <a:ext cx="5349240" cy="35844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72784" y="1737360"/>
            <a:ext cx="5349240" cy="45720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55664" y="1938528"/>
            <a:ext cx="498348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11A2C"/>
                </a:solidFill>
                <a:latin typeface="Microsoft YaHei"/>
                <a:ea typeface="Microsoft YaHei"/>
                <a:cs typeface="Microsoft YaHei"/>
              </a:rPr>
              <a:t>访谈提纲（节选 · 半结构式 · 6 主问）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55664" y="2212848"/>
            <a:ext cx="4983480" cy="189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M1 暖场与背景：能否用三分钟介绍一下你最近一周的翻译工作？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55664" y="2420518"/>
            <a:ext cx="4983480" cy="3421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M2 关键事件：说一次你“接受/放弃 MT 结果”的经历（谁、何时、为何）＋探针（最担心什么 / 谁参与决定 / 事后反馈）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55664" y="2780995"/>
            <a:ext cx="4983480" cy="189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M3 标准与协商：什么样的译文在你看来“可以直接交付”？这个标准谁定的？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55664" y="2988665"/>
            <a:ext cx="4983480" cy="189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M4 冲突与代价：有没有一次明知会被扣钱仍坚持改译？讲细节＋“重来会怎么做”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55664" y="3196336"/>
            <a:ext cx="4983480" cy="189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M5 培训与需求：哪项能力你最希望在课堂补上？为什么现在的方法不够？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55664" y="3404006"/>
            <a:ext cx="4983480" cy="189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M6 收尾（受访者检验）：我把今天的说法整理成一段话发你确认，希望我怎么写？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5413248"/>
            <a:ext cx="11055096" cy="548640"/>
          </a:xfrm>
          <a:prstGeom prst="rect">
            <a:avLst/>
          </a:prstGeom>
          <a:solidFill>
            <a:srgbClr val="ED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6928" y="5413248"/>
            <a:ext cx="50292" cy="548640"/>
          </a:xfrm>
          <a:prstGeom prst="rect">
            <a:avLst/>
          </a:prstGeom>
          <a:solidFill>
            <a:srgbClr val="2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7824" y="5541264"/>
            <a:ext cx="104881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5" b="0" i="0">
                <a:solidFill>
                  <a:srgbClr val="24304A"/>
                </a:solidFill>
                <a:latin typeface="Microsoft YaHei"/>
                <a:ea typeface="Microsoft YaHei"/>
                <a:cs typeface="Microsoft YaHei"/>
              </a:rPr>
              <a:t>伦理与工具：邮件知情同意书（含录音、匿名、保存 12 个月后销毁）；本机 + 云端双录音；转写稿经两人校对；编码用 Excel 编码簿起步，若语料 &gt; 60 千字再考虑 NVivo/MAXQDA。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697" cy="6967728"/>
          </a:xfrm>
          <a:prstGeom prst="rect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D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103120"/>
            <a:ext cx="9144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5F3EE"/>
                </a:solidFill>
                <a:latin typeface="Microsoft YaHei"/>
                <a:ea typeface="Microsoft YaHei"/>
                <a:cs typeface="Microsoft YaHei"/>
              </a:rPr>
              <a:t>谢谢！Questions &amp; 讨论</a:t>
            </a:r>
          </a:p>
          <a:p>
            <a:pPr algn="l">
              <a:lnSpc>
                <a:spcPct val="132000"/>
              </a:lnSpc>
              <a:spcBef>
                <a:spcPts val="1400"/>
              </a:spcBef>
              <a:spcAft>
                <a:spcPts val="0"/>
              </a:spcAft>
            </a:pPr>
            <a:r>
              <a:rPr sz="1300" b="0" i="0">
                <a:solidFill>
                  <a:srgbClr val="9AA4B8"/>
                </a:solidFill>
                <a:latin typeface="Microsoft YaHei"/>
                <a:ea typeface="Microsoft YaHei"/>
                <a:cs typeface="Microsoft YaHei"/>
              </a:rPr>
              <a:t>Thank you · 第 1 组：于萍（组长）、陈冠臻、熊芮、方燕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3931920"/>
            <a:ext cx="3246120" cy="896112"/>
          </a:xfrm>
          <a:prstGeom prst="rect">
            <a:avLst/>
          </a:prstGeom>
          <a:solidFill>
            <a:srgbClr val="18213A"/>
          </a:solidFill>
          <a:ln w="9525">
            <a:solidFill>
              <a:srgbClr val="2C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4059936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8963E"/>
                </a:solidFill>
                <a:latin typeface="Microsoft YaHei"/>
                <a:ea typeface="Microsoft YaHei"/>
                <a:cs typeface="Microsoft YaHei"/>
              </a:rPr>
              <a:t>下一步（组内）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1000" b="0" i="0">
                <a:solidFill>
                  <a:srgbClr val="C3CAD8"/>
                </a:solidFill>
                <a:latin typeface="Microsoft YaHei"/>
                <a:ea typeface="Microsoft YaHei"/>
                <a:cs typeface="Microsoft YaHei"/>
              </a:rPr>
              <a:t>10.05 初稿送审 · 10.09 定稿 · 10.11 教室预演</a:t>
            </a:r>
          </a:p>
        </p:txBody>
      </p:sp>
      <p:sp>
        <p:nvSpPr>
          <p:cNvPr id="7" name="Rectangle 6"/>
          <p:cNvSpPr/>
          <p:nvPr/>
        </p:nvSpPr>
        <p:spPr>
          <a:xfrm>
            <a:off x="4361688" y="3931920"/>
            <a:ext cx="3246120" cy="896112"/>
          </a:xfrm>
          <a:prstGeom prst="rect">
            <a:avLst/>
          </a:prstGeom>
          <a:solidFill>
            <a:srgbClr val="18213A"/>
          </a:solidFill>
          <a:ln w="9525">
            <a:solidFill>
              <a:srgbClr val="2C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44568" y="4059936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8963E"/>
                </a:solidFill>
                <a:latin typeface="Microsoft YaHei"/>
                <a:ea typeface="Microsoft YaHei"/>
                <a:cs typeface="Microsoft YaHei"/>
              </a:rPr>
              <a:t>材料清单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1000" b="0" i="0">
                <a:solidFill>
                  <a:srgbClr val="C3CAD8"/>
                </a:solidFill>
                <a:latin typeface="Microsoft YaHei"/>
                <a:ea typeface="Microsoft YaHei"/>
                <a:cs typeface="Microsoft YaHei"/>
              </a:rPr>
              <a:t>PPTX/PDF · 问卷原卷 · 访谈提纲 · 案例 PDF 5 份</a:t>
            </a:r>
          </a:p>
        </p:txBody>
      </p:sp>
      <p:sp>
        <p:nvSpPr>
          <p:cNvPr id="9" name="Rectangle 8"/>
          <p:cNvSpPr/>
          <p:nvPr/>
        </p:nvSpPr>
        <p:spPr>
          <a:xfrm>
            <a:off x="7763256" y="3931920"/>
            <a:ext cx="3246120" cy="896112"/>
          </a:xfrm>
          <a:prstGeom prst="rect">
            <a:avLst/>
          </a:prstGeom>
          <a:solidFill>
            <a:srgbClr val="18213A"/>
          </a:solidFill>
          <a:ln w="9525">
            <a:solidFill>
              <a:srgbClr val="2C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46136" y="4059936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8963E"/>
                </a:solidFill>
                <a:latin typeface="Microsoft YaHei"/>
                <a:ea typeface="Microsoft YaHei"/>
                <a:cs typeface="Microsoft YaHei"/>
              </a:rPr>
              <a:t>给下组的交接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1000" b="0" i="0">
                <a:solidFill>
                  <a:srgbClr val="C3CAD8"/>
                </a:solidFill>
                <a:latin typeface="Microsoft YaHei"/>
                <a:ea typeface="Microsoft YaHei"/>
                <a:cs typeface="Microsoft YaHei"/>
              </a:rPr>
              <a:t>第 2 组（实验法+个案研究法）10.19 汇报，模板在共享盘 /第1组/template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309360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9CFDA"/>
                </a:solidFill>
                <a:latin typeface="Microsoft YaHei"/>
                <a:ea typeface="Microsoft YaHei"/>
                <a:cs typeface="Microsoft YaHei"/>
              </a:rPr>
              <a:t>《翻译研究方法》2026–2027 学年第 1 学期 · 第 1 组 · 10.12 课堂展示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528816"/>
            <a:ext cx="3118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9CFDA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50" b="1" i="0">
                <a:solidFill>
                  <a:srgbClr val="C9CFDA"/>
                </a:solidFill>
                <a:latin typeface="Consolas"/>
                <a:ea typeface="Microsoft YaHei"/>
                <a:cs typeface="Microsoft YaHei"/>
              </a:rPr>
              <a:t>第 35 / 35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