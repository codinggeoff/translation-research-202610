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256" r:id="rId3"/>
    <p:sldId id="290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91" r:id="rId36"/>
    <p:sldId id="289" r:id="rId37"/>
  </p:sldIdLst>
  <p:sldSz cx="12192000" cy="6858000"/>
  <p:notesSz cx="6858000" cy="9144000"/>
  <p:custDataLst>
    <p:tags r:id="rId4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5456"/>
    <a:srgbClr val="03A9F0"/>
    <a:srgbClr val="5B9BD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5" autoAdjust="0"/>
    <p:restoredTop sz="94660"/>
  </p:normalViewPr>
  <p:slideViewPr>
    <p:cSldViewPr snapToGrid="0" showGuides="1">
      <p:cViewPr varScale="1">
        <p:scale>
          <a:sx n="51" d="100"/>
          <a:sy n="51" d="100"/>
        </p:scale>
        <p:origin x="77" y="547"/>
      </p:cViewPr>
      <p:guideLst>
        <p:guide orient="horz" pos="2131"/>
        <p:guide pos="383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39" d="100"/>
        <a:sy n="139" d="100"/>
      </p:scale>
      <p:origin x="0" y="0"/>
    </p:cViewPr>
  </p:sorterViewPr>
  <p:notesViewPr>
    <p:cSldViewPr snapToGrid="0">
      <p:cViewPr varScale="1">
        <p:scale>
          <a:sx n="70" d="100"/>
          <a:sy n="70" d="100"/>
        </p:scale>
        <p:origin x="25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3" Type="http://schemas.openxmlformats.org/officeDocument/2006/relationships/tags" Target="tags/tag30.xml"/><Relationship Id="rId42" Type="http://schemas.openxmlformats.org/officeDocument/2006/relationships/tableStyles" Target="tableStyles.xml"/><Relationship Id="rId41" Type="http://schemas.openxmlformats.org/officeDocument/2006/relationships/viewProps" Target="viewProps.xml"/><Relationship Id="rId40" Type="http://schemas.openxmlformats.org/officeDocument/2006/relationships/presProps" Target="presProps.xml"/><Relationship Id="rId4" Type="http://schemas.openxmlformats.org/officeDocument/2006/relationships/slide" Target="slides/slide2.xml"/><Relationship Id="rId39" Type="http://schemas.openxmlformats.org/officeDocument/2006/relationships/handoutMaster" Target="handoutMasters/handoutMaster1.xml"/><Relationship Id="rId38" Type="http://schemas.openxmlformats.org/officeDocument/2006/relationships/notesMaster" Target="notesMasters/notesMaster1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6566E-A135-47C5-B666-D77ED21946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0E1E66-0EA3-46B4-8216-B1B8BE711FF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00BAA7-22A5-49C2-BA97-E6B0C9CFDA3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D9F56C-685E-485A-BF04-BF7465453AF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sp>
        <p:nvSpPr>
          <p:cNvPr id="6" name="矩形 5"/>
          <p:cNvSpPr/>
          <p:nvPr userDrawn="1"/>
        </p:nvSpPr>
        <p:spPr>
          <a:xfrm>
            <a:off x="0" y="2276872"/>
            <a:ext cx="3264363" cy="268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9" name="矩形 8"/>
          <p:cNvSpPr/>
          <p:nvPr userDrawn="1"/>
        </p:nvSpPr>
        <p:spPr>
          <a:xfrm>
            <a:off x="8975543" y="2276871"/>
            <a:ext cx="3264363" cy="268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7596491" y="2468893"/>
            <a:ext cx="576064" cy="577112"/>
            <a:chOff x="6084168" y="1274820"/>
            <a:chExt cx="432048" cy="432834"/>
          </a:xfrm>
        </p:grpSpPr>
        <p:sp>
          <p:nvSpPr>
            <p:cNvPr id="11" name="椭圆 22"/>
            <p:cNvSpPr>
              <a:spLocks noChangeArrowheads="1"/>
            </p:cNvSpPr>
            <p:nvPr/>
          </p:nvSpPr>
          <p:spPr bwMode="auto">
            <a:xfrm>
              <a:off x="6084168" y="1274820"/>
              <a:ext cx="432048" cy="43283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2" name="Freeform 59"/>
            <p:cNvSpPr>
              <a:spLocks noChangeArrowheads="1"/>
            </p:cNvSpPr>
            <p:nvPr/>
          </p:nvSpPr>
          <p:spPr bwMode="auto">
            <a:xfrm>
              <a:off x="6180302" y="1365898"/>
              <a:ext cx="239780" cy="250679"/>
            </a:xfrm>
            <a:custGeom>
              <a:avLst/>
              <a:gdLst>
                <a:gd name="T0" fmla="*/ 73627430 w 581"/>
                <a:gd name="T1" fmla="*/ 67678707 h 609"/>
                <a:gd name="T2" fmla="*/ 61659637 w 581"/>
                <a:gd name="T3" fmla="*/ 78678142 h 609"/>
                <a:gd name="T4" fmla="*/ 54244957 w 581"/>
                <a:gd name="T5" fmla="*/ 72208055 h 609"/>
                <a:gd name="T6" fmla="*/ 57106883 w 581"/>
                <a:gd name="T7" fmla="*/ 65867111 h 609"/>
                <a:gd name="T8" fmla="*/ 61659637 w 581"/>
                <a:gd name="T9" fmla="*/ 69490662 h 609"/>
                <a:gd name="T10" fmla="*/ 71806401 w 581"/>
                <a:gd name="T11" fmla="*/ 61338122 h 609"/>
                <a:gd name="T12" fmla="*/ 73627430 w 581"/>
                <a:gd name="T13" fmla="*/ 67678707 h 609"/>
                <a:gd name="T14" fmla="*/ 61659637 w 581"/>
                <a:gd name="T15" fmla="*/ 64055516 h 609"/>
                <a:gd name="T16" fmla="*/ 49691843 w 581"/>
                <a:gd name="T17" fmla="*/ 69490662 h 609"/>
                <a:gd name="T18" fmla="*/ 51513233 w 581"/>
                <a:gd name="T19" fmla="*/ 75054951 h 609"/>
                <a:gd name="T20" fmla="*/ 3772261 w 581"/>
                <a:gd name="T21" fmla="*/ 78678142 h 609"/>
                <a:gd name="T22" fmla="*/ 0 w 581"/>
                <a:gd name="T23" fmla="*/ 10999436 h 609"/>
                <a:gd name="T24" fmla="*/ 10146404 w 581"/>
                <a:gd name="T25" fmla="*/ 7246742 h 609"/>
                <a:gd name="T26" fmla="*/ 17561444 w 581"/>
                <a:gd name="T27" fmla="*/ 18246178 h 609"/>
                <a:gd name="T28" fmla="*/ 24845922 w 581"/>
                <a:gd name="T29" fmla="*/ 7246742 h 609"/>
                <a:gd name="T30" fmla="*/ 28488341 w 581"/>
                <a:gd name="T31" fmla="*/ 10999436 h 609"/>
                <a:gd name="T32" fmla="*/ 43318061 w 581"/>
                <a:gd name="T33" fmla="*/ 10999436 h 609"/>
                <a:gd name="T34" fmla="*/ 46960119 w 581"/>
                <a:gd name="T35" fmla="*/ 7246742 h 609"/>
                <a:gd name="T36" fmla="*/ 54244957 w 581"/>
                <a:gd name="T37" fmla="*/ 18246178 h 609"/>
                <a:gd name="T38" fmla="*/ 61659637 w 581"/>
                <a:gd name="T39" fmla="*/ 7246742 h 609"/>
                <a:gd name="T40" fmla="*/ 71806401 w 581"/>
                <a:gd name="T41" fmla="*/ 10999436 h 609"/>
                <a:gd name="T42" fmla="*/ 66212751 w 581"/>
                <a:gd name="T43" fmla="*/ 59526167 h 609"/>
                <a:gd name="T44" fmla="*/ 10146404 w 581"/>
                <a:gd name="T45" fmla="*/ 63149718 h 609"/>
                <a:gd name="T46" fmla="*/ 12878128 w 581"/>
                <a:gd name="T47" fmla="*/ 65867111 h 609"/>
                <a:gd name="T48" fmla="*/ 39545439 w 581"/>
                <a:gd name="T49" fmla="*/ 63149718 h 609"/>
                <a:gd name="T50" fmla="*/ 39545439 w 581"/>
                <a:gd name="T51" fmla="*/ 63149718 h 609"/>
                <a:gd name="T52" fmla="*/ 39545439 w 581"/>
                <a:gd name="T53" fmla="*/ 63149718 h 609"/>
                <a:gd name="T54" fmla="*/ 12878128 w 581"/>
                <a:gd name="T55" fmla="*/ 60431965 h 609"/>
                <a:gd name="T56" fmla="*/ 58017218 w 581"/>
                <a:gd name="T57" fmla="*/ 28339815 h 609"/>
                <a:gd name="T58" fmla="*/ 13788823 w 581"/>
                <a:gd name="T59" fmla="*/ 28339815 h 609"/>
                <a:gd name="T60" fmla="*/ 13788823 w 581"/>
                <a:gd name="T61" fmla="*/ 35715700 h 609"/>
                <a:gd name="T62" fmla="*/ 61659637 w 581"/>
                <a:gd name="T63" fmla="*/ 31963007 h 609"/>
                <a:gd name="T64" fmla="*/ 58017218 w 581"/>
                <a:gd name="T65" fmla="*/ 43868240 h 609"/>
                <a:gd name="T66" fmla="*/ 35903020 w 581"/>
                <a:gd name="T67" fmla="*/ 43868240 h 609"/>
                <a:gd name="T68" fmla="*/ 13788823 w 581"/>
                <a:gd name="T69" fmla="*/ 43868240 h 609"/>
                <a:gd name="T70" fmla="*/ 13788823 w 581"/>
                <a:gd name="T71" fmla="*/ 51244484 h 609"/>
                <a:gd name="T72" fmla="*/ 35903020 w 581"/>
                <a:gd name="T73" fmla="*/ 51244484 h 609"/>
                <a:gd name="T74" fmla="*/ 61659637 w 581"/>
                <a:gd name="T75" fmla="*/ 47491791 h 609"/>
                <a:gd name="T76" fmla="*/ 54244957 w 581"/>
                <a:gd name="T77" fmla="*/ 14622627 h 609"/>
                <a:gd name="T78" fmla="*/ 50602538 w 581"/>
                <a:gd name="T79" fmla="*/ 10999436 h 609"/>
                <a:gd name="T80" fmla="*/ 54244957 w 581"/>
                <a:gd name="T81" fmla="*/ 0 h 609"/>
                <a:gd name="T82" fmla="*/ 58017218 w 581"/>
                <a:gd name="T83" fmla="*/ 10999436 h 609"/>
                <a:gd name="T84" fmla="*/ 35903020 w 581"/>
                <a:gd name="T85" fmla="*/ 14622627 h 609"/>
                <a:gd name="T86" fmla="*/ 32260601 w 581"/>
                <a:gd name="T87" fmla="*/ 10999436 h 609"/>
                <a:gd name="T88" fmla="*/ 35903020 w 581"/>
                <a:gd name="T89" fmla="*/ 0 h 609"/>
                <a:gd name="T90" fmla="*/ 39545439 w 581"/>
                <a:gd name="T91" fmla="*/ 10999436 h 609"/>
                <a:gd name="T92" fmla="*/ 17561444 w 581"/>
                <a:gd name="T93" fmla="*/ 14622627 h 609"/>
                <a:gd name="T94" fmla="*/ 13788823 w 581"/>
                <a:gd name="T95" fmla="*/ 10999436 h 609"/>
                <a:gd name="T96" fmla="*/ 17561444 w 581"/>
                <a:gd name="T97" fmla="*/ 0 h 609"/>
                <a:gd name="T98" fmla="*/ 21203502 w 581"/>
                <a:gd name="T99" fmla="*/ 10999436 h 609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581" h="609">
                  <a:moveTo>
                    <a:pt x="566" y="523"/>
                  </a:moveTo>
                  <a:lnTo>
                    <a:pt x="566" y="523"/>
                  </a:lnTo>
                  <a:cubicBezTo>
                    <a:pt x="495" y="594"/>
                    <a:pt x="495" y="594"/>
                    <a:pt x="495" y="594"/>
                  </a:cubicBezTo>
                  <a:cubicBezTo>
                    <a:pt x="488" y="601"/>
                    <a:pt x="481" y="608"/>
                    <a:pt x="474" y="608"/>
                  </a:cubicBezTo>
                  <a:cubicBezTo>
                    <a:pt x="467" y="608"/>
                    <a:pt x="460" y="601"/>
                    <a:pt x="453" y="594"/>
                  </a:cubicBezTo>
                  <a:cubicBezTo>
                    <a:pt x="417" y="558"/>
                    <a:pt x="417" y="558"/>
                    <a:pt x="417" y="558"/>
                  </a:cubicBezTo>
                  <a:cubicBezTo>
                    <a:pt x="410" y="551"/>
                    <a:pt x="410" y="544"/>
                    <a:pt x="410" y="537"/>
                  </a:cubicBezTo>
                  <a:cubicBezTo>
                    <a:pt x="410" y="523"/>
                    <a:pt x="417" y="509"/>
                    <a:pt x="439" y="509"/>
                  </a:cubicBezTo>
                  <a:cubicBezTo>
                    <a:pt x="446" y="509"/>
                    <a:pt x="453" y="516"/>
                    <a:pt x="453" y="523"/>
                  </a:cubicBezTo>
                  <a:cubicBezTo>
                    <a:pt x="474" y="537"/>
                    <a:pt x="474" y="537"/>
                    <a:pt x="474" y="537"/>
                  </a:cubicBezTo>
                  <a:cubicBezTo>
                    <a:pt x="530" y="481"/>
                    <a:pt x="530" y="481"/>
                    <a:pt x="530" y="481"/>
                  </a:cubicBezTo>
                  <a:cubicBezTo>
                    <a:pt x="537" y="474"/>
                    <a:pt x="545" y="474"/>
                    <a:pt x="552" y="474"/>
                  </a:cubicBezTo>
                  <a:cubicBezTo>
                    <a:pt x="566" y="474"/>
                    <a:pt x="580" y="488"/>
                    <a:pt x="580" y="502"/>
                  </a:cubicBezTo>
                  <a:cubicBezTo>
                    <a:pt x="580" y="509"/>
                    <a:pt x="573" y="516"/>
                    <a:pt x="566" y="523"/>
                  </a:cubicBezTo>
                  <a:close/>
                  <a:moveTo>
                    <a:pt x="474" y="495"/>
                  </a:moveTo>
                  <a:lnTo>
                    <a:pt x="474" y="495"/>
                  </a:lnTo>
                  <a:cubicBezTo>
                    <a:pt x="467" y="488"/>
                    <a:pt x="453" y="481"/>
                    <a:pt x="439" y="481"/>
                  </a:cubicBezTo>
                  <a:cubicBezTo>
                    <a:pt x="403" y="481"/>
                    <a:pt x="382" y="509"/>
                    <a:pt x="382" y="537"/>
                  </a:cubicBezTo>
                  <a:cubicBezTo>
                    <a:pt x="382" y="558"/>
                    <a:pt x="389" y="573"/>
                    <a:pt x="396" y="580"/>
                  </a:cubicBezTo>
                  <a:cubicBezTo>
                    <a:pt x="424" y="608"/>
                    <a:pt x="424" y="608"/>
                    <a:pt x="424" y="608"/>
                  </a:cubicBezTo>
                  <a:cubicBezTo>
                    <a:pt x="29" y="608"/>
                    <a:pt x="29" y="608"/>
                    <a:pt x="29" y="608"/>
                  </a:cubicBezTo>
                  <a:cubicBezTo>
                    <a:pt x="15" y="608"/>
                    <a:pt x="0" y="594"/>
                    <a:pt x="0" y="580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71"/>
                    <a:pt x="15" y="56"/>
                    <a:pt x="29" y="5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120"/>
                    <a:pt x="106" y="141"/>
                    <a:pt x="135" y="141"/>
                  </a:cubicBezTo>
                  <a:cubicBezTo>
                    <a:pt x="163" y="141"/>
                    <a:pt x="191" y="120"/>
                    <a:pt x="191" y="85"/>
                  </a:cubicBezTo>
                  <a:cubicBezTo>
                    <a:pt x="191" y="56"/>
                    <a:pt x="191" y="56"/>
                    <a:pt x="191" y="56"/>
                  </a:cubicBezTo>
                  <a:cubicBezTo>
                    <a:pt x="219" y="56"/>
                    <a:pt x="219" y="56"/>
                    <a:pt x="219" y="56"/>
                  </a:cubicBezTo>
                  <a:cubicBezTo>
                    <a:pt x="219" y="85"/>
                    <a:pt x="219" y="85"/>
                    <a:pt x="219" y="85"/>
                  </a:cubicBezTo>
                  <a:cubicBezTo>
                    <a:pt x="219" y="120"/>
                    <a:pt x="248" y="141"/>
                    <a:pt x="276" y="141"/>
                  </a:cubicBezTo>
                  <a:cubicBezTo>
                    <a:pt x="304" y="141"/>
                    <a:pt x="333" y="120"/>
                    <a:pt x="333" y="85"/>
                  </a:cubicBezTo>
                  <a:cubicBezTo>
                    <a:pt x="333" y="56"/>
                    <a:pt x="333" y="56"/>
                    <a:pt x="333" y="56"/>
                  </a:cubicBezTo>
                  <a:cubicBezTo>
                    <a:pt x="361" y="56"/>
                    <a:pt x="361" y="56"/>
                    <a:pt x="361" y="56"/>
                  </a:cubicBezTo>
                  <a:cubicBezTo>
                    <a:pt x="361" y="85"/>
                    <a:pt x="361" y="85"/>
                    <a:pt x="361" y="85"/>
                  </a:cubicBezTo>
                  <a:cubicBezTo>
                    <a:pt x="361" y="120"/>
                    <a:pt x="389" y="141"/>
                    <a:pt x="417" y="141"/>
                  </a:cubicBezTo>
                  <a:cubicBezTo>
                    <a:pt x="446" y="141"/>
                    <a:pt x="474" y="120"/>
                    <a:pt x="474" y="85"/>
                  </a:cubicBezTo>
                  <a:cubicBezTo>
                    <a:pt x="474" y="56"/>
                    <a:pt x="474" y="56"/>
                    <a:pt x="474" y="56"/>
                  </a:cubicBezTo>
                  <a:cubicBezTo>
                    <a:pt x="523" y="56"/>
                    <a:pt x="523" y="56"/>
                    <a:pt x="523" y="56"/>
                  </a:cubicBezTo>
                  <a:cubicBezTo>
                    <a:pt x="537" y="56"/>
                    <a:pt x="552" y="71"/>
                    <a:pt x="552" y="85"/>
                  </a:cubicBezTo>
                  <a:cubicBezTo>
                    <a:pt x="552" y="445"/>
                    <a:pt x="552" y="445"/>
                    <a:pt x="552" y="445"/>
                  </a:cubicBezTo>
                  <a:cubicBezTo>
                    <a:pt x="530" y="445"/>
                    <a:pt x="516" y="452"/>
                    <a:pt x="509" y="460"/>
                  </a:cubicBezTo>
                  <a:lnTo>
                    <a:pt x="474" y="495"/>
                  </a:lnTo>
                  <a:close/>
                  <a:moveTo>
                    <a:pt x="78" y="488"/>
                  </a:moveTo>
                  <a:lnTo>
                    <a:pt x="78" y="488"/>
                  </a:lnTo>
                  <a:cubicBezTo>
                    <a:pt x="78" y="502"/>
                    <a:pt x="85" y="509"/>
                    <a:pt x="99" y="509"/>
                  </a:cubicBezTo>
                  <a:cubicBezTo>
                    <a:pt x="283" y="509"/>
                    <a:pt x="283" y="509"/>
                    <a:pt x="283" y="509"/>
                  </a:cubicBezTo>
                  <a:cubicBezTo>
                    <a:pt x="297" y="509"/>
                    <a:pt x="304" y="502"/>
                    <a:pt x="304" y="488"/>
                  </a:cubicBezTo>
                  <a:cubicBezTo>
                    <a:pt x="304" y="474"/>
                    <a:pt x="297" y="467"/>
                    <a:pt x="283" y="467"/>
                  </a:cubicBezTo>
                  <a:cubicBezTo>
                    <a:pt x="99" y="467"/>
                    <a:pt x="99" y="467"/>
                    <a:pt x="99" y="467"/>
                  </a:cubicBezTo>
                  <a:cubicBezTo>
                    <a:pt x="85" y="467"/>
                    <a:pt x="78" y="474"/>
                    <a:pt x="78" y="488"/>
                  </a:cubicBezTo>
                  <a:close/>
                  <a:moveTo>
                    <a:pt x="446" y="219"/>
                  </a:moveTo>
                  <a:lnTo>
                    <a:pt x="446" y="219"/>
                  </a:lnTo>
                  <a:cubicBezTo>
                    <a:pt x="106" y="219"/>
                    <a:pt x="106" y="219"/>
                    <a:pt x="106" y="219"/>
                  </a:cubicBezTo>
                  <a:cubicBezTo>
                    <a:pt x="92" y="219"/>
                    <a:pt x="78" y="233"/>
                    <a:pt x="78" y="247"/>
                  </a:cubicBezTo>
                  <a:cubicBezTo>
                    <a:pt x="78" y="262"/>
                    <a:pt x="92" y="276"/>
                    <a:pt x="106" y="276"/>
                  </a:cubicBezTo>
                  <a:cubicBezTo>
                    <a:pt x="446" y="276"/>
                    <a:pt x="446" y="276"/>
                    <a:pt x="446" y="276"/>
                  </a:cubicBezTo>
                  <a:cubicBezTo>
                    <a:pt x="460" y="276"/>
                    <a:pt x="474" y="262"/>
                    <a:pt x="474" y="247"/>
                  </a:cubicBezTo>
                  <a:cubicBezTo>
                    <a:pt x="474" y="233"/>
                    <a:pt x="460" y="219"/>
                    <a:pt x="446" y="219"/>
                  </a:cubicBezTo>
                  <a:close/>
                  <a:moveTo>
                    <a:pt x="446" y="339"/>
                  </a:moveTo>
                  <a:lnTo>
                    <a:pt x="446" y="339"/>
                  </a:lnTo>
                  <a:cubicBezTo>
                    <a:pt x="276" y="339"/>
                    <a:pt x="276" y="339"/>
                    <a:pt x="276" y="339"/>
                  </a:cubicBezTo>
                  <a:cubicBezTo>
                    <a:pt x="226" y="339"/>
                    <a:pt x="226" y="339"/>
                    <a:pt x="226" y="339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92" y="339"/>
                    <a:pt x="78" y="353"/>
                    <a:pt x="78" y="367"/>
                  </a:cubicBezTo>
                  <a:cubicBezTo>
                    <a:pt x="78" y="389"/>
                    <a:pt x="92" y="396"/>
                    <a:pt x="106" y="396"/>
                  </a:cubicBezTo>
                  <a:cubicBezTo>
                    <a:pt x="226" y="396"/>
                    <a:pt x="226" y="396"/>
                    <a:pt x="226" y="396"/>
                  </a:cubicBezTo>
                  <a:cubicBezTo>
                    <a:pt x="276" y="396"/>
                    <a:pt x="276" y="396"/>
                    <a:pt x="276" y="396"/>
                  </a:cubicBezTo>
                  <a:cubicBezTo>
                    <a:pt x="446" y="396"/>
                    <a:pt x="446" y="396"/>
                    <a:pt x="446" y="396"/>
                  </a:cubicBezTo>
                  <a:cubicBezTo>
                    <a:pt x="460" y="396"/>
                    <a:pt x="474" y="389"/>
                    <a:pt x="474" y="367"/>
                  </a:cubicBezTo>
                  <a:cubicBezTo>
                    <a:pt x="474" y="353"/>
                    <a:pt x="460" y="339"/>
                    <a:pt x="446" y="339"/>
                  </a:cubicBezTo>
                  <a:close/>
                  <a:moveTo>
                    <a:pt x="417" y="113"/>
                  </a:moveTo>
                  <a:lnTo>
                    <a:pt x="417" y="113"/>
                  </a:lnTo>
                  <a:cubicBezTo>
                    <a:pt x="403" y="113"/>
                    <a:pt x="389" y="106"/>
                    <a:pt x="389" y="85"/>
                  </a:cubicBezTo>
                  <a:cubicBezTo>
                    <a:pt x="389" y="28"/>
                    <a:pt x="389" y="28"/>
                    <a:pt x="389" y="28"/>
                  </a:cubicBezTo>
                  <a:cubicBezTo>
                    <a:pt x="389" y="14"/>
                    <a:pt x="403" y="0"/>
                    <a:pt x="417" y="0"/>
                  </a:cubicBezTo>
                  <a:cubicBezTo>
                    <a:pt x="431" y="0"/>
                    <a:pt x="446" y="14"/>
                    <a:pt x="446" y="28"/>
                  </a:cubicBezTo>
                  <a:cubicBezTo>
                    <a:pt x="446" y="85"/>
                    <a:pt x="446" y="85"/>
                    <a:pt x="446" y="85"/>
                  </a:cubicBezTo>
                  <a:cubicBezTo>
                    <a:pt x="446" y="106"/>
                    <a:pt x="431" y="113"/>
                    <a:pt x="417" y="113"/>
                  </a:cubicBezTo>
                  <a:close/>
                  <a:moveTo>
                    <a:pt x="276" y="113"/>
                  </a:moveTo>
                  <a:lnTo>
                    <a:pt x="276" y="113"/>
                  </a:lnTo>
                  <a:cubicBezTo>
                    <a:pt x="262" y="113"/>
                    <a:pt x="248" y="106"/>
                    <a:pt x="248" y="85"/>
                  </a:cubicBezTo>
                  <a:cubicBezTo>
                    <a:pt x="248" y="28"/>
                    <a:pt x="248" y="28"/>
                    <a:pt x="248" y="28"/>
                  </a:cubicBezTo>
                  <a:cubicBezTo>
                    <a:pt x="248" y="14"/>
                    <a:pt x="262" y="0"/>
                    <a:pt x="276" y="0"/>
                  </a:cubicBezTo>
                  <a:cubicBezTo>
                    <a:pt x="290" y="0"/>
                    <a:pt x="304" y="14"/>
                    <a:pt x="304" y="28"/>
                  </a:cubicBezTo>
                  <a:cubicBezTo>
                    <a:pt x="304" y="85"/>
                    <a:pt x="304" y="85"/>
                    <a:pt x="304" y="85"/>
                  </a:cubicBezTo>
                  <a:cubicBezTo>
                    <a:pt x="304" y="106"/>
                    <a:pt x="290" y="113"/>
                    <a:pt x="276" y="11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21" y="113"/>
                    <a:pt x="106" y="106"/>
                    <a:pt x="106" y="85"/>
                  </a:cubicBezTo>
                  <a:cubicBezTo>
                    <a:pt x="106" y="28"/>
                    <a:pt x="106" y="28"/>
                    <a:pt x="106" y="28"/>
                  </a:cubicBezTo>
                  <a:cubicBezTo>
                    <a:pt x="106" y="14"/>
                    <a:pt x="121" y="0"/>
                    <a:pt x="135" y="0"/>
                  </a:cubicBezTo>
                  <a:cubicBezTo>
                    <a:pt x="149" y="0"/>
                    <a:pt x="163" y="14"/>
                    <a:pt x="163" y="28"/>
                  </a:cubicBezTo>
                  <a:cubicBezTo>
                    <a:pt x="163" y="85"/>
                    <a:pt x="163" y="85"/>
                    <a:pt x="163" y="85"/>
                  </a:cubicBezTo>
                  <a:cubicBezTo>
                    <a:pt x="163" y="106"/>
                    <a:pt x="149" y="113"/>
                    <a:pt x="135" y="11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13" name="组合 12"/>
          <p:cNvGrpSpPr/>
          <p:nvPr userDrawn="1"/>
        </p:nvGrpSpPr>
        <p:grpSpPr>
          <a:xfrm>
            <a:off x="5868299" y="2469417"/>
            <a:ext cx="576064" cy="576064"/>
            <a:chOff x="4788024" y="1275213"/>
            <a:chExt cx="432048" cy="432048"/>
          </a:xfrm>
        </p:grpSpPr>
        <p:sp>
          <p:nvSpPr>
            <p:cNvPr id="14" name="椭圆 65"/>
            <p:cNvSpPr>
              <a:spLocks noChangeArrowheads="1"/>
            </p:cNvSpPr>
            <p:nvPr/>
          </p:nvSpPr>
          <p:spPr bwMode="auto">
            <a:xfrm>
              <a:off x="4788024" y="1275213"/>
              <a:ext cx="432048" cy="432048"/>
            </a:xfrm>
            <a:prstGeom prst="ellipse">
              <a:avLst/>
            </a:prstGeom>
            <a:solidFill>
              <a:srgbClr val="F79600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5" name="Freeform 110"/>
            <p:cNvSpPr>
              <a:spLocks noChangeArrowheads="1"/>
            </p:cNvSpPr>
            <p:nvPr/>
          </p:nvSpPr>
          <p:spPr bwMode="auto">
            <a:xfrm>
              <a:off x="4891102" y="1366806"/>
              <a:ext cx="250679" cy="248862"/>
            </a:xfrm>
            <a:custGeom>
              <a:avLst/>
              <a:gdLst>
                <a:gd name="T0" fmla="*/ 78678142 w 609"/>
                <a:gd name="T1" fmla="*/ 71002280 h 602"/>
                <a:gd name="T2" fmla="*/ 78678142 w 609"/>
                <a:gd name="T3" fmla="*/ 71002280 h 602"/>
                <a:gd name="T4" fmla="*/ 71302258 w 609"/>
                <a:gd name="T5" fmla="*/ 78441997 h 602"/>
                <a:gd name="T6" fmla="*/ 65867111 w 609"/>
                <a:gd name="T7" fmla="*/ 76614673 h 602"/>
                <a:gd name="T8" fmla="*/ 44774038 w 609"/>
                <a:gd name="T9" fmla="*/ 54426302 h 602"/>
                <a:gd name="T10" fmla="*/ 29245613 w 609"/>
                <a:gd name="T11" fmla="*/ 59125033 h 602"/>
                <a:gd name="T12" fmla="*/ 0 w 609"/>
                <a:gd name="T13" fmla="*/ 29497307 h 602"/>
                <a:gd name="T14" fmla="*/ 29245613 w 609"/>
                <a:gd name="T15" fmla="*/ 0 h 602"/>
                <a:gd name="T16" fmla="*/ 58491226 w 609"/>
                <a:gd name="T17" fmla="*/ 29497307 h 602"/>
                <a:gd name="T18" fmla="*/ 54867675 w 609"/>
                <a:gd name="T19" fmla="*/ 44376380 h 602"/>
                <a:gd name="T20" fmla="*/ 75960749 w 609"/>
                <a:gd name="T21" fmla="*/ 65520668 h 602"/>
                <a:gd name="T22" fmla="*/ 78678142 w 609"/>
                <a:gd name="T23" fmla="*/ 71002280 h 602"/>
                <a:gd name="T24" fmla="*/ 29245613 w 609"/>
                <a:gd name="T25" fmla="*/ 7439717 h 602"/>
                <a:gd name="T26" fmla="*/ 29245613 w 609"/>
                <a:gd name="T27" fmla="*/ 7439717 h 602"/>
                <a:gd name="T28" fmla="*/ 7246742 w 609"/>
                <a:gd name="T29" fmla="*/ 29497307 h 602"/>
                <a:gd name="T30" fmla="*/ 29245613 w 609"/>
                <a:gd name="T31" fmla="*/ 51685677 h 602"/>
                <a:gd name="T32" fmla="*/ 51244484 w 609"/>
                <a:gd name="T33" fmla="*/ 29497307 h 602"/>
                <a:gd name="T34" fmla="*/ 29245613 w 609"/>
                <a:gd name="T35" fmla="*/ 7439717 h 602"/>
                <a:gd name="T36" fmla="*/ 42056644 w 609"/>
                <a:gd name="T37" fmla="*/ 33282375 h 602"/>
                <a:gd name="T38" fmla="*/ 42056644 w 609"/>
                <a:gd name="T39" fmla="*/ 33282375 h 602"/>
                <a:gd name="T40" fmla="*/ 32868804 w 609"/>
                <a:gd name="T41" fmla="*/ 33282375 h 602"/>
                <a:gd name="T42" fmla="*/ 32868804 w 609"/>
                <a:gd name="T43" fmla="*/ 41504973 h 602"/>
                <a:gd name="T44" fmla="*/ 29245613 w 609"/>
                <a:gd name="T45" fmla="*/ 45290042 h 602"/>
                <a:gd name="T46" fmla="*/ 25622062 w 609"/>
                <a:gd name="T47" fmla="*/ 41504973 h 602"/>
                <a:gd name="T48" fmla="*/ 25622062 w 609"/>
                <a:gd name="T49" fmla="*/ 33282375 h 602"/>
                <a:gd name="T50" fmla="*/ 17340380 w 609"/>
                <a:gd name="T51" fmla="*/ 33282375 h 602"/>
                <a:gd name="T52" fmla="*/ 13716829 w 609"/>
                <a:gd name="T53" fmla="*/ 29497307 h 602"/>
                <a:gd name="T54" fmla="*/ 17340380 w 609"/>
                <a:gd name="T55" fmla="*/ 25842658 h 602"/>
                <a:gd name="T56" fmla="*/ 25622062 w 609"/>
                <a:gd name="T57" fmla="*/ 25842658 h 602"/>
                <a:gd name="T58" fmla="*/ 25622062 w 609"/>
                <a:gd name="T59" fmla="*/ 16575978 h 602"/>
                <a:gd name="T60" fmla="*/ 29245613 w 609"/>
                <a:gd name="T61" fmla="*/ 12921329 h 602"/>
                <a:gd name="T62" fmla="*/ 32868804 w 609"/>
                <a:gd name="T63" fmla="*/ 16575978 h 602"/>
                <a:gd name="T64" fmla="*/ 32868804 w 609"/>
                <a:gd name="T65" fmla="*/ 25842658 h 602"/>
                <a:gd name="T66" fmla="*/ 42056644 w 609"/>
                <a:gd name="T67" fmla="*/ 25842658 h 602"/>
                <a:gd name="T68" fmla="*/ 45679835 w 609"/>
                <a:gd name="T69" fmla="*/ 29497307 h 602"/>
                <a:gd name="T70" fmla="*/ 42056644 w 609"/>
                <a:gd name="T71" fmla="*/ 33282375 h 60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609" h="602">
                  <a:moveTo>
                    <a:pt x="608" y="544"/>
                  </a:moveTo>
                  <a:lnTo>
                    <a:pt x="608" y="544"/>
                  </a:lnTo>
                  <a:cubicBezTo>
                    <a:pt x="608" y="573"/>
                    <a:pt x="579" y="601"/>
                    <a:pt x="551" y="601"/>
                  </a:cubicBezTo>
                  <a:cubicBezTo>
                    <a:pt x="530" y="601"/>
                    <a:pt x="516" y="594"/>
                    <a:pt x="509" y="587"/>
                  </a:cubicBezTo>
                  <a:cubicBezTo>
                    <a:pt x="346" y="417"/>
                    <a:pt x="346" y="417"/>
                    <a:pt x="346" y="417"/>
                  </a:cubicBezTo>
                  <a:cubicBezTo>
                    <a:pt x="311" y="438"/>
                    <a:pt x="269" y="453"/>
                    <a:pt x="226" y="453"/>
                  </a:cubicBezTo>
                  <a:cubicBezTo>
                    <a:pt x="106" y="453"/>
                    <a:pt x="0" y="347"/>
                    <a:pt x="0" y="226"/>
                  </a:cubicBezTo>
                  <a:cubicBezTo>
                    <a:pt x="0" y="99"/>
                    <a:pt x="106" y="0"/>
                    <a:pt x="226" y="0"/>
                  </a:cubicBezTo>
                  <a:cubicBezTo>
                    <a:pt x="353" y="0"/>
                    <a:pt x="452" y="99"/>
                    <a:pt x="452" y="226"/>
                  </a:cubicBezTo>
                  <a:cubicBezTo>
                    <a:pt x="452" y="269"/>
                    <a:pt x="445" y="304"/>
                    <a:pt x="424" y="340"/>
                  </a:cubicBezTo>
                  <a:cubicBezTo>
                    <a:pt x="587" y="502"/>
                    <a:pt x="587" y="502"/>
                    <a:pt x="587" y="502"/>
                  </a:cubicBezTo>
                  <a:cubicBezTo>
                    <a:pt x="601" y="516"/>
                    <a:pt x="608" y="530"/>
                    <a:pt x="608" y="544"/>
                  </a:cubicBezTo>
                  <a:close/>
                  <a:moveTo>
                    <a:pt x="226" y="57"/>
                  </a:moveTo>
                  <a:lnTo>
                    <a:pt x="226" y="57"/>
                  </a:lnTo>
                  <a:cubicBezTo>
                    <a:pt x="134" y="57"/>
                    <a:pt x="56" y="127"/>
                    <a:pt x="56" y="226"/>
                  </a:cubicBezTo>
                  <a:cubicBezTo>
                    <a:pt x="56" y="318"/>
                    <a:pt x="134" y="396"/>
                    <a:pt x="226" y="396"/>
                  </a:cubicBezTo>
                  <a:cubicBezTo>
                    <a:pt x="325" y="396"/>
                    <a:pt x="396" y="318"/>
                    <a:pt x="396" y="226"/>
                  </a:cubicBezTo>
                  <a:cubicBezTo>
                    <a:pt x="396" y="127"/>
                    <a:pt x="325" y="57"/>
                    <a:pt x="226" y="57"/>
                  </a:cubicBezTo>
                  <a:close/>
                  <a:moveTo>
                    <a:pt x="325" y="255"/>
                  </a:moveTo>
                  <a:lnTo>
                    <a:pt x="325" y="255"/>
                  </a:lnTo>
                  <a:cubicBezTo>
                    <a:pt x="254" y="255"/>
                    <a:pt x="254" y="255"/>
                    <a:pt x="254" y="255"/>
                  </a:cubicBezTo>
                  <a:cubicBezTo>
                    <a:pt x="254" y="318"/>
                    <a:pt x="254" y="318"/>
                    <a:pt x="254" y="318"/>
                  </a:cubicBezTo>
                  <a:cubicBezTo>
                    <a:pt x="254" y="333"/>
                    <a:pt x="247" y="347"/>
                    <a:pt x="226" y="347"/>
                  </a:cubicBezTo>
                  <a:cubicBezTo>
                    <a:pt x="212" y="347"/>
                    <a:pt x="198" y="333"/>
                    <a:pt x="198" y="318"/>
                  </a:cubicBezTo>
                  <a:cubicBezTo>
                    <a:pt x="198" y="255"/>
                    <a:pt x="198" y="255"/>
                    <a:pt x="198" y="255"/>
                  </a:cubicBezTo>
                  <a:cubicBezTo>
                    <a:pt x="134" y="255"/>
                    <a:pt x="134" y="255"/>
                    <a:pt x="134" y="255"/>
                  </a:cubicBezTo>
                  <a:cubicBezTo>
                    <a:pt x="120" y="255"/>
                    <a:pt x="106" y="241"/>
                    <a:pt x="106" y="226"/>
                  </a:cubicBezTo>
                  <a:cubicBezTo>
                    <a:pt x="106" y="205"/>
                    <a:pt x="120" y="198"/>
                    <a:pt x="134" y="198"/>
                  </a:cubicBezTo>
                  <a:cubicBezTo>
                    <a:pt x="198" y="198"/>
                    <a:pt x="198" y="198"/>
                    <a:pt x="198" y="198"/>
                  </a:cubicBezTo>
                  <a:cubicBezTo>
                    <a:pt x="198" y="127"/>
                    <a:pt x="198" y="127"/>
                    <a:pt x="198" y="127"/>
                  </a:cubicBezTo>
                  <a:cubicBezTo>
                    <a:pt x="198" y="113"/>
                    <a:pt x="212" y="99"/>
                    <a:pt x="226" y="99"/>
                  </a:cubicBezTo>
                  <a:cubicBezTo>
                    <a:pt x="247" y="99"/>
                    <a:pt x="254" y="113"/>
                    <a:pt x="254" y="127"/>
                  </a:cubicBezTo>
                  <a:cubicBezTo>
                    <a:pt x="254" y="198"/>
                    <a:pt x="254" y="198"/>
                    <a:pt x="254" y="198"/>
                  </a:cubicBezTo>
                  <a:cubicBezTo>
                    <a:pt x="325" y="198"/>
                    <a:pt x="325" y="198"/>
                    <a:pt x="325" y="198"/>
                  </a:cubicBezTo>
                  <a:cubicBezTo>
                    <a:pt x="339" y="198"/>
                    <a:pt x="353" y="205"/>
                    <a:pt x="353" y="226"/>
                  </a:cubicBezTo>
                  <a:cubicBezTo>
                    <a:pt x="353" y="241"/>
                    <a:pt x="339" y="255"/>
                    <a:pt x="325" y="25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16" name="组合 15"/>
          <p:cNvGrpSpPr/>
          <p:nvPr userDrawn="1"/>
        </p:nvGrpSpPr>
        <p:grpSpPr>
          <a:xfrm>
            <a:off x="6732395" y="2468893"/>
            <a:ext cx="577111" cy="577112"/>
            <a:chOff x="5436096" y="1274820"/>
            <a:chExt cx="432833" cy="432834"/>
          </a:xfrm>
        </p:grpSpPr>
        <p:sp>
          <p:nvSpPr>
            <p:cNvPr id="17" name="椭圆 16"/>
            <p:cNvSpPr>
              <a:spLocks noChangeArrowheads="1"/>
            </p:cNvSpPr>
            <p:nvPr/>
          </p:nvSpPr>
          <p:spPr bwMode="auto">
            <a:xfrm>
              <a:off x="5436096" y="1274820"/>
              <a:ext cx="432833" cy="43283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8" name="Freeform 16"/>
            <p:cNvSpPr>
              <a:spLocks noChangeArrowheads="1"/>
            </p:cNvSpPr>
            <p:nvPr/>
          </p:nvSpPr>
          <p:spPr bwMode="auto">
            <a:xfrm>
              <a:off x="5554420" y="1377705"/>
              <a:ext cx="196183" cy="227065"/>
            </a:xfrm>
            <a:custGeom>
              <a:avLst/>
              <a:gdLst>
                <a:gd name="T0" fmla="*/ 58106390 w 475"/>
                <a:gd name="T1" fmla="*/ 71207247 h 552"/>
                <a:gd name="T2" fmla="*/ 58106390 w 475"/>
                <a:gd name="T3" fmla="*/ 71207247 h 552"/>
                <a:gd name="T4" fmla="*/ 54327993 w 475"/>
                <a:gd name="T5" fmla="*/ 71207247 h 552"/>
                <a:gd name="T6" fmla="*/ 54327993 w 475"/>
                <a:gd name="T7" fmla="*/ 0 h 552"/>
                <a:gd name="T8" fmla="*/ 58106390 w 475"/>
                <a:gd name="T9" fmla="*/ 0 h 552"/>
                <a:gd name="T10" fmla="*/ 61754124 w 475"/>
                <a:gd name="T11" fmla="*/ 3618618 h 552"/>
                <a:gd name="T12" fmla="*/ 61754124 w 475"/>
                <a:gd name="T13" fmla="*/ 67588630 h 552"/>
                <a:gd name="T14" fmla="*/ 58106390 w 475"/>
                <a:gd name="T15" fmla="*/ 71207247 h 552"/>
                <a:gd name="T16" fmla="*/ 7426131 w 475"/>
                <a:gd name="T17" fmla="*/ 67588630 h 552"/>
                <a:gd name="T18" fmla="*/ 7426131 w 475"/>
                <a:gd name="T19" fmla="*/ 67588630 h 552"/>
                <a:gd name="T20" fmla="*/ 7426131 w 475"/>
                <a:gd name="T21" fmla="*/ 63970012 h 552"/>
                <a:gd name="T22" fmla="*/ 13809846 w 475"/>
                <a:gd name="T23" fmla="*/ 63970012 h 552"/>
                <a:gd name="T24" fmla="*/ 21235977 w 475"/>
                <a:gd name="T25" fmla="*/ 56603721 h 552"/>
                <a:gd name="T26" fmla="*/ 13809846 w 475"/>
                <a:gd name="T27" fmla="*/ 49237429 h 552"/>
                <a:gd name="T28" fmla="*/ 7426131 w 475"/>
                <a:gd name="T29" fmla="*/ 49237429 h 552"/>
                <a:gd name="T30" fmla="*/ 7426131 w 475"/>
                <a:gd name="T31" fmla="*/ 42905028 h 552"/>
                <a:gd name="T32" fmla="*/ 13809846 w 475"/>
                <a:gd name="T33" fmla="*/ 42905028 h 552"/>
                <a:gd name="T34" fmla="*/ 21235977 w 475"/>
                <a:gd name="T35" fmla="*/ 35539095 h 552"/>
                <a:gd name="T36" fmla="*/ 13809846 w 475"/>
                <a:gd name="T37" fmla="*/ 28301860 h 552"/>
                <a:gd name="T38" fmla="*/ 7426131 w 475"/>
                <a:gd name="T39" fmla="*/ 28301860 h 552"/>
                <a:gd name="T40" fmla="*/ 7426131 w 475"/>
                <a:gd name="T41" fmla="*/ 21840403 h 552"/>
                <a:gd name="T42" fmla="*/ 13809846 w 475"/>
                <a:gd name="T43" fmla="*/ 21840403 h 552"/>
                <a:gd name="T44" fmla="*/ 21235977 w 475"/>
                <a:gd name="T45" fmla="*/ 14603167 h 552"/>
                <a:gd name="T46" fmla="*/ 13809846 w 475"/>
                <a:gd name="T47" fmla="*/ 7236876 h 552"/>
                <a:gd name="T48" fmla="*/ 7426131 w 475"/>
                <a:gd name="T49" fmla="*/ 7236876 h 552"/>
                <a:gd name="T50" fmla="*/ 7426131 w 475"/>
                <a:gd name="T51" fmla="*/ 3618618 h 552"/>
                <a:gd name="T52" fmla="*/ 11074226 w 475"/>
                <a:gd name="T53" fmla="*/ 0 h 552"/>
                <a:gd name="T54" fmla="*/ 50680259 w 475"/>
                <a:gd name="T55" fmla="*/ 0 h 552"/>
                <a:gd name="T56" fmla="*/ 50680259 w 475"/>
                <a:gd name="T57" fmla="*/ 71207247 h 552"/>
                <a:gd name="T58" fmla="*/ 11074226 w 475"/>
                <a:gd name="T59" fmla="*/ 71207247 h 552"/>
                <a:gd name="T60" fmla="*/ 7426131 w 475"/>
                <a:gd name="T61" fmla="*/ 67588630 h 552"/>
                <a:gd name="T62" fmla="*/ 17588243 w 475"/>
                <a:gd name="T63" fmla="*/ 14603167 h 552"/>
                <a:gd name="T64" fmla="*/ 17588243 w 475"/>
                <a:gd name="T65" fmla="*/ 14603167 h 552"/>
                <a:gd name="T66" fmla="*/ 13809846 w 475"/>
                <a:gd name="T67" fmla="*/ 18221785 h 552"/>
                <a:gd name="T68" fmla="*/ 3778036 w 475"/>
                <a:gd name="T69" fmla="*/ 18221785 h 552"/>
                <a:gd name="T70" fmla="*/ 0 w 475"/>
                <a:gd name="T71" fmla="*/ 14603167 h 552"/>
                <a:gd name="T72" fmla="*/ 3778036 w 475"/>
                <a:gd name="T73" fmla="*/ 10984909 h 552"/>
                <a:gd name="T74" fmla="*/ 13809846 w 475"/>
                <a:gd name="T75" fmla="*/ 10984909 h 552"/>
                <a:gd name="T76" fmla="*/ 17588243 w 475"/>
                <a:gd name="T77" fmla="*/ 14603167 h 552"/>
                <a:gd name="T78" fmla="*/ 3778036 w 475"/>
                <a:gd name="T79" fmla="*/ 31920478 h 552"/>
                <a:gd name="T80" fmla="*/ 3778036 w 475"/>
                <a:gd name="T81" fmla="*/ 31920478 h 552"/>
                <a:gd name="T82" fmla="*/ 13809846 w 475"/>
                <a:gd name="T83" fmla="*/ 31920478 h 552"/>
                <a:gd name="T84" fmla="*/ 17588243 w 475"/>
                <a:gd name="T85" fmla="*/ 35539095 h 552"/>
                <a:gd name="T86" fmla="*/ 13809846 w 475"/>
                <a:gd name="T87" fmla="*/ 39286770 h 552"/>
                <a:gd name="T88" fmla="*/ 3778036 w 475"/>
                <a:gd name="T89" fmla="*/ 39286770 h 552"/>
                <a:gd name="T90" fmla="*/ 0 w 475"/>
                <a:gd name="T91" fmla="*/ 35539095 h 552"/>
                <a:gd name="T92" fmla="*/ 3778036 w 475"/>
                <a:gd name="T93" fmla="*/ 31920478 h 552"/>
                <a:gd name="T94" fmla="*/ 3778036 w 475"/>
                <a:gd name="T95" fmla="*/ 52985462 h 552"/>
                <a:gd name="T96" fmla="*/ 3778036 w 475"/>
                <a:gd name="T97" fmla="*/ 52985462 h 552"/>
                <a:gd name="T98" fmla="*/ 13809846 w 475"/>
                <a:gd name="T99" fmla="*/ 52985462 h 552"/>
                <a:gd name="T100" fmla="*/ 17588243 w 475"/>
                <a:gd name="T101" fmla="*/ 56603721 h 552"/>
                <a:gd name="T102" fmla="*/ 13809846 w 475"/>
                <a:gd name="T103" fmla="*/ 60222338 h 552"/>
                <a:gd name="T104" fmla="*/ 3778036 w 475"/>
                <a:gd name="T105" fmla="*/ 60222338 h 552"/>
                <a:gd name="T106" fmla="*/ 0 w 475"/>
                <a:gd name="T107" fmla="*/ 56603721 h 552"/>
                <a:gd name="T108" fmla="*/ 3778036 w 475"/>
                <a:gd name="T109" fmla="*/ 52985462 h 552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475" h="552">
                  <a:moveTo>
                    <a:pt x="446" y="551"/>
                  </a:moveTo>
                  <a:lnTo>
                    <a:pt x="446" y="551"/>
                  </a:lnTo>
                  <a:cubicBezTo>
                    <a:pt x="417" y="551"/>
                    <a:pt x="417" y="551"/>
                    <a:pt x="417" y="551"/>
                  </a:cubicBezTo>
                  <a:cubicBezTo>
                    <a:pt x="417" y="0"/>
                    <a:pt x="417" y="0"/>
                    <a:pt x="417" y="0"/>
                  </a:cubicBezTo>
                  <a:cubicBezTo>
                    <a:pt x="446" y="0"/>
                    <a:pt x="446" y="0"/>
                    <a:pt x="446" y="0"/>
                  </a:cubicBezTo>
                  <a:cubicBezTo>
                    <a:pt x="460" y="0"/>
                    <a:pt x="474" y="14"/>
                    <a:pt x="474" y="28"/>
                  </a:cubicBezTo>
                  <a:cubicBezTo>
                    <a:pt x="474" y="523"/>
                    <a:pt x="474" y="523"/>
                    <a:pt x="474" y="523"/>
                  </a:cubicBezTo>
                  <a:cubicBezTo>
                    <a:pt x="474" y="537"/>
                    <a:pt x="460" y="551"/>
                    <a:pt x="446" y="551"/>
                  </a:cubicBezTo>
                  <a:close/>
                  <a:moveTo>
                    <a:pt x="57" y="523"/>
                  </a:moveTo>
                  <a:lnTo>
                    <a:pt x="57" y="523"/>
                  </a:lnTo>
                  <a:cubicBezTo>
                    <a:pt x="57" y="495"/>
                    <a:pt x="57" y="495"/>
                    <a:pt x="57" y="495"/>
                  </a:cubicBezTo>
                  <a:cubicBezTo>
                    <a:pt x="106" y="495"/>
                    <a:pt x="106" y="495"/>
                    <a:pt x="106" y="495"/>
                  </a:cubicBezTo>
                  <a:cubicBezTo>
                    <a:pt x="135" y="495"/>
                    <a:pt x="163" y="466"/>
                    <a:pt x="163" y="438"/>
                  </a:cubicBezTo>
                  <a:cubicBezTo>
                    <a:pt x="163" y="403"/>
                    <a:pt x="135" y="381"/>
                    <a:pt x="106" y="381"/>
                  </a:cubicBezTo>
                  <a:cubicBezTo>
                    <a:pt x="57" y="381"/>
                    <a:pt x="57" y="381"/>
                    <a:pt x="57" y="381"/>
                  </a:cubicBezTo>
                  <a:cubicBezTo>
                    <a:pt x="57" y="332"/>
                    <a:pt x="57" y="332"/>
                    <a:pt x="57" y="332"/>
                  </a:cubicBezTo>
                  <a:cubicBezTo>
                    <a:pt x="106" y="332"/>
                    <a:pt x="106" y="332"/>
                    <a:pt x="106" y="332"/>
                  </a:cubicBezTo>
                  <a:cubicBezTo>
                    <a:pt x="135" y="332"/>
                    <a:pt x="163" y="304"/>
                    <a:pt x="163" y="275"/>
                  </a:cubicBezTo>
                  <a:cubicBezTo>
                    <a:pt x="163" y="247"/>
                    <a:pt x="135" y="219"/>
                    <a:pt x="106" y="219"/>
                  </a:cubicBezTo>
                  <a:cubicBezTo>
                    <a:pt x="57" y="219"/>
                    <a:pt x="57" y="219"/>
                    <a:pt x="57" y="219"/>
                  </a:cubicBezTo>
                  <a:cubicBezTo>
                    <a:pt x="57" y="169"/>
                    <a:pt x="57" y="169"/>
                    <a:pt x="57" y="169"/>
                  </a:cubicBezTo>
                  <a:cubicBezTo>
                    <a:pt x="106" y="169"/>
                    <a:pt x="106" y="169"/>
                    <a:pt x="106" y="169"/>
                  </a:cubicBezTo>
                  <a:cubicBezTo>
                    <a:pt x="135" y="169"/>
                    <a:pt x="163" y="148"/>
                    <a:pt x="163" y="113"/>
                  </a:cubicBezTo>
                  <a:cubicBezTo>
                    <a:pt x="163" y="85"/>
                    <a:pt x="135" y="56"/>
                    <a:pt x="106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28"/>
                    <a:pt x="57" y="28"/>
                    <a:pt x="57" y="28"/>
                  </a:cubicBezTo>
                  <a:cubicBezTo>
                    <a:pt x="57" y="14"/>
                    <a:pt x="71" y="0"/>
                    <a:pt x="85" y="0"/>
                  </a:cubicBezTo>
                  <a:cubicBezTo>
                    <a:pt x="389" y="0"/>
                    <a:pt x="389" y="0"/>
                    <a:pt x="389" y="0"/>
                  </a:cubicBezTo>
                  <a:cubicBezTo>
                    <a:pt x="389" y="551"/>
                    <a:pt x="389" y="551"/>
                    <a:pt x="389" y="551"/>
                  </a:cubicBezTo>
                  <a:cubicBezTo>
                    <a:pt x="85" y="551"/>
                    <a:pt x="85" y="551"/>
                    <a:pt x="85" y="551"/>
                  </a:cubicBezTo>
                  <a:cubicBezTo>
                    <a:pt x="71" y="551"/>
                    <a:pt x="57" y="537"/>
                    <a:pt x="57" y="52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35" y="134"/>
                    <a:pt x="120" y="141"/>
                    <a:pt x="106" y="141"/>
                  </a:cubicBezTo>
                  <a:cubicBezTo>
                    <a:pt x="29" y="141"/>
                    <a:pt x="29" y="141"/>
                    <a:pt x="29" y="141"/>
                  </a:cubicBezTo>
                  <a:cubicBezTo>
                    <a:pt x="15" y="141"/>
                    <a:pt x="0" y="134"/>
                    <a:pt x="0" y="113"/>
                  </a:cubicBezTo>
                  <a:cubicBezTo>
                    <a:pt x="0" y="99"/>
                    <a:pt x="15" y="85"/>
                    <a:pt x="29" y="85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20" y="85"/>
                    <a:pt x="135" y="99"/>
                    <a:pt x="135" y="113"/>
                  </a:cubicBezTo>
                  <a:close/>
                  <a:moveTo>
                    <a:pt x="29" y="247"/>
                  </a:moveTo>
                  <a:lnTo>
                    <a:pt x="29" y="247"/>
                  </a:lnTo>
                  <a:cubicBezTo>
                    <a:pt x="106" y="247"/>
                    <a:pt x="106" y="247"/>
                    <a:pt x="106" y="247"/>
                  </a:cubicBezTo>
                  <a:cubicBezTo>
                    <a:pt x="120" y="247"/>
                    <a:pt x="135" y="261"/>
                    <a:pt x="135" y="275"/>
                  </a:cubicBezTo>
                  <a:cubicBezTo>
                    <a:pt x="135" y="290"/>
                    <a:pt x="120" y="304"/>
                    <a:pt x="106" y="304"/>
                  </a:cubicBezTo>
                  <a:cubicBezTo>
                    <a:pt x="29" y="304"/>
                    <a:pt x="29" y="304"/>
                    <a:pt x="29" y="304"/>
                  </a:cubicBezTo>
                  <a:cubicBezTo>
                    <a:pt x="15" y="304"/>
                    <a:pt x="0" y="290"/>
                    <a:pt x="0" y="275"/>
                  </a:cubicBezTo>
                  <a:cubicBezTo>
                    <a:pt x="0" y="261"/>
                    <a:pt x="15" y="247"/>
                    <a:pt x="29" y="247"/>
                  </a:cubicBezTo>
                  <a:close/>
                  <a:moveTo>
                    <a:pt x="29" y="410"/>
                  </a:moveTo>
                  <a:lnTo>
                    <a:pt x="29" y="410"/>
                  </a:lnTo>
                  <a:cubicBezTo>
                    <a:pt x="106" y="410"/>
                    <a:pt x="106" y="410"/>
                    <a:pt x="106" y="410"/>
                  </a:cubicBezTo>
                  <a:cubicBezTo>
                    <a:pt x="120" y="410"/>
                    <a:pt x="135" y="417"/>
                    <a:pt x="135" y="438"/>
                  </a:cubicBezTo>
                  <a:cubicBezTo>
                    <a:pt x="135" y="452"/>
                    <a:pt x="120" y="466"/>
                    <a:pt x="106" y="466"/>
                  </a:cubicBezTo>
                  <a:cubicBezTo>
                    <a:pt x="29" y="466"/>
                    <a:pt x="29" y="466"/>
                    <a:pt x="29" y="466"/>
                  </a:cubicBezTo>
                  <a:cubicBezTo>
                    <a:pt x="15" y="466"/>
                    <a:pt x="0" y="452"/>
                    <a:pt x="0" y="438"/>
                  </a:cubicBezTo>
                  <a:cubicBezTo>
                    <a:pt x="0" y="417"/>
                    <a:pt x="15" y="410"/>
                    <a:pt x="29" y="4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19" name="组合 18"/>
          <p:cNvGrpSpPr/>
          <p:nvPr userDrawn="1"/>
        </p:nvGrpSpPr>
        <p:grpSpPr>
          <a:xfrm>
            <a:off x="4140107" y="2468893"/>
            <a:ext cx="577111" cy="577112"/>
            <a:chOff x="3491880" y="1274820"/>
            <a:chExt cx="432833" cy="432834"/>
          </a:xfrm>
        </p:grpSpPr>
        <p:sp>
          <p:nvSpPr>
            <p:cNvPr id="20" name="椭圆 16"/>
            <p:cNvSpPr>
              <a:spLocks noChangeArrowheads="1"/>
            </p:cNvSpPr>
            <p:nvPr/>
          </p:nvSpPr>
          <p:spPr bwMode="auto">
            <a:xfrm>
              <a:off x="3491880" y="1274820"/>
              <a:ext cx="432833" cy="43283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21" name="Freeform 75"/>
            <p:cNvSpPr>
              <a:spLocks noChangeArrowheads="1"/>
            </p:cNvSpPr>
            <p:nvPr/>
          </p:nvSpPr>
          <p:spPr bwMode="auto">
            <a:xfrm>
              <a:off x="3583864" y="1385879"/>
              <a:ext cx="248863" cy="210716"/>
            </a:xfrm>
            <a:custGeom>
              <a:avLst/>
              <a:gdLst>
                <a:gd name="T0" fmla="*/ 74657633 w 602"/>
                <a:gd name="T1" fmla="*/ 66362244 h 510"/>
                <a:gd name="T2" fmla="*/ 74657633 w 602"/>
                <a:gd name="T3" fmla="*/ 66362244 h 510"/>
                <a:gd name="T4" fmla="*/ 3654665 w 602"/>
                <a:gd name="T5" fmla="*/ 66362244 h 510"/>
                <a:gd name="T6" fmla="*/ 0 w 602"/>
                <a:gd name="T7" fmla="*/ 62711741 h 510"/>
                <a:gd name="T8" fmla="*/ 0 w 602"/>
                <a:gd name="T9" fmla="*/ 3650503 h 510"/>
                <a:gd name="T10" fmla="*/ 3654665 w 602"/>
                <a:gd name="T11" fmla="*/ 0 h 510"/>
                <a:gd name="T12" fmla="*/ 7308970 w 602"/>
                <a:gd name="T13" fmla="*/ 3650503 h 510"/>
                <a:gd name="T14" fmla="*/ 7308970 w 602"/>
                <a:gd name="T15" fmla="*/ 50717076 h 510"/>
                <a:gd name="T16" fmla="*/ 7308970 w 602"/>
                <a:gd name="T17" fmla="*/ 50717076 h 510"/>
                <a:gd name="T18" fmla="*/ 7308970 w 602"/>
                <a:gd name="T19" fmla="*/ 58930528 h 510"/>
                <a:gd name="T20" fmla="*/ 74657633 w 602"/>
                <a:gd name="T21" fmla="*/ 58930528 h 510"/>
                <a:gd name="T22" fmla="*/ 78442719 w 602"/>
                <a:gd name="T23" fmla="*/ 62711741 h 510"/>
                <a:gd name="T24" fmla="*/ 74657633 w 602"/>
                <a:gd name="T25" fmla="*/ 66362244 h 510"/>
                <a:gd name="T26" fmla="*/ 66434636 w 602"/>
                <a:gd name="T27" fmla="*/ 55280025 h 510"/>
                <a:gd name="T28" fmla="*/ 66434636 w 602"/>
                <a:gd name="T29" fmla="*/ 55280025 h 510"/>
                <a:gd name="T30" fmla="*/ 58995246 w 602"/>
                <a:gd name="T31" fmla="*/ 55280025 h 510"/>
                <a:gd name="T32" fmla="*/ 55340580 w 602"/>
                <a:gd name="T33" fmla="*/ 51629522 h 510"/>
                <a:gd name="T34" fmla="*/ 55340580 w 602"/>
                <a:gd name="T35" fmla="*/ 25814941 h 510"/>
                <a:gd name="T36" fmla="*/ 58995246 w 602"/>
                <a:gd name="T37" fmla="*/ 22164077 h 510"/>
                <a:gd name="T38" fmla="*/ 66434636 w 602"/>
                <a:gd name="T39" fmla="*/ 22164077 h 510"/>
                <a:gd name="T40" fmla="*/ 70089301 w 602"/>
                <a:gd name="T41" fmla="*/ 25814941 h 510"/>
                <a:gd name="T42" fmla="*/ 70089301 w 602"/>
                <a:gd name="T43" fmla="*/ 51629522 h 510"/>
                <a:gd name="T44" fmla="*/ 66434636 w 602"/>
                <a:gd name="T45" fmla="*/ 55280025 h 510"/>
                <a:gd name="T46" fmla="*/ 45159830 w 602"/>
                <a:gd name="T47" fmla="*/ 55280025 h 510"/>
                <a:gd name="T48" fmla="*/ 45159830 w 602"/>
                <a:gd name="T49" fmla="*/ 55280025 h 510"/>
                <a:gd name="T50" fmla="*/ 37850860 w 602"/>
                <a:gd name="T51" fmla="*/ 55280025 h 510"/>
                <a:gd name="T52" fmla="*/ 34065774 w 602"/>
                <a:gd name="T53" fmla="*/ 51629522 h 510"/>
                <a:gd name="T54" fmla="*/ 34065774 w 602"/>
                <a:gd name="T55" fmla="*/ 11082219 h 510"/>
                <a:gd name="T56" fmla="*/ 37850860 w 602"/>
                <a:gd name="T57" fmla="*/ 7431355 h 510"/>
                <a:gd name="T58" fmla="*/ 45159830 w 602"/>
                <a:gd name="T59" fmla="*/ 7431355 h 510"/>
                <a:gd name="T60" fmla="*/ 48814495 w 602"/>
                <a:gd name="T61" fmla="*/ 11082219 h 510"/>
                <a:gd name="T62" fmla="*/ 48814495 w 602"/>
                <a:gd name="T63" fmla="*/ 51629522 h 510"/>
                <a:gd name="T64" fmla="*/ 45159830 w 602"/>
                <a:gd name="T65" fmla="*/ 55280025 h 510"/>
                <a:gd name="T66" fmla="*/ 24929472 w 602"/>
                <a:gd name="T67" fmla="*/ 55280025 h 510"/>
                <a:gd name="T68" fmla="*/ 24929472 w 602"/>
                <a:gd name="T69" fmla="*/ 55280025 h 510"/>
                <a:gd name="T70" fmla="*/ 17489720 w 602"/>
                <a:gd name="T71" fmla="*/ 55280025 h 510"/>
                <a:gd name="T72" fmla="*/ 13835055 w 602"/>
                <a:gd name="T73" fmla="*/ 51629522 h 510"/>
                <a:gd name="T74" fmla="*/ 13835055 w 602"/>
                <a:gd name="T75" fmla="*/ 44198166 h 510"/>
                <a:gd name="T76" fmla="*/ 17489720 w 602"/>
                <a:gd name="T77" fmla="*/ 40547302 h 510"/>
                <a:gd name="T78" fmla="*/ 24929472 w 602"/>
                <a:gd name="T79" fmla="*/ 40547302 h 510"/>
                <a:gd name="T80" fmla="*/ 28583776 w 602"/>
                <a:gd name="T81" fmla="*/ 44198166 h 510"/>
                <a:gd name="T82" fmla="*/ 28583776 w 602"/>
                <a:gd name="T83" fmla="*/ 51629522 h 510"/>
                <a:gd name="T84" fmla="*/ 24929472 w 602"/>
                <a:gd name="T85" fmla="*/ 55280025 h 510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602" h="510">
                  <a:moveTo>
                    <a:pt x="572" y="509"/>
                  </a:moveTo>
                  <a:lnTo>
                    <a:pt x="572" y="509"/>
                  </a:lnTo>
                  <a:cubicBezTo>
                    <a:pt x="28" y="509"/>
                    <a:pt x="28" y="509"/>
                    <a:pt x="28" y="509"/>
                  </a:cubicBezTo>
                  <a:cubicBezTo>
                    <a:pt x="14" y="509"/>
                    <a:pt x="0" y="502"/>
                    <a:pt x="0" y="48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14"/>
                    <a:pt x="14" y="0"/>
                    <a:pt x="28" y="0"/>
                  </a:cubicBezTo>
                  <a:cubicBezTo>
                    <a:pt x="42" y="0"/>
                    <a:pt x="56" y="14"/>
                    <a:pt x="56" y="28"/>
                  </a:cubicBezTo>
                  <a:cubicBezTo>
                    <a:pt x="56" y="389"/>
                    <a:pt x="56" y="389"/>
                    <a:pt x="56" y="389"/>
                  </a:cubicBezTo>
                  <a:cubicBezTo>
                    <a:pt x="56" y="452"/>
                    <a:pt x="56" y="452"/>
                    <a:pt x="56" y="452"/>
                  </a:cubicBezTo>
                  <a:cubicBezTo>
                    <a:pt x="572" y="452"/>
                    <a:pt x="572" y="452"/>
                    <a:pt x="572" y="452"/>
                  </a:cubicBezTo>
                  <a:cubicBezTo>
                    <a:pt x="594" y="452"/>
                    <a:pt x="601" y="467"/>
                    <a:pt x="601" y="481"/>
                  </a:cubicBezTo>
                  <a:cubicBezTo>
                    <a:pt x="601" y="502"/>
                    <a:pt x="594" y="509"/>
                    <a:pt x="572" y="509"/>
                  </a:cubicBezTo>
                  <a:close/>
                  <a:moveTo>
                    <a:pt x="509" y="424"/>
                  </a:moveTo>
                  <a:lnTo>
                    <a:pt x="509" y="424"/>
                  </a:lnTo>
                  <a:cubicBezTo>
                    <a:pt x="452" y="424"/>
                    <a:pt x="452" y="424"/>
                    <a:pt x="452" y="424"/>
                  </a:cubicBezTo>
                  <a:cubicBezTo>
                    <a:pt x="438" y="424"/>
                    <a:pt x="424" y="417"/>
                    <a:pt x="424" y="396"/>
                  </a:cubicBezTo>
                  <a:cubicBezTo>
                    <a:pt x="424" y="198"/>
                    <a:pt x="424" y="198"/>
                    <a:pt x="424" y="198"/>
                  </a:cubicBezTo>
                  <a:cubicBezTo>
                    <a:pt x="424" y="184"/>
                    <a:pt x="438" y="170"/>
                    <a:pt x="452" y="170"/>
                  </a:cubicBezTo>
                  <a:cubicBezTo>
                    <a:pt x="509" y="170"/>
                    <a:pt x="509" y="170"/>
                    <a:pt x="509" y="170"/>
                  </a:cubicBezTo>
                  <a:cubicBezTo>
                    <a:pt x="523" y="170"/>
                    <a:pt x="537" y="184"/>
                    <a:pt x="537" y="198"/>
                  </a:cubicBezTo>
                  <a:cubicBezTo>
                    <a:pt x="537" y="396"/>
                    <a:pt x="537" y="396"/>
                    <a:pt x="537" y="396"/>
                  </a:cubicBezTo>
                  <a:cubicBezTo>
                    <a:pt x="537" y="417"/>
                    <a:pt x="523" y="424"/>
                    <a:pt x="509" y="424"/>
                  </a:cubicBezTo>
                  <a:close/>
                  <a:moveTo>
                    <a:pt x="346" y="424"/>
                  </a:moveTo>
                  <a:lnTo>
                    <a:pt x="346" y="424"/>
                  </a:lnTo>
                  <a:cubicBezTo>
                    <a:pt x="290" y="424"/>
                    <a:pt x="290" y="424"/>
                    <a:pt x="290" y="424"/>
                  </a:cubicBezTo>
                  <a:cubicBezTo>
                    <a:pt x="276" y="424"/>
                    <a:pt x="261" y="417"/>
                    <a:pt x="261" y="396"/>
                  </a:cubicBezTo>
                  <a:cubicBezTo>
                    <a:pt x="261" y="85"/>
                    <a:pt x="261" y="85"/>
                    <a:pt x="261" y="85"/>
                  </a:cubicBezTo>
                  <a:cubicBezTo>
                    <a:pt x="261" y="71"/>
                    <a:pt x="276" y="57"/>
                    <a:pt x="290" y="57"/>
                  </a:cubicBezTo>
                  <a:cubicBezTo>
                    <a:pt x="346" y="57"/>
                    <a:pt x="346" y="57"/>
                    <a:pt x="346" y="57"/>
                  </a:cubicBezTo>
                  <a:cubicBezTo>
                    <a:pt x="367" y="57"/>
                    <a:pt x="374" y="71"/>
                    <a:pt x="374" y="85"/>
                  </a:cubicBezTo>
                  <a:cubicBezTo>
                    <a:pt x="374" y="396"/>
                    <a:pt x="374" y="396"/>
                    <a:pt x="374" y="396"/>
                  </a:cubicBezTo>
                  <a:cubicBezTo>
                    <a:pt x="374" y="417"/>
                    <a:pt x="367" y="424"/>
                    <a:pt x="346" y="424"/>
                  </a:cubicBezTo>
                  <a:close/>
                  <a:moveTo>
                    <a:pt x="191" y="424"/>
                  </a:moveTo>
                  <a:lnTo>
                    <a:pt x="191" y="424"/>
                  </a:lnTo>
                  <a:cubicBezTo>
                    <a:pt x="134" y="424"/>
                    <a:pt x="134" y="424"/>
                    <a:pt x="134" y="424"/>
                  </a:cubicBezTo>
                  <a:cubicBezTo>
                    <a:pt x="113" y="424"/>
                    <a:pt x="106" y="417"/>
                    <a:pt x="106" y="396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106" y="325"/>
                    <a:pt x="113" y="311"/>
                    <a:pt x="134" y="311"/>
                  </a:cubicBezTo>
                  <a:cubicBezTo>
                    <a:pt x="191" y="311"/>
                    <a:pt x="191" y="311"/>
                    <a:pt x="191" y="311"/>
                  </a:cubicBezTo>
                  <a:cubicBezTo>
                    <a:pt x="205" y="311"/>
                    <a:pt x="219" y="325"/>
                    <a:pt x="219" y="339"/>
                  </a:cubicBezTo>
                  <a:cubicBezTo>
                    <a:pt x="219" y="396"/>
                    <a:pt x="219" y="396"/>
                    <a:pt x="219" y="396"/>
                  </a:cubicBezTo>
                  <a:cubicBezTo>
                    <a:pt x="219" y="417"/>
                    <a:pt x="205" y="424"/>
                    <a:pt x="191" y="4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22" name="组合 21"/>
          <p:cNvGrpSpPr/>
          <p:nvPr userDrawn="1"/>
        </p:nvGrpSpPr>
        <p:grpSpPr>
          <a:xfrm>
            <a:off x="5004203" y="2468893"/>
            <a:ext cx="577111" cy="577112"/>
            <a:chOff x="4139952" y="1274820"/>
            <a:chExt cx="432833" cy="432834"/>
          </a:xfrm>
        </p:grpSpPr>
        <p:sp>
          <p:nvSpPr>
            <p:cNvPr id="23" name="椭圆 16"/>
            <p:cNvSpPr>
              <a:spLocks noChangeArrowheads="1"/>
            </p:cNvSpPr>
            <p:nvPr/>
          </p:nvSpPr>
          <p:spPr bwMode="auto">
            <a:xfrm>
              <a:off x="4139952" y="1274820"/>
              <a:ext cx="432833" cy="432834"/>
            </a:xfrm>
            <a:prstGeom prst="ellipse">
              <a:avLst/>
            </a:prstGeom>
            <a:solidFill>
              <a:srgbClr val="3992DB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24" name="Freeform 84"/>
            <p:cNvSpPr>
              <a:spLocks noChangeArrowheads="1"/>
            </p:cNvSpPr>
            <p:nvPr/>
          </p:nvSpPr>
          <p:spPr bwMode="auto">
            <a:xfrm>
              <a:off x="4241546" y="1366806"/>
              <a:ext cx="248863" cy="248863"/>
            </a:xfrm>
            <a:custGeom>
              <a:avLst/>
              <a:gdLst>
                <a:gd name="T0" fmla="*/ 43332858 w 602"/>
                <a:gd name="T1" fmla="*/ 34979440 h 602"/>
                <a:gd name="T2" fmla="*/ 43332858 w 602"/>
                <a:gd name="T3" fmla="*/ 34979440 h 602"/>
                <a:gd name="T4" fmla="*/ 43332858 w 602"/>
                <a:gd name="T5" fmla="*/ 0 h 602"/>
                <a:gd name="T6" fmla="*/ 78442719 w 602"/>
                <a:gd name="T7" fmla="*/ 34979440 h 602"/>
                <a:gd name="T8" fmla="*/ 43332858 w 602"/>
                <a:gd name="T9" fmla="*/ 34979440 h 602"/>
                <a:gd name="T10" fmla="*/ 36023527 w 602"/>
                <a:gd name="T11" fmla="*/ 78442719 h 602"/>
                <a:gd name="T12" fmla="*/ 36023527 w 602"/>
                <a:gd name="T13" fmla="*/ 78442719 h 602"/>
                <a:gd name="T14" fmla="*/ 0 w 602"/>
                <a:gd name="T15" fmla="*/ 42419192 h 602"/>
                <a:gd name="T16" fmla="*/ 36023527 w 602"/>
                <a:gd name="T17" fmla="*/ 7308970 h 602"/>
                <a:gd name="T18" fmla="*/ 36023527 w 602"/>
                <a:gd name="T19" fmla="*/ 42419192 h 602"/>
                <a:gd name="T20" fmla="*/ 71002968 w 602"/>
                <a:gd name="T21" fmla="*/ 42419192 h 602"/>
                <a:gd name="T22" fmla="*/ 36023527 w 602"/>
                <a:gd name="T23" fmla="*/ 78442719 h 60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0" t="0" r="r" b="b"/>
              <a:pathLst>
                <a:path w="602" h="602">
                  <a:moveTo>
                    <a:pt x="332" y="268"/>
                  </a:moveTo>
                  <a:lnTo>
                    <a:pt x="332" y="268"/>
                  </a:lnTo>
                  <a:cubicBezTo>
                    <a:pt x="332" y="0"/>
                    <a:pt x="332" y="0"/>
                    <a:pt x="332" y="0"/>
                  </a:cubicBezTo>
                  <a:cubicBezTo>
                    <a:pt x="481" y="0"/>
                    <a:pt x="601" y="120"/>
                    <a:pt x="601" y="268"/>
                  </a:cubicBezTo>
                  <a:lnTo>
                    <a:pt x="332" y="268"/>
                  </a:lnTo>
                  <a:close/>
                  <a:moveTo>
                    <a:pt x="276" y="601"/>
                  </a:moveTo>
                  <a:lnTo>
                    <a:pt x="276" y="601"/>
                  </a:lnTo>
                  <a:cubicBezTo>
                    <a:pt x="120" y="601"/>
                    <a:pt x="0" y="480"/>
                    <a:pt x="0" y="325"/>
                  </a:cubicBezTo>
                  <a:cubicBezTo>
                    <a:pt x="0" y="176"/>
                    <a:pt x="120" y="56"/>
                    <a:pt x="276" y="56"/>
                  </a:cubicBezTo>
                  <a:cubicBezTo>
                    <a:pt x="276" y="325"/>
                    <a:pt x="276" y="325"/>
                    <a:pt x="276" y="325"/>
                  </a:cubicBezTo>
                  <a:cubicBezTo>
                    <a:pt x="544" y="325"/>
                    <a:pt x="544" y="325"/>
                    <a:pt x="544" y="325"/>
                  </a:cubicBezTo>
                  <a:cubicBezTo>
                    <a:pt x="544" y="480"/>
                    <a:pt x="424" y="601"/>
                    <a:pt x="276" y="60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sp>
        <p:nvSpPr>
          <p:cNvPr id="25" name="文本框 24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8725278" y="6450175"/>
            <a:ext cx="77513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www.1ppt.com/moban/     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行业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www.1ppt.com/hangye/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节日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www.1ppt.com/jieri/   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素材下载：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www.1ppt.com/sucai/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背景图片：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www.1ppt.com/beijing/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图表下载：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www.1ppt.com/tubiao/    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优秀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www.1ppt.com/xiazai/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 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www.1ppt.com/powerpoint/    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Word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 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www.1ppt.com/word/              Excel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www.1ppt.com/excel/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资料下载：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www.1ppt.com/ziliao/        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课件下载：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www.1ppt.com/kejian/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范文下载：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www.1ppt.com/fanwen/             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试卷下载：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www.1ppt.com/shiti/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教案下载：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www.1ppt.com/jiaoan/      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字体下载：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www.1ppt.com/ziti/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endParaRPr kumimoji="0" lang="zh-CN" altLang="en-US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3A9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0" Type="http://schemas.openxmlformats.org/officeDocument/2006/relationships/slideLayout" Target="../slideLayouts/slideLayout1.xml"/><Relationship Id="rId2" Type="http://schemas.openxmlformats.org/officeDocument/2006/relationships/tags" Target="../tags/tag12.xml"/><Relationship Id="rId19" Type="http://schemas.openxmlformats.org/officeDocument/2006/relationships/tags" Target="../tags/tag29.xml"/><Relationship Id="rId18" Type="http://schemas.openxmlformats.org/officeDocument/2006/relationships/tags" Target="../tags/tag28.xml"/><Relationship Id="rId17" Type="http://schemas.openxmlformats.org/officeDocument/2006/relationships/tags" Target="../tags/tag27.xml"/><Relationship Id="rId16" Type="http://schemas.openxmlformats.org/officeDocument/2006/relationships/tags" Target="../tags/tag26.xml"/><Relationship Id="rId15" Type="http://schemas.openxmlformats.org/officeDocument/2006/relationships/tags" Target="../tags/tag25.xml"/><Relationship Id="rId14" Type="http://schemas.openxmlformats.org/officeDocument/2006/relationships/tags" Target="../tags/tag24.xml"/><Relationship Id="rId13" Type="http://schemas.openxmlformats.org/officeDocument/2006/relationships/tags" Target="../tags/tag23.xml"/><Relationship Id="rId12" Type="http://schemas.openxmlformats.org/officeDocument/2006/relationships/tags" Target="../tags/tag22.xml"/><Relationship Id="rId11" Type="http://schemas.openxmlformats.org/officeDocument/2006/relationships/tags" Target="../tags/tag21.xml"/><Relationship Id="rId10" Type="http://schemas.openxmlformats.org/officeDocument/2006/relationships/tags" Target="../tags/tag20.xml"/><Relationship Id="rId1" Type="http://schemas.openxmlformats.org/officeDocument/2006/relationships/tags" Target="../tags/tag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问卷调查法在翻译研究中的应用</a:t>
            </a:r>
            <a:endParaRPr sz="36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302000"/>
            <a:ext cx="10332720" cy="479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Questionnaire Survey in Translation Studies</a:t>
            </a:r>
            <a:endParaRPr sz="24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汇报人：陈冠臻    学号：20261210050</a:t>
            </a:r>
            <a:endParaRPr sz="14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2026 年 10 月 12 日</a:t>
            </a:r>
            <a:endParaRPr sz="14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" y="1691640"/>
            <a:ext cx="3383280" cy="3383280"/>
          </a:xfrm>
          <a:prstGeom prst="ellipse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06040"/>
            <a:ext cx="33832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7C86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目录</a:t>
            </a:r>
            <a:endParaRPr sz="2700" b="1" i="0">
              <a:solidFill>
                <a:srgbClr val="0E7C86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CONTENTS</a:t>
            </a:r>
            <a:endParaRPr sz="13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Oval 3"/>
          <p:cNvSpPr/>
          <p:nvPr>
            <p:custDataLst>
              <p:tags r:id="rId1"/>
            </p:custDataLst>
          </p:nvPr>
        </p:nvSpPr>
        <p:spPr>
          <a:xfrm>
            <a:off x="5212080" y="1481328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</a:t>
            </a:r>
            <a:endParaRPr sz="1500" b="1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5870448" y="1481328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研究背景与判断标准</a:t>
            </a:r>
            <a:endParaRPr sz="17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Oval 5"/>
          <p:cNvSpPr/>
          <p:nvPr>
            <p:custDataLst>
              <p:tags r:id="rId3"/>
            </p:custDataLst>
          </p:nvPr>
        </p:nvSpPr>
        <p:spPr>
          <a:xfrm>
            <a:off x="5212080" y="2441448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</a:t>
            </a:r>
            <a:endParaRPr sz="1500" b="1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5870448" y="2441448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正例：口译笔记熟练度量表的开发</a:t>
            </a:r>
            <a:endParaRPr sz="17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Oval 7"/>
          <p:cNvSpPr/>
          <p:nvPr>
            <p:custDataLst>
              <p:tags r:id="rId5"/>
            </p:custDataLst>
          </p:nvPr>
        </p:nvSpPr>
        <p:spPr>
          <a:xfrm>
            <a:off x="5212080" y="3401568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</a:t>
            </a:r>
            <a:endParaRPr sz="1500" b="1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5870448" y="3401568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反例：机器翻译译后编辑（MTPE）态度问卷</a:t>
            </a:r>
            <a:endParaRPr sz="17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Oval 9"/>
          <p:cNvSpPr/>
          <p:nvPr>
            <p:custDataLst>
              <p:tags r:id="rId7"/>
            </p:custDataLst>
          </p:nvPr>
        </p:nvSpPr>
        <p:spPr>
          <a:xfrm>
            <a:off x="5212080" y="4361688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4</a:t>
            </a:r>
            <a:endParaRPr sz="1500" b="1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5870448" y="4361688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两篇论文的对照</a:t>
            </a:r>
            <a:endParaRPr sz="17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2" name="Oval 11"/>
          <p:cNvSpPr/>
          <p:nvPr>
            <p:custDataLst>
              <p:tags r:id="rId9"/>
            </p:custDataLst>
          </p:nvPr>
        </p:nvSpPr>
        <p:spPr>
          <a:xfrm>
            <a:off x="5212080" y="5321807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5</a:t>
            </a:r>
            <a:endParaRPr sz="1500" b="1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5870448" y="5321807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启示：问卷设计与施测的规范</a:t>
            </a:r>
            <a:endParaRPr sz="17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 / 32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24544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01</a:t>
            </a:r>
            <a:endParaRPr sz="9600" b="0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7645" y="3429000"/>
            <a:ext cx="5303520" cy="49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  <a:sym typeface="+mn-ea"/>
              </a:rPr>
              <a:t>研究背景与判断标准</a:t>
            </a:r>
            <a:endParaRPr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问卷调查法是干什么的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2192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问卷调查法，就是拿一份标准化的问卷，去系统地收集很多人的答案，属于</a:t>
            </a:r>
            <a:r>
              <a:rPr sz="2000" b="1" i="0">
                <a:solidFill>
                  <a:srgbClr val="FF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定量研究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在翻译研究里，它常用来问：读者觉得译文好不好、译者平时怎么做、教学有没有效果、行业现状怎么样。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它的好处是能大规模收数据、好比较；风险是问卷设计得随意，结论就不可靠。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所以我们今天真正要解决的，是一个问题：一份好问卷，到底好在哪里，又容易在哪里翻车。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4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先弄懂三个词，后面全靠它们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构念（construct）：一个看不见、摸不着的抽象概念，比如「熟练度」「态度」「满意度」。它没法直接用尺子量，只能靠一份问卷去「测」。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信度（reliability）：测得稳不稳。同一把尺子量两次，结果都一样，就说明它稳。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效度（validity）：测得准不准。这把尺子量的，是不是你真正想量的那个东西。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打个比方：一台体重秤每次读数都一样，是「信度高」；但它要是不小心把身高也算进去，就量不准体重，是「效度低」。信度和效度，是两个不同的东西。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5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判断标准：一条证据链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272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判断一份问卷研究靠不靠谱，就看它有没有把下面四步都走通：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第一步 研究问题：你到底想问什么，先写成一句能检验的话。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第二步 构念与题项：把你那个看不见的概念，变成一道道别人能答、且答得准的题。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第三步 抽样与施测：问卷发给谁、怎么发、收回来多少，都要交代清楚。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第四步 数据分析与结论：数据算出来以后，能得出什么结论，只能说到哪一步。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四步都走通，结论才站得住；断在哪一步，结论就悬空。下面就用这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个标准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，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分析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两篇论文。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6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24544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02</a:t>
            </a:r>
            <a:endParaRPr sz="9600" b="0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063240"/>
            <a:ext cx="5303520" cy="49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正例：口译笔记熟练度量表</a:t>
            </a:r>
            <a:r>
              <a:rPr lang="zh-CN" sz="28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制作</a:t>
            </a:r>
            <a:endParaRPr lang="zh-CN"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7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正例论文与它想回答的问题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zheng_p01_tit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783080"/>
            <a:ext cx="4206240" cy="353858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25512" y="1764792"/>
            <a:ext cx="4242816" cy="3575158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367382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论文首页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720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文献：周金华、董燕萍（2019），《外语教学与研究》51(6)：925-937。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它想回答的问题：交替传译里的「笔记熟练度」看不见、摸不着，既不能看笔记成品打分，也很难由别人代评。那么，它能不能用一份自评量表测出来？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作者的思路分三步：先给「笔记熟练度」下定义，再编量表，最后用信度和效度检验这份量表好不好用。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整篇论文，就是围绕「熟练度能不能测」这一个问题，一步步给出证据。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8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3886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研究</a:t>
            </a: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流程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2377440"/>
            <a:ext cx="1942185" cy="2194560"/>
          </a:xfrm>
          <a:prstGeom prst="roundRect">
            <a:avLst>
              <a:gd name="adj" fmla="val 12000"/>
            </a:avLst>
          </a:prstGeom>
          <a:solidFill>
            <a:srgbClr val="E7F1F1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2834640"/>
            <a:ext cx="1759305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界定构念</a:t>
            </a:r>
            <a:endParaRPr sz="15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先想清楚要测什么</a:t>
            </a:r>
            <a:endParaRPr sz="11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Right Arrow 4"/>
          <p:cNvSpPr/>
          <p:nvPr/>
        </p:nvSpPr>
        <p:spPr>
          <a:xfrm>
            <a:off x="2627985" y="3355848"/>
            <a:ext cx="237744" cy="237744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93161" y="2377440"/>
            <a:ext cx="1942185" cy="2194560"/>
          </a:xfrm>
          <a:prstGeom prst="roundRect">
            <a:avLst>
              <a:gd name="adj" fmla="val 12000"/>
            </a:avLst>
          </a:prstGeom>
          <a:solidFill>
            <a:srgbClr val="E7F1F1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84601" y="3296603"/>
            <a:ext cx="1759305" cy="4476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编制题项</a:t>
            </a:r>
            <a:endParaRPr sz="15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4862779" y="3355848"/>
            <a:ext cx="237744" cy="237744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7955" y="2377440"/>
            <a:ext cx="1942185" cy="2194560"/>
          </a:xfrm>
          <a:prstGeom prst="roundRect">
            <a:avLst>
              <a:gd name="adj" fmla="val 12000"/>
            </a:avLst>
          </a:prstGeom>
          <a:solidFill>
            <a:srgbClr val="E7F1F1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9395" y="2834640"/>
            <a:ext cx="1759305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正式施测</a:t>
            </a:r>
            <a:endParaRPr sz="15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144 名学生</a:t>
            </a:r>
            <a:endParaRPr sz="11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7097572" y="3355848"/>
            <a:ext cx="237744" cy="237744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62748" y="2377440"/>
            <a:ext cx="1942185" cy="2194560"/>
          </a:xfrm>
          <a:prstGeom prst="roundRect">
            <a:avLst>
              <a:gd name="adj" fmla="val 12000"/>
            </a:avLst>
          </a:prstGeom>
          <a:solidFill>
            <a:srgbClr val="E7F1F1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4188" y="3296603"/>
            <a:ext cx="1759305" cy="4476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信度检验</a:t>
            </a:r>
            <a:endParaRPr sz="15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9332366" y="3355848"/>
            <a:ext cx="237744" cy="237744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97542" y="2377440"/>
            <a:ext cx="1942185" cy="2194560"/>
          </a:xfrm>
          <a:prstGeom prst="roundRect">
            <a:avLst>
              <a:gd name="adj" fmla="val 12000"/>
            </a:avLst>
          </a:prstGeom>
          <a:solidFill>
            <a:srgbClr val="E7F1F1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88982" y="3296603"/>
            <a:ext cx="1759305" cy="4476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效度验证</a:t>
            </a:r>
            <a:endParaRPr sz="15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 / 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9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第一步：先想清楚「到底要测什么」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zheng_p06_itemtab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9461" y="1691640"/>
            <a:ext cx="3990578" cy="26667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41173" y="1673352"/>
            <a:ext cx="4027154" cy="270335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59461" y="4404140"/>
            <a:ext cx="399057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四个维度（表 1）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6" name="Picture 5" descr="zheng_p04_constr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461" y="4632740"/>
            <a:ext cx="3990578" cy="117369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41173" y="4614452"/>
            <a:ext cx="4027154" cy="1210275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59461" y="5852159"/>
            <a:ext cx="399057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构念来源：日志 + 访谈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6936501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「笔记熟练度」是个抽象概念，作者先把它拆成两阶段：记笔记、读笔记；再细分成四个维度：听记协调、系统性、时效性、使用。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这四个维度不是拍脑袋想的——是分析了 72 份学员日志、访谈了 4 位学生译员和 6 位口译教师，归纳出来的。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逻辑：先把「要测什么」定义清楚，后面写题才有依据。很多研究翻车，就是概念没想清就急着出题。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10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第二步：题是从真实材料里来的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zheng_p05_itemwr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783080"/>
            <a:ext cx="4206240" cy="255569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25512" y="1764792"/>
            <a:ext cx="4242816" cy="259226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438449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题项编写：译员表达 + 评审 + 74 题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720840" cy="25285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题目不是凭空编的，是借助前面的日志和访谈来写，题干尽量用译员自己的话，避免学术腔。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写完还请 5 名学员、3 名教师评审，删掉说不清、重复的题。初始题库 74 题，3 轮评审、历时半年，压到 28 题。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逻辑：题目的来源、生成、评审，每一步都有交代，这就是「构念 → 题项」走扎实的样子。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11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第三步：先小规模试一下，再大规模用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zheng_p05_pilo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783080"/>
            <a:ext cx="4206240" cy="169451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25512" y="1764792"/>
            <a:ext cx="4242816" cy="1731089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3523313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评审 28 题 · 试测 54 人 · 删 7 留 21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720840" cy="3856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专家评审后剩 28 题，先找 54 名学生试测，不急着发给所有人。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两种删题方法：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① 极端组比较——看高分的人和低分的人，某道题答得是不是明显不同，区分不开的题删掉；② 同质性检验——看每道题和总分是不是一路，不一路的删掉。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结果删掉 7 题、留 21 题。作者还把量表改名叫「自我描述量表」，让人更愿意如实作答。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题先经得起小范围检验，才敢大规模发。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12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第四步：正式发给 144 人，看信度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zheng_p08_reliabilit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783080"/>
            <a:ext cx="4206240" cy="33993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25512" y="1764792"/>
            <a:ext cx="4242816" cy="3435904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228128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总量表 Cronbach's α = .901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720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正式施测：144 名有近一学年笔记训练的学生。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信度 α = .901：α 是「题目之间一不一致」的指标，取值 0 到 1，越大越稳；≥ .7 算可用，≥ .9 是优秀。.901 说明这 21 题高度一致。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逻辑：先证明「测得稳」，这是后面一切结论的前提——量都量不稳，后面的效度就无从谈起。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13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第五步：证明「测得准」（上）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zheng_p08_cvi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691640"/>
            <a:ext cx="5257800" cy="156312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73952" y="1673352"/>
            <a:ext cx="5294376" cy="1599705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3300489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内容效度 CVI = 1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6" name="Picture 5" descr="zheng_p09_e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529089"/>
            <a:ext cx="5257800" cy="15022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73952" y="3510801"/>
            <a:ext cx="5294376" cy="1538804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5077038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因素分析 60.49%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669279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光稳还不够，还要准——题是不是真在测「笔记熟练度」，而不是测成了别的东西。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内容效度：请 8 名专家看题目内容对不对、和维度对不对得上，结果 CVI = 1（满分），说明题目内容上没问题。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结构效度：做因素分析，让数据自己「分组」，结果正好分成预设的 4 组，解释 60.49% 的变异——数据自己长出了作者预设的结构。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14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第五步：证明「测得准」（下）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zheng_p10_criter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783080"/>
            <a:ext cx="4206240" cy="353819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25512" y="1764792"/>
            <a:ext cx="4242816" cy="357476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36699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效标系数 .473 / .539 / .556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720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效标关联效度：拿量表分数，和一个已知的「外部标准」去比，看对不对得上。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结果：量表分数和练习量（r=.473）、学习动机（r=.539）、口译绩效（r=.556）都显著正相关。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含义：练得多、动机强、口译好的学生，笔记熟练度分数也高，方向完全合理。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逻辑：信度 + 三种效度都过关，才能说「这份量表真的测到了笔记熟练度」。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15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正例小结：一条走通的证据链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这篇论文的完整逻辑，就是围绕「熟练度能不能测」这一个问题，一步步给出证据：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问题 → 答案的对应：研究问题「熟练度能不能用自评量表测出来」，最终结论「能——信度 α=.901，内容、结构、效标三种效度都过关」。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每一步都为下一步打基础：定义构念（日志＋访谈）→ 编题（74→28→21）→ 试测 → 施测（144 人）→ 检验信度和效度。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因为它每一步都交代了「怎么做的、为什么这么做、得到什么」，所以最后的结论站得住。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16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24544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03</a:t>
            </a:r>
            <a:endParaRPr sz="9600" b="0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21710" y="2966720"/>
            <a:ext cx="5303520" cy="1484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反例：</a:t>
            </a:r>
            <a:r>
              <a:rPr sz="2800" b="1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  <a:sym typeface="+mn-ea"/>
              </a:rPr>
              <a:t>机器翻译译后编辑（MTPE）态度问卷</a:t>
            </a:r>
            <a:endParaRPr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17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反例论文与它用的「策略」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fan_p01_tit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3911" y="3931920"/>
            <a:ext cx="5744146" cy="1737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05623" y="3913632"/>
            <a:ext cx="5780722" cy="177393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23911" y="5714999"/>
            <a:ext cx="57441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论文首页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689734"/>
            <a:ext cx="10881360" cy="25927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文献：Yang, Z. &amp; Mustafa, H. R. (2022)，研究本科生对「机器翻译译后编辑」（MTPE）的态度。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它想回答三个问题：① 学生对 MTPE 的正面/负面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评价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是什么；② 这些</a:t>
            </a:r>
            <a:r>
              <a:rPr lang="zh-CN"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评价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和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计算机辅助翻译、笔译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实务这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两门课程的成绩有没有关系；③ </a:t>
            </a:r>
            <a:r>
              <a:rPr lang="en-US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MTPE 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使用中有什么障碍。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用的策略是：借一个经典理论 TAM 来设计问卷，用 6 道题 + 4 道开放题，找 127 名学生填，再做统计和定性分析。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18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环节一：借了 TAM，但题没跟上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fan_p03_ta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783080"/>
            <a:ext cx="4206240" cy="187971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25512" y="1764792"/>
            <a:ext cx="4242816" cy="1916287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3708511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理论框架 TAM（论文 p3）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720840" cy="29286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TAM 是「技术接受模型」，一句话解释：人愿不愿意用一项新技术，主要看两点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：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它对我有没有用（有用性）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，以及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它好不好上手（易用性）。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这篇论文就借了 TAM，说要用问卷测这两个概念。借框架本身没错。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但问题是：它出的题，并没有真正照着这两个概念来设计。往下看具体出了什么题。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19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环节一：6 道题是自编的，没验证过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fan_p04_desig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3222" y="1783080"/>
            <a:ext cx="2826817" cy="3657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904934" y="1764792"/>
            <a:ext cx="2863393" cy="369417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23222" y="5486400"/>
            <a:ext cx="282681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问卷 6 题 + 4 开放题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8100262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它一共出了 6 道题：3 道问「有用性」、3 道问「易用性」，再加 4 道开放题，让受试在 1 到 6 之间打分。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关键问题：这 6 道题是作者自己编的，但全文没说它们沿用自哪个现成量表，也没请专家评审，也没先试测。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换句话说，这 6 道题到底能不能代表「有用性」和「易用性」，从没人验证过——题目可能根本没测到点子上。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20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环节二：抽样和回收，都没交代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fan_p04_participan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783080"/>
            <a:ext cx="4206240" cy="197315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25512" y="1764792"/>
            <a:ext cx="4242816" cy="2009727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3801951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被试说明（论文 p4）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720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论文只说：西北一所高校翻译专业的 127 名学生参与了，大三 39 人、大四 88 人。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缺了什么：怎么抽的（随机抽，还是随便找）、发出多少份、收回多少份、有效多少份，全都没写。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后果：不知道多少人没回、多少人被剔除，也就没法判断这 127 人能不能代表全体学生——结论的「地基」不牢。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21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环节三：只报了信度，没报效度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fan_p06_alph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4876" y="3931920"/>
            <a:ext cx="7942217" cy="1737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106588" y="3913632"/>
            <a:ext cx="7978793" cy="177393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24876" y="5714999"/>
            <a:ext cx="794221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信度 α=.714 / .835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614804"/>
            <a:ext cx="10881360" cy="2192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坦率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地说：它报了信度——有用性 α=.714、易用性 α=.835，这一步它做了。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但它从头到尾没报效度：没有内容效度、没有因素分析。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也就是说，这 6 道题「测得稳不稳」知道了，「测得准不准」完全不知道——题目可能一直在稳定地测一个错误的东西。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回顾那个比喻：体重秤读数很稳定（信度高），但量的是不是体重（效度），没人证明。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22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环节四：拿一道题当一整个概念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fan_p05_cor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783080"/>
            <a:ext cx="4206240" cy="188339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25512" y="1764792"/>
            <a:ext cx="4242816" cy="1919967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3712191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单题相关分析（论文 p5）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7208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它做相关分析时，拿「Q6 这一道题」去和 CAT 课成绩算相关（r=.746），拿「Q2 这一道题」去和翻译实践成绩算相关（r=-.419）。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正确做法应该是：把测同一个概念的 3 道题，先合成一个平均分，再拿这个平均分去算。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拿单题去算，就像用「一次考试里的一道小题」代表「整门课的水平」——太不稳定，换个题结论可能就变了。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23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环节五：结论跨得太大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它从「127 名学生在一个时间点填的问卷、态度偏积极」，直接得出「应该把 MTPE 纳入本科教学」。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问题在于：一次横断面问卷（只在一个时间点测一次），最多只能说「这批学生现在比较接受」。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从「有关联」「态度积极」跳到「应该纳入教学」，中间缺了一大段证据——那是一个教学决策，需要更多支撑。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24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反例：证据链断在四个地方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Rounded Rectangle 2"/>
          <p:cNvSpPr/>
          <p:nvPr>
            <p:custDataLst>
              <p:tags r:id="rId1"/>
            </p:custDataLst>
          </p:nvPr>
        </p:nvSpPr>
        <p:spPr>
          <a:xfrm>
            <a:off x="658368" y="2286000"/>
            <a:ext cx="25146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>
            <p:custDataLst>
              <p:tags r:id="rId2"/>
            </p:custDataLst>
          </p:nvPr>
        </p:nvSpPr>
        <p:spPr>
          <a:xfrm>
            <a:off x="731519" y="2286000"/>
            <a:ext cx="2368296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构念与题项</a:t>
            </a:r>
            <a:endParaRPr sz="15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3"/>
            </p:custDataLst>
          </p:nvPr>
        </p:nvSpPr>
        <p:spPr>
          <a:xfrm>
            <a:off x="658368" y="388620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7EBE5"/>
          </a:solidFill>
          <a:ln w="12700">
            <a:solidFill>
              <a:srgbClr val="B44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731519" y="4164330"/>
            <a:ext cx="2368296" cy="220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4451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6 题自编、没验证</a:t>
            </a:r>
            <a:endParaRPr sz="1250" b="1" i="0">
              <a:solidFill>
                <a:srgbClr val="B4451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Right Arrow 6"/>
          <p:cNvSpPr/>
          <p:nvPr>
            <p:custDataLst>
              <p:tags r:id="rId5"/>
            </p:custDataLst>
          </p:nvPr>
        </p:nvSpPr>
        <p:spPr>
          <a:xfrm>
            <a:off x="3191256" y="2807208"/>
            <a:ext cx="237744" cy="23774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3447287" y="2286000"/>
            <a:ext cx="25146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>
            <p:custDataLst>
              <p:tags r:id="rId7"/>
            </p:custDataLst>
          </p:nvPr>
        </p:nvSpPr>
        <p:spPr>
          <a:xfrm>
            <a:off x="3520439" y="2286000"/>
            <a:ext cx="2368296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抽样与施测</a:t>
            </a:r>
            <a:endParaRPr sz="15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10" name="Rounded Rectangle 9"/>
          <p:cNvSpPr/>
          <p:nvPr>
            <p:custDataLst>
              <p:tags r:id="rId8"/>
            </p:custDataLst>
          </p:nvPr>
        </p:nvSpPr>
        <p:spPr>
          <a:xfrm>
            <a:off x="3447287" y="388620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7EBE5"/>
          </a:solidFill>
          <a:ln w="12700">
            <a:solidFill>
              <a:srgbClr val="B44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3520439" y="4164330"/>
            <a:ext cx="2368296" cy="220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4451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抽样、回收没交代</a:t>
            </a:r>
            <a:endParaRPr sz="1250" b="1" i="0">
              <a:solidFill>
                <a:srgbClr val="B4451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2" name="Right Arrow 11"/>
          <p:cNvSpPr/>
          <p:nvPr>
            <p:custDataLst>
              <p:tags r:id="rId10"/>
            </p:custDataLst>
          </p:nvPr>
        </p:nvSpPr>
        <p:spPr>
          <a:xfrm>
            <a:off x="5980175" y="2807208"/>
            <a:ext cx="237744" cy="23774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11"/>
            </p:custDataLst>
          </p:nvPr>
        </p:nvSpPr>
        <p:spPr>
          <a:xfrm>
            <a:off x="6236207" y="2286000"/>
            <a:ext cx="25146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6309359" y="2286000"/>
            <a:ext cx="2368296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信度与效度</a:t>
            </a:r>
            <a:endParaRPr sz="15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15" name="Rounded Rectangle 14"/>
          <p:cNvSpPr/>
          <p:nvPr>
            <p:custDataLst>
              <p:tags r:id="rId13"/>
            </p:custDataLst>
          </p:nvPr>
        </p:nvSpPr>
        <p:spPr>
          <a:xfrm>
            <a:off x="6236207" y="388620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7EBE5"/>
          </a:solidFill>
          <a:ln w="12700">
            <a:solidFill>
              <a:srgbClr val="B44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4"/>
            </p:custDataLst>
          </p:nvPr>
        </p:nvSpPr>
        <p:spPr>
          <a:xfrm>
            <a:off x="6309359" y="4164330"/>
            <a:ext cx="2368296" cy="220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4451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只报信度、没报效度</a:t>
            </a:r>
            <a:endParaRPr sz="1250" b="1" i="0">
              <a:solidFill>
                <a:srgbClr val="B4451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7" name="Right Arrow 16"/>
          <p:cNvSpPr/>
          <p:nvPr>
            <p:custDataLst>
              <p:tags r:id="rId15"/>
            </p:custDataLst>
          </p:nvPr>
        </p:nvSpPr>
        <p:spPr>
          <a:xfrm>
            <a:off x="8769096" y="2807208"/>
            <a:ext cx="237744" cy="23774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6"/>
            </p:custDataLst>
          </p:nvPr>
        </p:nvSpPr>
        <p:spPr>
          <a:xfrm>
            <a:off x="9025128" y="2286000"/>
            <a:ext cx="25146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7"/>
            </p:custDataLst>
          </p:nvPr>
        </p:nvSpPr>
        <p:spPr>
          <a:xfrm>
            <a:off x="9098280" y="2286000"/>
            <a:ext cx="2368296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数据分析与结论</a:t>
            </a:r>
            <a:endParaRPr sz="15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0" name="Rounded Rectangle 19"/>
          <p:cNvSpPr/>
          <p:nvPr>
            <p:custDataLst>
              <p:tags r:id="rId18"/>
            </p:custDataLst>
          </p:nvPr>
        </p:nvSpPr>
        <p:spPr>
          <a:xfrm>
            <a:off x="9025128" y="388620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7EBE5"/>
          </a:solidFill>
          <a:ln w="12700">
            <a:solidFill>
              <a:srgbClr val="B44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19"/>
            </p:custDataLst>
          </p:nvPr>
        </p:nvSpPr>
        <p:spPr>
          <a:xfrm>
            <a:off x="9098280" y="4164330"/>
            <a:ext cx="2368296" cy="220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4451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单题当概念 + 结论跨太大</a:t>
            </a:r>
            <a:endParaRPr sz="1250" b="1" i="0">
              <a:solidFill>
                <a:srgbClr val="B4451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332720" y="5943727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25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反例小结：问题不在数据，在逻辑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2192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</a:t>
            </a:r>
            <a:r>
              <a:rPr lang="zh-CN"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问卷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想回答三个问题：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对</a:t>
            </a:r>
            <a:r>
              <a:rPr lang="en-US" alt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r>
              <a:rPr lang="en-US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MTPE 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态度如何、和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相关课程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成绩有没有关系、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使用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障碍是什么。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问卷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其实回答了前两个（态度偏积极、Q6/Q2 和成绩相关），但每个答案的证据都不够</a:t>
            </a:r>
            <a:r>
              <a:rPr lang="zh-CN"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扎实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最关键的越界：从「这 127 个学生态度积极」，跳到「应该纳入教学」——这一步没有证据支撑。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所以它不是数据造假，而是「问题 → 结论」的链条断了好几处，导致结论超出了数据能承担的范围。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26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24544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04</a:t>
            </a:r>
            <a:endParaRPr sz="9600" b="0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32300" y="3181985"/>
            <a:ext cx="5303520" cy="49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  <a:sym typeface="+mn-ea"/>
              </a:rPr>
              <a:t>两篇论文的对照</a:t>
            </a:r>
            <a:endParaRPr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27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对照（一）：题目、概念、样本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题目来源：正例用日志＋访谈＋三轮评审，74 题删到 21 题；反例自编 6 题，无评审、无试测。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概念对应：正例的四个维度经过因素分析验证；反例的两个概念，从头到尾没检验过。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样本：正例 144 人、纳入条件写明；反例 127 人、连发放回收的口径都没报。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28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对照（二）：信度、效度、结论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信度：两篇都报了，正例 α=.901，反例 α=.714/.835，都及格。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效度：正例有内容效度＋因素分析＋三项效标；反例只有「单题与成绩的相关」，而这一步还做错了。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结论：正例停在「可测、能区分训练阶段」；反例写到「应纳入教学」，越过了数据。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差距不在数据好不好看，而在结论敢不敢、该不该。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29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24544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05</a:t>
            </a:r>
            <a:endParaRPr sz="9600" b="0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781425" y="3115310"/>
            <a:ext cx="5303520" cy="49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  <a:sym typeface="+mn-ea"/>
              </a:rPr>
              <a:t>启示：问卷设计与施测的规范</a:t>
            </a:r>
            <a:endParaRPr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30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交稿前问自己十句话（上）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1. 我要回答什么问题？——先写成一句能检验的话，别写「我研究翻译教学」这种空话。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2. 题目和概念对得上吗？——先定义概念，再列「概念 → 维度 → 题目」对照表，别想到哪问到哪。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3. 题目是哪来的？——沿用别人的要注明出处，改编的要说明改了哪，自己编的要交代怎么编出来的。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4. 问卷发给谁？——写清楚总体是谁、怎么抽的、谁算合格、谁不算。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5. 三份数字报了吗？——发出去多少、收回多少、有效多少，还要先说清「怎样算无效」。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31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交稿前问自己十句话（下）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6. 先试测了吗？——正式发之前，先找几个人试填，或者请专家把把关。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7. 信度效度报了吗？——报 α（或 ω）；问卷分了维度，还要报因素分析。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8. 指导语写清楚了吗？——说明用途、匿名、可以中途退出，别让人稀里糊涂填。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9. 题型和统计方法配吗？——单选用频数、量表用均值、开放题用编码，别乱套。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10. 结论有没有越界？——横断面问卷只能说「有关联」，不能说「导致」。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32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反例只改三处，就能变好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第一处 题目来源：换成已验证的量表题并注明出处；坚持自编，就补一次因素分析，证明题目真的在测那个概念。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第二处 单题当构念：把同维度的 3 题合成一个平均分再算相关，别拿单题；措辞用「有关联」，不用「影响」。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第三处 结论越界：把结论收窄到「这 127 名学生、这所学校」，并补上发放、回收、有效三个数。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没有一个是推倒重来，都是「补一步」就能补上——方法规范的门槛不高，关键是每一步都别省。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33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3886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参考</a:t>
            </a:r>
            <a:r>
              <a:rPr lang="zh-CN"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文献</a:t>
            </a:r>
            <a:endParaRPr lang="zh-CN"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7284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lang="zh-CN"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（</a:t>
            </a:r>
            <a:r>
              <a:rPr lang="en-US" altLang="zh-CN"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1</a:t>
            </a:r>
            <a:r>
              <a:rPr lang="zh-CN" altLang="en-US"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</a:t>
            </a:r>
            <a:r>
              <a:rPr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周金华、董燕萍（2019）. 口译笔记熟练度量表的开发. 外语教学与研究 51(6): 925-937.</a:t>
            </a:r>
            <a:endParaRPr sz="200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lang="zh-CN"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（</a:t>
            </a:r>
            <a:r>
              <a:rPr lang="en-US" altLang="zh-CN"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2</a:t>
            </a:r>
            <a:r>
              <a:rPr lang="zh-CN" altLang="en-US"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</a:t>
            </a:r>
            <a:r>
              <a:rPr sz="200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Yang, Z. &amp; Mustafa, H. R. (2022). On postediting of machine translation and workflow. HBET, 5793054.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33 / 34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谢谢观看</a:t>
            </a:r>
            <a:endParaRPr sz="40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Thank You</a:t>
            </a:r>
            <a:endParaRPr sz="18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2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3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4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5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6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7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8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9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10.xml><?xml version="1.0" encoding="utf-8"?>
<p:tagLst xmlns:p="http://schemas.openxmlformats.org/presentationml/2006/main">
  <p:tag name="KSO_WM_DIAGRAM_VIRTUALLY_FRAME" val="{&quot;height&quot;:339.83992125984247,&quot;left&quot;:410.4,&quot;top&quot;:116.64000000000001,&quot;width&quot;:505.43999999999994}"/>
</p:tagLst>
</file>

<file path=ppt/tags/tag11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12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13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14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15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16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17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18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19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0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1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2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3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4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5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6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7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8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29.xml><?xml version="1.0" encoding="utf-8"?>
<p:tagLst xmlns:p="http://schemas.openxmlformats.org/presentationml/2006/main">
  <p:tag name="KSO_WM_DIAGRAM_VIRTUALLY_FRAME" val="{&quot;height&quot;:187.2,&quot;left&quot;:51.839999999999996,&quot;top&quot;:180,&quot;width&quot;:856.8}"/>
</p:tagLst>
</file>

<file path=ppt/tags/tag30.xml><?xml version="1.0" encoding="utf-8"?>
<p:tagLst xmlns:p="http://schemas.openxmlformats.org/presentationml/2006/main">
  <p:tag name="ISPRING_PRESENTATION_TITLE" val="PowerPoint 演示文稿"/>
  <p:tag name="KSO_WM_DOC_GUID" val="{7646b040-3551-49a0-9609-8286eb574aa4}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5515</Words>
  <Application>WPS 演示</Application>
  <PresentationFormat>宽屏</PresentationFormat>
  <Paragraphs>357</Paragraphs>
  <Slides>35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9" baseType="lpstr">
      <vt:lpstr>Arial</vt:lpstr>
      <vt:lpstr>宋体</vt:lpstr>
      <vt:lpstr>Wingdings</vt:lpstr>
      <vt:lpstr>Brush Script MT</vt:lpstr>
      <vt:lpstr>华文隶书</vt:lpstr>
      <vt:lpstr>Calibri</vt:lpstr>
      <vt:lpstr>Roboto Light</vt:lpstr>
      <vt:lpstr>Times New Roman</vt:lpstr>
      <vt:lpstr>黑体</vt:lpstr>
      <vt:lpstr>微软雅黑</vt:lpstr>
      <vt:lpstr>Arial Unicode MS</vt:lpstr>
      <vt:lpstr>Calibri Light</vt:lpstr>
      <vt:lpstr>FFont-Family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粒子点线</dc:title>
  <dc:creator>第一PPT</dc:creator>
  <cp:keywords>www.1ppt.com</cp:keywords>
  <dc:description>www.1ppt.com</dc:description>
  <cp:lastModifiedBy>臻</cp:lastModifiedBy>
  <cp:revision>143</cp:revision>
  <dcterms:created xsi:type="dcterms:W3CDTF">2018-09-11T09:25:00Z</dcterms:created>
  <dcterms:modified xsi:type="dcterms:W3CDTF">2026-09-29T18:27:50Z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2052-12.1.0.28599</vt:lpwstr>
  </property>
  <property fmtid="{D5CDD505-2E9C-101B-9397-08002B2CF9AE}" pid="3" name="ICV">
    <vt:lpwstr>BFA146773F4A4283BE0830DBF4813C0B_13</vt:lpwstr>
  </property>
</Properties>
</file>