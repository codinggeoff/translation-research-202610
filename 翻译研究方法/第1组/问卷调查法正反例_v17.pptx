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3"/>
  </p:notesMasterIdLst>
  <p:handoutMasterIdLst>
    <p:handoutMasterId r:id="rId24"/>
  </p:handout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</p:sldIdLst>
  <p:sldSz cx="12192000" cy="6858000"/>
  <p:notesSz cx="6858000" cy="9144000"/>
  <p:custDataLst>
    <p:tags r:id="rId28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9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E5456"/>
    <a:srgbClr val="03A9F0"/>
    <a:srgbClr val="5B9BD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025" autoAdjust="0"/>
    <p:restoredTop sz="94660"/>
  </p:normalViewPr>
  <p:slideViewPr>
    <p:cSldViewPr snapToGrid="0" showGuides="1">
      <p:cViewPr varScale="1">
        <p:scale>
          <a:sx n="51" d="100"/>
          <a:sy n="51" d="100"/>
        </p:scale>
        <p:origin x="77" y="547"/>
      </p:cViewPr>
      <p:guideLst>
        <p:guide orient="horz" pos="2139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39" d="100"/>
        <a:sy n="139" d="100"/>
      </p:scale>
      <p:origin x="0" y="0"/>
    </p:cViewPr>
  </p:sorterViewPr>
  <p:notesViewPr>
    <p:cSldViewPr snapToGrid="0">
      <p:cViewPr varScale="1">
        <p:scale>
          <a:sx n="70" d="100"/>
          <a:sy n="70" d="100"/>
        </p:scale>
        <p:origin x="2520" y="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8" Type="http://schemas.openxmlformats.org/officeDocument/2006/relationships/tags" Target="tags/tag1.xml"/><Relationship Id="rId27" Type="http://schemas.openxmlformats.org/officeDocument/2006/relationships/tableStyles" Target="tableStyles.xml"/><Relationship Id="rId26" Type="http://schemas.openxmlformats.org/officeDocument/2006/relationships/viewProps" Target="viewProps.xml"/><Relationship Id="rId25" Type="http://schemas.openxmlformats.org/officeDocument/2006/relationships/presProps" Target="presProps.xml"/><Relationship Id="rId24" Type="http://schemas.openxmlformats.org/officeDocument/2006/relationships/handoutMaster" Target="handoutMasters/handoutMaster1.xml"/><Relationship Id="rId23" Type="http://schemas.openxmlformats.org/officeDocument/2006/relationships/notesMaster" Target="notesMasters/notesMaster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196566E-A135-47C5-B666-D77ED219465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A0E1E66-0EA3-46B4-8216-B1B8BE711FF1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600BAA7-22A5-49C2-BA97-E6B0C9CFDA3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D9F56C-685E-485A-BF04-BF7465453AF0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529" y="99423"/>
            <a:ext cx="3708572" cy="861530"/>
          </a:xfrm>
          <a:prstGeom prst="rect">
            <a:avLst/>
          </a:prstGeom>
        </p:spPr>
      </p:pic>
      <p:sp>
        <p:nvSpPr>
          <p:cNvPr id="2" name="文本框 1"/>
          <p:cNvSpPr txBox="1"/>
          <p:nvPr userDrawn="1"/>
        </p:nvSpPr>
        <p:spPr>
          <a:xfrm>
            <a:off x="1" y="6004875"/>
            <a:ext cx="1219199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solidFill>
                  <a:schemeClr val="bg1">
                    <a:lumMod val="50000"/>
                  </a:schemeClr>
                </a:solidFill>
                <a:latin typeface="Brush Script MT" panose="03060802040406070304" pitchFamily="66" charset="0"/>
                <a:ea typeface="华文隶书" panose="02010800040101010101" pitchFamily="2" charset="-122"/>
              </a:rPr>
              <a:t>In Pursuit of Excellence in Interpreting and Translation</a:t>
            </a:r>
            <a:endParaRPr lang="en-US" altLang="zh-CN" sz="2000" dirty="0">
              <a:solidFill>
                <a:schemeClr val="bg1">
                  <a:lumMod val="50000"/>
                </a:schemeClr>
              </a:solidFill>
              <a:latin typeface="Brush Script MT" panose="03060802040406070304" pitchFamily="66" charset="0"/>
              <a:ea typeface="华文隶书" panose="02010800040101010101" pitchFamily="2" charset="-122"/>
            </a:endParaRPr>
          </a:p>
          <a:p>
            <a:pPr algn="ctr"/>
            <a:r>
              <a:rPr lang="zh-CN" altLang="en-US" sz="2000" dirty="0">
                <a:solidFill>
                  <a:schemeClr val="bg1">
                    <a:lumMod val="50000"/>
                  </a:schemeClr>
                </a:solidFill>
                <a:latin typeface="华文隶书" panose="02010800040101010101" pitchFamily="2" charset="-122"/>
                <a:ea typeface="华文隶书" panose="02010800040101010101" pitchFamily="2" charset="-122"/>
              </a:rPr>
              <a:t>译无止境，臻于至善</a:t>
            </a:r>
            <a:endParaRPr lang="zh-CN" altLang="en-US" sz="2000" dirty="0">
              <a:solidFill>
                <a:schemeClr val="bg1">
                  <a:lumMod val="50000"/>
                </a:schemeClr>
              </a:solidFill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529" y="99423"/>
            <a:ext cx="3708572" cy="861530"/>
          </a:xfrm>
          <a:prstGeom prst="rect">
            <a:avLst/>
          </a:prstGeom>
        </p:spPr>
      </p:pic>
      <p:sp>
        <p:nvSpPr>
          <p:cNvPr id="5" name="文本框 4"/>
          <p:cNvSpPr txBox="1"/>
          <p:nvPr userDrawn="1"/>
        </p:nvSpPr>
        <p:spPr>
          <a:xfrm>
            <a:off x="1" y="6004875"/>
            <a:ext cx="1219199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solidFill>
                  <a:schemeClr val="bg1">
                    <a:lumMod val="50000"/>
                  </a:schemeClr>
                </a:solidFill>
                <a:latin typeface="Brush Script MT" panose="03060802040406070304" pitchFamily="66" charset="0"/>
                <a:ea typeface="华文隶书" panose="02010800040101010101" pitchFamily="2" charset="-122"/>
              </a:rPr>
              <a:t>In Pursuit of Excellence in Interpreting and Translation</a:t>
            </a:r>
            <a:endParaRPr lang="en-US" altLang="zh-CN" sz="2000" dirty="0">
              <a:solidFill>
                <a:schemeClr val="bg1">
                  <a:lumMod val="50000"/>
                </a:schemeClr>
              </a:solidFill>
              <a:latin typeface="Brush Script MT" panose="03060802040406070304" pitchFamily="66" charset="0"/>
              <a:ea typeface="华文隶书" panose="02010800040101010101" pitchFamily="2" charset="-122"/>
            </a:endParaRPr>
          </a:p>
          <a:p>
            <a:pPr algn="ctr"/>
            <a:r>
              <a:rPr lang="zh-CN" altLang="en-US" sz="2000" dirty="0">
                <a:solidFill>
                  <a:schemeClr val="bg1">
                    <a:lumMod val="50000"/>
                  </a:schemeClr>
                </a:solidFill>
                <a:latin typeface="华文隶书" panose="02010800040101010101" pitchFamily="2" charset="-122"/>
                <a:ea typeface="华文隶书" panose="02010800040101010101" pitchFamily="2" charset="-122"/>
              </a:rPr>
              <a:t>译无止境，臻于至善</a:t>
            </a:r>
            <a:endParaRPr lang="zh-CN" altLang="en-US" sz="2000" dirty="0">
              <a:solidFill>
                <a:schemeClr val="bg1">
                  <a:lumMod val="50000"/>
                </a:schemeClr>
              </a:solidFill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5AC512-946F-491C-A78E-B874D25DDF2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963683-69C5-4225-8B2B-0C82CECB9400}" type="slidenum">
              <a:rPr lang="zh-CN" altLang="en-US" smtClean="0"/>
            </a:fld>
            <a:endParaRPr lang="zh-CN" altLang="en-US"/>
          </a:p>
        </p:txBody>
      </p:sp>
      <p:sp>
        <p:nvSpPr>
          <p:cNvPr id="6" name="矩形 5"/>
          <p:cNvSpPr/>
          <p:nvPr userDrawn="1"/>
        </p:nvSpPr>
        <p:spPr>
          <a:xfrm>
            <a:off x="0" y="2276872"/>
            <a:ext cx="3264363" cy="26882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/>
          </a:p>
        </p:txBody>
      </p:sp>
      <p:sp>
        <p:nvSpPr>
          <p:cNvPr id="9" name="矩形 8"/>
          <p:cNvSpPr/>
          <p:nvPr userDrawn="1"/>
        </p:nvSpPr>
        <p:spPr>
          <a:xfrm>
            <a:off x="8975543" y="2276871"/>
            <a:ext cx="3264363" cy="26882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/>
          </a:p>
        </p:txBody>
      </p:sp>
      <p:grpSp>
        <p:nvGrpSpPr>
          <p:cNvPr id="10" name="组合 9"/>
          <p:cNvGrpSpPr/>
          <p:nvPr userDrawn="1"/>
        </p:nvGrpSpPr>
        <p:grpSpPr>
          <a:xfrm>
            <a:off x="7596491" y="2468893"/>
            <a:ext cx="576064" cy="577112"/>
            <a:chOff x="6084168" y="1274820"/>
            <a:chExt cx="432048" cy="432834"/>
          </a:xfrm>
        </p:grpSpPr>
        <p:sp>
          <p:nvSpPr>
            <p:cNvPr id="11" name="椭圆 22"/>
            <p:cNvSpPr>
              <a:spLocks noChangeArrowheads="1"/>
            </p:cNvSpPr>
            <p:nvPr/>
          </p:nvSpPr>
          <p:spPr bwMode="auto">
            <a:xfrm>
              <a:off x="6084168" y="1274820"/>
              <a:ext cx="432048" cy="43283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endParaRPr lang="zh-CN" altLang="en-US" sz="2400">
                <a:solidFill>
                  <a:srgbClr val="FFFFFF"/>
                </a:solidFill>
                <a:latin typeface="Calibri" panose="020F0502020204030204" pitchFamily="34" charset="0"/>
              </a:endParaRPr>
            </a:p>
          </p:txBody>
        </p:sp>
        <p:sp>
          <p:nvSpPr>
            <p:cNvPr id="12" name="Freeform 59"/>
            <p:cNvSpPr>
              <a:spLocks noChangeArrowheads="1"/>
            </p:cNvSpPr>
            <p:nvPr/>
          </p:nvSpPr>
          <p:spPr bwMode="auto">
            <a:xfrm>
              <a:off x="6180302" y="1365898"/>
              <a:ext cx="239780" cy="250679"/>
            </a:xfrm>
            <a:custGeom>
              <a:avLst/>
              <a:gdLst>
                <a:gd name="T0" fmla="*/ 73627430 w 581"/>
                <a:gd name="T1" fmla="*/ 67678707 h 609"/>
                <a:gd name="T2" fmla="*/ 61659637 w 581"/>
                <a:gd name="T3" fmla="*/ 78678142 h 609"/>
                <a:gd name="T4" fmla="*/ 54244957 w 581"/>
                <a:gd name="T5" fmla="*/ 72208055 h 609"/>
                <a:gd name="T6" fmla="*/ 57106883 w 581"/>
                <a:gd name="T7" fmla="*/ 65867111 h 609"/>
                <a:gd name="T8" fmla="*/ 61659637 w 581"/>
                <a:gd name="T9" fmla="*/ 69490662 h 609"/>
                <a:gd name="T10" fmla="*/ 71806401 w 581"/>
                <a:gd name="T11" fmla="*/ 61338122 h 609"/>
                <a:gd name="T12" fmla="*/ 73627430 w 581"/>
                <a:gd name="T13" fmla="*/ 67678707 h 609"/>
                <a:gd name="T14" fmla="*/ 61659637 w 581"/>
                <a:gd name="T15" fmla="*/ 64055516 h 609"/>
                <a:gd name="T16" fmla="*/ 49691843 w 581"/>
                <a:gd name="T17" fmla="*/ 69490662 h 609"/>
                <a:gd name="T18" fmla="*/ 51513233 w 581"/>
                <a:gd name="T19" fmla="*/ 75054951 h 609"/>
                <a:gd name="T20" fmla="*/ 3772261 w 581"/>
                <a:gd name="T21" fmla="*/ 78678142 h 609"/>
                <a:gd name="T22" fmla="*/ 0 w 581"/>
                <a:gd name="T23" fmla="*/ 10999436 h 609"/>
                <a:gd name="T24" fmla="*/ 10146404 w 581"/>
                <a:gd name="T25" fmla="*/ 7246742 h 609"/>
                <a:gd name="T26" fmla="*/ 17561444 w 581"/>
                <a:gd name="T27" fmla="*/ 18246178 h 609"/>
                <a:gd name="T28" fmla="*/ 24845922 w 581"/>
                <a:gd name="T29" fmla="*/ 7246742 h 609"/>
                <a:gd name="T30" fmla="*/ 28488341 w 581"/>
                <a:gd name="T31" fmla="*/ 10999436 h 609"/>
                <a:gd name="T32" fmla="*/ 43318061 w 581"/>
                <a:gd name="T33" fmla="*/ 10999436 h 609"/>
                <a:gd name="T34" fmla="*/ 46960119 w 581"/>
                <a:gd name="T35" fmla="*/ 7246742 h 609"/>
                <a:gd name="T36" fmla="*/ 54244957 w 581"/>
                <a:gd name="T37" fmla="*/ 18246178 h 609"/>
                <a:gd name="T38" fmla="*/ 61659637 w 581"/>
                <a:gd name="T39" fmla="*/ 7246742 h 609"/>
                <a:gd name="T40" fmla="*/ 71806401 w 581"/>
                <a:gd name="T41" fmla="*/ 10999436 h 609"/>
                <a:gd name="T42" fmla="*/ 66212751 w 581"/>
                <a:gd name="T43" fmla="*/ 59526167 h 609"/>
                <a:gd name="T44" fmla="*/ 10146404 w 581"/>
                <a:gd name="T45" fmla="*/ 63149718 h 609"/>
                <a:gd name="T46" fmla="*/ 12878128 w 581"/>
                <a:gd name="T47" fmla="*/ 65867111 h 609"/>
                <a:gd name="T48" fmla="*/ 39545439 w 581"/>
                <a:gd name="T49" fmla="*/ 63149718 h 609"/>
                <a:gd name="T50" fmla="*/ 39545439 w 581"/>
                <a:gd name="T51" fmla="*/ 63149718 h 609"/>
                <a:gd name="T52" fmla="*/ 39545439 w 581"/>
                <a:gd name="T53" fmla="*/ 63149718 h 609"/>
                <a:gd name="T54" fmla="*/ 12878128 w 581"/>
                <a:gd name="T55" fmla="*/ 60431965 h 609"/>
                <a:gd name="T56" fmla="*/ 58017218 w 581"/>
                <a:gd name="T57" fmla="*/ 28339815 h 609"/>
                <a:gd name="T58" fmla="*/ 13788823 w 581"/>
                <a:gd name="T59" fmla="*/ 28339815 h 609"/>
                <a:gd name="T60" fmla="*/ 13788823 w 581"/>
                <a:gd name="T61" fmla="*/ 35715700 h 609"/>
                <a:gd name="T62" fmla="*/ 61659637 w 581"/>
                <a:gd name="T63" fmla="*/ 31963007 h 609"/>
                <a:gd name="T64" fmla="*/ 58017218 w 581"/>
                <a:gd name="T65" fmla="*/ 43868240 h 609"/>
                <a:gd name="T66" fmla="*/ 35903020 w 581"/>
                <a:gd name="T67" fmla="*/ 43868240 h 609"/>
                <a:gd name="T68" fmla="*/ 13788823 w 581"/>
                <a:gd name="T69" fmla="*/ 43868240 h 609"/>
                <a:gd name="T70" fmla="*/ 13788823 w 581"/>
                <a:gd name="T71" fmla="*/ 51244484 h 609"/>
                <a:gd name="T72" fmla="*/ 35903020 w 581"/>
                <a:gd name="T73" fmla="*/ 51244484 h 609"/>
                <a:gd name="T74" fmla="*/ 61659637 w 581"/>
                <a:gd name="T75" fmla="*/ 47491791 h 609"/>
                <a:gd name="T76" fmla="*/ 54244957 w 581"/>
                <a:gd name="T77" fmla="*/ 14622627 h 609"/>
                <a:gd name="T78" fmla="*/ 50602538 w 581"/>
                <a:gd name="T79" fmla="*/ 10999436 h 609"/>
                <a:gd name="T80" fmla="*/ 54244957 w 581"/>
                <a:gd name="T81" fmla="*/ 0 h 609"/>
                <a:gd name="T82" fmla="*/ 58017218 w 581"/>
                <a:gd name="T83" fmla="*/ 10999436 h 609"/>
                <a:gd name="T84" fmla="*/ 35903020 w 581"/>
                <a:gd name="T85" fmla="*/ 14622627 h 609"/>
                <a:gd name="T86" fmla="*/ 32260601 w 581"/>
                <a:gd name="T87" fmla="*/ 10999436 h 609"/>
                <a:gd name="T88" fmla="*/ 35903020 w 581"/>
                <a:gd name="T89" fmla="*/ 0 h 609"/>
                <a:gd name="T90" fmla="*/ 39545439 w 581"/>
                <a:gd name="T91" fmla="*/ 10999436 h 609"/>
                <a:gd name="T92" fmla="*/ 17561444 w 581"/>
                <a:gd name="T93" fmla="*/ 14622627 h 609"/>
                <a:gd name="T94" fmla="*/ 13788823 w 581"/>
                <a:gd name="T95" fmla="*/ 10999436 h 609"/>
                <a:gd name="T96" fmla="*/ 17561444 w 581"/>
                <a:gd name="T97" fmla="*/ 0 h 609"/>
                <a:gd name="T98" fmla="*/ 21203502 w 581"/>
                <a:gd name="T99" fmla="*/ 10999436 h 609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</a:gdLst>
              <a:ahLst/>
              <a:cxnLst>
                <a:cxn ang="T100">
                  <a:pos x="T0" y="T1"/>
                </a:cxn>
                <a:cxn ang="T101">
                  <a:pos x="T2" y="T3"/>
                </a:cxn>
                <a:cxn ang="T102">
                  <a:pos x="T4" y="T5"/>
                </a:cxn>
                <a:cxn ang="T103">
                  <a:pos x="T6" y="T7"/>
                </a:cxn>
                <a:cxn ang="T104">
                  <a:pos x="T8" y="T9"/>
                </a:cxn>
                <a:cxn ang="T105">
                  <a:pos x="T10" y="T11"/>
                </a:cxn>
                <a:cxn ang="T106">
                  <a:pos x="T12" y="T13"/>
                </a:cxn>
                <a:cxn ang="T107">
                  <a:pos x="T14" y="T15"/>
                </a:cxn>
                <a:cxn ang="T108">
                  <a:pos x="T16" y="T17"/>
                </a:cxn>
                <a:cxn ang="T109">
                  <a:pos x="T18" y="T19"/>
                </a:cxn>
                <a:cxn ang="T110">
                  <a:pos x="T20" y="T21"/>
                </a:cxn>
                <a:cxn ang="T111">
                  <a:pos x="T22" y="T23"/>
                </a:cxn>
                <a:cxn ang="T112">
                  <a:pos x="T24" y="T25"/>
                </a:cxn>
                <a:cxn ang="T113">
                  <a:pos x="T26" y="T27"/>
                </a:cxn>
                <a:cxn ang="T114">
                  <a:pos x="T28" y="T29"/>
                </a:cxn>
                <a:cxn ang="T115">
                  <a:pos x="T30" y="T31"/>
                </a:cxn>
                <a:cxn ang="T116">
                  <a:pos x="T32" y="T33"/>
                </a:cxn>
                <a:cxn ang="T117">
                  <a:pos x="T34" y="T35"/>
                </a:cxn>
                <a:cxn ang="T118">
                  <a:pos x="T36" y="T37"/>
                </a:cxn>
                <a:cxn ang="T119">
                  <a:pos x="T38" y="T39"/>
                </a:cxn>
                <a:cxn ang="T120">
                  <a:pos x="T40" y="T41"/>
                </a:cxn>
                <a:cxn ang="T121">
                  <a:pos x="T42" y="T43"/>
                </a:cxn>
                <a:cxn ang="T122">
                  <a:pos x="T44" y="T45"/>
                </a:cxn>
                <a:cxn ang="T123">
                  <a:pos x="T46" y="T47"/>
                </a:cxn>
                <a:cxn ang="T124">
                  <a:pos x="T48" y="T49"/>
                </a:cxn>
                <a:cxn ang="T125">
                  <a:pos x="T50" y="T51"/>
                </a:cxn>
                <a:cxn ang="T126">
                  <a:pos x="T52" y="T53"/>
                </a:cxn>
                <a:cxn ang="T127">
                  <a:pos x="T54" y="T55"/>
                </a:cxn>
                <a:cxn ang="T128">
                  <a:pos x="T56" y="T57"/>
                </a:cxn>
                <a:cxn ang="T129">
                  <a:pos x="T58" y="T59"/>
                </a:cxn>
                <a:cxn ang="T130">
                  <a:pos x="T60" y="T61"/>
                </a:cxn>
                <a:cxn ang="T131">
                  <a:pos x="T62" y="T63"/>
                </a:cxn>
                <a:cxn ang="T132">
                  <a:pos x="T64" y="T65"/>
                </a:cxn>
                <a:cxn ang="T133">
                  <a:pos x="T66" y="T67"/>
                </a:cxn>
                <a:cxn ang="T134">
                  <a:pos x="T68" y="T69"/>
                </a:cxn>
                <a:cxn ang="T135">
                  <a:pos x="T70" y="T71"/>
                </a:cxn>
                <a:cxn ang="T136">
                  <a:pos x="T72" y="T73"/>
                </a:cxn>
                <a:cxn ang="T137">
                  <a:pos x="T74" y="T75"/>
                </a:cxn>
                <a:cxn ang="T138">
                  <a:pos x="T76" y="T77"/>
                </a:cxn>
                <a:cxn ang="T139">
                  <a:pos x="T78" y="T79"/>
                </a:cxn>
                <a:cxn ang="T140">
                  <a:pos x="T80" y="T81"/>
                </a:cxn>
                <a:cxn ang="T141">
                  <a:pos x="T82" y="T83"/>
                </a:cxn>
                <a:cxn ang="T142">
                  <a:pos x="T84" y="T85"/>
                </a:cxn>
                <a:cxn ang="T143">
                  <a:pos x="T86" y="T87"/>
                </a:cxn>
                <a:cxn ang="T144">
                  <a:pos x="T88" y="T89"/>
                </a:cxn>
                <a:cxn ang="T145">
                  <a:pos x="T90" y="T91"/>
                </a:cxn>
                <a:cxn ang="T146">
                  <a:pos x="T92" y="T93"/>
                </a:cxn>
                <a:cxn ang="T147">
                  <a:pos x="T94" y="T95"/>
                </a:cxn>
                <a:cxn ang="T148">
                  <a:pos x="T96" y="T97"/>
                </a:cxn>
                <a:cxn ang="T149">
                  <a:pos x="T98" y="T99"/>
                </a:cxn>
              </a:cxnLst>
              <a:rect l="0" t="0" r="r" b="b"/>
              <a:pathLst>
                <a:path w="581" h="609">
                  <a:moveTo>
                    <a:pt x="566" y="523"/>
                  </a:moveTo>
                  <a:lnTo>
                    <a:pt x="566" y="523"/>
                  </a:lnTo>
                  <a:cubicBezTo>
                    <a:pt x="495" y="594"/>
                    <a:pt x="495" y="594"/>
                    <a:pt x="495" y="594"/>
                  </a:cubicBezTo>
                  <a:cubicBezTo>
                    <a:pt x="488" y="601"/>
                    <a:pt x="481" y="608"/>
                    <a:pt x="474" y="608"/>
                  </a:cubicBezTo>
                  <a:cubicBezTo>
                    <a:pt x="467" y="608"/>
                    <a:pt x="460" y="601"/>
                    <a:pt x="453" y="594"/>
                  </a:cubicBezTo>
                  <a:cubicBezTo>
                    <a:pt x="417" y="558"/>
                    <a:pt x="417" y="558"/>
                    <a:pt x="417" y="558"/>
                  </a:cubicBezTo>
                  <a:cubicBezTo>
                    <a:pt x="410" y="551"/>
                    <a:pt x="410" y="544"/>
                    <a:pt x="410" y="537"/>
                  </a:cubicBezTo>
                  <a:cubicBezTo>
                    <a:pt x="410" y="523"/>
                    <a:pt x="417" y="509"/>
                    <a:pt x="439" y="509"/>
                  </a:cubicBezTo>
                  <a:cubicBezTo>
                    <a:pt x="446" y="509"/>
                    <a:pt x="453" y="516"/>
                    <a:pt x="453" y="523"/>
                  </a:cubicBezTo>
                  <a:cubicBezTo>
                    <a:pt x="474" y="537"/>
                    <a:pt x="474" y="537"/>
                    <a:pt x="474" y="537"/>
                  </a:cubicBezTo>
                  <a:cubicBezTo>
                    <a:pt x="530" y="481"/>
                    <a:pt x="530" y="481"/>
                    <a:pt x="530" y="481"/>
                  </a:cubicBezTo>
                  <a:cubicBezTo>
                    <a:pt x="537" y="474"/>
                    <a:pt x="545" y="474"/>
                    <a:pt x="552" y="474"/>
                  </a:cubicBezTo>
                  <a:cubicBezTo>
                    <a:pt x="566" y="474"/>
                    <a:pt x="580" y="488"/>
                    <a:pt x="580" y="502"/>
                  </a:cubicBezTo>
                  <a:cubicBezTo>
                    <a:pt x="580" y="509"/>
                    <a:pt x="573" y="516"/>
                    <a:pt x="566" y="523"/>
                  </a:cubicBezTo>
                  <a:close/>
                  <a:moveTo>
                    <a:pt x="474" y="495"/>
                  </a:moveTo>
                  <a:lnTo>
                    <a:pt x="474" y="495"/>
                  </a:lnTo>
                  <a:cubicBezTo>
                    <a:pt x="467" y="488"/>
                    <a:pt x="453" y="481"/>
                    <a:pt x="439" y="481"/>
                  </a:cubicBezTo>
                  <a:cubicBezTo>
                    <a:pt x="403" y="481"/>
                    <a:pt x="382" y="509"/>
                    <a:pt x="382" y="537"/>
                  </a:cubicBezTo>
                  <a:cubicBezTo>
                    <a:pt x="382" y="558"/>
                    <a:pt x="389" y="573"/>
                    <a:pt x="396" y="580"/>
                  </a:cubicBezTo>
                  <a:cubicBezTo>
                    <a:pt x="424" y="608"/>
                    <a:pt x="424" y="608"/>
                    <a:pt x="424" y="608"/>
                  </a:cubicBezTo>
                  <a:cubicBezTo>
                    <a:pt x="29" y="608"/>
                    <a:pt x="29" y="608"/>
                    <a:pt x="29" y="608"/>
                  </a:cubicBezTo>
                  <a:cubicBezTo>
                    <a:pt x="15" y="608"/>
                    <a:pt x="0" y="594"/>
                    <a:pt x="0" y="580"/>
                  </a:cubicBezTo>
                  <a:cubicBezTo>
                    <a:pt x="0" y="85"/>
                    <a:pt x="0" y="85"/>
                    <a:pt x="0" y="85"/>
                  </a:cubicBezTo>
                  <a:cubicBezTo>
                    <a:pt x="0" y="71"/>
                    <a:pt x="15" y="56"/>
                    <a:pt x="29" y="56"/>
                  </a:cubicBezTo>
                  <a:cubicBezTo>
                    <a:pt x="78" y="56"/>
                    <a:pt x="78" y="56"/>
                    <a:pt x="78" y="56"/>
                  </a:cubicBezTo>
                  <a:cubicBezTo>
                    <a:pt x="78" y="85"/>
                    <a:pt x="78" y="85"/>
                    <a:pt x="78" y="85"/>
                  </a:cubicBezTo>
                  <a:cubicBezTo>
                    <a:pt x="78" y="120"/>
                    <a:pt x="106" y="141"/>
                    <a:pt x="135" y="141"/>
                  </a:cubicBezTo>
                  <a:cubicBezTo>
                    <a:pt x="163" y="141"/>
                    <a:pt x="191" y="120"/>
                    <a:pt x="191" y="85"/>
                  </a:cubicBezTo>
                  <a:cubicBezTo>
                    <a:pt x="191" y="56"/>
                    <a:pt x="191" y="56"/>
                    <a:pt x="191" y="56"/>
                  </a:cubicBezTo>
                  <a:cubicBezTo>
                    <a:pt x="219" y="56"/>
                    <a:pt x="219" y="56"/>
                    <a:pt x="219" y="56"/>
                  </a:cubicBezTo>
                  <a:cubicBezTo>
                    <a:pt x="219" y="85"/>
                    <a:pt x="219" y="85"/>
                    <a:pt x="219" y="85"/>
                  </a:cubicBezTo>
                  <a:cubicBezTo>
                    <a:pt x="219" y="120"/>
                    <a:pt x="248" y="141"/>
                    <a:pt x="276" y="141"/>
                  </a:cubicBezTo>
                  <a:cubicBezTo>
                    <a:pt x="304" y="141"/>
                    <a:pt x="333" y="120"/>
                    <a:pt x="333" y="85"/>
                  </a:cubicBezTo>
                  <a:cubicBezTo>
                    <a:pt x="333" y="56"/>
                    <a:pt x="333" y="56"/>
                    <a:pt x="333" y="56"/>
                  </a:cubicBezTo>
                  <a:cubicBezTo>
                    <a:pt x="361" y="56"/>
                    <a:pt x="361" y="56"/>
                    <a:pt x="361" y="56"/>
                  </a:cubicBezTo>
                  <a:cubicBezTo>
                    <a:pt x="361" y="85"/>
                    <a:pt x="361" y="85"/>
                    <a:pt x="361" y="85"/>
                  </a:cubicBezTo>
                  <a:cubicBezTo>
                    <a:pt x="361" y="120"/>
                    <a:pt x="389" y="141"/>
                    <a:pt x="417" y="141"/>
                  </a:cubicBezTo>
                  <a:cubicBezTo>
                    <a:pt x="446" y="141"/>
                    <a:pt x="474" y="120"/>
                    <a:pt x="474" y="85"/>
                  </a:cubicBezTo>
                  <a:cubicBezTo>
                    <a:pt x="474" y="56"/>
                    <a:pt x="474" y="56"/>
                    <a:pt x="474" y="56"/>
                  </a:cubicBezTo>
                  <a:cubicBezTo>
                    <a:pt x="523" y="56"/>
                    <a:pt x="523" y="56"/>
                    <a:pt x="523" y="56"/>
                  </a:cubicBezTo>
                  <a:cubicBezTo>
                    <a:pt x="537" y="56"/>
                    <a:pt x="552" y="71"/>
                    <a:pt x="552" y="85"/>
                  </a:cubicBezTo>
                  <a:cubicBezTo>
                    <a:pt x="552" y="445"/>
                    <a:pt x="552" y="445"/>
                    <a:pt x="552" y="445"/>
                  </a:cubicBezTo>
                  <a:cubicBezTo>
                    <a:pt x="530" y="445"/>
                    <a:pt x="516" y="452"/>
                    <a:pt x="509" y="460"/>
                  </a:cubicBezTo>
                  <a:lnTo>
                    <a:pt x="474" y="495"/>
                  </a:lnTo>
                  <a:close/>
                  <a:moveTo>
                    <a:pt x="78" y="488"/>
                  </a:moveTo>
                  <a:lnTo>
                    <a:pt x="78" y="488"/>
                  </a:lnTo>
                  <a:cubicBezTo>
                    <a:pt x="78" y="502"/>
                    <a:pt x="85" y="509"/>
                    <a:pt x="99" y="509"/>
                  </a:cubicBezTo>
                  <a:cubicBezTo>
                    <a:pt x="283" y="509"/>
                    <a:pt x="283" y="509"/>
                    <a:pt x="283" y="509"/>
                  </a:cubicBezTo>
                  <a:cubicBezTo>
                    <a:pt x="297" y="509"/>
                    <a:pt x="304" y="502"/>
                    <a:pt x="304" y="488"/>
                  </a:cubicBezTo>
                  <a:cubicBezTo>
                    <a:pt x="304" y="474"/>
                    <a:pt x="297" y="467"/>
                    <a:pt x="283" y="467"/>
                  </a:cubicBezTo>
                  <a:cubicBezTo>
                    <a:pt x="99" y="467"/>
                    <a:pt x="99" y="467"/>
                    <a:pt x="99" y="467"/>
                  </a:cubicBezTo>
                  <a:cubicBezTo>
                    <a:pt x="85" y="467"/>
                    <a:pt x="78" y="474"/>
                    <a:pt x="78" y="488"/>
                  </a:cubicBezTo>
                  <a:close/>
                  <a:moveTo>
                    <a:pt x="446" y="219"/>
                  </a:moveTo>
                  <a:lnTo>
                    <a:pt x="446" y="219"/>
                  </a:lnTo>
                  <a:cubicBezTo>
                    <a:pt x="106" y="219"/>
                    <a:pt x="106" y="219"/>
                    <a:pt x="106" y="219"/>
                  </a:cubicBezTo>
                  <a:cubicBezTo>
                    <a:pt x="92" y="219"/>
                    <a:pt x="78" y="233"/>
                    <a:pt x="78" y="247"/>
                  </a:cubicBezTo>
                  <a:cubicBezTo>
                    <a:pt x="78" y="262"/>
                    <a:pt x="92" y="276"/>
                    <a:pt x="106" y="276"/>
                  </a:cubicBezTo>
                  <a:cubicBezTo>
                    <a:pt x="446" y="276"/>
                    <a:pt x="446" y="276"/>
                    <a:pt x="446" y="276"/>
                  </a:cubicBezTo>
                  <a:cubicBezTo>
                    <a:pt x="460" y="276"/>
                    <a:pt x="474" y="262"/>
                    <a:pt x="474" y="247"/>
                  </a:cubicBezTo>
                  <a:cubicBezTo>
                    <a:pt x="474" y="233"/>
                    <a:pt x="460" y="219"/>
                    <a:pt x="446" y="219"/>
                  </a:cubicBezTo>
                  <a:close/>
                  <a:moveTo>
                    <a:pt x="446" y="339"/>
                  </a:moveTo>
                  <a:lnTo>
                    <a:pt x="446" y="339"/>
                  </a:lnTo>
                  <a:cubicBezTo>
                    <a:pt x="276" y="339"/>
                    <a:pt x="276" y="339"/>
                    <a:pt x="276" y="339"/>
                  </a:cubicBezTo>
                  <a:cubicBezTo>
                    <a:pt x="226" y="339"/>
                    <a:pt x="226" y="339"/>
                    <a:pt x="226" y="339"/>
                  </a:cubicBezTo>
                  <a:cubicBezTo>
                    <a:pt x="106" y="339"/>
                    <a:pt x="106" y="339"/>
                    <a:pt x="106" y="339"/>
                  </a:cubicBezTo>
                  <a:cubicBezTo>
                    <a:pt x="92" y="339"/>
                    <a:pt x="78" y="353"/>
                    <a:pt x="78" y="367"/>
                  </a:cubicBezTo>
                  <a:cubicBezTo>
                    <a:pt x="78" y="389"/>
                    <a:pt x="92" y="396"/>
                    <a:pt x="106" y="396"/>
                  </a:cubicBezTo>
                  <a:cubicBezTo>
                    <a:pt x="226" y="396"/>
                    <a:pt x="226" y="396"/>
                    <a:pt x="226" y="396"/>
                  </a:cubicBezTo>
                  <a:cubicBezTo>
                    <a:pt x="276" y="396"/>
                    <a:pt x="276" y="396"/>
                    <a:pt x="276" y="396"/>
                  </a:cubicBezTo>
                  <a:cubicBezTo>
                    <a:pt x="446" y="396"/>
                    <a:pt x="446" y="396"/>
                    <a:pt x="446" y="396"/>
                  </a:cubicBezTo>
                  <a:cubicBezTo>
                    <a:pt x="460" y="396"/>
                    <a:pt x="474" y="389"/>
                    <a:pt x="474" y="367"/>
                  </a:cubicBezTo>
                  <a:cubicBezTo>
                    <a:pt x="474" y="353"/>
                    <a:pt x="460" y="339"/>
                    <a:pt x="446" y="339"/>
                  </a:cubicBezTo>
                  <a:close/>
                  <a:moveTo>
                    <a:pt x="417" y="113"/>
                  </a:moveTo>
                  <a:lnTo>
                    <a:pt x="417" y="113"/>
                  </a:lnTo>
                  <a:cubicBezTo>
                    <a:pt x="403" y="113"/>
                    <a:pt x="389" y="106"/>
                    <a:pt x="389" y="85"/>
                  </a:cubicBezTo>
                  <a:cubicBezTo>
                    <a:pt x="389" y="28"/>
                    <a:pt x="389" y="28"/>
                    <a:pt x="389" y="28"/>
                  </a:cubicBezTo>
                  <a:cubicBezTo>
                    <a:pt x="389" y="14"/>
                    <a:pt x="403" y="0"/>
                    <a:pt x="417" y="0"/>
                  </a:cubicBezTo>
                  <a:cubicBezTo>
                    <a:pt x="431" y="0"/>
                    <a:pt x="446" y="14"/>
                    <a:pt x="446" y="28"/>
                  </a:cubicBezTo>
                  <a:cubicBezTo>
                    <a:pt x="446" y="85"/>
                    <a:pt x="446" y="85"/>
                    <a:pt x="446" y="85"/>
                  </a:cubicBezTo>
                  <a:cubicBezTo>
                    <a:pt x="446" y="106"/>
                    <a:pt x="431" y="113"/>
                    <a:pt x="417" y="113"/>
                  </a:cubicBezTo>
                  <a:close/>
                  <a:moveTo>
                    <a:pt x="276" y="113"/>
                  </a:moveTo>
                  <a:lnTo>
                    <a:pt x="276" y="113"/>
                  </a:lnTo>
                  <a:cubicBezTo>
                    <a:pt x="262" y="113"/>
                    <a:pt x="248" y="106"/>
                    <a:pt x="248" y="85"/>
                  </a:cubicBezTo>
                  <a:cubicBezTo>
                    <a:pt x="248" y="28"/>
                    <a:pt x="248" y="28"/>
                    <a:pt x="248" y="28"/>
                  </a:cubicBezTo>
                  <a:cubicBezTo>
                    <a:pt x="248" y="14"/>
                    <a:pt x="262" y="0"/>
                    <a:pt x="276" y="0"/>
                  </a:cubicBezTo>
                  <a:cubicBezTo>
                    <a:pt x="290" y="0"/>
                    <a:pt x="304" y="14"/>
                    <a:pt x="304" y="28"/>
                  </a:cubicBezTo>
                  <a:cubicBezTo>
                    <a:pt x="304" y="85"/>
                    <a:pt x="304" y="85"/>
                    <a:pt x="304" y="85"/>
                  </a:cubicBezTo>
                  <a:cubicBezTo>
                    <a:pt x="304" y="106"/>
                    <a:pt x="290" y="113"/>
                    <a:pt x="276" y="113"/>
                  </a:cubicBezTo>
                  <a:close/>
                  <a:moveTo>
                    <a:pt x="135" y="113"/>
                  </a:moveTo>
                  <a:lnTo>
                    <a:pt x="135" y="113"/>
                  </a:lnTo>
                  <a:cubicBezTo>
                    <a:pt x="121" y="113"/>
                    <a:pt x="106" y="106"/>
                    <a:pt x="106" y="85"/>
                  </a:cubicBezTo>
                  <a:cubicBezTo>
                    <a:pt x="106" y="28"/>
                    <a:pt x="106" y="28"/>
                    <a:pt x="106" y="28"/>
                  </a:cubicBezTo>
                  <a:cubicBezTo>
                    <a:pt x="106" y="14"/>
                    <a:pt x="121" y="0"/>
                    <a:pt x="135" y="0"/>
                  </a:cubicBezTo>
                  <a:cubicBezTo>
                    <a:pt x="149" y="0"/>
                    <a:pt x="163" y="14"/>
                    <a:pt x="163" y="28"/>
                  </a:cubicBezTo>
                  <a:cubicBezTo>
                    <a:pt x="163" y="85"/>
                    <a:pt x="163" y="85"/>
                    <a:pt x="163" y="85"/>
                  </a:cubicBezTo>
                  <a:cubicBezTo>
                    <a:pt x="163" y="106"/>
                    <a:pt x="149" y="113"/>
                    <a:pt x="135" y="113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wrap="none" lIns="45720" tIns="22860" rIns="45720" bIns="22860" anchor="ctr"/>
            <a:lstStyle/>
            <a:p>
              <a:endParaRPr lang="en-US" sz="2400">
                <a:latin typeface="Roboto Light"/>
              </a:endParaRPr>
            </a:p>
          </p:txBody>
        </p:sp>
      </p:grpSp>
      <p:grpSp>
        <p:nvGrpSpPr>
          <p:cNvPr id="13" name="组合 12"/>
          <p:cNvGrpSpPr/>
          <p:nvPr userDrawn="1"/>
        </p:nvGrpSpPr>
        <p:grpSpPr>
          <a:xfrm>
            <a:off x="5868299" y="2469417"/>
            <a:ext cx="576064" cy="576064"/>
            <a:chOff x="4788024" y="1275213"/>
            <a:chExt cx="432048" cy="432048"/>
          </a:xfrm>
        </p:grpSpPr>
        <p:sp>
          <p:nvSpPr>
            <p:cNvPr id="14" name="椭圆 65"/>
            <p:cNvSpPr>
              <a:spLocks noChangeArrowheads="1"/>
            </p:cNvSpPr>
            <p:nvPr/>
          </p:nvSpPr>
          <p:spPr bwMode="auto">
            <a:xfrm>
              <a:off x="4788024" y="1275213"/>
              <a:ext cx="432048" cy="432048"/>
            </a:xfrm>
            <a:prstGeom prst="ellipse">
              <a:avLst/>
            </a:prstGeom>
            <a:solidFill>
              <a:srgbClr val="F79600"/>
            </a:solidFill>
            <a:ln>
              <a:noFill/>
            </a:ln>
          </p:spPr>
          <p:txBody>
            <a:bodyPr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endParaRPr lang="zh-CN" altLang="en-US" sz="2400">
                <a:solidFill>
                  <a:srgbClr val="FFFFFF"/>
                </a:solidFill>
                <a:latin typeface="Calibri" panose="020F0502020204030204" pitchFamily="34" charset="0"/>
              </a:endParaRPr>
            </a:p>
          </p:txBody>
        </p:sp>
        <p:sp>
          <p:nvSpPr>
            <p:cNvPr id="15" name="Freeform 110"/>
            <p:cNvSpPr>
              <a:spLocks noChangeArrowheads="1"/>
            </p:cNvSpPr>
            <p:nvPr/>
          </p:nvSpPr>
          <p:spPr bwMode="auto">
            <a:xfrm>
              <a:off x="4891102" y="1366806"/>
              <a:ext cx="250679" cy="248862"/>
            </a:xfrm>
            <a:custGeom>
              <a:avLst/>
              <a:gdLst>
                <a:gd name="T0" fmla="*/ 78678142 w 609"/>
                <a:gd name="T1" fmla="*/ 71002280 h 602"/>
                <a:gd name="T2" fmla="*/ 78678142 w 609"/>
                <a:gd name="T3" fmla="*/ 71002280 h 602"/>
                <a:gd name="T4" fmla="*/ 71302258 w 609"/>
                <a:gd name="T5" fmla="*/ 78441997 h 602"/>
                <a:gd name="T6" fmla="*/ 65867111 w 609"/>
                <a:gd name="T7" fmla="*/ 76614673 h 602"/>
                <a:gd name="T8" fmla="*/ 44774038 w 609"/>
                <a:gd name="T9" fmla="*/ 54426302 h 602"/>
                <a:gd name="T10" fmla="*/ 29245613 w 609"/>
                <a:gd name="T11" fmla="*/ 59125033 h 602"/>
                <a:gd name="T12" fmla="*/ 0 w 609"/>
                <a:gd name="T13" fmla="*/ 29497307 h 602"/>
                <a:gd name="T14" fmla="*/ 29245613 w 609"/>
                <a:gd name="T15" fmla="*/ 0 h 602"/>
                <a:gd name="T16" fmla="*/ 58491226 w 609"/>
                <a:gd name="T17" fmla="*/ 29497307 h 602"/>
                <a:gd name="T18" fmla="*/ 54867675 w 609"/>
                <a:gd name="T19" fmla="*/ 44376380 h 602"/>
                <a:gd name="T20" fmla="*/ 75960749 w 609"/>
                <a:gd name="T21" fmla="*/ 65520668 h 602"/>
                <a:gd name="T22" fmla="*/ 78678142 w 609"/>
                <a:gd name="T23" fmla="*/ 71002280 h 602"/>
                <a:gd name="T24" fmla="*/ 29245613 w 609"/>
                <a:gd name="T25" fmla="*/ 7439717 h 602"/>
                <a:gd name="T26" fmla="*/ 29245613 w 609"/>
                <a:gd name="T27" fmla="*/ 7439717 h 602"/>
                <a:gd name="T28" fmla="*/ 7246742 w 609"/>
                <a:gd name="T29" fmla="*/ 29497307 h 602"/>
                <a:gd name="T30" fmla="*/ 29245613 w 609"/>
                <a:gd name="T31" fmla="*/ 51685677 h 602"/>
                <a:gd name="T32" fmla="*/ 51244484 w 609"/>
                <a:gd name="T33" fmla="*/ 29497307 h 602"/>
                <a:gd name="T34" fmla="*/ 29245613 w 609"/>
                <a:gd name="T35" fmla="*/ 7439717 h 602"/>
                <a:gd name="T36" fmla="*/ 42056644 w 609"/>
                <a:gd name="T37" fmla="*/ 33282375 h 602"/>
                <a:gd name="T38" fmla="*/ 42056644 w 609"/>
                <a:gd name="T39" fmla="*/ 33282375 h 602"/>
                <a:gd name="T40" fmla="*/ 32868804 w 609"/>
                <a:gd name="T41" fmla="*/ 33282375 h 602"/>
                <a:gd name="T42" fmla="*/ 32868804 w 609"/>
                <a:gd name="T43" fmla="*/ 41504973 h 602"/>
                <a:gd name="T44" fmla="*/ 29245613 w 609"/>
                <a:gd name="T45" fmla="*/ 45290042 h 602"/>
                <a:gd name="T46" fmla="*/ 25622062 w 609"/>
                <a:gd name="T47" fmla="*/ 41504973 h 602"/>
                <a:gd name="T48" fmla="*/ 25622062 w 609"/>
                <a:gd name="T49" fmla="*/ 33282375 h 602"/>
                <a:gd name="T50" fmla="*/ 17340380 w 609"/>
                <a:gd name="T51" fmla="*/ 33282375 h 602"/>
                <a:gd name="T52" fmla="*/ 13716829 w 609"/>
                <a:gd name="T53" fmla="*/ 29497307 h 602"/>
                <a:gd name="T54" fmla="*/ 17340380 w 609"/>
                <a:gd name="T55" fmla="*/ 25842658 h 602"/>
                <a:gd name="T56" fmla="*/ 25622062 w 609"/>
                <a:gd name="T57" fmla="*/ 25842658 h 602"/>
                <a:gd name="T58" fmla="*/ 25622062 w 609"/>
                <a:gd name="T59" fmla="*/ 16575978 h 602"/>
                <a:gd name="T60" fmla="*/ 29245613 w 609"/>
                <a:gd name="T61" fmla="*/ 12921329 h 602"/>
                <a:gd name="T62" fmla="*/ 32868804 w 609"/>
                <a:gd name="T63" fmla="*/ 16575978 h 602"/>
                <a:gd name="T64" fmla="*/ 32868804 w 609"/>
                <a:gd name="T65" fmla="*/ 25842658 h 602"/>
                <a:gd name="T66" fmla="*/ 42056644 w 609"/>
                <a:gd name="T67" fmla="*/ 25842658 h 602"/>
                <a:gd name="T68" fmla="*/ 45679835 w 609"/>
                <a:gd name="T69" fmla="*/ 29497307 h 602"/>
                <a:gd name="T70" fmla="*/ 42056644 w 609"/>
                <a:gd name="T71" fmla="*/ 33282375 h 602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</a:gdLst>
              <a:ahLst/>
              <a:cxnLst>
                <a:cxn ang="T72">
                  <a:pos x="T0" y="T1"/>
                </a:cxn>
                <a:cxn ang="T73">
                  <a:pos x="T2" y="T3"/>
                </a:cxn>
                <a:cxn ang="T74">
                  <a:pos x="T4" y="T5"/>
                </a:cxn>
                <a:cxn ang="T75">
                  <a:pos x="T6" y="T7"/>
                </a:cxn>
                <a:cxn ang="T76">
                  <a:pos x="T8" y="T9"/>
                </a:cxn>
                <a:cxn ang="T77">
                  <a:pos x="T10" y="T11"/>
                </a:cxn>
                <a:cxn ang="T78">
                  <a:pos x="T12" y="T13"/>
                </a:cxn>
                <a:cxn ang="T79">
                  <a:pos x="T14" y="T15"/>
                </a:cxn>
                <a:cxn ang="T80">
                  <a:pos x="T16" y="T17"/>
                </a:cxn>
                <a:cxn ang="T81">
                  <a:pos x="T18" y="T19"/>
                </a:cxn>
                <a:cxn ang="T82">
                  <a:pos x="T20" y="T21"/>
                </a:cxn>
                <a:cxn ang="T83">
                  <a:pos x="T22" y="T23"/>
                </a:cxn>
                <a:cxn ang="T84">
                  <a:pos x="T24" y="T25"/>
                </a:cxn>
                <a:cxn ang="T85">
                  <a:pos x="T26" y="T27"/>
                </a:cxn>
                <a:cxn ang="T86">
                  <a:pos x="T28" y="T29"/>
                </a:cxn>
                <a:cxn ang="T87">
                  <a:pos x="T30" y="T31"/>
                </a:cxn>
                <a:cxn ang="T88">
                  <a:pos x="T32" y="T33"/>
                </a:cxn>
                <a:cxn ang="T89">
                  <a:pos x="T34" y="T35"/>
                </a:cxn>
                <a:cxn ang="T90">
                  <a:pos x="T36" y="T37"/>
                </a:cxn>
                <a:cxn ang="T91">
                  <a:pos x="T38" y="T39"/>
                </a:cxn>
                <a:cxn ang="T92">
                  <a:pos x="T40" y="T41"/>
                </a:cxn>
                <a:cxn ang="T93">
                  <a:pos x="T42" y="T43"/>
                </a:cxn>
                <a:cxn ang="T94">
                  <a:pos x="T44" y="T45"/>
                </a:cxn>
                <a:cxn ang="T95">
                  <a:pos x="T46" y="T47"/>
                </a:cxn>
                <a:cxn ang="T96">
                  <a:pos x="T48" y="T49"/>
                </a:cxn>
                <a:cxn ang="T97">
                  <a:pos x="T50" y="T51"/>
                </a:cxn>
                <a:cxn ang="T98">
                  <a:pos x="T52" y="T53"/>
                </a:cxn>
                <a:cxn ang="T99">
                  <a:pos x="T54" y="T55"/>
                </a:cxn>
                <a:cxn ang="T100">
                  <a:pos x="T56" y="T57"/>
                </a:cxn>
                <a:cxn ang="T101">
                  <a:pos x="T58" y="T59"/>
                </a:cxn>
                <a:cxn ang="T102">
                  <a:pos x="T60" y="T61"/>
                </a:cxn>
                <a:cxn ang="T103">
                  <a:pos x="T62" y="T63"/>
                </a:cxn>
                <a:cxn ang="T104">
                  <a:pos x="T64" y="T65"/>
                </a:cxn>
                <a:cxn ang="T105">
                  <a:pos x="T66" y="T67"/>
                </a:cxn>
                <a:cxn ang="T106">
                  <a:pos x="T68" y="T69"/>
                </a:cxn>
                <a:cxn ang="T107">
                  <a:pos x="T70" y="T71"/>
                </a:cxn>
              </a:cxnLst>
              <a:rect l="0" t="0" r="r" b="b"/>
              <a:pathLst>
                <a:path w="609" h="602">
                  <a:moveTo>
                    <a:pt x="608" y="544"/>
                  </a:moveTo>
                  <a:lnTo>
                    <a:pt x="608" y="544"/>
                  </a:lnTo>
                  <a:cubicBezTo>
                    <a:pt x="608" y="573"/>
                    <a:pt x="579" y="601"/>
                    <a:pt x="551" y="601"/>
                  </a:cubicBezTo>
                  <a:cubicBezTo>
                    <a:pt x="530" y="601"/>
                    <a:pt x="516" y="594"/>
                    <a:pt x="509" y="587"/>
                  </a:cubicBezTo>
                  <a:cubicBezTo>
                    <a:pt x="346" y="417"/>
                    <a:pt x="346" y="417"/>
                    <a:pt x="346" y="417"/>
                  </a:cubicBezTo>
                  <a:cubicBezTo>
                    <a:pt x="311" y="438"/>
                    <a:pt x="269" y="453"/>
                    <a:pt x="226" y="453"/>
                  </a:cubicBezTo>
                  <a:cubicBezTo>
                    <a:pt x="106" y="453"/>
                    <a:pt x="0" y="347"/>
                    <a:pt x="0" y="226"/>
                  </a:cubicBezTo>
                  <a:cubicBezTo>
                    <a:pt x="0" y="99"/>
                    <a:pt x="106" y="0"/>
                    <a:pt x="226" y="0"/>
                  </a:cubicBezTo>
                  <a:cubicBezTo>
                    <a:pt x="353" y="0"/>
                    <a:pt x="452" y="99"/>
                    <a:pt x="452" y="226"/>
                  </a:cubicBezTo>
                  <a:cubicBezTo>
                    <a:pt x="452" y="269"/>
                    <a:pt x="445" y="304"/>
                    <a:pt x="424" y="340"/>
                  </a:cubicBezTo>
                  <a:cubicBezTo>
                    <a:pt x="587" y="502"/>
                    <a:pt x="587" y="502"/>
                    <a:pt x="587" y="502"/>
                  </a:cubicBezTo>
                  <a:cubicBezTo>
                    <a:pt x="601" y="516"/>
                    <a:pt x="608" y="530"/>
                    <a:pt x="608" y="544"/>
                  </a:cubicBezTo>
                  <a:close/>
                  <a:moveTo>
                    <a:pt x="226" y="57"/>
                  </a:moveTo>
                  <a:lnTo>
                    <a:pt x="226" y="57"/>
                  </a:lnTo>
                  <a:cubicBezTo>
                    <a:pt x="134" y="57"/>
                    <a:pt x="56" y="127"/>
                    <a:pt x="56" y="226"/>
                  </a:cubicBezTo>
                  <a:cubicBezTo>
                    <a:pt x="56" y="318"/>
                    <a:pt x="134" y="396"/>
                    <a:pt x="226" y="396"/>
                  </a:cubicBezTo>
                  <a:cubicBezTo>
                    <a:pt x="325" y="396"/>
                    <a:pt x="396" y="318"/>
                    <a:pt x="396" y="226"/>
                  </a:cubicBezTo>
                  <a:cubicBezTo>
                    <a:pt x="396" y="127"/>
                    <a:pt x="325" y="57"/>
                    <a:pt x="226" y="57"/>
                  </a:cubicBezTo>
                  <a:close/>
                  <a:moveTo>
                    <a:pt x="325" y="255"/>
                  </a:moveTo>
                  <a:lnTo>
                    <a:pt x="325" y="255"/>
                  </a:lnTo>
                  <a:cubicBezTo>
                    <a:pt x="254" y="255"/>
                    <a:pt x="254" y="255"/>
                    <a:pt x="254" y="255"/>
                  </a:cubicBezTo>
                  <a:cubicBezTo>
                    <a:pt x="254" y="318"/>
                    <a:pt x="254" y="318"/>
                    <a:pt x="254" y="318"/>
                  </a:cubicBezTo>
                  <a:cubicBezTo>
                    <a:pt x="254" y="333"/>
                    <a:pt x="247" y="347"/>
                    <a:pt x="226" y="347"/>
                  </a:cubicBezTo>
                  <a:cubicBezTo>
                    <a:pt x="212" y="347"/>
                    <a:pt x="198" y="333"/>
                    <a:pt x="198" y="318"/>
                  </a:cubicBezTo>
                  <a:cubicBezTo>
                    <a:pt x="198" y="255"/>
                    <a:pt x="198" y="255"/>
                    <a:pt x="198" y="255"/>
                  </a:cubicBezTo>
                  <a:cubicBezTo>
                    <a:pt x="134" y="255"/>
                    <a:pt x="134" y="255"/>
                    <a:pt x="134" y="255"/>
                  </a:cubicBezTo>
                  <a:cubicBezTo>
                    <a:pt x="120" y="255"/>
                    <a:pt x="106" y="241"/>
                    <a:pt x="106" y="226"/>
                  </a:cubicBezTo>
                  <a:cubicBezTo>
                    <a:pt x="106" y="205"/>
                    <a:pt x="120" y="198"/>
                    <a:pt x="134" y="198"/>
                  </a:cubicBezTo>
                  <a:cubicBezTo>
                    <a:pt x="198" y="198"/>
                    <a:pt x="198" y="198"/>
                    <a:pt x="198" y="198"/>
                  </a:cubicBezTo>
                  <a:cubicBezTo>
                    <a:pt x="198" y="127"/>
                    <a:pt x="198" y="127"/>
                    <a:pt x="198" y="127"/>
                  </a:cubicBezTo>
                  <a:cubicBezTo>
                    <a:pt x="198" y="113"/>
                    <a:pt x="212" y="99"/>
                    <a:pt x="226" y="99"/>
                  </a:cubicBezTo>
                  <a:cubicBezTo>
                    <a:pt x="247" y="99"/>
                    <a:pt x="254" y="113"/>
                    <a:pt x="254" y="127"/>
                  </a:cubicBezTo>
                  <a:cubicBezTo>
                    <a:pt x="254" y="198"/>
                    <a:pt x="254" y="198"/>
                    <a:pt x="254" y="198"/>
                  </a:cubicBezTo>
                  <a:cubicBezTo>
                    <a:pt x="325" y="198"/>
                    <a:pt x="325" y="198"/>
                    <a:pt x="325" y="198"/>
                  </a:cubicBezTo>
                  <a:cubicBezTo>
                    <a:pt x="339" y="198"/>
                    <a:pt x="353" y="205"/>
                    <a:pt x="353" y="226"/>
                  </a:cubicBezTo>
                  <a:cubicBezTo>
                    <a:pt x="353" y="241"/>
                    <a:pt x="339" y="255"/>
                    <a:pt x="325" y="255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wrap="none" lIns="45720" tIns="22860" rIns="45720" bIns="22860" anchor="ctr"/>
            <a:lstStyle/>
            <a:p>
              <a:endParaRPr lang="en-US" sz="2400">
                <a:latin typeface="Roboto Light"/>
              </a:endParaRPr>
            </a:p>
          </p:txBody>
        </p:sp>
      </p:grpSp>
      <p:grpSp>
        <p:nvGrpSpPr>
          <p:cNvPr id="16" name="组合 15"/>
          <p:cNvGrpSpPr/>
          <p:nvPr userDrawn="1"/>
        </p:nvGrpSpPr>
        <p:grpSpPr>
          <a:xfrm>
            <a:off x="6732395" y="2468893"/>
            <a:ext cx="577111" cy="577112"/>
            <a:chOff x="5436096" y="1274820"/>
            <a:chExt cx="432833" cy="432834"/>
          </a:xfrm>
        </p:grpSpPr>
        <p:sp>
          <p:nvSpPr>
            <p:cNvPr id="17" name="椭圆 16"/>
            <p:cNvSpPr>
              <a:spLocks noChangeArrowheads="1"/>
            </p:cNvSpPr>
            <p:nvPr/>
          </p:nvSpPr>
          <p:spPr bwMode="auto">
            <a:xfrm>
              <a:off x="5436096" y="1274820"/>
              <a:ext cx="432833" cy="43283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endParaRPr lang="zh-CN" altLang="en-US" sz="2400">
                <a:solidFill>
                  <a:srgbClr val="FFFFFF"/>
                </a:solidFill>
                <a:latin typeface="Calibri" panose="020F0502020204030204" pitchFamily="34" charset="0"/>
              </a:endParaRPr>
            </a:p>
          </p:txBody>
        </p:sp>
        <p:sp>
          <p:nvSpPr>
            <p:cNvPr id="18" name="Freeform 16"/>
            <p:cNvSpPr>
              <a:spLocks noChangeArrowheads="1"/>
            </p:cNvSpPr>
            <p:nvPr/>
          </p:nvSpPr>
          <p:spPr bwMode="auto">
            <a:xfrm>
              <a:off x="5554420" y="1377705"/>
              <a:ext cx="196183" cy="227065"/>
            </a:xfrm>
            <a:custGeom>
              <a:avLst/>
              <a:gdLst>
                <a:gd name="T0" fmla="*/ 58106390 w 475"/>
                <a:gd name="T1" fmla="*/ 71207247 h 552"/>
                <a:gd name="T2" fmla="*/ 58106390 w 475"/>
                <a:gd name="T3" fmla="*/ 71207247 h 552"/>
                <a:gd name="T4" fmla="*/ 54327993 w 475"/>
                <a:gd name="T5" fmla="*/ 71207247 h 552"/>
                <a:gd name="T6" fmla="*/ 54327993 w 475"/>
                <a:gd name="T7" fmla="*/ 0 h 552"/>
                <a:gd name="T8" fmla="*/ 58106390 w 475"/>
                <a:gd name="T9" fmla="*/ 0 h 552"/>
                <a:gd name="T10" fmla="*/ 61754124 w 475"/>
                <a:gd name="T11" fmla="*/ 3618618 h 552"/>
                <a:gd name="T12" fmla="*/ 61754124 w 475"/>
                <a:gd name="T13" fmla="*/ 67588630 h 552"/>
                <a:gd name="T14" fmla="*/ 58106390 w 475"/>
                <a:gd name="T15" fmla="*/ 71207247 h 552"/>
                <a:gd name="T16" fmla="*/ 7426131 w 475"/>
                <a:gd name="T17" fmla="*/ 67588630 h 552"/>
                <a:gd name="T18" fmla="*/ 7426131 w 475"/>
                <a:gd name="T19" fmla="*/ 67588630 h 552"/>
                <a:gd name="T20" fmla="*/ 7426131 w 475"/>
                <a:gd name="T21" fmla="*/ 63970012 h 552"/>
                <a:gd name="T22" fmla="*/ 13809846 w 475"/>
                <a:gd name="T23" fmla="*/ 63970012 h 552"/>
                <a:gd name="T24" fmla="*/ 21235977 w 475"/>
                <a:gd name="T25" fmla="*/ 56603721 h 552"/>
                <a:gd name="T26" fmla="*/ 13809846 w 475"/>
                <a:gd name="T27" fmla="*/ 49237429 h 552"/>
                <a:gd name="T28" fmla="*/ 7426131 w 475"/>
                <a:gd name="T29" fmla="*/ 49237429 h 552"/>
                <a:gd name="T30" fmla="*/ 7426131 w 475"/>
                <a:gd name="T31" fmla="*/ 42905028 h 552"/>
                <a:gd name="T32" fmla="*/ 13809846 w 475"/>
                <a:gd name="T33" fmla="*/ 42905028 h 552"/>
                <a:gd name="T34" fmla="*/ 21235977 w 475"/>
                <a:gd name="T35" fmla="*/ 35539095 h 552"/>
                <a:gd name="T36" fmla="*/ 13809846 w 475"/>
                <a:gd name="T37" fmla="*/ 28301860 h 552"/>
                <a:gd name="T38" fmla="*/ 7426131 w 475"/>
                <a:gd name="T39" fmla="*/ 28301860 h 552"/>
                <a:gd name="T40" fmla="*/ 7426131 w 475"/>
                <a:gd name="T41" fmla="*/ 21840403 h 552"/>
                <a:gd name="T42" fmla="*/ 13809846 w 475"/>
                <a:gd name="T43" fmla="*/ 21840403 h 552"/>
                <a:gd name="T44" fmla="*/ 21235977 w 475"/>
                <a:gd name="T45" fmla="*/ 14603167 h 552"/>
                <a:gd name="T46" fmla="*/ 13809846 w 475"/>
                <a:gd name="T47" fmla="*/ 7236876 h 552"/>
                <a:gd name="T48" fmla="*/ 7426131 w 475"/>
                <a:gd name="T49" fmla="*/ 7236876 h 552"/>
                <a:gd name="T50" fmla="*/ 7426131 w 475"/>
                <a:gd name="T51" fmla="*/ 3618618 h 552"/>
                <a:gd name="T52" fmla="*/ 11074226 w 475"/>
                <a:gd name="T53" fmla="*/ 0 h 552"/>
                <a:gd name="T54" fmla="*/ 50680259 w 475"/>
                <a:gd name="T55" fmla="*/ 0 h 552"/>
                <a:gd name="T56" fmla="*/ 50680259 w 475"/>
                <a:gd name="T57" fmla="*/ 71207247 h 552"/>
                <a:gd name="T58" fmla="*/ 11074226 w 475"/>
                <a:gd name="T59" fmla="*/ 71207247 h 552"/>
                <a:gd name="T60" fmla="*/ 7426131 w 475"/>
                <a:gd name="T61" fmla="*/ 67588630 h 552"/>
                <a:gd name="T62" fmla="*/ 17588243 w 475"/>
                <a:gd name="T63" fmla="*/ 14603167 h 552"/>
                <a:gd name="T64" fmla="*/ 17588243 w 475"/>
                <a:gd name="T65" fmla="*/ 14603167 h 552"/>
                <a:gd name="T66" fmla="*/ 13809846 w 475"/>
                <a:gd name="T67" fmla="*/ 18221785 h 552"/>
                <a:gd name="T68" fmla="*/ 3778036 w 475"/>
                <a:gd name="T69" fmla="*/ 18221785 h 552"/>
                <a:gd name="T70" fmla="*/ 0 w 475"/>
                <a:gd name="T71" fmla="*/ 14603167 h 552"/>
                <a:gd name="T72" fmla="*/ 3778036 w 475"/>
                <a:gd name="T73" fmla="*/ 10984909 h 552"/>
                <a:gd name="T74" fmla="*/ 13809846 w 475"/>
                <a:gd name="T75" fmla="*/ 10984909 h 552"/>
                <a:gd name="T76" fmla="*/ 17588243 w 475"/>
                <a:gd name="T77" fmla="*/ 14603167 h 552"/>
                <a:gd name="T78" fmla="*/ 3778036 w 475"/>
                <a:gd name="T79" fmla="*/ 31920478 h 552"/>
                <a:gd name="T80" fmla="*/ 3778036 w 475"/>
                <a:gd name="T81" fmla="*/ 31920478 h 552"/>
                <a:gd name="T82" fmla="*/ 13809846 w 475"/>
                <a:gd name="T83" fmla="*/ 31920478 h 552"/>
                <a:gd name="T84" fmla="*/ 17588243 w 475"/>
                <a:gd name="T85" fmla="*/ 35539095 h 552"/>
                <a:gd name="T86" fmla="*/ 13809846 w 475"/>
                <a:gd name="T87" fmla="*/ 39286770 h 552"/>
                <a:gd name="T88" fmla="*/ 3778036 w 475"/>
                <a:gd name="T89" fmla="*/ 39286770 h 552"/>
                <a:gd name="T90" fmla="*/ 0 w 475"/>
                <a:gd name="T91" fmla="*/ 35539095 h 552"/>
                <a:gd name="T92" fmla="*/ 3778036 w 475"/>
                <a:gd name="T93" fmla="*/ 31920478 h 552"/>
                <a:gd name="T94" fmla="*/ 3778036 w 475"/>
                <a:gd name="T95" fmla="*/ 52985462 h 552"/>
                <a:gd name="T96" fmla="*/ 3778036 w 475"/>
                <a:gd name="T97" fmla="*/ 52985462 h 552"/>
                <a:gd name="T98" fmla="*/ 13809846 w 475"/>
                <a:gd name="T99" fmla="*/ 52985462 h 552"/>
                <a:gd name="T100" fmla="*/ 17588243 w 475"/>
                <a:gd name="T101" fmla="*/ 56603721 h 552"/>
                <a:gd name="T102" fmla="*/ 13809846 w 475"/>
                <a:gd name="T103" fmla="*/ 60222338 h 552"/>
                <a:gd name="T104" fmla="*/ 3778036 w 475"/>
                <a:gd name="T105" fmla="*/ 60222338 h 552"/>
                <a:gd name="T106" fmla="*/ 0 w 475"/>
                <a:gd name="T107" fmla="*/ 56603721 h 552"/>
                <a:gd name="T108" fmla="*/ 3778036 w 475"/>
                <a:gd name="T109" fmla="*/ 52985462 h 552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</a:gdLst>
              <a:ahLst/>
              <a:cxnLst>
                <a:cxn ang="T110">
                  <a:pos x="T0" y="T1"/>
                </a:cxn>
                <a:cxn ang="T111">
                  <a:pos x="T2" y="T3"/>
                </a:cxn>
                <a:cxn ang="T112">
                  <a:pos x="T4" y="T5"/>
                </a:cxn>
                <a:cxn ang="T113">
                  <a:pos x="T6" y="T7"/>
                </a:cxn>
                <a:cxn ang="T114">
                  <a:pos x="T8" y="T9"/>
                </a:cxn>
                <a:cxn ang="T115">
                  <a:pos x="T10" y="T11"/>
                </a:cxn>
                <a:cxn ang="T116">
                  <a:pos x="T12" y="T13"/>
                </a:cxn>
                <a:cxn ang="T117">
                  <a:pos x="T14" y="T15"/>
                </a:cxn>
                <a:cxn ang="T118">
                  <a:pos x="T16" y="T17"/>
                </a:cxn>
                <a:cxn ang="T119">
                  <a:pos x="T18" y="T19"/>
                </a:cxn>
                <a:cxn ang="T120">
                  <a:pos x="T20" y="T21"/>
                </a:cxn>
                <a:cxn ang="T121">
                  <a:pos x="T22" y="T23"/>
                </a:cxn>
                <a:cxn ang="T122">
                  <a:pos x="T24" y="T25"/>
                </a:cxn>
                <a:cxn ang="T123">
                  <a:pos x="T26" y="T27"/>
                </a:cxn>
                <a:cxn ang="T124">
                  <a:pos x="T28" y="T29"/>
                </a:cxn>
                <a:cxn ang="T125">
                  <a:pos x="T30" y="T31"/>
                </a:cxn>
                <a:cxn ang="T126">
                  <a:pos x="T32" y="T33"/>
                </a:cxn>
                <a:cxn ang="T127">
                  <a:pos x="T34" y="T35"/>
                </a:cxn>
                <a:cxn ang="T128">
                  <a:pos x="T36" y="T37"/>
                </a:cxn>
                <a:cxn ang="T129">
                  <a:pos x="T38" y="T39"/>
                </a:cxn>
                <a:cxn ang="T130">
                  <a:pos x="T40" y="T41"/>
                </a:cxn>
                <a:cxn ang="T131">
                  <a:pos x="T42" y="T43"/>
                </a:cxn>
                <a:cxn ang="T132">
                  <a:pos x="T44" y="T45"/>
                </a:cxn>
                <a:cxn ang="T133">
                  <a:pos x="T46" y="T47"/>
                </a:cxn>
                <a:cxn ang="T134">
                  <a:pos x="T48" y="T49"/>
                </a:cxn>
                <a:cxn ang="T135">
                  <a:pos x="T50" y="T51"/>
                </a:cxn>
                <a:cxn ang="T136">
                  <a:pos x="T52" y="T53"/>
                </a:cxn>
                <a:cxn ang="T137">
                  <a:pos x="T54" y="T55"/>
                </a:cxn>
                <a:cxn ang="T138">
                  <a:pos x="T56" y="T57"/>
                </a:cxn>
                <a:cxn ang="T139">
                  <a:pos x="T58" y="T59"/>
                </a:cxn>
                <a:cxn ang="T140">
                  <a:pos x="T60" y="T61"/>
                </a:cxn>
                <a:cxn ang="T141">
                  <a:pos x="T62" y="T63"/>
                </a:cxn>
                <a:cxn ang="T142">
                  <a:pos x="T64" y="T65"/>
                </a:cxn>
                <a:cxn ang="T143">
                  <a:pos x="T66" y="T67"/>
                </a:cxn>
                <a:cxn ang="T144">
                  <a:pos x="T68" y="T69"/>
                </a:cxn>
                <a:cxn ang="T145">
                  <a:pos x="T70" y="T71"/>
                </a:cxn>
                <a:cxn ang="T146">
                  <a:pos x="T72" y="T73"/>
                </a:cxn>
                <a:cxn ang="T147">
                  <a:pos x="T74" y="T75"/>
                </a:cxn>
                <a:cxn ang="T148">
                  <a:pos x="T76" y="T77"/>
                </a:cxn>
                <a:cxn ang="T149">
                  <a:pos x="T78" y="T79"/>
                </a:cxn>
                <a:cxn ang="T150">
                  <a:pos x="T80" y="T81"/>
                </a:cxn>
                <a:cxn ang="T151">
                  <a:pos x="T82" y="T83"/>
                </a:cxn>
                <a:cxn ang="T152">
                  <a:pos x="T84" y="T85"/>
                </a:cxn>
                <a:cxn ang="T153">
                  <a:pos x="T86" y="T87"/>
                </a:cxn>
                <a:cxn ang="T154">
                  <a:pos x="T88" y="T89"/>
                </a:cxn>
                <a:cxn ang="T155">
                  <a:pos x="T90" y="T91"/>
                </a:cxn>
                <a:cxn ang="T156">
                  <a:pos x="T92" y="T93"/>
                </a:cxn>
                <a:cxn ang="T157">
                  <a:pos x="T94" y="T95"/>
                </a:cxn>
                <a:cxn ang="T158">
                  <a:pos x="T96" y="T97"/>
                </a:cxn>
                <a:cxn ang="T159">
                  <a:pos x="T98" y="T99"/>
                </a:cxn>
                <a:cxn ang="T160">
                  <a:pos x="T100" y="T101"/>
                </a:cxn>
                <a:cxn ang="T161">
                  <a:pos x="T102" y="T103"/>
                </a:cxn>
                <a:cxn ang="T162">
                  <a:pos x="T104" y="T105"/>
                </a:cxn>
                <a:cxn ang="T163">
                  <a:pos x="T106" y="T107"/>
                </a:cxn>
                <a:cxn ang="T164">
                  <a:pos x="T108" y="T109"/>
                </a:cxn>
              </a:cxnLst>
              <a:rect l="0" t="0" r="r" b="b"/>
              <a:pathLst>
                <a:path w="475" h="552">
                  <a:moveTo>
                    <a:pt x="446" y="551"/>
                  </a:moveTo>
                  <a:lnTo>
                    <a:pt x="446" y="551"/>
                  </a:lnTo>
                  <a:cubicBezTo>
                    <a:pt x="417" y="551"/>
                    <a:pt x="417" y="551"/>
                    <a:pt x="417" y="551"/>
                  </a:cubicBezTo>
                  <a:cubicBezTo>
                    <a:pt x="417" y="0"/>
                    <a:pt x="417" y="0"/>
                    <a:pt x="417" y="0"/>
                  </a:cubicBezTo>
                  <a:cubicBezTo>
                    <a:pt x="446" y="0"/>
                    <a:pt x="446" y="0"/>
                    <a:pt x="446" y="0"/>
                  </a:cubicBezTo>
                  <a:cubicBezTo>
                    <a:pt x="460" y="0"/>
                    <a:pt x="474" y="14"/>
                    <a:pt x="474" y="28"/>
                  </a:cubicBezTo>
                  <a:cubicBezTo>
                    <a:pt x="474" y="523"/>
                    <a:pt x="474" y="523"/>
                    <a:pt x="474" y="523"/>
                  </a:cubicBezTo>
                  <a:cubicBezTo>
                    <a:pt x="474" y="537"/>
                    <a:pt x="460" y="551"/>
                    <a:pt x="446" y="551"/>
                  </a:cubicBezTo>
                  <a:close/>
                  <a:moveTo>
                    <a:pt x="57" y="523"/>
                  </a:moveTo>
                  <a:lnTo>
                    <a:pt x="57" y="523"/>
                  </a:lnTo>
                  <a:cubicBezTo>
                    <a:pt x="57" y="495"/>
                    <a:pt x="57" y="495"/>
                    <a:pt x="57" y="495"/>
                  </a:cubicBezTo>
                  <a:cubicBezTo>
                    <a:pt x="106" y="495"/>
                    <a:pt x="106" y="495"/>
                    <a:pt x="106" y="495"/>
                  </a:cubicBezTo>
                  <a:cubicBezTo>
                    <a:pt x="135" y="495"/>
                    <a:pt x="163" y="466"/>
                    <a:pt x="163" y="438"/>
                  </a:cubicBezTo>
                  <a:cubicBezTo>
                    <a:pt x="163" y="403"/>
                    <a:pt x="135" y="381"/>
                    <a:pt x="106" y="381"/>
                  </a:cubicBezTo>
                  <a:cubicBezTo>
                    <a:pt x="57" y="381"/>
                    <a:pt x="57" y="381"/>
                    <a:pt x="57" y="381"/>
                  </a:cubicBezTo>
                  <a:cubicBezTo>
                    <a:pt x="57" y="332"/>
                    <a:pt x="57" y="332"/>
                    <a:pt x="57" y="332"/>
                  </a:cubicBezTo>
                  <a:cubicBezTo>
                    <a:pt x="106" y="332"/>
                    <a:pt x="106" y="332"/>
                    <a:pt x="106" y="332"/>
                  </a:cubicBezTo>
                  <a:cubicBezTo>
                    <a:pt x="135" y="332"/>
                    <a:pt x="163" y="304"/>
                    <a:pt x="163" y="275"/>
                  </a:cubicBezTo>
                  <a:cubicBezTo>
                    <a:pt x="163" y="247"/>
                    <a:pt x="135" y="219"/>
                    <a:pt x="106" y="219"/>
                  </a:cubicBezTo>
                  <a:cubicBezTo>
                    <a:pt x="57" y="219"/>
                    <a:pt x="57" y="219"/>
                    <a:pt x="57" y="219"/>
                  </a:cubicBezTo>
                  <a:cubicBezTo>
                    <a:pt x="57" y="169"/>
                    <a:pt x="57" y="169"/>
                    <a:pt x="57" y="169"/>
                  </a:cubicBezTo>
                  <a:cubicBezTo>
                    <a:pt x="106" y="169"/>
                    <a:pt x="106" y="169"/>
                    <a:pt x="106" y="169"/>
                  </a:cubicBezTo>
                  <a:cubicBezTo>
                    <a:pt x="135" y="169"/>
                    <a:pt x="163" y="148"/>
                    <a:pt x="163" y="113"/>
                  </a:cubicBezTo>
                  <a:cubicBezTo>
                    <a:pt x="163" y="85"/>
                    <a:pt x="135" y="56"/>
                    <a:pt x="106" y="56"/>
                  </a:cubicBezTo>
                  <a:cubicBezTo>
                    <a:pt x="57" y="56"/>
                    <a:pt x="57" y="56"/>
                    <a:pt x="57" y="56"/>
                  </a:cubicBezTo>
                  <a:cubicBezTo>
                    <a:pt x="57" y="28"/>
                    <a:pt x="57" y="28"/>
                    <a:pt x="57" y="28"/>
                  </a:cubicBezTo>
                  <a:cubicBezTo>
                    <a:pt x="57" y="14"/>
                    <a:pt x="71" y="0"/>
                    <a:pt x="85" y="0"/>
                  </a:cubicBezTo>
                  <a:cubicBezTo>
                    <a:pt x="389" y="0"/>
                    <a:pt x="389" y="0"/>
                    <a:pt x="389" y="0"/>
                  </a:cubicBezTo>
                  <a:cubicBezTo>
                    <a:pt x="389" y="551"/>
                    <a:pt x="389" y="551"/>
                    <a:pt x="389" y="551"/>
                  </a:cubicBezTo>
                  <a:cubicBezTo>
                    <a:pt x="85" y="551"/>
                    <a:pt x="85" y="551"/>
                    <a:pt x="85" y="551"/>
                  </a:cubicBezTo>
                  <a:cubicBezTo>
                    <a:pt x="71" y="551"/>
                    <a:pt x="57" y="537"/>
                    <a:pt x="57" y="523"/>
                  </a:cubicBezTo>
                  <a:close/>
                  <a:moveTo>
                    <a:pt x="135" y="113"/>
                  </a:moveTo>
                  <a:lnTo>
                    <a:pt x="135" y="113"/>
                  </a:lnTo>
                  <a:cubicBezTo>
                    <a:pt x="135" y="134"/>
                    <a:pt x="120" y="141"/>
                    <a:pt x="106" y="141"/>
                  </a:cubicBezTo>
                  <a:cubicBezTo>
                    <a:pt x="29" y="141"/>
                    <a:pt x="29" y="141"/>
                    <a:pt x="29" y="141"/>
                  </a:cubicBezTo>
                  <a:cubicBezTo>
                    <a:pt x="15" y="141"/>
                    <a:pt x="0" y="134"/>
                    <a:pt x="0" y="113"/>
                  </a:cubicBezTo>
                  <a:cubicBezTo>
                    <a:pt x="0" y="99"/>
                    <a:pt x="15" y="85"/>
                    <a:pt x="29" y="85"/>
                  </a:cubicBezTo>
                  <a:cubicBezTo>
                    <a:pt x="106" y="85"/>
                    <a:pt x="106" y="85"/>
                    <a:pt x="106" y="85"/>
                  </a:cubicBezTo>
                  <a:cubicBezTo>
                    <a:pt x="120" y="85"/>
                    <a:pt x="135" y="99"/>
                    <a:pt x="135" y="113"/>
                  </a:cubicBezTo>
                  <a:close/>
                  <a:moveTo>
                    <a:pt x="29" y="247"/>
                  </a:moveTo>
                  <a:lnTo>
                    <a:pt x="29" y="247"/>
                  </a:lnTo>
                  <a:cubicBezTo>
                    <a:pt x="106" y="247"/>
                    <a:pt x="106" y="247"/>
                    <a:pt x="106" y="247"/>
                  </a:cubicBezTo>
                  <a:cubicBezTo>
                    <a:pt x="120" y="247"/>
                    <a:pt x="135" y="261"/>
                    <a:pt x="135" y="275"/>
                  </a:cubicBezTo>
                  <a:cubicBezTo>
                    <a:pt x="135" y="290"/>
                    <a:pt x="120" y="304"/>
                    <a:pt x="106" y="304"/>
                  </a:cubicBezTo>
                  <a:cubicBezTo>
                    <a:pt x="29" y="304"/>
                    <a:pt x="29" y="304"/>
                    <a:pt x="29" y="304"/>
                  </a:cubicBezTo>
                  <a:cubicBezTo>
                    <a:pt x="15" y="304"/>
                    <a:pt x="0" y="290"/>
                    <a:pt x="0" y="275"/>
                  </a:cubicBezTo>
                  <a:cubicBezTo>
                    <a:pt x="0" y="261"/>
                    <a:pt x="15" y="247"/>
                    <a:pt x="29" y="247"/>
                  </a:cubicBezTo>
                  <a:close/>
                  <a:moveTo>
                    <a:pt x="29" y="410"/>
                  </a:moveTo>
                  <a:lnTo>
                    <a:pt x="29" y="410"/>
                  </a:lnTo>
                  <a:cubicBezTo>
                    <a:pt x="106" y="410"/>
                    <a:pt x="106" y="410"/>
                    <a:pt x="106" y="410"/>
                  </a:cubicBezTo>
                  <a:cubicBezTo>
                    <a:pt x="120" y="410"/>
                    <a:pt x="135" y="417"/>
                    <a:pt x="135" y="438"/>
                  </a:cubicBezTo>
                  <a:cubicBezTo>
                    <a:pt x="135" y="452"/>
                    <a:pt x="120" y="466"/>
                    <a:pt x="106" y="466"/>
                  </a:cubicBezTo>
                  <a:cubicBezTo>
                    <a:pt x="29" y="466"/>
                    <a:pt x="29" y="466"/>
                    <a:pt x="29" y="466"/>
                  </a:cubicBezTo>
                  <a:cubicBezTo>
                    <a:pt x="15" y="466"/>
                    <a:pt x="0" y="452"/>
                    <a:pt x="0" y="438"/>
                  </a:cubicBezTo>
                  <a:cubicBezTo>
                    <a:pt x="0" y="417"/>
                    <a:pt x="15" y="410"/>
                    <a:pt x="29" y="41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wrap="none" lIns="45720" tIns="22860" rIns="45720" bIns="22860" anchor="ctr"/>
            <a:lstStyle/>
            <a:p>
              <a:endParaRPr lang="en-US" sz="2400">
                <a:latin typeface="Roboto Light"/>
              </a:endParaRPr>
            </a:p>
          </p:txBody>
        </p:sp>
      </p:grpSp>
      <p:grpSp>
        <p:nvGrpSpPr>
          <p:cNvPr id="19" name="组合 18"/>
          <p:cNvGrpSpPr/>
          <p:nvPr userDrawn="1"/>
        </p:nvGrpSpPr>
        <p:grpSpPr>
          <a:xfrm>
            <a:off x="4140107" y="2468893"/>
            <a:ext cx="577111" cy="577112"/>
            <a:chOff x="3491880" y="1274820"/>
            <a:chExt cx="432833" cy="432834"/>
          </a:xfrm>
        </p:grpSpPr>
        <p:sp>
          <p:nvSpPr>
            <p:cNvPr id="20" name="椭圆 16"/>
            <p:cNvSpPr>
              <a:spLocks noChangeArrowheads="1"/>
            </p:cNvSpPr>
            <p:nvPr/>
          </p:nvSpPr>
          <p:spPr bwMode="auto">
            <a:xfrm>
              <a:off x="3491880" y="1274820"/>
              <a:ext cx="432833" cy="43283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endParaRPr lang="zh-CN" altLang="en-US" sz="2400">
                <a:solidFill>
                  <a:srgbClr val="FFFFFF"/>
                </a:solidFill>
                <a:latin typeface="Calibri" panose="020F0502020204030204" pitchFamily="34" charset="0"/>
              </a:endParaRPr>
            </a:p>
          </p:txBody>
        </p:sp>
        <p:sp>
          <p:nvSpPr>
            <p:cNvPr id="21" name="Freeform 75"/>
            <p:cNvSpPr>
              <a:spLocks noChangeArrowheads="1"/>
            </p:cNvSpPr>
            <p:nvPr/>
          </p:nvSpPr>
          <p:spPr bwMode="auto">
            <a:xfrm>
              <a:off x="3583864" y="1385879"/>
              <a:ext cx="248863" cy="210716"/>
            </a:xfrm>
            <a:custGeom>
              <a:avLst/>
              <a:gdLst>
                <a:gd name="T0" fmla="*/ 74657633 w 602"/>
                <a:gd name="T1" fmla="*/ 66362244 h 510"/>
                <a:gd name="T2" fmla="*/ 74657633 w 602"/>
                <a:gd name="T3" fmla="*/ 66362244 h 510"/>
                <a:gd name="T4" fmla="*/ 3654665 w 602"/>
                <a:gd name="T5" fmla="*/ 66362244 h 510"/>
                <a:gd name="T6" fmla="*/ 0 w 602"/>
                <a:gd name="T7" fmla="*/ 62711741 h 510"/>
                <a:gd name="T8" fmla="*/ 0 w 602"/>
                <a:gd name="T9" fmla="*/ 3650503 h 510"/>
                <a:gd name="T10" fmla="*/ 3654665 w 602"/>
                <a:gd name="T11" fmla="*/ 0 h 510"/>
                <a:gd name="T12" fmla="*/ 7308970 w 602"/>
                <a:gd name="T13" fmla="*/ 3650503 h 510"/>
                <a:gd name="T14" fmla="*/ 7308970 w 602"/>
                <a:gd name="T15" fmla="*/ 50717076 h 510"/>
                <a:gd name="T16" fmla="*/ 7308970 w 602"/>
                <a:gd name="T17" fmla="*/ 50717076 h 510"/>
                <a:gd name="T18" fmla="*/ 7308970 w 602"/>
                <a:gd name="T19" fmla="*/ 58930528 h 510"/>
                <a:gd name="T20" fmla="*/ 74657633 w 602"/>
                <a:gd name="T21" fmla="*/ 58930528 h 510"/>
                <a:gd name="T22" fmla="*/ 78442719 w 602"/>
                <a:gd name="T23" fmla="*/ 62711741 h 510"/>
                <a:gd name="T24" fmla="*/ 74657633 w 602"/>
                <a:gd name="T25" fmla="*/ 66362244 h 510"/>
                <a:gd name="T26" fmla="*/ 66434636 w 602"/>
                <a:gd name="T27" fmla="*/ 55280025 h 510"/>
                <a:gd name="T28" fmla="*/ 66434636 w 602"/>
                <a:gd name="T29" fmla="*/ 55280025 h 510"/>
                <a:gd name="T30" fmla="*/ 58995246 w 602"/>
                <a:gd name="T31" fmla="*/ 55280025 h 510"/>
                <a:gd name="T32" fmla="*/ 55340580 w 602"/>
                <a:gd name="T33" fmla="*/ 51629522 h 510"/>
                <a:gd name="T34" fmla="*/ 55340580 w 602"/>
                <a:gd name="T35" fmla="*/ 25814941 h 510"/>
                <a:gd name="T36" fmla="*/ 58995246 w 602"/>
                <a:gd name="T37" fmla="*/ 22164077 h 510"/>
                <a:gd name="T38" fmla="*/ 66434636 w 602"/>
                <a:gd name="T39" fmla="*/ 22164077 h 510"/>
                <a:gd name="T40" fmla="*/ 70089301 w 602"/>
                <a:gd name="T41" fmla="*/ 25814941 h 510"/>
                <a:gd name="T42" fmla="*/ 70089301 w 602"/>
                <a:gd name="T43" fmla="*/ 51629522 h 510"/>
                <a:gd name="T44" fmla="*/ 66434636 w 602"/>
                <a:gd name="T45" fmla="*/ 55280025 h 510"/>
                <a:gd name="T46" fmla="*/ 45159830 w 602"/>
                <a:gd name="T47" fmla="*/ 55280025 h 510"/>
                <a:gd name="T48" fmla="*/ 45159830 w 602"/>
                <a:gd name="T49" fmla="*/ 55280025 h 510"/>
                <a:gd name="T50" fmla="*/ 37850860 w 602"/>
                <a:gd name="T51" fmla="*/ 55280025 h 510"/>
                <a:gd name="T52" fmla="*/ 34065774 w 602"/>
                <a:gd name="T53" fmla="*/ 51629522 h 510"/>
                <a:gd name="T54" fmla="*/ 34065774 w 602"/>
                <a:gd name="T55" fmla="*/ 11082219 h 510"/>
                <a:gd name="T56" fmla="*/ 37850860 w 602"/>
                <a:gd name="T57" fmla="*/ 7431355 h 510"/>
                <a:gd name="T58" fmla="*/ 45159830 w 602"/>
                <a:gd name="T59" fmla="*/ 7431355 h 510"/>
                <a:gd name="T60" fmla="*/ 48814495 w 602"/>
                <a:gd name="T61" fmla="*/ 11082219 h 510"/>
                <a:gd name="T62" fmla="*/ 48814495 w 602"/>
                <a:gd name="T63" fmla="*/ 51629522 h 510"/>
                <a:gd name="T64" fmla="*/ 45159830 w 602"/>
                <a:gd name="T65" fmla="*/ 55280025 h 510"/>
                <a:gd name="T66" fmla="*/ 24929472 w 602"/>
                <a:gd name="T67" fmla="*/ 55280025 h 510"/>
                <a:gd name="T68" fmla="*/ 24929472 w 602"/>
                <a:gd name="T69" fmla="*/ 55280025 h 510"/>
                <a:gd name="T70" fmla="*/ 17489720 w 602"/>
                <a:gd name="T71" fmla="*/ 55280025 h 510"/>
                <a:gd name="T72" fmla="*/ 13835055 w 602"/>
                <a:gd name="T73" fmla="*/ 51629522 h 510"/>
                <a:gd name="T74" fmla="*/ 13835055 w 602"/>
                <a:gd name="T75" fmla="*/ 44198166 h 510"/>
                <a:gd name="T76" fmla="*/ 17489720 w 602"/>
                <a:gd name="T77" fmla="*/ 40547302 h 510"/>
                <a:gd name="T78" fmla="*/ 24929472 w 602"/>
                <a:gd name="T79" fmla="*/ 40547302 h 510"/>
                <a:gd name="T80" fmla="*/ 28583776 w 602"/>
                <a:gd name="T81" fmla="*/ 44198166 h 510"/>
                <a:gd name="T82" fmla="*/ 28583776 w 602"/>
                <a:gd name="T83" fmla="*/ 51629522 h 510"/>
                <a:gd name="T84" fmla="*/ 24929472 w 602"/>
                <a:gd name="T85" fmla="*/ 55280025 h 510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</a:gdLst>
              <a:ahLst/>
              <a:cxnLst>
                <a:cxn ang="T86">
                  <a:pos x="T0" y="T1"/>
                </a:cxn>
                <a:cxn ang="T87">
                  <a:pos x="T2" y="T3"/>
                </a:cxn>
                <a:cxn ang="T88">
                  <a:pos x="T4" y="T5"/>
                </a:cxn>
                <a:cxn ang="T89">
                  <a:pos x="T6" y="T7"/>
                </a:cxn>
                <a:cxn ang="T90">
                  <a:pos x="T8" y="T9"/>
                </a:cxn>
                <a:cxn ang="T91">
                  <a:pos x="T10" y="T11"/>
                </a:cxn>
                <a:cxn ang="T92">
                  <a:pos x="T12" y="T13"/>
                </a:cxn>
                <a:cxn ang="T93">
                  <a:pos x="T14" y="T15"/>
                </a:cxn>
                <a:cxn ang="T94">
                  <a:pos x="T16" y="T17"/>
                </a:cxn>
                <a:cxn ang="T95">
                  <a:pos x="T18" y="T19"/>
                </a:cxn>
                <a:cxn ang="T96">
                  <a:pos x="T20" y="T21"/>
                </a:cxn>
                <a:cxn ang="T97">
                  <a:pos x="T22" y="T23"/>
                </a:cxn>
                <a:cxn ang="T98">
                  <a:pos x="T24" y="T25"/>
                </a:cxn>
                <a:cxn ang="T99">
                  <a:pos x="T26" y="T27"/>
                </a:cxn>
                <a:cxn ang="T100">
                  <a:pos x="T28" y="T29"/>
                </a:cxn>
                <a:cxn ang="T101">
                  <a:pos x="T30" y="T31"/>
                </a:cxn>
                <a:cxn ang="T102">
                  <a:pos x="T32" y="T33"/>
                </a:cxn>
                <a:cxn ang="T103">
                  <a:pos x="T34" y="T35"/>
                </a:cxn>
                <a:cxn ang="T104">
                  <a:pos x="T36" y="T37"/>
                </a:cxn>
                <a:cxn ang="T105">
                  <a:pos x="T38" y="T39"/>
                </a:cxn>
                <a:cxn ang="T106">
                  <a:pos x="T40" y="T41"/>
                </a:cxn>
                <a:cxn ang="T107">
                  <a:pos x="T42" y="T43"/>
                </a:cxn>
                <a:cxn ang="T108">
                  <a:pos x="T44" y="T45"/>
                </a:cxn>
                <a:cxn ang="T109">
                  <a:pos x="T46" y="T47"/>
                </a:cxn>
                <a:cxn ang="T110">
                  <a:pos x="T48" y="T49"/>
                </a:cxn>
                <a:cxn ang="T111">
                  <a:pos x="T50" y="T51"/>
                </a:cxn>
                <a:cxn ang="T112">
                  <a:pos x="T52" y="T53"/>
                </a:cxn>
                <a:cxn ang="T113">
                  <a:pos x="T54" y="T55"/>
                </a:cxn>
                <a:cxn ang="T114">
                  <a:pos x="T56" y="T57"/>
                </a:cxn>
                <a:cxn ang="T115">
                  <a:pos x="T58" y="T59"/>
                </a:cxn>
                <a:cxn ang="T116">
                  <a:pos x="T60" y="T61"/>
                </a:cxn>
                <a:cxn ang="T117">
                  <a:pos x="T62" y="T63"/>
                </a:cxn>
                <a:cxn ang="T118">
                  <a:pos x="T64" y="T65"/>
                </a:cxn>
                <a:cxn ang="T119">
                  <a:pos x="T66" y="T67"/>
                </a:cxn>
                <a:cxn ang="T120">
                  <a:pos x="T68" y="T69"/>
                </a:cxn>
                <a:cxn ang="T121">
                  <a:pos x="T70" y="T71"/>
                </a:cxn>
                <a:cxn ang="T122">
                  <a:pos x="T72" y="T73"/>
                </a:cxn>
                <a:cxn ang="T123">
                  <a:pos x="T74" y="T75"/>
                </a:cxn>
                <a:cxn ang="T124">
                  <a:pos x="T76" y="T77"/>
                </a:cxn>
                <a:cxn ang="T125">
                  <a:pos x="T78" y="T79"/>
                </a:cxn>
                <a:cxn ang="T126">
                  <a:pos x="T80" y="T81"/>
                </a:cxn>
                <a:cxn ang="T127">
                  <a:pos x="T82" y="T83"/>
                </a:cxn>
                <a:cxn ang="T128">
                  <a:pos x="T84" y="T85"/>
                </a:cxn>
              </a:cxnLst>
              <a:rect l="0" t="0" r="r" b="b"/>
              <a:pathLst>
                <a:path w="602" h="510">
                  <a:moveTo>
                    <a:pt x="572" y="509"/>
                  </a:moveTo>
                  <a:lnTo>
                    <a:pt x="572" y="509"/>
                  </a:lnTo>
                  <a:cubicBezTo>
                    <a:pt x="28" y="509"/>
                    <a:pt x="28" y="509"/>
                    <a:pt x="28" y="509"/>
                  </a:cubicBezTo>
                  <a:cubicBezTo>
                    <a:pt x="14" y="509"/>
                    <a:pt x="0" y="502"/>
                    <a:pt x="0" y="481"/>
                  </a:cubicBezTo>
                  <a:cubicBezTo>
                    <a:pt x="0" y="28"/>
                    <a:pt x="0" y="28"/>
                    <a:pt x="0" y="28"/>
                  </a:cubicBezTo>
                  <a:cubicBezTo>
                    <a:pt x="0" y="14"/>
                    <a:pt x="14" y="0"/>
                    <a:pt x="28" y="0"/>
                  </a:cubicBezTo>
                  <a:cubicBezTo>
                    <a:pt x="42" y="0"/>
                    <a:pt x="56" y="14"/>
                    <a:pt x="56" y="28"/>
                  </a:cubicBezTo>
                  <a:cubicBezTo>
                    <a:pt x="56" y="389"/>
                    <a:pt x="56" y="389"/>
                    <a:pt x="56" y="389"/>
                  </a:cubicBezTo>
                  <a:cubicBezTo>
                    <a:pt x="56" y="452"/>
                    <a:pt x="56" y="452"/>
                    <a:pt x="56" y="452"/>
                  </a:cubicBezTo>
                  <a:cubicBezTo>
                    <a:pt x="572" y="452"/>
                    <a:pt x="572" y="452"/>
                    <a:pt x="572" y="452"/>
                  </a:cubicBezTo>
                  <a:cubicBezTo>
                    <a:pt x="594" y="452"/>
                    <a:pt x="601" y="467"/>
                    <a:pt x="601" y="481"/>
                  </a:cubicBezTo>
                  <a:cubicBezTo>
                    <a:pt x="601" y="502"/>
                    <a:pt x="594" y="509"/>
                    <a:pt x="572" y="509"/>
                  </a:cubicBezTo>
                  <a:close/>
                  <a:moveTo>
                    <a:pt x="509" y="424"/>
                  </a:moveTo>
                  <a:lnTo>
                    <a:pt x="509" y="424"/>
                  </a:lnTo>
                  <a:cubicBezTo>
                    <a:pt x="452" y="424"/>
                    <a:pt x="452" y="424"/>
                    <a:pt x="452" y="424"/>
                  </a:cubicBezTo>
                  <a:cubicBezTo>
                    <a:pt x="438" y="424"/>
                    <a:pt x="424" y="417"/>
                    <a:pt x="424" y="396"/>
                  </a:cubicBezTo>
                  <a:cubicBezTo>
                    <a:pt x="424" y="198"/>
                    <a:pt x="424" y="198"/>
                    <a:pt x="424" y="198"/>
                  </a:cubicBezTo>
                  <a:cubicBezTo>
                    <a:pt x="424" y="184"/>
                    <a:pt x="438" y="170"/>
                    <a:pt x="452" y="170"/>
                  </a:cubicBezTo>
                  <a:cubicBezTo>
                    <a:pt x="509" y="170"/>
                    <a:pt x="509" y="170"/>
                    <a:pt x="509" y="170"/>
                  </a:cubicBezTo>
                  <a:cubicBezTo>
                    <a:pt x="523" y="170"/>
                    <a:pt x="537" y="184"/>
                    <a:pt x="537" y="198"/>
                  </a:cubicBezTo>
                  <a:cubicBezTo>
                    <a:pt x="537" y="396"/>
                    <a:pt x="537" y="396"/>
                    <a:pt x="537" y="396"/>
                  </a:cubicBezTo>
                  <a:cubicBezTo>
                    <a:pt x="537" y="417"/>
                    <a:pt x="523" y="424"/>
                    <a:pt x="509" y="424"/>
                  </a:cubicBezTo>
                  <a:close/>
                  <a:moveTo>
                    <a:pt x="346" y="424"/>
                  </a:moveTo>
                  <a:lnTo>
                    <a:pt x="346" y="424"/>
                  </a:lnTo>
                  <a:cubicBezTo>
                    <a:pt x="290" y="424"/>
                    <a:pt x="290" y="424"/>
                    <a:pt x="290" y="424"/>
                  </a:cubicBezTo>
                  <a:cubicBezTo>
                    <a:pt x="276" y="424"/>
                    <a:pt x="261" y="417"/>
                    <a:pt x="261" y="396"/>
                  </a:cubicBezTo>
                  <a:cubicBezTo>
                    <a:pt x="261" y="85"/>
                    <a:pt x="261" y="85"/>
                    <a:pt x="261" y="85"/>
                  </a:cubicBezTo>
                  <a:cubicBezTo>
                    <a:pt x="261" y="71"/>
                    <a:pt x="276" y="57"/>
                    <a:pt x="290" y="57"/>
                  </a:cubicBezTo>
                  <a:cubicBezTo>
                    <a:pt x="346" y="57"/>
                    <a:pt x="346" y="57"/>
                    <a:pt x="346" y="57"/>
                  </a:cubicBezTo>
                  <a:cubicBezTo>
                    <a:pt x="367" y="57"/>
                    <a:pt x="374" y="71"/>
                    <a:pt x="374" y="85"/>
                  </a:cubicBezTo>
                  <a:cubicBezTo>
                    <a:pt x="374" y="396"/>
                    <a:pt x="374" y="396"/>
                    <a:pt x="374" y="396"/>
                  </a:cubicBezTo>
                  <a:cubicBezTo>
                    <a:pt x="374" y="417"/>
                    <a:pt x="367" y="424"/>
                    <a:pt x="346" y="424"/>
                  </a:cubicBezTo>
                  <a:close/>
                  <a:moveTo>
                    <a:pt x="191" y="424"/>
                  </a:moveTo>
                  <a:lnTo>
                    <a:pt x="191" y="424"/>
                  </a:lnTo>
                  <a:cubicBezTo>
                    <a:pt x="134" y="424"/>
                    <a:pt x="134" y="424"/>
                    <a:pt x="134" y="424"/>
                  </a:cubicBezTo>
                  <a:cubicBezTo>
                    <a:pt x="113" y="424"/>
                    <a:pt x="106" y="417"/>
                    <a:pt x="106" y="396"/>
                  </a:cubicBezTo>
                  <a:cubicBezTo>
                    <a:pt x="106" y="339"/>
                    <a:pt x="106" y="339"/>
                    <a:pt x="106" y="339"/>
                  </a:cubicBezTo>
                  <a:cubicBezTo>
                    <a:pt x="106" y="325"/>
                    <a:pt x="113" y="311"/>
                    <a:pt x="134" y="311"/>
                  </a:cubicBezTo>
                  <a:cubicBezTo>
                    <a:pt x="191" y="311"/>
                    <a:pt x="191" y="311"/>
                    <a:pt x="191" y="311"/>
                  </a:cubicBezTo>
                  <a:cubicBezTo>
                    <a:pt x="205" y="311"/>
                    <a:pt x="219" y="325"/>
                    <a:pt x="219" y="339"/>
                  </a:cubicBezTo>
                  <a:cubicBezTo>
                    <a:pt x="219" y="396"/>
                    <a:pt x="219" y="396"/>
                    <a:pt x="219" y="396"/>
                  </a:cubicBezTo>
                  <a:cubicBezTo>
                    <a:pt x="219" y="417"/>
                    <a:pt x="205" y="424"/>
                    <a:pt x="191" y="424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wrap="none" lIns="45720" tIns="22860" rIns="45720" bIns="22860" anchor="ctr"/>
            <a:lstStyle/>
            <a:p>
              <a:endParaRPr lang="en-US" sz="2400">
                <a:latin typeface="Roboto Light"/>
              </a:endParaRPr>
            </a:p>
          </p:txBody>
        </p:sp>
      </p:grpSp>
      <p:grpSp>
        <p:nvGrpSpPr>
          <p:cNvPr id="22" name="组合 21"/>
          <p:cNvGrpSpPr/>
          <p:nvPr userDrawn="1"/>
        </p:nvGrpSpPr>
        <p:grpSpPr>
          <a:xfrm>
            <a:off x="5004203" y="2468893"/>
            <a:ext cx="577111" cy="577112"/>
            <a:chOff x="4139952" y="1274820"/>
            <a:chExt cx="432833" cy="432834"/>
          </a:xfrm>
        </p:grpSpPr>
        <p:sp>
          <p:nvSpPr>
            <p:cNvPr id="23" name="椭圆 16"/>
            <p:cNvSpPr>
              <a:spLocks noChangeArrowheads="1"/>
            </p:cNvSpPr>
            <p:nvPr/>
          </p:nvSpPr>
          <p:spPr bwMode="auto">
            <a:xfrm>
              <a:off x="4139952" y="1274820"/>
              <a:ext cx="432833" cy="432834"/>
            </a:xfrm>
            <a:prstGeom prst="ellipse">
              <a:avLst/>
            </a:prstGeom>
            <a:solidFill>
              <a:srgbClr val="3992DB"/>
            </a:solidFill>
            <a:ln>
              <a:noFill/>
            </a:ln>
          </p:spPr>
          <p:txBody>
            <a:bodyPr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endParaRPr lang="zh-CN" altLang="en-US" sz="2400">
                <a:solidFill>
                  <a:srgbClr val="FFFFFF"/>
                </a:solidFill>
                <a:latin typeface="Calibri" panose="020F0502020204030204" pitchFamily="34" charset="0"/>
              </a:endParaRPr>
            </a:p>
          </p:txBody>
        </p:sp>
        <p:sp>
          <p:nvSpPr>
            <p:cNvPr id="24" name="Freeform 84"/>
            <p:cNvSpPr>
              <a:spLocks noChangeArrowheads="1"/>
            </p:cNvSpPr>
            <p:nvPr/>
          </p:nvSpPr>
          <p:spPr bwMode="auto">
            <a:xfrm>
              <a:off x="4241546" y="1366806"/>
              <a:ext cx="248863" cy="248863"/>
            </a:xfrm>
            <a:custGeom>
              <a:avLst/>
              <a:gdLst>
                <a:gd name="T0" fmla="*/ 43332858 w 602"/>
                <a:gd name="T1" fmla="*/ 34979440 h 602"/>
                <a:gd name="T2" fmla="*/ 43332858 w 602"/>
                <a:gd name="T3" fmla="*/ 34979440 h 602"/>
                <a:gd name="T4" fmla="*/ 43332858 w 602"/>
                <a:gd name="T5" fmla="*/ 0 h 602"/>
                <a:gd name="T6" fmla="*/ 78442719 w 602"/>
                <a:gd name="T7" fmla="*/ 34979440 h 602"/>
                <a:gd name="T8" fmla="*/ 43332858 w 602"/>
                <a:gd name="T9" fmla="*/ 34979440 h 602"/>
                <a:gd name="T10" fmla="*/ 36023527 w 602"/>
                <a:gd name="T11" fmla="*/ 78442719 h 602"/>
                <a:gd name="T12" fmla="*/ 36023527 w 602"/>
                <a:gd name="T13" fmla="*/ 78442719 h 602"/>
                <a:gd name="T14" fmla="*/ 0 w 602"/>
                <a:gd name="T15" fmla="*/ 42419192 h 602"/>
                <a:gd name="T16" fmla="*/ 36023527 w 602"/>
                <a:gd name="T17" fmla="*/ 7308970 h 602"/>
                <a:gd name="T18" fmla="*/ 36023527 w 602"/>
                <a:gd name="T19" fmla="*/ 42419192 h 602"/>
                <a:gd name="T20" fmla="*/ 71002968 w 602"/>
                <a:gd name="T21" fmla="*/ 42419192 h 602"/>
                <a:gd name="T22" fmla="*/ 36023527 w 602"/>
                <a:gd name="T23" fmla="*/ 78442719 h 602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</a:gdLst>
              <a:ahLst/>
              <a:cxnLst>
                <a:cxn ang="T24">
                  <a:pos x="T0" y="T1"/>
                </a:cxn>
                <a:cxn ang="T25">
                  <a:pos x="T2" y="T3"/>
                </a:cxn>
                <a:cxn ang="T26">
                  <a:pos x="T4" y="T5"/>
                </a:cxn>
                <a:cxn ang="T27">
                  <a:pos x="T6" y="T7"/>
                </a:cxn>
                <a:cxn ang="T28">
                  <a:pos x="T8" y="T9"/>
                </a:cxn>
                <a:cxn ang="T29">
                  <a:pos x="T10" y="T11"/>
                </a:cxn>
                <a:cxn ang="T30">
                  <a:pos x="T12" y="T13"/>
                </a:cxn>
                <a:cxn ang="T31">
                  <a:pos x="T14" y="T15"/>
                </a:cxn>
                <a:cxn ang="T32">
                  <a:pos x="T16" y="T17"/>
                </a:cxn>
                <a:cxn ang="T33">
                  <a:pos x="T18" y="T19"/>
                </a:cxn>
                <a:cxn ang="T34">
                  <a:pos x="T20" y="T21"/>
                </a:cxn>
                <a:cxn ang="T35">
                  <a:pos x="T22" y="T23"/>
                </a:cxn>
              </a:cxnLst>
              <a:rect l="0" t="0" r="r" b="b"/>
              <a:pathLst>
                <a:path w="602" h="602">
                  <a:moveTo>
                    <a:pt x="332" y="268"/>
                  </a:moveTo>
                  <a:lnTo>
                    <a:pt x="332" y="268"/>
                  </a:lnTo>
                  <a:cubicBezTo>
                    <a:pt x="332" y="0"/>
                    <a:pt x="332" y="0"/>
                    <a:pt x="332" y="0"/>
                  </a:cubicBezTo>
                  <a:cubicBezTo>
                    <a:pt x="481" y="0"/>
                    <a:pt x="601" y="120"/>
                    <a:pt x="601" y="268"/>
                  </a:cubicBezTo>
                  <a:lnTo>
                    <a:pt x="332" y="268"/>
                  </a:lnTo>
                  <a:close/>
                  <a:moveTo>
                    <a:pt x="276" y="601"/>
                  </a:moveTo>
                  <a:lnTo>
                    <a:pt x="276" y="601"/>
                  </a:lnTo>
                  <a:cubicBezTo>
                    <a:pt x="120" y="601"/>
                    <a:pt x="0" y="480"/>
                    <a:pt x="0" y="325"/>
                  </a:cubicBezTo>
                  <a:cubicBezTo>
                    <a:pt x="0" y="176"/>
                    <a:pt x="120" y="56"/>
                    <a:pt x="276" y="56"/>
                  </a:cubicBezTo>
                  <a:cubicBezTo>
                    <a:pt x="276" y="325"/>
                    <a:pt x="276" y="325"/>
                    <a:pt x="276" y="325"/>
                  </a:cubicBezTo>
                  <a:cubicBezTo>
                    <a:pt x="544" y="325"/>
                    <a:pt x="544" y="325"/>
                    <a:pt x="544" y="325"/>
                  </a:cubicBezTo>
                  <a:cubicBezTo>
                    <a:pt x="544" y="480"/>
                    <a:pt x="424" y="601"/>
                    <a:pt x="276" y="601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wrap="none" lIns="45720" tIns="22860" rIns="45720" bIns="22860" anchor="ctr"/>
            <a:lstStyle/>
            <a:p>
              <a:endParaRPr lang="en-US" sz="2400">
                <a:latin typeface="Roboto Light"/>
              </a:endParaRPr>
            </a:p>
          </p:txBody>
        </p:sp>
      </p:grpSp>
      <p:sp>
        <p:nvSpPr>
          <p:cNvPr id="25" name="文本框 24"/>
          <p:cNvSpPr txBox="1"/>
          <p:nvPr userDrawn="1"/>
        </p:nvSpPr>
        <p:spPr>
          <a:xfrm>
            <a:off x="1" y="6004875"/>
            <a:ext cx="1219199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solidFill>
                  <a:schemeClr val="bg1">
                    <a:lumMod val="50000"/>
                  </a:schemeClr>
                </a:solidFill>
                <a:latin typeface="Brush Script MT" panose="03060802040406070304" pitchFamily="66" charset="0"/>
                <a:ea typeface="华文隶书" panose="02010800040101010101" pitchFamily="2" charset="-122"/>
              </a:rPr>
              <a:t>In Pursuit of Excellence in Interpreting and Translation</a:t>
            </a:r>
            <a:endParaRPr lang="en-US" altLang="zh-CN" sz="2000" dirty="0">
              <a:solidFill>
                <a:schemeClr val="bg1">
                  <a:lumMod val="50000"/>
                </a:schemeClr>
              </a:solidFill>
              <a:latin typeface="Brush Script MT" panose="03060802040406070304" pitchFamily="66" charset="0"/>
              <a:ea typeface="华文隶书" panose="02010800040101010101" pitchFamily="2" charset="-122"/>
            </a:endParaRPr>
          </a:p>
          <a:p>
            <a:pPr algn="ctr"/>
            <a:r>
              <a:rPr lang="zh-CN" altLang="en-US" sz="2000" dirty="0">
                <a:solidFill>
                  <a:schemeClr val="bg1">
                    <a:lumMod val="50000"/>
                  </a:schemeClr>
                </a:solidFill>
                <a:latin typeface="华文隶书" panose="02010800040101010101" pitchFamily="2" charset="-122"/>
                <a:ea typeface="华文隶书" panose="02010800040101010101" pitchFamily="2" charset="-122"/>
              </a:rPr>
              <a:t>译无止境，臻于至善</a:t>
            </a:r>
            <a:endParaRPr lang="zh-CN" altLang="en-US" sz="2000" dirty="0">
              <a:solidFill>
                <a:schemeClr val="bg1">
                  <a:lumMod val="50000"/>
                </a:schemeClr>
              </a:solidFill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26" name="图片 25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529" y="99423"/>
            <a:ext cx="3708572" cy="86153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53" presetClass="entr" presetSubtype="16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53" presetClass="entr" presetSubtype="16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53" presetClass="entr" presetSubtype="16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53" presetClass="entr" presetSubtype="16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9" grpId="0" animBg="1"/>
    </p:bld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529" y="99423"/>
            <a:ext cx="3708572" cy="86153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529" y="99424"/>
            <a:ext cx="3441871" cy="7995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5AC512-946F-491C-A78E-B874D25DDF2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963683-69C5-4225-8B2B-0C82CECB9400}" type="slidenum">
              <a:rPr lang="zh-CN" altLang="en-US" smtClean="0"/>
            </a:fld>
            <a:endParaRPr lang="zh-CN" altLang="en-US"/>
          </a:p>
        </p:txBody>
      </p:sp>
      <p:pic>
        <p:nvPicPr>
          <p:cNvPr id="10" name="图片 9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529" y="99424"/>
            <a:ext cx="3441871" cy="7995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5AC512-946F-491C-A78E-B874D25DDF2C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963683-69C5-4225-8B2B-0C82CECB9400}" type="slidenum">
              <a:rPr lang="zh-CN" altLang="en-US" smtClean="0"/>
            </a:fld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529" y="99424"/>
            <a:ext cx="3441871" cy="7995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5AC512-946F-491C-A78E-B874D25DDF2C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963683-69C5-4225-8B2B-0C82CECB9400}" type="slidenum">
              <a:rPr lang="zh-CN" altLang="en-US" smtClean="0"/>
            </a:fld>
            <a:endParaRPr lang="zh-CN" altLang="en-US"/>
          </a:p>
        </p:txBody>
      </p:sp>
      <p:sp>
        <p:nvSpPr>
          <p:cNvPr id="9" name="矩形 8"/>
          <p:cNvSpPr/>
          <p:nvPr userDrawn="1"/>
        </p:nvSpPr>
        <p:spPr>
          <a:xfrm>
            <a:off x="8725278" y="6450175"/>
            <a:ext cx="775136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PPT</a:t>
            </a:r>
            <a:r>
              <a:rPr kumimoji="0" lang="zh-CN" altLang="en-US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模板下载：</a:t>
            </a:r>
            <a:r>
              <a:rPr kumimoji="0" lang="en-US" altLang="zh-CN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www.1ppt.com/moban/     </a:t>
            </a:r>
            <a:r>
              <a:rPr kumimoji="0" lang="zh-CN" altLang="en-US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行业</a:t>
            </a:r>
            <a:r>
              <a:rPr kumimoji="0" lang="en-US" altLang="zh-CN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PPT</a:t>
            </a:r>
            <a:r>
              <a:rPr kumimoji="0" lang="zh-CN" altLang="en-US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模板：</a:t>
            </a:r>
            <a:r>
              <a:rPr kumimoji="0" lang="en-US" altLang="zh-CN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www.1ppt.com/hangye/ </a:t>
            </a:r>
            <a:endParaRPr kumimoji="0" lang="en-US" altLang="zh-CN" sz="1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节日</a:t>
            </a:r>
            <a:r>
              <a:rPr kumimoji="0" lang="en-US" altLang="zh-CN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PPT</a:t>
            </a:r>
            <a:r>
              <a:rPr kumimoji="0" lang="zh-CN" altLang="en-US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模板：</a:t>
            </a:r>
            <a:r>
              <a:rPr kumimoji="0" lang="en-US" altLang="zh-CN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www.1ppt.com/jieri/           PPT</a:t>
            </a:r>
            <a:r>
              <a:rPr kumimoji="0" lang="zh-CN" altLang="en-US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素材下载：</a:t>
            </a:r>
            <a:r>
              <a:rPr kumimoji="0" lang="en-US" altLang="zh-CN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www.1ppt.com/sucai/</a:t>
            </a:r>
            <a:endParaRPr kumimoji="0" lang="en-US" altLang="zh-CN" sz="1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PPT</a:t>
            </a:r>
            <a:r>
              <a:rPr kumimoji="0" lang="zh-CN" altLang="en-US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背景图片：</a:t>
            </a:r>
            <a:r>
              <a:rPr kumimoji="0" lang="en-US" altLang="zh-CN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www.1ppt.com/beijing/      PPT</a:t>
            </a:r>
            <a:r>
              <a:rPr kumimoji="0" lang="zh-CN" altLang="en-US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图表下载：</a:t>
            </a:r>
            <a:r>
              <a:rPr kumimoji="0" lang="en-US" altLang="zh-CN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www.1ppt.com/tubiao/      </a:t>
            </a:r>
            <a:endParaRPr kumimoji="0" lang="en-US" altLang="zh-CN" sz="1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优秀</a:t>
            </a:r>
            <a:r>
              <a:rPr kumimoji="0" lang="en-US" altLang="zh-CN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PPT</a:t>
            </a:r>
            <a:r>
              <a:rPr kumimoji="0" lang="zh-CN" altLang="en-US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下载：</a:t>
            </a:r>
            <a:r>
              <a:rPr kumimoji="0" lang="en-US" altLang="zh-CN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www.1ppt.com/xiazai/        PPT</a:t>
            </a:r>
            <a:r>
              <a:rPr kumimoji="0" lang="zh-CN" altLang="en-US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教程： </a:t>
            </a:r>
            <a:r>
              <a:rPr kumimoji="0" lang="en-US" altLang="zh-CN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www.1ppt.com/powerpoint/      </a:t>
            </a:r>
            <a:endParaRPr kumimoji="0" lang="en-US" altLang="zh-CN" sz="1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Word</a:t>
            </a:r>
            <a:r>
              <a:rPr kumimoji="0" lang="zh-CN" altLang="en-US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教程： </a:t>
            </a:r>
            <a:r>
              <a:rPr kumimoji="0" lang="en-US" altLang="zh-CN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www.1ppt.com/word/              Excel</a:t>
            </a:r>
            <a:r>
              <a:rPr kumimoji="0" lang="zh-CN" altLang="en-US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教程：</a:t>
            </a:r>
            <a:r>
              <a:rPr kumimoji="0" lang="en-US" altLang="zh-CN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www.1ppt.com/excel/  </a:t>
            </a:r>
            <a:endParaRPr kumimoji="0" lang="en-US" altLang="zh-CN" sz="1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资料下载：</a:t>
            </a:r>
            <a:r>
              <a:rPr kumimoji="0" lang="en-US" altLang="zh-CN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www.1ppt.com/ziliao/                PPT</a:t>
            </a:r>
            <a:r>
              <a:rPr kumimoji="0" lang="zh-CN" altLang="en-US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课件下载：</a:t>
            </a:r>
            <a:r>
              <a:rPr kumimoji="0" lang="en-US" altLang="zh-CN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www.1ppt.com/kejian/ </a:t>
            </a:r>
            <a:endParaRPr kumimoji="0" lang="en-US" altLang="zh-CN" sz="1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范文下载：</a:t>
            </a:r>
            <a:r>
              <a:rPr kumimoji="0" lang="en-US" altLang="zh-CN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www.1ppt.com/fanwen/             </a:t>
            </a:r>
            <a:r>
              <a:rPr kumimoji="0" lang="zh-CN" altLang="en-US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试卷下载：</a:t>
            </a:r>
            <a:r>
              <a:rPr kumimoji="0" lang="en-US" altLang="zh-CN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www.1ppt.com/shiti/  </a:t>
            </a:r>
            <a:endParaRPr kumimoji="0" lang="en-US" altLang="zh-CN" sz="1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教案下载：</a:t>
            </a:r>
            <a:r>
              <a:rPr kumimoji="0" lang="en-US" altLang="zh-CN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www.1ppt.com/jiaoan/        </a:t>
            </a:r>
            <a:endParaRPr kumimoji="0" lang="en-US" altLang="zh-CN" sz="1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字体下载：</a:t>
            </a:r>
            <a:r>
              <a:rPr kumimoji="0" lang="en-US" altLang="zh-CN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www.1ppt.com/ziti/</a:t>
            </a:r>
            <a:endParaRPr kumimoji="0" lang="en-US" altLang="zh-CN" sz="1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</a:rPr>
              <a:t> </a:t>
            </a:r>
            <a:endParaRPr kumimoji="0" lang="zh-CN" altLang="en-US" sz="1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</a:endParaRPr>
          </a:p>
        </p:txBody>
      </p:sp>
      <p:pic>
        <p:nvPicPr>
          <p:cNvPr id="10" name="图片 9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529" y="99424"/>
            <a:ext cx="3441871" cy="7995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5AC512-946F-491C-A78E-B874D25DDF2C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963683-69C5-4225-8B2B-0C82CECB9400}" type="slidenum">
              <a:rPr lang="zh-CN" altLang="en-US" smtClean="0"/>
            </a:fld>
            <a:endParaRPr lang="zh-CN" altLang="en-US"/>
          </a:p>
        </p:txBody>
      </p:sp>
      <p:pic>
        <p:nvPicPr>
          <p:cNvPr id="8" name="图片 7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529" y="99423"/>
            <a:ext cx="3708572" cy="86153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5AC512-946F-491C-A78E-B874D25DDF2C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963683-69C5-4225-8B2B-0C82CECB9400}" type="slidenum">
              <a:rPr lang="zh-CN" altLang="en-US" smtClean="0"/>
            </a:fld>
            <a:endParaRPr lang="zh-CN" altLang="en-US"/>
          </a:p>
        </p:txBody>
      </p:sp>
      <p:pic>
        <p:nvPicPr>
          <p:cNvPr id="7" name="图片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529" y="99423"/>
            <a:ext cx="3708572" cy="86153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5AC512-946F-491C-A78E-B874D25DDF2C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963683-69C5-4225-8B2B-0C82CECB9400}" type="slidenum">
              <a:rPr lang="zh-CN" altLang="en-US" smtClean="0"/>
            </a:fld>
            <a:endParaRPr lang="zh-CN" altLang="en-US"/>
          </a:p>
        </p:txBody>
      </p:sp>
      <p:pic>
        <p:nvPicPr>
          <p:cNvPr id="7" name="图片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529" y="99423"/>
            <a:ext cx="3708572" cy="86153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65AC512-946F-491C-A78E-B874D25DDF2C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963683-69C5-4225-8B2B-0C82CECB9400}" type="slidenum">
              <a:rPr lang="zh-CN" altLang="en-US" smtClean="0"/>
            </a:fld>
            <a:endParaRPr lang="zh-CN" altLang="en-US"/>
          </a:p>
        </p:txBody>
      </p:sp>
      <p:sp>
        <p:nvSpPr>
          <p:cNvPr id="7" name="文本框 6"/>
          <p:cNvSpPr txBox="1"/>
          <p:nvPr userDrawn="1"/>
        </p:nvSpPr>
        <p:spPr>
          <a:xfrm>
            <a:off x="1" y="6004875"/>
            <a:ext cx="1219199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solidFill>
                  <a:schemeClr val="bg1">
                    <a:lumMod val="50000"/>
                  </a:schemeClr>
                </a:solidFill>
                <a:latin typeface="Brush Script MT" panose="03060802040406070304" pitchFamily="66" charset="0"/>
                <a:ea typeface="华文隶书" panose="02010800040101010101" pitchFamily="2" charset="-122"/>
              </a:rPr>
              <a:t>In Pursuit of Excellence in Interpreting and Translation</a:t>
            </a:r>
            <a:endParaRPr lang="en-US" altLang="zh-CN" sz="2000" dirty="0">
              <a:solidFill>
                <a:schemeClr val="bg1">
                  <a:lumMod val="50000"/>
                </a:schemeClr>
              </a:solidFill>
              <a:latin typeface="Brush Script MT" panose="03060802040406070304" pitchFamily="66" charset="0"/>
              <a:ea typeface="华文隶书" panose="02010800040101010101" pitchFamily="2" charset="-122"/>
            </a:endParaRPr>
          </a:p>
          <a:p>
            <a:pPr algn="ctr"/>
            <a:r>
              <a:rPr lang="zh-CN" altLang="en-US" sz="2000" dirty="0">
                <a:solidFill>
                  <a:schemeClr val="bg1">
                    <a:lumMod val="50000"/>
                  </a:schemeClr>
                </a:solidFill>
                <a:latin typeface="华文隶书" panose="02010800040101010101" pitchFamily="2" charset="-122"/>
                <a:ea typeface="华文隶书" panose="02010800040101010101" pitchFamily="2" charset="-122"/>
              </a:rPr>
              <a:t>译无止境，臻于至善</a:t>
            </a:r>
            <a:endParaRPr lang="zh-CN" altLang="en-US" sz="2000" dirty="0">
              <a:solidFill>
                <a:schemeClr val="bg1">
                  <a:lumMod val="50000"/>
                </a:schemeClr>
              </a:solidFill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03A9F0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accent1">
              <a:lumMod val="50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327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000000"/>
                </a:solidFill>
                <a:latin typeface="Times New Roman" panose="02020603050405020304"/>
                <a:ea typeface="黑体" panose="02010609060101010101" charset="-122"/>
                <a:cs typeface="黑体" panose="02010609060101010101" charset="-122"/>
              </a:rPr>
              <a:t>问卷调查法在翻译研究中的应用</a:t>
            </a:r>
            <a:endParaRPr sz="3600" b="1" i="0">
              <a:solidFill>
                <a:srgbClr val="000000"/>
              </a:solidFill>
              <a:latin typeface="Times New Roman" panose="02020603050405020304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914400" y="3383280"/>
            <a:ext cx="10332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正反案例：口译笔记熟练度与MTPE接受度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3931920"/>
            <a:ext cx="10332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40404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Questionnaire Survey in Translation Studies</a:t>
            </a:r>
            <a:endParaRPr sz="1500" b="0" i="0">
              <a:solidFill>
                <a:srgbClr val="40404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914400" y="4846320"/>
            <a:ext cx="103327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汇报人：陈冠臻    学号：20261210050</a:t>
            </a:r>
            <a:endParaRPr sz="14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2026 年 10 月 12 日</a:t>
            </a:r>
            <a:endParaRPr sz="14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51560" y="1691640"/>
            <a:ext cx="3383280" cy="3383280"/>
          </a:xfrm>
          <a:prstGeom prst="ellipse">
            <a:avLst/>
          </a:prstGeom>
          <a:solidFill>
            <a:srgbClr val="E7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2606040"/>
            <a:ext cx="3383280" cy="1463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0E7C86"/>
                </a:solidFill>
                <a:latin typeface="Times New Roman" panose="02020603050405020304"/>
                <a:ea typeface="黑体" panose="02010609060101010101" charset="-122"/>
                <a:cs typeface="黑体" panose="02010609060101010101" charset="-122"/>
              </a:rPr>
              <a:t>目录</a:t>
            </a:r>
            <a:endParaRPr sz="2700" b="1" i="0">
              <a:solidFill>
                <a:srgbClr val="0E7C86"/>
              </a:solidFill>
              <a:latin typeface="Times New Roman" panose="02020603050405020304"/>
              <a:ea typeface="黑体" panose="02010609060101010101" charset="-122"/>
              <a:cs typeface="黑体" panose="02010609060101010101" charset="-122"/>
            </a:endParaRPr>
          </a:p>
          <a:p>
            <a:pPr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 i="0">
                <a:solidFill>
                  <a:srgbClr val="40404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CONTENTS</a:t>
            </a:r>
            <a:endParaRPr sz="1300" b="0" i="0">
              <a:solidFill>
                <a:srgbClr val="40404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4" name="Oval 3"/>
          <p:cNvSpPr/>
          <p:nvPr/>
        </p:nvSpPr>
        <p:spPr>
          <a:xfrm>
            <a:off x="5212080" y="1481328"/>
            <a:ext cx="475488" cy="475488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1</a:t>
            </a:r>
            <a:endParaRPr sz="1500" b="1" i="0">
              <a:solidFill>
                <a:srgbClr val="FFFFFF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70448" y="1481328"/>
            <a:ext cx="576072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研究背景与判断标准</a:t>
            </a:r>
            <a:endParaRPr sz="17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6" name="Oval 5"/>
          <p:cNvSpPr/>
          <p:nvPr/>
        </p:nvSpPr>
        <p:spPr>
          <a:xfrm>
            <a:off x="5212080" y="2441448"/>
            <a:ext cx="475488" cy="475488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2</a:t>
            </a:r>
            <a:endParaRPr sz="1500" b="1" i="0">
              <a:solidFill>
                <a:srgbClr val="FFFFFF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870448" y="2441448"/>
            <a:ext cx="576072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正例：口译笔记熟练度量表的开发</a:t>
            </a:r>
            <a:endParaRPr sz="17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8" name="Oval 7"/>
          <p:cNvSpPr/>
          <p:nvPr/>
        </p:nvSpPr>
        <p:spPr>
          <a:xfrm>
            <a:off x="5212080" y="3401568"/>
            <a:ext cx="475488" cy="475488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3</a:t>
            </a:r>
            <a:endParaRPr sz="1500" b="1" i="0">
              <a:solidFill>
                <a:srgbClr val="FFFFFF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870448" y="3401568"/>
            <a:ext cx="576072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反例：机器翻译译后编辑（MTPE）态度问卷</a:t>
            </a:r>
            <a:endParaRPr sz="17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10" name="Oval 9"/>
          <p:cNvSpPr/>
          <p:nvPr/>
        </p:nvSpPr>
        <p:spPr>
          <a:xfrm>
            <a:off x="5212080" y="4361688"/>
            <a:ext cx="475488" cy="475488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4</a:t>
            </a:r>
            <a:endParaRPr sz="1500" b="1" i="0">
              <a:solidFill>
                <a:srgbClr val="FFFFFF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870448" y="4361688"/>
            <a:ext cx="576072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对照、改进与启示</a:t>
            </a:r>
            <a:endParaRPr sz="17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0332720" y="5742432"/>
            <a:ext cx="16459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0404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2 / 20</a:t>
            </a:r>
            <a:endParaRPr sz="1000" b="0" i="0">
              <a:solidFill>
                <a:srgbClr val="40404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286000"/>
            <a:ext cx="3264408" cy="2651760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24544" y="2286000"/>
            <a:ext cx="3264408" cy="2651760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697480"/>
            <a:ext cx="237744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600" b="0" i="0">
                <a:solidFill>
                  <a:srgbClr val="FFFFFF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01</a:t>
            </a:r>
            <a:endParaRPr sz="9600" b="0" i="0">
              <a:solidFill>
                <a:srgbClr val="FFFFFF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566160" y="3063240"/>
            <a:ext cx="53035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 panose="02020603050405020304"/>
                <a:ea typeface="黑体" panose="02010609060101010101" charset="-122"/>
                <a:cs typeface="黑体" panose="02010609060101010101" charset="-122"/>
              </a:rPr>
              <a:t>研究背景与判断标准</a:t>
            </a:r>
            <a:endParaRPr sz="2800" b="1" i="0">
              <a:solidFill>
                <a:srgbClr val="000000"/>
              </a:solidFill>
              <a:latin typeface="Times New Roman" panose="02020603050405020304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332720" y="5742432"/>
            <a:ext cx="16459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0404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3 / 20</a:t>
            </a:r>
            <a:endParaRPr sz="1000" b="0" i="0">
              <a:solidFill>
                <a:srgbClr val="40404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143000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000000"/>
                </a:solidFill>
                <a:latin typeface="Times New Roman" panose="02020603050405020304"/>
                <a:ea typeface="黑体" panose="02010609060101010101" charset="-122"/>
                <a:cs typeface="黑体" panose="02010609060101010101" charset="-122"/>
              </a:rPr>
              <a:t>为什么选这两个案例？</a:t>
            </a:r>
            <a:endParaRPr sz="2300" b="1" i="0">
              <a:solidFill>
                <a:srgbClr val="000000"/>
              </a:solidFill>
              <a:latin typeface="Times New Roman" panose="02020603050405020304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1874519"/>
            <a:ext cx="10881360" cy="21926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两篇都以翻译专业学生为对象，均使用问卷收集数据。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周金华、董燕萍（2019）是</a:t>
            </a:r>
            <a:r>
              <a:rPr sz="2000" b="0" i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“量表开发型”研究</a:t>
            </a: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：问卷本身就是核心测量工具。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Yang &amp; Mustafa（2022）是</a:t>
            </a:r>
            <a:r>
              <a:rPr sz="2000" b="0" i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“应用型态度调查”：</a:t>
            </a: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问卷用于了解学生对MTPE的感知与意向。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二者的对照重点不是简单区分好论文和坏论文，而是比较：研究问题、题项、样本、分析和结论是否对齐。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0332720" y="5742432"/>
            <a:ext cx="16459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0404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4 / 20</a:t>
            </a:r>
            <a:endParaRPr sz="1000" b="0" i="0">
              <a:solidFill>
                <a:srgbClr val="40404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143000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000000"/>
                </a:solidFill>
                <a:latin typeface="Times New Roman" panose="02020603050405020304"/>
                <a:ea typeface="黑体" panose="02010609060101010101" charset="-122"/>
                <a:cs typeface="黑体" panose="02010609060101010101" charset="-122"/>
              </a:rPr>
              <a:t>问卷质量判断标准</a:t>
            </a:r>
            <a:endParaRPr sz="2300" b="1" i="0">
              <a:solidFill>
                <a:srgbClr val="000000"/>
              </a:solidFill>
              <a:latin typeface="Times New Roman" panose="02020603050405020304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1874519"/>
            <a:ext cx="10881360" cy="3931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1. 研究问题：究竟要描述态度、比较群体，还是开发一个测量工具？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2. 构念与题项：抽象概念是否被转化为清楚、单一、可回答的题目？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3. 抽样与施测：调查对象、抽样方式、回收流程和有效样本是否透明？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4. 分析与结论：统计结果能否支持作者声称的效度、关系或因果结论？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信度（reliability）：结果是否具有一致性。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效度（validity）：证据是否支持对测量分数的解释和使用。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0332720" y="5742432"/>
            <a:ext cx="16459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0404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5 / 20</a:t>
            </a:r>
            <a:endParaRPr sz="1000" b="0" i="0">
              <a:solidFill>
                <a:srgbClr val="40404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286000"/>
            <a:ext cx="3264408" cy="2651760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24544" y="2286000"/>
            <a:ext cx="3264408" cy="2651760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697480"/>
            <a:ext cx="237744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600" b="0" i="0">
                <a:solidFill>
                  <a:srgbClr val="FFFFFF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02</a:t>
            </a:r>
            <a:endParaRPr sz="9600" b="0" i="0">
              <a:solidFill>
                <a:srgbClr val="FFFFFF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566160" y="3063240"/>
            <a:ext cx="53035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 panose="02020603050405020304"/>
                <a:ea typeface="黑体" panose="02010609060101010101" charset="-122"/>
                <a:cs typeface="黑体" panose="02010609060101010101" charset="-122"/>
              </a:rPr>
              <a:t>正例：口译笔记熟练度量表的开发</a:t>
            </a:r>
            <a:endParaRPr sz="2800" b="1" i="0">
              <a:solidFill>
                <a:srgbClr val="000000"/>
              </a:solidFill>
              <a:latin typeface="Times New Roman" panose="02020603050405020304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332720" y="5742432"/>
            <a:ext cx="16459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0404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6 / 20</a:t>
            </a:r>
            <a:endParaRPr sz="1000" b="0" i="0">
              <a:solidFill>
                <a:srgbClr val="40404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143000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000000"/>
                </a:solidFill>
                <a:latin typeface="Times New Roman" panose="02020603050405020304"/>
                <a:ea typeface="黑体" panose="02010609060101010101" charset="-122"/>
                <a:cs typeface="黑体" panose="02010609060101010101" charset="-122"/>
              </a:rPr>
              <a:t>正例的研究目标与构念</a:t>
            </a:r>
            <a:endParaRPr sz="2300" b="1" i="0">
              <a:solidFill>
                <a:srgbClr val="000000"/>
              </a:solidFill>
              <a:latin typeface="Times New Roman" panose="02020603050405020304"/>
              <a:ea typeface="黑体" panose="02010609060101010101" charset="-122"/>
              <a:cs typeface="黑体" panose="02010609060101010101" charset="-122"/>
            </a:endParaRPr>
          </a:p>
        </p:txBody>
      </p:sp>
      <p:pic>
        <p:nvPicPr>
          <p:cNvPr id="3" name="Picture 2" descr="zheng_p01_titl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0" y="1783080"/>
            <a:ext cx="4206240" cy="3538582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525512" y="1764792"/>
            <a:ext cx="4242816" cy="3575158"/>
          </a:xfrm>
          <a:prstGeom prst="rect">
            <a:avLst/>
          </a:prstGeom>
          <a:noFill/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43800" y="5367382"/>
            <a:ext cx="42062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0404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论文首页</a:t>
            </a:r>
            <a:endParaRPr sz="950" b="0" i="0">
              <a:solidFill>
                <a:srgbClr val="40404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1874519"/>
            <a:ext cx="6720840" cy="29927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周金华、董燕萍（2019），《外语教学与研究》51(6)：925–937。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研究目标：开发一个测量交替传译学习</a:t>
            </a:r>
            <a:r>
              <a:rPr sz="2000" b="0" i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者“笔记熟练度”</a:t>
            </a: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的自评量表。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四个预设维度：听记协调性、时效性、系统性、笔记使用。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关键定位：它测量的是学习者的自我感知；因此</a:t>
            </a:r>
            <a:r>
              <a:rPr sz="2000" b="0" i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，“初步验证自评量表”比“客观测量真实技能”更</a:t>
            </a: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准确。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332720" y="5742432"/>
            <a:ext cx="16459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0404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7 / 20</a:t>
            </a:r>
            <a:endParaRPr sz="1000" b="0" i="0">
              <a:solidFill>
                <a:srgbClr val="40404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143000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000000"/>
                </a:solidFill>
                <a:latin typeface="Times New Roman" panose="02020603050405020304"/>
                <a:ea typeface="黑体" panose="02010609060101010101" charset="-122"/>
                <a:cs typeface="黑体" panose="02010609060101010101" charset="-122"/>
              </a:rPr>
              <a:t>正例：问卷开发流程</a:t>
            </a:r>
            <a:endParaRPr sz="2300" b="1" i="0">
              <a:solidFill>
                <a:srgbClr val="000000"/>
              </a:solidFill>
              <a:latin typeface="Times New Roman" panose="02020603050405020304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1874519"/>
            <a:ext cx="10881360" cy="2256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构念界定：文献 + 72份学习日志 + 4名学生译员访谈 + 6名教师/职业译员访谈。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题项生成与评审：74个初始题项 → 3轮评审与讨论 → 28题预试量表。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预试：54名本科生；结合极端组比较、题总相关、共同度和因素负荷量，删去7题。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正式施测：144名本科生完成21题、6点Likert量表；随后检验信度与效度。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优点：每个环节都有方法说明，而不是</a:t>
            </a:r>
            <a:r>
              <a:rPr lang="zh-CN" sz="2000" b="0" i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直接</a:t>
            </a:r>
            <a:r>
              <a:rPr sz="2000" b="0" i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下结论</a:t>
            </a: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0332720" y="5742432"/>
            <a:ext cx="16459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0404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8 / 20</a:t>
            </a:r>
            <a:endParaRPr sz="1000" b="0" i="0">
              <a:solidFill>
                <a:srgbClr val="40404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143000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000000"/>
                </a:solidFill>
                <a:latin typeface="Times New Roman" panose="02020603050405020304"/>
                <a:ea typeface="黑体" panose="02010609060101010101" charset="-122"/>
                <a:cs typeface="黑体" panose="02010609060101010101" charset="-122"/>
              </a:rPr>
              <a:t>正例：证据链与主要结果</a:t>
            </a:r>
            <a:endParaRPr sz="2300" b="1" i="0">
              <a:solidFill>
                <a:srgbClr val="000000"/>
              </a:solidFill>
              <a:latin typeface="Times New Roman" panose="02020603050405020304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1874519"/>
            <a:ext cx="10881360" cy="2256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内部一致性：总量表 α=.901；四个维度 α=.772–.859。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内容效度：8名专家；I-CVI、S-CVI/uA、S-CVI/Ave均报告为1.00。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结构证据：KMO=.854；因素分析得到四因素；累计解释60.49%变异。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外部关联：与笔记练习量 r=.473；与学习动机 r=.539；与口译绩效 r=.556。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这些结果支</a:t>
            </a:r>
            <a:r>
              <a:rPr sz="2000" b="0" i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持“初步信效度证据”，不</a:t>
            </a: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等于一次性完成最终验证。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0332720" y="5742432"/>
            <a:ext cx="16459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0404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9 / 20</a:t>
            </a:r>
            <a:endParaRPr sz="1000" b="0" i="0">
              <a:solidFill>
                <a:srgbClr val="40404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143000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000000"/>
                </a:solidFill>
                <a:latin typeface="Times New Roman" panose="02020603050405020304"/>
                <a:ea typeface="黑体" panose="02010609060101010101" charset="-122"/>
                <a:cs typeface="黑体" panose="02010609060101010101" charset="-122"/>
              </a:rPr>
              <a:t>正例：为什么值得学习？</a:t>
            </a:r>
            <a:endParaRPr sz="2300" b="1" i="0">
              <a:solidFill>
                <a:srgbClr val="000000"/>
              </a:solidFill>
              <a:latin typeface="Times New Roman" panose="02020603050405020304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1874519"/>
            <a:ext cx="10881360" cy="2256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目标一致：研究要开发量表，因此确实进行了题项开发和测量学检验。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来源多元：文献、日志、访谈与专家评审共同支撑题项内容。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有预试：先检查题项，再进入正式施测，降</a:t>
            </a:r>
            <a:r>
              <a:rPr sz="2000" b="0" i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低“正式样本替研究者试错”的</a:t>
            </a: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风险。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有多类效度证据：不把Cronbach’s α误当成全部效度。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有教学解释力：四个维度可帮助教师定位学生的具体困难。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0332720" y="5742432"/>
            <a:ext cx="16459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0404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10 / 20</a:t>
            </a:r>
            <a:endParaRPr sz="1000" b="0" i="0">
              <a:solidFill>
                <a:srgbClr val="40404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143000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000000"/>
                </a:solidFill>
                <a:latin typeface="Times New Roman" panose="02020603050405020304"/>
                <a:ea typeface="黑体" panose="02010609060101010101" charset="-122"/>
                <a:cs typeface="黑体" panose="02010609060101010101" charset="-122"/>
              </a:rPr>
              <a:t>正例：仍需保留的批判性判断</a:t>
            </a:r>
            <a:endParaRPr sz="2300" b="1" i="0">
              <a:solidFill>
                <a:srgbClr val="000000"/>
              </a:solidFill>
              <a:latin typeface="Times New Roman" panose="02020603050405020304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1874519"/>
            <a:ext cx="10881360" cy="2256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自评不等于客观技能：学</a:t>
            </a:r>
            <a:r>
              <a:rPr sz="2000" b="0" i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生“觉得能看懂笔记”，不等</a:t>
            </a: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于实际回忆准确率或笔记信息覆盖率。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EFA在开发样本内完成，缺少独立样本CFA和测量不变性检验。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PCA与正交旋转不完全符合</a:t>
            </a:r>
            <a:r>
              <a:rPr sz="2000" b="0" i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“四个相关成分技能”的理</a:t>
            </a: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论预期。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横断面相关不能证</a:t>
            </a:r>
            <a:r>
              <a:rPr sz="2000" b="0" i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明“练习导致熟练度提高”；初级/</a:t>
            </a: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高级组差异也不等于个体发展。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结论定位：较好的初步量表开发研究，而非已经完成跨样本验证的成熟工具。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0332720" y="5742432"/>
            <a:ext cx="16459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0404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11 / 20</a:t>
            </a:r>
            <a:endParaRPr sz="1000" b="0" i="0">
              <a:solidFill>
                <a:srgbClr val="40404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286000"/>
            <a:ext cx="3264408" cy="2651760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24544" y="2286000"/>
            <a:ext cx="3264408" cy="2651760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697480"/>
            <a:ext cx="237744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600" b="0" i="0">
                <a:solidFill>
                  <a:srgbClr val="FFFFFF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03</a:t>
            </a:r>
            <a:endParaRPr sz="9600" b="0" i="0">
              <a:solidFill>
                <a:srgbClr val="FFFFFF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566160" y="3063240"/>
            <a:ext cx="53035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 panose="02020603050405020304"/>
                <a:ea typeface="黑体" panose="02010609060101010101" charset="-122"/>
                <a:cs typeface="黑体" panose="02010609060101010101" charset="-122"/>
              </a:rPr>
              <a:t>反例：机器翻译译后编辑（MTPE）态度问卷</a:t>
            </a:r>
            <a:endParaRPr sz="2800" b="1" i="0">
              <a:solidFill>
                <a:srgbClr val="000000"/>
              </a:solidFill>
              <a:latin typeface="Times New Roman" panose="02020603050405020304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332720" y="5742432"/>
            <a:ext cx="16459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0404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12 / 20</a:t>
            </a:r>
            <a:endParaRPr sz="1000" b="0" i="0">
              <a:solidFill>
                <a:srgbClr val="40404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143000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000000"/>
                </a:solidFill>
                <a:latin typeface="Times New Roman" panose="02020603050405020304"/>
                <a:ea typeface="黑体" panose="02010609060101010101" charset="-122"/>
                <a:cs typeface="黑体" panose="02010609060101010101" charset="-122"/>
              </a:rPr>
              <a:t>反例的研究目标与问卷结构</a:t>
            </a:r>
            <a:endParaRPr sz="2300" b="1" i="0">
              <a:solidFill>
                <a:srgbClr val="000000"/>
              </a:solidFill>
              <a:latin typeface="Times New Roman" panose="02020603050405020304"/>
              <a:ea typeface="黑体" panose="02010609060101010101" charset="-122"/>
              <a:cs typeface="黑体" panose="02010609060101010101" charset="-122"/>
            </a:endParaRPr>
          </a:p>
        </p:txBody>
      </p:sp>
      <p:pic>
        <p:nvPicPr>
          <p:cNvPr id="3" name="Picture 2" descr="fan_p01_titl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23911" y="3931920"/>
            <a:ext cx="5744146" cy="17373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205623" y="3913632"/>
            <a:ext cx="5780722" cy="1773936"/>
          </a:xfrm>
          <a:prstGeom prst="rect">
            <a:avLst/>
          </a:prstGeom>
          <a:noFill/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23911" y="5714999"/>
            <a:ext cx="5744146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0404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论文首页</a:t>
            </a:r>
            <a:endParaRPr sz="950" b="0" i="0">
              <a:solidFill>
                <a:srgbClr val="40404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1874519"/>
            <a:ext cx="10881360" cy="1965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Yang &amp; Mustafa（2022），*Human Behavior and Emerging Technologies*，Article 5793054。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研究关注：学生对MTPE的积极/消极反应、与课程成绩的关系、以及使用障碍。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问卷：Q1–Q6为6点Likert题；Q7–Q10为开放或半开放问题。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主要发现：Q1–Q6均值高于中点，学生总体报告了对MTPE的积极感知；Q9出现Continue、Increase、Depends等主题。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332720" y="5742432"/>
            <a:ext cx="16459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0404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13 / 20</a:t>
            </a:r>
            <a:endParaRPr sz="1000" b="0" i="0">
              <a:solidFill>
                <a:srgbClr val="40404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143000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000000"/>
                </a:solidFill>
                <a:latin typeface="Times New Roman" panose="02020603050405020304"/>
                <a:ea typeface="黑体" panose="02010609060101010101" charset="-122"/>
                <a:cs typeface="黑体" panose="02010609060101010101" charset="-122"/>
              </a:rPr>
              <a:t>反例：四个关键方法问题</a:t>
            </a:r>
            <a:endParaRPr sz="2300" b="1" i="0">
              <a:solidFill>
                <a:srgbClr val="000000"/>
              </a:solidFill>
              <a:latin typeface="Times New Roman" panose="02020603050405020304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1874519"/>
            <a:ext cx="10881360" cy="3931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理论—测量不匹配：借用TAM，但未完整测量态度、行为意向和实际使用；Q1–Q6是否构成稳定PU/PEOU量表也未充分验证。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题项质量报告不足：论文未报告题项来源、专家评审、认知访谈或预试；因此构念覆盖和题意清晰度难以判断。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证据强度不足：信度有报告（PU α=.714；PEOU α=.835），但缺少相应的内容效度、结构效度和区分效度证据。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样本与结论边界：单校便利样本、横断面自报数据，不能直接代表中国翻译学生，也不能证明真实使用或因果关系。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注：关键提醒：α高，只能说明题项内部相关较好；不能单独证明问卷有效。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0332720" y="5742432"/>
            <a:ext cx="16459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0404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14 / 20</a:t>
            </a:r>
            <a:endParaRPr sz="1000" b="0" i="0">
              <a:solidFill>
                <a:srgbClr val="40404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143000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000000"/>
                </a:solidFill>
                <a:latin typeface="Times New Roman" panose="02020603050405020304"/>
                <a:ea typeface="黑体" panose="02010609060101010101" charset="-122"/>
                <a:cs typeface="黑体" panose="02010609060101010101" charset="-122"/>
              </a:rPr>
              <a:t>反例：最容易发生的三次“推断跳跃”</a:t>
            </a:r>
            <a:endParaRPr sz="2300" b="1" i="0">
              <a:solidFill>
                <a:srgbClr val="000000"/>
              </a:solidFill>
              <a:latin typeface="Times New Roman" panose="02020603050405020304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1874519"/>
            <a:ext cx="10881360" cy="3931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“我认为MTPE有用” → “MTPE确实提高了效率和质量”：感知不是客观任务结果。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“我以后打算使用” → “学生会使用MTPE”：行为意向不是实际行为。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“成绩与某题相关” → “成绩是接受MTPE的决定因素”：横断面相关不是因果关系。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注：更稳妥的表达：学生在本样本中报告了积极感知，并表现出较高的自报使用意向。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0332720" y="5742432"/>
            <a:ext cx="16459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0404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15 / 20</a:t>
            </a:r>
            <a:endParaRPr sz="1000" b="0" i="0">
              <a:solidFill>
                <a:srgbClr val="40404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143000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000000"/>
                </a:solidFill>
                <a:latin typeface="Times New Roman" panose="02020603050405020304"/>
                <a:ea typeface="黑体" panose="02010609060101010101" charset="-122"/>
                <a:cs typeface="黑体" panose="02010609060101010101" charset="-122"/>
              </a:rPr>
              <a:t>反例：怎样把问卷做得更严谨？</a:t>
            </a:r>
            <a:endParaRPr sz="2300" b="1" i="0">
              <a:solidFill>
                <a:srgbClr val="000000"/>
              </a:solidFill>
              <a:latin typeface="Times New Roman" panose="02020603050405020304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1874519"/>
            <a:ext cx="10881360" cy="3931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先定义MT、MTPE、CAT、light/full PE，给出统一任务说明和示例。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每个构念使用多题项：PU、PEOU、信任、态度、行为意向分别测量，不用单题替代整个构念。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题项先经过专家评审、认知访谈和预试；报告α与ω，并做EFA/CFA或至少题项结构检验。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先让被试完成真实PE任务，再填写任务后量表；同时记录用时、编辑距离、错误类型和最终质量。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将“使用意向”与实际使用日志分开；把课程成绩视为粗略协变量，而不是能力金标准。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0332720" y="5742432"/>
            <a:ext cx="16459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0404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16 / 20</a:t>
            </a:r>
            <a:endParaRPr sz="1000" b="0" i="0">
              <a:solidFill>
                <a:srgbClr val="40404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286000"/>
            <a:ext cx="3264408" cy="2651760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24544" y="2286000"/>
            <a:ext cx="3264408" cy="2651760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697480"/>
            <a:ext cx="237744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600" b="0" i="0">
                <a:solidFill>
                  <a:srgbClr val="FFFFFF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04</a:t>
            </a:r>
            <a:endParaRPr sz="9600" b="0" i="0">
              <a:solidFill>
                <a:srgbClr val="FFFFFF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566160" y="3063240"/>
            <a:ext cx="53035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 panose="02020603050405020304"/>
                <a:ea typeface="黑体" panose="02010609060101010101" charset="-122"/>
                <a:cs typeface="黑体" panose="02010609060101010101" charset="-122"/>
              </a:rPr>
              <a:t>两篇论文的对照与启示</a:t>
            </a:r>
            <a:endParaRPr sz="2800" b="1" i="0">
              <a:solidFill>
                <a:srgbClr val="000000"/>
              </a:solidFill>
              <a:latin typeface="Times New Roman" panose="02020603050405020304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332720" y="5742432"/>
            <a:ext cx="16459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0404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17 / 20</a:t>
            </a:r>
            <a:endParaRPr sz="1000" b="0" i="0">
              <a:solidFill>
                <a:srgbClr val="40404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143000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000000"/>
                </a:solidFill>
                <a:latin typeface="Times New Roman" panose="02020603050405020304"/>
                <a:ea typeface="黑体" panose="02010609060101010101" charset="-122"/>
                <a:cs typeface="黑体" panose="02010609060101010101" charset="-122"/>
              </a:rPr>
              <a:t>两篇论文的对照</a:t>
            </a:r>
            <a:endParaRPr sz="2300" b="1" i="0">
              <a:solidFill>
                <a:srgbClr val="000000"/>
              </a:solidFill>
              <a:latin typeface="Times New Roman" panose="02020603050405020304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1874519"/>
            <a:ext cx="10881360" cy="3931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研究目的：正例开发测量工具；反例主要描述态度与意向。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题项来源：正例有文献、日志、访谈和评审；反例相关过程报告不足。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分析策略：正例报告多类信效度证据；反例主要依赖均值、相关与开放题归类。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结论边界：正例仍需降级为“初步验证”；反例更应限于“本样本中的自报感知与意向”。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共同启示：问卷质量不由题目数量决定，而由证据链是否完整决定。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0332720" y="5742432"/>
            <a:ext cx="16459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0404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18 / 20</a:t>
            </a:r>
            <a:endParaRPr sz="1000" b="0" i="0">
              <a:solidFill>
                <a:srgbClr val="40404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143000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000000"/>
                </a:solidFill>
                <a:latin typeface="Times New Roman" panose="02020603050405020304"/>
                <a:ea typeface="黑体" panose="02010609060101010101" charset="-122"/>
                <a:cs typeface="黑体" panose="02010609060101010101" charset="-122"/>
              </a:rPr>
              <a:t>最终结论：一条可复用的问卷证据链</a:t>
            </a:r>
            <a:endParaRPr sz="2300" b="1" i="0">
              <a:solidFill>
                <a:srgbClr val="000000"/>
              </a:solidFill>
              <a:latin typeface="Times New Roman" panose="02020603050405020304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1874519"/>
            <a:ext cx="10881360" cy="3931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研究问题 → 明确构念 → 设计/选择题项 → 专家评审与认知访谈 → 预试 → 正式施测 → 信度与效度 → 外部效标 → 克制解释。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正例提醒我们：问卷要像测量工具一样开发。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反例提醒我们：有Likert题、有相关、有显著性，不等于完成了理论验证。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最重要的原则：结论不能超过问卷设计和研究设计真正支持的范围。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0332720" y="5742432"/>
            <a:ext cx="16459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0404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19 / 20</a:t>
            </a:r>
            <a:endParaRPr sz="1000" b="0" i="0">
              <a:solidFill>
                <a:srgbClr val="40404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143000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000000"/>
                </a:solidFill>
                <a:latin typeface="Times New Roman" panose="02020603050405020304"/>
                <a:ea typeface="黑体" panose="02010609060101010101" charset="-122"/>
                <a:cs typeface="黑体" panose="02010609060101010101" charset="-122"/>
              </a:rPr>
              <a:t>参考文献与依据</a:t>
            </a:r>
            <a:endParaRPr sz="2300" b="1" i="0">
              <a:solidFill>
                <a:srgbClr val="000000"/>
              </a:solidFill>
              <a:latin typeface="Times New Roman" panose="02020603050405020304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1874519"/>
            <a:ext cx="10881360" cy="3931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周金华、董燕萍（2019）．口译笔记熟练度量表的开发．《外语教学与研究》，51(6)，925–937。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Yang, Z., &amp; Mustafa, H. R. (2022). On postediting of machine translation and workflow for undergraduate translation program in China. Human Behavior and Emerging Technologies, 2022, 5793054.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Kuznik, A., Hurtado Albir, A., &amp; Espinal Berenguer, A. (2010). The use of social surveys in Translation Studies. MonTI 2trans.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Harkness, J., Pennell, B. E., &amp; Schoua-Glusberg, A. (2004). Survey questionnaire translation and assessment.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· 补充网络来源：Wiley原文 https://onlinelibrary.wiley.com/doi/10.1155/2022/5793054；MonTI综述 https://www.raco.cat/index.php/MonTI/article/download/301211/390682</a:t>
            </a:r>
            <a:endParaRPr sz="2000" b="0" i="0">
              <a:solidFill>
                <a:srgbClr val="00000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0332720" y="5742432"/>
            <a:ext cx="16459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04040"/>
                </a:solidFill>
                <a:latin typeface="Times New Roman" panose="02020603050405020304"/>
                <a:ea typeface="宋体" panose="02010600030101010101" pitchFamily="2" charset="-122"/>
                <a:cs typeface="宋体" panose="02010600030101010101" pitchFamily="2" charset="-122"/>
              </a:rPr>
              <a:t>20 / 20</a:t>
            </a:r>
            <a:endParaRPr sz="1000" b="0" i="0">
              <a:solidFill>
                <a:srgbClr val="404040"/>
              </a:solidFill>
              <a:latin typeface="Times New Roman" panose="02020603050405020304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ISPRING_PRESENTATION_TITLE" val="PowerPoint 演示文稿"/>
  <p:tag name="KSO_WM_DOC_GUID" val="{7646b040-3551-49a0-9609-8286eb574aa4}"/>
</p:tagLst>
</file>

<file path=ppt/theme/theme1.xml><?xml version="1.0" encoding="utf-8"?>
<a:theme xmlns:a="http://schemas.openxmlformats.org/drawingml/2006/main" name="第一PPT，www.1ppt.com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3616</Words>
  <Application>WPS 演示</Application>
  <PresentationFormat>宽屏</PresentationFormat>
  <Paragraphs>194</Paragraphs>
  <Slides>20</Slides>
  <Notes>14</Notes>
  <HiddenSlides>0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20</vt:i4>
      </vt:variant>
    </vt:vector>
  </HeadingPairs>
  <TitlesOfParts>
    <vt:vector size="34" baseType="lpstr">
      <vt:lpstr>Arial</vt:lpstr>
      <vt:lpstr>宋体</vt:lpstr>
      <vt:lpstr>Wingdings</vt:lpstr>
      <vt:lpstr>Brush Script MT</vt:lpstr>
      <vt:lpstr>华文隶书</vt:lpstr>
      <vt:lpstr>Calibri</vt:lpstr>
      <vt:lpstr>Roboto Light</vt:lpstr>
      <vt:lpstr>Times New Roman</vt:lpstr>
      <vt:lpstr>黑体</vt:lpstr>
      <vt:lpstr>微软雅黑</vt:lpstr>
      <vt:lpstr>Arial Unicode MS</vt:lpstr>
      <vt:lpstr>Calibri Light</vt:lpstr>
      <vt:lpstr>FFont-Family</vt:lpstr>
      <vt:lpstr>第一PPT，www.1ppt.com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第一PPT，www.1ppt.com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粒子点线</dc:title>
  <dc:creator>第一PPT</dc:creator>
  <cp:keywords>www.1ppt.com</cp:keywords>
  <dc:description>www.1ppt.com</dc:description>
  <cp:lastModifiedBy>臻</cp:lastModifiedBy>
  <cp:revision>119</cp:revision>
  <dcterms:created xsi:type="dcterms:W3CDTF">2018-09-11T09:25:00Z</dcterms:created>
  <dcterms:modified xsi:type="dcterms:W3CDTF">2026-09-30T06:40:56Z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2052-12.1.0.28599</vt:lpwstr>
  </property>
  <property fmtid="{D5CDD505-2E9C-101B-9397-08002B2CF9AE}" pid="3" name="ICV">
    <vt:lpwstr>BFA146773F4A4283BE0830DBF4813C0B_13</vt:lpwstr>
  </property>
</Properties>
</file>