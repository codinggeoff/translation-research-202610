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大家好，我是＿＿，接下来十分钟由我汇报我们组“方法 A 正反例”的部分：问卷调查法。正例是一篇口译研究，中文核心期刊；反例是一篇笔译研究，国际期刊，两篇都在翻译研究领域，类型一中一英。这一页只有一句话，也是今天全部的判断标准：研究问题 → 构念与题项 → 抽样与施测 → 统计与结论，这条链闭住了没有。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研究问题问什么；构念与题项，怎么把问题变成可答的题；抽样与施测，发给谁、收回来什么；统计与结论，证据能撑到哪一步。两个案例按同一把尺看。闭住，就是一份好问卷；断在任何一环，结论就悬空。我们下面看到的两处断点，恰好一环在第 2 步、一环在第 4 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替传译里有个东西叫笔记熟练度，大家都想测，可它看不见摸不着：你不能靠看一份笔记成品打分，也很难让别人替他评。作者就干了两件事——给它一个可操作的定义，再编一份可以被复核的自评问卷，也就是量表。所以这一页的重点不是“发现了什么规律”，而是：它交付了一件别人还能接着用的测量工具。周金华、董燕萍 2019 年，发在《外语教学与研究》，文末附了全部 21 个题项，构念是两阶段乘四个维度。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步。请大家只看右边那一列：每一步，论文里都留下一行可以核查的证据，这一列就是你写“研究方法”那一节时要写的句子。前三步：界定构念，把“熟练”拆成记录和理解两个阶段、四个维度；生成题库七十四题，题干几乎全取自学习日志和访谈里译员的原话；专家评审，五名学员译员加三名教师译员，三轮讨论历时半年，收到二十八题、李克特六点。第四步试测，五十四名学生，用极端组比较和同质性检验删掉七题。改名“口译笔记自我描述量表”，为的是压低社会赞许性；正式施测一百四十四名近一学年有笔记交传训练的本科生；α 等于 .901，内容效度指数全为 1，四个因子解释 60.49%，再和三项效标相关。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点可以直接搬进我们的论文。第一，构念先于题项：先写操作定义，再写“构念—维度—题项”对齐表，最后才落笔写题，不要想到什么问什么。第二，删题是设计，不是失败：七十四到二十八到二十一，每一轮都留下依据——删了哪些、按哪个指标、阈值多少，同时把信度和内容效度量化报告出来。第三，结论只走一步：量表和练习量、动机、绩效对照，所以它敢说“可测、能区分训练阶段”，但绝不说“笔记好所以口译好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反例换成笔译方向，题目其实很像我们会写的：本科翻译专业要不要引入“机器翻译加译后编辑”，也就是 MTPE 的流程？作者自拟一份问卷：六条李克特陈述，感知有用性和感知易用性各三题、六点量表，再加四道开放题，理论框架借的是技术接受模型 TAM。被试是西北一所高校的一百二十七名本科生，一次横断面施测，统计上只做描述和相关。数据都报了：样本量、两个分量表的 α 是 .714 和 .835，六题均值四点零二到四点五五，都高于中点。所以这篇的问题不是假，而是它撑不起被要求撑的那个结论。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六步都做了，每一步只写了半句。第一、二步：目的是论证流程可行，可问卷只回答态度；借了 TAM 的框架，没借它的结构，六个自拟题到底测不测得到那两个构念，没检验。第三、四步：一所高校一百二十七人、便利抽样，发放和回收都没报，于是应答率、自选择偏差都无从判断；线上一次填答，没有照应题，也没有注意力检查。第五、六步：拿单个题项和课程成绩做相关，均值高于中点就叫“积极”，等于把题项当构念分数用；最后从横断面自陈，一步走到“应纳入课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如果要救，只需要三处最小改动。第一，题项来自已验证的量表：自拟三条不等于“感知有用性”；沿用就注明出处，自编就至少补一次 EFA，或者报告题总相关。第二，别用单题代表构念：先把题目按维度合成均分、报 α，再做相关，措辞只写“关联”，不写“影响”。第三，结论收缩到样本：一百二十七人只能说明“该校学生”，同时报出发放、回收、有效三份数字和判定规则。三条都不需要重做研究，当天就能补。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两篇放在同一张桌子上，它们问的其实是同一件事：这份问卷，凭什么得出这个结论？题项哪来的：一边是日志、访谈加三轮评审，七十四到二十八到二十一；一边自拟六条，无评审、无前测。测的是什么：一边四个维度的构念，并用因子分析复核过；一边两个构念各三题，结构未检验。谁在填：一边一百四十四名同一训练阶段的学生、条件写明；一边两个年级一百二十七人、回收口径没写。信度 .901 对 .714 和 .835；效度一边有内容效度、因子分析和三项效标，一边只有单题和成绩的相关；结论一边停在“可测”，一边写到“可行”。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组整理的十条，交稿前逐条打勾，勾不上的那一行就是最可能被老师追问的地方。研究问题写成一句可回答的话；构念、维度、题项要有一张能对齐的表；题项来源写清——沿用注出处、改编列改动、自编说过程；总体、抽样框、纳入排除各一句话；发放、回收、有效三份数字，先定无效判定规则；前测或专家评审留痕；信度报 α 或 ω，多维就报 EFA 或 CFA；指导语交代匿名、用途和自愿退出；题型与统计对应；最后，横断面自陈只说关联、不说因果。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最后四道题留给大家，大约四分钟：第一题，预算只剩三十份问卷，四道检验保哪两道、舍哪一道；第二题，“均值高于中点”要补哪个统计量才站得住；第三题，把结论推广到 MTI 群体，最少补哪三条信息；第四题留给我们自己，对照刚才那几处断点，你最担心踩到哪一条。资料清单在这页右边，两篇原文都能直接点开核对数字。我们的汇报到这里，谢谢。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92024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5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方法 A 案例部分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677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一份问卷，两种命运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310128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A Questionnaire, Two Fates · Interpreting × Translation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913632"/>
            <a:ext cx="420624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114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正例（口译研究）｜ 周金华、董燕萍（2019）. 口译笔记熟练度量表的开发. 外语教学与研究 51(6): 925-937.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反例（笔译研究）｜ Yang &amp; Mustafa (2022). On postediting of machine translation and workflow. HBET, 5793054.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3892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全程只用一把尺：研究问题 → 构念与题项 → 抽样与施测 → 统计与结论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59612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小组分工（4 人）：于萍［组长］框架与主线 · 陈冠臻 正例核对 · 熊芮 反例核对 · 方燕 对照与清单 · 汇报人：＿＿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THE CHAIN · 四步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先看链条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闭住就是好问卷；断在任何一环，结论就悬空。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01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42032"/>
            <a:ext cx="2578608" cy="1627632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42032"/>
            <a:ext cx="50292" cy="16276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79776"/>
            <a:ext cx="21214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5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要回答什么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ACBA"/>
                </a:solidFill>
                <a:latin typeface="Arial"/>
                <a:ea typeface="思源黑体 CN Light"/>
                <a:cs typeface="思源黑体 CN Light"/>
              </a:rPr>
              <a:t>Research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1" y="2542032"/>
            <a:ext cx="2578608" cy="1627632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1" y="2542032"/>
            <a:ext cx="50292" cy="16276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5" y="2779776"/>
            <a:ext cx="21214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5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构念与题项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怎么变成可答的题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ACBA"/>
                </a:solidFill>
                <a:latin typeface="Arial"/>
                <a:ea typeface="思源黑体 CN Light"/>
                <a:cs typeface="思源黑体 CN Light"/>
              </a:rPr>
              <a:t>Construct &amp;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5" y="2542032"/>
            <a:ext cx="2578608" cy="1627632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5" y="2542032"/>
            <a:ext cx="50292" cy="16276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39" y="2779776"/>
            <a:ext cx="21214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5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抽样与施测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向谁发、怎么收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ACBA"/>
                </a:solidFill>
                <a:latin typeface="Arial"/>
                <a:ea typeface="思源黑体 CN Light"/>
                <a:cs typeface="思源黑体 CN Light"/>
              </a:rPr>
              <a:t>Sampling &amp; admin.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542032"/>
            <a:ext cx="2578608" cy="1627632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2542032"/>
            <a:ext cx="50292" cy="16276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779776"/>
            <a:ext cx="21214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5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统计与结论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证据撑到哪一步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ACBA"/>
                </a:solidFill>
                <a:latin typeface="Arial"/>
                <a:ea typeface="思源黑体 CN Light"/>
                <a:cs typeface="思源黑体 CN Light"/>
              </a:rPr>
              <a:t>Analysis &amp;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43984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断点最常出现在第 2 与第 4 步：题项测的不是那个构念；结论比数据多走了几步。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POSITIVE CASE · 口译研究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把“熟练度”变成可测的构念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周金华、董燕萍（2019）. 口译笔记熟练度量表的开发. 外语教学与研究 51(6): 925-937.（CSSCI 核心期刊）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42032"/>
            <a:ext cx="10881360" cy="1371600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42032"/>
            <a:ext cx="50292" cy="13716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779776"/>
            <a:ext cx="10332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笔记熟练度，看不见、摸不着 —— 能测吗？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给一个可操作的定义，再编一份可被复核的自评问卷（量表）。目标不是“发现规律”，而是交付一件能接着用的工具。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245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构念：两阶段（记录 / 理解）× 四维度（听记协调 · 系统性 · 时效性 · 使用）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183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附录公开 21 个题项，工具可复用、可被复核。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POSITIVE CASE ·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七步，每步留下一件证据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右栏 ＝ 你写“研究方法”一节时要写的句子。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05456"/>
            <a:ext cx="10881360" cy="3291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05456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505456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0545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留下什么证据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34640"/>
            <a:ext cx="10881360" cy="402336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34640"/>
            <a:ext cx="1554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① 界定构念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34640"/>
            <a:ext cx="5394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两阶段 × 四维度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834640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构念定义＋维度表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36976"/>
            <a:ext cx="10881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236976"/>
            <a:ext cx="1554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② 生成题库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236976"/>
            <a:ext cx="5394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74 题，来自日志与访谈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3697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题项来源说明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39312"/>
            <a:ext cx="10881360" cy="402336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39312"/>
            <a:ext cx="1554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③ 专家评审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639312"/>
            <a:ext cx="5394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3 轮 → 28 题（6 点）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39312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评审人数与依据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41648"/>
            <a:ext cx="10881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041648"/>
            <a:ext cx="1554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④ 试测删题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041648"/>
            <a:ext cx="5394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54 人 → 删 7 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41648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删题指标与阈值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443984"/>
            <a:ext cx="10881360" cy="402336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443984"/>
            <a:ext cx="1554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⑤ 正式施测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443984"/>
            <a:ext cx="5394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144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443984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总体口径与份数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46320"/>
            <a:ext cx="10881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846320"/>
            <a:ext cx="1554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⑥ 信度效度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846320"/>
            <a:ext cx="5394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α = .901；CVI =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846320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信效度指标表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248656"/>
            <a:ext cx="10881360" cy="402336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5248656"/>
            <a:ext cx="1554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⑦ 三项效标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48656"/>
            <a:ext cx="5394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.473 · .539 · .556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24865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效标＋组间比较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7607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结果：21 题 · 4 因子解释 60.49% ｜ 初级组与高级组差异显著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POSITIVE CASE ·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三点值得照搬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括号里是你在“研究方法”一节里的写法。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87168"/>
            <a:ext cx="10881360" cy="1115568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487168"/>
            <a:ext cx="50292" cy="111556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88336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1. 构念先于题项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先有操作定义与对齐表，再写题项。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ACBA"/>
                </a:solidFill>
                <a:latin typeface="Arial"/>
                <a:ea typeface="思源黑体 CN Light"/>
                <a:cs typeface="思源黑体 CN Light"/>
              </a:rPr>
              <a:t>Construct first, items second.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10881360" cy="1115568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749039"/>
            <a:ext cx="50292" cy="111556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7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2. 删题是设计，不是失败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74 → 28 → 21，每轮都留下依据。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ACBA"/>
                </a:solidFill>
                <a:latin typeface="Arial"/>
                <a:ea typeface="思源黑体 CN Light"/>
                <a:cs typeface="思源黑体 CN Light"/>
              </a:rPr>
              <a:t>Item analysis, reported.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10912"/>
            <a:ext cx="10881360" cy="1115568"/>
          </a:xfrm>
          <a:prstGeom prst="rect">
            <a:avLst/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10912"/>
            <a:ext cx="50292" cy="1115568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212079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3. 结论只走一步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只说“可测、能区分阶段”，不说“笔记好所以口译好”。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ACBA"/>
                </a:solidFill>
                <a:latin typeface="Arial"/>
                <a:ea typeface="思源黑体 CN Light"/>
                <a:cs typeface="思源黑体 CN Light"/>
              </a:rPr>
              <a:t>Claim no more than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27647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另：21 题随附录公开 —— 工具可复用，研究才能被复核、被引用。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NEGATIVE CASE · 笔译研究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六道题，去撑一个新流程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Yang &amp; Mustafa (2022). On postediting of MT and workflow. HBET, 5793054.（Wiley 开放获取）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42032"/>
            <a:ext cx="10881360" cy="1371600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42032"/>
            <a:ext cx="50292" cy="13716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779776"/>
            <a:ext cx="10332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问题：本科翻译专业要不要引入“机器翻译 ＋ 译后编辑（MTPE）”的流程？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工具：6 条李克特陈述（有用性 3 · 易用性 3，6 点）＋ 4 道开放题；借技术接受模型（TAM）；与两门课成绩做相关。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245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它也报了数字：N = 127 ｜ α = .714 / .835 ｜ 均值 4.02–4.55（都高于中点）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183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先说清楚：这不是造假，数据是真的、统计也报了 —— 只是撑不起被要求撑的结论。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NEGATIVE CASE · WHERE IT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六步都做了，每步只半句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左：论文写了什么 ｜ 右：缺掉的那一环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05456"/>
            <a:ext cx="10881360" cy="32918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0545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环节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05456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论文写了什么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505456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缺掉的一环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34640"/>
            <a:ext cx="10881360" cy="402336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34640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① 目的与工具错位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34640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要论证“可行”，只答了态度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834640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可行性需评审或试点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36976"/>
            <a:ext cx="10881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236976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② 借框架不借结构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36976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TAM 两构念，6 条自拟题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36976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结构未经检验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39312"/>
            <a:ext cx="10881360" cy="402336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39312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③ 抽样口径模糊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639312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一所高校，便利抽样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639312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未报发放 / 回收 / 有效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41648"/>
            <a:ext cx="10881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041648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④ 施测一次成型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041648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线上一次填答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041648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无照应题与偏差控制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443984"/>
            <a:ext cx="10881360" cy="402336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443984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⑤ 分析层级错位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4439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单题 × 课程成绩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443984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把题项当构念用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46320"/>
            <a:ext cx="10881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846320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⑥ 写作代替解释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846320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均值高于中点 → “可行”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846320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横断面推不出因果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58384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这不是造假：数据是真的，统计也报了 —— 它只是撑不起被要求撑的那个结论。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NEGATIVE CASE ·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三处最容易踩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每处一条“最小改法”，不需要重做研究，当天就能补。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87168"/>
            <a:ext cx="10881360" cy="1115568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487168"/>
            <a:ext cx="50292" cy="111556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88336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题项要来自已验证的量表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自拟 3 条不等于“感知有用性”。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改：沿用已验证条目并标出处；补 EFA 或报题总相关。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10881360" cy="1115568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749039"/>
            <a:ext cx="50292" cy="111556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7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别用单题代表构念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Q6 × 成绩 r = .746 → “能力强”？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改：先合成维度均分并报 α，再做相关；只写“关联”。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10912"/>
            <a:ext cx="10881360" cy="1115568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10912"/>
            <a:ext cx="50292" cy="1115568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212079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结论要收缩到样本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127 人 → “教学可行”？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改：称“该校学生”；报发放 / 回收 / 有效三份数字。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27647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底线：剔卷标准与编码规则要预先写清（此处 18 份被剔除，依据未披露）。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两案并排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两篇问的其实是同一件事：这份问卷，凭什么得出这个结论？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42032"/>
            <a:ext cx="2103120" cy="32918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42032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7" y="2542032"/>
            <a:ext cx="4297680" cy="3291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542032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口译 · 正例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9168" y="2542032"/>
            <a:ext cx="4480560" cy="32918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2542032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笔译 MTPE · 反例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71215"/>
            <a:ext cx="2103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871215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题项哪来的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7" y="2871215"/>
            <a:ext cx="4297680" cy="420624"/>
          </a:xfrm>
          <a:prstGeom prst="rect">
            <a:avLst/>
          </a:prstGeom>
          <a:solidFill>
            <a:srgbClr val="F3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2871215"/>
            <a:ext cx="4023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日志＋访谈＋评审 74→28→21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2871215"/>
            <a:ext cx="4480560" cy="420624"/>
          </a:xfrm>
          <a:prstGeom prst="rect">
            <a:avLst/>
          </a:prstGeom>
          <a:solidFill>
            <a:srgbClr val="FB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2871215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自拟 6 条，无评审前测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291839"/>
            <a:ext cx="2103120" cy="420624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91839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测的是什么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7" y="3291839"/>
            <a:ext cx="4297680" cy="420624"/>
          </a:xfrm>
          <a:prstGeom prst="rect">
            <a:avLst/>
          </a:prstGeom>
          <a:solidFill>
            <a:srgbClr val="F3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3291839"/>
            <a:ext cx="4023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4 维度，EFA 复核吻合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9168" y="3291839"/>
            <a:ext cx="4480560" cy="420624"/>
          </a:xfrm>
          <a:prstGeom prst="rect">
            <a:avLst/>
          </a:prstGeom>
          <a:solidFill>
            <a:srgbClr val="FB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3291839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2 构念各 3 题，未检验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712463"/>
            <a:ext cx="2103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712463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谁在填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1487" y="3712463"/>
            <a:ext cx="4297680" cy="420624"/>
          </a:xfrm>
          <a:prstGeom prst="rect">
            <a:avLst/>
          </a:prstGeom>
          <a:solidFill>
            <a:srgbClr val="F3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3712463"/>
            <a:ext cx="4023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144 人，条件写明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9168" y="3712463"/>
            <a:ext cx="4480560" cy="420624"/>
          </a:xfrm>
          <a:prstGeom prst="rect">
            <a:avLst/>
          </a:prstGeom>
          <a:solidFill>
            <a:srgbClr val="FB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3712463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127 人，回收口径未报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33087"/>
            <a:ext cx="2103120" cy="420624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133087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61487" y="4133087"/>
            <a:ext cx="4297680" cy="420624"/>
          </a:xfrm>
          <a:prstGeom prst="rect">
            <a:avLst/>
          </a:prstGeom>
          <a:solidFill>
            <a:srgbClr val="F3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4368" y="4133087"/>
            <a:ext cx="4023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α = .901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9168" y="4133087"/>
            <a:ext cx="4480560" cy="420624"/>
          </a:xfrm>
          <a:prstGeom prst="rect">
            <a:avLst/>
          </a:prstGeom>
          <a:solidFill>
            <a:srgbClr val="FB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42048" y="4133087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.714 / .835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553712"/>
            <a:ext cx="2103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55371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效度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7" y="4553712"/>
            <a:ext cx="4297680" cy="420624"/>
          </a:xfrm>
          <a:prstGeom prst="rect">
            <a:avLst/>
          </a:prstGeom>
          <a:solidFill>
            <a:srgbClr val="F3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44368" y="4553712"/>
            <a:ext cx="4023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CVI ＋ EFA ＋ 三项效标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9168" y="4553712"/>
            <a:ext cx="4480560" cy="420624"/>
          </a:xfrm>
          <a:prstGeom prst="rect">
            <a:avLst/>
          </a:prstGeom>
          <a:solidFill>
            <a:srgbClr val="FB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42048" y="4553712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单题 × 课程成绩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974336"/>
            <a:ext cx="2103120" cy="420624"/>
          </a:xfrm>
          <a:prstGeom prst="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974336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结论走到哪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61487" y="4974336"/>
            <a:ext cx="4297680" cy="420624"/>
          </a:xfrm>
          <a:prstGeom prst="rect">
            <a:avLst/>
          </a:prstGeom>
          <a:solidFill>
            <a:srgbClr val="F3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44368" y="4974336"/>
            <a:ext cx="4023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可测、能区分训练阶段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9168" y="4974336"/>
            <a:ext cx="4480560" cy="420624"/>
          </a:xfrm>
          <a:prstGeom prst="rect">
            <a:avLst/>
          </a:prstGeom>
          <a:solidFill>
            <a:srgbClr val="FB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42048" y="4974336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流程可行、纳入课程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522975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倒过来读，就是你的自检表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870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题项哪来的？测的还是它吗？谁填的、留下多少？信度在哪一行？结论多走了几步？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TEN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交稿前十行清单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勾不上的那一行，就是你论文里最可能被追问的地方。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8716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05456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研究问题：一句可回答的话（描述 / 比较 / 关联）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5409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540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72384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构念 → 维度 → 题项：一张对齐表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2102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210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639312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题项来源：沿用注出处｜改编列改动｜自编说过程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87952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87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0624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总体、抽样框、纳入与排除：各一句话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75488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548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773168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发放 / 回收 / 有效：三份数字＋回收率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248716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24871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2505456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无效判定规则：先定后用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05409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0540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072384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前测与专家评审：留痕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62102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36210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3639312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信度 α / ω；多维则 EFA / CFA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187952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0488" y="4187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420624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指导语：匿名、用途、自愿退出；敏感题后置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75488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47548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4773168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结论分寸：横断面只说关联，不说因果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4681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这十条在正例那篇里都有对应段落 —— 抄它的结构，别抄它的内容。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91440" cy="475488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07899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DISCUSSION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1673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四道思考题 ＋ 资料清单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836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讨论约 4 分钟；每题本组先自答一句，再点人。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55664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问卷调查法正反例 · 2026.10.12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55664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871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48716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7" y="248716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30 份问卷的预算，四道检验保哪两道？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834640"/>
            <a:ext cx="667512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0175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补一个统计量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7" y="301752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“均值高于中点”＝“总体积极”？你补哪个、为什么？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364992"/>
            <a:ext cx="667512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4787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54787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追问样本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7" y="354787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要推广到 MTI，最少补哪三条信息？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667512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0782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407822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7" y="407822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对照六病，你最怕踩哪一条？最小改法是什么？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25696"/>
            <a:ext cx="667512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66344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讨论 4 分钟：本组每题先自答一句，再点人。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4323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3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论文与学习资料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76148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正例全文＋量表附录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9900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bcdlab.gdufs.edu.cn/info/1025/2025.htm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3649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反例原文（开放获取）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5935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onlinelibrary.wiley.com/doi/10.1155/2022/5793054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96849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同类笔译态度调查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970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doi.org/10.18298/ijlet.3242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7200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口译问卷范例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006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张威（2013）《中国翻译》(2): 17-25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17550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方法读物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4041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吴明隆《问卷统计分析实务》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77900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检索式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007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CNKI: 翻译 AND（问卷 OR 量表）AND 信效度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4373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两条链接都可直接点开核对数字；检索式可复制到知网 / Web of Science。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