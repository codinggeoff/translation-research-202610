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0"/>
  </p:handoutMasterIdLst>
  <p:sldIdLst>
    <p:sldId id="256" r:id="rId9"/>
    <p:sldId id="257" r:id="rId8"/>
    <p:sldId id="258" r:id="rId7"/>
    <p:sldId id="259" r:id="rId6"/>
    <p:sldId id="260" r:id="rId5"/>
    <p:sldId id="261" r:id="rId3"/>
    <p:sldId id="262" r:id="rId15"/>
    <p:sldId id="263" r:id="rId16"/>
    <p:sldId id="264" r:id="rId17"/>
    <p:sldId id="265" r:id="rId18"/>
    <p:sldId id="266" r:id="rId19"/>
  </p:sldIdLst>
  <p:sldSz cx="12192000" cy="6858000"/>
  <p:notesSz cx="6858000" cy="9144000"/>
  <p:custDataLst>
    <p:tags r:id="rId1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E5456"/>
    <a:srgbClr val="03A9F0"/>
    <a:srgbClr val="5B9BD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25" autoAdjust="0"/>
    <p:restoredTop sz="94660"/>
  </p:normalViewPr>
  <p:slideViewPr>
    <p:cSldViewPr snapToGrid="0" showGuides="1">
      <p:cViewPr varScale="1">
        <p:scale>
          <a:sx n="51" d="100"/>
          <a:sy n="51" d="100"/>
        </p:scale>
        <p:origin x="77" y="547"/>
      </p:cViewPr>
      <p:guideLst>
        <p:guide orient="horz" pos="2139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39" d="100"/>
        <a:sy n="139" d="100"/>
      </p:scale>
      <p:origin x="0" y="0"/>
    </p:cViewPr>
  </p:sorterViewPr>
  <p:notesViewPr>
    <p:cSldViewPr snapToGrid="0">
      <p:cViewPr varScale="1">
        <p:scale>
          <a:sx n="70" d="100"/>
          <a:sy n="70" d="100"/>
        </p:scale>
        <p:origin x="2520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6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Relationship Id="rId14" Type="http://schemas.openxmlformats.org/officeDocument/2006/relationships/tags" Target="tags/tag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96566E-A135-47C5-B666-D77ED219465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0E1E66-0EA3-46B4-8216-B1B8BE711FF1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00BAA7-22A5-49C2-BA97-E6B0C9CFDA3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D9F56C-685E-485A-BF04-BF7465453AF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大家好，我是＿＿，接下来十分钟由我汇报我们组“方法 A 正反例”的部分：问卷调查法。正例是一篇口译研究，中文核心期刊；反例是一篇笔译研究，国际期刊，两篇都在翻译研究领域，类型一中一英。这一页只有一句话，也是今天全部的判断标准：研究问题 → 构念与题项 → 抽样与施测 → 统计与结论，这条链闭住了没有。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：研究问题问什么；构念与题项，怎么把问题变成可答的题；抽样与施测，发给谁、收回来什么；统计与结论，证据能撑到哪一步。两个案例按同一把尺看。闭住，就是一份好问卷；断在任何一环，结论就悬空。我们下面看到的两处断点，恰好一环在第 2 步、一环在第 4 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交替传译里有个东西叫笔记熟练度，大家都想测，可它看不见摸不着：你不能靠看一份笔记成品打分，也很难让别人替他评。作者就干了两件事——给它一个可操作的定义，再编一份可以被复核的自评问卷，也就是量表。所以这一页的重点不是“发现了什么规律”，而是：它交付了一件别人还能接着用的测量工具。周金华、董燕萍 2019 年，发在《外语教学与研究》，文末附了全部 21 个题项，构念是两阶段乘四个维度。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七步。请大家只看右边那一列：每一步，论文里都留下一行可以核查的证据，这一列就是你写“研究方法”那一节时要写的句子。前三步：界定构念，把“熟练”拆成记录和理解两个阶段、四个维度；生成题库七十四题，题干几乎全取自学习日志和访谈里译员的原话；专家评审，五名学员译员加三名教师译员，三轮讨论历时半年，收到二十八题、李克特六点。第四步试测，五十四名学生，用极端组比较和同质性检验删掉七题。改名“口译笔记自我描述量表”，为的是压低社会赞许性；正式施测一百四十四名近一学年有笔记交传训练的本科生；α 等于 .901，内容效度指数全为 1，四个因子解释 60.49%，再和三项效标相关。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点可以直接搬进我们的论文。第一，构念先于题项：先写操作定义，再写“构念—维度—题项”对齐表，最后才落笔写题，不要想到什么问什么。第二，删题是设计，不是失败：七十四到二十八到二十一，每一轮都留下依据——删了哪些、按哪个指标、阈值多少，同时把信度和内容效度量化报告出来。第三，结论只走一步：量表和练习量、动机、绩效对照，所以它敢说“可测、能区分训练阶段”，但绝不说“笔记好所以口译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反例换成笔译方向，题目其实很像我们会写的：本科翻译专业要不要引入“机器翻译加译后编辑”，也就是 MTPE 的流程？作者自拟一份问卷：六条李克特陈述，感知有用性和感知易用性各三题、六点量表，再加四道开放题，理论框架借的是技术接受模型 TAM。被试是西北一所高校的一百二十七名本科生，一次横断面施测，统计上只做描述和相关。数据都报了：样本量、两个分量表的 α 是 .714 和 .835，六题均值四点零二到四点五五，都高于中点。所以这篇的问题不是假，而是它撑不起被要求撑的那个结论。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六步都做了，每一步只写了半句。第一、二步：目的是论证流程可行，可问卷只回答态度；借了 TAM 的框架，没借它的结构，六个自拟题到底测不测得到那两个构念，没检验。第三、四步：一所高校一百二十七人、便利抽样，发放和回收都没报，于是应答率、自选择偏差都无从判断；线上一次填答，没有照应题，也没有注意力检查。第五、六步：拿单个题项和课程成绩做相关，均值高于中点就叫“积极”，等于把题项当构念分数用；最后从横断面自陈，一步走到“应纳入课程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如果要救，只需要三处最小改动。第一，题项来自已验证的量表：自拟三条不等于“感知有用性”；沿用就注明出处，自编就至少补一次 EFA，或者报告题总相关。第二，别用单题代表构念：先把题目按维度合成均分、报 α，再做相关，措辞只写“关联”，不写“影响”。第三，结论收缩到样本：一百二十七人只能说明“该校学生”，同时报出发放、回收、有效三份数字和判定规则。三条都不需要重做研究，当天就能补。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两篇放在同一张桌子上，它们问的其实是同一件事：这份问卷，凭什么得出这个结论？题项哪来的：一边是日志、访谈加三轮评审，七十四到二十八到二十一；一边自拟六条，无评审、无前测。测的是什么：一边四个维度的构念，并用因子分析复核过；一边两个构念各三题，结构未检验。谁在填：一边一百四十四名同一训练阶段的学生、条件写明；一边两个年级一百二十七人、回收口径没写。信度 .901 对 .714 和 .835；效度一边有内容效度、因子分析和三项效标，一边只有单题和成绩的相关；结论一边停在“可测”，一边写到“可行”。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我们组整理的十条，交稿前逐条打勾，勾不上的那一行就是最可能被老师追问的地方。研究问题写成一句可回答的话；构念、维度、题项要有一张能对齐的表；题项来源写清——沿用注出处、改编列改动、自编说过程；总体、抽样框、纳入排除各一句话；发放、回收、有效三份数字，先定无效判定规则；前测或专家评审留痕；信度报 α 或 ω，多维就报 EFA 或 CFA；指导语交代匿名、用途和自愿退出；题型与统计对应；最后，横断面自陈只说关联、不说因果。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最后四道题留给大家，大约四分钟：第一题，预算只剩三十份问卷，四道检验保哪两道、舍哪一道；第二题，“均值高于中点”要补哪个统计量才站得住；第三题，把结论推广到 MTI 群体，最少补哪三条信息；第四题留给我们自己，对照刚才那几处断点，你最担心踩到哪一条。资料清单在这页右边，两篇原文都能直接点开核对数字。我们的汇报到这里，谢谢。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3"/>
            <a:ext cx="3708572" cy="861530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1" y="6004875"/>
            <a:ext cx="12191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chemeClr val="bg1">
                    <a:lumMod val="50000"/>
                  </a:schemeClr>
                </a:solidFill>
                <a:latin typeface="Brush Script MT" panose="03060802040406070304" pitchFamily="66" charset="0"/>
                <a:ea typeface="华文隶书" panose="02010800040101010101" pitchFamily="2" charset="-122"/>
              </a:rPr>
              <a:t>In Pursuit of Excellence in Interpreting and Translation</a:t>
            </a: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Brush Script MT" panose="03060802040406070304" pitchFamily="66" charset="0"/>
              <a:ea typeface="华文隶书" panose="02010800040101010101" pitchFamily="2" charset="-122"/>
            </a:endParaRPr>
          </a:p>
          <a:p>
            <a:pPr algn="ctr"/>
            <a:r>
              <a:rPr lang="zh-CN" altLang="en-US" sz="2000" dirty="0">
                <a:solidFill>
                  <a:schemeClr val="bg1">
                    <a:lumMod val="50000"/>
                  </a:schemeClr>
                </a:solidFill>
                <a:latin typeface="华文隶书" panose="02010800040101010101" pitchFamily="2" charset="-122"/>
                <a:ea typeface="华文隶书" panose="02010800040101010101" pitchFamily="2" charset="-122"/>
              </a:rPr>
              <a:t>译无止境，臻于至善</a:t>
            </a:r>
            <a:endParaRPr lang="zh-CN" altLang="en-US" sz="2000" dirty="0">
              <a:solidFill>
                <a:schemeClr val="bg1">
                  <a:lumMod val="50000"/>
                </a:schemeClr>
              </a:solidFill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3"/>
            <a:ext cx="3708572" cy="861530"/>
          </a:xfrm>
          <a:prstGeom prst="rect">
            <a:avLst/>
          </a:prstGeom>
        </p:spPr>
      </p:pic>
      <p:sp>
        <p:nvSpPr>
          <p:cNvPr id="5" name="文本框 4"/>
          <p:cNvSpPr txBox="1"/>
          <p:nvPr userDrawn="1"/>
        </p:nvSpPr>
        <p:spPr>
          <a:xfrm>
            <a:off x="1" y="6004875"/>
            <a:ext cx="12191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chemeClr val="bg1">
                    <a:lumMod val="50000"/>
                  </a:schemeClr>
                </a:solidFill>
                <a:latin typeface="Brush Script MT" panose="03060802040406070304" pitchFamily="66" charset="0"/>
                <a:ea typeface="华文隶书" panose="02010800040101010101" pitchFamily="2" charset="-122"/>
              </a:rPr>
              <a:t>In Pursuit of Excellence in Interpreting and Translation</a:t>
            </a: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Brush Script MT" panose="03060802040406070304" pitchFamily="66" charset="0"/>
              <a:ea typeface="华文隶书" panose="02010800040101010101" pitchFamily="2" charset="-122"/>
            </a:endParaRPr>
          </a:p>
          <a:p>
            <a:pPr algn="ctr"/>
            <a:r>
              <a:rPr lang="zh-CN" altLang="en-US" sz="2000" dirty="0">
                <a:solidFill>
                  <a:schemeClr val="bg1">
                    <a:lumMod val="50000"/>
                  </a:schemeClr>
                </a:solidFill>
                <a:latin typeface="华文隶书" panose="02010800040101010101" pitchFamily="2" charset="-122"/>
                <a:ea typeface="华文隶书" panose="02010800040101010101" pitchFamily="2" charset="-122"/>
              </a:rPr>
              <a:t>译无止境，臻于至善</a:t>
            </a:r>
            <a:endParaRPr lang="zh-CN" altLang="en-US" sz="2000" dirty="0">
              <a:solidFill>
                <a:schemeClr val="bg1">
                  <a:lumMod val="50000"/>
                </a:schemeClr>
              </a:solidFill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sp>
        <p:nvSpPr>
          <p:cNvPr id="6" name="矩形 5"/>
          <p:cNvSpPr/>
          <p:nvPr userDrawn="1"/>
        </p:nvSpPr>
        <p:spPr>
          <a:xfrm>
            <a:off x="0" y="2276872"/>
            <a:ext cx="3264363" cy="26882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9" name="矩形 8"/>
          <p:cNvSpPr/>
          <p:nvPr userDrawn="1"/>
        </p:nvSpPr>
        <p:spPr>
          <a:xfrm>
            <a:off x="8975543" y="2276871"/>
            <a:ext cx="3264363" cy="26882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grpSp>
        <p:nvGrpSpPr>
          <p:cNvPr id="10" name="组合 9"/>
          <p:cNvGrpSpPr/>
          <p:nvPr userDrawn="1"/>
        </p:nvGrpSpPr>
        <p:grpSpPr>
          <a:xfrm>
            <a:off x="7596491" y="2468893"/>
            <a:ext cx="576064" cy="577112"/>
            <a:chOff x="6084168" y="1274820"/>
            <a:chExt cx="432048" cy="432834"/>
          </a:xfrm>
        </p:grpSpPr>
        <p:sp>
          <p:nvSpPr>
            <p:cNvPr id="11" name="椭圆 22"/>
            <p:cNvSpPr>
              <a:spLocks noChangeArrowheads="1"/>
            </p:cNvSpPr>
            <p:nvPr/>
          </p:nvSpPr>
          <p:spPr bwMode="auto">
            <a:xfrm>
              <a:off x="6084168" y="1274820"/>
              <a:ext cx="432048" cy="43283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 sz="240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12" name="Freeform 59"/>
            <p:cNvSpPr>
              <a:spLocks noChangeArrowheads="1"/>
            </p:cNvSpPr>
            <p:nvPr/>
          </p:nvSpPr>
          <p:spPr bwMode="auto">
            <a:xfrm>
              <a:off x="6180302" y="1365898"/>
              <a:ext cx="239780" cy="250679"/>
            </a:xfrm>
            <a:custGeom>
              <a:avLst/>
              <a:gdLst>
                <a:gd name="T0" fmla="*/ 73627430 w 581"/>
                <a:gd name="T1" fmla="*/ 67678707 h 609"/>
                <a:gd name="T2" fmla="*/ 61659637 w 581"/>
                <a:gd name="T3" fmla="*/ 78678142 h 609"/>
                <a:gd name="T4" fmla="*/ 54244957 w 581"/>
                <a:gd name="T5" fmla="*/ 72208055 h 609"/>
                <a:gd name="T6" fmla="*/ 57106883 w 581"/>
                <a:gd name="T7" fmla="*/ 65867111 h 609"/>
                <a:gd name="T8" fmla="*/ 61659637 w 581"/>
                <a:gd name="T9" fmla="*/ 69490662 h 609"/>
                <a:gd name="T10" fmla="*/ 71806401 w 581"/>
                <a:gd name="T11" fmla="*/ 61338122 h 609"/>
                <a:gd name="T12" fmla="*/ 73627430 w 581"/>
                <a:gd name="T13" fmla="*/ 67678707 h 609"/>
                <a:gd name="T14" fmla="*/ 61659637 w 581"/>
                <a:gd name="T15" fmla="*/ 64055516 h 609"/>
                <a:gd name="T16" fmla="*/ 49691843 w 581"/>
                <a:gd name="T17" fmla="*/ 69490662 h 609"/>
                <a:gd name="T18" fmla="*/ 51513233 w 581"/>
                <a:gd name="T19" fmla="*/ 75054951 h 609"/>
                <a:gd name="T20" fmla="*/ 3772261 w 581"/>
                <a:gd name="T21" fmla="*/ 78678142 h 609"/>
                <a:gd name="T22" fmla="*/ 0 w 581"/>
                <a:gd name="T23" fmla="*/ 10999436 h 609"/>
                <a:gd name="T24" fmla="*/ 10146404 w 581"/>
                <a:gd name="T25" fmla="*/ 7246742 h 609"/>
                <a:gd name="T26" fmla="*/ 17561444 w 581"/>
                <a:gd name="T27" fmla="*/ 18246178 h 609"/>
                <a:gd name="T28" fmla="*/ 24845922 w 581"/>
                <a:gd name="T29" fmla="*/ 7246742 h 609"/>
                <a:gd name="T30" fmla="*/ 28488341 w 581"/>
                <a:gd name="T31" fmla="*/ 10999436 h 609"/>
                <a:gd name="T32" fmla="*/ 43318061 w 581"/>
                <a:gd name="T33" fmla="*/ 10999436 h 609"/>
                <a:gd name="T34" fmla="*/ 46960119 w 581"/>
                <a:gd name="T35" fmla="*/ 7246742 h 609"/>
                <a:gd name="T36" fmla="*/ 54244957 w 581"/>
                <a:gd name="T37" fmla="*/ 18246178 h 609"/>
                <a:gd name="T38" fmla="*/ 61659637 w 581"/>
                <a:gd name="T39" fmla="*/ 7246742 h 609"/>
                <a:gd name="T40" fmla="*/ 71806401 w 581"/>
                <a:gd name="T41" fmla="*/ 10999436 h 609"/>
                <a:gd name="T42" fmla="*/ 66212751 w 581"/>
                <a:gd name="T43" fmla="*/ 59526167 h 609"/>
                <a:gd name="T44" fmla="*/ 10146404 w 581"/>
                <a:gd name="T45" fmla="*/ 63149718 h 609"/>
                <a:gd name="T46" fmla="*/ 12878128 w 581"/>
                <a:gd name="T47" fmla="*/ 65867111 h 609"/>
                <a:gd name="T48" fmla="*/ 39545439 w 581"/>
                <a:gd name="T49" fmla="*/ 63149718 h 609"/>
                <a:gd name="T50" fmla="*/ 39545439 w 581"/>
                <a:gd name="T51" fmla="*/ 63149718 h 609"/>
                <a:gd name="T52" fmla="*/ 39545439 w 581"/>
                <a:gd name="T53" fmla="*/ 63149718 h 609"/>
                <a:gd name="T54" fmla="*/ 12878128 w 581"/>
                <a:gd name="T55" fmla="*/ 60431965 h 609"/>
                <a:gd name="T56" fmla="*/ 58017218 w 581"/>
                <a:gd name="T57" fmla="*/ 28339815 h 609"/>
                <a:gd name="T58" fmla="*/ 13788823 w 581"/>
                <a:gd name="T59" fmla="*/ 28339815 h 609"/>
                <a:gd name="T60" fmla="*/ 13788823 w 581"/>
                <a:gd name="T61" fmla="*/ 35715700 h 609"/>
                <a:gd name="T62" fmla="*/ 61659637 w 581"/>
                <a:gd name="T63" fmla="*/ 31963007 h 609"/>
                <a:gd name="T64" fmla="*/ 58017218 w 581"/>
                <a:gd name="T65" fmla="*/ 43868240 h 609"/>
                <a:gd name="T66" fmla="*/ 35903020 w 581"/>
                <a:gd name="T67" fmla="*/ 43868240 h 609"/>
                <a:gd name="T68" fmla="*/ 13788823 w 581"/>
                <a:gd name="T69" fmla="*/ 43868240 h 609"/>
                <a:gd name="T70" fmla="*/ 13788823 w 581"/>
                <a:gd name="T71" fmla="*/ 51244484 h 609"/>
                <a:gd name="T72" fmla="*/ 35903020 w 581"/>
                <a:gd name="T73" fmla="*/ 51244484 h 609"/>
                <a:gd name="T74" fmla="*/ 61659637 w 581"/>
                <a:gd name="T75" fmla="*/ 47491791 h 609"/>
                <a:gd name="T76" fmla="*/ 54244957 w 581"/>
                <a:gd name="T77" fmla="*/ 14622627 h 609"/>
                <a:gd name="T78" fmla="*/ 50602538 w 581"/>
                <a:gd name="T79" fmla="*/ 10999436 h 609"/>
                <a:gd name="T80" fmla="*/ 54244957 w 581"/>
                <a:gd name="T81" fmla="*/ 0 h 609"/>
                <a:gd name="T82" fmla="*/ 58017218 w 581"/>
                <a:gd name="T83" fmla="*/ 10999436 h 609"/>
                <a:gd name="T84" fmla="*/ 35903020 w 581"/>
                <a:gd name="T85" fmla="*/ 14622627 h 609"/>
                <a:gd name="T86" fmla="*/ 32260601 w 581"/>
                <a:gd name="T87" fmla="*/ 10999436 h 609"/>
                <a:gd name="T88" fmla="*/ 35903020 w 581"/>
                <a:gd name="T89" fmla="*/ 0 h 609"/>
                <a:gd name="T90" fmla="*/ 39545439 w 581"/>
                <a:gd name="T91" fmla="*/ 10999436 h 609"/>
                <a:gd name="T92" fmla="*/ 17561444 w 581"/>
                <a:gd name="T93" fmla="*/ 14622627 h 609"/>
                <a:gd name="T94" fmla="*/ 13788823 w 581"/>
                <a:gd name="T95" fmla="*/ 10999436 h 609"/>
                <a:gd name="T96" fmla="*/ 17561444 w 581"/>
                <a:gd name="T97" fmla="*/ 0 h 609"/>
                <a:gd name="T98" fmla="*/ 21203502 w 581"/>
                <a:gd name="T99" fmla="*/ 10999436 h 609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</a:gdLst>
              <a:ahLst/>
              <a:cxnLst>
                <a:cxn ang="T100">
                  <a:pos x="T0" y="T1"/>
                </a:cxn>
                <a:cxn ang="T101">
                  <a:pos x="T2" y="T3"/>
                </a:cxn>
                <a:cxn ang="T102">
                  <a:pos x="T4" y="T5"/>
                </a:cxn>
                <a:cxn ang="T103">
                  <a:pos x="T6" y="T7"/>
                </a:cxn>
                <a:cxn ang="T104">
                  <a:pos x="T8" y="T9"/>
                </a:cxn>
                <a:cxn ang="T105">
                  <a:pos x="T10" y="T11"/>
                </a:cxn>
                <a:cxn ang="T106">
                  <a:pos x="T12" y="T13"/>
                </a:cxn>
                <a:cxn ang="T107">
                  <a:pos x="T14" y="T15"/>
                </a:cxn>
                <a:cxn ang="T108">
                  <a:pos x="T16" y="T17"/>
                </a:cxn>
                <a:cxn ang="T109">
                  <a:pos x="T18" y="T19"/>
                </a:cxn>
                <a:cxn ang="T110">
                  <a:pos x="T20" y="T21"/>
                </a:cxn>
                <a:cxn ang="T111">
                  <a:pos x="T22" y="T23"/>
                </a:cxn>
                <a:cxn ang="T112">
                  <a:pos x="T24" y="T25"/>
                </a:cxn>
                <a:cxn ang="T113">
                  <a:pos x="T26" y="T27"/>
                </a:cxn>
                <a:cxn ang="T114">
                  <a:pos x="T28" y="T29"/>
                </a:cxn>
                <a:cxn ang="T115">
                  <a:pos x="T30" y="T31"/>
                </a:cxn>
                <a:cxn ang="T116">
                  <a:pos x="T32" y="T33"/>
                </a:cxn>
                <a:cxn ang="T117">
                  <a:pos x="T34" y="T35"/>
                </a:cxn>
                <a:cxn ang="T118">
                  <a:pos x="T36" y="T37"/>
                </a:cxn>
                <a:cxn ang="T119">
                  <a:pos x="T38" y="T39"/>
                </a:cxn>
                <a:cxn ang="T120">
                  <a:pos x="T40" y="T41"/>
                </a:cxn>
                <a:cxn ang="T121">
                  <a:pos x="T42" y="T43"/>
                </a:cxn>
                <a:cxn ang="T122">
                  <a:pos x="T44" y="T45"/>
                </a:cxn>
                <a:cxn ang="T123">
                  <a:pos x="T46" y="T47"/>
                </a:cxn>
                <a:cxn ang="T124">
                  <a:pos x="T48" y="T49"/>
                </a:cxn>
                <a:cxn ang="T125">
                  <a:pos x="T50" y="T51"/>
                </a:cxn>
                <a:cxn ang="T126">
                  <a:pos x="T52" y="T53"/>
                </a:cxn>
                <a:cxn ang="T127">
                  <a:pos x="T54" y="T55"/>
                </a:cxn>
                <a:cxn ang="T128">
                  <a:pos x="T56" y="T57"/>
                </a:cxn>
                <a:cxn ang="T129">
                  <a:pos x="T58" y="T59"/>
                </a:cxn>
                <a:cxn ang="T130">
                  <a:pos x="T60" y="T61"/>
                </a:cxn>
                <a:cxn ang="T131">
                  <a:pos x="T62" y="T63"/>
                </a:cxn>
                <a:cxn ang="T132">
                  <a:pos x="T64" y="T65"/>
                </a:cxn>
                <a:cxn ang="T133">
                  <a:pos x="T66" y="T67"/>
                </a:cxn>
                <a:cxn ang="T134">
                  <a:pos x="T68" y="T69"/>
                </a:cxn>
                <a:cxn ang="T135">
                  <a:pos x="T70" y="T71"/>
                </a:cxn>
                <a:cxn ang="T136">
                  <a:pos x="T72" y="T73"/>
                </a:cxn>
                <a:cxn ang="T137">
                  <a:pos x="T74" y="T75"/>
                </a:cxn>
                <a:cxn ang="T138">
                  <a:pos x="T76" y="T77"/>
                </a:cxn>
                <a:cxn ang="T139">
                  <a:pos x="T78" y="T79"/>
                </a:cxn>
                <a:cxn ang="T140">
                  <a:pos x="T80" y="T81"/>
                </a:cxn>
                <a:cxn ang="T141">
                  <a:pos x="T82" y="T83"/>
                </a:cxn>
                <a:cxn ang="T142">
                  <a:pos x="T84" y="T85"/>
                </a:cxn>
                <a:cxn ang="T143">
                  <a:pos x="T86" y="T87"/>
                </a:cxn>
                <a:cxn ang="T144">
                  <a:pos x="T88" y="T89"/>
                </a:cxn>
                <a:cxn ang="T145">
                  <a:pos x="T90" y="T91"/>
                </a:cxn>
                <a:cxn ang="T146">
                  <a:pos x="T92" y="T93"/>
                </a:cxn>
                <a:cxn ang="T147">
                  <a:pos x="T94" y="T95"/>
                </a:cxn>
                <a:cxn ang="T148">
                  <a:pos x="T96" y="T97"/>
                </a:cxn>
                <a:cxn ang="T149">
                  <a:pos x="T98" y="T99"/>
                </a:cxn>
              </a:cxnLst>
              <a:rect l="0" t="0" r="r" b="b"/>
              <a:pathLst>
                <a:path w="581" h="609">
                  <a:moveTo>
                    <a:pt x="566" y="523"/>
                  </a:moveTo>
                  <a:lnTo>
                    <a:pt x="566" y="523"/>
                  </a:lnTo>
                  <a:cubicBezTo>
                    <a:pt x="495" y="594"/>
                    <a:pt x="495" y="594"/>
                    <a:pt x="495" y="594"/>
                  </a:cubicBezTo>
                  <a:cubicBezTo>
                    <a:pt x="488" y="601"/>
                    <a:pt x="481" y="608"/>
                    <a:pt x="474" y="608"/>
                  </a:cubicBezTo>
                  <a:cubicBezTo>
                    <a:pt x="467" y="608"/>
                    <a:pt x="460" y="601"/>
                    <a:pt x="453" y="594"/>
                  </a:cubicBezTo>
                  <a:cubicBezTo>
                    <a:pt x="417" y="558"/>
                    <a:pt x="417" y="558"/>
                    <a:pt x="417" y="558"/>
                  </a:cubicBezTo>
                  <a:cubicBezTo>
                    <a:pt x="410" y="551"/>
                    <a:pt x="410" y="544"/>
                    <a:pt x="410" y="537"/>
                  </a:cubicBezTo>
                  <a:cubicBezTo>
                    <a:pt x="410" y="523"/>
                    <a:pt x="417" y="509"/>
                    <a:pt x="439" y="509"/>
                  </a:cubicBezTo>
                  <a:cubicBezTo>
                    <a:pt x="446" y="509"/>
                    <a:pt x="453" y="516"/>
                    <a:pt x="453" y="523"/>
                  </a:cubicBezTo>
                  <a:cubicBezTo>
                    <a:pt x="474" y="537"/>
                    <a:pt x="474" y="537"/>
                    <a:pt x="474" y="537"/>
                  </a:cubicBezTo>
                  <a:cubicBezTo>
                    <a:pt x="530" y="481"/>
                    <a:pt x="530" y="481"/>
                    <a:pt x="530" y="481"/>
                  </a:cubicBezTo>
                  <a:cubicBezTo>
                    <a:pt x="537" y="474"/>
                    <a:pt x="545" y="474"/>
                    <a:pt x="552" y="474"/>
                  </a:cubicBezTo>
                  <a:cubicBezTo>
                    <a:pt x="566" y="474"/>
                    <a:pt x="580" y="488"/>
                    <a:pt x="580" y="502"/>
                  </a:cubicBezTo>
                  <a:cubicBezTo>
                    <a:pt x="580" y="509"/>
                    <a:pt x="573" y="516"/>
                    <a:pt x="566" y="523"/>
                  </a:cubicBezTo>
                  <a:close/>
                  <a:moveTo>
                    <a:pt x="474" y="495"/>
                  </a:moveTo>
                  <a:lnTo>
                    <a:pt x="474" y="495"/>
                  </a:lnTo>
                  <a:cubicBezTo>
                    <a:pt x="467" y="488"/>
                    <a:pt x="453" y="481"/>
                    <a:pt x="439" y="481"/>
                  </a:cubicBezTo>
                  <a:cubicBezTo>
                    <a:pt x="403" y="481"/>
                    <a:pt x="382" y="509"/>
                    <a:pt x="382" y="537"/>
                  </a:cubicBezTo>
                  <a:cubicBezTo>
                    <a:pt x="382" y="558"/>
                    <a:pt x="389" y="573"/>
                    <a:pt x="396" y="580"/>
                  </a:cubicBezTo>
                  <a:cubicBezTo>
                    <a:pt x="424" y="608"/>
                    <a:pt x="424" y="608"/>
                    <a:pt x="424" y="608"/>
                  </a:cubicBezTo>
                  <a:cubicBezTo>
                    <a:pt x="29" y="608"/>
                    <a:pt x="29" y="608"/>
                    <a:pt x="29" y="608"/>
                  </a:cubicBezTo>
                  <a:cubicBezTo>
                    <a:pt x="15" y="608"/>
                    <a:pt x="0" y="594"/>
                    <a:pt x="0" y="580"/>
                  </a:cubicBezTo>
                  <a:cubicBezTo>
                    <a:pt x="0" y="85"/>
                    <a:pt x="0" y="85"/>
                    <a:pt x="0" y="85"/>
                  </a:cubicBezTo>
                  <a:cubicBezTo>
                    <a:pt x="0" y="71"/>
                    <a:pt x="15" y="56"/>
                    <a:pt x="29" y="56"/>
                  </a:cubicBezTo>
                  <a:cubicBezTo>
                    <a:pt x="78" y="56"/>
                    <a:pt x="78" y="56"/>
                    <a:pt x="78" y="56"/>
                  </a:cubicBezTo>
                  <a:cubicBezTo>
                    <a:pt x="78" y="85"/>
                    <a:pt x="78" y="85"/>
                    <a:pt x="78" y="85"/>
                  </a:cubicBezTo>
                  <a:cubicBezTo>
                    <a:pt x="78" y="120"/>
                    <a:pt x="106" y="141"/>
                    <a:pt x="135" y="141"/>
                  </a:cubicBezTo>
                  <a:cubicBezTo>
                    <a:pt x="163" y="141"/>
                    <a:pt x="191" y="120"/>
                    <a:pt x="191" y="85"/>
                  </a:cubicBezTo>
                  <a:cubicBezTo>
                    <a:pt x="191" y="56"/>
                    <a:pt x="191" y="56"/>
                    <a:pt x="191" y="56"/>
                  </a:cubicBezTo>
                  <a:cubicBezTo>
                    <a:pt x="219" y="56"/>
                    <a:pt x="219" y="56"/>
                    <a:pt x="219" y="56"/>
                  </a:cubicBezTo>
                  <a:cubicBezTo>
                    <a:pt x="219" y="85"/>
                    <a:pt x="219" y="85"/>
                    <a:pt x="219" y="85"/>
                  </a:cubicBezTo>
                  <a:cubicBezTo>
                    <a:pt x="219" y="120"/>
                    <a:pt x="248" y="141"/>
                    <a:pt x="276" y="141"/>
                  </a:cubicBezTo>
                  <a:cubicBezTo>
                    <a:pt x="304" y="141"/>
                    <a:pt x="333" y="120"/>
                    <a:pt x="333" y="85"/>
                  </a:cubicBezTo>
                  <a:cubicBezTo>
                    <a:pt x="333" y="56"/>
                    <a:pt x="333" y="56"/>
                    <a:pt x="333" y="56"/>
                  </a:cubicBezTo>
                  <a:cubicBezTo>
                    <a:pt x="361" y="56"/>
                    <a:pt x="361" y="56"/>
                    <a:pt x="361" y="56"/>
                  </a:cubicBezTo>
                  <a:cubicBezTo>
                    <a:pt x="361" y="85"/>
                    <a:pt x="361" y="85"/>
                    <a:pt x="361" y="85"/>
                  </a:cubicBezTo>
                  <a:cubicBezTo>
                    <a:pt x="361" y="120"/>
                    <a:pt x="389" y="141"/>
                    <a:pt x="417" y="141"/>
                  </a:cubicBezTo>
                  <a:cubicBezTo>
                    <a:pt x="446" y="141"/>
                    <a:pt x="474" y="120"/>
                    <a:pt x="474" y="85"/>
                  </a:cubicBezTo>
                  <a:cubicBezTo>
                    <a:pt x="474" y="56"/>
                    <a:pt x="474" y="56"/>
                    <a:pt x="474" y="56"/>
                  </a:cubicBezTo>
                  <a:cubicBezTo>
                    <a:pt x="523" y="56"/>
                    <a:pt x="523" y="56"/>
                    <a:pt x="523" y="56"/>
                  </a:cubicBezTo>
                  <a:cubicBezTo>
                    <a:pt x="537" y="56"/>
                    <a:pt x="552" y="71"/>
                    <a:pt x="552" y="85"/>
                  </a:cubicBezTo>
                  <a:cubicBezTo>
                    <a:pt x="552" y="445"/>
                    <a:pt x="552" y="445"/>
                    <a:pt x="552" y="445"/>
                  </a:cubicBezTo>
                  <a:cubicBezTo>
                    <a:pt x="530" y="445"/>
                    <a:pt x="516" y="452"/>
                    <a:pt x="509" y="460"/>
                  </a:cubicBezTo>
                  <a:lnTo>
                    <a:pt x="474" y="495"/>
                  </a:lnTo>
                  <a:close/>
                  <a:moveTo>
                    <a:pt x="78" y="488"/>
                  </a:moveTo>
                  <a:lnTo>
                    <a:pt x="78" y="488"/>
                  </a:lnTo>
                  <a:cubicBezTo>
                    <a:pt x="78" y="502"/>
                    <a:pt x="85" y="509"/>
                    <a:pt x="99" y="509"/>
                  </a:cubicBezTo>
                  <a:cubicBezTo>
                    <a:pt x="283" y="509"/>
                    <a:pt x="283" y="509"/>
                    <a:pt x="283" y="509"/>
                  </a:cubicBezTo>
                  <a:cubicBezTo>
                    <a:pt x="297" y="509"/>
                    <a:pt x="304" y="502"/>
                    <a:pt x="304" y="488"/>
                  </a:cubicBezTo>
                  <a:cubicBezTo>
                    <a:pt x="304" y="474"/>
                    <a:pt x="297" y="467"/>
                    <a:pt x="283" y="467"/>
                  </a:cubicBezTo>
                  <a:cubicBezTo>
                    <a:pt x="99" y="467"/>
                    <a:pt x="99" y="467"/>
                    <a:pt x="99" y="467"/>
                  </a:cubicBezTo>
                  <a:cubicBezTo>
                    <a:pt x="85" y="467"/>
                    <a:pt x="78" y="474"/>
                    <a:pt x="78" y="488"/>
                  </a:cubicBezTo>
                  <a:close/>
                  <a:moveTo>
                    <a:pt x="446" y="219"/>
                  </a:moveTo>
                  <a:lnTo>
                    <a:pt x="446" y="219"/>
                  </a:lnTo>
                  <a:cubicBezTo>
                    <a:pt x="106" y="219"/>
                    <a:pt x="106" y="219"/>
                    <a:pt x="106" y="219"/>
                  </a:cubicBezTo>
                  <a:cubicBezTo>
                    <a:pt x="92" y="219"/>
                    <a:pt x="78" y="233"/>
                    <a:pt x="78" y="247"/>
                  </a:cubicBezTo>
                  <a:cubicBezTo>
                    <a:pt x="78" y="262"/>
                    <a:pt x="92" y="276"/>
                    <a:pt x="106" y="276"/>
                  </a:cubicBezTo>
                  <a:cubicBezTo>
                    <a:pt x="446" y="276"/>
                    <a:pt x="446" y="276"/>
                    <a:pt x="446" y="276"/>
                  </a:cubicBezTo>
                  <a:cubicBezTo>
                    <a:pt x="460" y="276"/>
                    <a:pt x="474" y="262"/>
                    <a:pt x="474" y="247"/>
                  </a:cubicBezTo>
                  <a:cubicBezTo>
                    <a:pt x="474" y="233"/>
                    <a:pt x="460" y="219"/>
                    <a:pt x="446" y="219"/>
                  </a:cubicBezTo>
                  <a:close/>
                  <a:moveTo>
                    <a:pt x="446" y="339"/>
                  </a:moveTo>
                  <a:lnTo>
                    <a:pt x="446" y="339"/>
                  </a:lnTo>
                  <a:cubicBezTo>
                    <a:pt x="276" y="339"/>
                    <a:pt x="276" y="339"/>
                    <a:pt x="276" y="339"/>
                  </a:cubicBezTo>
                  <a:cubicBezTo>
                    <a:pt x="226" y="339"/>
                    <a:pt x="226" y="339"/>
                    <a:pt x="226" y="339"/>
                  </a:cubicBezTo>
                  <a:cubicBezTo>
                    <a:pt x="106" y="339"/>
                    <a:pt x="106" y="339"/>
                    <a:pt x="106" y="339"/>
                  </a:cubicBezTo>
                  <a:cubicBezTo>
                    <a:pt x="92" y="339"/>
                    <a:pt x="78" y="353"/>
                    <a:pt x="78" y="367"/>
                  </a:cubicBezTo>
                  <a:cubicBezTo>
                    <a:pt x="78" y="389"/>
                    <a:pt x="92" y="396"/>
                    <a:pt x="106" y="396"/>
                  </a:cubicBezTo>
                  <a:cubicBezTo>
                    <a:pt x="226" y="396"/>
                    <a:pt x="226" y="396"/>
                    <a:pt x="226" y="396"/>
                  </a:cubicBezTo>
                  <a:cubicBezTo>
                    <a:pt x="276" y="396"/>
                    <a:pt x="276" y="396"/>
                    <a:pt x="276" y="396"/>
                  </a:cubicBezTo>
                  <a:cubicBezTo>
                    <a:pt x="446" y="396"/>
                    <a:pt x="446" y="396"/>
                    <a:pt x="446" y="396"/>
                  </a:cubicBezTo>
                  <a:cubicBezTo>
                    <a:pt x="460" y="396"/>
                    <a:pt x="474" y="389"/>
                    <a:pt x="474" y="367"/>
                  </a:cubicBezTo>
                  <a:cubicBezTo>
                    <a:pt x="474" y="353"/>
                    <a:pt x="460" y="339"/>
                    <a:pt x="446" y="339"/>
                  </a:cubicBezTo>
                  <a:close/>
                  <a:moveTo>
                    <a:pt x="417" y="113"/>
                  </a:moveTo>
                  <a:lnTo>
                    <a:pt x="417" y="113"/>
                  </a:lnTo>
                  <a:cubicBezTo>
                    <a:pt x="403" y="113"/>
                    <a:pt x="389" y="106"/>
                    <a:pt x="389" y="85"/>
                  </a:cubicBezTo>
                  <a:cubicBezTo>
                    <a:pt x="389" y="28"/>
                    <a:pt x="389" y="28"/>
                    <a:pt x="389" y="28"/>
                  </a:cubicBezTo>
                  <a:cubicBezTo>
                    <a:pt x="389" y="14"/>
                    <a:pt x="403" y="0"/>
                    <a:pt x="417" y="0"/>
                  </a:cubicBezTo>
                  <a:cubicBezTo>
                    <a:pt x="431" y="0"/>
                    <a:pt x="446" y="14"/>
                    <a:pt x="446" y="28"/>
                  </a:cubicBezTo>
                  <a:cubicBezTo>
                    <a:pt x="446" y="85"/>
                    <a:pt x="446" y="85"/>
                    <a:pt x="446" y="85"/>
                  </a:cubicBezTo>
                  <a:cubicBezTo>
                    <a:pt x="446" y="106"/>
                    <a:pt x="431" y="113"/>
                    <a:pt x="417" y="113"/>
                  </a:cubicBezTo>
                  <a:close/>
                  <a:moveTo>
                    <a:pt x="276" y="113"/>
                  </a:moveTo>
                  <a:lnTo>
                    <a:pt x="276" y="113"/>
                  </a:lnTo>
                  <a:cubicBezTo>
                    <a:pt x="262" y="113"/>
                    <a:pt x="248" y="106"/>
                    <a:pt x="248" y="85"/>
                  </a:cubicBezTo>
                  <a:cubicBezTo>
                    <a:pt x="248" y="28"/>
                    <a:pt x="248" y="28"/>
                    <a:pt x="248" y="28"/>
                  </a:cubicBezTo>
                  <a:cubicBezTo>
                    <a:pt x="248" y="14"/>
                    <a:pt x="262" y="0"/>
                    <a:pt x="276" y="0"/>
                  </a:cubicBezTo>
                  <a:cubicBezTo>
                    <a:pt x="290" y="0"/>
                    <a:pt x="304" y="14"/>
                    <a:pt x="304" y="28"/>
                  </a:cubicBezTo>
                  <a:cubicBezTo>
                    <a:pt x="304" y="85"/>
                    <a:pt x="304" y="85"/>
                    <a:pt x="304" y="85"/>
                  </a:cubicBezTo>
                  <a:cubicBezTo>
                    <a:pt x="304" y="106"/>
                    <a:pt x="290" y="113"/>
                    <a:pt x="276" y="113"/>
                  </a:cubicBezTo>
                  <a:close/>
                  <a:moveTo>
                    <a:pt x="135" y="113"/>
                  </a:moveTo>
                  <a:lnTo>
                    <a:pt x="135" y="113"/>
                  </a:lnTo>
                  <a:cubicBezTo>
                    <a:pt x="121" y="113"/>
                    <a:pt x="106" y="106"/>
                    <a:pt x="106" y="85"/>
                  </a:cubicBezTo>
                  <a:cubicBezTo>
                    <a:pt x="106" y="28"/>
                    <a:pt x="106" y="28"/>
                    <a:pt x="106" y="28"/>
                  </a:cubicBezTo>
                  <a:cubicBezTo>
                    <a:pt x="106" y="14"/>
                    <a:pt x="121" y="0"/>
                    <a:pt x="135" y="0"/>
                  </a:cubicBezTo>
                  <a:cubicBezTo>
                    <a:pt x="149" y="0"/>
                    <a:pt x="163" y="14"/>
                    <a:pt x="163" y="28"/>
                  </a:cubicBezTo>
                  <a:cubicBezTo>
                    <a:pt x="163" y="85"/>
                    <a:pt x="163" y="85"/>
                    <a:pt x="163" y="85"/>
                  </a:cubicBezTo>
                  <a:cubicBezTo>
                    <a:pt x="163" y="106"/>
                    <a:pt x="149" y="113"/>
                    <a:pt x="135" y="11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45720" tIns="22860" rIns="45720" bIns="22860" anchor="ctr"/>
            <a:lstStyle/>
            <a:p>
              <a:endParaRPr lang="en-US" sz="2400">
                <a:latin typeface="Roboto Light"/>
              </a:endParaRPr>
            </a:p>
          </p:txBody>
        </p:sp>
      </p:grpSp>
      <p:grpSp>
        <p:nvGrpSpPr>
          <p:cNvPr id="13" name="组合 12"/>
          <p:cNvGrpSpPr/>
          <p:nvPr userDrawn="1"/>
        </p:nvGrpSpPr>
        <p:grpSpPr>
          <a:xfrm>
            <a:off x="5868299" y="2469417"/>
            <a:ext cx="576064" cy="576064"/>
            <a:chOff x="4788024" y="1275213"/>
            <a:chExt cx="432048" cy="432048"/>
          </a:xfrm>
        </p:grpSpPr>
        <p:sp>
          <p:nvSpPr>
            <p:cNvPr id="14" name="椭圆 65"/>
            <p:cNvSpPr>
              <a:spLocks noChangeArrowheads="1"/>
            </p:cNvSpPr>
            <p:nvPr/>
          </p:nvSpPr>
          <p:spPr bwMode="auto">
            <a:xfrm>
              <a:off x="4788024" y="1275213"/>
              <a:ext cx="432048" cy="432048"/>
            </a:xfrm>
            <a:prstGeom prst="ellipse">
              <a:avLst/>
            </a:prstGeom>
            <a:solidFill>
              <a:srgbClr val="F79600"/>
            </a:solidFill>
            <a:ln>
              <a:noFill/>
            </a:ln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 sz="240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15" name="Freeform 110"/>
            <p:cNvSpPr>
              <a:spLocks noChangeArrowheads="1"/>
            </p:cNvSpPr>
            <p:nvPr/>
          </p:nvSpPr>
          <p:spPr bwMode="auto">
            <a:xfrm>
              <a:off x="4891102" y="1366806"/>
              <a:ext cx="250679" cy="248862"/>
            </a:xfrm>
            <a:custGeom>
              <a:avLst/>
              <a:gdLst>
                <a:gd name="T0" fmla="*/ 78678142 w 609"/>
                <a:gd name="T1" fmla="*/ 71002280 h 602"/>
                <a:gd name="T2" fmla="*/ 78678142 w 609"/>
                <a:gd name="T3" fmla="*/ 71002280 h 602"/>
                <a:gd name="T4" fmla="*/ 71302258 w 609"/>
                <a:gd name="T5" fmla="*/ 78441997 h 602"/>
                <a:gd name="T6" fmla="*/ 65867111 w 609"/>
                <a:gd name="T7" fmla="*/ 76614673 h 602"/>
                <a:gd name="T8" fmla="*/ 44774038 w 609"/>
                <a:gd name="T9" fmla="*/ 54426302 h 602"/>
                <a:gd name="T10" fmla="*/ 29245613 w 609"/>
                <a:gd name="T11" fmla="*/ 59125033 h 602"/>
                <a:gd name="T12" fmla="*/ 0 w 609"/>
                <a:gd name="T13" fmla="*/ 29497307 h 602"/>
                <a:gd name="T14" fmla="*/ 29245613 w 609"/>
                <a:gd name="T15" fmla="*/ 0 h 602"/>
                <a:gd name="T16" fmla="*/ 58491226 w 609"/>
                <a:gd name="T17" fmla="*/ 29497307 h 602"/>
                <a:gd name="T18" fmla="*/ 54867675 w 609"/>
                <a:gd name="T19" fmla="*/ 44376380 h 602"/>
                <a:gd name="T20" fmla="*/ 75960749 w 609"/>
                <a:gd name="T21" fmla="*/ 65520668 h 602"/>
                <a:gd name="T22" fmla="*/ 78678142 w 609"/>
                <a:gd name="T23" fmla="*/ 71002280 h 602"/>
                <a:gd name="T24" fmla="*/ 29245613 w 609"/>
                <a:gd name="T25" fmla="*/ 7439717 h 602"/>
                <a:gd name="T26" fmla="*/ 29245613 w 609"/>
                <a:gd name="T27" fmla="*/ 7439717 h 602"/>
                <a:gd name="T28" fmla="*/ 7246742 w 609"/>
                <a:gd name="T29" fmla="*/ 29497307 h 602"/>
                <a:gd name="T30" fmla="*/ 29245613 w 609"/>
                <a:gd name="T31" fmla="*/ 51685677 h 602"/>
                <a:gd name="T32" fmla="*/ 51244484 w 609"/>
                <a:gd name="T33" fmla="*/ 29497307 h 602"/>
                <a:gd name="T34" fmla="*/ 29245613 w 609"/>
                <a:gd name="T35" fmla="*/ 7439717 h 602"/>
                <a:gd name="T36" fmla="*/ 42056644 w 609"/>
                <a:gd name="T37" fmla="*/ 33282375 h 602"/>
                <a:gd name="T38" fmla="*/ 42056644 w 609"/>
                <a:gd name="T39" fmla="*/ 33282375 h 602"/>
                <a:gd name="T40" fmla="*/ 32868804 w 609"/>
                <a:gd name="T41" fmla="*/ 33282375 h 602"/>
                <a:gd name="T42" fmla="*/ 32868804 w 609"/>
                <a:gd name="T43" fmla="*/ 41504973 h 602"/>
                <a:gd name="T44" fmla="*/ 29245613 w 609"/>
                <a:gd name="T45" fmla="*/ 45290042 h 602"/>
                <a:gd name="T46" fmla="*/ 25622062 w 609"/>
                <a:gd name="T47" fmla="*/ 41504973 h 602"/>
                <a:gd name="T48" fmla="*/ 25622062 w 609"/>
                <a:gd name="T49" fmla="*/ 33282375 h 602"/>
                <a:gd name="T50" fmla="*/ 17340380 w 609"/>
                <a:gd name="T51" fmla="*/ 33282375 h 602"/>
                <a:gd name="T52" fmla="*/ 13716829 w 609"/>
                <a:gd name="T53" fmla="*/ 29497307 h 602"/>
                <a:gd name="T54" fmla="*/ 17340380 w 609"/>
                <a:gd name="T55" fmla="*/ 25842658 h 602"/>
                <a:gd name="T56" fmla="*/ 25622062 w 609"/>
                <a:gd name="T57" fmla="*/ 25842658 h 602"/>
                <a:gd name="T58" fmla="*/ 25622062 w 609"/>
                <a:gd name="T59" fmla="*/ 16575978 h 602"/>
                <a:gd name="T60" fmla="*/ 29245613 w 609"/>
                <a:gd name="T61" fmla="*/ 12921329 h 602"/>
                <a:gd name="T62" fmla="*/ 32868804 w 609"/>
                <a:gd name="T63" fmla="*/ 16575978 h 602"/>
                <a:gd name="T64" fmla="*/ 32868804 w 609"/>
                <a:gd name="T65" fmla="*/ 25842658 h 602"/>
                <a:gd name="T66" fmla="*/ 42056644 w 609"/>
                <a:gd name="T67" fmla="*/ 25842658 h 602"/>
                <a:gd name="T68" fmla="*/ 45679835 w 609"/>
                <a:gd name="T69" fmla="*/ 29497307 h 602"/>
                <a:gd name="T70" fmla="*/ 42056644 w 609"/>
                <a:gd name="T71" fmla="*/ 33282375 h 60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609" h="602">
                  <a:moveTo>
                    <a:pt x="608" y="544"/>
                  </a:moveTo>
                  <a:lnTo>
                    <a:pt x="608" y="544"/>
                  </a:lnTo>
                  <a:cubicBezTo>
                    <a:pt x="608" y="573"/>
                    <a:pt x="579" y="601"/>
                    <a:pt x="551" y="601"/>
                  </a:cubicBezTo>
                  <a:cubicBezTo>
                    <a:pt x="530" y="601"/>
                    <a:pt x="516" y="594"/>
                    <a:pt x="509" y="587"/>
                  </a:cubicBezTo>
                  <a:cubicBezTo>
                    <a:pt x="346" y="417"/>
                    <a:pt x="346" y="417"/>
                    <a:pt x="346" y="417"/>
                  </a:cubicBezTo>
                  <a:cubicBezTo>
                    <a:pt x="311" y="438"/>
                    <a:pt x="269" y="453"/>
                    <a:pt x="226" y="453"/>
                  </a:cubicBezTo>
                  <a:cubicBezTo>
                    <a:pt x="106" y="453"/>
                    <a:pt x="0" y="347"/>
                    <a:pt x="0" y="226"/>
                  </a:cubicBezTo>
                  <a:cubicBezTo>
                    <a:pt x="0" y="99"/>
                    <a:pt x="106" y="0"/>
                    <a:pt x="226" y="0"/>
                  </a:cubicBezTo>
                  <a:cubicBezTo>
                    <a:pt x="353" y="0"/>
                    <a:pt x="452" y="99"/>
                    <a:pt x="452" y="226"/>
                  </a:cubicBezTo>
                  <a:cubicBezTo>
                    <a:pt x="452" y="269"/>
                    <a:pt x="445" y="304"/>
                    <a:pt x="424" y="340"/>
                  </a:cubicBezTo>
                  <a:cubicBezTo>
                    <a:pt x="587" y="502"/>
                    <a:pt x="587" y="502"/>
                    <a:pt x="587" y="502"/>
                  </a:cubicBezTo>
                  <a:cubicBezTo>
                    <a:pt x="601" y="516"/>
                    <a:pt x="608" y="530"/>
                    <a:pt x="608" y="544"/>
                  </a:cubicBezTo>
                  <a:close/>
                  <a:moveTo>
                    <a:pt x="226" y="57"/>
                  </a:moveTo>
                  <a:lnTo>
                    <a:pt x="226" y="57"/>
                  </a:lnTo>
                  <a:cubicBezTo>
                    <a:pt x="134" y="57"/>
                    <a:pt x="56" y="127"/>
                    <a:pt x="56" y="226"/>
                  </a:cubicBezTo>
                  <a:cubicBezTo>
                    <a:pt x="56" y="318"/>
                    <a:pt x="134" y="396"/>
                    <a:pt x="226" y="396"/>
                  </a:cubicBezTo>
                  <a:cubicBezTo>
                    <a:pt x="325" y="396"/>
                    <a:pt x="396" y="318"/>
                    <a:pt x="396" y="226"/>
                  </a:cubicBezTo>
                  <a:cubicBezTo>
                    <a:pt x="396" y="127"/>
                    <a:pt x="325" y="57"/>
                    <a:pt x="226" y="57"/>
                  </a:cubicBezTo>
                  <a:close/>
                  <a:moveTo>
                    <a:pt x="325" y="255"/>
                  </a:moveTo>
                  <a:lnTo>
                    <a:pt x="325" y="255"/>
                  </a:lnTo>
                  <a:cubicBezTo>
                    <a:pt x="254" y="255"/>
                    <a:pt x="254" y="255"/>
                    <a:pt x="254" y="255"/>
                  </a:cubicBezTo>
                  <a:cubicBezTo>
                    <a:pt x="254" y="318"/>
                    <a:pt x="254" y="318"/>
                    <a:pt x="254" y="318"/>
                  </a:cubicBezTo>
                  <a:cubicBezTo>
                    <a:pt x="254" y="333"/>
                    <a:pt x="247" y="347"/>
                    <a:pt x="226" y="347"/>
                  </a:cubicBezTo>
                  <a:cubicBezTo>
                    <a:pt x="212" y="347"/>
                    <a:pt x="198" y="333"/>
                    <a:pt x="198" y="318"/>
                  </a:cubicBezTo>
                  <a:cubicBezTo>
                    <a:pt x="198" y="255"/>
                    <a:pt x="198" y="255"/>
                    <a:pt x="198" y="255"/>
                  </a:cubicBezTo>
                  <a:cubicBezTo>
                    <a:pt x="134" y="255"/>
                    <a:pt x="134" y="255"/>
                    <a:pt x="134" y="255"/>
                  </a:cubicBezTo>
                  <a:cubicBezTo>
                    <a:pt x="120" y="255"/>
                    <a:pt x="106" y="241"/>
                    <a:pt x="106" y="226"/>
                  </a:cubicBezTo>
                  <a:cubicBezTo>
                    <a:pt x="106" y="205"/>
                    <a:pt x="120" y="198"/>
                    <a:pt x="134" y="198"/>
                  </a:cubicBezTo>
                  <a:cubicBezTo>
                    <a:pt x="198" y="198"/>
                    <a:pt x="198" y="198"/>
                    <a:pt x="198" y="198"/>
                  </a:cubicBezTo>
                  <a:cubicBezTo>
                    <a:pt x="198" y="127"/>
                    <a:pt x="198" y="127"/>
                    <a:pt x="198" y="127"/>
                  </a:cubicBezTo>
                  <a:cubicBezTo>
                    <a:pt x="198" y="113"/>
                    <a:pt x="212" y="99"/>
                    <a:pt x="226" y="99"/>
                  </a:cubicBezTo>
                  <a:cubicBezTo>
                    <a:pt x="247" y="99"/>
                    <a:pt x="254" y="113"/>
                    <a:pt x="254" y="127"/>
                  </a:cubicBezTo>
                  <a:cubicBezTo>
                    <a:pt x="254" y="198"/>
                    <a:pt x="254" y="198"/>
                    <a:pt x="254" y="198"/>
                  </a:cubicBezTo>
                  <a:cubicBezTo>
                    <a:pt x="325" y="198"/>
                    <a:pt x="325" y="198"/>
                    <a:pt x="325" y="198"/>
                  </a:cubicBezTo>
                  <a:cubicBezTo>
                    <a:pt x="339" y="198"/>
                    <a:pt x="353" y="205"/>
                    <a:pt x="353" y="226"/>
                  </a:cubicBezTo>
                  <a:cubicBezTo>
                    <a:pt x="353" y="241"/>
                    <a:pt x="339" y="255"/>
                    <a:pt x="325" y="25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45720" tIns="22860" rIns="45720" bIns="22860" anchor="ctr"/>
            <a:lstStyle/>
            <a:p>
              <a:endParaRPr lang="en-US" sz="2400">
                <a:latin typeface="Roboto Light"/>
              </a:endParaRPr>
            </a:p>
          </p:txBody>
        </p:sp>
      </p:grpSp>
      <p:grpSp>
        <p:nvGrpSpPr>
          <p:cNvPr id="16" name="组合 15"/>
          <p:cNvGrpSpPr/>
          <p:nvPr userDrawn="1"/>
        </p:nvGrpSpPr>
        <p:grpSpPr>
          <a:xfrm>
            <a:off x="6732395" y="2468893"/>
            <a:ext cx="577111" cy="577112"/>
            <a:chOff x="5436096" y="1274820"/>
            <a:chExt cx="432833" cy="432834"/>
          </a:xfrm>
        </p:grpSpPr>
        <p:sp>
          <p:nvSpPr>
            <p:cNvPr id="17" name="椭圆 16"/>
            <p:cNvSpPr>
              <a:spLocks noChangeArrowheads="1"/>
            </p:cNvSpPr>
            <p:nvPr/>
          </p:nvSpPr>
          <p:spPr bwMode="auto">
            <a:xfrm>
              <a:off x="5436096" y="1274820"/>
              <a:ext cx="432833" cy="43283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 sz="240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18" name="Freeform 16"/>
            <p:cNvSpPr>
              <a:spLocks noChangeArrowheads="1"/>
            </p:cNvSpPr>
            <p:nvPr/>
          </p:nvSpPr>
          <p:spPr bwMode="auto">
            <a:xfrm>
              <a:off x="5554420" y="1377705"/>
              <a:ext cx="196183" cy="227065"/>
            </a:xfrm>
            <a:custGeom>
              <a:avLst/>
              <a:gdLst>
                <a:gd name="T0" fmla="*/ 58106390 w 475"/>
                <a:gd name="T1" fmla="*/ 71207247 h 552"/>
                <a:gd name="T2" fmla="*/ 58106390 w 475"/>
                <a:gd name="T3" fmla="*/ 71207247 h 552"/>
                <a:gd name="T4" fmla="*/ 54327993 w 475"/>
                <a:gd name="T5" fmla="*/ 71207247 h 552"/>
                <a:gd name="T6" fmla="*/ 54327993 w 475"/>
                <a:gd name="T7" fmla="*/ 0 h 552"/>
                <a:gd name="T8" fmla="*/ 58106390 w 475"/>
                <a:gd name="T9" fmla="*/ 0 h 552"/>
                <a:gd name="T10" fmla="*/ 61754124 w 475"/>
                <a:gd name="T11" fmla="*/ 3618618 h 552"/>
                <a:gd name="T12" fmla="*/ 61754124 w 475"/>
                <a:gd name="T13" fmla="*/ 67588630 h 552"/>
                <a:gd name="T14" fmla="*/ 58106390 w 475"/>
                <a:gd name="T15" fmla="*/ 71207247 h 552"/>
                <a:gd name="T16" fmla="*/ 7426131 w 475"/>
                <a:gd name="T17" fmla="*/ 67588630 h 552"/>
                <a:gd name="T18" fmla="*/ 7426131 w 475"/>
                <a:gd name="T19" fmla="*/ 67588630 h 552"/>
                <a:gd name="T20" fmla="*/ 7426131 w 475"/>
                <a:gd name="T21" fmla="*/ 63970012 h 552"/>
                <a:gd name="T22" fmla="*/ 13809846 w 475"/>
                <a:gd name="T23" fmla="*/ 63970012 h 552"/>
                <a:gd name="T24" fmla="*/ 21235977 w 475"/>
                <a:gd name="T25" fmla="*/ 56603721 h 552"/>
                <a:gd name="T26" fmla="*/ 13809846 w 475"/>
                <a:gd name="T27" fmla="*/ 49237429 h 552"/>
                <a:gd name="T28" fmla="*/ 7426131 w 475"/>
                <a:gd name="T29" fmla="*/ 49237429 h 552"/>
                <a:gd name="T30" fmla="*/ 7426131 w 475"/>
                <a:gd name="T31" fmla="*/ 42905028 h 552"/>
                <a:gd name="T32" fmla="*/ 13809846 w 475"/>
                <a:gd name="T33" fmla="*/ 42905028 h 552"/>
                <a:gd name="T34" fmla="*/ 21235977 w 475"/>
                <a:gd name="T35" fmla="*/ 35539095 h 552"/>
                <a:gd name="T36" fmla="*/ 13809846 w 475"/>
                <a:gd name="T37" fmla="*/ 28301860 h 552"/>
                <a:gd name="T38" fmla="*/ 7426131 w 475"/>
                <a:gd name="T39" fmla="*/ 28301860 h 552"/>
                <a:gd name="T40" fmla="*/ 7426131 w 475"/>
                <a:gd name="T41" fmla="*/ 21840403 h 552"/>
                <a:gd name="T42" fmla="*/ 13809846 w 475"/>
                <a:gd name="T43" fmla="*/ 21840403 h 552"/>
                <a:gd name="T44" fmla="*/ 21235977 w 475"/>
                <a:gd name="T45" fmla="*/ 14603167 h 552"/>
                <a:gd name="T46" fmla="*/ 13809846 w 475"/>
                <a:gd name="T47" fmla="*/ 7236876 h 552"/>
                <a:gd name="T48" fmla="*/ 7426131 w 475"/>
                <a:gd name="T49" fmla="*/ 7236876 h 552"/>
                <a:gd name="T50" fmla="*/ 7426131 w 475"/>
                <a:gd name="T51" fmla="*/ 3618618 h 552"/>
                <a:gd name="T52" fmla="*/ 11074226 w 475"/>
                <a:gd name="T53" fmla="*/ 0 h 552"/>
                <a:gd name="T54" fmla="*/ 50680259 w 475"/>
                <a:gd name="T55" fmla="*/ 0 h 552"/>
                <a:gd name="T56" fmla="*/ 50680259 w 475"/>
                <a:gd name="T57" fmla="*/ 71207247 h 552"/>
                <a:gd name="T58" fmla="*/ 11074226 w 475"/>
                <a:gd name="T59" fmla="*/ 71207247 h 552"/>
                <a:gd name="T60" fmla="*/ 7426131 w 475"/>
                <a:gd name="T61" fmla="*/ 67588630 h 552"/>
                <a:gd name="T62" fmla="*/ 17588243 w 475"/>
                <a:gd name="T63" fmla="*/ 14603167 h 552"/>
                <a:gd name="T64" fmla="*/ 17588243 w 475"/>
                <a:gd name="T65" fmla="*/ 14603167 h 552"/>
                <a:gd name="T66" fmla="*/ 13809846 w 475"/>
                <a:gd name="T67" fmla="*/ 18221785 h 552"/>
                <a:gd name="T68" fmla="*/ 3778036 w 475"/>
                <a:gd name="T69" fmla="*/ 18221785 h 552"/>
                <a:gd name="T70" fmla="*/ 0 w 475"/>
                <a:gd name="T71" fmla="*/ 14603167 h 552"/>
                <a:gd name="T72" fmla="*/ 3778036 w 475"/>
                <a:gd name="T73" fmla="*/ 10984909 h 552"/>
                <a:gd name="T74" fmla="*/ 13809846 w 475"/>
                <a:gd name="T75" fmla="*/ 10984909 h 552"/>
                <a:gd name="T76" fmla="*/ 17588243 w 475"/>
                <a:gd name="T77" fmla="*/ 14603167 h 552"/>
                <a:gd name="T78" fmla="*/ 3778036 w 475"/>
                <a:gd name="T79" fmla="*/ 31920478 h 552"/>
                <a:gd name="T80" fmla="*/ 3778036 w 475"/>
                <a:gd name="T81" fmla="*/ 31920478 h 552"/>
                <a:gd name="T82" fmla="*/ 13809846 w 475"/>
                <a:gd name="T83" fmla="*/ 31920478 h 552"/>
                <a:gd name="T84" fmla="*/ 17588243 w 475"/>
                <a:gd name="T85" fmla="*/ 35539095 h 552"/>
                <a:gd name="T86" fmla="*/ 13809846 w 475"/>
                <a:gd name="T87" fmla="*/ 39286770 h 552"/>
                <a:gd name="T88" fmla="*/ 3778036 w 475"/>
                <a:gd name="T89" fmla="*/ 39286770 h 552"/>
                <a:gd name="T90" fmla="*/ 0 w 475"/>
                <a:gd name="T91" fmla="*/ 35539095 h 552"/>
                <a:gd name="T92" fmla="*/ 3778036 w 475"/>
                <a:gd name="T93" fmla="*/ 31920478 h 552"/>
                <a:gd name="T94" fmla="*/ 3778036 w 475"/>
                <a:gd name="T95" fmla="*/ 52985462 h 552"/>
                <a:gd name="T96" fmla="*/ 3778036 w 475"/>
                <a:gd name="T97" fmla="*/ 52985462 h 552"/>
                <a:gd name="T98" fmla="*/ 13809846 w 475"/>
                <a:gd name="T99" fmla="*/ 52985462 h 552"/>
                <a:gd name="T100" fmla="*/ 17588243 w 475"/>
                <a:gd name="T101" fmla="*/ 56603721 h 552"/>
                <a:gd name="T102" fmla="*/ 13809846 w 475"/>
                <a:gd name="T103" fmla="*/ 60222338 h 552"/>
                <a:gd name="T104" fmla="*/ 3778036 w 475"/>
                <a:gd name="T105" fmla="*/ 60222338 h 552"/>
                <a:gd name="T106" fmla="*/ 0 w 475"/>
                <a:gd name="T107" fmla="*/ 56603721 h 552"/>
                <a:gd name="T108" fmla="*/ 3778036 w 475"/>
                <a:gd name="T109" fmla="*/ 52985462 h 552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</a:gdLst>
              <a:ahLst/>
              <a:cxnLst>
                <a:cxn ang="T110">
                  <a:pos x="T0" y="T1"/>
                </a:cxn>
                <a:cxn ang="T111">
                  <a:pos x="T2" y="T3"/>
                </a:cxn>
                <a:cxn ang="T112">
                  <a:pos x="T4" y="T5"/>
                </a:cxn>
                <a:cxn ang="T113">
                  <a:pos x="T6" y="T7"/>
                </a:cxn>
                <a:cxn ang="T114">
                  <a:pos x="T8" y="T9"/>
                </a:cxn>
                <a:cxn ang="T115">
                  <a:pos x="T10" y="T11"/>
                </a:cxn>
                <a:cxn ang="T116">
                  <a:pos x="T12" y="T13"/>
                </a:cxn>
                <a:cxn ang="T117">
                  <a:pos x="T14" y="T15"/>
                </a:cxn>
                <a:cxn ang="T118">
                  <a:pos x="T16" y="T17"/>
                </a:cxn>
                <a:cxn ang="T119">
                  <a:pos x="T18" y="T19"/>
                </a:cxn>
                <a:cxn ang="T120">
                  <a:pos x="T20" y="T21"/>
                </a:cxn>
                <a:cxn ang="T121">
                  <a:pos x="T22" y="T23"/>
                </a:cxn>
                <a:cxn ang="T122">
                  <a:pos x="T24" y="T25"/>
                </a:cxn>
                <a:cxn ang="T123">
                  <a:pos x="T26" y="T27"/>
                </a:cxn>
                <a:cxn ang="T124">
                  <a:pos x="T28" y="T29"/>
                </a:cxn>
                <a:cxn ang="T125">
                  <a:pos x="T30" y="T31"/>
                </a:cxn>
                <a:cxn ang="T126">
                  <a:pos x="T32" y="T33"/>
                </a:cxn>
                <a:cxn ang="T127">
                  <a:pos x="T34" y="T35"/>
                </a:cxn>
                <a:cxn ang="T128">
                  <a:pos x="T36" y="T37"/>
                </a:cxn>
                <a:cxn ang="T129">
                  <a:pos x="T38" y="T39"/>
                </a:cxn>
                <a:cxn ang="T130">
                  <a:pos x="T40" y="T41"/>
                </a:cxn>
                <a:cxn ang="T131">
                  <a:pos x="T42" y="T43"/>
                </a:cxn>
                <a:cxn ang="T132">
                  <a:pos x="T44" y="T45"/>
                </a:cxn>
                <a:cxn ang="T133">
                  <a:pos x="T46" y="T47"/>
                </a:cxn>
                <a:cxn ang="T134">
                  <a:pos x="T48" y="T49"/>
                </a:cxn>
                <a:cxn ang="T135">
                  <a:pos x="T50" y="T51"/>
                </a:cxn>
                <a:cxn ang="T136">
                  <a:pos x="T52" y="T53"/>
                </a:cxn>
                <a:cxn ang="T137">
                  <a:pos x="T54" y="T55"/>
                </a:cxn>
                <a:cxn ang="T138">
                  <a:pos x="T56" y="T57"/>
                </a:cxn>
                <a:cxn ang="T139">
                  <a:pos x="T58" y="T59"/>
                </a:cxn>
                <a:cxn ang="T140">
                  <a:pos x="T60" y="T61"/>
                </a:cxn>
                <a:cxn ang="T141">
                  <a:pos x="T62" y="T63"/>
                </a:cxn>
                <a:cxn ang="T142">
                  <a:pos x="T64" y="T65"/>
                </a:cxn>
                <a:cxn ang="T143">
                  <a:pos x="T66" y="T67"/>
                </a:cxn>
                <a:cxn ang="T144">
                  <a:pos x="T68" y="T69"/>
                </a:cxn>
                <a:cxn ang="T145">
                  <a:pos x="T70" y="T71"/>
                </a:cxn>
                <a:cxn ang="T146">
                  <a:pos x="T72" y="T73"/>
                </a:cxn>
                <a:cxn ang="T147">
                  <a:pos x="T74" y="T75"/>
                </a:cxn>
                <a:cxn ang="T148">
                  <a:pos x="T76" y="T77"/>
                </a:cxn>
                <a:cxn ang="T149">
                  <a:pos x="T78" y="T79"/>
                </a:cxn>
                <a:cxn ang="T150">
                  <a:pos x="T80" y="T81"/>
                </a:cxn>
                <a:cxn ang="T151">
                  <a:pos x="T82" y="T83"/>
                </a:cxn>
                <a:cxn ang="T152">
                  <a:pos x="T84" y="T85"/>
                </a:cxn>
                <a:cxn ang="T153">
                  <a:pos x="T86" y="T87"/>
                </a:cxn>
                <a:cxn ang="T154">
                  <a:pos x="T88" y="T89"/>
                </a:cxn>
                <a:cxn ang="T155">
                  <a:pos x="T90" y="T91"/>
                </a:cxn>
                <a:cxn ang="T156">
                  <a:pos x="T92" y="T93"/>
                </a:cxn>
                <a:cxn ang="T157">
                  <a:pos x="T94" y="T95"/>
                </a:cxn>
                <a:cxn ang="T158">
                  <a:pos x="T96" y="T97"/>
                </a:cxn>
                <a:cxn ang="T159">
                  <a:pos x="T98" y="T99"/>
                </a:cxn>
                <a:cxn ang="T160">
                  <a:pos x="T100" y="T101"/>
                </a:cxn>
                <a:cxn ang="T161">
                  <a:pos x="T102" y="T103"/>
                </a:cxn>
                <a:cxn ang="T162">
                  <a:pos x="T104" y="T105"/>
                </a:cxn>
                <a:cxn ang="T163">
                  <a:pos x="T106" y="T107"/>
                </a:cxn>
                <a:cxn ang="T164">
                  <a:pos x="T108" y="T109"/>
                </a:cxn>
              </a:cxnLst>
              <a:rect l="0" t="0" r="r" b="b"/>
              <a:pathLst>
                <a:path w="475" h="552">
                  <a:moveTo>
                    <a:pt x="446" y="551"/>
                  </a:moveTo>
                  <a:lnTo>
                    <a:pt x="446" y="551"/>
                  </a:lnTo>
                  <a:cubicBezTo>
                    <a:pt x="417" y="551"/>
                    <a:pt x="417" y="551"/>
                    <a:pt x="417" y="551"/>
                  </a:cubicBezTo>
                  <a:cubicBezTo>
                    <a:pt x="417" y="0"/>
                    <a:pt x="417" y="0"/>
                    <a:pt x="417" y="0"/>
                  </a:cubicBezTo>
                  <a:cubicBezTo>
                    <a:pt x="446" y="0"/>
                    <a:pt x="446" y="0"/>
                    <a:pt x="446" y="0"/>
                  </a:cubicBezTo>
                  <a:cubicBezTo>
                    <a:pt x="460" y="0"/>
                    <a:pt x="474" y="14"/>
                    <a:pt x="474" y="28"/>
                  </a:cubicBezTo>
                  <a:cubicBezTo>
                    <a:pt x="474" y="523"/>
                    <a:pt x="474" y="523"/>
                    <a:pt x="474" y="523"/>
                  </a:cubicBezTo>
                  <a:cubicBezTo>
                    <a:pt x="474" y="537"/>
                    <a:pt x="460" y="551"/>
                    <a:pt x="446" y="551"/>
                  </a:cubicBezTo>
                  <a:close/>
                  <a:moveTo>
                    <a:pt x="57" y="523"/>
                  </a:moveTo>
                  <a:lnTo>
                    <a:pt x="57" y="523"/>
                  </a:lnTo>
                  <a:cubicBezTo>
                    <a:pt x="57" y="495"/>
                    <a:pt x="57" y="495"/>
                    <a:pt x="57" y="495"/>
                  </a:cubicBezTo>
                  <a:cubicBezTo>
                    <a:pt x="106" y="495"/>
                    <a:pt x="106" y="495"/>
                    <a:pt x="106" y="495"/>
                  </a:cubicBezTo>
                  <a:cubicBezTo>
                    <a:pt x="135" y="495"/>
                    <a:pt x="163" y="466"/>
                    <a:pt x="163" y="438"/>
                  </a:cubicBezTo>
                  <a:cubicBezTo>
                    <a:pt x="163" y="403"/>
                    <a:pt x="135" y="381"/>
                    <a:pt x="106" y="381"/>
                  </a:cubicBezTo>
                  <a:cubicBezTo>
                    <a:pt x="57" y="381"/>
                    <a:pt x="57" y="381"/>
                    <a:pt x="57" y="381"/>
                  </a:cubicBezTo>
                  <a:cubicBezTo>
                    <a:pt x="57" y="332"/>
                    <a:pt x="57" y="332"/>
                    <a:pt x="57" y="332"/>
                  </a:cubicBezTo>
                  <a:cubicBezTo>
                    <a:pt x="106" y="332"/>
                    <a:pt x="106" y="332"/>
                    <a:pt x="106" y="332"/>
                  </a:cubicBezTo>
                  <a:cubicBezTo>
                    <a:pt x="135" y="332"/>
                    <a:pt x="163" y="304"/>
                    <a:pt x="163" y="275"/>
                  </a:cubicBezTo>
                  <a:cubicBezTo>
                    <a:pt x="163" y="247"/>
                    <a:pt x="135" y="219"/>
                    <a:pt x="106" y="219"/>
                  </a:cubicBezTo>
                  <a:cubicBezTo>
                    <a:pt x="57" y="219"/>
                    <a:pt x="57" y="219"/>
                    <a:pt x="57" y="219"/>
                  </a:cubicBezTo>
                  <a:cubicBezTo>
                    <a:pt x="57" y="169"/>
                    <a:pt x="57" y="169"/>
                    <a:pt x="57" y="169"/>
                  </a:cubicBezTo>
                  <a:cubicBezTo>
                    <a:pt x="106" y="169"/>
                    <a:pt x="106" y="169"/>
                    <a:pt x="106" y="169"/>
                  </a:cubicBezTo>
                  <a:cubicBezTo>
                    <a:pt x="135" y="169"/>
                    <a:pt x="163" y="148"/>
                    <a:pt x="163" y="113"/>
                  </a:cubicBezTo>
                  <a:cubicBezTo>
                    <a:pt x="163" y="85"/>
                    <a:pt x="135" y="56"/>
                    <a:pt x="106" y="56"/>
                  </a:cubicBezTo>
                  <a:cubicBezTo>
                    <a:pt x="57" y="56"/>
                    <a:pt x="57" y="56"/>
                    <a:pt x="57" y="56"/>
                  </a:cubicBezTo>
                  <a:cubicBezTo>
                    <a:pt x="57" y="28"/>
                    <a:pt x="57" y="28"/>
                    <a:pt x="57" y="28"/>
                  </a:cubicBezTo>
                  <a:cubicBezTo>
                    <a:pt x="57" y="14"/>
                    <a:pt x="71" y="0"/>
                    <a:pt x="85" y="0"/>
                  </a:cubicBezTo>
                  <a:cubicBezTo>
                    <a:pt x="389" y="0"/>
                    <a:pt x="389" y="0"/>
                    <a:pt x="389" y="0"/>
                  </a:cubicBezTo>
                  <a:cubicBezTo>
                    <a:pt x="389" y="551"/>
                    <a:pt x="389" y="551"/>
                    <a:pt x="389" y="551"/>
                  </a:cubicBezTo>
                  <a:cubicBezTo>
                    <a:pt x="85" y="551"/>
                    <a:pt x="85" y="551"/>
                    <a:pt x="85" y="551"/>
                  </a:cubicBezTo>
                  <a:cubicBezTo>
                    <a:pt x="71" y="551"/>
                    <a:pt x="57" y="537"/>
                    <a:pt x="57" y="523"/>
                  </a:cubicBezTo>
                  <a:close/>
                  <a:moveTo>
                    <a:pt x="135" y="113"/>
                  </a:moveTo>
                  <a:lnTo>
                    <a:pt x="135" y="113"/>
                  </a:lnTo>
                  <a:cubicBezTo>
                    <a:pt x="135" y="134"/>
                    <a:pt x="120" y="141"/>
                    <a:pt x="106" y="141"/>
                  </a:cubicBezTo>
                  <a:cubicBezTo>
                    <a:pt x="29" y="141"/>
                    <a:pt x="29" y="141"/>
                    <a:pt x="29" y="141"/>
                  </a:cubicBezTo>
                  <a:cubicBezTo>
                    <a:pt x="15" y="141"/>
                    <a:pt x="0" y="134"/>
                    <a:pt x="0" y="113"/>
                  </a:cubicBezTo>
                  <a:cubicBezTo>
                    <a:pt x="0" y="99"/>
                    <a:pt x="15" y="85"/>
                    <a:pt x="29" y="85"/>
                  </a:cubicBezTo>
                  <a:cubicBezTo>
                    <a:pt x="106" y="85"/>
                    <a:pt x="106" y="85"/>
                    <a:pt x="106" y="85"/>
                  </a:cubicBezTo>
                  <a:cubicBezTo>
                    <a:pt x="120" y="85"/>
                    <a:pt x="135" y="99"/>
                    <a:pt x="135" y="113"/>
                  </a:cubicBezTo>
                  <a:close/>
                  <a:moveTo>
                    <a:pt x="29" y="247"/>
                  </a:moveTo>
                  <a:lnTo>
                    <a:pt x="29" y="247"/>
                  </a:lnTo>
                  <a:cubicBezTo>
                    <a:pt x="106" y="247"/>
                    <a:pt x="106" y="247"/>
                    <a:pt x="106" y="247"/>
                  </a:cubicBezTo>
                  <a:cubicBezTo>
                    <a:pt x="120" y="247"/>
                    <a:pt x="135" y="261"/>
                    <a:pt x="135" y="275"/>
                  </a:cubicBezTo>
                  <a:cubicBezTo>
                    <a:pt x="135" y="290"/>
                    <a:pt x="120" y="304"/>
                    <a:pt x="106" y="304"/>
                  </a:cubicBezTo>
                  <a:cubicBezTo>
                    <a:pt x="29" y="304"/>
                    <a:pt x="29" y="304"/>
                    <a:pt x="29" y="304"/>
                  </a:cubicBezTo>
                  <a:cubicBezTo>
                    <a:pt x="15" y="304"/>
                    <a:pt x="0" y="290"/>
                    <a:pt x="0" y="275"/>
                  </a:cubicBezTo>
                  <a:cubicBezTo>
                    <a:pt x="0" y="261"/>
                    <a:pt x="15" y="247"/>
                    <a:pt x="29" y="247"/>
                  </a:cubicBezTo>
                  <a:close/>
                  <a:moveTo>
                    <a:pt x="29" y="410"/>
                  </a:moveTo>
                  <a:lnTo>
                    <a:pt x="29" y="410"/>
                  </a:lnTo>
                  <a:cubicBezTo>
                    <a:pt x="106" y="410"/>
                    <a:pt x="106" y="410"/>
                    <a:pt x="106" y="410"/>
                  </a:cubicBezTo>
                  <a:cubicBezTo>
                    <a:pt x="120" y="410"/>
                    <a:pt x="135" y="417"/>
                    <a:pt x="135" y="438"/>
                  </a:cubicBezTo>
                  <a:cubicBezTo>
                    <a:pt x="135" y="452"/>
                    <a:pt x="120" y="466"/>
                    <a:pt x="106" y="466"/>
                  </a:cubicBezTo>
                  <a:cubicBezTo>
                    <a:pt x="29" y="466"/>
                    <a:pt x="29" y="466"/>
                    <a:pt x="29" y="466"/>
                  </a:cubicBezTo>
                  <a:cubicBezTo>
                    <a:pt x="15" y="466"/>
                    <a:pt x="0" y="452"/>
                    <a:pt x="0" y="438"/>
                  </a:cubicBezTo>
                  <a:cubicBezTo>
                    <a:pt x="0" y="417"/>
                    <a:pt x="15" y="410"/>
                    <a:pt x="29" y="41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45720" tIns="22860" rIns="45720" bIns="22860" anchor="ctr"/>
            <a:lstStyle/>
            <a:p>
              <a:endParaRPr lang="en-US" sz="2400">
                <a:latin typeface="Roboto Light"/>
              </a:endParaRPr>
            </a:p>
          </p:txBody>
        </p:sp>
      </p:grpSp>
      <p:grpSp>
        <p:nvGrpSpPr>
          <p:cNvPr id="19" name="组合 18"/>
          <p:cNvGrpSpPr/>
          <p:nvPr userDrawn="1"/>
        </p:nvGrpSpPr>
        <p:grpSpPr>
          <a:xfrm>
            <a:off x="4140107" y="2468893"/>
            <a:ext cx="577111" cy="577112"/>
            <a:chOff x="3491880" y="1274820"/>
            <a:chExt cx="432833" cy="432834"/>
          </a:xfrm>
        </p:grpSpPr>
        <p:sp>
          <p:nvSpPr>
            <p:cNvPr id="20" name="椭圆 16"/>
            <p:cNvSpPr>
              <a:spLocks noChangeArrowheads="1"/>
            </p:cNvSpPr>
            <p:nvPr/>
          </p:nvSpPr>
          <p:spPr bwMode="auto">
            <a:xfrm>
              <a:off x="3491880" y="1274820"/>
              <a:ext cx="432833" cy="43283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 sz="240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21" name="Freeform 75"/>
            <p:cNvSpPr>
              <a:spLocks noChangeArrowheads="1"/>
            </p:cNvSpPr>
            <p:nvPr/>
          </p:nvSpPr>
          <p:spPr bwMode="auto">
            <a:xfrm>
              <a:off x="3583864" y="1385879"/>
              <a:ext cx="248863" cy="210716"/>
            </a:xfrm>
            <a:custGeom>
              <a:avLst/>
              <a:gdLst>
                <a:gd name="T0" fmla="*/ 74657633 w 602"/>
                <a:gd name="T1" fmla="*/ 66362244 h 510"/>
                <a:gd name="T2" fmla="*/ 74657633 w 602"/>
                <a:gd name="T3" fmla="*/ 66362244 h 510"/>
                <a:gd name="T4" fmla="*/ 3654665 w 602"/>
                <a:gd name="T5" fmla="*/ 66362244 h 510"/>
                <a:gd name="T6" fmla="*/ 0 w 602"/>
                <a:gd name="T7" fmla="*/ 62711741 h 510"/>
                <a:gd name="T8" fmla="*/ 0 w 602"/>
                <a:gd name="T9" fmla="*/ 3650503 h 510"/>
                <a:gd name="T10" fmla="*/ 3654665 w 602"/>
                <a:gd name="T11" fmla="*/ 0 h 510"/>
                <a:gd name="T12" fmla="*/ 7308970 w 602"/>
                <a:gd name="T13" fmla="*/ 3650503 h 510"/>
                <a:gd name="T14" fmla="*/ 7308970 w 602"/>
                <a:gd name="T15" fmla="*/ 50717076 h 510"/>
                <a:gd name="T16" fmla="*/ 7308970 w 602"/>
                <a:gd name="T17" fmla="*/ 50717076 h 510"/>
                <a:gd name="T18" fmla="*/ 7308970 w 602"/>
                <a:gd name="T19" fmla="*/ 58930528 h 510"/>
                <a:gd name="T20" fmla="*/ 74657633 w 602"/>
                <a:gd name="T21" fmla="*/ 58930528 h 510"/>
                <a:gd name="T22" fmla="*/ 78442719 w 602"/>
                <a:gd name="T23" fmla="*/ 62711741 h 510"/>
                <a:gd name="T24" fmla="*/ 74657633 w 602"/>
                <a:gd name="T25" fmla="*/ 66362244 h 510"/>
                <a:gd name="T26" fmla="*/ 66434636 w 602"/>
                <a:gd name="T27" fmla="*/ 55280025 h 510"/>
                <a:gd name="T28" fmla="*/ 66434636 w 602"/>
                <a:gd name="T29" fmla="*/ 55280025 h 510"/>
                <a:gd name="T30" fmla="*/ 58995246 w 602"/>
                <a:gd name="T31" fmla="*/ 55280025 h 510"/>
                <a:gd name="T32" fmla="*/ 55340580 w 602"/>
                <a:gd name="T33" fmla="*/ 51629522 h 510"/>
                <a:gd name="T34" fmla="*/ 55340580 w 602"/>
                <a:gd name="T35" fmla="*/ 25814941 h 510"/>
                <a:gd name="T36" fmla="*/ 58995246 w 602"/>
                <a:gd name="T37" fmla="*/ 22164077 h 510"/>
                <a:gd name="T38" fmla="*/ 66434636 w 602"/>
                <a:gd name="T39" fmla="*/ 22164077 h 510"/>
                <a:gd name="T40" fmla="*/ 70089301 w 602"/>
                <a:gd name="T41" fmla="*/ 25814941 h 510"/>
                <a:gd name="T42" fmla="*/ 70089301 w 602"/>
                <a:gd name="T43" fmla="*/ 51629522 h 510"/>
                <a:gd name="T44" fmla="*/ 66434636 w 602"/>
                <a:gd name="T45" fmla="*/ 55280025 h 510"/>
                <a:gd name="T46" fmla="*/ 45159830 w 602"/>
                <a:gd name="T47" fmla="*/ 55280025 h 510"/>
                <a:gd name="T48" fmla="*/ 45159830 w 602"/>
                <a:gd name="T49" fmla="*/ 55280025 h 510"/>
                <a:gd name="T50" fmla="*/ 37850860 w 602"/>
                <a:gd name="T51" fmla="*/ 55280025 h 510"/>
                <a:gd name="T52" fmla="*/ 34065774 w 602"/>
                <a:gd name="T53" fmla="*/ 51629522 h 510"/>
                <a:gd name="T54" fmla="*/ 34065774 w 602"/>
                <a:gd name="T55" fmla="*/ 11082219 h 510"/>
                <a:gd name="T56" fmla="*/ 37850860 w 602"/>
                <a:gd name="T57" fmla="*/ 7431355 h 510"/>
                <a:gd name="T58" fmla="*/ 45159830 w 602"/>
                <a:gd name="T59" fmla="*/ 7431355 h 510"/>
                <a:gd name="T60" fmla="*/ 48814495 w 602"/>
                <a:gd name="T61" fmla="*/ 11082219 h 510"/>
                <a:gd name="T62" fmla="*/ 48814495 w 602"/>
                <a:gd name="T63" fmla="*/ 51629522 h 510"/>
                <a:gd name="T64" fmla="*/ 45159830 w 602"/>
                <a:gd name="T65" fmla="*/ 55280025 h 510"/>
                <a:gd name="T66" fmla="*/ 24929472 w 602"/>
                <a:gd name="T67" fmla="*/ 55280025 h 510"/>
                <a:gd name="T68" fmla="*/ 24929472 w 602"/>
                <a:gd name="T69" fmla="*/ 55280025 h 510"/>
                <a:gd name="T70" fmla="*/ 17489720 w 602"/>
                <a:gd name="T71" fmla="*/ 55280025 h 510"/>
                <a:gd name="T72" fmla="*/ 13835055 w 602"/>
                <a:gd name="T73" fmla="*/ 51629522 h 510"/>
                <a:gd name="T74" fmla="*/ 13835055 w 602"/>
                <a:gd name="T75" fmla="*/ 44198166 h 510"/>
                <a:gd name="T76" fmla="*/ 17489720 w 602"/>
                <a:gd name="T77" fmla="*/ 40547302 h 510"/>
                <a:gd name="T78" fmla="*/ 24929472 w 602"/>
                <a:gd name="T79" fmla="*/ 40547302 h 510"/>
                <a:gd name="T80" fmla="*/ 28583776 w 602"/>
                <a:gd name="T81" fmla="*/ 44198166 h 510"/>
                <a:gd name="T82" fmla="*/ 28583776 w 602"/>
                <a:gd name="T83" fmla="*/ 51629522 h 510"/>
                <a:gd name="T84" fmla="*/ 24929472 w 602"/>
                <a:gd name="T85" fmla="*/ 55280025 h 510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602" h="510">
                  <a:moveTo>
                    <a:pt x="572" y="509"/>
                  </a:moveTo>
                  <a:lnTo>
                    <a:pt x="572" y="509"/>
                  </a:lnTo>
                  <a:cubicBezTo>
                    <a:pt x="28" y="509"/>
                    <a:pt x="28" y="509"/>
                    <a:pt x="28" y="509"/>
                  </a:cubicBezTo>
                  <a:cubicBezTo>
                    <a:pt x="14" y="509"/>
                    <a:pt x="0" y="502"/>
                    <a:pt x="0" y="481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14"/>
                    <a:pt x="14" y="0"/>
                    <a:pt x="28" y="0"/>
                  </a:cubicBezTo>
                  <a:cubicBezTo>
                    <a:pt x="42" y="0"/>
                    <a:pt x="56" y="14"/>
                    <a:pt x="56" y="28"/>
                  </a:cubicBezTo>
                  <a:cubicBezTo>
                    <a:pt x="56" y="389"/>
                    <a:pt x="56" y="389"/>
                    <a:pt x="56" y="389"/>
                  </a:cubicBezTo>
                  <a:cubicBezTo>
                    <a:pt x="56" y="452"/>
                    <a:pt x="56" y="452"/>
                    <a:pt x="56" y="452"/>
                  </a:cubicBezTo>
                  <a:cubicBezTo>
                    <a:pt x="572" y="452"/>
                    <a:pt x="572" y="452"/>
                    <a:pt x="572" y="452"/>
                  </a:cubicBezTo>
                  <a:cubicBezTo>
                    <a:pt x="594" y="452"/>
                    <a:pt x="601" y="467"/>
                    <a:pt x="601" y="481"/>
                  </a:cubicBezTo>
                  <a:cubicBezTo>
                    <a:pt x="601" y="502"/>
                    <a:pt x="594" y="509"/>
                    <a:pt x="572" y="509"/>
                  </a:cubicBezTo>
                  <a:close/>
                  <a:moveTo>
                    <a:pt x="509" y="424"/>
                  </a:moveTo>
                  <a:lnTo>
                    <a:pt x="509" y="424"/>
                  </a:lnTo>
                  <a:cubicBezTo>
                    <a:pt x="452" y="424"/>
                    <a:pt x="452" y="424"/>
                    <a:pt x="452" y="424"/>
                  </a:cubicBezTo>
                  <a:cubicBezTo>
                    <a:pt x="438" y="424"/>
                    <a:pt x="424" y="417"/>
                    <a:pt x="424" y="396"/>
                  </a:cubicBezTo>
                  <a:cubicBezTo>
                    <a:pt x="424" y="198"/>
                    <a:pt x="424" y="198"/>
                    <a:pt x="424" y="198"/>
                  </a:cubicBezTo>
                  <a:cubicBezTo>
                    <a:pt x="424" y="184"/>
                    <a:pt x="438" y="170"/>
                    <a:pt x="452" y="170"/>
                  </a:cubicBezTo>
                  <a:cubicBezTo>
                    <a:pt x="509" y="170"/>
                    <a:pt x="509" y="170"/>
                    <a:pt x="509" y="170"/>
                  </a:cubicBezTo>
                  <a:cubicBezTo>
                    <a:pt x="523" y="170"/>
                    <a:pt x="537" y="184"/>
                    <a:pt x="537" y="198"/>
                  </a:cubicBezTo>
                  <a:cubicBezTo>
                    <a:pt x="537" y="396"/>
                    <a:pt x="537" y="396"/>
                    <a:pt x="537" y="396"/>
                  </a:cubicBezTo>
                  <a:cubicBezTo>
                    <a:pt x="537" y="417"/>
                    <a:pt x="523" y="424"/>
                    <a:pt x="509" y="424"/>
                  </a:cubicBezTo>
                  <a:close/>
                  <a:moveTo>
                    <a:pt x="346" y="424"/>
                  </a:moveTo>
                  <a:lnTo>
                    <a:pt x="346" y="424"/>
                  </a:lnTo>
                  <a:cubicBezTo>
                    <a:pt x="290" y="424"/>
                    <a:pt x="290" y="424"/>
                    <a:pt x="290" y="424"/>
                  </a:cubicBezTo>
                  <a:cubicBezTo>
                    <a:pt x="276" y="424"/>
                    <a:pt x="261" y="417"/>
                    <a:pt x="261" y="396"/>
                  </a:cubicBezTo>
                  <a:cubicBezTo>
                    <a:pt x="261" y="85"/>
                    <a:pt x="261" y="85"/>
                    <a:pt x="261" y="85"/>
                  </a:cubicBezTo>
                  <a:cubicBezTo>
                    <a:pt x="261" y="71"/>
                    <a:pt x="276" y="57"/>
                    <a:pt x="290" y="57"/>
                  </a:cubicBezTo>
                  <a:cubicBezTo>
                    <a:pt x="346" y="57"/>
                    <a:pt x="346" y="57"/>
                    <a:pt x="346" y="57"/>
                  </a:cubicBezTo>
                  <a:cubicBezTo>
                    <a:pt x="367" y="57"/>
                    <a:pt x="374" y="71"/>
                    <a:pt x="374" y="85"/>
                  </a:cubicBezTo>
                  <a:cubicBezTo>
                    <a:pt x="374" y="396"/>
                    <a:pt x="374" y="396"/>
                    <a:pt x="374" y="396"/>
                  </a:cubicBezTo>
                  <a:cubicBezTo>
                    <a:pt x="374" y="417"/>
                    <a:pt x="367" y="424"/>
                    <a:pt x="346" y="424"/>
                  </a:cubicBezTo>
                  <a:close/>
                  <a:moveTo>
                    <a:pt x="191" y="424"/>
                  </a:moveTo>
                  <a:lnTo>
                    <a:pt x="191" y="424"/>
                  </a:lnTo>
                  <a:cubicBezTo>
                    <a:pt x="134" y="424"/>
                    <a:pt x="134" y="424"/>
                    <a:pt x="134" y="424"/>
                  </a:cubicBezTo>
                  <a:cubicBezTo>
                    <a:pt x="113" y="424"/>
                    <a:pt x="106" y="417"/>
                    <a:pt x="106" y="396"/>
                  </a:cubicBezTo>
                  <a:cubicBezTo>
                    <a:pt x="106" y="339"/>
                    <a:pt x="106" y="339"/>
                    <a:pt x="106" y="339"/>
                  </a:cubicBezTo>
                  <a:cubicBezTo>
                    <a:pt x="106" y="325"/>
                    <a:pt x="113" y="311"/>
                    <a:pt x="134" y="311"/>
                  </a:cubicBezTo>
                  <a:cubicBezTo>
                    <a:pt x="191" y="311"/>
                    <a:pt x="191" y="311"/>
                    <a:pt x="191" y="311"/>
                  </a:cubicBezTo>
                  <a:cubicBezTo>
                    <a:pt x="205" y="311"/>
                    <a:pt x="219" y="325"/>
                    <a:pt x="219" y="339"/>
                  </a:cubicBezTo>
                  <a:cubicBezTo>
                    <a:pt x="219" y="396"/>
                    <a:pt x="219" y="396"/>
                    <a:pt x="219" y="396"/>
                  </a:cubicBezTo>
                  <a:cubicBezTo>
                    <a:pt x="219" y="417"/>
                    <a:pt x="205" y="424"/>
                    <a:pt x="191" y="42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45720" tIns="22860" rIns="45720" bIns="22860" anchor="ctr"/>
            <a:lstStyle/>
            <a:p>
              <a:endParaRPr lang="en-US" sz="2400">
                <a:latin typeface="Roboto Light"/>
              </a:endParaRPr>
            </a:p>
          </p:txBody>
        </p:sp>
      </p:grpSp>
      <p:grpSp>
        <p:nvGrpSpPr>
          <p:cNvPr id="22" name="组合 21"/>
          <p:cNvGrpSpPr/>
          <p:nvPr userDrawn="1"/>
        </p:nvGrpSpPr>
        <p:grpSpPr>
          <a:xfrm>
            <a:off x="5004203" y="2468893"/>
            <a:ext cx="577111" cy="577112"/>
            <a:chOff x="4139952" y="1274820"/>
            <a:chExt cx="432833" cy="432834"/>
          </a:xfrm>
        </p:grpSpPr>
        <p:sp>
          <p:nvSpPr>
            <p:cNvPr id="23" name="椭圆 16"/>
            <p:cNvSpPr>
              <a:spLocks noChangeArrowheads="1"/>
            </p:cNvSpPr>
            <p:nvPr/>
          </p:nvSpPr>
          <p:spPr bwMode="auto">
            <a:xfrm>
              <a:off x="4139952" y="1274820"/>
              <a:ext cx="432833" cy="432834"/>
            </a:xfrm>
            <a:prstGeom prst="ellipse">
              <a:avLst/>
            </a:prstGeom>
            <a:solidFill>
              <a:srgbClr val="3992DB"/>
            </a:solidFill>
            <a:ln>
              <a:noFill/>
            </a:ln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 sz="240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24" name="Freeform 84"/>
            <p:cNvSpPr>
              <a:spLocks noChangeArrowheads="1"/>
            </p:cNvSpPr>
            <p:nvPr/>
          </p:nvSpPr>
          <p:spPr bwMode="auto">
            <a:xfrm>
              <a:off x="4241546" y="1366806"/>
              <a:ext cx="248863" cy="248863"/>
            </a:xfrm>
            <a:custGeom>
              <a:avLst/>
              <a:gdLst>
                <a:gd name="T0" fmla="*/ 43332858 w 602"/>
                <a:gd name="T1" fmla="*/ 34979440 h 602"/>
                <a:gd name="T2" fmla="*/ 43332858 w 602"/>
                <a:gd name="T3" fmla="*/ 34979440 h 602"/>
                <a:gd name="T4" fmla="*/ 43332858 w 602"/>
                <a:gd name="T5" fmla="*/ 0 h 602"/>
                <a:gd name="T6" fmla="*/ 78442719 w 602"/>
                <a:gd name="T7" fmla="*/ 34979440 h 602"/>
                <a:gd name="T8" fmla="*/ 43332858 w 602"/>
                <a:gd name="T9" fmla="*/ 34979440 h 602"/>
                <a:gd name="T10" fmla="*/ 36023527 w 602"/>
                <a:gd name="T11" fmla="*/ 78442719 h 602"/>
                <a:gd name="T12" fmla="*/ 36023527 w 602"/>
                <a:gd name="T13" fmla="*/ 78442719 h 602"/>
                <a:gd name="T14" fmla="*/ 0 w 602"/>
                <a:gd name="T15" fmla="*/ 42419192 h 602"/>
                <a:gd name="T16" fmla="*/ 36023527 w 602"/>
                <a:gd name="T17" fmla="*/ 7308970 h 602"/>
                <a:gd name="T18" fmla="*/ 36023527 w 602"/>
                <a:gd name="T19" fmla="*/ 42419192 h 602"/>
                <a:gd name="T20" fmla="*/ 71002968 w 602"/>
                <a:gd name="T21" fmla="*/ 42419192 h 602"/>
                <a:gd name="T22" fmla="*/ 36023527 w 602"/>
                <a:gd name="T23" fmla="*/ 78442719 h 602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0" t="0" r="r" b="b"/>
              <a:pathLst>
                <a:path w="602" h="602">
                  <a:moveTo>
                    <a:pt x="332" y="268"/>
                  </a:moveTo>
                  <a:lnTo>
                    <a:pt x="332" y="268"/>
                  </a:lnTo>
                  <a:cubicBezTo>
                    <a:pt x="332" y="0"/>
                    <a:pt x="332" y="0"/>
                    <a:pt x="332" y="0"/>
                  </a:cubicBezTo>
                  <a:cubicBezTo>
                    <a:pt x="481" y="0"/>
                    <a:pt x="601" y="120"/>
                    <a:pt x="601" y="268"/>
                  </a:cubicBezTo>
                  <a:lnTo>
                    <a:pt x="332" y="268"/>
                  </a:lnTo>
                  <a:close/>
                  <a:moveTo>
                    <a:pt x="276" y="601"/>
                  </a:moveTo>
                  <a:lnTo>
                    <a:pt x="276" y="601"/>
                  </a:lnTo>
                  <a:cubicBezTo>
                    <a:pt x="120" y="601"/>
                    <a:pt x="0" y="480"/>
                    <a:pt x="0" y="325"/>
                  </a:cubicBezTo>
                  <a:cubicBezTo>
                    <a:pt x="0" y="176"/>
                    <a:pt x="120" y="56"/>
                    <a:pt x="276" y="56"/>
                  </a:cubicBezTo>
                  <a:cubicBezTo>
                    <a:pt x="276" y="325"/>
                    <a:pt x="276" y="325"/>
                    <a:pt x="276" y="325"/>
                  </a:cubicBezTo>
                  <a:cubicBezTo>
                    <a:pt x="544" y="325"/>
                    <a:pt x="544" y="325"/>
                    <a:pt x="544" y="325"/>
                  </a:cubicBezTo>
                  <a:cubicBezTo>
                    <a:pt x="544" y="480"/>
                    <a:pt x="424" y="601"/>
                    <a:pt x="276" y="60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45720" tIns="22860" rIns="45720" bIns="22860" anchor="ctr"/>
            <a:lstStyle/>
            <a:p>
              <a:endParaRPr lang="en-US" sz="2400">
                <a:latin typeface="Roboto Light"/>
              </a:endParaRPr>
            </a:p>
          </p:txBody>
        </p:sp>
      </p:grpSp>
      <p:sp>
        <p:nvSpPr>
          <p:cNvPr id="25" name="文本框 24"/>
          <p:cNvSpPr txBox="1"/>
          <p:nvPr userDrawn="1"/>
        </p:nvSpPr>
        <p:spPr>
          <a:xfrm>
            <a:off x="1" y="6004875"/>
            <a:ext cx="12191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chemeClr val="bg1">
                    <a:lumMod val="50000"/>
                  </a:schemeClr>
                </a:solidFill>
                <a:latin typeface="Brush Script MT" panose="03060802040406070304" pitchFamily="66" charset="0"/>
                <a:ea typeface="华文隶书" panose="02010800040101010101" pitchFamily="2" charset="-122"/>
              </a:rPr>
              <a:t>In Pursuit of Excellence in Interpreting and Translation</a:t>
            </a: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Brush Script MT" panose="03060802040406070304" pitchFamily="66" charset="0"/>
              <a:ea typeface="华文隶书" panose="02010800040101010101" pitchFamily="2" charset="-122"/>
            </a:endParaRPr>
          </a:p>
          <a:p>
            <a:pPr algn="ctr"/>
            <a:r>
              <a:rPr lang="zh-CN" altLang="en-US" sz="2000" dirty="0">
                <a:solidFill>
                  <a:schemeClr val="bg1">
                    <a:lumMod val="50000"/>
                  </a:schemeClr>
                </a:solidFill>
                <a:latin typeface="华文隶书" panose="02010800040101010101" pitchFamily="2" charset="-122"/>
                <a:ea typeface="华文隶书" panose="02010800040101010101" pitchFamily="2" charset="-122"/>
              </a:rPr>
              <a:t>译无止境，臻于至善</a:t>
            </a:r>
            <a:endParaRPr lang="zh-CN" altLang="en-US" sz="2000" dirty="0">
              <a:solidFill>
                <a:schemeClr val="bg1">
                  <a:lumMod val="50000"/>
                </a:schemeClr>
              </a:solidFill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26" name="图片 2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3"/>
            <a:ext cx="3708572" cy="8615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3"/>
            <a:ext cx="3708572" cy="861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4"/>
            <a:ext cx="3441871" cy="7995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4"/>
            <a:ext cx="3441871" cy="7995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4"/>
            <a:ext cx="3441871" cy="7995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sp>
        <p:nvSpPr>
          <p:cNvPr id="9" name="矩形 8"/>
          <p:cNvSpPr/>
          <p:nvPr userDrawn="1"/>
        </p:nvSpPr>
        <p:spPr>
          <a:xfrm>
            <a:off x="8725278" y="6450175"/>
            <a:ext cx="77513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模板下载：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www.1ppt.com/moban/     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行业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模板：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www.1ppt.com/hangye/ 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节日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模板：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www.1ppt.com/jieri/           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素材下载：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www.1ppt.com/sucai/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背景图片：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www.1ppt.com/beijing/      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图表下载：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www.1ppt.com/tubiao/      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优秀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www.1ppt.com/xiazai/        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教程： 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www.1ppt.com/powerpoint/      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Word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教程： 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www.1ppt.com/word/              Excel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教程：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www.1ppt.com/excel/  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资料下载：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www.1ppt.com/ziliao/                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课件下载：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www.1ppt.com/kejian/ 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范文下载：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www.1ppt.com/fanwen/             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试卷下载：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www.1ppt.com/shiti/  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教案下载：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www.1ppt.com/jiaoan/        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字体下载：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www.1ppt.com/ziti/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endParaRPr kumimoji="0" lang="zh-CN" altLang="en-US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4"/>
            <a:ext cx="3441871" cy="7995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3"/>
            <a:ext cx="3708572" cy="861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3"/>
            <a:ext cx="3708572" cy="861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3"/>
            <a:ext cx="3708572" cy="86153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1" y="6004875"/>
            <a:ext cx="12191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chemeClr val="bg1">
                    <a:lumMod val="50000"/>
                  </a:schemeClr>
                </a:solidFill>
                <a:latin typeface="Brush Script MT" panose="03060802040406070304" pitchFamily="66" charset="0"/>
                <a:ea typeface="华文隶书" panose="02010800040101010101" pitchFamily="2" charset="-122"/>
              </a:rPr>
              <a:t>In Pursuit of Excellence in Interpreting and Translation</a:t>
            </a: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Brush Script MT" panose="03060802040406070304" pitchFamily="66" charset="0"/>
              <a:ea typeface="华文隶书" panose="02010800040101010101" pitchFamily="2" charset="-122"/>
            </a:endParaRPr>
          </a:p>
          <a:p>
            <a:pPr algn="ctr"/>
            <a:r>
              <a:rPr lang="zh-CN" altLang="en-US" sz="2000" dirty="0">
                <a:solidFill>
                  <a:schemeClr val="bg1">
                    <a:lumMod val="50000"/>
                  </a:schemeClr>
                </a:solidFill>
                <a:latin typeface="华文隶书" panose="02010800040101010101" pitchFamily="2" charset="-122"/>
                <a:ea typeface="华文隶书" panose="02010800040101010101" pitchFamily="2" charset="-122"/>
              </a:rPr>
              <a:t>译无止境，臻于至善</a:t>
            </a:r>
            <a:endParaRPr lang="zh-CN" altLang="en-US" sz="2000" dirty="0">
              <a:solidFill>
                <a:schemeClr val="bg1">
                  <a:lumMod val="50000"/>
                </a:schemeClr>
              </a:solidFill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3A9F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1">
              <a:lumMod val="5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920240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spc="5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《翻译研究方法》第 1 组 · 方法 A 案例部分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267712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2D2D89"/>
                </a:solidFill>
                <a:latin typeface="思源黑体 CN Light"/>
                <a:ea typeface="思源黑体 CN Light"/>
                <a:cs typeface="思源黑体 CN Light"/>
              </a:rPr>
              <a:t>一份问卷，两种命运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310128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7A8293"/>
                </a:solidFill>
                <a:latin typeface="Arial"/>
                <a:ea typeface="思源黑体 CN Light"/>
                <a:cs typeface="思源黑体 CN Light"/>
              </a:rPr>
              <a:t>A Questionnaire, Two Fates · Interpreting × Translation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913632"/>
            <a:ext cx="4206240" cy="2743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1148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正例（口译研究）｜ 周金华、董燕萍（2019）. 口译笔记熟练度量表的开发. 外语教学与研究 51(6): 925-937.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反例（笔译研究）｜ Yang &amp; Mustafa (2022). On postediting of machine translation and workflow. HBET, 5793054.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38928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40">
                <a:solidFill>
                  <a:srgbClr val="2D2D89"/>
                </a:solidFill>
                <a:latin typeface="思源黑体 CN Light"/>
                <a:ea typeface="思源黑体 CN Light"/>
                <a:cs typeface="思源黑体 CN Light"/>
              </a:rPr>
              <a:t>全程只用一把尺：研究问题 → 构念与题项 → 抽样与施测 → 统计与结论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596128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5ACBA"/>
                </a:solidFill>
                <a:latin typeface="思源黑体 CN Light"/>
                <a:ea typeface="思源黑体 CN Light"/>
                <a:cs typeface="思源黑体 CN Light"/>
              </a:rPr>
              <a:t>小组分工（4 人）：于萍［组长］框架与主线 · 陈冠臻 正例核对 · 熊芮 反例核对 · 方燕 对照与清单 · 汇报人：＿＿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170432"/>
            <a:ext cx="91440" cy="475488"/>
          </a:xfrm>
          <a:prstGeom prst="rect">
            <a:avLst/>
          </a:prstGeom>
          <a:solidFill>
            <a:srgbClr val="2D2D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1078992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1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THE CHAIN · 四步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1316736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D2D89"/>
                </a:solidFill>
                <a:latin typeface="思源黑体 CN Light"/>
                <a:ea typeface="思源黑体 CN Light"/>
                <a:cs typeface="思源黑体 CN Light"/>
              </a:rPr>
              <a:t>先看链条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88366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闭住就是好问卷；断在任何一环，结论就悬空。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A5ACBA"/>
                </a:solidFill>
                <a:latin typeface="思源黑体 CN Light"/>
                <a:ea typeface="思源黑体 CN Light"/>
                <a:cs typeface="思源黑体 CN Light"/>
              </a:rPr>
              <a:t>《翻译研究方法》第 1 组 · 问卷调查法正反例 · 2026.10.12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55664"/>
            <a:ext cx="330400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A5ACBA"/>
                </a:solidFill>
                <a:latin typeface="Consolas"/>
                <a:ea typeface="思源黑体 CN Light"/>
                <a:cs typeface="思源黑体 CN Light"/>
              </a:rPr>
              <a:t>01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42032"/>
            <a:ext cx="2578608" cy="1627632"/>
          </a:xfrm>
          <a:prstGeom prst="rect">
            <a:avLst/>
          </a:prstGeom>
          <a:solidFill>
            <a:srgbClr val="E7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42032"/>
            <a:ext cx="50292" cy="162763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779776"/>
            <a:ext cx="212140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spc="50">
                <a:solidFill>
                  <a:srgbClr val="0E7C86"/>
                </a:solidFill>
                <a:latin typeface="Consolas"/>
                <a:ea typeface="思源黑体 CN Light"/>
                <a:cs typeface="思源黑体 CN Light"/>
              </a:rPr>
              <a:t>01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3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研究问题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要回答什么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5ACBA"/>
                </a:solidFill>
                <a:latin typeface="Arial"/>
                <a:ea typeface="思源黑体 CN Light"/>
                <a:cs typeface="思源黑体 CN Light"/>
              </a:rPr>
              <a:t>Research 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6431" y="2542032"/>
            <a:ext cx="2578608" cy="1627632"/>
          </a:xfrm>
          <a:prstGeom prst="rect">
            <a:avLst/>
          </a:prstGeom>
          <a:solidFill>
            <a:srgbClr val="E7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6431" y="2542032"/>
            <a:ext cx="50292" cy="162763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94175" y="2779776"/>
            <a:ext cx="212140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spc="50">
                <a:solidFill>
                  <a:srgbClr val="0E7C86"/>
                </a:solidFill>
                <a:latin typeface="Consolas"/>
                <a:ea typeface="思源黑体 CN Light"/>
                <a:cs typeface="思源黑体 CN Light"/>
              </a:rPr>
              <a:t>02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3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构念与题项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怎么变成可答的题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5ACBA"/>
                </a:solidFill>
                <a:latin typeface="Arial"/>
                <a:ea typeface="思源黑体 CN Light"/>
                <a:cs typeface="思源黑体 CN Light"/>
              </a:rPr>
              <a:t>Construct &amp; items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54495" y="2542032"/>
            <a:ext cx="2578608" cy="1627632"/>
          </a:xfrm>
          <a:prstGeom prst="rect">
            <a:avLst/>
          </a:prstGeom>
          <a:solidFill>
            <a:srgbClr val="E7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4495" y="2542032"/>
            <a:ext cx="50292" cy="162763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39" y="2779776"/>
            <a:ext cx="212140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spc="50">
                <a:solidFill>
                  <a:srgbClr val="0E7C86"/>
                </a:solidFill>
                <a:latin typeface="Consolas"/>
                <a:ea typeface="思源黑体 CN Light"/>
                <a:cs typeface="思源黑体 CN Light"/>
              </a:rPr>
              <a:t>03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3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抽样与施测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向谁发、怎么收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5ACBA"/>
                </a:solidFill>
                <a:latin typeface="Arial"/>
                <a:ea typeface="思源黑体 CN Light"/>
                <a:cs typeface="思源黑体 CN Light"/>
              </a:rPr>
              <a:t>Sampling &amp; admin.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60" y="2542032"/>
            <a:ext cx="2578608" cy="1627632"/>
          </a:xfrm>
          <a:prstGeom prst="rect">
            <a:avLst/>
          </a:prstGeom>
          <a:solidFill>
            <a:srgbClr val="E7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52560" y="2542032"/>
            <a:ext cx="50292" cy="162763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90304" y="2779776"/>
            <a:ext cx="212140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spc="50">
                <a:solidFill>
                  <a:srgbClr val="0E7C86"/>
                </a:solidFill>
                <a:latin typeface="Consolas"/>
                <a:ea typeface="思源黑体 CN Light"/>
                <a:cs typeface="思源黑体 CN Light"/>
              </a:rPr>
              <a:t>04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3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统计与结论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证据撑到哪一步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5ACBA"/>
                </a:solidFill>
                <a:latin typeface="Arial"/>
                <a:ea typeface="思源黑体 CN Light"/>
                <a:cs typeface="思源黑体 CN Light"/>
              </a:rPr>
              <a:t>Analysis &amp; claim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443984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断点最常出现在第 2 与第 4 步：题项测的不是那个构念；结论比数据多走了几步。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170432"/>
            <a:ext cx="91440" cy="47548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1078992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1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POSITIVE CASE · 口译研究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1316736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D2D89"/>
                </a:solidFill>
                <a:latin typeface="思源黑体 CN Light"/>
                <a:ea typeface="思源黑体 CN Light"/>
                <a:cs typeface="思源黑体 CN Light"/>
              </a:rPr>
              <a:t>把“熟练度”变成可测的构念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88366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周金华、董燕萍（2019）. 口译笔记熟练度量表的开发. 外语教学与研究 51(6): 925-937.（CSSCI 核心期刊）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A5ACBA"/>
                </a:solidFill>
                <a:latin typeface="思源黑体 CN Light"/>
                <a:ea typeface="思源黑体 CN Light"/>
                <a:cs typeface="思源黑体 CN Light"/>
              </a:rPr>
              <a:t>《翻译研究方法》第 1 组 · 问卷调查法正反例 · 2026.10.12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55664"/>
            <a:ext cx="330400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A5ACBA"/>
                </a:solidFill>
                <a:latin typeface="Consolas"/>
                <a:ea typeface="思源黑体 CN Light"/>
                <a:cs typeface="思源黑体 CN Light"/>
              </a:rPr>
              <a:t>02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42032"/>
            <a:ext cx="10881360" cy="1371600"/>
          </a:xfrm>
          <a:prstGeom prst="rect">
            <a:avLst/>
          </a:prstGeom>
          <a:solidFill>
            <a:srgbClr val="E7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42032"/>
            <a:ext cx="50292" cy="13716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779776"/>
            <a:ext cx="10332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3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笔记熟练度，看不见、摸不着 —— 能测吗？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给一个可操作的定义，再编一份可被复核的自评问卷（量表）。目标不是“发现规律”，而是交付一件能接着用的工具。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22452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构念：两阶段（记录 / 理解）× 四维度（听记协调 · 系统性 · 时效性 · 使用）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718304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附录公开 21 个题项，工具可复用、可被复核。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170432"/>
            <a:ext cx="91440" cy="47548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1078992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1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POSITIVE CASE · PROCEDURE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1316736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D2D89"/>
                </a:solidFill>
                <a:latin typeface="思源黑体 CN Light"/>
                <a:ea typeface="思源黑体 CN Light"/>
                <a:cs typeface="思源黑体 CN Light"/>
              </a:rPr>
              <a:t>七步，每步留下一件证据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88366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右栏 ＝ 你写“研究方法”一节时要写的句子。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A5ACBA"/>
                </a:solidFill>
                <a:latin typeface="思源黑体 CN Light"/>
                <a:ea typeface="思源黑体 CN Light"/>
                <a:cs typeface="思源黑体 CN Light"/>
              </a:rPr>
              <a:t>《翻译研究方法》第 1 组 · 问卷调查法正反例 · 2026.10.12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55664"/>
            <a:ext cx="330400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A5ACBA"/>
                </a:solidFill>
                <a:latin typeface="Consolas"/>
                <a:ea typeface="思源黑体 CN Light"/>
                <a:cs typeface="思源黑体 CN Light"/>
              </a:rPr>
              <a:t>03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05456"/>
            <a:ext cx="10881360" cy="32918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505456"/>
            <a:ext cx="1554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思源黑体 CN Light"/>
                <a:ea typeface="思源黑体 CN Light"/>
                <a:cs typeface="思源黑体 CN Light"/>
              </a:rPr>
              <a:t>步骤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505456"/>
            <a:ext cx="5394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思源黑体 CN Light"/>
                <a:ea typeface="思源黑体 CN Light"/>
                <a:cs typeface="思源黑体 CN Light"/>
              </a:rPr>
              <a:t>做了什么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505456"/>
            <a:ext cx="3566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思源黑体 CN Light"/>
                <a:ea typeface="思源黑体 CN Light"/>
                <a:cs typeface="思源黑体 CN Light"/>
              </a:rPr>
              <a:t>留下什么证据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834640"/>
            <a:ext cx="10881360" cy="402336"/>
          </a:xfrm>
          <a:prstGeom prst="rect">
            <a:avLst/>
          </a:prstGeom>
          <a:solidFill>
            <a:srgbClr val="E7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2834640"/>
            <a:ext cx="1554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① 界定构念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2834640"/>
            <a:ext cx="53949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两阶段 × 四维度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834640"/>
            <a:ext cx="3566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构念定义＋维度表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236976"/>
            <a:ext cx="10881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236976"/>
            <a:ext cx="1554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② 生成题库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236976"/>
            <a:ext cx="53949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74 题，来自日志与访谈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236976"/>
            <a:ext cx="3566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题项来源说明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639312"/>
            <a:ext cx="10881360" cy="402336"/>
          </a:xfrm>
          <a:prstGeom prst="rect">
            <a:avLst/>
          </a:prstGeom>
          <a:solidFill>
            <a:srgbClr val="E7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639312"/>
            <a:ext cx="1554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③ 专家评审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639312"/>
            <a:ext cx="53949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3 轮 → 28 题（6 点）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3639312"/>
            <a:ext cx="3566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评审人数与依据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041648"/>
            <a:ext cx="10881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7" y="4041648"/>
            <a:ext cx="1554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④ 试测删题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4041648"/>
            <a:ext cx="53949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54 人 → 删 7 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041648"/>
            <a:ext cx="3566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删题指标与阈值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443984"/>
            <a:ext cx="10881360" cy="402336"/>
          </a:xfrm>
          <a:prstGeom prst="rect">
            <a:avLst/>
          </a:prstGeom>
          <a:solidFill>
            <a:srgbClr val="E7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7" y="4443984"/>
            <a:ext cx="1554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⑤ 正式施测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7440" y="4443984"/>
            <a:ext cx="53949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144 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443984"/>
            <a:ext cx="3566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总体口径与份数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4846320"/>
            <a:ext cx="10881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7" y="4846320"/>
            <a:ext cx="1554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⑥ 信度效度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7440" y="4846320"/>
            <a:ext cx="53949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α = .901；CVI =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4846320"/>
            <a:ext cx="3566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信效度指标表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5248656"/>
            <a:ext cx="10881360" cy="402336"/>
          </a:xfrm>
          <a:prstGeom prst="rect">
            <a:avLst/>
          </a:prstGeom>
          <a:solidFill>
            <a:srgbClr val="E7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1247" y="5248656"/>
            <a:ext cx="15544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⑦ 三项效标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77440" y="5248656"/>
            <a:ext cx="53949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.473 · .539 · .556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5248656"/>
            <a:ext cx="3566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效标＋组间比较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57607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结果：21 题 · 4 因子解释 60.49% ｜ 初级组与高级组差异显著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170432"/>
            <a:ext cx="91440" cy="475488"/>
          </a:xfrm>
          <a:prstGeom prst="rect">
            <a:avLst/>
          </a:prstGeom>
          <a:solidFill>
            <a:srgbClr val="1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1078992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1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POSITIVE CASE ·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1316736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D2D89"/>
                </a:solidFill>
                <a:latin typeface="思源黑体 CN Light"/>
                <a:ea typeface="思源黑体 CN Light"/>
                <a:cs typeface="思源黑体 CN Light"/>
              </a:rPr>
              <a:t>三点值得照搬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88366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括号里是你在“研究方法”一节里的写法。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A5ACBA"/>
                </a:solidFill>
                <a:latin typeface="思源黑体 CN Light"/>
                <a:ea typeface="思源黑体 CN Light"/>
                <a:cs typeface="思源黑体 CN Light"/>
              </a:rPr>
              <a:t>《翻译研究方法》第 1 组 · 问卷调查法正反例 · 2026.10.12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55664"/>
            <a:ext cx="330400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A5ACBA"/>
                </a:solidFill>
                <a:latin typeface="Consolas"/>
                <a:ea typeface="思源黑体 CN Light"/>
                <a:cs typeface="思源黑体 CN Light"/>
              </a:rPr>
              <a:t>04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32304"/>
            <a:ext cx="10881360" cy="987552"/>
          </a:xfrm>
          <a:prstGeom prst="rect">
            <a:avLst/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432304"/>
            <a:ext cx="50292" cy="987552"/>
          </a:xfrm>
          <a:prstGeom prst="rect">
            <a:avLst/>
          </a:prstGeom>
          <a:solidFill>
            <a:srgbClr val="1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560320"/>
            <a:ext cx="102412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2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1. 构念先于题项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先有操作定义与对齐表，再写题项。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5ACBA"/>
                </a:solidFill>
                <a:latin typeface="Arial"/>
                <a:ea typeface="思源黑体 CN Light"/>
                <a:cs typeface="思源黑体 CN Light"/>
              </a:rPr>
              <a:t>Construct first, items second.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547872"/>
            <a:ext cx="10881360" cy="987552"/>
          </a:xfrm>
          <a:prstGeom prst="rect">
            <a:avLst/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547872"/>
            <a:ext cx="50292" cy="987552"/>
          </a:xfrm>
          <a:prstGeom prst="rect">
            <a:avLst/>
          </a:prstGeom>
          <a:solidFill>
            <a:srgbClr val="1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675887"/>
            <a:ext cx="102412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2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2. 删题是设计，不是失败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74 → 28 → 21，每轮都留下依据。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5ACBA"/>
                </a:solidFill>
                <a:latin typeface="Arial"/>
                <a:ea typeface="思源黑体 CN Light"/>
                <a:cs typeface="思源黑体 CN Light"/>
              </a:rPr>
              <a:t>Item analysis, reported.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663440"/>
            <a:ext cx="10881360" cy="987552"/>
          </a:xfrm>
          <a:prstGeom prst="rect">
            <a:avLst/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663440"/>
            <a:ext cx="50292" cy="987552"/>
          </a:xfrm>
          <a:prstGeom prst="rect">
            <a:avLst/>
          </a:prstGeom>
          <a:solidFill>
            <a:srgbClr val="1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91455"/>
            <a:ext cx="102412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2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3. 结论只走一步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只说“可测、能区分阶段”，不说“笔记好所以口译好”。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5ACBA"/>
                </a:solidFill>
                <a:latin typeface="Arial"/>
                <a:ea typeface="思源黑体 CN Light"/>
                <a:cs typeface="思源黑体 CN Light"/>
              </a:rPr>
              <a:t>Claim no more than data.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852159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ACBA"/>
                </a:solidFill>
                <a:latin typeface="思源黑体 CN Light"/>
                <a:ea typeface="思源黑体 CN Light"/>
                <a:cs typeface="思源黑体 CN Light"/>
              </a:rPr>
              <a:t>另：21 题随附录公开 —— 工具可复用，研究才能被复核、被引用。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170432"/>
            <a:ext cx="91440" cy="475488"/>
          </a:xfrm>
          <a:prstGeom prst="rect">
            <a:avLst/>
          </a:prstGeom>
          <a:solidFill>
            <a:srgbClr val="B44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1078992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1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NEGATIVE CASE · 笔译研究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1316736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D2D89"/>
                </a:solidFill>
                <a:latin typeface="思源黑体 CN Light"/>
                <a:ea typeface="思源黑体 CN Light"/>
                <a:cs typeface="思源黑体 CN Light"/>
              </a:rPr>
              <a:t>六道题，去撑一个新流程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88366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Yang &amp; Mustafa (2022). On postediting of MT and workflow. HBET, 5793054.（Wiley 开放获取）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A5ACBA"/>
                </a:solidFill>
                <a:latin typeface="思源黑体 CN Light"/>
                <a:ea typeface="思源黑体 CN Light"/>
                <a:cs typeface="思源黑体 CN Light"/>
              </a:rPr>
              <a:t>《翻译研究方法》第 1 组 · 问卷调查法正反例 · 2026.10.12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55664"/>
            <a:ext cx="330400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A5ACBA"/>
                </a:solidFill>
                <a:latin typeface="Consolas"/>
                <a:ea typeface="思源黑体 CN Light"/>
                <a:cs typeface="思源黑体 CN Light"/>
              </a:rPr>
              <a:t>05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42032"/>
            <a:ext cx="10881360" cy="1371600"/>
          </a:xfrm>
          <a:prstGeom prst="rect">
            <a:avLst/>
          </a:prstGeom>
          <a:solidFill>
            <a:srgbClr val="F7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42032"/>
            <a:ext cx="50292" cy="1371600"/>
          </a:xfrm>
          <a:prstGeom prst="rect">
            <a:avLst/>
          </a:prstGeom>
          <a:solidFill>
            <a:srgbClr val="B44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779776"/>
            <a:ext cx="10332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3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问题：本科翻译专业要不要引入“机器翻译 ＋ 译后编辑（MTPE）”的流程？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工具：6 条李克特陈述（有用性 3 · 易用性 3，6 点）＋ 4 道开放题；借技术接受模型（TAM）；与两门课成绩做相关。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22452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它也报了数字：N = 127 ｜ α = .714 / .835 ｜ 均值 4.02–4.55（都高于中点）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718304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4451F"/>
                </a:solidFill>
                <a:latin typeface="思源黑体 CN Light"/>
                <a:ea typeface="思源黑体 CN Light"/>
                <a:cs typeface="思源黑体 CN Light"/>
              </a:rPr>
              <a:t>先说清楚：这不是造假，数据是真的、统计也报了 —— 只是撑不起被要求撑的结论。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170432"/>
            <a:ext cx="91440" cy="475488"/>
          </a:xfrm>
          <a:prstGeom prst="rect">
            <a:avLst/>
          </a:prstGeom>
          <a:solidFill>
            <a:srgbClr val="B44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1078992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1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NEGATIVE CASE · WHERE IT BREAKS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1316736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D2D89"/>
                </a:solidFill>
                <a:latin typeface="思源黑体 CN Light"/>
                <a:ea typeface="思源黑体 CN Light"/>
                <a:cs typeface="思源黑体 CN Light"/>
              </a:rPr>
              <a:t>六步都做了，每步只半句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88366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左：论文写了什么 ｜ 右：缺掉的那一环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A5ACBA"/>
                </a:solidFill>
                <a:latin typeface="思源黑体 CN Light"/>
                <a:ea typeface="思源黑体 CN Light"/>
                <a:cs typeface="思源黑体 CN Light"/>
              </a:rPr>
              <a:t>《翻译研究方法》第 1 组 · 问卷调查法正反例 · 2026.10.12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55664"/>
            <a:ext cx="330400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A5ACBA"/>
                </a:solidFill>
                <a:latin typeface="Consolas"/>
                <a:ea typeface="思源黑体 CN Light"/>
                <a:cs typeface="思源黑体 CN Light"/>
              </a:rPr>
              <a:t>06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05456"/>
            <a:ext cx="10881360" cy="329184"/>
          </a:xfrm>
          <a:prstGeom prst="rect">
            <a:avLst/>
          </a:prstGeom>
          <a:solidFill>
            <a:srgbClr val="B44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505456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思源黑体 CN Light"/>
                <a:ea typeface="思源黑体 CN Light"/>
                <a:cs typeface="思源黑体 CN Light"/>
              </a:rPr>
              <a:t>环节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505456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思源黑体 CN Light"/>
                <a:ea typeface="思源黑体 CN Light"/>
                <a:cs typeface="思源黑体 CN Light"/>
              </a:rPr>
              <a:t>论文写了什么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505456"/>
            <a:ext cx="4389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思源黑体 CN Light"/>
                <a:ea typeface="思源黑体 CN Light"/>
                <a:cs typeface="思源黑体 CN Light"/>
              </a:rPr>
              <a:t>缺掉的一环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834640"/>
            <a:ext cx="10881360" cy="402336"/>
          </a:xfrm>
          <a:prstGeom prst="rect">
            <a:avLst/>
          </a:prstGeom>
          <a:solidFill>
            <a:srgbClr val="F7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2834640"/>
            <a:ext cx="20116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① 目的与工具错位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834640"/>
            <a:ext cx="41148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要论证“可行”，只答了态度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834640"/>
            <a:ext cx="43891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可行性需评审或试点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236976"/>
            <a:ext cx="10881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236976"/>
            <a:ext cx="20116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② 借框架不借结构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236976"/>
            <a:ext cx="41148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TAM 两构念，6 条自拟题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236976"/>
            <a:ext cx="43891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结构未经检验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639312"/>
            <a:ext cx="10881360" cy="402336"/>
          </a:xfrm>
          <a:prstGeom prst="rect">
            <a:avLst/>
          </a:prstGeom>
          <a:solidFill>
            <a:srgbClr val="F7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639312"/>
            <a:ext cx="20116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③ 抽样口径模糊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639312"/>
            <a:ext cx="41148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一所高校，便利抽样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3639312"/>
            <a:ext cx="43891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未报发放 / 回收 / 有效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041648"/>
            <a:ext cx="10881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7" y="4041648"/>
            <a:ext cx="20116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④ 施测一次成型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4041648"/>
            <a:ext cx="41148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线上一次填答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4041648"/>
            <a:ext cx="43891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无照应题与偏差控制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443984"/>
            <a:ext cx="10881360" cy="402336"/>
          </a:xfrm>
          <a:prstGeom prst="rect">
            <a:avLst/>
          </a:prstGeom>
          <a:solidFill>
            <a:srgbClr val="F7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7" y="4443984"/>
            <a:ext cx="20116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⑤ 分析层级错位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4443984"/>
            <a:ext cx="41148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单题 × 课程成绩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443984"/>
            <a:ext cx="43891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把题项当构念用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4846320"/>
            <a:ext cx="10881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7" y="4846320"/>
            <a:ext cx="20116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⑥ 写作代替解释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80" y="4846320"/>
            <a:ext cx="41148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均值高于中点 → “可行”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4846320"/>
            <a:ext cx="43891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横断面推不出因果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358384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4451F"/>
                </a:solidFill>
                <a:latin typeface="思源黑体 CN Light"/>
                <a:ea typeface="思源黑体 CN Light"/>
                <a:cs typeface="思源黑体 CN Light"/>
              </a:rPr>
              <a:t>这不是造假：数据是真的，统计也报了 —— 它只是撑不起被要求撑的那个结论。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170432"/>
            <a:ext cx="91440" cy="475488"/>
          </a:xfrm>
          <a:prstGeom prst="rect">
            <a:avLst/>
          </a:prstGeom>
          <a:solidFill>
            <a:srgbClr val="B44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1078992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1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NEGATIVE CASE · 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1316736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D2D89"/>
                </a:solidFill>
                <a:latin typeface="思源黑体 CN Light"/>
                <a:ea typeface="思源黑体 CN Light"/>
                <a:cs typeface="思源黑体 CN Light"/>
              </a:rPr>
              <a:t>三处最容易踩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88366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每处一条“最小改法”，不需要重做研究，当天就能补。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A5ACBA"/>
                </a:solidFill>
                <a:latin typeface="思源黑体 CN Light"/>
                <a:ea typeface="思源黑体 CN Light"/>
                <a:cs typeface="思源黑体 CN Light"/>
              </a:rPr>
              <a:t>《翻译研究方法》第 1 组 · 问卷调查法正反例 · 2026.10.12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55664"/>
            <a:ext cx="330400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A5ACBA"/>
                </a:solidFill>
                <a:latin typeface="Consolas"/>
                <a:ea typeface="思源黑体 CN Light"/>
                <a:cs typeface="思源黑体 CN Light"/>
              </a:rPr>
              <a:t>07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32304"/>
            <a:ext cx="10881360" cy="987552"/>
          </a:xfrm>
          <a:prstGeom prst="rect">
            <a:avLst/>
          </a:prstGeom>
          <a:solidFill>
            <a:srgbClr val="F7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432304"/>
            <a:ext cx="50292" cy="987552"/>
          </a:xfrm>
          <a:prstGeom prst="rect">
            <a:avLst/>
          </a:prstGeom>
          <a:solidFill>
            <a:srgbClr val="B44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560320"/>
            <a:ext cx="102412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2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题项要来自已验证的量表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自拟 3 条不等于“感知有用性”。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改：沿用已验证条目并标出处；补 EFA 或报题总相关。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547872"/>
            <a:ext cx="10881360" cy="987552"/>
          </a:xfrm>
          <a:prstGeom prst="rect">
            <a:avLst/>
          </a:prstGeom>
          <a:solidFill>
            <a:srgbClr val="F7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547872"/>
            <a:ext cx="50292" cy="987552"/>
          </a:xfrm>
          <a:prstGeom prst="rect">
            <a:avLst/>
          </a:prstGeom>
          <a:solidFill>
            <a:srgbClr val="B44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675887"/>
            <a:ext cx="102412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2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别用单题代表构念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Q6 × 成绩 r = .746 → “能力强”？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改：先合成维度均分并报 α，再做相关；只写“关联”。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663440"/>
            <a:ext cx="10881360" cy="987552"/>
          </a:xfrm>
          <a:prstGeom prst="rect">
            <a:avLst/>
          </a:prstGeom>
          <a:solidFill>
            <a:srgbClr val="F7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663440"/>
            <a:ext cx="50292" cy="987552"/>
          </a:xfrm>
          <a:prstGeom prst="rect">
            <a:avLst/>
          </a:prstGeom>
          <a:solidFill>
            <a:srgbClr val="B44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91455"/>
            <a:ext cx="102412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2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结论要收缩到样本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127 人 → “教学可行”？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改：称“该校学生”；报发放 / 回收 / 有效三份数字。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852159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ACBA"/>
                </a:solidFill>
                <a:latin typeface="思源黑体 CN Light"/>
                <a:ea typeface="思源黑体 CN Light"/>
                <a:cs typeface="思源黑体 CN Light"/>
              </a:rPr>
              <a:t>底线：剔卷标准与编码规则要预先写清（此处 18 份被剔除，依据未披露）。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170432"/>
            <a:ext cx="91440" cy="475488"/>
          </a:xfrm>
          <a:prstGeom prst="rect">
            <a:avLst/>
          </a:prstGeom>
          <a:solidFill>
            <a:srgbClr val="2D2D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1078992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1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1316736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D2D89"/>
                </a:solidFill>
                <a:latin typeface="思源黑体 CN Light"/>
                <a:ea typeface="思源黑体 CN Light"/>
                <a:cs typeface="思源黑体 CN Light"/>
              </a:rPr>
              <a:t>两案并排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88366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两篇问的其实是同一件事：这份问卷，凭什么得出这个结论？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A5ACBA"/>
                </a:solidFill>
                <a:latin typeface="思源黑体 CN Light"/>
                <a:ea typeface="思源黑体 CN Light"/>
                <a:cs typeface="思源黑体 CN Light"/>
              </a:rPr>
              <a:t>《翻译研究方法》第 1 组 · 问卷调查法正反例 · 2026.10.12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55664"/>
            <a:ext cx="330400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A5ACBA"/>
                </a:solidFill>
                <a:latin typeface="Consolas"/>
                <a:ea typeface="思源黑体 CN Light"/>
                <a:cs typeface="思源黑体 CN Light"/>
              </a:rPr>
              <a:t>08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42032"/>
            <a:ext cx="2103120" cy="329184"/>
          </a:xfrm>
          <a:prstGeom prst="rect">
            <a:avLst/>
          </a:prstGeom>
          <a:solidFill>
            <a:srgbClr val="2D2D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542032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思源黑体 CN Light"/>
                <a:ea typeface="思源黑体 CN Light"/>
                <a:cs typeface="思源黑体 CN Light"/>
              </a:rPr>
              <a:t>维度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7" y="2542032"/>
            <a:ext cx="4297680" cy="32918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44368" y="2542032"/>
            <a:ext cx="40233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思源黑体 CN Light"/>
                <a:ea typeface="思源黑体 CN Light"/>
                <a:cs typeface="思源黑体 CN Light"/>
              </a:rPr>
              <a:t>口译 · 正例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59168" y="2542032"/>
            <a:ext cx="4480560" cy="329184"/>
          </a:xfrm>
          <a:prstGeom prst="rect">
            <a:avLst/>
          </a:prstGeom>
          <a:solidFill>
            <a:srgbClr val="B44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42048" y="2542032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思源黑体 CN Light"/>
                <a:ea typeface="思源黑体 CN Light"/>
                <a:cs typeface="思源黑体 CN Light"/>
              </a:rPr>
              <a:t>笔译 MTPE · 反例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871215"/>
            <a:ext cx="2103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7" y="2871215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题项哪来的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61487" y="2871215"/>
            <a:ext cx="4297680" cy="420624"/>
          </a:xfrm>
          <a:prstGeom prst="rect">
            <a:avLst/>
          </a:prstGeom>
          <a:solidFill>
            <a:srgbClr val="F3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44368" y="2871215"/>
            <a:ext cx="4023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日志＋访谈＋评审 74→28→21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59168" y="2871215"/>
            <a:ext cx="4480560" cy="420624"/>
          </a:xfrm>
          <a:prstGeom prst="rect">
            <a:avLst/>
          </a:prstGeom>
          <a:solidFill>
            <a:srgbClr val="FB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42048" y="2871215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自拟 6 条，无评审前测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291839"/>
            <a:ext cx="2103120" cy="420624"/>
          </a:xfrm>
          <a:prstGeom prst="rect">
            <a:avLst/>
          </a:prstGeom>
          <a:solidFill>
            <a:srgbClr val="E7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291839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测的是什么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61487" y="3291839"/>
            <a:ext cx="4297680" cy="420624"/>
          </a:xfrm>
          <a:prstGeom prst="rect">
            <a:avLst/>
          </a:prstGeom>
          <a:solidFill>
            <a:srgbClr val="F3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44368" y="3291839"/>
            <a:ext cx="4023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4 维度，EFA 复核吻合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59168" y="3291839"/>
            <a:ext cx="4480560" cy="420624"/>
          </a:xfrm>
          <a:prstGeom prst="rect">
            <a:avLst/>
          </a:prstGeom>
          <a:solidFill>
            <a:srgbClr val="FB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42048" y="3291839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2 构念各 3 题，未检验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3712463"/>
            <a:ext cx="2103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3712463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谁在填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61487" y="3712463"/>
            <a:ext cx="4297680" cy="420624"/>
          </a:xfrm>
          <a:prstGeom prst="rect">
            <a:avLst/>
          </a:prstGeom>
          <a:solidFill>
            <a:srgbClr val="F3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44368" y="3712463"/>
            <a:ext cx="4023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144 人，条件写明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59168" y="3712463"/>
            <a:ext cx="4480560" cy="420624"/>
          </a:xfrm>
          <a:prstGeom prst="rect">
            <a:avLst/>
          </a:prstGeom>
          <a:solidFill>
            <a:srgbClr val="FB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42048" y="3712463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127 人，回收口径未报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4133087"/>
            <a:ext cx="2103120" cy="420624"/>
          </a:xfrm>
          <a:prstGeom prst="rect">
            <a:avLst/>
          </a:prstGeom>
          <a:solidFill>
            <a:srgbClr val="E7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7" y="4133087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信度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61487" y="4133087"/>
            <a:ext cx="4297680" cy="420624"/>
          </a:xfrm>
          <a:prstGeom prst="rect">
            <a:avLst/>
          </a:prstGeom>
          <a:solidFill>
            <a:srgbClr val="F3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44368" y="4133087"/>
            <a:ext cx="4023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α = .901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59168" y="4133087"/>
            <a:ext cx="4480560" cy="420624"/>
          </a:xfrm>
          <a:prstGeom prst="rect">
            <a:avLst/>
          </a:prstGeom>
          <a:solidFill>
            <a:srgbClr val="FB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42048" y="4133087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.714 / .835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553712"/>
            <a:ext cx="2103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7" y="4553712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效度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61487" y="4553712"/>
            <a:ext cx="4297680" cy="420624"/>
          </a:xfrm>
          <a:prstGeom prst="rect">
            <a:avLst/>
          </a:prstGeom>
          <a:solidFill>
            <a:srgbClr val="F3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44368" y="4553712"/>
            <a:ext cx="4023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CVI ＋ EFA ＋ 三项效标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59168" y="4553712"/>
            <a:ext cx="4480560" cy="420624"/>
          </a:xfrm>
          <a:prstGeom prst="rect">
            <a:avLst/>
          </a:prstGeom>
          <a:solidFill>
            <a:srgbClr val="FB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42048" y="4553712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单题 × 课程成绩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4974336"/>
            <a:ext cx="2103120" cy="420624"/>
          </a:xfrm>
          <a:prstGeom prst="rect">
            <a:avLst/>
          </a:prstGeom>
          <a:solidFill>
            <a:srgbClr val="E7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4974336"/>
            <a:ext cx="19202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结论走到哪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61487" y="4974336"/>
            <a:ext cx="4297680" cy="420624"/>
          </a:xfrm>
          <a:prstGeom prst="rect">
            <a:avLst/>
          </a:prstGeom>
          <a:solidFill>
            <a:srgbClr val="F3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944368" y="4974336"/>
            <a:ext cx="4023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可测、能区分训练阶段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168" y="4974336"/>
            <a:ext cx="4480560" cy="420624"/>
          </a:xfrm>
          <a:prstGeom prst="rect">
            <a:avLst/>
          </a:prstGeom>
          <a:solidFill>
            <a:srgbClr val="FB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42048" y="4974336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流程可行、纳入课程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522975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D2D89"/>
                </a:solidFill>
                <a:latin typeface="思源黑体 CN Light"/>
                <a:ea typeface="思源黑体 CN Light"/>
                <a:cs typeface="思源黑体 CN Light"/>
              </a:rPr>
              <a:t>倒过来读，就是你的自检表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5870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题项哪来的？测的还是它吗？谁填的、留下多少？信度在哪一行？结论多走了几步？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170432"/>
            <a:ext cx="91440" cy="475488"/>
          </a:xfrm>
          <a:prstGeom prst="rect">
            <a:avLst/>
          </a:prstGeom>
          <a:solidFill>
            <a:srgbClr val="2D2D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1078992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1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TEN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1316736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D2D89"/>
                </a:solidFill>
                <a:latin typeface="思源黑体 CN Light"/>
                <a:ea typeface="思源黑体 CN Light"/>
                <a:cs typeface="思源黑体 CN Light"/>
              </a:rPr>
              <a:t>交稿前十行清单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88366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勾不上的那一行，就是你论文里最可能被追问的地方。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A5ACBA"/>
                </a:solidFill>
                <a:latin typeface="思源黑体 CN Light"/>
                <a:ea typeface="思源黑体 CN Light"/>
                <a:cs typeface="思源黑体 CN Light"/>
              </a:rPr>
              <a:t>《翻译研究方法》第 1 组 · 问卷调查法正反例 · 2026.10.12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55664"/>
            <a:ext cx="330400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A5ACBA"/>
                </a:solidFill>
                <a:latin typeface="Consolas"/>
                <a:ea typeface="思源黑体 CN Light"/>
                <a:cs typeface="思源黑体 CN Light"/>
              </a:rPr>
              <a:t>09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87168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2D2D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48716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onsolas"/>
                <a:ea typeface="思源黑体 CN Light"/>
                <a:cs typeface="思源黑体 CN Ligh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505456"/>
            <a:ext cx="4983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研究问题：一句可回答的话（描述 / 比较 / 关联）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054096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2D2D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0540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onsolas"/>
                <a:ea typeface="思源黑体 CN Light"/>
                <a:cs typeface="思源黑体 CN Ligh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072384"/>
            <a:ext cx="4983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构念 → 维度 → 题项：一张对齐表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21024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2D2D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6210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onsolas"/>
                <a:ea typeface="思源黑体 CN Light"/>
                <a:cs typeface="思源黑体 CN Ligh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3639312"/>
            <a:ext cx="4983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题项来源：沿用注出处｜改编列改动｜自编说过程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187952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2D2D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8795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onsolas"/>
                <a:ea typeface="思源黑体 CN Light"/>
                <a:cs typeface="思源黑体 CN Light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4206240"/>
            <a:ext cx="4983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总体、抽样框、纳入与排除：各一句话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75488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2D2D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548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onsolas"/>
                <a:ea typeface="思源黑体 CN Light"/>
                <a:cs typeface="思源黑体 CN Light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4773168"/>
            <a:ext cx="4983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发放 / 回收 / 有效：三份数字＋回收率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2487168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0488" y="248716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onsolas"/>
                <a:ea typeface="思源黑体 CN Light"/>
                <a:cs typeface="思源黑体 CN Light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7688" y="2505456"/>
            <a:ext cx="4983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无效判定规则：先定后用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0488" y="3054096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0488" y="30540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onsolas"/>
                <a:ea typeface="思源黑体 CN Light"/>
                <a:cs typeface="思源黑体 CN Light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47688" y="3072384"/>
            <a:ext cx="4983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前测与专家评审：留痕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0488" y="3621024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90488" y="36210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onsolas"/>
                <a:ea typeface="思源黑体 CN Light"/>
                <a:cs typeface="思源黑体 CN Light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47688" y="3639312"/>
            <a:ext cx="4983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信度 α / ω；多维则 EFA / CFA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0488" y="4187952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90488" y="418795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onsolas"/>
                <a:ea typeface="思源黑体 CN Light"/>
                <a:cs typeface="思源黑体 CN Light"/>
              </a:rPr>
              <a:t>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7688" y="4206240"/>
            <a:ext cx="4983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指导语：匿名、用途、自愿退出；敏感题后置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90488" y="475488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90488" y="47548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onsolas"/>
                <a:ea typeface="思源黑体 CN Light"/>
                <a:cs typeface="思源黑体 CN Light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7688" y="4773168"/>
            <a:ext cx="4983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结论分寸：横断面只说关联，不说因果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546811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这十条在正例那篇里都有对应段落 —— 抄它的结构，别抄它的内容。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170432"/>
            <a:ext cx="91440" cy="475488"/>
          </a:xfrm>
          <a:prstGeom prst="rect">
            <a:avLst/>
          </a:prstGeom>
          <a:solidFill>
            <a:srgbClr val="2D2D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1078992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1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DISCUSSION &amp;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1316736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D2D89"/>
                </a:solidFill>
                <a:latin typeface="思源黑体 CN Light"/>
                <a:ea typeface="思源黑体 CN Light"/>
                <a:cs typeface="思源黑体 CN Light"/>
              </a:rPr>
              <a:t>四道思考题 ＋ 资料清单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88366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93"/>
                </a:solidFill>
                <a:latin typeface="思源黑体 CN Light"/>
                <a:ea typeface="思源黑体 CN Light"/>
                <a:cs typeface="思源黑体 CN Light"/>
              </a:rPr>
              <a:t>讨论约 4 分钟；每题本组先自答一句，再点人。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55664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A5ACBA"/>
                </a:solidFill>
                <a:latin typeface="思源黑体 CN Light"/>
                <a:ea typeface="思源黑体 CN Light"/>
                <a:cs typeface="思源黑体 CN Light"/>
              </a:rPr>
              <a:t>《翻译研究方法》第 1 组 · 问卷调查法正反例 · 2026.10.12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55664"/>
            <a:ext cx="330400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A5ACBA"/>
                </a:solidFill>
                <a:latin typeface="Consolas"/>
                <a:ea typeface="思源黑体 CN Light"/>
                <a:cs typeface="思源黑体 CN Light"/>
              </a:rPr>
              <a:t>10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87168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">
                <a:solidFill>
                  <a:srgbClr val="0E7C86"/>
                </a:solidFill>
                <a:latin typeface="Consolas"/>
                <a:ea typeface="思源黑体 CN Light"/>
                <a:cs typeface="思源黑体 CN Light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7" y="248716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取舍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8687" y="248716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30 份问卷的预算，四道检验保哪两道？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834640"/>
            <a:ext cx="6675120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017520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">
                <a:solidFill>
                  <a:srgbClr val="0E7C86"/>
                </a:solidFill>
                <a:latin typeface="Consolas"/>
                <a:ea typeface="思源黑体 CN Light"/>
                <a:cs typeface="思源黑体 CN Light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301752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补一个统计量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18687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“均值高于中点”＝“总体积极”？你补哪个、为什么？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364992"/>
            <a:ext cx="6675120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547872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">
                <a:solidFill>
                  <a:srgbClr val="0E7C86"/>
                </a:solidFill>
                <a:latin typeface="Consolas"/>
                <a:ea typeface="思源黑体 CN Light"/>
                <a:cs typeface="思源黑体 CN Light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5607" y="354787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追问样本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7" y="354787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要推广到 MTI，最少补哪三条信息？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895344"/>
            <a:ext cx="6675120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078224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">
                <a:solidFill>
                  <a:srgbClr val="0E7C86"/>
                </a:solidFill>
                <a:latin typeface="Consolas"/>
                <a:ea typeface="思源黑体 CN Light"/>
                <a:cs typeface="思源黑体 CN Light"/>
              </a:rPr>
              <a:t>Q4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5607" y="407822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反身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18687" y="407822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266"/>
                </a:solidFill>
                <a:latin typeface="思源黑体 CN Light"/>
                <a:ea typeface="思源黑体 CN Light"/>
                <a:cs typeface="思源黑体 CN Light"/>
              </a:rPr>
              <a:t>对照六病，你最怕踩哪一条？最小改法是什么？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425696"/>
            <a:ext cx="6675120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66344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ACBA"/>
                </a:solidFill>
                <a:latin typeface="思源黑体 CN Light"/>
                <a:ea typeface="思源黑体 CN Light"/>
                <a:cs typeface="思源黑体 CN Light"/>
              </a:rPr>
              <a:t>讨论 4 分钟：本组每题先自答一句，再点人。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243230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论文与学习资料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688336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正例全文＋量表附录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2880360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5ACBA"/>
                </a:solidFill>
                <a:latin typeface="Consolas"/>
                <a:ea typeface="思源黑体 CN Light"/>
                <a:cs typeface="思源黑体 CN Light"/>
              </a:rPr>
              <a:t>bcdlab.gdufs.edu.cn/info/1025/2025.htm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145536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反例原文（开放获取）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337560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5ACBA"/>
                </a:solidFill>
                <a:latin typeface="Consolas"/>
                <a:ea typeface="思源黑体 CN Light"/>
                <a:cs typeface="思源黑体 CN Light"/>
              </a:rPr>
              <a:t>onlinelibrary.wiley.com/doi/10.1155/2022/5793054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3602736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同类笔译态度调查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794760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5ACBA"/>
                </a:solidFill>
                <a:latin typeface="Consolas"/>
                <a:ea typeface="思源黑体 CN Light"/>
                <a:cs typeface="思源黑体 CN Light"/>
              </a:rPr>
              <a:t>doi.org/10.18298/ijlet.3242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059935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口译问卷范例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251959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5ACBA"/>
                </a:solidFill>
                <a:latin typeface="Consolas"/>
                <a:ea typeface="思源黑体 CN Light"/>
                <a:cs typeface="思源黑体 CN Light"/>
              </a:rPr>
              <a:t>张威（2013）《中国翻译》(2): 17-25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517136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方法读物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709159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5ACBA"/>
                </a:solidFill>
                <a:latin typeface="Consolas"/>
                <a:ea typeface="思源黑体 CN Light"/>
                <a:cs typeface="思源黑体 CN Light"/>
              </a:rPr>
              <a:t>吴明隆《问卷统计分析实务》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974336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F2438"/>
                </a:solidFill>
                <a:latin typeface="思源黑体 CN Light"/>
                <a:ea typeface="思源黑体 CN Light"/>
                <a:cs typeface="思源黑体 CN Light"/>
              </a:rPr>
              <a:t>检索式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5166359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5ACBA"/>
                </a:solidFill>
                <a:latin typeface="Consolas"/>
                <a:ea typeface="思源黑体 CN Light"/>
                <a:cs typeface="思源黑体 CN Light"/>
              </a:rPr>
              <a:t>CNKI: 翻译 AND（问卷 OR 量表）AND 信效度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5449823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5ACBA"/>
                </a:solidFill>
                <a:latin typeface="思源黑体 CN Light"/>
                <a:ea typeface="思源黑体 CN Light"/>
                <a:cs typeface="思源黑体 CN Light"/>
              </a:rPr>
              <a:t>两条链接都可直接点开核对数字；检索式可复制到知网 / Web of Science。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ISPRING_PRESENTATION_TITLE" val="PowerPoint 演示文稿"/>
  <p:tag name="KSO_WM_DOC_GUID" val="{7646b040-3551-49a0-9609-8286eb574aa4}"/>
</p:tagLst>
</file>

<file path=ppt/theme/theme1.xml><?xml version="1.0" encoding="utf-8"?>
<a:theme xmlns:a="http://schemas.openxmlformats.org/drawingml/2006/main" name="第一PPT，www.1ppt.c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</Words>
  <Application>WPS 演示</Application>
  <PresentationFormat>宽屏</PresentationFormat>
  <Paragraphs>8</Paragraphs>
  <Slides>6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22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29" baseType="lpstr">
      <vt:lpstr>Arial</vt:lpstr>
      <vt:lpstr>宋体</vt:lpstr>
      <vt:lpstr>Wingdings</vt:lpstr>
      <vt:lpstr>Brush Script MT</vt:lpstr>
      <vt:lpstr>华文隶书</vt:lpstr>
      <vt:lpstr>Calibri</vt:lpstr>
      <vt:lpstr>Roboto Light</vt:lpstr>
      <vt:lpstr>思源黑体 CN Light</vt:lpstr>
      <vt:lpstr>黑体</vt:lpstr>
      <vt:lpstr>Impact</vt:lpstr>
      <vt:lpstr>微软雅黑</vt:lpstr>
      <vt:lpstr>Arial</vt:lpstr>
      <vt:lpstr>Roboto condensed</vt:lpstr>
      <vt:lpstr>Segoe Print</vt:lpstr>
      <vt:lpstr>思源黑体 CN Bold</vt:lpstr>
      <vt:lpstr>FontAwesome</vt:lpstr>
      <vt:lpstr>Open Sans</vt:lpstr>
      <vt:lpstr>思源黑体 CN Heavy</vt:lpstr>
      <vt:lpstr>华文细黑</vt:lpstr>
      <vt:lpstr>微软雅黑 Light</vt:lpstr>
      <vt:lpstr>Arial Unicode MS</vt:lpstr>
      <vt:lpstr>Calibri Light</vt:lpstr>
      <vt:lpstr>第一PPT，www.1ppt.com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第一PPT，www.1ppt.com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粒子点线</dc:title>
  <dc:creator>第一PPT</dc:creator>
  <cp:keywords>www.1ppt.com</cp:keywords>
  <dc:description>www.1ppt.com</dc:description>
  <cp:lastModifiedBy>86137</cp:lastModifiedBy>
  <cp:revision>114</cp:revision>
  <dcterms:created xsi:type="dcterms:W3CDTF">2018-09-11T09:25:00Z</dcterms:created>
  <dcterms:modified xsi:type="dcterms:W3CDTF">2025-06-08T03:40:41Z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2052-12.1.0.19770</vt:lpwstr>
  </property>
  <property fmtid="{D5CDD505-2E9C-101B-9397-08002B2CF9AE}" pid="3" name="ICV">
    <vt:lpwstr>BFA146773F4A4283BE0830DBF4813C0B_13</vt:lpwstr>
  </property>
</Properties>
</file>