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9"/>
    <p:sldId id="257" r:id="rId8"/>
    <p:sldId id="258" r:id="rId7"/>
    <p:sldId id="259" r:id="rId6"/>
    <p:sldId id="260" r:id="rId5"/>
    <p:sldId id="261" r:id="rId3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456"/>
    <a:srgbClr val="03A9F0"/>
    <a:srgbClr val="5B9BD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 showGuides="1">
      <p:cViewPr varScale="1">
        <p:scale>
          <a:sx n="51" d="100"/>
          <a:sy n="51" d="100"/>
        </p:scale>
        <p:origin x="77" y="547"/>
      </p:cViewPr>
      <p:guideLst>
        <p:guide orient="horz" pos="213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2520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6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6566E-A135-47C5-B666-D77ED21946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E1E66-0EA3-46B4-8216-B1B8BE711F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0BAA7-22A5-49C2-BA97-E6B0C9CFDA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2276872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矩形 8"/>
          <p:cNvSpPr/>
          <p:nvPr userDrawn="1"/>
        </p:nvSpPr>
        <p:spPr>
          <a:xfrm>
            <a:off x="8975543" y="2276871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7596491" y="2468893"/>
            <a:ext cx="576064" cy="577112"/>
            <a:chOff x="6084168" y="1274820"/>
            <a:chExt cx="432048" cy="432834"/>
          </a:xfrm>
        </p:grpSpPr>
        <p:sp>
          <p:nvSpPr>
            <p:cNvPr id="11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5868299" y="2469417"/>
            <a:ext cx="576064" cy="576064"/>
            <a:chOff x="4788024" y="1275213"/>
            <a:chExt cx="432048" cy="432048"/>
          </a:xfrm>
        </p:grpSpPr>
        <p:sp>
          <p:nvSpPr>
            <p:cNvPr id="14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5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6732395" y="2468893"/>
            <a:ext cx="577111" cy="577112"/>
            <a:chOff x="5436096" y="1274820"/>
            <a:chExt cx="432833" cy="432834"/>
          </a:xfrm>
        </p:grpSpPr>
        <p:sp>
          <p:nvSpPr>
            <p:cNvPr id="17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4140107" y="2468893"/>
            <a:ext cx="577111" cy="577112"/>
            <a:chOff x="3491880" y="1274820"/>
            <a:chExt cx="432833" cy="432834"/>
          </a:xfrm>
        </p:grpSpPr>
        <p:sp>
          <p:nvSpPr>
            <p:cNvPr id="20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1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5004203" y="2468893"/>
            <a:ext cx="577111" cy="577112"/>
            <a:chOff x="4139952" y="1274820"/>
            <a:chExt cx="432833" cy="432834"/>
          </a:xfrm>
        </p:grpSpPr>
        <p:sp>
          <p:nvSpPr>
            <p:cNvPr id="23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4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sp>
        <p:nvSpPr>
          <p:cNvPr id="25" name="文本框 2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8725278" y="645017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3A9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828800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5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《翻译研究方法》第 1 组 · 方法 A 案例部分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1945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问卷调查法在翻译研究中的应用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017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正例与反例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88620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Questionnaire Survey in Translation Studies: A Positive and a Negative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4526280"/>
            <a:ext cx="4206240" cy="274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47548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正例（口译）｜ 周金华、董燕萍 2019 · 口译笔记熟练度量表的开发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反例（笔译）｜ Yang &amp; Mustafa 2022 · On Postediting of Machine Translation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669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汇报人：＿＿ ｜ 2026.10.12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00584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645920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19456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7C86"/>
                </a:solidFill>
                <a:latin typeface="Consolas"/>
                <a:ea typeface="思源黑体 CN Light"/>
                <a:cs typeface="思源黑体 CN Ligh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7" y="2212848"/>
            <a:ext cx="7772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问卷法：定位与判断标准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29967" y="263347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Survey in Translation Studies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907791"/>
            <a:ext cx="10881360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980944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7C86"/>
                </a:solidFill>
                <a:latin typeface="Consolas"/>
                <a:ea typeface="思源黑体 CN Light"/>
                <a:cs typeface="思源黑体 CN Ligh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9967" y="2999232"/>
            <a:ext cx="7772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正例：口译笔记熟练度量表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7" y="3419856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周金华、董燕萍 2019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694176"/>
            <a:ext cx="10881360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76732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7C86"/>
                </a:solidFill>
                <a:latin typeface="Consolas"/>
                <a:ea typeface="思源黑体 CN Light"/>
                <a:cs typeface="思源黑体 CN Ligh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7" y="3785615"/>
            <a:ext cx="7772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反例：MTPE 态度问卷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9967" y="4206240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Yang &amp; Mustafa 2022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480560"/>
            <a:ext cx="10881360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553712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7C86"/>
                </a:solidFill>
                <a:latin typeface="Consolas"/>
                <a:ea typeface="思源黑体 CN Light"/>
                <a:cs typeface="思源黑体 CN Light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9967" y="4572000"/>
            <a:ext cx="7772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对照：方法学上的差距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7" y="4992624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Side-by-side comparison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5266944"/>
            <a:ext cx="10881360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340096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7C86"/>
                </a:solidFill>
                <a:latin typeface="Consolas"/>
                <a:ea typeface="思源黑体 CN Light"/>
                <a:cs typeface="思源黑体 CN Light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9967" y="5358384"/>
            <a:ext cx="7772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启示：设计与施测的规范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5779008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Guidelines for questionnaire design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053328"/>
            <a:ext cx="10881360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463040"/>
            <a:ext cx="3840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 i="0">
                <a:solidFill>
                  <a:srgbClr val="2D2D89"/>
                </a:solidFill>
                <a:latin typeface="Consolas"/>
                <a:ea typeface="思源黑体 CN Light"/>
                <a:cs typeface="思源黑体 CN Light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4864607" y="1691640"/>
            <a:ext cx="54864" cy="1920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30368" y="1783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问卷法：定位与判断标准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0368" y="27889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Questionnaire Survey in Translation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问卷法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03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82296" cy="4206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5120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问卷法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7863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什么是问卷调查法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定义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214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以标准化问卷为工具，系统收集翻译相关数据的定量研究方法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5786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适用场景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962656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读者反应 · 译者行为 · 教学评估 · 行业现状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419856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优势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80390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大规模、标准化、便于定量分析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26110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局限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64515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回收率难保证，缺乏深度定性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问卷法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04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82296" cy="4206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5120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问卷法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7863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判断标准：一条证据链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① 研究问题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214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要回答什么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5786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② 构念与题项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962656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如何把问题变成可答的题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419856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③ 抽样与施测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80390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向谁发、怎么收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26110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④ 统计与结论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64515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证据能撑到哪一步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问卷法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05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463040"/>
            <a:ext cx="3840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 i="0">
                <a:solidFill>
                  <a:srgbClr val="2D2D89"/>
                </a:solidFill>
                <a:latin typeface="Consolas"/>
                <a:ea typeface="思源黑体 CN Light"/>
                <a:cs typeface="思源黑体 CN Light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4864607" y="1691640"/>
            <a:ext cx="54864" cy="1920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30368" y="1783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正例：口译笔记熟练度量表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0368" y="27889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Zhou &amp; Dong 2019, Foreign Language Teaching and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正例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06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82296" cy="4206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5120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正例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7863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研究问题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文献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21408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周金华、董燕萍（2019）《外语教学与研究》51(6): 925-937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578608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962656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口译笔记熟练度「看不见、摸不着」，能否用自评量表测量？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419856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做法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803904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给它一个可操作的定义，再编一份可被复核的自评量表</a:t>
            </a:r>
          </a:p>
        </p:txBody>
      </p:sp>
      <p:pic>
        <p:nvPicPr>
          <p:cNvPr id="11" name="Picture 10" descr="zheng_p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783080"/>
            <a:ext cx="2817981" cy="41605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424928" y="1755648"/>
            <a:ext cx="2872845" cy="4215383"/>
          </a:xfrm>
          <a:prstGeom prst="rect">
            <a:avLst/>
          </a:prstGeom>
          <a:noFill/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6016752"/>
            <a:ext cx="281798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论文首页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正例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07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82296" cy="4206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5120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正例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7863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第一步：界定构念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两阶段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21408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笔记记录（note writing）· 笔记理解（note reading）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578608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四维度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962656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听记协调 · 记录系统性 · 时效性 · 笔记使用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419856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原则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803904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先有操作定义，再写题项</a:t>
            </a:r>
          </a:p>
        </p:txBody>
      </p:sp>
      <p:pic>
        <p:nvPicPr>
          <p:cNvPr id="11" name="Picture 10" descr="zheng_p06_item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783080"/>
            <a:ext cx="2817981" cy="41605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424928" y="1755648"/>
            <a:ext cx="2872845" cy="4215383"/>
          </a:xfrm>
          <a:prstGeom prst="rect">
            <a:avLst/>
          </a:prstGeom>
          <a:noFill/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6016752"/>
            <a:ext cx="281798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表1 量表维度与题项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正例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08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82296" cy="4206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5120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正例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7863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第二步：生成题库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214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学员学习日志 + 译员访谈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5786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规模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962656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初始题库 74 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419856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语言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80390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题干尽量使用译员自己的表达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正例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09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82296" cy="4206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5120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正例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7863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第三步：专家评审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专家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214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5 名学员译员 + 3 名教师译员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5786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轮次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962656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三轮讨论，历时半年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419856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80390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收到 28 题，李克特 6 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正例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82296" cy="4206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5120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正例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7863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第四步：试测与删题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试测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21408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54 名学生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578608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962656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极端组比较 + 同质性检验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419856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803904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删 7 题，留 21 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261104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645152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改名「自我描述量表」，压低社会赞许性</a:t>
            </a:r>
          </a:p>
        </p:txBody>
      </p:sp>
      <p:pic>
        <p:nvPicPr>
          <p:cNvPr id="13" name="Picture 12" descr="zheng_p07_item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783080"/>
            <a:ext cx="2817981" cy="41605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424928" y="1755648"/>
            <a:ext cx="2872845" cy="4215383"/>
          </a:xfrm>
          <a:prstGeom prst="rect">
            <a:avLst/>
          </a:prstGeom>
          <a:noFill/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6016752"/>
            <a:ext cx="281798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表2 题项分析结果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正例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82296" cy="4206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5120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正例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7863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第五步：正式施测与信度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被试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21408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144 名有近一学年笔记交传训练的本科生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578608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信度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962656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Cronbach's α = .901</a:t>
            </a:r>
          </a:p>
        </p:txBody>
      </p:sp>
      <p:pic>
        <p:nvPicPr>
          <p:cNvPr id="9" name="Picture 8" descr="zheng_p08_rel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783080"/>
            <a:ext cx="2817981" cy="41605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24928" y="1755648"/>
            <a:ext cx="2872845" cy="4215383"/>
          </a:xfrm>
          <a:prstGeom prst="rect">
            <a:avLst/>
          </a:prstGeom>
          <a:noFill/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6016752"/>
            <a:ext cx="281798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表3 信度检验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正例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82296" cy="4206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5120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正例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7863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第六步：效度证据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内容效度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21408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CVI = 1.00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578608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结构效度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962656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EFA：4 因子解释 60.49%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419856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效标关联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803904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练习量 .473 · 动机 .539 · 绩效 .556</a:t>
            </a:r>
          </a:p>
        </p:txBody>
      </p:sp>
      <p:pic>
        <p:nvPicPr>
          <p:cNvPr id="11" name="Picture 10" descr="zheng_p09_e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783080"/>
            <a:ext cx="2817981" cy="41605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424928" y="1755648"/>
            <a:ext cx="2872845" cy="4215383"/>
          </a:xfrm>
          <a:prstGeom prst="rect">
            <a:avLst/>
          </a:prstGeom>
          <a:noFill/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6016752"/>
            <a:ext cx="281798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因素分析结果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正例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82296" cy="420624"/>
          </a:xfrm>
          <a:prstGeom prst="rect">
            <a:avLst/>
          </a:prstGeom>
          <a:solidFill>
            <a:srgbClr val="1E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5120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正例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7863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这篇研究交付了什么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1E7A5C"/>
                </a:solidFill>
                <a:latin typeface="思源黑体 CN Light"/>
                <a:ea typeface="思源黑体 CN Light"/>
                <a:cs typeface="思源黑体 CN Light"/>
              </a:rPr>
              <a:t>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214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一份可复用的测量工具，21 题随附录公开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5786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1E7A5C"/>
                </a:solidFill>
                <a:latin typeface="思源黑体 CN Light"/>
                <a:ea typeface="思源黑体 CN Light"/>
                <a:cs typeface="思源黑体 CN Light"/>
              </a:rPr>
              <a:t>证据链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962656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构念 → 题项 → 抽样 → 信效度，每一步留痕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419856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1E7A5C"/>
                </a:solidFill>
                <a:latin typeface="思源黑体 CN Light"/>
                <a:ea typeface="思源黑体 CN Light"/>
                <a:cs typeface="思源黑体 CN Light"/>
              </a:rPr>
              <a:t>分寸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80390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只言「可测、能区分训练阶段」，不下因果结论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正例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463040"/>
            <a:ext cx="3840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 i="0">
                <a:solidFill>
                  <a:srgbClr val="2D2D89"/>
                </a:solidFill>
                <a:latin typeface="Consolas"/>
                <a:ea typeface="思源黑体 CN Light"/>
                <a:cs typeface="思源黑体 CN Light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4864607" y="1691640"/>
            <a:ext cx="54864" cy="1920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30368" y="1783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反例：MTPE 态度问卷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0368" y="27889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Yang &amp; Mustafa 2022, Human Behavior and Emerging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反例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82296" cy="420624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5120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反例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7863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研究问题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文献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21408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Yang &amp; Mustafa (2022), HBET（Wiley 开放获取）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578608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962656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本科翻译专业是否应引入「机器翻译 + 译后编辑（MTPE）」流程？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419856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工具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803904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6 条李克特陈述 + 4 道开放题，借 TAM 框架</a:t>
            </a:r>
          </a:p>
        </p:txBody>
      </p:sp>
      <p:pic>
        <p:nvPicPr>
          <p:cNvPr id="11" name="Picture 10" descr="fan_p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783080"/>
            <a:ext cx="3120390" cy="41605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424928" y="1755648"/>
            <a:ext cx="3175254" cy="4215383"/>
          </a:xfrm>
          <a:prstGeom prst="rect">
            <a:avLst/>
          </a:prstGeom>
          <a:noFill/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6016752"/>
            <a:ext cx="31203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论文首页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反例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82296" cy="420624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5120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反例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7863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工具设计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21408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感知有用性 3 题 · 感知易用性 3 题，6 点量表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578608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开放题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962656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4 道开放题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419856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框架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803904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借用技术接受模型（TAM）</a:t>
            </a:r>
          </a:p>
        </p:txBody>
      </p:sp>
      <p:pic>
        <p:nvPicPr>
          <p:cNvPr id="11" name="Picture 10" descr="fan_p05_questionna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783080"/>
            <a:ext cx="3120390" cy="41605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424928" y="1755648"/>
            <a:ext cx="3175254" cy="4215383"/>
          </a:xfrm>
          <a:prstGeom prst="rect">
            <a:avLst/>
          </a:prstGeom>
          <a:noFill/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6016752"/>
            <a:ext cx="31203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问卷题项原文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反例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82296" cy="420624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5120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反例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7863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抽样与施测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样本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21408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127 名本科生（大三 39 · 大四 88）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578608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962656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便利抽样，西北一所高校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419856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缺口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803904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发放 / 回收 / 有效均未报告</a:t>
            </a:r>
          </a:p>
        </p:txBody>
      </p:sp>
      <p:pic>
        <p:nvPicPr>
          <p:cNvPr id="11" name="Picture 10" descr="fan_p04_particip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783080"/>
            <a:ext cx="3120390" cy="41605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424928" y="1755648"/>
            <a:ext cx="3175254" cy="4215383"/>
          </a:xfrm>
          <a:prstGeom prst="rect">
            <a:avLst/>
          </a:prstGeom>
          <a:noFill/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6016752"/>
            <a:ext cx="31203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被试与变量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反例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82296" cy="420624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5120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反例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7863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数据分析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21408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描述统计 + 单题相关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578608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962656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6 题均值 4.02–4.55（均高于中点）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419856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信度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803904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α = .714 / .835</a:t>
            </a:r>
          </a:p>
        </p:txBody>
      </p:sp>
      <p:pic>
        <p:nvPicPr>
          <p:cNvPr id="11" name="Picture 10" descr="fan_p06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783080"/>
            <a:ext cx="3120390" cy="41605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424928" y="1755648"/>
            <a:ext cx="3175254" cy="4215383"/>
          </a:xfrm>
          <a:prstGeom prst="rect">
            <a:avLst/>
          </a:prstGeom>
          <a:noFill/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6016752"/>
            <a:ext cx="31203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数据分析结果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反例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82296" cy="420624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5120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反例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7863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断点① 构念—题项脱钩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现象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21408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借 TAM 的框架，没借它的结构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578608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962656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6 条自拟题，无内容评审、无前测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419856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后果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803904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三题是否真落在两个构念上，未检验</a:t>
            </a:r>
          </a:p>
        </p:txBody>
      </p:sp>
      <p:pic>
        <p:nvPicPr>
          <p:cNvPr id="11" name="Picture 10" descr="fan_p05_questionna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783080"/>
            <a:ext cx="3120390" cy="41605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424928" y="1755648"/>
            <a:ext cx="3175254" cy="4215383"/>
          </a:xfrm>
          <a:prstGeom prst="rect">
            <a:avLst/>
          </a:prstGeom>
          <a:noFill/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6016752"/>
            <a:ext cx="31203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6 条自拟题原文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反例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82296" cy="420624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5120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反例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7863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断点② 抽样口径模糊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现象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21408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便利抽样，未报发放与回收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578608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后果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962656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应答率、自选择偏差无从判断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419856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后果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803904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施测一次成型，无照应题与注意力检查</a:t>
            </a:r>
          </a:p>
        </p:txBody>
      </p:sp>
      <p:pic>
        <p:nvPicPr>
          <p:cNvPr id="11" name="Picture 10" descr="fan_p04_particip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783080"/>
            <a:ext cx="3120390" cy="41605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424928" y="1755648"/>
            <a:ext cx="3175254" cy="4215383"/>
          </a:xfrm>
          <a:prstGeom prst="rect">
            <a:avLst/>
          </a:prstGeom>
          <a:noFill/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6016752"/>
            <a:ext cx="31203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被试说明（仅 127 人）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反例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82296" cy="420624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5120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反例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7863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断点③④ 分析层级错位 · 结论超出数据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单题当构念用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214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拿单题与课程成绩做相关，均值高于中点即称「积极」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5786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横断面推因果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962656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从一次性自陈，一步走到「应纳入课程」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反例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82296" cy="420624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5120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反例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7863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这篇研究的问题在哪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不是造假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214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数据是真的，统计也报了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5786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是证据链断裂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962656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六步都做了，每一步只写半句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419856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核心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80390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结论超出了数据能承担的范围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反例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463040"/>
            <a:ext cx="3840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 i="0">
                <a:solidFill>
                  <a:srgbClr val="2D2D89"/>
                </a:solidFill>
                <a:latin typeface="Consolas"/>
                <a:ea typeface="思源黑体 CN Light"/>
                <a:cs typeface="思源黑体 CN Light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4864607" y="1691640"/>
            <a:ext cx="54864" cy="1920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30368" y="1783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对照：方法学上的差距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0368" y="27889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A side-by-side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对照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82296" cy="420624"/>
          </a:xfrm>
          <a:prstGeom prst="rect">
            <a:avLst/>
          </a:prstGeom>
          <a:solidFill>
            <a:srgbClr val="2D2D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5120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7863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两篇并排（上）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题项从哪来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214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正例：日志＋访谈＋三轮评审，74 → 28 → 21　｜　反例：自拟 6 条，无评审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5786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测的是什么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962656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正例：4 维度构念，EFA 复核　｜　反例：2 构念各 3 题，未检验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419856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谁在填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80390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正例：144 人，条件写明　｜　反例：127 人，回收口径未报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对照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82296" cy="420624"/>
          </a:xfrm>
          <a:prstGeom prst="rect">
            <a:avLst/>
          </a:prstGeom>
          <a:solidFill>
            <a:srgbClr val="2D2D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5120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7863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两篇并排（下）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信度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214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正例：α = .901　｜　反例：.714 / .835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5786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效度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962656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正例：CVI ＋ EFA ＋ 三项效标　｜　反例：单题 × 课程成绩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419856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80390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正例：可测、能区分阶段　｜　反例：流程可行、应纳入课程（超出数据）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对照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463040"/>
            <a:ext cx="3840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 i="0">
                <a:solidFill>
                  <a:srgbClr val="2D2D89"/>
                </a:solidFill>
                <a:latin typeface="Consolas"/>
                <a:ea typeface="思源黑体 CN Light"/>
                <a:cs typeface="思源黑体 CN Light"/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4864607" y="1691640"/>
            <a:ext cx="54864" cy="1920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30368" y="1783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启示：设计与施测的规范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0368" y="27889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Guidelines for questionnaire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启示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82296" cy="420624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5120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启示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7863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交稿前的十行自检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3736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2D2D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3736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76479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研究问题写成一句可回答的话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23744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2D2D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52374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551175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构念 → 维度 → 题项：一张对齐表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310128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2D2D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31012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337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题项来源写清（沿用 / 改编 / 自编）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96512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2D2D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09651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412394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总体、抽样框、纳入排除各一句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882896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2D2D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88289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9103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发放 / 回收 / 有效三份数字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173736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173736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7688" y="176479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无效判定规则先定后用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2523744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0488" y="252374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7688" y="2551175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前测与专家评审留痕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310128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0488" y="331012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7688" y="3337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信度 α / ω；多维补 EFA / CFA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0488" y="4096512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0488" y="409651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7688" y="412394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指导语含匿名、用途、自愿退出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0488" y="4882896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0488" y="488289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7688" y="49103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结论只说关联，不说因果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7607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这十条在正例里都有对应段落 —— 抄它的结构，别抄它的内容。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启示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82296" cy="420624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5120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启示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7863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反例的最小改法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C08A3E"/>
                </a:solidFill>
                <a:latin typeface="思源黑体 CN Light"/>
                <a:ea typeface="思源黑体 CN Light"/>
                <a:cs typeface="思源黑体 CN Light"/>
              </a:rPr>
              <a:t>题项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214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改用已验证量表条目并标出处；自编则补 EFA 或报题总相关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5786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C08A3E"/>
                </a:solidFill>
                <a:latin typeface="思源黑体 CN Light"/>
                <a:ea typeface="思源黑体 CN Light"/>
                <a:cs typeface="思源黑体 CN Light"/>
              </a:rPr>
              <a:t>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962656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先按维度合成均分、报 α，再做相关；只写「关联」不写「影响」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419856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C08A3E"/>
                </a:solidFill>
                <a:latin typeface="思源黑体 CN Light"/>
                <a:ea typeface="思源黑体 CN Light"/>
                <a:cs typeface="思源黑体 CN Light"/>
              </a:rPr>
              <a:t>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80390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收缩到「该校学生」，并报发放 / 回收 / 有效三份数字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启示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011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谢谢观看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017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3657600"/>
            <a:ext cx="4206240" cy="274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862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周金华、董燕萍（2019）. 口译笔记熟练度量表的开发. 外语教学与研究 51(6): 925-937.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Yang, Z. &amp; Mustafa, H. R. (2022). On postediting of machine translation and workflow. HBET, 5793054.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120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汇报人：＿＿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PRING_PRESENTATION_TITLE" val="PowerPoint 演示文稿"/>
  <p:tag name="KSO_WM_DOC_GUID" val="{7646b040-3551-49a0-9609-8286eb574aa4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WPS 演示</Application>
  <PresentationFormat>宽屏</PresentationFormat>
  <Paragraphs>8</Paragraphs>
  <Slides>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9" baseType="lpstr">
      <vt:lpstr>Arial</vt:lpstr>
      <vt:lpstr>宋体</vt:lpstr>
      <vt:lpstr>Wingdings</vt:lpstr>
      <vt:lpstr>Brush Script MT</vt:lpstr>
      <vt:lpstr>华文隶书</vt:lpstr>
      <vt:lpstr>Calibri</vt:lpstr>
      <vt:lpstr>Roboto Light</vt:lpstr>
      <vt:lpstr>思源黑体 CN Light</vt:lpstr>
      <vt:lpstr>黑体</vt:lpstr>
      <vt:lpstr>Impact</vt:lpstr>
      <vt:lpstr>微软雅黑</vt:lpstr>
      <vt:lpstr>Arial</vt:lpstr>
      <vt:lpstr>Roboto condensed</vt:lpstr>
      <vt:lpstr>Segoe Print</vt:lpstr>
      <vt:lpstr>思源黑体 CN Bold</vt:lpstr>
      <vt:lpstr>FontAwesome</vt:lpstr>
      <vt:lpstr>Open Sans</vt:lpstr>
      <vt:lpstr>思源黑体 CN Heavy</vt:lpstr>
      <vt:lpstr>华文细黑</vt:lpstr>
      <vt:lpstr>微软雅黑 Light</vt:lpstr>
      <vt:lpstr>Arial Unicode MS</vt:lpstr>
      <vt:lpstr>Calibri Light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粒子点线</dc:title>
  <dc:creator>第一PPT</dc:creator>
  <cp:keywords>www.1ppt.com</cp:keywords>
  <dc:description>www.1ppt.com</dc:description>
  <cp:lastModifiedBy>86137</cp:lastModifiedBy>
  <cp:revision>114</cp:revision>
  <dcterms:created xsi:type="dcterms:W3CDTF">2018-09-11T09:25:00Z</dcterms:created>
  <dcterms:modified xsi:type="dcterms:W3CDTF">2025-06-08T03:40:41Z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BFA146773F4A4283BE0830DBF4813C0B_13</vt:lpwstr>
  </property>
</Properties>
</file>