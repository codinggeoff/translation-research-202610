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82880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5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《翻译研究方法》第 1 组 · 方法 A 案例部分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94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问卷调查法在翻译研究中的应用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17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正例与反例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Studies: A Positive and a Negative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526280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7548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正例（口译）｜ 周金华、董燕萍 2019 · 口译笔记熟练度量表的开发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反例（笔译）｜ Yang &amp; Mustafa 2022 · On Postediting of Machine Translation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 ｜ 2026.10.12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0058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7" y="2212848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263347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Survey in Translation Studies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907791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809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999232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7" y="3419856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周金华、董燕萍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94176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76732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3785615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7" y="4206240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480560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53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4572000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7" y="4992624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Side-by-side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266944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34009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E7C86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7" y="5358384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7" y="5779008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053328"/>
            <a:ext cx="10881360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问卷法：定位与判断标准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Questionnaire Survey in Translation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什么是问卷调查法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以标准化问卷为工具，系统收集翻译相关数据的定量研究方法。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读者对译文的反应与评价、译者行为与策略、翻译教学效果、翻译行业现状。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样本量大、操作标准化、结果便于定量统计。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11421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913757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回收率难保证，缺乏深入定性，结论受问卷质量影响大。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判断标准：一条证据链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想回答什么，先写成一句可检验的话。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构念与题项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把抽象概念拆成可回答的题目。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向谁发放、如何回收、有效多少。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11421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统计与结论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913757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数据能支撑到哪一步，就说到哪一步。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问卷法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正例：口译笔记熟练度量表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Zhou &amp; Dong 2019, Foreign Language Teaching and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周金华、董燕萍（2019）《外语教学与研究》51(6): 925-937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口译笔记熟练度「看不见、摸不着」，能否用一份自评量表测出来？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先给它一个可操作的定义，再编制一份能被复核的自评量表。</a:t>
            </a:r>
          </a:p>
        </p:txBody>
      </p:sp>
      <p:pic>
        <p:nvPicPr>
          <p:cNvPr id="12" name="Picture 11" descr="zheng_p01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2817981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第一步：明确测量对象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两阶段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笔记记录（note writing）、笔记理解（note reading）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四维度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听记协调性、记录系统性、时效性、笔记使用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先把抽象概念拆成可观察的维度，再落笔写题项。</a:t>
            </a:r>
          </a:p>
        </p:txBody>
      </p:sp>
      <p:pic>
        <p:nvPicPr>
          <p:cNvPr id="12" name="Picture 11" descr="zheng_p06_item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2817981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表1 量表维度与题项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第二步：生成题库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学员学习日志 + 译员访谈（4 名学员、6 名教师）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初始题库 74 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题干尽量采用译员自己的表达，避免学术腔。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第三步：专家评审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专家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 名学员译员 + 3 名教师译员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三轮讨论，历时半年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收到 28 题，李克特 6 点量表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第四步：试测与删题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试测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54 名翻译专业学生参与试测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极端组比较 + 同质性检验（项目分析）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删 7 题，留 21 题，重新随机排序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304538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670298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改名「自我描述量表」，压低社会赞许性</a:t>
            </a:r>
          </a:p>
        </p:txBody>
      </p:sp>
      <p:pic>
        <p:nvPicPr>
          <p:cNvPr id="14" name="Picture 13" descr="zheng_p07_item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2817981" cy="4160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7920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表2 题项分析结果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第五步：正式施测与信度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被试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144 名有近一学年笔记交传训练的本科生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总量表 Cronbach's α = .901，各维度信度也较高</a:t>
            </a:r>
          </a:p>
        </p:txBody>
      </p:sp>
      <p:pic>
        <p:nvPicPr>
          <p:cNvPr id="10" name="Picture 9" descr="zheng_p08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2817981" cy="4160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7920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表3 信度检验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第六步：效度证据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内容效度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I-CVI / S-CVI 均为 1.00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结构效度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EFA 抽出 4 因子，累计解释 60.49%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0E7C86"/>
                </a:solidFill>
                <a:latin typeface="思源黑体 CN Light"/>
                <a:ea typeface="思源黑体 CN Light"/>
                <a:cs typeface="思源黑体 CN Light"/>
              </a:rPr>
              <a:t>效标关联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练习量 .473、动机 .539、绩效 .556（均 p&lt;.01）</a:t>
            </a:r>
          </a:p>
        </p:txBody>
      </p:sp>
      <p:pic>
        <p:nvPicPr>
          <p:cNvPr id="12" name="Picture 11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2817981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2872845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2817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因素分析结果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1E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正例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这篇研究交付了什么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一份可复用的测量工具，21 题随附录公开。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证据链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构念 → 题项 → 抽样 → 信效度，每一步都留下可核查的记录。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1E7A5C"/>
                </a:solidFill>
                <a:latin typeface="思源黑体 CN Light"/>
                <a:ea typeface="思源黑体 CN Light"/>
                <a:cs typeface="思源黑体 CN Light"/>
              </a:rPr>
              <a:t>分寸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只言「可测、能区分训练阶段」，不下因果结论。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正例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反例：MTPE 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Yang &amp; Mustafa 2022, Human Behavior and Emerging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文献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531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Yang &amp; Mustafa (2022)，Human Behavior and Emerging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27603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293363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本科翻译专业是否应引入「机器翻译 + 译后编辑（MTPE）」流程？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3760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03370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条李克特陈述 + 4 道开放题，借 TAM 框架</a:t>
            </a:r>
          </a:p>
        </p:txBody>
      </p:sp>
      <p:pic>
        <p:nvPicPr>
          <p:cNvPr id="12" name="Picture 11" descr="fan_p01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论文首页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工具设计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感知有用性 3 题、感知易用性 3 题，6 点量表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开放题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4 道（如「是否知道 MTPE 已是行业标准」）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借用技术接受模型（TAM），但只借概念、未借量表</a:t>
            </a:r>
          </a:p>
        </p:txBody>
      </p:sp>
      <p:pic>
        <p:nvPicPr>
          <p:cNvPr id="12" name="Picture 11" descr="fan_p05_questionn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问卷题项原文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抽样与施测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127 名本科生（大三 39、大四 88），西北一所高校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便利抽样，未说明抽样框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发放数、回收数、有效数均未报告</a:t>
            </a:r>
          </a:p>
        </p:txBody>
      </p:sp>
      <p:pic>
        <p:nvPicPr>
          <p:cNvPr id="12" name="Picture 11" descr="fan_p04_particip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被试与变量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数据分析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描述统计 + 单题 Pearson 相关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题均值 4.02–4.55，均高于中点 3.5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分维度 α = .714 / .835</a:t>
            </a:r>
          </a:p>
        </p:txBody>
      </p:sp>
      <p:pic>
        <p:nvPicPr>
          <p:cNvPr id="12" name="Picture 11" descr="fan_p06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数据分析结果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断点① 构念—题项脱钩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借了 TAM 的框架，没借它的量表结构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6 条自拟题，无内容评审、无前测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三题是否真落在两个构念上，从未检验</a:t>
            </a:r>
          </a:p>
        </p:txBody>
      </p:sp>
      <p:pic>
        <p:nvPicPr>
          <p:cNvPr id="12" name="Picture 11" descr="fan_p05_questionn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6 条自拟题原文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断点② 抽样口径模糊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79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便利抽样，发放 / 回收 / 有效均未报告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84525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后果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0285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应答率、自选择偏差无从判断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94531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35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施测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60292"/>
            <a:ext cx="5806440" cy="288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线上一次填答，无照应题、无注意力检查</a:t>
            </a:r>
          </a:p>
        </p:txBody>
      </p:sp>
      <p:pic>
        <p:nvPicPr>
          <p:cNvPr id="12" name="Picture 11" descr="fan_p04_particip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3120390" cy="41605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79208" y="1755648"/>
            <a:ext cx="3175254" cy="4215383"/>
          </a:xfrm>
          <a:prstGeom prst="rect">
            <a:avLst/>
          </a:prstGeom>
          <a:noFill/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6016752"/>
            <a:ext cx="31203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被试说明（仅 127 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断点③④ 分析层级错位 · 结论超出数据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单题当构念用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拿单题与课程成绩做相关，均值高于中点即称「积极」。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横断面推因果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从一次性自陈，直接推出「应纳入课程」。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反例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这篇研究的问题在哪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不是造假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数据是真的，统计也报了。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是证据链断裂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六步都做了，但每一步只写了半句。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B4451F"/>
                </a:solidFill>
                <a:latin typeface="思源黑体 CN Light"/>
                <a:ea typeface="思源黑体 CN Light"/>
                <a:cs typeface="思源黑体 CN Light"/>
              </a:rPr>
              <a:t>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结论超出了数据能承担的范围。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反例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对照：方法学上的差距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A side-by-side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两篇并排（上）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题项从哪来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正例：日志＋访谈＋三轮评审，74 → 28 → 21　｜　反例：自拟 6 条，无评审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测的是什么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正例：4 维度构念，EFA 复核　｜　反例：2 构念各 3 题，未检验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谁在填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正例：144 人，纳入条件写明　｜　反例：127 人，回收口径未报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两篇并排（下）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信度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正例：α = .901　｜　反例：.714 / .835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效度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正例：CVI ＋ EFA ＋ 三项效标　｜　反例：单题 × 课程成绩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正例：可测、能区分阶段　｜　反例：可行、应纳入课程（超出数据）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2D2D89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607" y="1691640"/>
            <a:ext cx="54864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0368" y="1783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启示：设计与施测的规范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Guidelines for questionnaire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交稿前的十行自检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90195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研究问题写成一句可回答的话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60903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6090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构念 → 维度 → 题项：一张对齐表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47287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4728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4747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题项来源写清（沿用 / 改编 / 自编）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3367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336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2611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总体、抽样框、纳入排除各一句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2005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2D2D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0200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47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发放 / 回收 / 有效三份数字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874519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187451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190195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无效判定规则先定后用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660903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266090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268833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前测与专家评审留痕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447287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44728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4747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信度 α / ω；多维补 EFA / CFA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4233672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42336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42611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指导语含匿名、用途、自愿退出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5020056"/>
            <a:ext cx="310896" cy="310896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50200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思源黑体 CN Light"/>
                <a:cs typeface="思源黑体 CN Light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5047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结论只说关联，不说因果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这十条在正例里都有对应段落 —— 抄它的结构，别抄它的内容。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024128"/>
            <a:ext cx="82296" cy="42062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6926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4358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反例的最小改法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题项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76856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改用已验证量表条目并标出处；自编则补 EFA 或报题总相关。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3486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55822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先按维度合成均分、报 α，再做相关；只写「关联」不写「影响」。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632453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spc="40">
                <a:solidFill>
                  <a:srgbClr val="C08A3E"/>
                </a:solidFill>
                <a:latin typeface="思源黑体 CN Light"/>
                <a:ea typeface="思源黑体 CN Light"/>
                <a:cs typeface="思源黑体 CN Light"/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34789"/>
            <a:ext cx="10789920" cy="302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266"/>
                </a:solidFill>
                <a:latin typeface="思源黑体 CN Light"/>
                <a:ea typeface="思源黑体 CN Light"/>
                <a:cs typeface="思源黑体 CN Light"/>
              </a:rPr>
              <a:t>收缩到「该校学生」，并报发放 / 回收 / 有效三份数字。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思源黑体 CN Light"/>
                <a:ea typeface="思源黑体 CN Light"/>
                <a:cs typeface="思源黑体 CN Light"/>
              </a:rPr>
              <a:t>问卷调查法正反例 · 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19088"/>
            <a:ext cx="33040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50">
                <a:solidFill>
                  <a:srgbClr val="A5ACBA"/>
                </a:solidFill>
                <a:latin typeface="Consolas"/>
                <a:ea typeface="思源黑体 CN Light"/>
                <a:cs typeface="思源黑体 CN Light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1429128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011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D2D89"/>
                </a:solidFill>
                <a:latin typeface="思源黑体 CN Light"/>
                <a:ea typeface="思源黑体 CN Light"/>
                <a:cs typeface="思源黑体 CN Light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A8293"/>
                </a:solidFill>
                <a:latin typeface="Arial"/>
                <a:ea typeface="思源黑体 CN Light"/>
                <a:cs typeface="思源黑体 CN Light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657600"/>
            <a:ext cx="4206240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周金华、董燕萍（2019）. 口译笔记熟练度量表的开发. 外语教学与研究 51(6): 925-937.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438"/>
                </a:solidFill>
                <a:latin typeface="思源黑体 CN Light"/>
                <a:ea typeface="思源黑体 CN Light"/>
                <a:cs typeface="思源黑体 CN Light"/>
              </a:rPr>
              <a:t>Yang, Z. &amp; Mustafa, H. R. (2022). On postediting of machine translation and workflow. HBET, 5793054.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293"/>
                </a:solidFill>
                <a:latin typeface="思源黑体 CN Light"/>
                <a:ea typeface="思源黑体 CN Light"/>
                <a:cs typeface="思源黑体 CN Light"/>
              </a:rPr>
              <a:t>汇报人：＿＿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