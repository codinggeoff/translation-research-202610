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3"/>
    <p:sldId id="290" r:id="rId4"/>
    <p:sldId id="291" r:id="rId5"/>
    <p:sldId id="260" r:id="rId6"/>
    <p:sldId id="261" r:id="rId7"/>
    <p:sldId id="292" r:id="rId8"/>
    <p:sldId id="263" r:id="rId9"/>
    <p:sldId id="271" r:id="rId10"/>
    <p:sldId id="293" r:id="rId11"/>
    <p:sldId id="273" r:id="rId12"/>
    <p:sldId id="280" r:id="rId13"/>
    <p:sldId id="294" r:id="rId14"/>
    <p:sldId id="284" r:id="rId15"/>
    <p:sldId id="288" r:id="rId16"/>
  </p:sldIdLst>
  <p:sldSz cx="12192000" cy="6858000"/>
  <p:notesSz cx="6858000" cy="9144000"/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1" userDrawn="1">
          <p15:clr>
            <a:srgbClr val="A4A3A4"/>
          </p15:clr>
        </p15:guide>
        <p15:guide id="2" pos="383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E5456"/>
    <a:srgbClr val="03A9F0"/>
    <a:srgbClr val="5B9BD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5" autoAdjust="0"/>
    <p:restoredTop sz="94660"/>
  </p:normalViewPr>
  <p:slideViewPr>
    <p:cSldViewPr snapToGrid="0" showGuides="1">
      <p:cViewPr varScale="1">
        <p:scale>
          <a:sx n="51" d="100"/>
          <a:sy n="51" d="100"/>
        </p:scale>
        <p:origin x="77" y="547"/>
      </p:cViewPr>
      <p:guideLst>
        <p:guide orient="horz" pos="2131"/>
        <p:guide pos="383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notesViewPr>
    <p:cSldViewPr snapToGrid="0">
      <p:cViewPr varScale="1">
        <p:scale>
          <a:sx n="70" d="100"/>
          <a:sy n="70" d="100"/>
        </p:scale>
        <p:origin x="25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gs" Target="tags/tag9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handoutMaster" Target="handoutMasters/handoutMaster1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96566E-A135-47C5-B666-D77ED219465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0E1E66-0EA3-46B4-8216-B1B8BE711FF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00BAA7-22A5-49C2-BA97-E6B0C9CFDA3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D9F56C-685E-485A-BF04-BF7465453AF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  <p:sp>
        <p:nvSpPr>
          <p:cNvPr id="2" name="文本框 1"/>
          <p:cNvSpPr txBox="1"/>
          <p:nvPr userDrawn="1"/>
        </p:nvSpPr>
        <p:spPr>
          <a:xfrm>
            <a:off x="1" y="6004875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Brush Script MT" panose="03060802040406070304" pitchFamily="66" charset="0"/>
                <a:ea typeface="华文隶书" panose="02010800040101010101" pitchFamily="2" charset="-122"/>
              </a:rPr>
              <a:t>In Pursuit of Excellence in Interpreting and Translation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Brush Script MT" panose="03060802040406070304" pitchFamily="66" charset="0"/>
              <a:ea typeface="华文隶书" panose="02010800040101010101" pitchFamily="2" charset="-122"/>
            </a:endParaRPr>
          </a:p>
          <a:p>
            <a:pPr algn="ctr"/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译无止境，臻于至善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  <p:sp>
        <p:nvSpPr>
          <p:cNvPr id="5" name="文本框 4"/>
          <p:cNvSpPr txBox="1"/>
          <p:nvPr userDrawn="1"/>
        </p:nvSpPr>
        <p:spPr>
          <a:xfrm>
            <a:off x="1" y="6004875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Brush Script MT" panose="03060802040406070304" pitchFamily="66" charset="0"/>
                <a:ea typeface="华文隶书" panose="02010800040101010101" pitchFamily="2" charset="-122"/>
              </a:rPr>
              <a:t>In Pursuit of Excellence in Interpreting and Translation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Brush Script MT" panose="03060802040406070304" pitchFamily="66" charset="0"/>
              <a:ea typeface="华文隶书" panose="02010800040101010101" pitchFamily="2" charset="-122"/>
            </a:endParaRPr>
          </a:p>
          <a:p>
            <a:pPr algn="ctr"/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译无止境，臻于至善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0" y="2276872"/>
            <a:ext cx="3264363" cy="26882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9" name="矩形 8"/>
          <p:cNvSpPr/>
          <p:nvPr userDrawn="1"/>
        </p:nvSpPr>
        <p:spPr>
          <a:xfrm>
            <a:off x="8975543" y="2276871"/>
            <a:ext cx="3264363" cy="26882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grpSp>
        <p:nvGrpSpPr>
          <p:cNvPr id="10" name="组合 9"/>
          <p:cNvGrpSpPr/>
          <p:nvPr userDrawn="1"/>
        </p:nvGrpSpPr>
        <p:grpSpPr>
          <a:xfrm>
            <a:off x="7596491" y="2468893"/>
            <a:ext cx="576064" cy="577112"/>
            <a:chOff x="6084168" y="1274820"/>
            <a:chExt cx="432048" cy="432834"/>
          </a:xfrm>
        </p:grpSpPr>
        <p:sp>
          <p:nvSpPr>
            <p:cNvPr id="11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2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grpSp>
        <p:nvGrpSpPr>
          <p:cNvPr id="13" name="组合 12"/>
          <p:cNvGrpSpPr/>
          <p:nvPr userDrawn="1"/>
        </p:nvGrpSpPr>
        <p:grpSpPr>
          <a:xfrm>
            <a:off x="5868299" y="2469417"/>
            <a:ext cx="576064" cy="576064"/>
            <a:chOff x="4788024" y="1275213"/>
            <a:chExt cx="432048" cy="432048"/>
          </a:xfrm>
        </p:grpSpPr>
        <p:sp>
          <p:nvSpPr>
            <p:cNvPr id="14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5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>
            <a:off x="6732395" y="2468893"/>
            <a:ext cx="577111" cy="577112"/>
            <a:chOff x="5436096" y="1274820"/>
            <a:chExt cx="432833" cy="432834"/>
          </a:xfrm>
        </p:grpSpPr>
        <p:sp>
          <p:nvSpPr>
            <p:cNvPr id="17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8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grpSp>
        <p:nvGrpSpPr>
          <p:cNvPr id="19" name="组合 18"/>
          <p:cNvGrpSpPr/>
          <p:nvPr userDrawn="1"/>
        </p:nvGrpSpPr>
        <p:grpSpPr>
          <a:xfrm>
            <a:off x="4140107" y="2468893"/>
            <a:ext cx="577111" cy="577112"/>
            <a:chOff x="3491880" y="1274820"/>
            <a:chExt cx="432833" cy="432834"/>
          </a:xfrm>
        </p:grpSpPr>
        <p:sp>
          <p:nvSpPr>
            <p:cNvPr id="20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1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grpSp>
        <p:nvGrpSpPr>
          <p:cNvPr id="22" name="组合 21"/>
          <p:cNvGrpSpPr/>
          <p:nvPr userDrawn="1"/>
        </p:nvGrpSpPr>
        <p:grpSpPr>
          <a:xfrm>
            <a:off x="5004203" y="2468893"/>
            <a:ext cx="577111" cy="577112"/>
            <a:chOff x="4139952" y="1274820"/>
            <a:chExt cx="432833" cy="432834"/>
          </a:xfrm>
        </p:grpSpPr>
        <p:sp>
          <p:nvSpPr>
            <p:cNvPr id="23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4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sp>
        <p:nvSpPr>
          <p:cNvPr id="25" name="文本框 24"/>
          <p:cNvSpPr txBox="1"/>
          <p:nvPr userDrawn="1"/>
        </p:nvSpPr>
        <p:spPr>
          <a:xfrm>
            <a:off x="1" y="6004875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Brush Script MT" panose="03060802040406070304" pitchFamily="66" charset="0"/>
                <a:ea typeface="华文隶书" panose="02010800040101010101" pitchFamily="2" charset="-122"/>
              </a:rPr>
              <a:t>In Pursuit of Excellence in Interpreting and Translation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Brush Script MT" panose="03060802040406070304" pitchFamily="66" charset="0"/>
              <a:ea typeface="华文隶书" panose="02010800040101010101" pitchFamily="2" charset="-122"/>
            </a:endParaRPr>
          </a:p>
          <a:p>
            <a:pPr algn="ctr"/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译无止境，臻于至善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4"/>
            <a:ext cx="3441871" cy="7995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4"/>
            <a:ext cx="3441871" cy="7995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4"/>
            <a:ext cx="3441871" cy="7995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8725278" y="6450175"/>
            <a:ext cx="775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www.1ppt.com/moban/     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行业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www.1ppt.com/hangye/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节日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www.1ppt.com/jieri/   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素材下载：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www.1ppt.com/sucai/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背景图片：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www.1ppt.com/beijing/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图表下载：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www.1ppt.com/tubiao/    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优秀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www.1ppt.com/xiazai/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 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www.1ppt.com/powerpoint/    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Word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 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www.1ppt.com/word/              Excel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www.1ppt.com/excel/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资料下载：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www.1ppt.com/ziliao/        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课件下载：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www.1ppt.com/kejian/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范文下载：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www.1ppt.com/fanwen/             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试卷下载：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www.1ppt.com/shiti/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教案下载：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www.1ppt.com/jiaoan/      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字体下载：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www.1ppt.com/ziti/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endParaRPr kumimoji="0" lang="zh-CN" altLang="en-US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4"/>
            <a:ext cx="3441871" cy="7995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1" y="6004875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Brush Script MT" panose="03060802040406070304" pitchFamily="66" charset="0"/>
                <a:ea typeface="华文隶书" panose="02010800040101010101" pitchFamily="2" charset="-122"/>
              </a:rPr>
              <a:t>In Pursuit of Excellence in Interpreting and Translation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Brush Script MT" panose="03060802040406070304" pitchFamily="66" charset="0"/>
              <a:ea typeface="华文隶书" panose="02010800040101010101" pitchFamily="2" charset="-122"/>
            </a:endParaRPr>
          </a:p>
          <a:p>
            <a:pPr algn="ctr"/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译无止境，臻于至善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3A9F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问卷调查法在翻译研究中的应用</a:t>
            </a:r>
            <a:endParaRPr sz="3600" b="1" i="0">
              <a:solidFill>
                <a:srgbClr val="000000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3302000"/>
            <a:ext cx="10332720" cy="479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Questionnaire Survey in Translation Studies</a:t>
            </a:r>
            <a:endParaRPr sz="24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4846320"/>
            <a:ext cx="103327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汇报人：陈冠臻    学号：20261210050</a:t>
            </a:r>
            <a:endParaRPr sz="14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2026 年 10 月 12 日</a:t>
            </a:r>
            <a:endParaRPr sz="14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" y="1691640"/>
            <a:ext cx="3383280" cy="3383280"/>
          </a:xfrm>
          <a:prstGeom prst="ellipse">
            <a:avLst/>
          </a:prstGeom>
          <a:solidFill>
            <a:srgbClr val="E7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2606040"/>
            <a:ext cx="3383280" cy="1463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E7C86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目录</a:t>
            </a:r>
            <a:endParaRPr sz="2700" b="1" i="0">
              <a:solidFill>
                <a:srgbClr val="0E7C86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CONTENTS</a:t>
            </a:r>
            <a:endParaRPr sz="13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Oval 3"/>
          <p:cNvSpPr/>
          <p:nvPr>
            <p:custDataLst>
              <p:tags r:id="rId1"/>
            </p:custDataLst>
          </p:nvPr>
        </p:nvSpPr>
        <p:spPr>
          <a:xfrm>
            <a:off x="5212080" y="1481328"/>
            <a:ext cx="475488" cy="47548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endParaRPr sz="1500" b="1" i="0">
              <a:solidFill>
                <a:srgbClr val="FFFFFF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TextBox 4"/>
          <p:cNvSpPr txBox="1"/>
          <p:nvPr>
            <p:custDataLst>
              <p:tags r:id="rId2"/>
            </p:custDataLst>
          </p:nvPr>
        </p:nvSpPr>
        <p:spPr>
          <a:xfrm>
            <a:off x="5870448" y="1481328"/>
            <a:ext cx="576072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研究背景与判断标准</a:t>
            </a:r>
            <a:endParaRPr sz="17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Oval 5"/>
          <p:cNvSpPr/>
          <p:nvPr>
            <p:custDataLst>
              <p:tags r:id="rId3"/>
            </p:custDataLst>
          </p:nvPr>
        </p:nvSpPr>
        <p:spPr>
          <a:xfrm>
            <a:off x="5212080" y="2441448"/>
            <a:ext cx="475488" cy="47548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endParaRPr sz="1500" b="1" i="0">
              <a:solidFill>
                <a:srgbClr val="FFFFFF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TextBox 6"/>
          <p:cNvSpPr txBox="1"/>
          <p:nvPr>
            <p:custDataLst>
              <p:tags r:id="rId4"/>
            </p:custDataLst>
          </p:nvPr>
        </p:nvSpPr>
        <p:spPr>
          <a:xfrm>
            <a:off x="5870448" y="2441448"/>
            <a:ext cx="576072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正例：口译笔记熟练度量表的开发</a:t>
            </a:r>
            <a:endParaRPr sz="17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Oval 7"/>
          <p:cNvSpPr/>
          <p:nvPr>
            <p:custDataLst>
              <p:tags r:id="rId5"/>
            </p:custDataLst>
          </p:nvPr>
        </p:nvSpPr>
        <p:spPr>
          <a:xfrm>
            <a:off x="5212080" y="3401568"/>
            <a:ext cx="475488" cy="47548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endParaRPr sz="1500" b="1" i="0">
              <a:solidFill>
                <a:srgbClr val="FFFFFF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TextBox 8"/>
          <p:cNvSpPr txBox="1"/>
          <p:nvPr>
            <p:custDataLst>
              <p:tags r:id="rId6"/>
            </p:custDataLst>
          </p:nvPr>
        </p:nvSpPr>
        <p:spPr>
          <a:xfrm>
            <a:off x="5870448" y="3401568"/>
            <a:ext cx="576072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反例：机器翻译译后编辑（MTPE）态度问卷</a:t>
            </a:r>
            <a:endParaRPr sz="17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Oval 9"/>
          <p:cNvSpPr/>
          <p:nvPr>
            <p:custDataLst>
              <p:tags r:id="rId7"/>
            </p:custDataLst>
          </p:nvPr>
        </p:nvSpPr>
        <p:spPr>
          <a:xfrm>
            <a:off x="5212080" y="4361688"/>
            <a:ext cx="475488" cy="47548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endParaRPr sz="1500" b="1" i="0">
              <a:solidFill>
                <a:srgbClr val="FFFFFF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TextBox 10"/>
          <p:cNvSpPr txBox="1"/>
          <p:nvPr>
            <p:custDataLst>
              <p:tags r:id="rId8"/>
            </p:custDataLst>
          </p:nvPr>
        </p:nvSpPr>
        <p:spPr>
          <a:xfrm>
            <a:off x="5870448" y="4361688"/>
            <a:ext cx="576072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对照与启示</a:t>
            </a:r>
            <a:endParaRPr sz="17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2 / 10</a:t>
            </a:r>
            <a:endParaRPr sz="10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24544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23774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600" b="0" i="0">
                <a:solidFill>
                  <a:srgbClr val="FFFFFF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01</a:t>
            </a:r>
            <a:endParaRPr sz="9600" b="0" i="0">
              <a:solidFill>
                <a:srgbClr val="FFFFFF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566160" y="3063240"/>
            <a:ext cx="53035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研究背景与判断标准</a:t>
            </a:r>
            <a:endParaRPr sz="2800" b="1" i="0">
              <a:solidFill>
                <a:srgbClr val="000000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3 / 32</a:t>
            </a:r>
            <a:endParaRPr sz="10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3886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核心概念</a:t>
            </a:r>
            <a:endParaRPr sz="2300" b="1" i="0">
              <a:solidFill>
                <a:srgbClr val="000000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13284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构念（construct）：</a:t>
            </a:r>
            <a:r>
              <a:rPr lang="zh-CN"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诸如</a:t>
            </a:r>
            <a:r>
              <a:rPr sz="2000" b="1" i="0">
                <a:solidFill>
                  <a:srgbClr val="FF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熟练度</a:t>
            </a:r>
            <a:r>
              <a:rPr lang="zh-CN" sz="2000" b="1" i="0">
                <a:solidFill>
                  <a:srgbClr val="FF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sz="2000" b="1" i="0">
                <a:solidFill>
                  <a:srgbClr val="FF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态度</a:t>
            </a: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这类无法直接观测的抽象概念，问卷为测量它们而设计。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信度（reliability）：指测量结果是否稳定，同一工具重复施测所得是否一致。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效度（validity）：指测量结果是否准确，即工具测到的是不是研究者真正想测的东西。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3 / 10</a:t>
            </a:r>
            <a:endParaRPr sz="10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3886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判断标准</a:t>
            </a:r>
            <a:endParaRPr sz="2300" b="1" i="0">
              <a:solidFill>
                <a:srgbClr val="000000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272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评判一项问卷研究</a:t>
            </a:r>
            <a:r>
              <a:rPr lang="zh-CN"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价值如何</a:t>
            </a: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，大致要看四个环节是否依次落实：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lang="zh-CN"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sz="2000" b="1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研究问题</a:t>
            </a: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，须先写成一句可检验的命题，而非笼统的兴趣范围。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lang="zh-CN"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sz="2000" b="1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构念与题项</a:t>
            </a: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，把抽象概念操作化成受访者能理解、能回答的题目。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lang="zh-CN"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en-US"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sz="2000" b="1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抽样与施测</a:t>
            </a: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，说清调查对象是谁、如何抽取、回收情况如何。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lang="zh-CN"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zh-CN" altLang="en-US"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sz="2000" b="1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数据分析与结论</a:t>
            </a: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，结论不能超出数据本身所能支撑的范围。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4 / 10</a:t>
            </a:r>
            <a:endParaRPr sz="10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24544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23774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600" b="0" i="0">
                <a:solidFill>
                  <a:srgbClr val="FFFFFF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02</a:t>
            </a:r>
            <a:endParaRPr sz="9600" b="0" i="0">
              <a:solidFill>
                <a:srgbClr val="FFFFFF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566160" y="3063240"/>
            <a:ext cx="53035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正例：口译笔记熟练度量表的开发</a:t>
            </a:r>
            <a:endParaRPr sz="2800" b="1" i="0">
              <a:solidFill>
                <a:srgbClr val="000000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6 / 32</a:t>
            </a:r>
            <a:endParaRPr sz="10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3886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正例：</a:t>
            </a:r>
            <a:r>
              <a:rPr lang="zh-CN" sz="23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口译笔记熟练度量表的开发</a:t>
            </a:r>
            <a:endParaRPr sz="2300" b="1" i="0">
              <a:solidFill>
                <a:srgbClr val="000000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3" name="Picture 2" descr="zheng_p01_titl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0" y="1783080"/>
            <a:ext cx="4206240" cy="353858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25512" y="1764792"/>
            <a:ext cx="4242816" cy="3575158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43800" y="5367382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论文首页</a:t>
            </a:r>
            <a:endParaRPr sz="95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6720840" cy="3392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该文发表于《外语教学与研究》51(6)：925-937，关注交替传译中的笔记熟练度。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笔记熟练度既无法凭笔记成品打分，也不宜由他人代评，作者因而追问：它能否通过学习者自评加以测量？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围绕这一问题，作者先界定构念，再编制量表，最后以信度和效度两项指标检验量表质量。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</a:t>
            </a:r>
            <a:r>
              <a:rPr lang="zh-CN"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文章</a:t>
            </a: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的价值在于</a:t>
            </a:r>
            <a:r>
              <a:rPr lang="zh-CN"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每一步操作都留有据可查的依据，而非凭主观判断推进。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5 / 10</a:t>
            </a:r>
            <a:endParaRPr sz="10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3886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小结</a:t>
            </a:r>
            <a:endParaRPr sz="2300" b="1" i="0">
              <a:solidFill>
                <a:srgbClr val="000000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29927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针对</a:t>
            </a:r>
            <a:r>
              <a:rPr sz="2000" b="1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笔记熟练度能否自评</a:t>
            </a: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这一问题，作者最终给出了肯定回答：总量表信度 α=.901，内容效度、结构效度与效标关联效度均通过检验。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从构念界定（学员日志与师生访谈）到题项筛选（74→28→21），再到预试与正式施测（N=144），各环节均有明确交代。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正例之所以成立，不在于数据漂亮，而在于每一步「做了什么、为何这样做、得到什么」都清楚可查。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6 / 10</a:t>
            </a:r>
            <a:endParaRPr sz="10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24544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23774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600" b="0" i="0">
                <a:solidFill>
                  <a:srgbClr val="FFFFFF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03</a:t>
            </a:r>
            <a:endParaRPr sz="9600" b="0" i="0">
              <a:solidFill>
                <a:srgbClr val="FFFFFF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566160" y="3063240"/>
            <a:ext cx="53035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反例：机器翻译译后编辑（MTPE）态度问卷</a:t>
            </a:r>
            <a:endParaRPr sz="2800" b="1" i="0">
              <a:solidFill>
                <a:srgbClr val="000000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16 / 32</a:t>
            </a:r>
            <a:endParaRPr sz="10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反例：Yang &amp; Mustafa (2022)</a:t>
            </a:r>
            <a:endParaRPr sz="2300" b="1" i="0">
              <a:solidFill>
                <a:srgbClr val="000000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3" name="Picture 2" descr="fan_p01_titl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23911" y="3931920"/>
            <a:ext cx="5744146" cy="17373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205623" y="3913632"/>
            <a:ext cx="5780722" cy="1773936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23911" y="5714999"/>
            <a:ext cx="574414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论文首页</a:t>
            </a:r>
            <a:endParaRPr sz="95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689734"/>
            <a:ext cx="10881360" cy="25927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该文以 TAM 模型为框架，考察本科生对机器翻译译后编辑（MTPE）的态度。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研究包含三个问题：学生对 MTPE 的评价倾向、该评价与 CAT 及笔译实务成绩的关系、以及使用中的障碍。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方法上自编 6 道题项与 4 道开放题，施测于 127 名学生，随后做统计与定性分析。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7 / 10</a:t>
            </a:r>
            <a:endParaRPr sz="10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反例：研究设计中的四处疏漏</a:t>
            </a:r>
            <a:endParaRPr sz="2300" b="1" i="0">
              <a:solidFill>
                <a:srgbClr val="000000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332720" y="5943727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8 / 10</a:t>
            </a:r>
            <a:endParaRPr sz="10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40080" y="1874519"/>
            <a:ext cx="10881360" cy="2437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fontAlgn="auto">
              <a:spcAft>
                <a:spcPts val="500"/>
              </a:spcAft>
            </a:pPr>
            <a:r>
              <a:rPr sz="200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该研究虽借用了 TAM 框架，问卷实施的关键环节却留下多处空白。6 道题项均为作者自编，既未说明来源，也未经专家评审或预试，其是否真能代表「有用性」与「易用性」无从判断。</a:t>
            </a:r>
            <a:endParaRPr sz="200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spcAft>
                <a:spcPts val="500"/>
              </a:spcAft>
            </a:pPr>
            <a:r>
              <a:rPr sz="200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抽样部分只报告了人数与年级，抽样方式、发放与回收数量均未交代，样本代表性因而存疑。</a:t>
            </a:r>
            <a:endParaRPr sz="200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spcAft>
                <a:spcPts val="500"/>
              </a:spcAft>
            </a:pPr>
            <a:r>
              <a:rPr sz="200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作者报告了信度（α=.714/.835），却始终未涉及效度——题项或许测得稳定，但并不确定是否测到了想测的东西。</a:t>
            </a:r>
            <a:endParaRPr sz="200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spcAft>
                <a:spcPts val="500"/>
              </a:spcAft>
            </a:pPr>
            <a:r>
              <a:rPr sz="200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更值得商榷的是分析与结论：以单道题目代表整个构念做相关，并从单次横断面调查直接推导出「应将 MTPE 纳入本科教学」的建议，结论显然超出了数据所能支撑的范围。</a:t>
            </a:r>
            <a:endParaRPr sz="200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24544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23774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600" b="0" i="0">
                <a:solidFill>
                  <a:srgbClr val="FFFFFF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04</a:t>
            </a:r>
            <a:endParaRPr sz="9600" b="0" i="0">
              <a:solidFill>
                <a:srgbClr val="FFFFFF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566160" y="3063240"/>
            <a:ext cx="53035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两篇论文的对照</a:t>
            </a:r>
            <a:endParaRPr sz="2800" b="1" i="0">
              <a:solidFill>
                <a:srgbClr val="000000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26 / 32</a:t>
            </a:r>
            <a:endParaRPr sz="10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3886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结论</a:t>
            </a:r>
            <a:endParaRPr sz="2300" b="1" i="0">
              <a:solidFill>
                <a:srgbClr val="000000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信度方面，两篇均有报告，正例 α=.901，反例 α=.714/.835，均在可接受范围。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效度方面差距明显：正例依次完成了内容效度、因素分析与三项效标检验；反例则以单题与成绩相关作为效度证据，且方法本身有误。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结论分寸亦不相同：正例止步于「该量表可用于测量、可区分训练阶段」；反例则进一步提出课程设置建议，超出了数据边界。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两篇的差距，与其说在数据本身，不如说在结论与证据是否相称。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9 / 10</a:t>
            </a:r>
            <a:endParaRPr sz="10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改进建议</a:t>
            </a:r>
            <a:endParaRPr sz="2300" b="1" i="0">
              <a:solidFill>
                <a:srgbClr val="000000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29927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题项层面：优先选用经过验证的成熟量表并注明出处；若坚持自编，则应补充因素分析，以检验题项是否真正对应预设构念。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分析层面：同一维度的题项应先合成均分，再与外部变量求相关；措辞上以相关替代影响，避免因果暗示。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结论层面：将推论限定于本样本与本校情境，同时补报发放、回收与有效问卷三项数字。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三处修改均属补全既有环节，无需推倒重来；问卷研究的规范门槛并不高，关键在于每一步都不省略。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10 / 10</a:t>
            </a:r>
            <a:endParaRPr sz="10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39.83992125984247,&quot;left&quot;:410.4,&quot;top&quot;:116.64000000000001,&quot;width&quot;:505.43999999999994}"/>
</p:tagLst>
</file>

<file path=ppt/tags/tag2.xml><?xml version="1.0" encoding="utf-8"?>
<p:tagLst xmlns:p="http://schemas.openxmlformats.org/presentationml/2006/main">
  <p:tag name="KSO_WM_DIAGRAM_VIRTUALLY_FRAME" val="{&quot;height&quot;:339.83992125984247,&quot;left&quot;:410.4,&quot;top&quot;:116.64000000000001,&quot;width&quot;:505.43999999999994}"/>
</p:tagLst>
</file>

<file path=ppt/tags/tag3.xml><?xml version="1.0" encoding="utf-8"?>
<p:tagLst xmlns:p="http://schemas.openxmlformats.org/presentationml/2006/main">
  <p:tag name="KSO_WM_DIAGRAM_VIRTUALLY_FRAME" val="{&quot;height&quot;:339.83992125984247,&quot;left&quot;:410.4,&quot;top&quot;:116.64000000000001,&quot;width&quot;:505.43999999999994}"/>
</p:tagLst>
</file>

<file path=ppt/tags/tag4.xml><?xml version="1.0" encoding="utf-8"?>
<p:tagLst xmlns:p="http://schemas.openxmlformats.org/presentationml/2006/main">
  <p:tag name="KSO_WM_DIAGRAM_VIRTUALLY_FRAME" val="{&quot;height&quot;:339.83992125984247,&quot;left&quot;:410.4,&quot;top&quot;:116.64000000000001,&quot;width&quot;:505.43999999999994}"/>
</p:tagLst>
</file>

<file path=ppt/tags/tag5.xml><?xml version="1.0" encoding="utf-8"?>
<p:tagLst xmlns:p="http://schemas.openxmlformats.org/presentationml/2006/main">
  <p:tag name="KSO_WM_DIAGRAM_VIRTUALLY_FRAME" val="{&quot;height&quot;:339.83992125984247,&quot;left&quot;:410.4,&quot;top&quot;:116.64000000000001,&quot;width&quot;:505.43999999999994}"/>
</p:tagLst>
</file>

<file path=ppt/tags/tag6.xml><?xml version="1.0" encoding="utf-8"?>
<p:tagLst xmlns:p="http://schemas.openxmlformats.org/presentationml/2006/main">
  <p:tag name="KSO_WM_DIAGRAM_VIRTUALLY_FRAME" val="{&quot;height&quot;:339.83992125984247,&quot;left&quot;:410.4,&quot;top&quot;:116.64000000000001,&quot;width&quot;:505.43999999999994}"/>
</p:tagLst>
</file>

<file path=ppt/tags/tag7.xml><?xml version="1.0" encoding="utf-8"?>
<p:tagLst xmlns:p="http://schemas.openxmlformats.org/presentationml/2006/main">
  <p:tag name="KSO_WM_DIAGRAM_VIRTUALLY_FRAME" val="{&quot;height&quot;:339.83992125984247,&quot;left&quot;:410.4,&quot;top&quot;:116.64000000000001,&quot;width&quot;:505.43999999999994}"/>
</p:tagLst>
</file>

<file path=ppt/tags/tag8.xml><?xml version="1.0" encoding="utf-8"?>
<p:tagLst xmlns:p="http://schemas.openxmlformats.org/presentationml/2006/main">
  <p:tag name="KSO_WM_DIAGRAM_VIRTUALLY_FRAME" val="{&quot;height&quot;:339.83992125984247,&quot;left&quot;:410.4,&quot;top&quot;:116.64000000000001,&quot;width&quot;:505.43999999999994}"/>
</p:tagLst>
</file>

<file path=ppt/tags/tag9.xml><?xml version="1.0" encoding="utf-8"?>
<p:tagLst xmlns:p="http://schemas.openxmlformats.org/presentationml/2006/main">
  <p:tag name="ISPRING_PRESENTATION_TITLE" val="PowerPoint 演示文稿"/>
  <p:tag name="KSO_WM_DOC_GUID" val="{7646b040-3551-49a0-9609-8286eb574aa4}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1803</Words>
  <Application>WPS 演示</Application>
  <PresentationFormat>宽屏</PresentationFormat>
  <Paragraphs>129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8" baseType="lpstr">
      <vt:lpstr>Arial</vt:lpstr>
      <vt:lpstr>宋体</vt:lpstr>
      <vt:lpstr>Wingdings</vt:lpstr>
      <vt:lpstr>Brush Script MT</vt:lpstr>
      <vt:lpstr>华文隶书</vt:lpstr>
      <vt:lpstr>Calibri</vt:lpstr>
      <vt:lpstr>Roboto Light</vt:lpstr>
      <vt:lpstr>Times New Roman</vt:lpstr>
      <vt:lpstr>黑体</vt:lpstr>
      <vt:lpstr>微软雅黑</vt:lpstr>
      <vt:lpstr>Arial Unicode MS</vt:lpstr>
      <vt:lpstr>Calibri Light</vt:lpstr>
      <vt:lpstr>FFont-Family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第一PPT，www.1ppt.com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粒子点线</dc:title>
  <dc:creator>第一PPT</dc:creator>
  <cp:keywords>www.1ppt.com</cp:keywords>
  <dc:description>www.1ppt.com</dc:description>
  <cp:lastModifiedBy>臻</cp:lastModifiedBy>
  <cp:revision>150</cp:revision>
  <dcterms:created xsi:type="dcterms:W3CDTF">2018-09-11T09:25:00Z</dcterms:created>
  <dcterms:modified xsi:type="dcterms:W3CDTF">2026-09-30T04:04:54Z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2052-12.1.0.28599</vt:lpwstr>
  </property>
  <property fmtid="{D5CDD505-2E9C-101B-9397-08002B2CF9AE}" pid="3" name="ICV">
    <vt:lpwstr>BFA146773F4A4283BE0830DBF4813C0B_13</vt:lpwstr>
  </property>
</Properties>
</file>