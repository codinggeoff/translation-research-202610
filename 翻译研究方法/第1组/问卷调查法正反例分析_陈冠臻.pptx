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20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问卷调查法在翻译研究中的应用</a:t>
            </a:r>
            <a:endParaRPr sz="36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基于两篇论文的正例与反例分析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Questionnaire Survey in Translation Studies</a:t>
            </a:r>
            <a:endParaRPr sz="15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汇报人：陈冠臻    学号：20261210050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2026 年 10 月 12 日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700" b="1" i="0">
              <a:solidFill>
                <a:srgbClr val="0E7C86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3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研究背景与判断标准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正例：口译笔记熟练度量表的开发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反例：机器翻译译后编辑（MTPE）态度问卷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两篇论文的对照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12080" y="5321807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70448" y="5321807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启示：问卷设计与施测的规范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研究背景与判断标准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为什么关注问卷调查法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问卷调查法是以标准化问卷为工具、系统收集数据的定量研究方法。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在翻译研究中，它常用于调查读者对译文的反应、译者的行为与策略、翻译教学的效果、翻译行业的现状等。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一份设计规范的问卷，能提供大规模、可比较的数据；一份设计随意的问卷，则会得出不可靠的结论。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因此，掌握「一份好问卷的标准」，对翻译研究非常重要。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判断标准：一条证据链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192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判断一份问卷研究是否可靠，可以看它有没有走通下面这条链：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研究问题（想回答什么）→ 构念与题项（把概念变成可答的题）→ 抽样与施测（向谁发、怎么收）→ 统计与结论（数据能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否支撑结论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链条闭合，结论才站得住；断在任何一环，结论都会悬空。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下面用两篇论文来对照：一篇是正例（口译研究），一篇是反例（笔译研究）。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5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正例：口译笔记熟练度量表的开发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6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正例论文与研究问题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文献：周金华、董燕萍（2019），《外语教学与研究》51(6)：925-937。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研究问题：交替传译中的「笔记熟练度」看不见、摸不着，既不能靠看笔记成品来打分，也很难由他人代为评估。那么，它能否用一份自评量表测出来？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研究思路：先给「笔记熟练度」下一个可操作的定义，再编制量表，最后检验量表的信度和效度。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7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研究流程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6603"/>
            <a:ext cx="1759305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界定构念</a:t>
            </a:r>
            <a:endParaRPr sz="15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1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627985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93161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84601" y="3296603"/>
            <a:ext cx="1759305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编制题项</a:t>
            </a:r>
            <a:endParaRPr sz="15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1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862779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7955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9395" y="2834640"/>
            <a:ext cx="175930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正式施测</a:t>
            </a:r>
            <a:endParaRPr sz="15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144 名学生</a:t>
            </a:r>
            <a:endParaRPr sz="11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7097572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274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4188" y="3296603"/>
            <a:ext cx="1759305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信度检验</a:t>
            </a:r>
            <a:endParaRPr sz="15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1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9332366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97542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88982" y="2834640"/>
            <a:ext cx="1759305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效度验证</a:t>
            </a:r>
            <a:endParaRPr sz="15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CVI / EFA / 效标</a:t>
            </a:r>
            <a:endParaRPr sz="11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 / 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8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第一步：明确测量对象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6_itemta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461" y="1691640"/>
            <a:ext cx="3990578" cy="2666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41173" y="1673352"/>
            <a:ext cx="4027154" cy="27033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59461" y="4404140"/>
            <a:ext cx="39905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四个维度（表 1）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Picture 5" descr="zheng_p04_constr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461" y="4632740"/>
            <a:ext cx="3990578" cy="11736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41173" y="4614452"/>
            <a:ext cx="4027154" cy="121027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9461" y="5852159"/>
            <a:ext cx="399057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构念来源：日志 + 访谈（p4）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936501" cy="212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作者先给「笔记熟练度」下可操作定义：拆成笔记记录、笔记理解两个阶段，再细分为四个维度。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构念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Construct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从哪来？不是凭空想——分析了 72 份学员学习日志，访谈了 4 位学生译员、6 位口译教师。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先把「要测什么」定义清楚，才能据此写出对应的题项。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9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第二步：</a:t>
            </a:r>
            <a:r>
              <a:rPr lang="zh-CN"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编制</a:t>
            </a:r>
            <a:r>
              <a:rPr lang="zh-CN"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题项</a:t>
            </a:r>
            <a:endParaRPr lang="zh-CN"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5_itemwr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25556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5922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38449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题项编写：译员表达 + 评审 + 74 题（论文 p5）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题项来源：借助上面的学习日志和访谈数据来写，不是凭空编。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题干尽量采用译员自己的表达，避免学术腔。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写完后请 5 名口译学员、3 名口译教师评审，删改后再讨论；初始题库 74 题，经 3 轮评审历时半年，得到 28 题预试量表。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10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第三步：专家评审与试测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5_pil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16945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73108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523313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评审 28 题 · 试测 54 人 · 删 7 留 21（论文 p5）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25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专家评审：5 名学员译员 + 3 名教师译员，三轮讨论、历时半年，收到 28 题、李克特 6 点。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试测删题：54 名学生试测，用极端组比较和同质性检验删掉 7 题，最终留 21 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作者还把量表改名为「口译笔记自我描述量表」，让人更愿意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客观描述自己的笔记情况，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如实作答。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11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第四步：正式施测与信度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8_reli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33993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4359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22812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总量表 Cronbach's α = .901（论文 p8）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被试：144 名有近一学年笔记交传训练的本科生。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信度：总量表 Cronbach's α = .901，各维度也较高。α 是「内部一致性」指标，取值 0–1，越接近 1 说明题目之间越一致、测量越稳定；通常 ≥ .7 可接受，≥ .9 优秀。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12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第五步：效度证据（一）内容与结构效度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8_cv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257800" cy="15631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3952" y="1673352"/>
            <a:ext cx="5294376" cy="159970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3300489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内容效度 CVI=1（p8）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Picture 5" descr="zheng_p09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529089"/>
            <a:ext cx="5257800" cy="15022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73952" y="3510801"/>
            <a:ext cx="5294376" cy="15388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5077038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因素分析 60.49%（p9）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669279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内容效度：I-CVI、S-CVI 均为 1.00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结构效度：EFA 抽出 4 因子，累计解释 60.49%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13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第五步：效度证据（二）效标关联效度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10_criter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35381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47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699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效标系数 .473 / .539 / .556（论文 p10）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效标关联：与练习量 r=.473、动机 r=.539、绩效 r=.556 显著相关（均 p&lt;.01）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14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正例小结：值得借鉴之处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328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构念先于题项：先定义清楚要测什么，再写题，而不是想到什么问什么。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· 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相对谨慎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：只言「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笔记熟悉度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能区分训练阶段」，不下「笔记好所以口译好」的因果结论。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问卷可被复核：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21 个题项随论文附录公开，工具可复用。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15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反例：机器翻译译后编辑（MTPE）态度问卷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16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反例论文与研究问题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82114"/>
            <a:ext cx="1088136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文献：Yang, Z. &amp; Mustafa, H. R. (2022). On postediting of machine translation and workflow for undergraduate translation program in China. HBET, 5793054.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研究问题：RQ1 学生对 MTPE 的正面/负面反应；RQ2 反应是否与两门课程成绩相关；RQ3 使用障碍是什么。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方法：混合方法——问卷（6 道题 + 4 道开放题）+ 定性编码。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17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环节一：借了 TAM 的框架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3_t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18797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628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08511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理论框架 TAM（论文 p3）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6885940" cy="86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框架：借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助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TAM，声称测「有用性」和「易用性」两个构念。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依据这两个构念来设计问卷，但题目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未体现该理论框架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18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环节一：6 道题自拟、未验证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4_desig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3222" y="1783080"/>
            <a:ext cx="2826817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04934" y="1764792"/>
            <a:ext cx="2863393" cy="369417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23222" y="5486400"/>
            <a:ext cx="282681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问卷 6 题 + 4 开放题（论文 p4）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8100262" cy="25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题项：6 个陈述句（有用性 3 题 + 易用性 3 题）+ 4 道开放题，6 点李克特。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问题：全文只列出这 6 题，没交代沿用哪个现成量表、没有专家评审、没有试测。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题目从没验证过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是不是真的在测</a:t>
            </a:r>
            <a:r>
              <a:rPr lang="en-US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 MTPE</a:t>
            </a:r>
            <a:r>
              <a:rPr lang="zh-CN" altLang="en-US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「有用性」和「易用性」</a:t>
            </a:r>
            <a:r>
              <a:rPr lang="zh-CN"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两个概念。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19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环节二：抽样与回收未报告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4_participa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19731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00972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801951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被试说明（论文 p4）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1728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样本：西北一所高校翻译专业 127 人（大三 39、大四 88）。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问题：只写「127 名学生参与」，没写抽样方法（随机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），也没写发放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、回收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、有效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各多少。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后果：无法判断应答率、代表性，也无法排除自选择偏差。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20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环节三：只有信度、没有效度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6_alph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876" y="3931920"/>
            <a:ext cx="7942217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06588" y="3913632"/>
            <a:ext cx="7978793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24876" y="5714999"/>
            <a:ext cx="794221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信度 α=.714 / .835（论文 p6）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328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信度：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文章提及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 Cronbach's α（有用性 .714、易用性 .835）。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效度：全文没有内容效度、没有因子分析，6 题是否真测「有用性/易用性」两个构念，未验证。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问题：只有信度、没有效度，量表的「有效性」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存疑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21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环节四：把一道题当一个构念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5_cor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18833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996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12191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单题相关分析（论文 p5）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做法：拿 Q6 单题与 CAT 课程成绩相关（r=.746），Q2 单题与翻译实践成绩相关（r=-.419）。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问题：把「一道题」当成「一个构念」的分数来用，而不是先把同维度 3 题合成平均分再算。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后果：单题的相关系数不稳定，结论容易失真。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22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环节五：结论越过了数据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结论：从「127 名学生一次横断面自陈、态度偏积极」，得出「应把 MTPE 纳入本科教学」。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问题：横断面问卷 + 单题相关，只能说明「有关联」，推不出「应该做」。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23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反例：证据链</a:t>
            </a:r>
            <a:r>
              <a:rPr lang="zh-CN"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不足</a:t>
            </a:r>
            <a:endParaRPr lang="zh-CN"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65836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731519" y="2286000"/>
            <a:ext cx="2368296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构念与题项</a:t>
            </a:r>
            <a:endParaRPr sz="15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3"/>
            </p:custDataLst>
          </p:nvPr>
        </p:nvSpPr>
        <p:spPr>
          <a:xfrm>
            <a:off x="65836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731519" y="4164330"/>
            <a:ext cx="2368296" cy="220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自拟 6 题、未验证</a:t>
            </a:r>
            <a:endParaRPr sz="1250" b="1" i="0">
              <a:solidFill>
                <a:srgbClr val="B4451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ight Arrow 6"/>
          <p:cNvSpPr/>
          <p:nvPr>
            <p:custDataLst>
              <p:tags r:id="rId5"/>
            </p:custDataLst>
          </p:nvPr>
        </p:nvSpPr>
        <p:spPr>
          <a:xfrm>
            <a:off x="319125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6"/>
            </p:custDataLst>
          </p:nvPr>
        </p:nvSpPr>
        <p:spPr>
          <a:xfrm>
            <a:off x="344728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3520439" y="2286000"/>
            <a:ext cx="2368296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抽样与施测</a:t>
            </a:r>
            <a:endParaRPr sz="15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8"/>
            </p:custDataLst>
          </p:nvPr>
        </p:nvSpPr>
        <p:spPr>
          <a:xfrm>
            <a:off x="344728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3520439" y="4164330"/>
            <a:ext cx="2368296" cy="220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抽样方法</a:t>
            </a:r>
            <a:r>
              <a:rPr lang="zh-CN" sz="1250" b="1" i="0">
                <a:solidFill>
                  <a:srgbClr val="B4451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250" b="1" i="0">
                <a:solidFill>
                  <a:srgbClr val="B4451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回收</a:t>
            </a:r>
            <a:r>
              <a:rPr lang="zh-CN" sz="1250" b="1" i="0">
                <a:solidFill>
                  <a:srgbClr val="B4451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1250" b="1" i="0">
                <a:solidFill>
                  <a:srgbClr val="B4451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未报告</a:t>
            </a:r>
            <a:endParaRPr sz="1250" b="1" i="0">
              <a:solidFill>
                <a:srgbClr val="B4451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ight Arrow 11"/>
          <p:cNvSpPr/>
          <p:nvPr>
            <p:custDataLst>
              <p:tags r:id="rId10"/>
            </p:custDataLst>
          </p:nvPr>
        </p:nvSpPr>
        <p:spPr>
          <a:xfrm>
            <a:off x="5980175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11"/>
            </p:custDataLst>
          </p:nvPr>
        </p:nvSpPr>
        <p:spPr>
          <a:xfrm>
            <a:off x="623620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2"/>
            </p:custDataLst>
          </p:nvPr>
        </p:nvSpPr>
        <p:spPr>
          <a:xfrm>
            <a:off x="6309359" y="2286000"/>
            <a:ext cx="2368296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信度与效度</a:t>
            </a:r>
            <a:endParaRPr sz="15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13"/>
            </p:custDataLst>
          </p:nvPr>
        </p:nvSpPr>
        <p:spPr>
          <a:xfrm>
            <a:off x="623620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4"/>
            </p:custDataLst>
          </p:nvPr>
        </p:nvSpPr>
        <p:spPr>
          <a:xfrm>
            <a:off x="6309359" y="4164330"/>
            <a:ext cx="2368296" cy="220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只有信度、没有效度</a:t>
            </a:r>
            <a:endParaRPr sz="1250" b="1" i="0">
              <a:solidFill>
                <a:srgbClr val="B4451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ight Arrow 16"/>
          <p:cNvSpPr/>
          <p:nvPr>
            <p:custDataLst>
              <p:tags r:id="rId15"/>
            </p:custDataLst>
          </p:nvPr>
        </p:nvSpPr>
        <p:spPr>
          <a:xfrm>
            <a:off x="876909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16"/>
            </p:custDataLst>
          </p:nvPr>
        </p:nvSpPr>
        <p:spPr>
          <a:xfrm>
            <a:off x="902512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7"/>
            </p:custDataLst>
          </p:nvPr>
        </p:nvSpPr>
        <p:spPr>
          <a:xfrm>
            <a:off x="9098280" y="2286000"/>
            <a:ext cx="2368296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统计与结论</a:t>
            </a:r>
            <a:endParaRPr sz="15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8"/>
            </p:custDataLst>
          </p:nvPr>
        </p:nvSpPr>
        <p:spPr>
          <a:xfrm>
            <a:off x="902512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9"/>
            </p:custDataLst>
          </p:nvPr>
        </p:nvSpPr>
        <p:spPr>
          <a:xfrm>
            <a:off x="9098280" y="4164330"/>
            <a:ext cx="2368296" cy="220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单题当构念 + 越界</a:t>
            </a:r>
            <a:endParaRPr sz="1250" b="1" i="0">
              <a:solidFill>
                <a:srgbClr val="B4451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32720" y="5697982"/>
            <a:ext cx="16459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r>
              <a:rPr lang="en-US"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反例小结：不是造假，是证据链断裂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反例的数据是真的、信度也报了，并不是造假。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问题在于证据链断裂：题项没来源、抽样没交代、只有信度没有效度、单题当构念。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最根本的一点：结论超出了数据能承担的范围。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25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两篇论文的对照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26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对照（一）：题项、构念、样本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题项来源：正例用日志 + 访谈 + 三轮评审，74→28→21；反例自拟 6 题，无评审、无前测。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构念对应：正例四维度、经因子分析验证；反例两个构念、从未检验。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样本：正例 144 人、纳入条件写明；反例 127 人、发放回收口径未报。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27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对照（二）：信度、效度、结论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信度：正例 α = .901；反例 α = .714 / .835。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效度：正例有内容效度 + 因子分析 + 三项效标；反例只有单题与成绩的相关。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结论：正例停在「可测、能区分阶段」；反例写到「可行、应纳入教学」，越过了数据。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28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05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启示：问卷设计与施测的规范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29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交稿前的十问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1. 我要回答什么问题？先写成一句可检验的问话。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2. 题目和概念对得上吗？先定义概念，再列「概念 → 维度 → 题目」对照表。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3. 题目是哪来的？沿用要注明出处，改编要说明改动，自编要交代生成过程。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4. 问卷发给谁？写清总体、抽样范围，谁符合、谁不符合。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5. 三份数字报了吗？发放、回收、有效各多少，并先定「怎样算无效」。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6. 先试测了吗？正式发放前找人试填，或请专家把一次关。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7. 信效度报了吗？报 α 或 ω；问卷分多个维度，还要报 EFA / CFA。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8. 指导语写清楚了吗？说明用途、匿名、可以中途退出。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9. 题型和统计配吗？单选用频数、量表用均值、开放题用编码。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10. 结论有没有越界？横断面问卷只能说「有关联」，不能说「导致」。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30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反例的三处最小改法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题目来源：换成已验证的量表题目并注明出处；坚持自拟，就补一次因子分析或报告题总相关。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单题当构念：先把同一维度的 3 题合成平均分（构念分），再用构念分做相关，而不是拿单题；措辞用「有关联」，不用「影响」。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结论越界：把结论收缩到「这 127 名学生（这所学校）」，并补上发放、回收、有效三份数字。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31 / 32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谢谢观看</a:t>
            </a:r>
            <a:endParaRPr sz="40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Thank You</a:t>
            </a:r>
            <a:endParaRPr sz="18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周金华、董燕萍（2019）. 口译笔记熟练度量表的开发. 外语教学与研究 51(6): 925-937.</a:t>
            </a:r>
            <a:endParaRPr sz="12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Yang, Z. &amp; Mustafa, H. R. (2022). On postediting of machine translation and workflow. HBET, 5793054.</a:t>
            </a:r>
            <a:endParaRPr sz="12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汇报人：陈冠臻    学号：20261210050</a:t>
            </a:r>
            <a:endParaRPr sz="12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2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3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4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5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6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7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8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9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0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1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2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3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4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5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6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7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8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19.xml><?xml version="1.0" encoding="utf-8"?>
<p:tagLst xmlns:p="http://schemas.openxmlformats.org/presentationml/2006/main">
  <p:tag name="KSO_WM_DIAGRAM_VIRTUALLY_FRAME" val="{&quot;height&quot;:187.2,&quot;left&quot;:51.839999999999996,&quot;top&quot;:180,&quot;width&quot;:856.8}"/>
</p:tagLst>
</file>

<file path=ppt/tags/tag20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4173</Words>
  <Application>WPS 演示</Application>
  <PresentationFormat>宽屏</PresentationFormat>
  <Paragraphs>322</Paragraphs>
  <Slides>32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Times New Roman</vt:lpstr>
      <vt:lpstr>黑体</vt:lpstr>
      <vt:lpstr>微软雅黑</vt:lpstr>
      <vt:lpstr>Arial Unicode MS</vt:lpstr>
      <vt:lpstr>Calibri Light</vt:lpstr>
      <vt:lpstr>FFont-Family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臻</cp:lastModifiedBy>
  <cp:revision>138</cp:revision>
  <dcterms:created xsi:type="dcterms:W3CDTF">2018-09-11T09:25:00Z</dcterms:created>
  <dcterms:modified xsi:type="dcterms:W3CDTF">2026-09-29T18:07:44Z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2052-12.1.0.28599</vt:lpwstr>
  </property>
  <property fmtid="{D5CDD505-2E9C-101B-9397-08002B2CF9AE}" pid="3" name="ICV">
    <vt:lpwstr>BFA146773F4A4283BE0830DBF4813C0B_13</vt:lpwstr>
  </property>
</Properties>
</file>