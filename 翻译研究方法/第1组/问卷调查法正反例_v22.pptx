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9"/>
    <p:sldId id="257" r:id="rId8"/>
    <p:sldId id="258" r:id="rId7"/>
    <p:sldId id="259" r:id="rId6"/>
    <p:sldId id="260" r:id="rId5"/>
    <p:sldId id="261" r:id="rId3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456"/>
    <a:srgbClr val="03A9F0"/>
    <a:srgbClr val="5B9B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77" y="547"/>
      </p:cViewPr>
      <p:guideLst>
        <p:guide orient="horz" pos="21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520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6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6566E-A135-47C5-B666-D77ED21946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E1E66-0EA3-46B4-8216-B1B8BE711F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0BAA7-22A5-49C2-BA97-E6B0C9CFDA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2276872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 userDrawn="1"/>
        </p:nvSpPr>
        <p:spPr>
          <a:xfrm>
            <a:off x="8975543" y="2276871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96491" y="2468893"/>
            <a:ext cx="576064" cy="577112"/>
            <a:chOff x="6084168" y="1274820"/>
            <a:chExt cx="432048" cy="432834"/>
          </a:xfrm>
        </p:grpSpPr>
        <p:sp>
          <p:nvSpPr>
            <p:cNvPr id="11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5868299" y="2469417"/>
            <a:ext cx="576064" cy="576064"/>
            <a:chOff x="4788024" y="1275213"/>
            <a:chExt cx="432048" cy="432048"/>
          </a:xfrm>
        </p:grpSpPr>
        <p:sp>
          <p:nvSpPr>
            <p:cNvPr id="14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732395" y="2468893"/>
            <a:ext cx="577111" cy="577112"/>
            <a:chOff x="5436096" y="1274820"/>
            <a:chExt cx="432833" cy="432834"/>
          </a:xfrm>
        </p:grpSpPr>
        <p:sp>
          <p:nvSpPr>
            <p:cNvPr id="17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4140107" y="2468893"/>
            <a:ext cx="577111" cy="577112"/>
            <a:chOff x="3491880" y="1274820"/>
            <a:chExt cx="432833" cy="432834"/>
          </a:xfrm>
        </p:grpSpPr>
        <p:sp>
          <p:nvSpPr>
            <p:cNvPr id="20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5004203" y="2468893"/>
            <a:ext cx="577111" cy="577112"/>
            <a:chOff x="4139952" y="1274820"/>
            <a:chExt cx="432833" cy="432834"/>
          </a:xfrm>
        </p:grpSpPr>
        <p:sp>
          <p:nvSpPr>
            <p:cNvPr id="23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4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sp>
        <p:nvSpPr>
          <p:cNvPr id="25" name="文本框 2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25278" y="645017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A9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问卷调查法在翻译研究中的应用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正反案例：口译笔记熟练度与MTPE接受度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Questionnaire Survey in Translation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汇报人：陈冠臻    学号：20261210050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2026 年 10 月 12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" y="1691640"/>
            <a:ext cx="3383280" cy="3383280"/>
          </a:xfrm>
          <a:prstGeom prst="ellipse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606040"/>
            <a:ext cx="338328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7C86"/>
                </a:solidFill>
                <a:latin typeface="Times New Roman"/>
                <a:ea typeface="黑体"/>
                <a:cs typeface="黑体"/>
                <a:hAnsi typeface="黑体"/>
              </a:rPr>
              <a:t>目录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CONTENTS</a:t>
            </a:r>
          </a:p>
        </p:txBody>
      </p:sp>
      <p:sp>
        <p:nvSpPr>
          <p:cNvPr id="4" name="Oval 3"/>
          <p:cNvSpPr/>
          <p:nvPr/>
        </p:nvSpPr>
        <p:spPr>
          <a:xfrm>
            <a:off x="5212080" y="148132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70448" y="148132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研究背景与判断标准</a:t>
            </a:r>
          </a:p>
        </p:txBody>
      </p:sp>
      <p:sp>
        <p:nvSpPr>
          <p:cNvPr id="6" name="Oval 5"/>
          <p:cNvSpPr/>
          <p:nvPr/>
        </p:nvSpPr>
        <p:spPr>
          <a:xfrm>
            <a:off x="5212080" y="244144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70448" y="244144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正例：口译笔记熟练度量表的开发</a:t>
            </a:r>
          </a:p>
        </p:txBody>
      </p:sp>
      <p:sp>
        <p:nvSpPr>
          <p:cNvPr id="8" name="Oval 7"/>
          <p:cNvSpPr/>
          <p:nvPr/>
        </p:nvSpPr>
        <p:spPr>
          <a:xfrm>
            <a:off x="5212080" y="340156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0448" y="340156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反例：机器翻译译后编辑（MTPE）态度问卷</a:t>
            </a:r>
          </a:p>
        </p:txBody>
      </p:sp>
      <p:sp>
        <p:nvSpPr>
          <p:cNvPr id="10" name="Oval 9"/>
          <p:cNvSpPr/>
          <p:nvPr/>
        </p:nvSpPr>
        <p:spPr>
          <a:xfrm>
            <a:off x="5212080" y="436168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436168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对照、改进与启示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研究背景与判断标准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为什么选这两个案例？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两篇论文都拿翻译专业学生做调查，都用问卷收集数据。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正例：周金华、董燕萍（2019），目标是开发一份量表。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反例：Yang &amp; Mustafa（2022），想了解学生对机器翻译译后编辑的态度。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把它们放在一起，看问题、题目、样本、分析、结论这几步对不对得上。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判断一份问卷好不好，看四步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研究问题：先想清楚要做什么。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概念与题目：抽象概念要变成能回答的题。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抽样与施测：发给谁、怎么抽、收回多少，要交代。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分析与结论：数据撑不撑得起结论。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信度是测得稳不稳，效度是测得准不准。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正例：口译笔记熟练度量表的开发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正例要做什么</a:t>
            </a:r>
          </a:p>
        </p:txBody>
      </p:sp>
      <p:pic>
        <p:nvPicPr>
          <p:cNvPr id="3" name="Picture 2" descr="zheng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353858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57515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367382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论文首页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周金华、董燕萍（2019），发在《外语教学与研究》。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目标：做一份量表，测交传学习者的笔记熟练度。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笔记熟练度看不见、摸不着，只能让学生自评。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作者把它分成四个维度：听记协调、时效性、系统性、使用。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第一步：把概念定清楚</a:t>
            </a:r>
          </a:p>
        </p:txBody>
      </p:sp>
      <p:pic>
        <p:nvPicPr>
          <p:cNvPr id="3" name="Picture 2" descr="zheng_p04_constr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472" y="3931920"/>
            <a:ext cx="5907024" cy="1737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24184" y="3913632"/>
            <a:ext cx="5943600" cy="177393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42472" y="5715000"/>
            <a:ext cx="59070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构念来源：日志 + 访谈（p4）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笔记熟练度是个抽象概念，作者先把它拆开。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依据：72 份学习日志、4 名学生译员、6 名口译教师的访谈。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先定清楚要测什么，后面写题才有方向。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第二步：写题、试测、正式测</a:t>
            </a:r>
          </a:p>
        </p:txBody>
      </p:sp>
      <p:pic>
        <p:nvPicPr>
          <p:cNvPr id="3" name="Picture 2" descr="zheng_p05_itemwr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285" y="1691640"/>
            <a:ext cx="3800754" cy="230931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930997" y="1673352"/>
            <a:ext cx="3837330" cy="2345895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49285" y="4046679"/>
            <a:ext cx="380075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题项编写 74 题（p5）</a:t>
            </a:r>
          </a:p>
        </p:txBody>
      </p:sp>
      <p:pic>
        <p:nvPicPr>
          <p:cNvPr id="6" name="Picture 5" descr="zheng_p05_pi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9285" y="4275279"/>
            <a:ext cx="3800754" cy="1531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30997" y="4256991"/>
            <a:ext cx="3837330" cy="156773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49285" y="5852160"/>
            <a:ext cx="380075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试测 54 人、删 7 留 21（p5）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7126325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写题：先写出 74 题，经过 3 轮讨论，删到 28 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试测：54 名学生试答，删掉 7 题，留下 21 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正式测：144 名学生完成 21 题，再检验信度和效度。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信度：测得稳</a:t>
            </a:r>
          </a:p>
        </p:txBody>
      </p:sp>
      <p:pic>
        <p:nvPicPr>
          <p:cNvPr id="3" name="Picture 2" descr="zheng_p08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33993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435904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228128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信度 α=.901（论文 p8）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总量表 α=.901，四个维度也都在 .772 以上。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α 表示题目之间一不一致，越接近 1 越稳。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.901 说明这 21 题高度一致，反复测结果差不多。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效度：测得准</a:t>
            </a:r>
          </a:p>
        </p:txBody>
      </p:sp>
      <p:pic>
        <p:nvPicPr>
          <p:cNvPr id="3" name="Picture 2" descr="zheng_p08_cv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5257800" cy="156312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73952" y="1673352"/>
            <a:ext cx="5294376" cy="1599705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3300489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内容效度 CVI=1（p8）</a:t>
            </a:r>
          </a:p>
        </p:txBody>
      </p:sp>
      <p:pic>
        <p:nvPicPr>
          <p:cNvPr id="6" name="Picture 5" descr="zheng_p09_e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529089"/>
            <a:ext cx="5257800" cy="15022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73952" y="3510801"/>
            <a:ext cx="5294376" cy="1538804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5077038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因素分析 60.49%（p9）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5669279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内容效度：8 名专家评，CVI 全是 1.00，题目内容没问题。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结构效度：因素分析分出 4 个维度，正好对上预设，解释 60.49%。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效标 + 局限</a:t>
            </a:r>
          </a:p>
        </p:txBody>
      </p:sp>
      <p:pic>
        <p:nvPicPr>
          <p:cNvPr id="3" name="Picture 2" descr="zheng_p10_criter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35381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57476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36699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效标系数 .473 / .539 / .556（p10）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效标效度：分数和练习量、动机、口译成绩都显著相关。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局限：自评不等于真实技能，因素分析只在一个样本做。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相关也不能证明练习导致提高。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反例：机器翻译译后编辑（MTPE）态度问卷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反例要做什么</a:t>
            </a:r>
          </a:p>
        </p:txBody>
      </p:sp>
      <p:pic>
        <p:nvPicPr>
          <p:cNvPr id="3" name="Picture 2" descr="fan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911" y="3931920"/>
            <a:ext cx="5744146" cy="1737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05623" y="3913632"/>
            <a:ext cx="5780722" cy="177393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23911" y="5714999"/>
            <a:ext cx="574414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论文首页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Yang &amp; Mustafa（2022）。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问：学生对机器翻译译后编辑的态度。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问卷：6 道打分题加 4 道开放题，127 名学生。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结果：学生总体觉得有用。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反例的问题（一）：框架和题目</a:t>
            </a:r>
          </a:p>
        </p:txBody>
      </p:sp>
      <p:pic>
        <p:nvPicPr>
          <p:cNvPr id="3" name="Picture 2" descr="fan_p03_t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3856" y="1691640"/>
            <a:ext cx="2206183" cy="98591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525568" y="1673352"/>
            <a:ext cx="2242759" cy="1022489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43856" y="2723273"/>
            <a:ext cx="22061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TAM 框架（p3）</a:t>
            </a:r>
          </a:p>
        </p:txBody>
      </p:sp>
      <p:pic>
        <p:nvPicPr>
          <p:cNvPr id="6" name="Picture 5" descr="fan_p04_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3856" y="2951873"/>
            <a:ext cx="2206183" cy="285456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525568" y="2933585"/>
            <a:ext cx="2242759" cy="2891142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43856" y="5852160"/>
            <a:ext cx="22061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问卷 6 题（p4）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8720896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借了 TAM 框架，说要测有用性和易用性。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但 6 道题是自己编的，没沿用现成量表，也没评审、没试测。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反例的问题（二）：样本和信效度</a:t>
            </a:r>
          </a:p>
        </p:txBody>
      </p:sp>
      <p:pic>
        <p:nvPicPr>
          <p:cNvPr id="3" name="Picture 2" descr="fan_p04_particip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5257800" cy="246643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73952" y="1673352"/>
            <a:ext cx="5294376" cy="2503015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4203799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被试 127 人（p4）</a:t>
            </a:r>
          </a:p>
        </p:txBody>
      </p:sp>
      <p:pic>
        <p:nvPicPr>
          <p:cNvPr id="6" name="Picture 5" descr="fan_p06_alp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432399"/>
            <a:ext cx="5257800" cy="11501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73952" y="4414111"/>
            <a:ext cx="5294376" cy="1186719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5628263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信度 α=.714 / .835（p6）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5669279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抽样：只说了 127 名学生，没写怎么抽、收回多少。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信度报了（α=.714 / .835），但没报效度。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反例的问题（三）：拿单题当概念</a:t>
            </a:r>
          </a:p>
        </p:txBody>
      </p:sp>
      <p:pic>
        <p:nvPicPr>
          <p:cNvPr id="3" name="Picture 2" descr="fan_p05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188339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1919967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3712191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单题相关（论文 p5）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拿 Q6 一道题和成绩算相关，Q2 一道题和另一门成绩算相关。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应该把同维度的 3 题合成一个分数再算。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而且相关不等于因果。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反例怎么改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题目用现成量表，或者先验证。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三道题合成一个分数，别拿单题。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结论收窄到这批学生。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  <a:hAnsi typeface="宋体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两篇论文的对照与启示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两篇对照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目的：正例做工具，反例问态度。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题目：正例有来源，反例没交代。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分析：正例多类证据，反例只有均值相关。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结论：正例克制，反例越界。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最后的结论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一条链：问题、概念、题目、评审试测、施测、信效度，再到下结论。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问卷要像工具一样做。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有打分、有相关，不等于验证。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结论别超过数据。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  <a:hAnsi typeface="黑体"/>
              </a:rPr>
              <a:t>参考文献与依据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周金华、董燕萍（2019）．口译笔记熟练度量表的开发．《外语教学与研究》，51(6)，925–937。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Yang, Z., &amp; Mustafa, H. R. (2022). On postediting of machine translation and workflow for undergraduate translation program in China. Human Behavior and Emerging Technologies, 2022, 5793054.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Kuznik, A., Hurtado Albir, A., &amp; Espinal Berenguer, A. (2010). The use of social surveys in Translation Studies. MonTI 2trans.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Harkness, J., Pennell, B. E., &amp; Schoua-Glusberg, A. (2004). Survey questionnaire translation and assessment.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  <a:hAnsi typeface="宋体"/>
              </a:rPr>
              <a:t>· 补充网络来源：Wiley原文 https://onlinelibrary.wiley.com/doi/10.1155/2022/5793054；MonTI综述 https://www.raco.cat/index.php/MonTI/article/download/301211/390682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  <a:hAnsi typeface="宋体"/>
              </a:rPr>
              <a:t>22 / 22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PRING_PRESENTATION_TITLE" val="PowerPoint 演示文稿"/>
  <p:tag name="KSO_WM_DOC_GUID" val="{7646b040-3551-49a0-9609-8286eb574aa4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WPS 演示</Application>
  <PresentationFormat>宽屏</PresentationFormat>
  <Paragraphs>8</Paragraphs>
  <Slides>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9" baseType="lpstr">
      <vt:lpstr>Arial</vt:lpstr>
      <vt:lpstr>宋体</vt:lpstr>
      <vt:lpstr>Wingdings</vt:lpstr>
      <vt:lpstr>Brush Script MT</vt:lpstr>
      <vt:lpstr>华文隶书</vt:lpstr>
      <vt:lpstr>Calibri</vt:lpstr>
      <vt:lpstr>Roboto Light</vt:lpstr>
      <vt:lpstr>思源黑体 CN Light</vt:lpstr>
      <vt:lpstr>黑体</vt:lpstr>
      <vt:lpstr>Impact</vt:lpstr>
      <vt:lpstr>微软雅黑</vt:lpstr>
      <vt:lpstr>Arial</vt:lpstr>
      <vt:lpstr>Roboto condensed</vt:lpstr>
      <vt:lpstr>Segoe Print</vt:lpstr>
      <vt:lpstr>思源黑体 CN Bold</vt:lpstr>
      <vt:lpstr>FontAwesome</vt:lpstr>
      <vt:lpstr>Open Sans</vt:lpstr>
      <vt:lpstr>思源黑体 CN Heavy</vt:lpstr>
      <vt:lpstr>华文细黑</vt:lpstr>
      <vt:lpstr>微软雅黑 Light</vt:lpstr>
      <vt:lpstr>Arial Unicode MS</vt:lpstr>
      <vt:lpstr>Calibri Light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粒子点线</dc:title>
  <dc:creator>第一PPT</dc:creator>
  <cp:keywords>www.1ppt.com</cp:keywords>
  <dc:description>www.1ppt.com</dc:description>
  <cp:lastModifiedBy>86137</cp:lastModifiedBy>
  <cp:revision>114</cp:revision>
  <dcterms:created xsi:type="dcterms:W3CDTF">2018-09-11T09:25:00Z</dcterms:created>
  <dcterms:modified xsi:type="dcterms:W3CDTF">2025-06-08T03:40:41Z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BFA146773F4A4283BE0830DBF4813C0B_13</vt:lpwstr>
  </property>
</Properties>
</file>