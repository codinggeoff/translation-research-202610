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封面 ｜ 0:00–0:33 ｜ 最迟 0:43 翻页 ｜ 本节 151 字</a:t>
            </a:r>
          </a:p>
          <a:p>
            <a:r>
              <a:rPr sz="1200"/>
              <a:t>大家好，我是＿＿，接下来十分钟由我汇报我们组"方法 A 正反例"的部分：问卷调查法。</a:t>
            </a:r>
          </a:p>
          <a:p>
            <a:r>
              <a:rPr sz="1200"/>
              <a:t>正例是一篇口译研究，中文核心期刊；反例是一篇笔译研究，国际期刊，两篇都在翻译研究领域，类型一中一英。</a:t>
            </a:r>
          </a:p>
          <a:p>
            <a:r>
              <a:rPr sz="1200"/>
              <a:t>这一页只有一句话，也是今天全部的判断标准：研究问题 → 构念与题项 → 抽样与施测 → 统计与结论，这条链闭住了没有。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01 页 ｜ 0:33–1:01 ｜ 最迟 1:11 翻页 ｜ 本节 127 字</a:t>
            </a:r>
          </a:p>
          <a:p>
            <a:r>
              <a:rPr sz="1200"/>
              <a:t>〔指四个卡片〕</a:t>
            </a:r>
          </a:p>
          <a:p>
            <a:r>
              <a:rPr sz="1200"/>
              <a:t>四步：研究问题问什么；构念与题项，怎么把问题变成可答的题；抽样与施测，发给谁、收回来什么；统计与结论，证据能撑到哪一步。</a:t>
            </a:r>
          </a:p>
          <a:p>
            <a:r>
              <a:rPr sz="1200"/>
              <a:t>两个案例按同一把尺看。闭住，就是一份好问卷；断在任何一环，结论就悬空。我们下面看到的两处断点，恰好一环在第 2 步、一环在第 4 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02 页 ｜ 1:01–1:49 ｜ 最迟 1:59 翻页 ｜ 本节 214 字</a:t>
            </a:r>
          </a:p>
          <a:p>
            <a:r>
              <a:rPr sz="1200"/>
              <a:t>交替传译里有个东西叫笔记熟练度，大家都想测，可它看不见摸不着：你不能靠看一份笔记成品打分，也很难让别人替他评。</a:t>
            </a:r>
          </a:p>
          <a:p>
            <a:r>
              <a:rPr sz="1200"/>
              <a:t>作者就干了两件事——给它一个可操作的定义，再编一份可以被复核的自评问卷，也就是量表。所以这一页的重点不是"发现了什么规律"，而是：它交付了一件别人还能接着用的测量工具。</a:t>
            </a:r>
          </a:p>
          <a:p>
            <a:r>
              <a:rPr sz="1200"/>
              <a:t>周金华、董燕萍 2019 年，发在《外语教学与研究》，文末附了全部 21 个题项，构念是两阶段乘四个维度。想核对的课后可以上广外的实验成果页直接下载。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03 页 ｜ 1:49–2:53 ｜ 最迟 3:03 翻页 ｜ 本节 291 字</a:t>
            </a:r>
          </a:p>
          <a:p>
            <a:r>
              <a:rPr sz="1200"/>
              <a:t>七步。请大家只看右边那一列：每一步，论文里都留下一行可以核查的证据，这一列就是你写"研究方法"那一节时要写的句子。</a:t>
            </a:r>
          </a:p>
          <a:p>
            <a:r>
              <a:rPr sz="1200"/>
              <a:t>第一步界定构念，把"熟练"拆成记录和理解两个阶段、四个维度；第二步生成题库，七十四题，题干几乎全取自学习日志和访谈里译员的原话；第三步专家评审，五名学员译员加三名教师译员，三轮讨论历时半年，收到二十八题、李克特六点；第四步试测，五十四名学生，用极端组比较和同质性检验删掉七题。</a:t>
            </a:r>
          </a:p>
          <a:p>
            <a:r>
              <a:rPr sz="1200"/>
              <a:t>改名"口译笔记自我描述量表"，为的是压低社会赞许性；正式施测一百四十四名近一学年有笔记交传训练的本科生；α 等于 .901，内容效度指数全为 1，四个因子解释 60.49%，再和三项效标相关。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04 页 ｜ 2:53–3:35 ｜ 最迟 3:45 翻页 ｜ 本节 192 字</a:t>
            </a:r>
          </a:p>
          <a:p>
            <a:r>
              <a:rPr sz="1200"/>
              <a:t>三点可以直接搬进我们的论文。</a:t>
            </a:r>
          </a:p>
          <a:p>
            <a:r>
              <a:rPr sz="1200"/>
              <a:t>第一，构念先于题项：先写操作定义，再写"构念—维度—题项"对齐表，最后才落笔写题，不要想到什么问什么。</a:t>
            </a:r>
          </a:p>
          <a:p>
            <a:r>
              <a:rPr sz="1200"/>
              <a:t>第二，删题是设计，不是失败：七十四到二十八到二十一，每一轮都留下依据——删了哪些、按哪个指标、阈值多少，同时把信度和内容效度量化报告出来。</a:t>
            </a:r>
          </a:p>
          <a:p>
            <a:r>
              <a:rPr sz="1200"/>
              <a:t>第三，结论只走一步：量表和练习量、动机、绩效对照，所以它敢说"可测、能区分训练阶段"，但绝不说"笔记好所以口译好"。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05 页 ｜ 3:35–4:28 ｜ 最迟 4:38 翻页 ｜ 本节 239 字</a:t>
            </a:r>
          </a:p>
          <a:p>
            <a:r>
              <a:rPr sz="1200"/>
              <a:t>反例换成笔译方向，题目其实很像我们会写的：本科翻译专业要不要引入"机器翻译加译后编辑"，也就是 MTPE 的流程？</a:t>
            </a:r>
          </a:p>
          <a:p>
            <a:r>
              <a:rPr sz="1200"/>
              <a:t>作者自拟一份问卷：六条李克特陈述，感知有用性和感知易用性各三题、六点量表，再加四道开放题，理论框架借的是技术接受模型 TAM。被试是西北一所高校的一百二十七名本科生，一次横断面施测，统计上只做描述和相关。</a:t>
            </a:r>
          </a:p>
          <a:p>
            <a:r>
              <a:rPr sz="1200"/>
              <a:t>数据都报了：样本量、两个分量表的 α 是 .714 和 .835，六题均值四点零二到四点五五，都高于中点。所以这篇的问题不是假，而是它撑不起被要求撑的那个结论。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06 页 ｜ 4:28–5:15 ｜ 最迟 5:25 翻页 ｜ 本节 216 字</a:t>
            </a:r>
          </a:p>
          <a:p>
            <a:r>
              <a:rPr sz="1200"/>
              <a:t>六步都做了，每一步只写了半句。</a:t>
            </a:r>
          </a:p>
          <a:p>
            <a:r>
              <a:rPr sz="1200"/>
              <a:t>第一、二步：目的是论证流程可行，可问卷只回答态度；借了 TAM 的框架，没借它的结构，六个自拟题到底测不测得到那两个构念，没检验。</a:t>
            </a:r>
          </a:p>
          <a:p>
            <a:r>
              <a:rPr sz="1200"/>
              <a:t>第三、四步：一所高校一百二十七人、便利抽样，发放和回收都没报，于是应答率、自选择偏差都无从判断；线上一次填答，没有照应题，也没有注意力检查。</a:t>
            </a:r>
          </a:p>
          <a:p>
            <a:r>
              <a:rPr sz="1200"/>
              <a:t>第五、六步：拿单个题项和课程成绩做相关，均值高于中点就叫"积极"，等于把题项当构念分数用；最后从横断面自陈，一步走到"应纳入课程"。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07 页 ｜ 5:15–5:57 ｜ 最迟 6:07 翻页 ｜ 本节 190 字</a:t>
            </a:r>
          </a:p>
          <a:p>
            <a:r>
              <a:rPr sz="1200"/>
              <a:t>如果要救，只需要三处最小改动。</a:t>
            </a:r>
          </a:p>
          <a:p>
            <a:r>
              <a:rPr sz="1200"/>
              <a:t>第一，题项来自已验证的量表：自拟三条不等于"感知有用性"；沿用就注明出处，自编就至少补一次 EFA，或者报告题总相关。</a:t>
            </a:r>
          </a:p>
          <a:p>
            <a:r>
              <a:rPr sz="1200"/>
              <a:t>第二，别用单题代表构念：先把题目按维度合成均分、报 α，再做相关，措辞只写"关联"，不写"影响"。</a:t>
            </a:r>
          </a:p>
          <a:p>
            <a:r>
              <a:rPr sz="1200"/>
              <a:t>第三，结论收缩到样本：一百二十七人只能说明"该校学生"，同时报出发放、回收、有效三份数字和判定规则。</a:t>
            </a:r>
          </a:p>
          <a:p>
            <a:r>
              <a:rPr sz="1200"/>
              <a:t>三条都不需要重做研究，当天就能补。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08 页 ｜ 5:57–6:52 ｜ 最迟 7:02 翻页 ｜ 本节 250 字</a:t>
            </a:r>
          </a:p>
          <a:p>
            <a:r>
              <a:rPr sz="1200"/>
              <a:t>〔从最上一行开始，逐行横扫〕</a:t>
            </a:r>
          </a:p>
          <a:p>
            <a:r>
              <a:rPr sz="1200"/>
              <a:t>把两篇放在同一张桌子上，它们问的其实是同一件事：这份问卷，凭什么得出这个结论？</a:t>
            </a:r>
          </a:p>
          <a:p>
            <a:r>
              <a:rPr sz="1200"/>
              <a:t>题项哪来的：一边是日志、访谈加三轮评审，七十四到二十八到二十一；一边自拟六条，无评审、无前测。</a:t>
            </a:r>
          </a:p>
          <a:p>
            <a:r>
              <a:rPr sz="1200"/>
              <a:t>测的是什么：一边四个维度的构念，并用因子分析复核过；一边两个构念各三题，结构未检验。</a:t>
            </a:r>
          </a:p>
          <a:p>
            <a:r>
              <a:rPr sz="1200"/>
              <a:t>谁在填：一边一百四十四名同一训练阶段的学生、条件写明；一边两个年级一百二十七人、回收口径没写。</a:t>
            </a:r>
          </a:p>
          <a:p>
            <a:r>
              <a:rPr sz="1200"/>
              <a:t>信度 .901 对 .714 和 .835；效度一边有内容效度、因子分析和三项效标，一边只有单题和成绩的相关；结论一边停在"可测"，一边写到"可行"。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09 页 ｜ 6:52–7:39 ｜ 最迟 7:49 翻页 ｜ 本节 213 字</a:t>
            </a:r>
          </a:p>
          <a:p>
            <a:r>
              <a:rPr sz="1200"/>
              <a:t>这是我们组整理的十条，交稿前逐条打勾，勾不上的那一行就是最可能被老师追问的地方。</a:t>
            </a:r>
          </a:p>
          <a:p>
            <a:r>
              <a:rPr sz="1200"/>
              <a:t>研究问题写成一句可回答的话；构念、维度、题项要有一张能对齐的表；题项来源写清——沿用注出处、改编列改动、自编说过程；总体、抽样框、纳入排除各一句话；发放、回收、有效三份数字，先定无效判定规则；前测或专家评审留痕；信度报 α 或 ω，多维就报 EFA 或 CFA；指导语交代匿名、用途和自愿退出；题型与统计对应；最后，横断面自陈只说关联、不说因果。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10 页 ｜ 7:39–8:27 ｜ 最迟 8:37 结束 ｜ 本节 217 字</a:t>
            </a:r>
          </a:p>
          <a:p>
            <a:r>
              <a:rPr sz="1200"/>
              <a:t>最后四道题留给大家，大约四分钟：第一题，预算只剩三十份问卷，四道检验保哪两道、舍哪一道；第二题，"均值高于中点"要补哪个统计量才站得住；第三题，把结论推广到 MTI 群体，最少补哪三条信息；第四题留给我们自己，对照刚才那几处断点，你最担心踩到哪一条。</a:t>
            </a:r>
          </a:p>
          <a:p>
            <a:r>
              <a:rPr sz="1200"/>
              <a:t>资料清单在这页右边，两篇原文都能直接点开核对数字，检索式也可以照抄。完整的参考文献、英文术语表，还有一份备用英文版讲稿，都放在我们发的《附录_资料与英文稿》里。</a:t>
            </a:r>
          </a:p>
          <a:p>
            <a:r>
              <a:rPr sz="1200"/>
              <a:t>我们的汇报到这里，谢谢。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《翻译研究方法》第 1 组 · 方法 A 案例部分 ｜ QUESTIONNAIRE · POSITIVE VS NEGATIVE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6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一份问卷，两种命运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87168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7070"/>
                </a:solidFill>
                <a:latin typeface="Calibri"/>
                <a:ea typeface="Microsoft YaHei"/>
                <a:cs typeface="Microsoft YaHei"/>
              </a:rPr>
              <a:t>A Questionnaire, Two Fates ｜ Interpreting × Translation</a:t>
            </a:r>
          </a:p>
        </p:txBody>
      </p:sp>
      <p:sp _keep="1">
        <p:nvSpPr>
          <p:cNvPr id="5" name="Rectangle 4"/>
          <p:cNvSpPr/>
          <p:nvPr/>
        </p:nvSpPr>
        <p:spPr>
          <a:xfrm>
            <a:off x="566928" y="3657600"/>
            <a:ext cx="4754880" cy="914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5876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正例（口译）｜ 周金华、董燕萍 2019，《外语教学与研究》51(6)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反例（笔译）｜ Yang &amp; Mustafa 2022, Human Behavior and Emerging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4748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全程只用一把尺：研究问题 → 构念与题项 → 抽样与施测 → 统计与结论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424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8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小组分工（4 人）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于萍［组长］框架与逻辑主线、正反例评析（P04、P07）｜ 陈冠臻 正例文献核对与流程梳理（P02–P03）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熊芮 反例文献核对与数据摘记（P05–P06）｜ 方燕 对照表、自检清单、思考题与资料汇总（P08–P10）｜ 汇报人：＿＿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封面 · 不计页码 ｜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四步 ｜ 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先看链条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闭住就是好问卷；断在任何一环，结论就悬空。</a:t>
            </a:r>
          </a:p>
        </p:txBody>
      </p:sp>
      <p:sp _keep="1">
        <p:nvSpPr>
          <p:cNvPr id="5" name="Rectangle 4"/>
          <p:cNvSpPr/>
          <p:nvPr/>
        </p:nvSpPr>
        <p:spPr>
          <a:xfrm>
            <a:off x="566928" y="2359152"/>
            <a:ext cx="2578608" cy="15727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6" name="Rectangle 5"/>
          <p:cNvSpPr/>
          <p:nvPr/>
        </p:nvSpPr>
        <p:spPr>
          <a:xfrm>
            <a:off x="566928" y="2359152"/>
            <a:ext cx="41148" cy="1572768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15184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01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要回答什么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Research question</a:t>
            </a:r>
          </a:p>
        </p:txBody>
      </p:sp>
      <p:sp _keep="1">
        <p:nvSpPr>
          <p:cNvPr id="8" name="Rectangle 7"/>
          <p:cNvSpPr/>
          <p:nvPr/>
        </p:nvSpPr>
        <p:spPr>
          <a:xfrm>
            <a:off x="3392424" y="2359152"/>
            <a:ext cx="2578608" cy="15727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9" name="Rectangle 8"/>
          <p:cNvSpPr/>
          <p:nvPr/>
        </p:nvSpPr>
        <p:spPr>
          <a:xfrm>
            <a:off x="3392424" y="2359152"/>
            <a:ext cx="41148" cy="1572768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2615184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02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构念与题项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怎么变成可答的题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Construct &amp; items</a:t>
            </a:r>
          </a:p>
        </p:txBody>
      </p:sp>
      <p:sp _keep="1">
        <p:nvSpPr>
          <p:cNvPr id="11" name="Rectangle 10"/>
          <p:cNvSpPr/>
          <p:nvPr/>
        </p:nvSpPr>
        <p:spPr>
          <a:xfrm>
            <a:off x="6217920" y="2359152"/>
            <a:ext cx="2578608" cy="15727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12" name="Rectangle 11"/>
          <p:cNvSpPr/>
          <p:nvPr/>
        </p:nvSpPr>
        <p:spPr>
          <a:xfrm>
            <a:off x="6217920" y="2359152"/>
            <a:ext cx="41148" cy="1572768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15184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03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抽样与施测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向谁发、怎么收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Sampling &amp; admin.</a:t>
            </a:r>
          </a:p>
        </p:txBody>
      </p:sp>
      <p:sp _keep="1">
        <p:nvSpPr>
          <p:cNvPr id="14" name="Rectangle 13"/>
          <p:cNvSpPr/>
          <p:nvPr/>
        </p:nvSpPr>
        <p:spPr>
          <a:xfrm>
            <a:off x="9043415" y="2359152"/>
            <a:ext cx="2578608" cy="15727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15" name="Rectangle 14"/>
          <p:cNvSpPr/>
          <p:nvPr/>
        </p:nvSpPr>
        <p:spPr>
          <a:xfrm>
            <a:off x="9043415" y="2359152"/>
            <a:ext cx="41148" cy="1572768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615184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6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04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统计与结论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证据撑到哪一步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Analysis &amp;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6110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断点最常出现在第 2 与第 4 步：题项测的不是那个构念；结论比数据多走了几步。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正例 · 口译研究 ｜ POSITIVE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把“熟练度”变成可测的构念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3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笔记熟练度，看不见、摸不着 —— 能测吗？</a:t>
            </a:r>
          </a:p>
        </p:txBody>
      </p:sp>
      <p:sp _keep="1">
        <p:nvSpPr>
          <p:cNvPr id="5" name="Rectangle 4"/>
          <p:cNvSpPr/>
          <p:nvPr/>
        </p:nvSpPr>
        <p:spPr>
          <a:xfrm>
            <a:off x="566928" y="2249424"/>
            <a:ext cx="10881360" cy="128016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6" name="Rectangle 5"/>
          <p:cNvSpPr/>
          <p:nvPr/>
        </p:nvSpPr>
        <p:spPr>
          <a:xfrm>
            <a:off x="566928" y="2249424"/>
            <a:ext cx="41148" cy="1280160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871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给一个可操作的定义，再编一份可被复核的自评问卷（量表）。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目标不是“发现规律”，而是交付一件能接着用的工具。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587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周金华、董燕萍（2019）. 口译笔记熟练度量表的开发. 外语教学与研究 51(6): 925-937.（附 21 题全文）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720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构念：两阶段（记录 / 理解）× 四维度（听记协调 · 系统性 · 时效性 · 使用）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正例 · 怎么做 ｜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七步，每步留下一件证据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右栏 ＝ 你写“研究方法”一节时要写的句子。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1284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界定构念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2128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两阶段 × 四维度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7" y="22128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构念定义＋维度表</a:t>
            </a:r>
          </a:p>
        </p:txBody>
      </p:sp>
      <p:sp _keep="1">
        <p:nvSpPr>
          <p:cNvPr id="8" name="Rectangle 7"/>
          <p:cNvSpPr/>
          <p:nvPr/>
        </p:nvSpPr>
        <p:spPr>
          <a:xfrm>
            <a:off x="566928" y="2487168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8833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生成题库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6883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74 题，来自日志与访谈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26883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题项来源说明</a:t>
            </a:r>
          </a:p>
        </p:txBody>
      </p:sp>
      <p:sp _keep="1">
        <p:nvSpPr>
          <p:cNvPr id="12" name="Rectangle 11"/>
          <p:cNvSpPr/>
          <p:nvPr/>
        </p:nvSpPr>
        <p:spPr>
          <a:xfrm>
            <a:off x="566928" y="2962656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6382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专家评审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1638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3 轮 → 28 题（6 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16382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评审人数与依据</a:t>
            </a:r>
          </a:p>
        </p:txBody>
      </p:sp>
      <p:sp _keep="1">
        <p:nvSpPr>
          <p:cNvPr id="16" name="Rectangle 15"/>
          <p:cNvSpPr/>
          <p:nvPr/>
        </p:nvSpPr>
        <p:spPr>
          <a:xfrm>
            <a:off x="566928" y="3438144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3931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试测删题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6393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54 人 → 删 7 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6393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删题指标与阈值</a:t>
            </a:r>
          </a:p>
        </p:txBody>
      </p:sp>
      <p:sp _keep="1">
        <p:nvSpPr>
          <p:cNvPr id="20" name="Rectangle 19"/>
          <p:cNvSpPr/>
          <p:nvPr/>
        </p:nvSpPr>
        <p:spPr>
          <a:xfrm>
            <a:off x="566928" y="3913632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正式施测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114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144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114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总体口径与份数</a:t>
            </a:r>
          </a:p>
        </p:txBody>
      </p:sp>
      <p:sp _keep="1">
        <p:nvSpPr>
          <p:cNvPr id="24" name="Rectangle 23"/>
          <p:cNvSpPr/>
          <p:nvPr/>
        </p:nvSpPr>
        <p:spPr>
          <a:xfrm>
            <a:off x="566928" y="4389120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信度效度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45902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α = .901；CVI =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45902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信效度指标表</a:t>
            </a:r>
          </a:p>
        </p:txBody>
      </p:sp>
      <p:sp _keep="1">
        <p:nvSpPr>
          <p:cNvPr id="28" name="Rectangle 27"/>
          <p:cNvSpPr/>
          <p:nvPr/>
        </p:nvSpPr>
        <p:spPr>
          <a:xfrm>
            <a:off x="566928" y="4864607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65775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三项效标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506577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.473 · .539 · .556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506577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效标＋组间比较</a:t>
            </a:r>
          </a:p>
        </p:txBody>
      </p:sp>
      <p:sp _keep="1">
        <p:nvSpPr>
          <p:cNvPr id="32" name="Rectangle 31"/>
          <p:cNvSpPr/>
          <p:nvPr/>
        </p:nvSpPr>
        <p:spPr>
          <a:xfrm>
            <a:off x="566928" y="5340095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6144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结果：21 题 · 4 因子解释 60.49% ｜ 初级组与高级组差异显著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正例 · 可迁移 ｜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三点值得照搬</a:t>
            </a:r>
          </a:p>
        </p:txBody>
      </p:sp>
      <p:sp _keep="1">
        <p:nvSpPr>
          <p:cNvPr id="4" name="Rectangle 3"/>
          <p:cNvSpPr/>
          <p:nvPr/>
        </p:nvSpPr>
        <p:spPr>
          <a:xfrm>
            <a:off x="566928" y="2231136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5" name="Rectangle 4"/>
          <p:cNvSpPr/>
          <p:nvPr/>
        </p:nvSpPr>
        <p:spPr>
          <a:xfrm>
            <a:off x="566928" y="2231136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50591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构念先于题项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先有操作定义与对齐表，再写题项。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Construct first, items second.</a:t>
            </a:r>
          </a:p>
        </p:txBody>
      </p:sp>
      <p:sp _keep="1">
        <p:nvSpPr>
          <p:cNvPr id="7" name="Rectangle 6"/>
          <p:cNvSpPr/>
          <p:nvPr/>
        </p:nvSpPr>
        <p:spPr>
          <a:xfrm>
            <a:off x="566928" y="3529584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8" name="Rectangle 7"/>
          <p:cNvSpPr/>
          <p:nvPr/>
        </p:nvSpPr>
        <p:spPr>
          <a:xfrm>
            <a:off x="566928" y="3529584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49039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删题是设计，不是失败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74 → 28 → 21，每轮都留下依据。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Item analysis, reported.</a:t>
            </a:r>
          </a:p>
        </p:txBody>
      </p:sp>
      <p:sp _keep="1">
        <p:nvSpPr>
          <p:cNvPr id="10" name="Rectangle 9"/>
          <p:cNvSpPr/>
          <p:nvPr/>
        </p:nvSpPr>
        <p:spPr>
          <a:xfrm>
            <a:off x="566928" y="4828031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11" name="Rectangle 10"/>
          <p:cNvSpPr/>
          <p:nvPr/>
        </p:nvSpPr>
        <p:spPr>
          <a:xfrm>
            <a:off x="566928" y="4828031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47488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 结论只走一步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只说“可测、能区分阶段”，不说“笔记好所以口译好”。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Claim no more than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108192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另：21 题随附录公开 —— 工具可复用，研究才能被复核。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反例 · 笔译研究 ｜ NEGATIVE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六道题，去撑一个新流程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3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问题：本科翻译专业要不要引入“机器翻译 ＋ 译后编辑（MTPE）”的流程？</a:t>
            </a:r>
          </a:p>
        </p:txBody>
      </p:sp>
      <p:sp _keep="1">
        <p:nvSpPr>
          <p:cNvPr id="5" name="Rectangle 4"/>
          <p:cNvSpPr/>
          <p:nvPr/>
        </p:nvSpPr>
        <p:spPr>
          <a:xfrm>
            <a:off x="566928" y="2249424"/>
            <a:ext cx="10881360" cy="128016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6" name="Rectangle 5"/>
          <p:cNvSpPr/>
          <p:nvPr/>
        </p:nvSpPr>
        <p:spPr>
          <a:xfrm>
            <a:off x="566928" y="2249424"/>
            <a:ext cx="41148" cy="1280160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871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工具：6 条李克特陈述（有用性 3 · 易用性 3，6 点）＋ 4 道开放题。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设计：横断面自陈态度；框架借技术接受模型（TAM）；与两门课成绩做相关。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587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Yang &amp; Mustafa (2022). On postediting of MT and workflow. HBET, 5793054.（开放获取）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720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它也报了数字：N = 127 ｜ α = .714 / .835 ｜ 均值 4.02–4.55（都高于中点）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反例 · 断点 ｜ WHERE IT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六步都做了，每步只半句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左：论文写了的 ｜ 右：缺掉的那一环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31136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目的与工具错位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31136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要论证“可行”，只答了态度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22311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可行性需评审或试点</a:t>
            </a:r>
          </a:p>
        </p:txBody>
      </p:sp>
      <p:sp _keep="1">
        <p:nvSpPr>
          <p:cNvPr id="8" name="Rectangle 7"/>
          <p:cNvSpPr/>
          <p:nvPr/>
        </p:nvSpPr>
        <p:spPr>
          <a:xfrm>
            <a:off x="566928" y="2505456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61488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借框架不借结构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61488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TAM 两构念，6 条自拟题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761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结构未经检验</a:t>
            </a:r>
          </a:p>
        </p:txBody>
      </p:sp>
      <p:sp _keep="1">
        <p:nvSpPr>
          <p:cNvPr id="12" name="Rectangle 11"/>
          <p:cNvSpPr/>
          <p:nvPr/>
        </p:nvSpPr>
        <p:spPr>
          <a:xfrm>
            <a:off x="566928" y="3035808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29184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抽样口径模糊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一所高校，便利抽样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3291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未报发放 / 回收 / 有效</a:t>
            </a:r>
          </a:p>
        </p:txBody>
      </p:sp>
      <p:sp _keep="1">
        <p:nvSpPr>
          <p:cNvPr id="16" name="Rectangle 15"/>
          <p:cNvSpPr/>
          <p:nvPr/>
        </p:nvSpPr>
        <p:spPr>
          <a:xfrm>
            <a:off x="566928" y="3566160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22191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施测一次成型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22191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线上一次填答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822191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无照应题与偏差控制</a:t>
            </a:r>
          </a:p>
        </p:txBody>
      </p:sp>
      <p:sp _keep="1">
        <p:nvSpPr>
          <p:cNvPr id="20" name="Rectangle 19"/>
          <p:cNvSpPr/>
          <p:nvPr/>
        </p:nvSpPr>
        <p:spPr>
          <a:xfrm>
            <a:off x="566928" y="4096511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5254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分析层级错位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52544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单题 × 课程成绩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3525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把题项当构念用</a:t>
            </a:r>
          </a:p>
        </p:txBody>
      </p:sp>
      <p:sp _keep="1">
        <p:nvSpPr>
          <p:cNvPr id="24" name="Rectangle 23"/>
          <p:cNvSpPr/>
          <p:nvPr/>
        </p:nvSpPr>
        <p:spPr>
          <a:xfrm>
            <a:off x="566928" y="4626864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882896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写作代替解释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82896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均值高于中点 → “可行”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88289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横断面推不出因果</a:t>
            </a:r>
          </a:p>
        </p:txBody>
      </p:sp>
      <p:sp _keep="1">
        <p:nvSpPr>
          <p:cNvPr id="28" name="Rectangle 27"/>
          <p:cNvSpPr/>
          <p:nvPr/>
        </p:nvSpPr>
        <p:spPr>
          <a:xfrm>
            <a:off x="566928" y="5157216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541264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这不是造假：数据是真的，统计也报了 —— 它只是撑不起被要求撑的那个结论。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反例 · 引以为戒 ｜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三处最容易踩</a:t>
            </a:r>
          </a:p>
        </p:txBody>
      </p:sp>
      <p:sp _keep="1">
        <p:nvSpPr>
          <p:cNvPr id="4" name="Rectangle 3"/>
          <p:cNvSpPr/>
          <p:nvPr/>
        </p:nvSpPr>
        <p:spPr>
          <a:xfrm>
            <a:off x="566928" y="2231136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5" name="Rectangle 4"/>
          <p:cNvSpPr/>
          <p:nvPr/>
        </p:nvSpPr>
        <p:spPr>
          <a:xfrm>
            <a:off x="566928" y="2231136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32304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题项要来自已验证的量表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自拟 3 条不等于“感知有用性”。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改：沿用已验证条目并标出处；补 EFA 或报题总相关。</a:t>
            </a:r>
          </a:p>
        </p:txBody>
      </p:sp>
      <p:sp _keep="1">
        <p:nvSpPr>
          <p:cNvPr id="7" name="Rectangle 6"/>
          <p:cNvSpPr/>
          <p:nvPr/>
        </p:nvSpPr>
        <p:spPr>
          <a:xfrm>
            <a:off x="566928" y="3529584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8" name="Rectangle 7"/>
          <p:cNvSpPr/>
          <p:nvPr/>
        </p:nvSpPr>
        <p:spPr>
          <a:xfrm>
            <a:off x="566928" y="3529584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730752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别用单题代表构念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Q6 × 成绩 r = .746 → “能力强”？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改：先合成维度均分并报 α，再做相关；只写“关联”。</a:t>
            </a:r>
          </a:p>
        </p:txBody>
      </p:sp>
      <p:sp _keep="1">
        <p:nvSpPr>
          <p:cNvPr id="10" name="Rectangle 9"/>
          <p:cNvSpPr/>
          <p:nvPr/>
        </p:nvSpPr>
        <p:spPr>
          <a:xfrm>
            <a:off x="566928" y="4828031"/>
            <a:ext cx="10881360" cy="1133856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 _keep="1">
        <p:nvSpPr>
          <p:cNvPr id="11" name="Rectangle 10"/>
          <p:cNvSpPr/>
          <p:nvPr/>
        </p:nvSpPr>
        <p:spPr>
          <a:xfrm>
            <a:off x="566928" y="4828031"/>
            <a:ext cx="41148" cy="1133856"/>
          </a:xfrm>
          <a:prstGeom prst="rect">
            <a:avLst/>
          </a:prstGeom>
          <a:solidFill>
            <a:srgbClr val="24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29199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结论要收缩到样本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127 人 → “教学可行”？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改：称“该校学生”；报发放 / 回收 / 有效三份数字。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108192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底线：剔卷标准与编码规则要预先写清（此处 18 份被剔除，依据未披露）。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同一把尺 ｜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两案并排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2784" y="18105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口译 · 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50224" y="1810512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笔译 MTPE · 反例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题项哪来的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2784" y="22128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日志＋访谈＋评审 74→28→21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0224" y="221284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自拟 6 条，无评审前测</a:t>
            </a:r>
          </a:p>
        </p:txBody>
      </p:sp>
      <p:sp _keep="1">
        <p:nvSpPr>
          <p:cNvPr id="9" name="Rectangle 8"/>
          <p:cNvSpPr/>
          <p:nvPr/>
        </p:nvSpPr>
        <p:spPr>
          <a:xfrm>
            <a:off x="566928" y="2487168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6883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测的是什么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6883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 维度，EFA 复核吻合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268833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2 构念各 3 题，未检验</a:t>
            </a:r>
          </a:p>
        </p:txBody>
      </p:sp>
      <p:sp _keep="1">
        <p:nvSpPr>
          <p:cNvPr id="13" name="Rectangle 12"/>
          <p:cNvSpPr/>
          <p:nvPr/>
        </p:nvSpPr>
        <p:spPr>
          <a:xfrm>
            <a:off x="566928" y="2962656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63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谁在填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163824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144 人，条件写明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3163824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127 人，回收口径未报</a:t>
            </a:r>
          </a:p>
        </p:txBody>
      </p:sp>
      <p:sp _keep="1">
        <p:nvSpPr>
          <p:cNvPr id="17" name="Rectangle 16"/>
          <p:cNvSpPr/>
          <p:nvPr/>
        </p:nvSpPr>
        <p:spPr>
          <a:xfrm>
            <a:off x="566928" y="3438144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393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信度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63931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α = .901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639312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.714 / .835</a:t>
            </a:r>
          </a:p>
        </p:txBody>
      </p:sp>
      <p:sp _keep="1">
        <p:nvSpPr>
          <p:cNvPr id="21" name="Rectangle 20"/>
          <p:cNvSpPr/>
          <p:nvPr/>
        </p:nvSpPr>
        <p:spPr>
          <a:xfrm>
            <a:off x="566928" y="3913632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148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效度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41148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CVI ＋ EFA ＋ 三项效标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4114800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单题 × 课程成绩</a:t>
            </a:r>
          </a:p>
        </p:txBody>
      </p:sp>
      <p:sp _keep="1">
        <p:nvSpPr>
          <p:cNvPr id="25" name="Rectangle 24"/>
          <p:cNvSpPr/>
          <p:nvPr/>
        </p:nvSpPr>
        <p:spPr>
          <a:xfrm>
            <a:off x="566928" y="4389120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590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结论走到哪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59028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可测、能区分训练阶段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4590288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流程可行、纳入课程</a:t>
            </a:r>
          </a:p>
        </p:txBody>
      </p:sp>
      <p:sp _keep="1">
        <p:nvSpPr>
          <p:cNvPr id="29" name="Rectangle 28"/>
          <p:cNvSpPr/>
          <p:nvPr/>
        </p:nvSpPr>
        <p:spPr>
          <a:xfrm>
            <a:off x="566928" y="4864607"/>
            <a:ext cx="1088136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175504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倒过来读，就是你的自检表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5230368"/>
            <a:ext cx="51755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题项哪来的？测的还是它吗？谁填的、留下多少？信度在哪一行？结论多走了几步
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交稿前 ｜ TEN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十行自检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这十条在正例那篇里都有对应段落 —— 抄它的结构，别抄它的内容。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942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224942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研究问题：一句可回答的话（描述 / 比较 / 关联）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34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63347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构念 → 维度 → 题项：一张对齐表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017520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题项来源：沿用注出处｜改编列改动｜自编说过程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40156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总体、抽样框、纳入与排除：各一句话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856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3785615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发放 / 回收 / 有效：三份数字＋回收率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69663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169663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无效判定规则：先定后用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5371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4553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前测与专家评审：留痕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937759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4937759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信度 α / ω；多维则 EFA / CFA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21807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5321807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指导语：匿名、用途、自愿退出；敏感题后置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0585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5705855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结论分寸：横断面只说关联，不说因果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249424"/>
            <a:ext cx="457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CE3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30">
                <a:solidFill>
                  <a:srgbClr val="9C9C9C"/>
                </a:solidFill>
                <a:latin typeface="Calibri"/>
                <a:ea typeface="Microsoft YaHei"/>
                <a:cs typeface="Microsoft YaHei"/>
              </a:rPr>
              <a:t>讨论 ＋ 资料 ｜ DISCUSSION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spc="4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四道思考题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6" y="21214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212140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30 份问卷的预算，四道检验保哪两道？</a:t>
            </a:r>
          </a:p>
        </p:txBody>
      </p:sp>
      <p:sp _keep="1">
        <p:nvSpPr>
          <p:cNvPr id="7" name="Rectangle 6"/>
          <p:cNvSpPr/>
          <p:nvPr/>
        </p:nvSpPr>
        <p:spPr>
          <a:xfrm>
            <a:off x="566928" y="2432303"/>
            <a:ext cx="667512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700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6700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补一个统计量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67004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“均值高于中点”＝“总体积极”？你补哪个、为什么？</a:t>
            </a:r>
          </a:p>
        </p:txBody>
      </p:sp>
      <p:sp _keep="1">
        <p:nvSpPr>
          <p:cNvPr id="11" name="Rectangle 10"/>
          <p:cNvSpPr/>
          <p:nvPr/>
        </p:nvSpPr>
        <p:spPr>
          <a:xfrm>
            <a:off x="566928" y="2980944"/>
            <a:ext cx="667512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18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追问样本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21868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要推广到 MTI，最少补哪三条信息？</a:t>
            </a:r>
          </a:p>
        </p:txBody>
      </p:sp>
      <p:sp _keep="1">
        <p:nvSpPr>
          <p:cNvPr id="15" name="Rectangle 14"/>
          <p:cNvSpPr/>
          <p:nvPr/>
        </p:nvSpPr>
        <p:spPr>
          <a:xfrm>
            <a:off x="566928" y="3529584"/>
            <a:ext cx="667512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7673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">
                <a:solidFill>
                  <a:srgbClr val="24476E"/>
                </a:solidFill>
                <a:latin typeface="Consolas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767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反身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7673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对照六病，你最怕踩哪一条？最小改法是什么？</a:t>
            </a:r>
          </a:p>
        </p:txBody>
      </p:sp>
      <p:sp _keep="1">
        <p:nvSpPr>
          <p:cNvPr id="19" name="Rectangle 18"/>
          <p:cNvSpPr/>
          <p:nvPr/>
        </p:nvSpPr>
        <p:spPr>
          <a:xfrm>
            <a:off x="566928" y="4078224"/>
            <a:ext cx="6675120" cy="914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171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讨论 4 分钟：本组每题先自答一句，再点人。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17739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3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论文与学习资料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13969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正例全文＋量表附录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23682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bcdlab.gdufs.edu.cn/info/1025/2025.htm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74320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反例原文（开放获取）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971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onlinelibrary.wiley.com/doi/10.1155/2022/5793054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33467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同类笔译态度调查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5753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doi.org/10.18298/ijlet.3242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95020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口译问卷范例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41788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张威（2013）《中国翻译》(2): 17-25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455371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方法读物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7823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吴明隆《问卷统计分析实务》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515721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检索式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53858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CNKI: 翻译 AND（问卷 OR 量表）AND 信效度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58155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C9C9C"/>
                </a:solidFill>
                <a:latin typeface="Microsoft YaHei"/>
                <a:ea typeface="Microsoft YaHei"/>
                <a:cs typeface="Microsoft YaHei"/>
              </a:rPr>
              <a:t>两条链接都可直接点开核对数字；检索式可复制到知网 / Web of Scien
ce。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6241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9C9C9C"/>
                </a:solidFill>
                <a:latin typeface="Consolas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