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封面（第 00 页） ｜ 0:00–0:37 ｜ 最迟 0:48 ｜ 本节 176 字 ｜ 翻页</a:t>
            </a:r>
          </a:p>
          <a:p>
            <a:r>
              <a:rPr sz="1200"/>
              <a:t>大家好，我是＿＿，下面十分钟由我汇报我们组的"方法 A 正反例"：问卷调查法。</a:t>
            </a:r>
          </a:p>
          <a:p>
            <a:r>
              <a:rPr sz="1200"/>
              <a:t>这一页只有两篇文献和一句话，它就是今天全部的判断标准：研究问题 → 构念与题项 → 抽样与施测 → 统计与结论，这条链闭了没有。</a:t>
            </a:r>
          </a:p>
          <a:p>
            <a:r>
              <a:rPr sz="1200"/>
              <a:t>正例是口译研究、中文核心期刊；反例是笔译研究、国际期刊，两篇都在翻译研究领域。</a:t>
            </a:r>
          </a:p>
          <a:p>
            <a:r>
              <a:rPr sz="1200"/>
              <a:t>下面这块是课程要求的小组分工，四位成员各管一块，我不念了，请老师看。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01 页 ｜ 10 分钟怎么走 ｜ 0:37–1:04 ｜ 最迟 1:15 ｜ 本节 127 字 ｜ 翻页</a:t>
            </a:r>
          </a:p>
          <a:p>
            <a:r>
              <a:rPr sz="1200"/>
              <a:t>四个环节，两个案例走同一套，方便逐条对照：概况、流程、评析、收束，每页五十到七十秒。</a:t>
            </a:r>
          </a:p>
          <a:p>
            <a:r>
              <a:rPr sz="1200"/>
              <a:t>口译那篇把每个环节都写在纸面上，最容易复制；笔译那篇题少、发表快、统计也报了，是我们作业里最常见的"看起来像实证"的问卷。</a:t>
            </a:r>
          </a:p>
          <a:p>
            <a:r>
              <a:rPr sz="1200"/>
              <a:t>先说立场：两篇都不是坏研究，差别只在链条闭没闭。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02 页 ｜ 正例概况 ｜ 1:04–2:12 ｜ 最迟 2:23 ｜ 本节 324 字 ｜ 翻页</a:t>
            </a:r>
          </a:p>
          <a:p>
            <a:r>
              <a:rPr sz="1200"/>
              <a:t>交替传译里有个都想测却测不着的东西：笔记熟练度。它看不见摸不着，既不能看笔记成品打分，也很难由他人评估。作者要做的，就是给它一个可操作的定义，再编一份可被复核的自评问卷。</a:t>
            </a:r>
          </a:p>
          <a:p>
            <a:r>
              <a:rPr sz="1200"/>
              <a:t>质性材料生成题库：学习日志加十名译员（四学员、六教师）的访谈 → 专家评议 → 预试量表 → 试测做项目分析 → 正式施测 → 信度、内容效度、建构效度、效标效度四道检验。</a:t>
            </a:r>
          </a:p>
          <a:p>
            <a:r>
              <a:rPr sz="1200"/>
              <a:t>量表 21 题、4 个维度；α 等于 .901；因子分析抽出四个公因子，与预设维度吻合，累计解释 60.49%；总分与练习小时数 .473、与学习动机 .539、与交传测试绩效 .556 相关，都显著；初级组与高级组差异显著。</a:t>
            </a:r>
          </a:p>
          <a:p>
            <a:r>
              <a:rPr sz="1200"/>
              <a:t>这一页的重点不是"发现了什么规律"，而是：它交付了一件别人还能接着用的测量工具。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03 页 ｜ 正例操作流程 ｜ 2:12–3:21 ｜ 最迟 3:32 ｜ 本节 327 字 ｜ 翻页</a:t>
            </a:r>
          </a:p>
          <a:p>
            <a:r>
              <a:rPr sz="1200"/>
              <a:t>拆成七步。右边这一列请重点看：每一步在论文里留下一句可核查的话，也就是你写"研究方法"那一节要写的句子。</a:t>
            </a:r>
          </a:p>
          <a:p>
            <a:r>
              <a:rPr sz="1200"/>
              <a:t>前三步：界定构念，把"熟练"拆成记录与理解两阶段、四维度；从日志和访谈生成题库，初始七十四题，题干尽量用译员自己的话；八名专家三轮评议、历时半年，收到二十八题、李克特六点。</a:t>
            </a:r>
          </a:p>
          <a:p>
            <a:r>
              <a:rPr sz="1200"/>
              <a:t>中间两步：五十四名大三学生试测，极端组比较加同质性检验删七题、留二十一道并重新排序，量表改名"口译笔记自我描述"压低社会赞许性；正式施测一百四十四名有近一学年笔记交传训练的本科生，条件人数一并写清。</a:t>
            </a:r>
          </a:p>
          <a:p>
            <a:r>
              <a:rPr sz="1200"/>
              <a:t>后两步：α .901，I-CVI、S-CVI 全部为 1，四因子解释 60.49%；再用三项效标和初高级组 t 检验回答最初的问题。</a:t>
            </a:r>
          </a:p>
          <a:p>
            <a:r>
              <a:rPr sz="1200"/>
              <a:t>一句话：每问一个问题，论文里就有一行对应的证据。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04 页 ｜ 正例六点值得照搬 ｜ 3:21–4:18 ｜ 最迟 4:29 ｜ 本节 272 字 ｜ 翻页</a:t>
            </a:r>
          </a:p>
          <a:p>
            <a:r>
              <a:rPr sz="1200"/>
              <a:t>一，构念先于题项：先有操作定义再写题项，不想到什么问什么。二，题库大于量表：七十四到二十八到二十一，删题是设计的一环不是失败，附一张筛选表写清依据哪个指标。</a:t>
            </a:r>
          </a:p>
          <a:p>
            <a:r>
              <a:rPr sz="1200"/>
              <a:t>三，量表形式是选出来的：六点、去掉中点，逼出倾向，避免"中立即逃避"。四，内容效度要量化：不是"请专家看了一下"，而是 I-CVI、S-CVI 计数并报告评审者一致性。</a:t>
            </a:r>
          </a:p>
          <a:p>
            <a:r>
              <a:rPr sz="1200"/>
              <a:t>五，效度要有外部之锚：把问卷分数和练习量、动机、口译绩效对照，问卷才不是自说自话。六，结论只走一步：只说可测、能区分训练阶段，不说"笔记好所以口译好"。</a:t>
            </a:r>
          </a:p>
          <a:p>
            <a:r>
              <a:rPr sz="1200"/>
              <a:t>补一句：二十一道题随附录公开——工具可复用，研究才能被复核、被引用。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05 页 ｜ 反例概况 ｜ 4:18–5:31 ｜ 最迟 5:42 ｜ 本节 345 字 ｜ 翻页</a:t>
            </a:r>
          </a:p>
          <a:p>
            <a:r>
              <a:rPr sz="1200"/>
              <a:t>笔译方向，题目很像我们会写的：本科翻译专业要不要引入"机器翻译加译后编辑"（MTPE）的流程？三问：学生的正面与负面反应是什么；这些反应与机辅翻译、翻译实践两门课成绩有无相关；阻碍使用的因素有哪些。</a:t>
            </a:r>
          </a:p>
          <a:p>
            <a:r>
              <a:rPr sz="1200"/>
              <a:t>一份问卷：六条李克特陈述，有用性与易用性各三题、六点量表，另加四道开放题；被试是西北一所高校翻译专业本科生一百二十七人；定量只做描述统计与相关，开放题 NVivo 编码，框架取自 TAM。</a:t>
            </a:r>
          </a:p>
          <a:p>
            <a:r>
              <a:rPr sz="1200"/>
              <a:t>六题均值四点零二到四点五五，作者读作"总体积极"；α 分维度 .714、.835；第六题与机辅课成绩相关 .746，第二题与笔译课负 .419；开放题归纳出四正四负；结论：MTPE 流程可行，应纳入教学。</a:t>
            </a:r>
          </a:p>
          <a:p>
            <a:r>
              <a:rPr sz="1200"/>
              <a:t>先说清楚：这篇不算造假，数据是真的、统计也报了。问题只有一个——这份问卷撑不起它被要求撑的那个结论。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06 页 ｜ 反例操作流程 ｜ 5:31–6:40 ｜ 最迟 6:51 ｜ 本节 326 字 ｜ 翻页</a:t>
            </a:r>
          </a:p>
          <a:p>
            <a:r>
              <a:rPr sz="1200"/>
              <a:t>六步都"做了"，但每步只写了半句。左边是论文里的做法，右边是缺掉的那一环。</a:t>
            </a:r>
          </a:p>
          <a:p>
            <a:r>
              <a:rPr sz="1200"/>
              <a:t>第一、二步：目的与工具错位——要论证"流程可行"，可问卷只回答态度与相关，可行性得靠专家评审或试点；借框架不借结构——套 TAM 两个构念各三条自拟陈述，无内容评审、无前测，也没检验这三题是否落在两个维度上。</a:t>
            </a:r>
          </a:p>
          <a:p>
            <a:r>
              <a:rPr sz="1200"/>
              <a:t>第三、四步：抽样口径模糊——一所高校一百二十七人，便利抽样，发放回收没报、也没有无效判定规则，应答率与自选择偏差无从评估；施测一次成型——线上一次填答，无照应题、无注意力检查、未谈共同方法偏差。</a:t>
            </a:r>
          </a:p>
          <a:p>
            <a:r>
              <a:rPr sz="1200"/>
              <a:t>第五、六步：分析层级错位——拿单题与课程成绩做相关，均值高于中点即称积极，把题项当构念用，何况六点量表是序数量表；写作代替解释——三组发现并列陈列，直接收束到"建议纳入课程"。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07 页 ｜ 反例六病与最小改法 ｜ 6:40–7:46 ｜ 最迟 7:57 ｜ 本节 312 字 ｜ 翻页</a:t>
            </a:r>
          </a:p>
          <a:p>
            <a:r>
              <a:rPr sz="1200"/>
              <a:t>我提炼成六病，每条配一个最小改法——只给最小改法，是因为答辩时来不及重做研究，而这些当天就能补。</a:t>
            </a:r>
          </a:p>
          <a:p>
            <a:r>
              <a:rPr sz="1200"/>
              <a:t>病一，构念—题项脱钩：改用已验证量表条目并在附录标来源，补因子分析或报题总相关。病二，单题当构念用：先合成维度均分并报 α，再做相关，措辞只写关联不写影响。病三，拿代理效标解释：课程成绩不是能力，要交代成绩口径、控制年级性别，或改用盲评的测试卷。</a:t>
            </a:r>
          </a:p>
          <a:p>
            <a:r>
              <a:rPr sz="1200"/>
              <a:t>病四，样本与总体错位：要么把结论收缩到"该校学生"，要么补分层抽样并报发放、回收、有效三份数字。病五，横断面冒充纵向：把"一年内态度变化"改成"两个年级之间存在差异"，或真做前后测。病六，过程不可复核：十八份开放题被剔除却没披露规则，要预先写清理废标准与编码步骤，附两人编码一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08 页 ｜ 两案并排对照 ｜ 7:46–8:45 ｜ 最迟 8:56 ｜ 本节 281 字 ｜ 翻页</a:t>
            </a:r>
          </a:p>
          <a:p>
            <a:r>
              <a:rPr sz="1200"/>
              <a:t>把两篇放在一张桌子上：它们问的其实是同一件事——这份问卷，凭什么得出这个结论？</a:t>
            </a:r>
          </a:p>
          <a:p>
            <a:r>
              <a:rPr sz="1200"/>
              <a:t>题项从哪来：一边日志访谈加三轮评审，七十四到二十八到二十一；对面自拟六条、无评审无前测。测的是什么结构：一边四维度构念并用因子分析复核，一边两个构念各三题、结构未检验。谁在填：一边一百四十四名同一阶段学员、条件写明，一边两个年级一百二十七人、回收口径没写。</a:t>
            </a:r>
          </a:p>
          <a:p>
            <a:r>
              <a:rPr sz="1200"/>
              <a:t>信度 .901 对 .714、.835；效度是内容效度指数加因子分析加三项效标，对拿成绩做单题相关；结论一边停在"可测、能区分训练阶段"，一边写到"流程可行、应纳入课程"——多走那一步就是问题。</a:t>
            </a:r>
          </a:p>
          <a:p>
            <a:r>
              <a:rPr sz="1200"/>
              <a:t>把这张表倒过来读，就是你的自检表。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09 页 ｜ 交稿前十行清单 ｜ 8:45–9:37 ｜ 最迟 9:48 ｜ 本节 246 字 ｜ 翻页</a:t>
            </a:r>
          </a:p>
          <a:p>
            <a:r>
              <a:rPr sz="1200"/>
              <a:t>十条，交稿前逐条打勾：研究问题写成一句可回答的话；构念、维度、题项有一张能对齐的表，哪怕只有六题；题项来源写清——沿用注出处、改编列改动、自编说生成过程；总体、抽样框、纳入排除条件各一句话；发放、回收、有效三份数字与回收率。</a:t>
            </a:r>
          </a:p>
          <a:p>
            <a:r>
              <a:rPr sz="1200"/>
              <a:t>另外五条：前测或专家评审留痕；信度报 α 或 ω，多维结构加 EFA/CFA；指导语含目的、时长、匿名与自愿退出，敏感题后置；题型与统计对应；最后是结论的分寸——横断面自陈只说关联与分布，不说因果与机制。</a:t>
            </a:r>
          </a:p>
          <a:p>
            <a:r>
              <a:rPr sz="1200"/>
              <a:t>这十条在正例那篇里全能找到对应段落——抄它的结构，别抄它的内容。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第 10 页 ｜ 4 道思考题＋资料清单 ｜ 9:37–10:04 ｜ 最迟 10:15 ｜ 本节 129 字 ｜ 结束</a:t>
            </a:r>
          </a:p>
          <a:p>
            <a:r>
              <a:rPr sz="1200"/>
              <a:t>最后四道题留给大家讨论，题目就在页上：预算只剩三十份问卷时四道检验保哪两道；"均值高于中点"要补哪个统计量；推广到 MTI 需补哪三条样本信息；对照六病你最担心踩哪一条、最小改法是什么。</a:t>
            </a:r>
          </a:p>
          <a:p>
            <a:r>
              <a:rPr sz="1200"/>
              <a:t>资料清单在右边，两篇原文都能直接点开，检索式也写全了。汇报到这里，谢谢。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22529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5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《翻译研究方法》第 1 组 ｜ 方法 A 案例部分：问卷调查法的正例与反例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37360"/>
            <a:ext cx="10789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一份问卷，两种命运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555F70"/>
                </a:solidFill>
                <a:latin typeface="Arial"/>
                <a:ea typeface="Microsoft YaHei"/>
                <a:cs typeface="Microsoft YaHei"/>
              </a:rPr>
              <a:t>Questionnaires, well used and badly used · Interpreting ×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02736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正例（口译研究）周金华、董燕萍（2019）. 口译笔记熟练度量表的开发. 外语教学与研究 51(6): 925-937.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反例（笔译研究）Yang, Z. &amp; Mustafa, H. R. (2022). On postediting of machine translation and workflow… Human Behavior and Emerging Technologies, 2022: 5793054.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00016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全程只回答一个问题：这条链——研究问题 → 构念与题项 → 抽样与施测 → 统计与结论——闭了没有。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58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9AA1AE"/>
                </a:solidFill>
                <a:latin typeface="Microsoft YaHei"/>
                <a:ea typeface="Microsoft YaHei"/>
                <a:cs typeface="Microsoft YaHei"/>
              </a:rPr>
              <a:t>小组分工（成员 4 人）</a:t>
            </a:r>
          </a:p>
          <a:p>
            <a:pPr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于萍［组长］：整体框架与逻辑主线、正反例评析（第 04、07 页）｜ 汇报人：＿＿（本页 10 分钟，正文 10 页）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陈冠臻：正例（口译研究）文献核对与流程梳理（第 02–03 页）｜ 熊芮：反例（笔译研究）文献核对与数据摘记（第 05–06 页）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方燕：交稿自检清单、4 道思考题与资料汇总（第 09–10 页）｜ 全员参与 PPT 定稿、教室试播与 U 盘备份（.pptx ＋ PDF）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30481" y="64008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封面 · 不计页码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03504"/>
            <a:ext cx="1105811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10 分钟怎么走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07008"/>
            <a:ext cx="1105811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两个案例走同样四步，方便逐条对照；每页 50–70 秒（时间见讲稿）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956816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① 案例概况</a:t>
            </a:r>
          </a:p>
          <a:p>
            <a:pPr algn="l">
              <a:lnSpc>
                <a:spcPct val="134000"/>
              </a:lnSpc>
              <a:spcBef>
                <a:spcPts val="200"/>
              </a:spcBef>
              <a:spcAft>
                <a:spcPts val="0"/>
              </a:spcAft>
            </a:pPr>
            <a:r>
              <a:rPr sz="119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研究问题 / 方法设计 / 主要发现 —— 口译、笔译各一页（第 02、05 页）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8417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② 操作流程</a:t>
            </a:r>
          </a:p>
          <a:p>
            <a:pPr algn="l">
              <a:lnSpc>
                <a:spcPct val="134000"/>
              </a:lnSpc>
              <a:spcBef>
                <a:spcPts val="200"/>
              </a:spcBef>
              <a:spcAft>
                <a:spcPts val="0"/>
              </a:spcAft>
            </a:pPr>
            <a:r>
              <a:rPr sz="119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他们一步一步怎么做的，每步留下了什么（第 03、06 页）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611524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③ 评析</a:t>
            </a:r>
          </a:p>
          <a:p>
            <a:pPr algn="l">
              <a:lnSpc>
                <a:spcPct val="134000"/>
              </a:lnSpc>
              <a:spcBef>
                <a:spcPts val="200"/>
              </a:spcBef>
              <a:spcAft>
                <a:spcPts val="0"/>
              </a:spcAft>
            </a:pPr>
            <a:r>
              <a:rPr sz="119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正例六点可迁移（第 04 页）· 反例六病引以为戒（第 07 页）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438878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④ 收束</a:t>
            </a:r>
          </a:p>
          <a:p>
            <a:pPr algn="l">
              <a:lnSpc>
                <a:spcPct val="134000"/>
              </a:lnSpc>
              <a:spcBef>
                <a:spcPts val="200"/>
              </a:spcBef>
              <a:spcAft>
                <a:spcPts val="0"/>
              </a:spcAft>
            </a:pPr>
            <a:r>
              <a:rPr sz="119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两案并排对照 → 交稿前 10 行自检 → 4 道思考题与资料清单（第 08–10 页）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21208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为什么挑这两篇：口译那篇把问卷法的全部环节都写在纸面上，最容易被复制；笔译那篇题少、发表快、也报了统计，是同学作业里最常见的“看起来像实证”的问卷。两篇都是翻译研究领域，一中文一英文、一份是核心期刊、一份是国际 OA 期刊。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576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9AA1AE"/>
                </a:solidFill>
                <a:latin typeface="Arial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0481" y="64008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第 01 / 11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03504"/>
            <a:ext cx="1105811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正例｜口译研究：把“说不清的熟练度”做成可测的问卷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07008"/>
            <a:ext cx="1105811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周金华、董燕萍（2019）. 口译笔记熟练度量表的开发. 外语教学与研究 51(6): 925-937.（CSSCI 核心期刊）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139696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研究问题 / 目标</a:t>
            </a:r>
          </a:p>
          <a:p>
            <a:pPr algn="l">
              <a:lnSpc>
                <a:spcPct val="134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交替传译的“笔记熟练度”看不见摸不着：不能靠看笔记成品打分，也很难由他人评估。能否给出可操作的定义，并编一份可以被复核的自评问卷（量表）来测
它？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185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研究方法设计</a:t>
            </a:r>
          </a:p>
          <a:p>
            <a:pPr algn="l">
              <a:lnSpc>
                <a:spcPct val="134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质性材料生成题库（学员学习日志；4 名学员译员 + 6 名教师译员的开放型访谈）→ 多轮专家评议 → 预试量表 → 试测做项目分析 → 正式量表 → 正式施测 → 信
度 + 内容效度 + 建构效度 + 效标关联效度四道检验。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30624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主要发现</a:t>
            </a:r>
          </a:p>
          <a:p>
            <a:pPr algn="l">
              <a:lnSpc>
                <a:spcPct val="134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量表 21 题、4 个维度（听记协调性 / 记录系统性 / 时效性 / 笔记使用）；内部一致性 α = .901；探索性因子分析抽出 4 个公因子，与预设维度吻合，累计解释变
异量 60.49%；总分与每周有笔记交传练习小时数 r = .473、与口译学习动机 r = .539、与英汉交译测试绩效 r = .556（均 p &lt; .01）；初级组与高级组在全量表及
各维度上差异显著。结论：笔记熟练度确实存在、可以被自评问卷有效测量、并且随练习发展。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575401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这一页的重点不是“发现了什么规律”，而是：它交付了一件别人还能接着用的测量工具。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576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9AA1AE"/>
                </a:solidFill>
                <a:latin typeface="Arial"/>
                <a:ea typeface="Microsoft YaHei"/>
                <a:cs typeface="Microsoft YaHei"/>
              </a:rPr>
              <a:t>POSITIVE CASE ·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30481" y="64008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第 02 / 11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03504"/>
            <a:ext cx="1105811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正例｜操作流程：七步，每步都留下一件可核查的东西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07008"/>
            <a:ext cx="1105811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先做什么 → 交出什么证据（这一列就是你论文里要写的句子）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2996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① 界定构念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9736" y="2029968"/>
            <a:ext cx="5943600" cy="22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把“熟练”拆成两阶段（记录 / 理解）、四个维度，写成可观察的操作定义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13648" y="2029968"/>
            <a:ext cx="2468879" cy="22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构念定义 + 维度表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9776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② 生成题库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9736" y="2397760"/>
            <a:ext cx="5943600" cy="22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从日志与访谈中提取表述，初始题库 74 题；题干尽量用译员的语言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397760"/>
            <a:ext cx="2468879" cy="22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题项来源说明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6555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③ 专家评审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9736" y="2765552"/>
            <a:ext cx="5943600" cy="22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5 名学员 + 3 名教师译员评议，3 轮讨论历时半年 → 预试量表 28 题（李克特 6 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2765552"/>
            <a:ext cx="2468879" cy="22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评审人数、轮次、删改依据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33343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④ 试测删题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3133343"/>
            <a:ext cx="5943600" cy="22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54 名翻译专业大三学生试测；极端组比较 + 同质性检验 → 删 7 题，留 21 题并重新随机排序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3133343"/>
            <a:ext cx="2468879" cy="22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项目分析指标与删题阈值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501135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⑤ 正式施测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9736" y="3501135"/>
            <a:ext cx="5943600" cy="22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144 名已完成近一学年有笔记交传训练的本科生；条件与人数一并写清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3501135"/>
            <a:ext cx="2468879" cy="22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总体口径 + 有效份数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868927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⑥ 信度效度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9736" y="3868927"/>
            <a:ext cx="5943600" cy="22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α = .901；内容效度指数 I-CVI、S-CVI 全部为 1；EFA 四因子解释 60.49% 变异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3868927"/>
            <a:ext cx="2468879" cy="22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信效度指标表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2367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⑦ 以数据作答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9736" y="4236720"/>
            <a:ext cx="5943600" cy="22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与练习量、动机、口译绩效三项效标相关；初级/高级组独立样本 t 检验显著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4236720"/>
            <a:ext cx="2468879" cy="22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效标证据 + 组间比较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604511"/>
            <a:ext cx="11064240" cy="209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1AE"/>
                </a:solidFill>
                <a:latin typeface="Microsoft YaHei"/>
                <a:ea typeface="Microsoft YaHei"/>
                <a:cs typeface="Microsoft YaHei"/>
              </a:rPr>
              <a:t>七步的共同点：每问一个问题，论文里就有一行对应的证据——题项数、被试数、删题理由、α、CVI、方差解释率、效标相关。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6576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9AA1AE"/>
                </a:solidFill>
                <a:latin typeface="Arial"/>
                <a:ea typeface="Microsoft YaHei"/>
                <a:cs typeface="Microsoft YaHei"/>
              </a:rPr>
              <a:t>POSITIVE CASE · PROCEDURE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0481" y="64008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第 03 / 11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03504"/>
            <a:ext cx="1105811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正例｜六点值得照搬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07008"/>
            <a:ext cx="1105811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括号里是：你在“研究方法”一节里怎么把它写出来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66543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① 构念先于题项</a:t>
            </a:r>
          </a:p>
          <a:p>
            <a:pPr algn="l">
              <a:lnSpc>
                <a:spcPct val="134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先有操作定义，再写题项，不“想到什么问什么”。（写一段构念界定，配一张构念—维度—题项对齐表）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40909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② 题库大于量表</a:t>
            </a:r>
          </a:p>
          <a:p>
            <a:pPr algn="l">
              <a:lnSpc>
                <a:spcPct val="134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74 → 28 → 21，删题是设计的一环而不是失败。（附题项筛选表：删了哪些、依据哪个指标）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215274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③ 量表形式经过选择</a:t>
            </a:r>
          </a:p>
          <a:p>
            <a:pPr algn="l">
              <a:lnSpc>
                <a:spcPct val="134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李克特 6 点、去掉中点，逼出倾向；避免“中立即逃避”。（说明为何选 6 点而非 5 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89639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④ 内容效度量化</a:t>
            </a:r>
          </a:p>
          <a:p>
            <a:pPr algn="l">
              <a:lnSpc>
                <a:spcPct val="134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不是“请专家看了一下”，而是 I-CVI / S-CVI 计数并报告评审者一致性。（列专家人数与判定标准）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364004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⑤ 效度有外部之锚</a:t>
            </a:r>
          </a:p>
          <a:p>
            <a:pPr algn="l">
              <a:lnSpc>
                <a:spcPct val="134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把问卷分数与练习量、动机、口译绩效对照，问卷才不是自说自话。（写清效标从何而来、如何测）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38369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⑥ 结论只走一步</a:t>
            </a:r>
          </a:p>
          <a:p>
            <a:pPr algn="l">
              <a:lnSpc>
                <a:spcPct val="134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只说“可测、能区分训练阶段”，不说“笔记好所以口译好”。（局限段交代样本与横断面性质）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607832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补一句：量表的 21 个题项随论文附录公开——工具可复用，研究才能被复核、被引用。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576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9AA1AE"/>
                </a:solidFill>
                <a:latin typeface="Arial"/>
                <a:ea typeface="Microsoft YaHei"/>
                <a:cs typeface="Microsoft YaHei"/>
              </a:rPr>
              <a:t>POSITIVE CASE · WHY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30481" y="64008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第 04 / 11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03504"/>
            <a:ext cx="1105811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反例｜笔译研究：用 6 道题的问卷，去支撑一个新教学流程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07008"/>
            <a:ext cx="1105811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Yang, Z. &amp; Mustafa, H. R. (2022). On postediting of machine translation and workflow for undergraduate translation program in China. Human Behavior and Emerging T
echnologies, 2022: 5793054.（Wiley，开放获取）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31136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研究问题 / 目标</a:t>
            </a:r>
          </a:p>
          <a:p>
            <a:pPr algn="l">
              <a:lnSpc>
                <a:spcPct val="134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本科翻译专业是否应引入“机器翻译 + 译后编辑（MTPE）”流程？作者列三问：学生对 MTPE 的正面与负面反应是什么？这些反应与两门课（计算机辅助翻译
、翻译实践）成绩有无相关？阻碍使用的主要因素有哪些？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76599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研究方法设计</a:t>
            </a:r>
          </a:p>
          <a:p>
            <a:pPr algn="l">
              <a:lnSpc>
                <a:spcPct val="134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混合方法：问卷含 6 条李克特陈述（感知有用性 3 题、感知易用性 3 题，6 点量表）+ 4 道开放题；被试为我国西北一所高校翻译专业本科生 127 人（大三 39、
大四 88）；定量用 SPSS 做描述统计与相关，开放题用 NVivo 编码为主题；理论框架取自技术接受模型（TAM）。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322064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主要发现</a:t>
            </a:r>
          </a:p>
          <a:p>
            <a:pPr algn="l">
              <a:lnSpc>
                <a:spcPct val="134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6 题均值 4.02–4.55，作者读作“总体积极”；α 分维度 .714 / .835；Q6 与机辅课程成绩相关 r = .746，Q2 与笔译课成绩相关 r = −.419（语言能力越强，越怀疑 
MTPE 能提升质量）；开放题归纳出 4 个正面主题与 4 个负面主题（后编辑标准不清、质量不稳定、引擎难选、技术障碍）；结论：面向本科的 MTPE 流程可行
，应作为子能力纳入教学。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666841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先说清楚：这篇不算“造假”——数据是真的，统计也报了。问题只有一个：这份问卷撑不起它被要求撑的结论。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576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9AA1AE"/>
                </a:solidFill>
                <a:latin typeface="Arial"/>
                <a:ea typeface="Microsoft YaHei"/>
                <a:cs typeface="Microsoft YaHei"/>
              </a:rPr>
              <a:t>NEGATIVE CASE ·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30481" y="64008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第 05 / 11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03504"/>
            <a:ext cx="1105811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反例｜操作流程：六步都“做了”，每步只写了半句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07008"/>
            <a:ext cx="1105811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左栏：论文里实际呈现的做法 ｜ 右栏：因此缺掉的那一环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① 目的与工具错位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1176" y="2103120"/>
            <a:ext cx="2395728" cy="406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研究目标是“提出并论证可行流程”
，问卷只回答态度与相关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03120"/>
            <a:ext cx="4773167" cy="406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可行性判断需要专家评审或小样本试点，问卷数据无法替代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9240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② 借框架不借结构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1176" y="2692400"/>
            <a:ext cx="2395728" cy="406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套用 TAM 两个构念，各配 3 条自拟陈
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692400"/>
            <a:ext cx="4773167" cy="406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无内容评审、无前测、未检验 3 题是否真落在两个维度上（只报了 α）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81679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③ 抽样口径模糊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1176" y="3281679"/>
            <a:ext cx="2395728" cy="406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同一所高校 127 名本科生（39 大三 / 
88 大四）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281679"/>
            <a:ext cx="4773167" cy="406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便利抽样；未报发放与回收、无有效问卷判定规则 → 应答率与自选择偏差
无从评估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70959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④ 施测一次成型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1176" y="3870959"/>
            <a:ext cx="2395728" cy="22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线上一次填答，题目直接呈现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870959"/>
            <a:ext cx="4773167" cy="22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无前后照应题、无注意力检查、未谈共同方法偏差与社会赞许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275327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⑤ 分析层级错位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1176" y="4275327"/>
            <a:ext cx="2395728" cy="406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拿单个题项与课程成绩做 Pearson 相
关；均值高于中点即称“积极”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275327"/>
            <a:ext cx="4773167" cy="406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把题项当构念分数用；6 点量表是序数量表，且 4.02–4.55 无比较基线、无
检验量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864607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⑥ 写作代替解释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51176" y="4864607"/>
            <a:ext cx="2395728" cy="406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三组发现并列陈列，收束到“建议纳
入课程”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864607"/>
            <a:ext cx="4773167" cy="406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未说明课程成绩受评分标准等影响，也未交代横断面自陈不可推因果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6576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9AA1AE"/>
                </a:solidFill>
                <a:latin typeface="Arial"/>
                <a:ea typeface="Microsoft YaHei"/>
                <a:cs typeface="Microsoft YaHei"/>
              </a:rPr>
              <a:t>NEGATIVE CASE · WHERE IT BREAKS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0481" y="64008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第 06 / 11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03504"/>
            <a:ext cx="1105811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反例｜六病：每一条都有一个“最小改法”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07008"/>
            <a:ext cx="1105811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不必推翻研究设计，只补该补的那一行；这也是答辩时最容易被追问的六处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8064" y="188366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A1AE"/>
                </a:solidFill>
                <a:latin typeface="Microsoft YaHei"/>
                <a:ea typeface="Microsoft YaHei"/>
                <a:cs typeface="Microsoft YaHei"/>
              </a:rPr>
              <a:t>病灶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88366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A1AE"/>
                </a:solidFill>
                <a:latin typeface="Microsoft YaHei"/>
                <a:ea typeface="Microsoft YaHei"/>
                <a:cs typeface="Microsoft YaHei"/>
              </a:rPr>
              <a:t>最小改法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579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病① 构念—题项脱钩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1216" y="2157984"/>
            <a:ext cx="1865376" cy="3964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“感知有用性”＝3 条自拟题
，结构未经检验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57984"/>
            <a:ext cx="4315967" cy="3964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引用已验证量表的条目并在附录标来源；至少补一次 EFA 或报告题总
相关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1907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病② 单题当构念用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2719070"/>
            <a:ext cx="1865376" cy="3964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用 Q6 一题与成绩相关，推出
“态度好＝技术能力强”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719070"/>
            <a:ext cx="4315967" cy="3964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先按维度合成均分（并报告 α），再做相关；措辞只写“关联”不写
“影响”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8015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病③ 拿代理效标解释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3280156"/>
            <a:ext cx="1865376" cy="3964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课程成绩里混着评分松紧、出
勤、文本难度差异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80156"/>
            <a:ext cx="4315967" cy="3964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交代成绩口径并控制年级与性别，或改用盲评的翻译测试卷作为效标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84124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病④ 样本与总体错位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6" y="3841242"/>
            <a:ext cx="1865376" cy="3964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一所学校 127 人 → 结论写“
本科翻译教学可行”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841242"/>
            <a:ext cx="4315967" cy="3964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把结论收缩到“该校学生”，或补分层抽样说明；报出发放/回收/有
效三份数字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023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病⑤ 横断面冒充纵向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1216" y="4402328"/>
            <a:ext cx="1865376" cy="3964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大三 vs 大四的差异被读作“
一年内态度变化”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402328"/>
            <a:ext cx="4315967" cy="3964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改写成“两个年级之间存在差异”，或真正做同组前后测（pre-post
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96341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病⑥ 过程不可复核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1216" y="4963414"/>
            <a:ext cx="1865376" cy="3964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18 份开放题因“相关性有限
”被剔除，编码规则未披露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963414"/>
            <a:ext cx="4315967" cy="3964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预先写清理废标准与编码步骤，附两人独立编码的一致性或对账记录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6576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9AA1AE"/>
                </a:solidFill>
                <a:latin typeface="Arial"/>
                <a:ea typeface="Microsoft YaHei"/>
                <a:cs typeface="Microsoft YaHei"/>
              </a:rPr>
              <a:t>NEGATIVE CASE · SIX FAULTS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0481" y="64008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第 07 / 11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03504"/>
            <a:ext cx="1105811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同一道题，两种做法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07008"/>
            <a:ext cx="1105811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两篇问的其实是同一件事：这份问卷，凭什么得出这个结论？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2784" y="18470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口译（正例）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1936" y="18470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笔译 MTPE（反例）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3113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题项从哪来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2616" y="2231136"/>
            <a:ext cx="2331720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日志＋访谈＋三轮评审，74→28→21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2784" y="2231136"/>
            <a:ext cx="4809743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自拟 6 条，无评审、无前测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92324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测的是什么结构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2616" y="2592324"/>
            <a:ext cx="2331720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4 维度构念，EFA 复核吻合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4" y="2592324"/>
            <a:ext cx="4809743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2 构念各 3 题，结构未检验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53512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谁在填、来了多少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2953512"/>
            <a:ext cx="23317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144 名同一训练阶段学员，纳入条件写
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2953512"/>
            <a:ext cx="48097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127 名两个年级学生，回收口径未写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9300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信度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3493008"/>
            <a:ext cx="2331720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α = .901，并附题项级分析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3493008"/>
            <a:ext cx="4809743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分维度 α = .714 / .835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541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效度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2616" y="3854196"/>
            <a:ext cx="2331720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CVI ＋ EFA  三项效标相关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3854196"/>
            <a:ext cx="4809743" cy="214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以课程成绩做单题相关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15383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结论走到哪一步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2616" y="4215383"/>
            <a:ext cx="23317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可测、可区分训练阶段、可用于教学诊
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4215383"/>
            <a:ext cx="480974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流程可行、应纳入课程（超出数据）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718303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把这六行倒过来，就是你的自检表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956047"/>
            <a:ext cx="5257800" cy="410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题项哪来的？测的还是我说的那个东西吗？谁填的、来了多少、留下多少？信度写
在哪一行？效度证据是哪一条？我的结论是不是比数据多走了两步？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358384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把这六行倒过来，就是你的自检表</a:t>
            </a:r>
          </a:p>
          <a:p>
            <a:pPr algn="l">
              <a:lnSpc>
                <a:spcPct val="14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题项哪来的？测的还是我说的那个东西吗？谁填的、来了多少、留下多少？信度写在哪一行？效度证据是哪一条？我的结论是不是比数据多走了两步？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6576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9AA1AE"/>
                </a:solidFill>
                <a:latin typeface="Arial"/>
                <a:ea typeface="Microsoft YaHei"/>
                <a:cs typeface="Microsoft YaHei"/>
              </a:rPr>
              <a:t>SIDE BY SIDE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0481" y="64008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第 08 / 11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03504"/>
            <a:ext cx="1105811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交稿前的 10 行清单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07008"/>
            <a:ext cx="1105811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勾不上的那一行，就是你论文里最可能被追问的地方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92224"/>
            <a:ext cx="10607040" cy="223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1. 研究问题写成一句可回答的话，并标明它要的是“描述 / 比较 / 关联”哪一类答案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65528"/>
            <a:ext cx="10607040" cy="223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2. 构念 → 维度 → 题项，有一张能互相对齐的表（哪怕只有 6 题）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8832"/>
            <a:ext cx="10607040" cy="223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3. 题项来源写清：沿用（注出处）／改编（列改动）／自编（说生成过程）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12136"/>
            <a:ext cx="10607040" cy="223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4. 总体、抽样框、纳入与排除条件，各一句话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85440"/>
            <a:ext cx="10607040" cy="223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5. 发放 / 回收 / 有效三份数字与回收率；无效判定规则先定后用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58744"/>
            <a:ext cx="10607040" cy="223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6. 前测或专家评审留痕：几人、评什么、删了几题、为什么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432048"/>
            <a:ext cx="10607040" cy="223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7. 信度（α 或 ω）；有多维结构就报 EFA 或 CFA 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05352"/>
            <a:ext cx="10607040" cy="223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8. 指导语含身份、目的、时长、匿名与用途、自愿与退出；敏感题后置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978656"/>
            <a:ext cx="10607040" cy="223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9. 题型与统计对应：单选多选→频数与卡方，量表→均值与 α，排序→秩相关，开放→编码后转主题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251959"/>
            <a:ext cx="10607040" cy="223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10. 结论分寸：横断面自陈只说关联与分布，不说因果与机制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580127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课堂提示：这十条全部能在正例那篇里找到对应段落——去抄它的结构，别抄它的内容。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6576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9AA1AE"/>
                </a:solidFill>
                <a:latin typeface="Arial"/>
                <a:ea typeface="Microsoft YaHei"/>
                <a:cs typeface="Microsoft YaHei"/>
              </a:rPr>
              <a:t>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0481" y="64008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第 09 / 11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03504"/>
            <a:ext cx="1105811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4 道思考题 ＋ 资料清单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07008"/>
            <a:ext cx="1105811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F70"/>
                </a:solidFill>
                <a:latin typeface="Microsoft YaHei"/>
                <a:ea typeface="Microsoft YaHei"/>
                <a:cs typeface="Microsoft YaHei"/>
              </a:rPr>
              <a:t>讨论约 4 分钟；每题本组先自答一句，再点人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65376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Q1 取舍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00072"/>
            <a:ext cx="5943600" cy="410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口译那篇为“笔记熟练度”做了四道检验（内容效度、结构效度、效标效度、信度）。若你只
有一学期、30 份问卷的预算，哪两道必须保住、哪一道可以先不做？说出取舍理由。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02484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Q2 补一个统计量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837180"/>
            <a:ext cx="5943600" cy="410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反例里“6 题均值都高于中点”被读作“总体积极”。如果审稿人只允许你补一个统计量来堵
住这个漏洞，你补什么？为什么是它？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3959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Q3 追问样本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574288"/>
            <a:ext cx="5943600" cy="410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由 127 名本校本科生推出“本科翻译教学应引入 MTPE”。要把结论推广到 MTI 群体，最少需
要补哪三条关于样本与施测的信息？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076699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B4451F"/>
                </a:solidFill>
                <a:latin typeface="Microsoft YaHei"/>
                <a:ea typeface="Microsoft YaHei"/>
                <a:cs typeface="Microsoft YaHei"/>
              </a:rPr>
              <a:t>Q4 反身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11396"/>
            <a:ext cx="5943600" cy="410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我们自己的课程论文也在用问卷。对照刚才六病，你现在最担心自己踩到哪一条？请给出那一
条对应的“最小改法”（一句话即可）。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3136" y="18288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论文与学习资料（可直接点开核对）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2157984"/>
            <a:ext cx="4206240" cy="3447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正例全文与量表附录（广外实验室成果页，含方法与数据）</a:t>
            </a:r>
          </a:p>
          <a:p>
            <a:pPr algn="l">
              <a:lnSpc>
                <a:spcPct val="128000"/>
              </a:lnSpc>
              <a:spcBef>
                <a:spcPts val="100"/>
              </a:spcBef>
              <a:spcAft>
                <a:spcPts val="0"/>
              </a:spcAft>
            </a:pPr>
            <a:r>
              <a:rPr sz="86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bcdlab.gdufs.edu.cn/info/1025/2025.htm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2566771"/>
            <a:ext cx="4206240" cy="3447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正例原文：《外语教学与研究》51(6): 925-937（知网/期刊官网检索标题）</a:t>
            </a:r>
          </a:p>
          <a:p>
            <a:pPr algn="l">
              <a:lnSpc>
                <a:spcPct val="128000"/>
              </a:lnSpc>
              <a:spcBef>
                <a:spcPts val="100"/>
              </a:spcBef>
              <a:spcAft>
                <a:spcPts val="0"/>
              </a:spcAft>
            </a:pPr>
            <a:r>
              <a:rPr sz="86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外语教学与研究 · 2019 年第 6 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2975559"/>
            <a:ext cx="4206240" cy="3447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反例原文（Wiley 开放获取，全文与 4 张统计表可读）</a:t>
            </a:r>
          </a:p>
          <a:p>
            <a:pPr algn="l">
              <a:lnSpc>
                <a:spcPct val="128000"/>
              </a:lnSpc>
              <a:spcBef>
                <a:spcPts val="100"/>
              </a:spcBef>
              <a:spcAft>
                <a:spcPts val="0"/>
              </a:spcAft>
            </a:pPr>
            <a:r>
              <a:rPr sz="86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onlinelibrary.wiley.com/doi/10.1155/2022/5793054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3384346"/>
            <a:ext cx="4206240" cy="504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同类笔译态度调查（可作正例加强）：Çetiner &amp; İşisağ (2019) IJLET 7(1)
: 110-120</a:t>
            </a:r>
          </a:p>
          <a:p>
            <a:pPr algn="l">
              <a:lnSpc>
                <a:spcPct val="128000"/>
              </a:lnSpc>
              <a:spcBef>
                <a:spcPts val="100"/>
              </a:spcBef>
              <a:spcAft>
                <a:spcPts val="0"/>
              </a:spcAft>
            </a:pPr>
            <a:r>
              <a:rPr sz="86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doi.org/10.18298/ijlet.3242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3952392"/>
            <a:ext cx="4206240" cy="504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口译问卷研究范例：张威（2013）会议口译员职业角色自我认定的调查研究
，《中国翻译》(2): 17-25（135 份有效问卷）</a:t>
            </a:r>
          </a:p>
          <a:p>
            <a:pPr algn="l">
              <a:lnSpc>
                <a:spcPct val="128000"/>
              </a:lnSpc>
              <a:spcBef>
                <a:spcPts val="100"/>
              </a:spcBef>
              <a:spcAft>
                <a:spcPts val="0"/>
              </a:spcAft>
            </a:pPr>
            <a:r>
              <a:rPr sz="86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知网检索标题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4520438"/>
            <a:ext cx="4206240" cy="504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方法读物：吴明隆《问卷统计分析实务》；Fink, A. Conducting Research 
Surveys（项目分析与删题标准）</a:t>
            </a:r>
          </a:p>
          <a:p>
            <a:pPr algn="l">
              <a:lnSpc>
                <a:spcPct val="128000"/>
              </a:lnSpc>
              <a:spcBef>
                <a:spcPts val="100"/>
              </a:spcBef>
              <a:spcAft>
                <a:spcPts val="0"/>
              </a:spcAft>
            </a:pPr>
            <a:r>
              <a:rPr sz="86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图书馆社科借阅区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5088483"/>
            <a:ext cx="4206240" cy="504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1523"/>
                </a:solidFill>
                <a:latin typeface="Microsoft YaHei"/>
                <a:ea typeface="Microsoft YaHei"/>
                <a:cs typeface="Microsoft YaHei"/>
              </a:rPr>
              <a:t>检索式：CNKI 主题=翻译 AND（问卷 OR 量表）AND（信效度）；WoS TS=
((translation OR interpreting) AND questionnaire AND validity)</a:t>
            </a:r>
          </a:p>
          <a:p>
            <a:pPr algn="l">
              <a:lnSpc>
                <a:spcPct val="128000"/>
              </a:lnSpc>
              <a:spcBef>
                <a:spcPts val="100"/>
              </a:spcBef>
              <a:spcAft>
                <a:spcPts val="0"/>
              </a:spcAft>
            </a:pPr>
            <a:r>
              <a:rPr sz="86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可直接复制使用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6576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9AA1AE"/>
                </a:solidFill>
                <a:latin typeface="Arial"/>
                <a:ea typeface="Microsoft YaHei"/>
                <a:cs typeface="Microsoft YaHei"/>
              </a:rPr>
              <a:t>DISCUSSION &amp;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0481" y="64008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1AE"/>
                </a:solidFill>
                <a:latin typeface="Consolas"/>
                <a:ea typeface="Microsoft YaHei"/>
                <a:cs typeface="Microsoft YaHei"/>
              </a:rPr>
              <a:t>第 10 / 11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