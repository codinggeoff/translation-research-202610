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9"/>
    <p:sldId id="257" r:id="rId8"/>
    <p:sldId id="258" r:id="rId7"/>
    <p:sldId id="259" r:id="rId6"/>
    <p:sldId id="260" r:id="rId5"/>
    <p:sldId id="261" r:id="rId3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456"/>
    <a:srgbClr val="03A9F0"/>
    <a:srgbClr val="5B9B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77" y="547"/>
      </p:cViewPr>
      <p:guideLst>
        <p:guide orient="horz" pos="2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520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6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566E-A135-47C5-B666-D77ED21946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E1E66-0EA3-46B4-8216-B1B8BE711F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BAA7-22A5-49C2-BA97-E6B0C9CFDA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2276872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 userDrawn="1"/>
        </p:nvSpPr>
        <p:spPr>
          <a:xfrm>
            <a:off x="8975543" y="2276871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96491" y="2468893"/>
            <a:ext cx="576064" cy="577112"/>
            <a:chOff x="6084168" y="1274820"/>
            <a:chExt cx="432048" cy="432834"/>
          </a:xfrm>
        </p:grpSpPr>
        <p:sp>
          <p:nvSpPr>
            <p:cNvPr id="11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5868299" y="2469417"/>
            <a:ext cx="576064" cy="576064"/>
            <a:chOff x="4788024" y="1275213"/>
            <a:chExt cx="432048" cy="432048"/>
          </a:xfrm>
        </p:grpSpPr>
        <p:sp>
          <p:nvSpPr>
            <p:cNvPr id="14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732395" y="2468893"/>
            <a:ext cx="577111" cy="577112"/>
            <a:chOff x="5436096" y="1274820"/>
            <a:chExt cx="432833" cy="432834"/>
          </a:xfrm>
        </p:grpSpPr>
        <p:sp>
          <p:nvSpPr>
            <p:cNvPr id="17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4140107" y="2468893"/>
            <a:ext cx="577111" cy="577112"/>
            <a:chOff x="3491880" y="1274820"/>
            <a:chExt cx="432833" cy="432834"/>
          </a:xfrm>
        </p:grpSpPr>
        <p:sp>
          <p:nvSpPr>
            <p:cNvPr id="20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004203" y="2468893"/>
            <a:ext cx="577111" cy="577112"/>
            <a:chOff x="4139952" y="1274820"/>
            <a:chExt cx="432833" cy="432834"/>
          </a:xfrm>
        </p:grpSpPr>
        <p:sp>
          <p:nvSpPr>
            <p:cNvPr id="23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sp>
        <p:nvSpPr>
          <p:cNvPr id="25" name="文本框 2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252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A9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问卷调查法在翻译研究中的应用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基于两篇论文的正例与反例分析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Questionnaire Survey in Translation Studies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汇报人：陈冠臻    学号：20261210050</a:t>
            </a:r>
          </a:p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2026 年 10 月 12 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汇报框架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965960"/>
            <a:ext cx="1088136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一、研究背景与判断标准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二、正例：口译笔记熟练度量表的开发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三、反例：机器翻译译后编辑（MTPE）态度问卷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四、两篇论文的对照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五、启示：问卷设计与施测的规范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 / 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研究背景与判断标准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3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为什么关注问卷调查法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问卷调查法是以标准化问卷为工具、系统收集数据的定量研究方法。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在翻译研究中，它常用于调查读者对译文的反应、译者的行为与策略、翻译教学的效果、翻译行业的现状等。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一份设计规范的问卷，能提供大规模、可比较的数据；一份设计随意的问卷，则会得出不可靠的结论。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因此，掌握「一份好问卷的标准」，对翻译研究非常重要。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4 /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判断标准：一条证据链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判断一份问卷研究是否可靠，可以看它有没有走通下面这条链：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研究问题（想回答什么）→ 构念与题项（把概念变成可答的题）→ 抽样与施测（向谁发、怎么收）→ 统计与结论（数据能撑到哪一步）。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链条闭合，结论才站得住；断在任何一环，结论都会悬空。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下面用两篇论文来对照：一篇是正例（口译研究），一篇是反例（笔译研究）。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5 /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正例：口译笔记熟练度量表的开发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6 /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正例论文与研究问题</a:t>
            </a:r>
          </a:p>
        </p:txBody>
      </p:sp>
      <p:pic>
        <p:nvPicPr>
          <p:cNvPr id="3" name="Picture 2" descr="zheng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353858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575158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367382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论文首页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文献：周金华、董燕萍（2019），《外语教学与研究》51(6)：925-937。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研究问题：交替传译中的「笔记熟练度」看不见、摸不着，既不能靠看笔记成品来打分，也很难由他人代为评估。那么，它能否用一份自评量表测出来？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研究思路：先给「笔记熟练度」下一个可操作的定义，再编制量表，最后检验量表的信度和效度。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7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正例研究流程：从构念到一份可复用的量表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2377440"/>
            <a:ext cx="1942185" cy="2194560"/>
          </a:xfrm>
          <a:prstGeom prst="roundRect">
            <a:avLst>
              <a:gd name="adj" fmla="val 12000"/>
            </a:avLst>
          </a:prstGeom>
          <a:solidFill>
            <a:srgbClr val="E7F1F1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834640"/>
            <a:ext cx="175930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界定构念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两阶段 × 四维度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27985" y="3355848"/>
            <a:ext cx="237744" cy="237744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93161" y="2377440"/>
            <a:ext cx="1942185" cy="2194560"/>
          </a:xfrm>
          <a:prstGeom prst="roundRect">
            <a:avLst>
              <a:gd name="adj" fmla="val 12000"/>
            </a:avLst>
          </a:prstGeom>
          <a:solidFill>
            <a:srgbClr val="E7F1F1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84601" y="2834640"/>
            <a:ext cx="175930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编制题项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74 → 28 → 21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62779" y="3355848"/>
            <a:ext cx="237744" cy="237744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7955" y="2377440"/>
            <a:ext cx="1942185" cy="2194560"/>
          </a:xfrm>
          <a:prstGeom prst="roundRect">
            <a:avLst>
              <a:gd name="adj" fmla="val 12000"/>
            </a:avLst>
          </a:prstGeom>
          <a:solidFill>
            <a:srgbClr val="E7F1F1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9395" y="2834640"/>
            <a:ext cx="175930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正式施测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144 名学生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97572" y="3355848"/>
            <a:ext cx="237744" cy="237744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62748" y="2377440"/>
            <a:ext cx="1942185" cy="2194560"/>
          </a:xfrm>
          <a:prstGeom prst="roundRect">
            <a:avLst>
              <a:gd name="adj" fmla="val 12000"/>
            </a:avLst>
          </a:prstGeom>
          <a:solidFill>
            <a:srgbClr val="E7F1F1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4188" y="2834640"/>
            <a:ext cx="175930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信度检验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α = .901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332366" y="3355848"/>
            <a:ext cx="237744" cy="237744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597542" y="2377440"/>
            <a:ext cx="1942185" cy="2194560"/>
          </a:xfrm>
          <a:prstGeom prst="roundRect">
            <a:avLst>
              <a:gd name="adj" fmla="val 12000"/>
            </a:avLst>
          </a:prstGeom>
          <a:solidFill>
            <a:srgbClr val="E7F1F1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88982" y="2834640"/>
            <a:ext cx="1759305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效度验证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CVI / EFA / 效标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0 /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8 /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第一步：明确测量对象</a:t>
            </a:r>
          </a:p>
        </p:txBody>
      </p:sp>
      <p:pic>
        <p:nvPicPr>
          <p:cNvPr id="3" name="Picture 2" descr="zheng_p06_item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461" y="1691640"/>
            <a:ext cx="3990578" cy="26667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41173" y="1673352"/>
            <a:ext cx="4027154" cy="270335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59461" y="4404140"/>
            <a:ext cx="3990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四个维度（表 1）</a:t>
            </a:r>
          </a:p>
        </p:txBody>
      </p:sp>
      <p:pic>
        <p:nvPicPr>
          <p:cNvPr id="6" name="Picture 5" descr="zheng_p04_constru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461" y="4632740"/>
            <a:ext cx="3990578" cy="117369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741173" y="4614452"/>
            <a:ext cx="4027154" cy="1210275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59461" y="5852159"/>
            <a:ext cx="399057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构念来源：日志 + 访谈（p4）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6936501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作者先给「笔记熟练度」下可操作定义：拆成笔记记录、笔记理解两个阶段，再细分为四个维度。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构念从哪来？不是凭空想——分析了 72 份学员学习日志，访谈了 4 位学生译员、6 位口译教师。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先把「要测什么」定义清楚，才能据此写出对应的题项。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9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第二步：生成题库</a:t>
            </a:r>
          </a:p>
        </p:txBody>
      </p:sp>
      <p:pic>
        <p:nvPicPr>
          <p:cNvPr id="3" name="Picture 2" descr="zheng_p05_itemwr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25556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259226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438449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题项编写：译员表达 + 评审 + 74 题（论文 p5）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题项来源：借助上面的学习日志和访谈数据来写，不是凭空编。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题干尽量采用译员自己的表达，避免学术腔。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写完后请 5 名口译学员、3 名口译教师评审，删改后再讨论；初始题库 74 题，经 3 轮评审历时半年，得到 28 题预试量表。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10 / 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第三步：专家评审与试测</a:t>
            </a:r>
          </a:p>
        </p:txBody>
      </p:sp>
      <p:pic>
        <p:nvPicPr>
          <p:cNvPr id="3" name="Picture 2" descr="zheng_p05_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169451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1731089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3523313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评审 28 题 · 试测 54 人 · 删 7 留 21（论文 p5）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专家评审：5 名学员译员 + 3 名教师译员，三轮讨论、历时半年，收到 28 题、李克特 6 点。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试测删题：54 名学生试测，用极端组比较和同质性检验删掉 7 题，最终留 21 题。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作者还把量表改名为「口译笔记自我描述量表」，以降低社会赞许性，让人更愿意如实作答。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11 /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第四步：正式施测与信度</a:t>
            </a:r>
          </a:p>
        </p:txBody>
      </p:sp>
      <p:pic>
        <p:nvPicPr>
          <p:cNvPr id="3" name="Picture 2" descr="zheng_p08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33993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435904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228128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总量表 Cronbach's α = .901（论文 p8）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被试：144 名有近一学年笔记交传训练的本科生。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信度：总量表 Cronbach's α = .901，各维度也较高。α 是「内部一致性」指标，取值 0–1，越接近 1 说明题目之间越一致、测量越稳定；通常 ≥ .7 可接受，≥ .9 优秀。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12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第五步：效度证据（一）内容与结构效度</a:t>
            </a:r>
          </a:p>
        </p:txBody>
      </p:sp>
      <p:pic>
        <p:nvPicPr>
          <p:cNvPr id="3" name="Picture 2" descr="zheng_p08_cv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5257800" cy="156312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73952" y="1673352"/>
            <a:ext cx="5294376" cy="1599705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0" y="3300489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内容效度 CVI=1（p8）</a:t>
            </a:r>
          </a:p>
        </p:txBody>
      </p:sp>
      <p:pic>
        <p:nvPicPr>
          <p:cNvPr id="6" name="Picture 5" descr="zheng_p09_e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529089"/>
            <a:ext cx="5257800" cy="15022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73952" y="3510801"/>
            <a:ext cx="5294376" cy="1538804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5077038"/>
            <a:ext cx="5257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因素分析 60.49%（p9）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5669279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内容效度：I-CVI、S-CVI 均为 1.00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结构效度：EFA 抽出 4 因子，累计解释 60.49%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13 /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第五步：效度证据（二）效标关联效度</a:t>
            </a:r>
          </a:p>
        </p:txBody>
      </p:sp>
      <p:pic>
        <p:nvPicPr>
          <p:cNvPr id="3" name="Picture 2" descr="zheng_p10_criter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353819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357476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5366990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效标系数 .473 / .539 / .556（论文 p10）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效标关联：与练习量 r=.473、动机 r=.539、绩效 r=.556 显著相关（均 p&lt;.01）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14 /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正例小结：值得借鉴之处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构念先于题项：先定义清楚要测什么，再写题，而不是想到什么问什么。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删题是设计、不是失败：从 74 题到 21 题，每一轮删减都有明确依据。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结论只走一步：只言「可测、能区分训练阶段」，不下「笔记好所以口译好」的因果结论。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21 个题项随论文附录公开，工具可复用、可被复核。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15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反例：机器翻译译后编辑（MTPE）态度问卷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16 /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反例论文与研究问题</a:t>
            </a:r>
          </a:p>
        </p:txBody>
      </p:sp>
      <p:pic>
        <p:nvPicPr>
          <p:cNvPr id="3" name="Picture 2" descr="fan_p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911" y="3931920"/>
            <a:ext cx="5744146" cy="1737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05623" y="3913632"/>
            <a:ext cx="5780722" cy="177393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23911" y="5714999"/>
            <a:ext cx="574414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论文首页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文献：Yang, Z. &amp; Mustafa, H. R. (2022). On postediting of machine translation and workflow for undergraduate translation program in China. HBET, 5793054.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研究问题：RQ1 学生对 MTPE 的正面/负面反应；RQ2 反应是否与两门课程成绩相关；RQ3 使用障碍是什么。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方法：混合方法——问卷（6 道题 + 4 道开放题）+ 定性编码。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17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环节一：借了 TAM 的框架</a:t>
            </a:r>
          </a:p>
        </p:txBody>
      </p:sp>
      <p:pic>
        <p:nvPicPr>
          <p:cNvPr id="3" name="Picture 2" descr="fan_p03_t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187971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1916287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3708511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理论框架 TAM（论文 p3）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框架：借 TAM，声称测「有用性」和「易用性」两个构念。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依据这两个构念来设计问卷，但题目却对不上框架的「骨架」。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18 /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环节一：6 道题自拟、未验证</a:t>
            </a:r>
          </a:p>
        </p:txBody>
      </p:sp>
      <p:pic>
        <p:nvPicPr>
          <p:cNvPr id="3" name="Picture 2" descr="fan_p04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3222" y="1783080"/>
            <a:ext cx="2826817" cy="3657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904934" y="1764792"/>
            <a:ext cx="2863393" cy="369417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23222" y="5486400"/>
            <a:ext cx="282681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问卷 6 题 + 4 开放题（论文 p4）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8100262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题项：6 个陈述句（有用性 3 题 + 易用性 3 题）+ 4 道开放题，6 点李克特。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问题：全文只列出这 6 题，没交代沿用哪个现成量表、没有专家评审、没有试测。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等于题目从没验证过是不是真的在测那两个概念。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19 /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环节二：抽样与回收未报告</a:t>
            </a:r>
          </a:p>
        </p:txBody>
      </p:sp>
      <p:pic>
        <p:nvPicPr>
          <p:cNvPr id="3" name="Picture 2" descr="fan_p04_particip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197315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2009727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3801951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被试说明（论文 p4）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样本：西北一所高校翻译专业 127 人（大三 39、大四 88）。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问题：只写「127 名学生参与」，没写抽样方法（便利/随机），也没写发放、回收、有效各多少。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后果：无法判断应答率、代表性，也无法排除自选择偏差。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环节三：只有信度、没有效度</a:t>
            </a:r>
          </a:p>
        </p:txBody>
      </p:sp>
      <p:pic>
        <p:nvPicPr>
          <p:cNvPr id="3" name="Picture 2" descr="fan_p06_alph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876" y="3931920"/>
            <a:ext cx="7942217" cy="173736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106588" y="3913632"/>
            <a:ext cx="7978793" cy="1773936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24876" y="5714999"/>
            <a:ext cx="794221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信度 α=.714 / .835（论文 p6）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108813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信度：报了 Cronbach's α（有用性 .714、易用性 .835），这一步做到了。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效度：全文没有内容效度、没有因子分析，6 题是否真测「有用性/易用性」两个构念，未验证。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问题：只有信度、没有效度，量表的「有效性」悬空。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21 /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环节四：把一道题当一个构念</a:t>
            </a:r>
          </a:p>
        </p:txBody>
      </p:sp>
      <p:pic>
        <p:nvPicPr>
          <p:cNvPr id="3" name="Picture 2" descr="fan_p05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1783080"/>
            <a:ext cx="4206240" cy="188339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525512" y="1764792"/>
            <a:ext cx="4242816" cy="1919967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43800" y="3712191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单题相关分析（论文 p5）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672084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做法：拿 Q6 单题与 CAT 课程成绩相关（r=.746），Q2 单题与翻译实践成绩相关（r=-.419）。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问题：把「一道题」当成「一个构念」的分数来用，而不是先把同维度 3 题合成平均分再算。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后果：单题的相关系数不稳定，结论容易失真。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22 /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环节五：结论越过了数据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结论：从「127 名学生一次横断面自陈、态度偏积极」，得出「应把 MTPE 纳入本科教学」。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问题：横断面问卷 + 单题相关，只能说明「有关联」，推不出「应该做」。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23 /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反例：证据链在哪一环断裂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228600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2286000"/>
            <a:ext cx="236829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构念与题项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388620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7EBE5"/>
          </a:solidFill>
          <a:ln w="12700">
            <a:solidFill>
              <a:srgbClr val="B44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3886200"/>
            <a:ext cx="236829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451F"/>
                </a:solidFill>
                <a:latin typeface="Times New Roman"/>
                <a:ea typeface="宋体"/>
                <a:cs typeface="宋体"/>
              </a:rPr>
              <a:t>✕ 自拟 6 题、未验证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91256" y="2807208"/>
            <a:ext cx="237744" cy="237744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47287" y="228600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39" y="2286000"/>
            <a:ext cx="236829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抽样与施测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7" y="388620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7EBE5"/>
          </a:solidFill>
          <a:ln w="12700">
            <a:solidFill>
              <a:srgbClr val="B44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39" y="3886200"/>
            <a:ext cx="236829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451F"/>
                </a:solidFill>
                <a:latin typeface="Times New Roman"/>
                <a:ea typeface="宋体"/>
                <a:cs typeface="宋体"/>
              </a:rPr>
              <a:t>✕ 抽样方法 / 回收未报告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80175" y="2807208"/>
            <a:ext cx="237744" cy="237744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7" y="228600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2286000"/>
            <a:ext cx="236829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信度与效度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7" y="388620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7EBE5"/>
          </a:solidFill>
          <a:ln w="12700">
            <a:solidFill>
              <a:srgbClr val="B44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3886200"/>
            <a:ext cx="236829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451F"/>
                </a:solidFill>
                <a:latin typeface="Times New Roman"/>
                <a:ea typeface="宋体"/>
                <a:cs typeface="宋体"/>
              </a:rPr>
              <a:t>✕ 只有信度、没有效度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69096" y="2807208"/>
            <a:ext cx="237744" cy="237744"/>
          </a:xfrm>
          <a:prstGeom prst="rightArrow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25128" y="2286000"/>
            <a:ext cx="25146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286000"/>
            <a:ext cx="2368296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统计与结论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5128" y="388620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7EBE5"/>
          </a:solidFill>
          <a:ln w="12700">
            <a:solidFill>
              <a:srgbClr val="B445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3886200"/>
            <a:ext cx="236829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4451F"/>
                </a:solidFill>
                <a:latin typeface="Times New Roman"/>
                <a:ea typeface="宋体"/>
                <a:cs typeface="宋体"/>
              </a:rPr>
              <a:t>✕ 单题当构念 + 越界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0 /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24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反例小结：不是造假，是证据链断裂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反例的数据是真的、信度也报了，并不是造假。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问题在于证据链断裂：题项没来源、抽样没交代、只有信度没有效度、单题当构念。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最根本的一点：结论超出了数据能承担的范围。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25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两篇论文的对照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26 /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对照（一）：题项、构念、样本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题项来源：正例用日志 + 访谈 + 三轮评审，74→28→21；反例自拟 6 题，无评审、无前测。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构念对应：正例四维度、经因子分析验证；反例两个构念、从未检验。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样本：正例 144 人、纳入条件写明；反例 127 人、发放回收口径未报。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27 /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对照（二）：信度、效度、结论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信度：正例 α = .901；反例 α = .714 / .835。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效度：正例有内容效度 + 因子分析 + 三项效标；反例只有单题与成绩的相关。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结论：正例停在「可测、能区分阶段」；反例写到「可行、应纳入教学」，越过了数据。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28 /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24544" y="2286000"/>
            <a:ext cx="3264408" cy="26517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97480"/>
            <a:ext cx="2377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0" i="0">
                <a:solidFill>
                  <a:srgbClr val="FFFFFF"/>
                </a:solidFill>
                <a:latin typeface="Times New Roman"/>
                <a:ea typeface="宋体"/>
                <a:cs typeface="宋体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6160" y="306324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启示：问卷设计与施测的规范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29 / 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交稿前的十问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1. 我要回答什么问题？先写成一句可检验的问话。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2. 题目和概念对得上吗？先定义概念，再列「概念 → 维度 → 题目」对照表。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3. 题目是哪来的？沿用要注明出处，改编要说明改动，自编要交代生成过程。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4. 问卷发给谁？写清总体、抽样范围，谁符合、谁不符合。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5. 三份数字报了吗？发放、回收、有效各多少，并先定「怎样算无效」。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6. 先试测了吗？正式发放前找人试填，或请专家把一次关。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7. 信效度报了吗？报 α 或 ω；问卷分多个维度，还要报 EFA / CFA。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8. 指导语写清楚了吗？说明用途、匿名、可以中途退出。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9. 题型和统计配吗？单选用频数、量表用均值、开放题用编码。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10. 结论有没有越界？横断面问卷只能说「有关联」，不能说「导致」。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30 / 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反例的三处最小改法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10881360" cy="3931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题目来源：换成已验证的量表题目并注明出处；坚持自拟，就补一次因子分析或报告题总相关。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单题当构念：先把同一维度的 3 题合成平均分（构念分），再用构念分做相关，而不是拿单题；措辞用「有关联」，不用「影响」。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· 结论越界：把结论收缩到「这 127 名学生（这所学校）」，并补上发放、回收、有效三份数字。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5742432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31 / 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000000"/>
                </a:solidFill>
                <a:latin typeface="Times New Roman"/>
                <a:ea typeface="黑体"/>
                <a:cs typeface="黑体"/>
              </a:rPr>
              <a:t>谢谢观看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04040"/>
                </a:solidFill>
                <a:latin typeface="Times New Roman"/>
                <a:ea typeface="宋体"/>
                <a:cs typeface="宋体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周金华、董燕萍（2019）. 口译笔记熟练度量表的开发. 外语教学与研究 51(6): 925-937.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Yang, Z. &amp; Mustafa, H. R. (2022). On postediting of machine translation and workflow. HBET, 5793054.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  <a:ea typeface="宋体"/>
                <a:cs typeface="宋体"/>
              </a:rPr>
              <a:t>汇报人：陈冠臻    学号：20261210050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PRING_PRESENTATION_TITLE" val="PowerPoint 演示文稿"/>
  <p:tag name="KSO_WM_DOC_GUID" val="{7646b040-3551-49a0-9609-8286eb574aa4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WPS 演示</Application>
  <PresentationFormat>宽屏</PresentationFormat>
  <Paragraphs>8</Paragraphs>
  <Slides>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9" baseType="lpstr">
      <vt:lpstr>Arial</vt:lpstr>
      <vt:lpstr>宋体</vt:lpstr>
      <vt:lpstr>Wingdings</vt:lpstr>
      <vt:lpstr>Brush Script MT</vt:lpstr>
      <vt:lpstr>华文隶书</vt:lpstr>
      <vt:lpstr>Calibri</vt:lpstr>
      <vt:lpstr>Roboto Light</vt:lpstr>
      <vt:lpstr>思源黑体 CN Light</vt:lpstr>
      <vt:lpstr>黑体</vt:lpstr>
      <vt:lpstr>Impact</vt:lpstr>
      <vt:lpstr>微软雅黑</vt:lpstr>
      <vt:lpstr>Arial</vt:lpstr>
      <vt:lpstr>Roboto condensed</vt:lpstr>
      <vt:lpstr>Segoe Print</vt:lpstr>
      <vt:lpstr>思源黑体 CN Bold</vt:lpstr>
      <vt:lpstr>FontAwesome</vt:lpstr>
      <vt:lpstr>Open Sans</vt:lpstr>
      <vt:lpstr>思源黑体 CN Heavy</vt:lpstr>
      <vt:lpstr>华文细黑</vt:lpstr>
      <vt:lpstr>微软雅黑 Light</vt:lpstr>
      <vt:lpstr>Arial Unicode MS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粒子点线</dc:title>
  <dc:creator>第一PPT</dc:creator>
  <cp:keywords>www.1ppt.com</cp:keywords>
  <dc:description>www.1ppt.com</dc:description>
  <cp:lastModifiedBy>86137</cp:lastModifiedBy>
  <cp:revision>114</cp:revision>
  <dcterms:created xsi:type="dcterms:W3CDTF">2018-09-11T09:25:00Z</dcterms:created>
  <dcterms:modified xsi:type="dcterms:W3CDTF">2025-06-08T03:40:41Z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BFA146773F4A4283BE0830DBF4813C0B_13</vt:lpwstr>
  </property>
</Properties>
</file>