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9"/>
    <p:sldId id="257" r:id="rId8"/>
    <p:sldId id="258" r:id="rId7"/>
    <p:sldId id="259" r:id="rId6"/>
    <p:sldId id="260" r:id="rId5"/>
    <p:sldId id="261" r:id="rId3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456"/>
    <a:srgbClr val="03A9F0"/>
    <a:srgbClr val="5B9B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77" y="547"/>
      </p:cViewPr>
      <p:guideLst>
        <p:guide orient="horz" pos="21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520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6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6566E-A135-47C5-B666-D77ED21946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E1E66-0EA3-46B4-8216-B1B8BE711F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BAA7-22A5-49C2-BA97-E6B0C9CFDA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2276872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 userDrawn="1"/>
        </p:nvSpPr>
        <p:spPr>
          <a:xfrm>
            <a:off x="8975543" y="2276871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96491" y="2468893"/>
            <a:ext cx="576064" cy="577112"/>
            <a:chOff x="6084168" y="1274820"/>
            <a:chExt cx="432048" cy="432834"/>
          </a:xfrm>
        </p:grpSpPr>
        <p:sp>
          <p:nvSpPr>
            <p:cNvPr id="11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5868299" y="2469417"/>
            <a:ext cx="576064" cy="576064"/>
            <a:chOff x="4788024" y="1275213"/>
            <a:chExt cx="432048" cy="432048"/>
          </a:xfrm>
        </p:grpSpPr>
        <p:sp>
          <p:nvSpPr>
            <p:cNvPr id="14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732395" y="2468893"/>
            <a:ext cx="577111" cy="577112"/>
            <a:chOff x="5436096" y="1274820"/>
            <a:chExt cx="432833" cy="432834"/>
          </a:xfrm>
        </p:grpSpPr>
        <p:sp>
          <p:nvSpPr>
            <p:cNvPr id="17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4140107" y="2468893"/>
            <a:ext cx="577111" cy="577112"/>
            <a:chOff x="3491880" y="1274820"/>
            <a:chExt cx="432833" cy="432834"/>
          </a:xfrm>
        </p:grpSpPr>
        <p:sp>
          <p:nvSpPr>
            <p:cNvPr id="20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004203" y="2468893"/>
            <a:ext cx="577111" cy="577112"/>
            <a:chOff x="4139952" y="1274820"/>
            <a:chExt cx="432833" cy="432834"/>
          </a:xfrm>
        </p:grpSpPr>
        <p:sp>
          <p:nvSpPr>
            <p:cNvPr id="23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4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sp>
        <p:nvSpPr>
          <p:cNvPr id="25" name="文本框 2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25278" y="645017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A9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92024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5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《翻译研究方法》第 1 组 · 方法 A 案例部分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2860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问卷调查法在翻译研究中的应用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108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正例与反例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Questionnaire Survey in Translation Studies: A Positive and a Negative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4617720"/>
            <a:ext cx="4206240" cy="274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48463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正例（口译）｜ 周金华、董燕萍 2019 · 口译笔记熟练度量表的开发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反例（笔译）｜ Yang &amp; Mustafa 2022 · On Postediting of Machine Translation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汇报人：＿＿ ｜ 2026.10.12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1887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828800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33172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7C86"/>
                </a:solidFill>
                <a:latin typeface="Consolas"/>
                <a:ea typeface="思源黑体 CN Light"/>
                <a:cs typeface="思源黑体 CN Ligh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7" y="2350008"/>
            <a:ext cx="7772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问卷法：定位与判断标准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9967" y="27706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Survey in Translation Studies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044952"/>
            <a:ext cx="10881360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118103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7C86"/>
                </a:solidFill>
                <a:latin typeface="Consolas"/>
                <a:ea typeface="思源黑体 CN Light"/>
                <a:cs typeface="思源黑体 CN Ligh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7" y="3136391"/>
            <a:ext cx="7772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正例：口译笔记熟练度量表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7" y="3557015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周金华、董燕萍 2019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831335"/>
            <a:ext cx="10881360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904487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7C86"/>
                </a:solidFill>
                <a:latin typeface="Consolas"/>
                <a:ea typeface="思源黑体 CN Light"/>
                <a:cs typeface="思源黑体 CN Ligh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7" y="3922775"/>
            <a:ext cx="7772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反例：MTPE 态度问卷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7" y="4343400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Yang &amp; Mustafa 2022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617720"/>
            <a:ext cx="10881360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690872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7C86"/>
                </a:solidFill>
                <a:latin typeface="Consolas"/>
                <a:ea typeface="思源黑体 CN Light"/>
                <a:cs typeface="思源黑体 CN Light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9967" y="4709159"/>
            <a:ext cx="7772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对照：方法学上的差距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7" y="5129783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Side-by-side comparison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404104"/>
            <a:ext cx="10881360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477256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7C86"/>
                </a:solidFill>
                <a:latin typeface="Consolas"/>
                <a:ea typeface="思源黑体 CN Light"/>
                <a:cs typeface="思源黑体 CN Light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7" y="5495544"/>
            <a:ext cx="7772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启示：设计与施测的规范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591616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Guidelines for questionnaire design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190488"/>
            <a:ext cx="10881360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554480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2D2D89"/>
                </a:solidFill>
                <a:latin typeface="Consolas"/>
                <a:ea typeface="思源黑体 CN Light"/>
                <a:cs typeface="思源黑体 CN Light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4864607" y="1783080"/>
            <a:ext cx="54864" cy="1920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30368" y="1874519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问卷法：定位与判断标准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28803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Questionnaire Survey in Translation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问卷法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03 /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15568"/>
            <a:ext cx="82296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106070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问卷法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3502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什么是问卷调查法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659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368296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以标准化问卷为工具，系统收集翻译相关数据的定量研究方法。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844927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适用场景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247263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读者对译文的反应与评价、译者行为与策略、翻译教学效果、翻译行业现状。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72389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126230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样本量大、操作标准化、结果便于定量统计。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602861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局限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5005197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回收率难保证，缺乏深入定性，结论受问卷质量影响大。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问卷法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04 /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15568"/>
            <a:ext cx="82296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106070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问卷法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3502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判断标准：一条证据链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659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研究问题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368296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想回答什么，先写成一句可检验的话。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844927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构念与题项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247263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把抽象概念拆成可回答的题目。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72389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抽样与施测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126230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向谁发放、如何回收、有效多少。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602861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统计与结论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5005197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数据能支撑到哪一步，就说到哪一步。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问卷法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05 / 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554480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2D2D89"/>
                </a:solidFill>
                <a:latin typeface="Consolas"/>
                <a:ea typeface="思源黑体 CN Light"/>
                <a:cs typeface="思源黑体 CN Light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4864607" y="1783080"/>
            <a:ext cx="54864" cy="1920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30368" y="1874519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正例：口译笔记熟练度量表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28803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Zhou &amp; Dong 2019, Foreign Language Teaching and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正例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06 / 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15568"/>
            <a:ext cx="82296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106070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正例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3502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研究问题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65960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文献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331720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周金华、董燕萍（2019）《外语教学与研究》51(6): 925-937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775966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141725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口译笔记熟练度「看不见、摸不着」，能否用一份自评量表测出来？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585972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思路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951731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先给它一个可操作的定义，再编制一份能被复核的自评量表。</a:t>
            </a:r>
          </a:p>
        </p:txBody>
      </p:sp>
      <p:pic>
        <p:nvPicPr>
          <p:cNvPr id="11" name="Picture 10" descr="zheng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20240"/>
            <a:ext cx="2725081" cy="40233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79208" y="1892808"/>
            <a:ext cx="2779945" cy="4078224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6016752"/>
            <a:ext cx="272508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论文首页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正例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07 /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15568"/>
            <a:ext cx="82296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106070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正例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3502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第一步：明确测量对象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65960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两阶段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331720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笔记记录（note writing）、笔记理解（note reading）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775966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四维度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141725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听记协调性、记录系统性、时效性、笔记使用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585972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原则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951731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先把抽象概念拆成可观察的维度，再落笔写题项。</a:t>
            </a:r>
          </a:p>
        </p:txBody>
      </p:sp>
      <p:pic>
        <p:nvPicPr>
          <p:cNvPr id="11" name="Picture 10" descr="zheng_p06_item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20240"/>
            <a:ext cx="2725081" cy="40233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79208" y="1892808"/>
            <a:ext cx="2779945" cy="4078224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6016752"/>
            <a:ext cx="272508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表1 量表维度与题项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正例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08 / 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15568"/>
            <a:ext cx="82296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106070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正例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3502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第二步：生成题库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659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368296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学员学习日志 + 译员访谈（4 名学员、6 名教师）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844927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规模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247263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初始题库 74 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72389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语言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126230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题干尽量采用译员自己的表达，避免学术腔。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正例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09 / 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15568"/>
            <a:ext cx="82296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106070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正例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3502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第三步：专家评审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659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专家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368296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5 名学员译员 + 3 名教师译员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844927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过程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247263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三轮讨论，历时半年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72389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126230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收到 28 题，李克特 6 点量表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正例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10 /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15568"/>
            <a:ext cx="82296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106070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正例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3502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第四步：试测与删题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65960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试测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331720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54 名翻译专业学生参与试测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775966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141725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极端组比较 + 同质性检验（项目分析）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585972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951731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删 7 题，留 21 题，重新随机排序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395977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761738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改名「自我描述量表」，压低社会赞许性</a:t>
            </a:r>
          </a:p>
        </p:txBody>
      </p:sp>
      <p:pic>
        <p:nvPicPr>
          <p:cNvPr id="13" name="Picture 12" descr="zheng_p07_item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20240"/>
            <a:ext cx="2725081" cy="40233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379208" y="1892808"/>
            <a:ext cx="2779945" cy="4078224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6016752"/>
            <a:ext cx="272508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表2 题项分析结果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正例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11 /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15568"/>
            <a:ext cx="82296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106070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正例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3502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第五步：正式施测与信度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65960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被试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331720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144 名有近一学年笔记交传训练的本科生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775966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信度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141725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总量表 Cronbach's α = .901，各维度信度也较高</a:t>
            </a:r>
          </a:p>
        </p:txBody>
      </p:sp>
      <p:pic>
        <p:nvPicPr>
          <p:cNvPr id="9" name="Picture 8" descr="zheng_p08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20240"/>
            <a:ext cx="2725081" cy="40233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79208" y="1892808"/>
            <a:ext cx="2779945" cy="4078224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6016752"/>
            <a:ext cx="272508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表3 信度检验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正例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12 / 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15568"/>
            <a:ext cx="82296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106070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正例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3502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第六步：效度证据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65960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内容效度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331720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I-CVI / S-CVI 均为 1.00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775966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结构效度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141725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EFA 抽出 4 因子，累计解释 60.49%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585972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效标关联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951731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练习量 .473、动机 .539、绩效 .556（均 p&lt;.01）</a:t>
            </a:r>
          </a:p>
        </p:txBody>
      </p:sp>
      <p:pic>
        <p:nvPicPr>
          <p:cNvPr id="11" name="Picture 10" descr="zheng_p09_e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20240"/>
            <a:ext cx="2725081" cy="40233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79208" y="1892808"/>
            <a:ext cx="2779945" cy="4078224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6016752"/>
            <a:ext cx="272508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因素分析结果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正例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13 / 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15568"/>
            <a:ext cx="82296" cy="420624"/>
          </a:xfrm>
          <a:prstGeom prst="rect">
            <a:avLst/>
          </a:prstGeom>
          <a:solidFill>
            <a:srgbClr val="1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106070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正例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3502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这篇研究交付了什么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659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1E7A5C"/>
                </a:solidFill>
                <a:latin typeface="思源黑体 CN Light"/>
                <a:ea typeface="思源黑体 CN Light"/>
                <a:cs typeface="思源黑体 CN Light"/>
              </a:rPr>
              <a:t>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368296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一份可复用的测量工具，21 题随附录公开。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844927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1E7A5C"/>
                </a:solidFill>
                <a:latin typeface="思源黑体 CN Light"/>
                <a:ea typeface="思源黑体 CN Light"/>
                <a:cs typeface="思源黑体 CN Light"/>
              </a:rPr>
              <a:t>证据链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247263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构念 → 题项 → 抽样 → 信效度，每一步都留下可核查的记录。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72389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1E7A5C"/>
                </a:solidFill>
                <a:latin typeface="思源黑体 CN Light"/>
                <a:ea typeface="思源黑体 CN Light"/>
                <a:cs typeface="思源黑体 CN Light"/>
              </a:rPr>
              <a:t>分寸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126230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只言「可测、能区分训练阶段」，不下因果结论。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正例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14 /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554480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2D2D89"/>
                </a:solidFill>
                <a:latin typeface="Consolas"/>
                <a:ea typeface="思源黑体 CN Light"/>
                <a:cs typeface="思源黑体 CN Light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4864607" y="1783080"/>
            <a:ext cx="54864" cy="1920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30368" y="1874519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反例：MTPE 态度问卷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28803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Yang &amp; Mustafa 2022, Human Behavior and Emerging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反例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15 /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15568"/>
            <a:ext cx="82296" cy="420624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106070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反例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3502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研究问题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65960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文献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331720"/>
            <a:ext cx="5806440" cy="531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Yang &amp; Mustafa (2022)，Human Behavior and Emerging Technologies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3019044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384804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本科翻译专业是否应引入「机器翻译 + 译后编辑（MTPE）」流程？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829050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194810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6 条李克特陈述 + 4 道开放题，借 TAM 框架</a:t>
            </a:r>
          </a:p>
        </p:txBody>
      </p:sp>
      <p:pic>
        <p:nvPicPr>
          <p:cNvPr id="11" name="Picture 10" descr="fan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20240"/>
            <a:ext cx="3017520" cy="40233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79208" y="1892808"/>
            <a:ext cx="3072384" cy="4078224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60167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论文首页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反例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16 /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15568"/>
            <a:ext cx="82296" cy="420624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106070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反例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3502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工具设计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65960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331720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感知有用性 3 题、感知易用性 3 题，6 点量表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775966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开放题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141725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4 道（如「是否知道 MTPE 已是行业标准」）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585972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框架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951731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借用技术接受模型（TAM），但只借概念、未借量表</a:t>
            </a:r>
          </a:p>
        </p:txBody>
      </p:sp>
      <p:pic>
        <p:nvPicPr>
          <p:cNvPr id="11" name="Picture 10" descr="fan_p05_questionna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20240"/>
            <a:ext cx="3017520" cy="40233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79208" y="1892808"/>
            <a:ext cx="3072384" cy="4078224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60167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问卷题项原文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反例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17 / 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15568"/>
            <a:ext cx="82296" cy="420624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106070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反例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3502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抽样与施测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65960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样本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331720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127 名本科生（大三 39、大四 88），西北一所高校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775966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141725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便利抽样，未说明抽样框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585972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缺口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951731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发放数、回收数、有效数均未报告</a:t>
            </a:r>
          </a:p>
        </p:txBody>
      </p:sp>
      <p:pic>
        <p:nvPicPr>
          <p:cNvPr id="11" name="Picture 10" descr="fan_p04_particip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20240"/>
            <a:ext cx="3017520" cy="40233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79208" y="1892808"/>
            <a:ext cx="3072384" cy="4078224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60167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被试与变量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反例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18 / 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15568"/>
            <a:ext cx="82296" cy="420624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106070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反例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3502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数据分析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65960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331720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描述统计 + 单题 Pearson 相关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775966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141725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6 题均值 4.02–4.55，均高于中点 3.5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585972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信度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951731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分维度 α = .714 / .835</a:t>
            </a:r>
          </a:p>
        </p:txBody>
      </p:sp>
      <p:pic>
        <p:nvPicPr>
          <p:cNvPr id="11" name="Picture 10" descr="fan_p06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20240"/>
            <a:ext cx="3017520" cy="40233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79208" y="1892808"/>
            <a:ext cx="3072384" cy="4078224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60167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数据分析结果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反例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19 / 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15568"/>
            <a:ext cx="82296" cy="420624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106070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反例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3502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断点① 构念—题项脱钩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65960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现象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331720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借了 TAM 的框架，没借它的量表结构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775966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141725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6 条自拟题，无内容评审、无前测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585972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后果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951731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三题是否真落在两个构念上，从未检验</a:t>
            </a:r>
          </a:p>
        </p:txBody>
      </p:sp>
      <p:pic>
        <p:nvPicPr>
          <p:cNvPr id="11" name="Picture 10" descr="fan_p05_questionna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20240"/>
            <a:ext cx="3017520" cy="40233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79208" y="1892808"/>
            <a:ext cx="3072384" cy="4078224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60167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6 条自拟题原文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反例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20 /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15568"/>
            <a:ext cx="82296" cy="420624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106070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反例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3502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断点② 抽样口径模糊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65960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现象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331720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便利抽样，发放 / 回收 / 有效均未报告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775966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后果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141725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应答率、自选择偏差无从判断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585972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施测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951731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线上一次填答，无照应题、无注意力检查</a:t>
            </a:r>
          </a:p>
        </p:txBody>
      </p:sp>
      <p:pic>
        <p:nvPicPr>
          <p:cNvPr id="11" name="Picture 10" descr="fan_p04_particip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20240"/>
            <a:ext cx="3017520" cy="40233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79208" y="1892808"/>
            <a:ext cx="3072384" cy="4078224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60167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被试说明（仅 127 人）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反例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21 / 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15568"/>
            <a:ext cx="82296" cy="420624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106070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反例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3502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断点③④ 分析层级错位 · 结论超出数据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659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单题当构念用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368296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拿单题与课程成绩做相关，均值高于中点即称「积极」。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844927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横断面推因果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247263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从一次性自陈，直接推出「应纳入课程」。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反例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22 /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15568"/>
            <a:ext cx="82296" cy="420624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106070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反例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3502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这篇研究的问题在哪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659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不是造假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368296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数据是真的，统计也报了。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844927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是证据链断裂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247263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六步都做了，但每一步只写了半句。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72389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核心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126230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结论超出了数据能承担的范围。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反例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23 /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554480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2D2D89"/>
                </a:solidFill>
                <a:latin typeface="Consolas"/>
                <a:ea typeface="思源黑体 CN Light"/>
                <a:cs typeface="思源黑体 CN Light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4864607" y="1783080"/>
            <a:ext cx="54864" cy="1920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30368" y="1874519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对照：方法学上的差距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28803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A side-by-side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对照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24 / 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15568"/>
            <a:ext cx="82296" cy="420624"/>
          </a:xfrm>
          <a:prstGeom prst="rect">
            <a:avLst/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106070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3502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① 题目从哪来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011680"/>
            <a:ext cx="5486400" cy="3200400"/>
          </a:xfrm>
          <a:prstGeom prst="rect">
            <a:avLst/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011680"/>
            <a:ext cx="5486400" cy="384048"/>
          </a:xfrm>
          <a:prstGeom prst="rect">
            <a:avLst/>
          </a:prstGeom>
          <a:solidFill>
            <a:srgbClr val="1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rPr>
              <a:t>正例 · 口译笔记量表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42032"/>
            <a:ext cx="502920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从学生的学习日志、译员访谈里收集素材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006089"/>
            <a:ext cx="502920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先攒 74 题，专家三轮评审收到 28 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470148"/>
            <a:ext cx="502920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试测后再删 7 题，定稿 21 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2011680"/>
            <a:ext cx="5394960" cy="3200400"/>
          </a:xfrm>
          <a:prstGeom prst="rect">
            <a:avLst/>
          </a:prstGeom>
          <a:solidFill>
            <a:srgbClr val="F7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44768" y="2011680"/>
            <a:ext cx="5394960" cy="384048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2011680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rPr>
              <a:t>反例 · MTPE 问卷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542032"/>
            <a:ext cx="493776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6 道题全部由作者自己拟写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3006089"/>
            <a:ext cx="493776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没有请专家评审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3470148"/>
            <a:ext cx="493776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也没有先小规模试测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349240"/>
            <a:ext cx="10991088" cy="868680"/>
          </a:xfrm>
          <a:prstGeom prst="rect">
            <a:avLst/>
          </a:prstGeom>
          <a:solidFill>
            <a:srgbClr val="F5E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5349240"/>
            <a:ext cx="54864" cy="86868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34924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出考卷的差别：正例是「出题 → 审题 → 试考 → 定稿」，反例是「出题 → 直接拿去考」。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对照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25 /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15568"/>
            <a:ext cx="82296" cy="420624"/>
          </a:xfrm>
          <a:prstGeom prst="rect">
            <a:avLst/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106070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3502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② 题目测的是什么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011680"/>
            <a:ext cx="5486400" cy="3200400"/>
          </a:xfrm>
          <a:prstGeom prst="rect">
            <a:avLst/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011680"/>
            <a:ext cx="5486400" cy="384048"/>
          </a:xfrm>
          <a:prstGeom prst="rect">
            <a:avLst/>
          </a:prstGeom>
          <a:solidFill>
            <a:srgbClr val="1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rPr>
              <a:t>正例 · 口译笔记量表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42032"/>
            <a:ext cx="502920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先把「熟练度」定义成「记录 / 理解两阶段 × 四维度」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006089"/>
            <a:ext cx="502920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按维度逐条写题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470148"/>
            <a:ext cx="502920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再用因子分析验证：题目确实落在预设的维度上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2011680"/>
            <a:ext cx="5394960" cy="3200400"/>
          </a:xfrm>
          <a:prstGeom prst="rect">
            <a:avLst/>
          </a:prstGeom>
          <a:solidFill>
            <a:srgbClr val="F7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44768" y="2011680"/>
            <a:ext cx="5394960" cy="384048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2011680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rPr>
              <a:t>反例 · MTPE 问卷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542032"/>
            <a:ext cx="493776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借 TAM 框架，声称测「有用性」和「易用性」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3006089"/>
            <a:ext cx="493776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但 6 道自拟题从没验证过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3470148"/>
            <a:ext cx="493776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说不清它们到底在测什么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349240"/>
            <a:ext cx="10991088" cy="868680"/>
          </a:xfrm>
          <a:prstGeom prst="rect">
            <a:avLst/>
          </a:prstGeom>
          <a:solidFill>
            <a:srgbClr val="F5E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5349240"/>
            <a:ext cx="54864" cy="86868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34924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题目和「想测的东西」对不对得上：正例对得上、还做了验证；反例没验证，等于心里没底。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对照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26 /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15568"/>
            <a:ext cx="82296" cy="420624"/>
          </a:xfrm>
          <a:prstGeom prst="rect">
            <a:avLst/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106070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3502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③ 谁来填问卷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011680"/>
            <a:ext cx="5486400" cy="3200400"/>
          </a:xfrm>
          <a:prstGeom prst="rect">
            <a:avLst/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011680"/>
            <a:ext cx="5486400" cy="384048"/>
          </a:xfrm>
          <a:prstGeom prst="rect">
            <a:avLst/>
          </a:prstGeom>
          <a:solidFill>
            <a:srgbClr val="1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rPr>
              <a:t>正例 · 口译笔记量表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42032"/>
            <a:ext cx="502920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144 名「有近一学年笔记交传训练」的本科生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006089"/>
            <a:ext cx="502920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样本条件写得清清楚楚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470148"/>
            <a:ext cx="502920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读者一看就知道研究对象是谁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2011680"/>
            <a:ext cx="5394960" cy="3200400"/>
          </a:xfrm>
          <a:prstGeom prst="rect">
            <a:avLst/>
          </a:prstGeom>
          <a:solidFill>
            <a:srgbClr val="F7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44768" y="2011680"/>
            <a:ext cx="5394960" cy="384048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2011680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rPr>
              <a:t>反例 · MTPE 问卷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542032"/>
            <a:ext cx="493776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127 名「某高校翻译专业」本科生（大三 39、大四 88）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3006089"/>
            <a:ext cx="493776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发出去多少份、收回多少份、有效多少份都没写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3470148"/>
            <a:ext cx="493776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抽样方式只说「便利抽样」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349240"/>
            <a:ext cx="10991088" cy="868680"/>
          </a:xfrm>
          <a:prstGeom prst="rect">
            <a:avLst/>
          </a:prstGeom>
          <a:solidFill>
            <a:srgbClr val="F5E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5349240"/>
            <a:ext cx="54864" cy="86868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34924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问卷发给谁、收回多少，决定结论能代表谁：正例说得清，反例说不清。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对照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27 /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15568"/>
            <a:ext cx="82296" cy="420624"/>
          </a:xfrm>
          <a:prstGeom prst="rect">
            <a:avLst/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106070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3502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④ 结果稳不稳定（信度）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011680"/>
            <a:ext cx="5486400" cy="3200400"/>
          </a:xfrm>
          <a:prstGeom prst="rect">
            <a:avLst/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011680"/>
            <a:ext cx="5486400" cy="384048"/>
          </a:xfrm>
          <a:prstGeom prst="rect">
            <a:avLst/>
          </a:prstGeom>
          <a:solidFill>
            <a:srgbClr val="1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rPr>
              <a:t>正例 · 口译笔记量表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42032"/>
            <a:ext cx="502920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总量表 Cronbach's α = .901，很高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006089"/>
            <a:ext cx="502920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各维度的信度也都较高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470148"/>
            <a:ext cx="502920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说明反复测，结果稳定可靠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2011680"/>
            <a:ext cx="5394960" cy="3200400"/>
          </a:xfrm>
          <a:prstGeom prst="rect">
            <a:avLst/>
          </a:prstGeom>
          <a:solidFill>
            <a:srgbClr val="F7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44768" y="2011680"/>
            <a:ext cx="5394960" cy="384048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2011680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rPr>
              <a:t>反例 · MTPE 问卷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542032"/>
            <a:ext cx="493776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α = .714 / .835，偏低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3006089"/>
            <a:ext cx="493776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而且只按两个分量表报告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3470148"/>
            <a:ext cx="493776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没有报总量表整体信度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349240"/>
            <a:ext cx="10991088" cy="868680"/>
          </a:xfrm>
          <a:prstGeom prst="rect">
            <a:avLst/>
          </a:prstGeom>
          <a:solidFill>
            <a:srgbClr val="F5E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5349240"/>
            <a:ext cx="54864" cy="86868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34924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信度就是「尺子量得稳不稳」：α 在 .9 以上很稳，.7 左右只能算勉强及格。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对照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28 / 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15568"/>
            <a:ext cx="82296" cy="420624"/>
          </a:xfrm>
          <a:prstGeom prst="rect">
            <a:avLst/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106070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3502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⑤ 测得到底对不对（效度）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011680"/>
            <a:ext cx="5486400" cy="3200400"/>
          </a:xfrm>
          <a:prstGeom prst="rect">
            <a:avLst/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011680"/>
            <a:ext cx="5486400" cy="384048"/>
          </a:xfrm>
          <a:prstGeom prst="rect">
            <a:avLst/>
          </a:prstGeom>
          <a:solidFill>
            <a:srgbClr val="1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rPr>
              <a:t>正例 · 口译笔记量表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42032"/>
            <a:ext cx="502920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内容效度：专家评分 CVI = 1.00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006089"/>
            <a:ext cx="502920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结构效度：因子分析验证了四维度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470148"/>
            <a:ext cx="502920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效标关联：与练习量 .473、动机 .539、绩效 .556 都相关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2011680"/>
            <a:ext cx="5394960" cy="3200400"/>
          </a:xfrm>
          <a:prstGeom prst="rect">
            <a:avLst/>
          </a:prstGeom>
          <a:solidFill>
            <a:srgbClr val="F7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44768" y="2011680"/>
            <a:ext cx="5394960" cy="384048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2011680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rPr>
              <a:t>反例 · MTPE 问卷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542032"/>
            <a:ext cx="493776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只有「单题 × 课程成绩」的相关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3006089"/>
            <a:ext cx="493776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没有系统的效度检验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3470148"/>
            <a:ext cx="493776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也没有说明题目是否覆盖了构念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349240"/>
            <a:ext cx="10991088" cy="868680"/>
          </a:xfrm>
          <a:prstGeom prst="rect">
            <a:avLst/>
          </a:prstGeom>
          <a:solidFill>
            <a:srgbClr val="F5E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5349240"/>
            <a:ext cx="54864" cy="86868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34924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效度就是「测的到底是不是想测的东西」：正例有三重证据，反例几乎只有一条相关。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对照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29 / 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15568"/>
            <a:ext cx="82296" cy="420624"/>
          </a:xfrm>
          <a:prstGeom prst="rect">
            <a:avLst/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106070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3502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⑥ 结论有没有越界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011680"/>
            <a:ext cx="5486400" cy="3200400"/>
          </a:xfrm>
          <a:prstGeom prst="rect">
            <a:avLst/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011680"/>
            <a:ext cx="5486400" cy="384048"/>
          </a:xfrm>
          <a:prstGeom prst="rect">
            <a:avLst/>
          </a:prstGeom>
          <a:solidFill>
            <a:srgbClr val="1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rPr>
              <a:t>正例 · 口译笔记量表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42032"/>
            <a:ext cx="502920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结论停在「量表可测、能区分训练阶段」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006089"/>
            <a:ext cx="502920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每一步都在数据能支撑的范围内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4768" y="2011680"/>
            <a:ext cx="5394960" cy="3200400"/>
          </a:xfrm>
          <a:prstGeom prst="rect">
            <a:avLst/>
          </a:prstGeom>
          <a:solidFill>
            <a:srgbClr val="F7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44768" y="2011680"/>
            <a:ext cx="5394960" cy="384048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4768" y="2011680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rPr>
              <a:t>反例 · MTPE 问卷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542032"/>
            <a:ext cx="493776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从「127 人态度偏积极」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006089"/>
            <a:ext cx="493776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直接推出「应把 MTPE 纳入本科教学」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3470148"/>
            <a:ext cx="493776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6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·  中间跳过了好几步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349240"/>
            <a:ext cx="10991088" cy="868680"/>
          </a:xfrm>
          <a:prstGeom prst="rect">
            <a:avLst/>
          </a:prstGeom>
          <a:solidFill>
            <a:srgbClr val="F5E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5349240"/>
            <a:ext cx="54864" cy="86868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34924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正例说「这把尺子好用」；反例说「尺子好用，所以应该改课程」——后者多走了两步。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对照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30 / 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554480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2D2D89"/>
                </a:solidFill>
                <a:latin typeface="Consolas"/>
                <a:ea typeface="思源黑体 CN Light"/>
                <a:cs typeface="思源黑体 CN Light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4864607" y="1783080"/>
            <a:ext cx="54864" cy="1920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30368" y="1874519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启示：设计与施测的规范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28803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Guidelines for questionnaire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启示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31 /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15568"/>
            <a:ext cx="82296" cy="420624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106070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启示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3502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交稿前十问（上）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116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0116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2011680"/>
            <a:ext cx="10332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我要回答什么问题？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23774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先把它写成一句可检验的问话，再动手。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0779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90779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907792"/>
            <a:ext cx="10332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题目和概念对得上吗？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273552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先定义要测的概念，再写题，列一张「概念 → 维度 → 题目」对照表。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0390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80390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3803904"/>
            <a:ext cx="10332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题目是哪来的？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4169664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沿用（注明出处）/ 改编（说明改动）/ 自编（说明怎么来的）。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70001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7000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700016"/>
            <a:ext cx="10332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问卷发给谁？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5065776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写清总体、抽样范围，谁符合、谁不符合。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5961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5961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19" y="5596128"/>
            <a:ext cx="10332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三份数字报了吗？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19" y="596188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发放、回收、有效各多少；先定「怎样算无效」。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启示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32 /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15568"/>
            <a:ext cx="82296" cy="420624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106070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启示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3502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交稿前十问（下）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116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0116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2011680"/>
            <a:ext cx="10332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先试测了吗？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23774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正式发放前，找几个人试填，或请专家把一次关。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0779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90779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907792"/>
            <a:ext cx="10332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信效度报了吗？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273552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报 α 或 ω；问卷分多个维度，还要报 EFA / CFA。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0390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80390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3803904"/>
            <a:ext cx="10332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指导语写清楚了吗？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4169664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说明用途、匿名、可以中途退出。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70001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7000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700016"/>
            <a:ext cx="10332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题型和统计配吗？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5065776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单选用频数、量表用均值、开放题用编码。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5961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5961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19" y="5596128"/>
            <a:ext cx="10332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结论有没有越界？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19" y="596188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横断面问卷只能说「有关联」，不能说「导致」。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启示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33 /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15568"/>
            <a:ext cx="82296" cy="420624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106070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启示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3502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反例三处，怎么改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659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C08A3E"/>
                </a:solidFill>
                <a:latin typeface="思源黑体 CN Light"/>
                <a:ea typeface="思源黑体 CN Light"/>
                <a:cs typeface="思源黑体 CN Light"/>
              </a:rPr>
              <a:t>题目来源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368296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换成已验证的量表题目并注明出处；坚持自拟，就补一次因子分析（EFA）或报告「每题和总分的相关」。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844927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C08A3E"/>
                </a:solidFill>
                <a:latin typeface="思源黑体 CN Light"/>
                <a:ea typeface="思源黑体 CN Light"/>
                <a:cs typeface="思源黑体 CN Light"/>
              </a:rPr>
              <a:t>单题当构念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247263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先把同一维度的题合成平均分、报 α，再做相关；结论措辞用「有关联」，不用「影响」。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72389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C08A3E"/>
                </a:solidFill>
                <a:latin typeface="思源黑体 CN Light"/>
                <a:ea typeface="思源黑体 CN Light"/>
                <a:cs typeface="思源黑体 CN Light"/>
              </a:rPr>
              <a:t>结论越界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126230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把结论收缩到「这 127 名学生（这所学校）」，并补上发放 / 回收 / 有效三份数字。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启示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34 / 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1031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108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3749039"/>
            <a:ext cx="4206240" cy="274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周金华、董燕萍（2019）. 口译笔记熟练度量表的开发. 外语教学与研究 51(6): 925-937.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Yang, Z. &amp; Mustafa, H. R. (2022). On postediting of machine translation and workflow. HBET, 5793054.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汇报人：＿＿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PRING_PRESENTATION_TITLE" val="PowerPoint 演示文稿"/>
  <p:tag name="KSO_WM_DOC_GUID" val="{7646b040-3551-49a0-9609-8286eb574aa4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WPS 演示</Application>
  <PresentationFormat>宽屏</PresentationFormat>
  <Paragraphs>8</Paragraphs>
  <Slides>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9" baseType="lpstr">
      <vt:lpstr>Arial</vt:lpstr>
      <vt:lpstr>宋体</vt:lpstr>
      <vt:lpstr>Wingdings</vt:lpstr>
      <vt:lpstr>Brush Script MT</vt:lpstr>
      <vt:lpstr>华文隶书</vt:lpstr>
      <vt:lpstr>Calibri</vt:lpstr>
      <vt:lpstr>Roboto Light</vt:lpstr>
      <vt:lpstr>思源黑体 CN Light</vt:lpstr>
      <vt:lpstr>黑体</vt:lpstr>
      <vt:lpstr>Impact</vt:lpstr>
      <vt:lpstr>微软雅黑</vt:lpstr>
      <vt:lpstr>Arial</vt:lpstr>
      <vt:lpstr>Roboto condensed</vt:lpstr>
      <vt:lpstr>Segoe Print</vt:lpstr>
      <vt:lpstr>思源黑体 CN Bold</vt:lpstr>
      <vt:lpstr>FontAwesome</vt:lpstr>
      <vt:lpstr>Open Sans</vt:lpstr>
      <vt:lpstr>思源黑体 CN Heavy</vt:lpstr>
      <vt:lpstr>华文细黑</vt:lpstr>
      <vt:lpstr>微软雅黑 Light</vt:lpstr>
      <vt:lpstr>Arial Unicode MS</vt:lpstr>
      <vt:lpstr>Calibri Light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粒子点线</dc:title>
  <dc:creator>第一PPT</dc:creator>
  <cp:keywords>www.1ppt.com</cp:keywords>
  <dc:description>www.1ppt.com</dc:description>
  <cp:lastModifiedBy>86137</cp:lastModifiedBy>
  <cp:revision>114</cp:revision>
  <dcterms:created xsi:type="dcterms:W3CDTF">2018-09-11T09:25:00Z</dcterms:created>
  <dcterms:modified xsi:type="dcterms:W3CDTF">2025-06-08T03:40:41Z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BFA146773F4A4283BE0830DBF4813C0B_13</vt:lpwstr>
  </property>
</Properties>
</file>