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9"/>
    <p:sldId id="257" r:id="rId8"/>
    <p:sldId id="258" r:id="rId7"/>
    <p:sldId id="259" r:id="rId6"/>
    <p:sldId id="260" r:id="rId5"/>
    <p:sldId id="261" r:id="rId3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问卷调查法在翻译研究中的应用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基于两篇论文的正例与反例分析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Questionnaire Survey in Translation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汇报人：XXX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2026 年 10 月 12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汇报框架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一、研究背景与判断标准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二、正例：口译笔记熟练度量表的开发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三、反例：机器翻译译后编辑（MTPE）态度问卷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四、两篇论文的对照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五、启示：问卷设计与施测的规范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研究背景与判断标准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为什么关注问卷调查法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问卷调查法是以标准化问卷为工具、系统收集数据的定量研究方法。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在翻译研究中，它常用于调查读者对译文的反应、译者的行为与策略、翻译教学的效果、翻译行业的现状等。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一份设计规范的问卷，能提供大规模、可比较的数据；一份设计随意的问卷，则会得出不可靠的结论。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因此，掌握「一份好问卷的标准」，对翻译研究非常重要。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判断标准：一条证据链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判断一份问卷研究是否可靠，可以看它有没有走通下面这条链：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研究问题（想回答什么）→ 构念与题项（把概念变成可答的题）→ 抽样与施测（向谁发、怎么收）→ 统计与结论（数据能撑到哪一步）。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链条闭合，结论才站得住；断在任何一环，结论都会悬空。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下面用两篇论文来对照：一篇是正例（口译研究），一篇是反例（笔译研究）。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正例：口译笔记熟练度量表的开发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正例论文与研究问题</a:t>
            </a:r>
          </a:p>
        </p:txBody>
      </p:sp>
      <p:pic>
        <p:nvPicPr>
          <p:cNvPr id="3" name="Picture 2" descr="zheng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27759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2812482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4604706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文献：周金华、董燕萍（2019），《外语教学与研究》51(6)：925-937。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研究问题：交替传译中的「笔记熟练度」看不见、摸不着，既不能靠看笔记成品来打分，也很难由他人代为评估。那么，它能否用一份自评量表测出来？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研究思路：先给「笔记熟练度」下一个可操作的定义，再编制量表，最后检验量表的信度和效度。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正例研究流程：从构念到一份可复用的量表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834640"/>
            <a:ext cx="175930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界定构念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两阶段 × 四维度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27985" y="3355848"/>
            <a:ext cx="237744" cy="237744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93161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84601" y="2834640"/>
            <a:ext cx="175930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编制题项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74 → 28 → 21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62779" y="3355848"/>
            <a:ext cx="237744" cy="237744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7955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9395" y="2834640"/>
            <a:ext cx="175930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正式施测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144 名学生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97572" y="3355848"/>
            <a:ext cx="237744" cy="237744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62748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4188" y="2834640"/>
            <a:ext cx="175930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信度检验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α = .901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332366" y="3355848"/>
            <a:ext cx="237744" cy="237744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97542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88982" y="2834640"/>
            <a:ext cx="175930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效度验证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CVI / EFA / 效标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0 /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第一步：明确测量对象</a:t>
            </a:r>
          </a:p>
        </p:txBody>
      </p:sp>
      <p:pic>
        <p:nvPicPr>
          <p:cNvPr id="3" name="Picture 2" descr="zheng_p06_item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31666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35324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145469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量表维度与题项（表 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作者把「笔记熟练度」拆成两个阶段：笔记记录（写笔记）、笔记理解（读笔记）。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再细分为四个维度：听记协调性、记录系统性、时效性、笔记使用。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这一步的意义在于：先把「要测什么」定义清楚，才能据此写出对应的题项。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第二步：生成题库</a:t>
            </a:r>
          </a:p>
        </p:txBody>
      </p:sp>
      <p:pic>
        <p:nvPicPr>
          <p:cNvPr id="3" name="Picture 2" descr="zheng_p05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584" y="3931920"/>
            <a:ext cx="8686800" cy="147426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734296" y="3913632"/>
            <a:ext cx="8723376" cy="1510837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52584" y="5451901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初始题项库 74 题（论文 p5）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题项来源：学员的学习日志 + 译员访谈（4 名学员、6 名教师）。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初始题库 74 题，题干尽量采用译员自己的表达，避免学术腔。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这样做的好处是题目贴近实际，而不是研究者凭空编出来的。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第三步：专家评审与试测</a:t>
            </a:r>
          </a:p>
        </p:txBody>
      </p:sp>
      <p:pic>
        <p:nvPicPr>
          <p:cNvPr id="3" name="Picture 2" descr="zheng_p05_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25259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256251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435474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评审 28 题 · 试测 54 人 · 删 7 留 21（论文 p5）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专家评审：5 名学员译员 + 3 名教师译员，三轮讨论、历时半年，收到 28 题、李克特 6 点。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试测删题：54 名学生试测，用极端组比较和同质性检验删掉 7 题，最终留 21 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作者还把量表改名为「口译笔记自我描述量表」，以降低社会赞许性，让人更愿意如实作答。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第四步：正式施测与信度</a:t>
            </a:r>
          </a:p>
        </p:txBody>
      </p:sp>
      <p:pic>
        <p:nvPicPr>
          <p:cNvPr id="3" name="Picture 2" descr="zheng_p08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210861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2145187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937411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总量表 Cronbach's α = .901（论文 p8）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被试：144 名有近一学年笔记交传训练的本科生。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信度：总量表 Cronbach's α = .901，各维度也较高。α 是「内部一致性」指标，取值 0–1，越接近 1 说明题目之间越一致、测量越稳定；通常 ≥ .7 可接受，≥ .9 优秀。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第五步：效度证据（一）内容与结构效度</a:t>
            </a:r>
          </a:p>
        </p:txBody>
      </p:sp>
      <p:pic>
        <p:nvPicPr>
          <p:cNvPr id="3" name="Picture 2" descr="zheng_p08_c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6494" y="1737360"/>
            <a:ext cx="2793545" cy="187451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938206" y="1719072"/>
            <a:ext cx="2830121" cy="191109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56494" y="3657599"/>
            <a:ext cx="279354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内容效度 CVI=1（p8）</a:t>
            </a:r>
          </a:p>
        </p:txBody>
      </p:sp>
      <p:pic>
        <p:nvPicPr>
          <p:cNvPr id="6" name="Picture 5" descr="zheng_p09_e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941" y="3931920"/>
            <a:ext cx="4126098" cy="187451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05653" y="3913632"/>
            <a:ext cx="4162674" cy="191109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3941" y="5852159"/>
            <a:ext cx="41260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因素分析 60.49%（p9）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6800981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内容效度：I-CVI、S-CVI 均为 1.00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结构效度：EFA 抽出 4 因子，累计解释 60.49%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第五步：效度证据（二）效标关联效度</a:t>
            </a:r>
          </a:p>
        </p:txBody>
      </p:sp>
      <p:pic>
        <p:nvPicPr>
          <p:cNvPr id="3" name="Picture 2" descr="zheng_p10_criter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25808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261742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4409652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效标系数 .473 / .539 / .556（论文 p10）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效标关联：与练习量 r=.473、动机 r=.539、绩效 r=.556 显著相关（均 p&lt;.01）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正例小结：值得借鉴之处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构念先于题项：先定义清楚要测什么，再写题，而不是想到什么问什么。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删题是设计、不是失败：从 74 题到 21 题，每一轮删减都有明确依据。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结论只走一步：只言「可测、能区分训练阶段」，不下「笔记好所以口译好」的因果结论。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21 个题项随论文附录公开，工具可复用、可被复核。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反例：机器翻译译后编辑（MTPE）态度问卷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反例论文与研究问题</a:t>
            </a:r>
          </a:p>
        </p:txBody>
      </p:sp>
      <p:pic>
        <p:nvPicPr>
          <p:cNvPr id="3" name="Picture 2" descr="fan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21437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218029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97252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借了 TAM 框架说测「有用性」和「易用性」，但 6 道题是作者自己拟写的——没有沿用现成量表的条目，也没有请专家评审、没有先试测。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换句话说，这 6 题从没验证过是不是真的在测那两个概念，题目质量没有保证。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简单说：借了框架的名字，没借框架的骨架，题目到底测的是什么说不清。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工具设计的问题</a:t>
            </a:r>
          </a:p>
        </p:txBody>
      </p:sp>
      <p:pic>
        <p:nvPicPr>
          <p:cNvPr id="3" name="Picture 2" descr="fan_p05_questionn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194883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1985413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777637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问卷题项原文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样本：127 名本科生（大三 39、大四 88），西北一所高校。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抽样方式是便利抽样，但「发出去多少份、收回多少份、有效多少份」都没有报告——少了这三份数字，就不知道有多少人没回、被剔除，也就无法判断结果到底能代表谁。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线上一次填答，也没有照应题、注意力检查来筛掉乱填的问卷。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抽样与施测的问题</a:t>
            </a:r>
          </a:p>
        </p:txBody>
      </p:sp>
      <p:pic>
        <p:nvPicPr>
          <p:cNvPr id="3" name="Picture 2" descr="fan_p04_particip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912" y="3931920"/>
            <a:ext cx="5806145" cy="173735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74624" y="3913632"/>
            <a:ext cx="5842721" cy="177393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92912" y="5714999"/>
            <a:ext cx="580614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被试说明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样本：127 名本科生（大三 39 名、大四 88 名），来自西北一所高校。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抽样方式是便利抽样，但发出去多少、收回多少、有效多少，都没有报告。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后果：应答率、自选择偏差都无法判断；线上一次填答，也没有照应题和注意力检查。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数据分析的问题</a:t>
            </a:r>
          </a:p>
        </p:txBody>
      </p:sp>
      <p:pic>
        <p:nvPicPr>
          <p:cNvPr id="3" name="Picture 2" descr="fan_p06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37360"/>
            <a:ext cx="4206240" cy="9744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19072"/>
            <a:ext cx="4242816" cy="101099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275749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数据分析结果</a:t>
            </a:r>
          </a:p>
        </p:txBody>
      </p:sp>
      <p:pic>
        <p:nvPicPr>
          <p:cNvPr id="6" name="Picture 5" descr="fan_p06_alp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031818"/>
            <a:ext cx="4206240" cy="48720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25512" y="3013530"/>
            <a:ext cx="4242816" cy="52378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3564747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信度 Cronbach's α=.714 / .835（论文 p6）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只做了描述统计和单题相关，没有更深入的分析。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拿单个题项和课程成绩做相关，等于把「一道题」当成「整个构念的分数」来用。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6 题均值 4.02–4.55（都高于中点 3.5），作者就读作「总体积极」，却没有做检验。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结论越界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作者从「127 名学生一次横断面自陈、态度偏积极」，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直接得出「应把 MTPE 纳入本科教学」的结论。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问题在于：横断面问卷只能说明「有关联」，不能推出「应该做」。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反例：证据链在哪一环断裂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228600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2286000"/>
            <a:ext cx="236829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构念与题项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8862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7EBE5"/>
          </a:solidFill>
          <a:ln w="12700">
            <a:solidFill>
              <a:srgbClr val="B4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3886200"/>
            <a:ext cx="23682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Times New Roman"/>
                <a:ea typeface="宋体"/>
                <a:cs typeface="宋体"/>
              </a:rPr>
              <a:t>✕ 自拟 6 题，未验证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91256" y="2807208"/>
            <a:ext cx="237744" cy="23774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47287" y="228600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39" y="2286000"/>
            <a:ext cx="236829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抽样与施测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7" y="38862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7EBE5"/>
          </a:solidFill>
          <a:ln w="12700">
            <a:solidFill>
              <a:srgbClr val="B4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3886200"/>
            <a:ext cx="23682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Times New Roman"/>
                <a:ea typeface="宋体"/>
                <a:cs typeface="宋体"/>
              </a:rPr>
              <a:t>✕ 发放 / 回收未报告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0175" y="2807208"/>
            <a:ext cx="237744" cy="23774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7" y="228600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286000"/>
            <a:ext cx="236829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统计与分析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38862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7EBE5"/>
          </a:solidFill>
          <a:ln w="12700">
            <a:solidFill>
              <a:srgbClr val="B4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3886200"/>
            <a:ext cx="23682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Times New Roman"/>
                <a:ea typeface="宋体"/>
                <a:cs typeface="宋体"/>
              </a:rPr>
              <a:t>✕ 单题当构念用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69096" y="2807208"/>
            <a:ext cx="237744" cy="23774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25128" y="228600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286000"/>
            <a:ext cx="236829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结论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5128" y="38862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7EBE5"/>
          </a:solidFill>
          <a:ln w="12700">
            <a:solidFill>
              <a:srgbClr val="B4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3886200"/>
            <a:ext cx="23682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Times New Roman"/>
                <a:ea typeface="宋体"/>
                <a:cs typeface="宋体"/>
              </a:rPr>
              <a:t>✕ 横断面推因果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0 /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反例小结：不是造假，是证据链断裂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反例的数据是真的、统计也报了，并不是造假。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问题在于证据链断裂：每一步只做了半句，前后衔接不上。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最根本的一点：结论超出了数据能承担的范围。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两篇论文的对照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对照（一）：题项、构念、样本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题项来源：正例用日志 + 访谈 + 三轮评审，74→28→21；反例自拟 6 题，无评审、无前测。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构念对应：正例四维度、经因子分析验证；反例两个构念、从未检验。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样本：正例 144 人、纳入条件写明；反例 127 人、发放回收口径未报。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对照（二）：信度、效度、结论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信度：正例 α = .901；反例 α = .714 / .835。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效度：正例有内容效度 + 因子分析 + 三项效标；反例只有单题与成绩的相关。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结论：正例停在「可测、能区分阶段」；反例写到「可行、应纳入教学」，越过了数据。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启示：问卷设计与施测的规范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交稿前的十问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1. 我要回答什么问题？先写成一句可检验的问话。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2. 题目和概念对得上吗？先定义概念，再列「概念 → 维度 → 题目」对照表。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3. 题目是哪来的？沿用要注明出处，改编要说明改动，自编要交代生成过程。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4. 问卷发给谁？写清总体、抽样范围，谁符合、谁不符合。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5. 三份数字报了吗？发放、回收、有效各多少，并先定「怎样算无效」。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6. 先试测了吗？正式发放前找人试填，或请专家把一次关。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7. 信效度报了吗？报 α 或 ω；问卷分多个维度，还要报 EFA / CFA。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8. 指导语写清楚了吗？说明用途、匿名、可以中途退出。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9. 题型和统计配吗？单选用频数、量表用均值、开放题用编码。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10. 结论有没有越界？横断面问卷只能说「有关联」，不能说「导致」。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反例的三处最小改法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题目来源：换成已验证的量表题目并注明出处；坚持自拟，就补一次因子分析或报告题总相关。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单题当构念：先把同一维度的题合成平均分、报 α，再做相关；措辞用「有关联」，不用「影响」。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结论越界：把结论收缩到「这 127 名学生（这所学校）」，并补上发放、回收、有效三份数字。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周金华、董燕萍（2019）. 口译笔记熟练度量表的开发. 外语教学与研究 51(6): 925-937.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Yang, Z. &amp; Mustafa, H. R. (2022). On postediting of machine translation and workflow. HBET, 5793054.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汇报人：XXX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8</Paragraphs>
  <Slides>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思源黑体 CN Light</vt:lpstr>
      <vt:lpstr>黑体</vt:lpstr>
      <vt:lpstr>Impact</vt:lpstr>
      <vt:lpstr>微软雅黑</vt:lpstr>
      <vt:lpstr>Arial</vt:lpstr>
      <vt:lpstr>Roboto condensed</vt:lpstr>
      <vt:lpstr>Segoe Print</vt:lpstr>
      <vt:lpstr>思源黑体 CN Bold</vt:lpstr>
      <vt:lpstr>FontAwesome</vt:lpstr>
      <vt:lpstr>Open Sans</vt:lpstr>
      <vt:lpstr>思源黑体 CN Heavy</vt:lpstr>
      <vt:lpstr>华文细黑</vt:lpstr>
      <vt:lpstr>微软雅黑 Light</vt:lpstr>
      <vt:lpstr>Arial Unicode MS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86137</cp:lastModifiedBy>
  <cp:revision>114</cp:revision>
  <dcterms:created xsi:type="dcterms:W3CDTF">2018-09-11T09:25:00Z</dcterms:created>
  <dcterms:modified xsi:type="dcterms:W3CDTF">2025-06-08T03:40:41Z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BFA146773F4A4283BE0830DBF4813C0B_13</vt:lpwstr>
  </property>
</Properties>
</file>