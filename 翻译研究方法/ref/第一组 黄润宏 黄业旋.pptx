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57"/>
  </p:handoutMasterIdLst>
  <p:sldIdLst>
    <p:sldId id="291" r:id="rId4"/>
    <p:sldId id="351" r:id="rId6"/>
    <p:sldId id="287" r:id="rId7"/>
    <p:sldId id="301" r:id="rId8"/>
    <p:sldId id="295" r:id="rId9"/>
    <p:sldId id="288" r:id="rId10"/>
    <p:sldId id="305" r:id="rId11"/>
    <p:sldId id="306" r:id="rId12"/>
    <p:sldId id="289" r:id="rId13"/>
    <p:sldId id="304" r:id="rId14"/>
    <p:sldId id="302" r:id="rId15"/>
    <p:sldId id="303" r:id="rId16"/>
    <p:sldId id="290" r:id="rId17"/>
    <p:sldId id="310" r:id="rId18"/>
    <p:sldId id="311" r:id="rId19"/>
    <p:sldId id="308" r:id="rId20"/>
    <p:sldId id="309" r:id="rId21"/>
    <p:sldId id="312" r:id="rId22"/>
    <p:sldId id="313" r:id="rId23"/>
    <p:sldId id="314" r:id="rId24"/>
    <p:sldId id="315" r:id="rId25"/>
    <p:sldId id="316" r:id="rId26"/>
    <p:sldId id="317" r:id="rId27"/>
    <p:sldId id="318" r:id="rId28"/>
    <p:sldId id="319" r:id="rId29"/>
    <p:sldId id="320" r:id="rId30"/>
    <p:sldId id="321" r:id="rId31"/>
    <p:sldId id="323" r:id="rId32"/>
    <p:sldId id="322" r:id="rId33"/>
    <p:sldId id="324" r:id="rId34"/>
    <p:sldId id="325" r:id="rId35"/>
    <p:sldId id="330" r:id="rId36"/>
    <p:sldId id="331" r:id="rId37"/>
    <p:sldId id="332" r:id="rId38"/>
    <p:sldId id="333" r:id="rId39"/>
    <p:sldId id="334" r:id="rId40"/>
    <p:sldId id="335" r:id="rId41"/>
    <p:sldId id="336" r:id="rId42"/>
    <p:sldId id="338" r:id="rId43"/>
    <p:sldId id="337" r:id="rId44"/>
    <p:sldId id="339" r:id="rId45"/>
    <p:sldId id="340" r:id="rId46"/>
    <p:sldId id="342" r:id="rId47"/>
    <p:sldId id="341" r:id="rId48"/>
    <p:sldId id="343" r:id="rId49"/>
    <p:sldId id="344" r:id="rId50"/>
    <p:sldId id="345" r:id="rId51"/>
    <p:sldId id="346" r:id="rId52"/>
    <p:sldId id="347" r:id="rId53"/>
    <p:sldId id="348" r:id="rId54"/>
    <p:sldId id="349" r:id="rId55"/>
    <p:sldId id="350" r:id="rId56"/>
  </p:sldIdLst>
  <p:sldSz cx="12192000" cy="6858000"/>
  <p:notesSz cx="6858000" cy="9144000"/>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1" userDrawn="1">
          <p15:clr>
            <a:srgbClr val="A4A3A4"/>
          </p15:clr>
        </p15:guide>
        <p15:guide id="2" pos="38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5456"/>
    <a:srgbClr val="03A9F0"/>
    <a:srgbClr val="5B9BD5"/>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showGuides="1">
      <p:cViewPr varScale="1">
        <p:scale>
          <a:sx n="67" d="100"/>
          <a:sy n="67" d="100"/>
        </p:scale>
        <p:origin x="564" y="56"/>
      </p:cViewPr>
      <p:guideLst>
        <p:guide orient="horz" pos="2241"/>
        <p:guide pos="3806"/>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70" d="100"/>
          <a:sy n="70" d="100"/>
        </p:scale>
        <p:origin x="2520"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1" Type="http://schemas.openxmlformats.org/officeDocument/2006/relationships/tags" Target="tags/tag1.xml"/><Relationship Id="rId60" Type="http://schemas.openxmlformats.org/officeDocument/2006/relationships/tableStyles" Target="tableStyles.xml"/><Relationship Id="rId6" Type="http://schemas.openxmlformats.org/officeDocument/2006/relationships/slide" Target="slides/slide2.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handoutMaster" Target="handoutMasters/handoutMaster1.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96566E-A135-47C5-B666-D77ED219465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A0E1E66-0EA3-46B4-8216-B1B8BE711FF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00BAA7-22A5-49C2-BA97-E6B0C9CFDA3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D9F56C-685E-485A-BF04-BF7465453AF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Opening slide for the complete Nida presentation. The deck follows five questions: why translation can be seen as art or science; who Nida was; what social and communication problems Bible translation faced around 1960; how formal and dynamic equivalence differ; and how Nida analysed sentences and vocabulary.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Opening slide for the complete Nida presentation. The deck follows five questions: why translation can be seen as art or science; who Nida was; what social and communication problems Bible translation faced around 1960; how formal and dynamic equivalence differ; and how Nida analysed sentences and vocabulary.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Eugene Albert Nida (11 November 1914 - 25 August 2011) was an American linguist, Bible translator and one of the founders of modern translation studies. He joined the American Bible Society in 1943 and later served as Executive Secretary for Translations. Major publications include Message and Mission (1960), Toward a Science of Translating (1964), and The Theory and Practice of Translation (1969, with Charles R. Taber). Photo: Iamwretched, CC BY-SA 3.0, via Wikimedia Commons.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Eugene Albert Nida (11 November 1914 - 25 August 2011) was an American linguist, Bible translator and one of the founders of modern translation studies. He joined the American Bible Society in 1943 and later served as Executive Secretary for Translations. Major publications include Message and Mission (1960), Toward a Science of Translating (1964), and The Theory and Practice of Translation (1969, with Charles R. Taber). Photo: Iamwretched, CC BY-SA 3.0, via Wikimedia Commons.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Treat this as a historical reconstruction of the social and communication context around 1960. Message and Mission (1960) framed missionary and Bible translation work as communication across cultural and social boundaries. The wider context includes post-war church growth, decolonisation, oral and multilingual communities, cooperation among Bible societies and the need to train translators at scale. Nida's recurring difficulties were language non-equivalence, cultural distance, institutional expectations, heterogeneous audiences and a lack of systematic methods.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Treat this as a historical reconstruction of the social and communication context around 1960. Message and Mission (1960) framed missionary and Bible translation work as communication across cultural and social boundaries. The wider context includes post-war church growth, decolonisation, oral and multilingual communities, cooperation among Bible societies and the need to train translators at scale. Nida's recurring difficulties were language non-equivalence, cultural distance, institutional expectations, heterogeneous audiences and a lack of systematic methods.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Treat this as a historical reconstruction of the social and communication context around 1960. Message and Mission (1960) framed missionary and Bible translation work as communication across cultural and social boundaries. The wider context includes post-war church growth, decolonisation, oral and multilingual communities, cooperation among Bible societies and the need to train translators at scale. Nida's recurring difficulties were language non-equivalence, cultural distance, institutional expectations, heterogeneous audiences and a lack of systematic methods.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Formal equivalence reproduces grammatical units, consistent word usage and meaning in the source context. Dynamic equivalence is directed toward equivalence of response: the target receptor's relationship to the message should be substantially the same as the original receptor's relationship to it. Nida later preferred functional equivalence because dynamic could be misread as merely emotional or free. The target is the closest natural equivalent, first in meaning and then in style.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Eugene Albert Nida (11 November 1914 - 25 August 2011) was an American linguist, Bible translator and one of the founders of modern translation studies. He joined the American Bible Society in 1943 and later served as Executive Secretary for Translations. Major publications include Message and Mission (1960), Toward a Science of Translating (1964), and The Theory and Practice of Translation (1969, with Charles R. Taber). Photo: Iamwretched, CC BY-SA 3.0, via Wikimedia Commons.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Formal equivalence reproduces grammatical units, consistent word usage and meaning in the source context. Dynamic equivalence is directed toward equivalence of response: the target receptor's relationship to the message should be substantially the same as the original receptor's relationship to it. Nida later preferred functional equivalence because dynamic could be misread as merely emotional or free. The target is the closest natural equivalent, first in meaning and then in style.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Eugene Albert Nida (11 November 1914 - 25 August 2011) was an American linguist, Bible translator and one of the founders of modern translation studies. He joined the American Bible Society in 1943 and later served as Executive Secretary for Translations. Major publications include Message and Mission (1960), Toward a Science of Translating (1964), and The Theory and Practice of Translation (1969, with Charles R. Taber). Photo: Iamwretched, CC BY-SA 3.0, via Wikimedia Commons.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Nida and Taber describe translation through analysis, transfer and restructuring. Analysis reduces surface structures to kernel sentences and semantic components. Transfer operates on meaning rather than source-language form. Restructuring creates natural receptor-language grammar and style. Componential analysis breaks word meaning into distinctive features; for example, bachelor can be represented as male + adult + unmarried. Context, semantic contrasts, genre and receptor response constrain the final choice.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Nida and Taber describe translation through analysis, transfer and restructuring. Analysis reduces surface structures to kernel sentences and semantic components. Transfer operates on meaning rather than source-language form. Restructuring creates natural receptor-language grammar and style. Componential analysis breaks word meaning into distinctive features; for example, bachelor can be represented as male + adult + unmarried. Context, semantic contrasts, genre and receptor response constrain the final choice.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Nida and Taber describe translation through analysis, transfer and restructuring. Analysis reduces surface structures to kernel sentences and semantic components. Transfer operates on meaning rather than source-language form. Restructuring creates natural receptor-language grammar and style. Componential analysis breaks word meaning into distinctive features; for example, bachelor can be represented as male + adult + unmarried. Context, semantic contrasts, genre and receptor response constrain the final choice.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Nida and Taber describe translation through analysis, transfer and restructuring. Analysis reduces surface structures to kernel sentences and semantic components. Transfer operates on meaning rather than source-language form. Restructuring creates natural receptor-language grammar and style. Componential analysis breaks word meaning into distinctive features; for example, bachelor can be represented as male + adult + unmarried. Context, semantic contrasts, genre and receptor response constrain the final choice.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Nida and Taber describe translation through analysis, transfer and restructuring. Analysis reduces surface structures to kernel sentences and semantic components. Transfer operates on meaning rather than source-language form. Restructuring creates natural receptor-language grammar and style. Componential analysis breaks word meaning into distinctive features; for example, bachelor can be represented as male + adult + unmarried. Context, semantic contrasts, genre and receptor response constrain the final choice.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
        <p:nvSpPr>
          <p:cNvPr id="2" name="文本框 1"/>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
        <p:nvSpPr>
          <p:cNvPr id="5" name="文本框 4"/>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963683-69C5-4225-8B2B-0C82CECB9400}" type="slidenum">
              <a:rPr lang="zh-CN" altLang="en-US" smtClean="0"/>
            </a:fld>
            <a:endParaRPr lang="zh-CN" altLang="en-US"/>
          </a:p>
        </p:txBody>
      </p:sp>
      <p:sp>
        <p:nvSpPr>
          <p:cNvPr id="6" name="矩形 5"/>
          <p:cNvSpPr/>
          <p:nvPr userDrawn="1"/>
        </p:nvSpPr>
        <p:spPr>
          <a:xfrm>
            <a:off x="0" y="2276872"/>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矩形 8"/>
          <p:cNvSpPr/>
          <p:nvPr userDrawn="1"/>
        </p:nvSpPr>
        <p:spPr>
          <a:xfrm>
            <a:off x="8975543" y="2276871"/>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10" name="组合 9"/>
          <p:cNvGrpSpPr/>
          <p:nvPr userDrawn="1"/>
        </p:nvGrpSpPr>
        <p:grpSpPr>
          <a:xfrm>
            <a:off x="7596491" y="2468893"/>
            <a:ext cx="576064" cy="577112"/>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3" name="组合 12"/>
          <p:cNvGrpSpPr/>
          <p:nvPr userDrawn="1"/>
        </p:nvGrpSpPr>
        <p:grpSpPr>
          <a:xfrm>
            <a:off x="5868299" y="2469417"/>
            <a:ext cx="576064" cy="576064"/>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6" name="组合 15"/>
          <p:cNvGrpSpPr/>
          <p:nvPr userDrawn="1"/>
        </p:nvGrpSpPr>
        <p:grpSpPr>
          <a:xfrm>
            <a:off x="6732395" y="2468893"/>
            <a:ext cx="577111" cy="577112"/>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9" name="组合 18"/>
          <p:cNvGrpSpPr/>
          <p:nvPr userDrawn="1"/>
        </p:nvGrpSpPr>
        <p:grpSpPr>
          <a:xfrm>
            <a:off x="4140107" y="2468893"/>
            <a:ext cx="577111" cy="577112"/>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22" name="组合 21"/>
          <p:cNvGrpSpPr/>
          <p:nvPr userDrawn="1"/>
        </p:nvGrpSpPr>
        <p:grpSpPr>
          <a:xfrm>
            <a:off x="5004203" y="2468893"/>
            <a:ext cx="577111" cy="577112"/>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sp>
        <p:nvSpPr>
          <p:cNvPr id="25" name="文本框 24"/>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pic>
        <p:nvPicPr>
          <p:cNvPr id="26" name="图片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ppt_w</p:attrName>
                                        </p:attrNameLst>
                                      </p:cBhvr>
                                      <p:tavLst>
                                        <p:tav tm="0">
                                          <p:val>
                                            <p:fltVal val="0"/>
                                          </p:val>
                                        </p:tav>
                                        <p:tav tm="100000">
                                          <p:val>
                                            <p:strVal val="#ppt_w"/>
                                          </p:val>
                                        </p:tav>
                                      </p:tavLst>
                                    </p:anim>
                                    <p:anim calcmode="lin" valueType="num">
                                      <p:cBhvr>
                                        <p:cTn id="17" dur="500" fill="hold"/>
                                        <p:tgtEl>
                                          <p:spTgt spid="19"/>
                                        </p:tgtEl>
                                        <p:attrNameLst>
                                          <p:attrName>ppt_h</p:attrName>
                                        </p:attrNameLst>
                                      </p:cBhvr>
                                      <p:tavLst>
                                        <p:tav tm="0">
                                          <p:val>
                                            <p:fltVal val="0"/>
                                          </p:val>
                                        </p:tav>
                                        <p:tav tm="100000">
                                          <p:val>
                                            <p:strVal val="#ppt_h"/>
                                          </p:val>
                                        </p:tav>
                                      </p:tavLst>
                                    </p:anim>
                                    <p:animEffect transition="in" filter="fade">
                                      <p:cBhvr>
                                        <p:cTn id="18" dur="500"/>
                                        <p:tgtEl>
                                          <p:spTgt spid="19"/>
                                        </p:tgtEl>
                                      </p:cBhvr>
                                    </p:animEffect>
                                  </p:childTnLst>
                                </p:cTn>
                              </p:par>
                              <p:par>
                                <p:cTn id="19" presetID="53" presetClass="entr" presetSubtype="16" fill="hold" nodeType="withEffect">
                                  <p:stCondLst>
                                    <p:cond delay="20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par>
                                <p:cTn id="24" presetID="53" presetClass="entr" presetSubtype="16" fill="hold" nodeType="withEffect">
                                  <p:stCondLst>
                                    <p:cond delay="40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Effect transition="in" filter="fade">
                                      <p:cBhvr>
                                        <p:cTn id="28" dur="500"/>
                                        <p:tgtEl>
                                          <p:spTgt spid="13"/>
                                        </p:tgtEl>
                                      </p:cBhvr>
                                    </p:animEffect>
                                  </p:childTnLst>
                                </p:cTn>
                              </p:par>
                              <p:par>
                                <p:cTn id="29" presetID="53" presetClass="entr" presetSubtype="16" fill="hold" nodeType="withEffect">
                                  <p:stCondLst>
                                    <p:cond delay="60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par>
                                <p:cTn id="34" presetID="53" presetClass="entr" presetSubtype="16" fill="hold" nodeType="withEffect">
                                  <p:stCondLst>
                                    <p:cond delay="800"/>
                                  </p:stCondLst>
                                  <p:childTnLst>
                                    <p:set>
                                      <p:cBhvr>
                                        <p:cTn id="35" dur="1" fill="hold">
                                          <p:stCondLst>
                                            <p:cond delay="0"/>
                                          </p:stCondLst>
                                        </p:cTn>
                                        <p:tgtEl>
                                          <p:spTgt spid="10"/>
                                        </p:tgtEl>
                                        <p:attrNameLst>
                                          <p:attrName>style.visibility</p:attrName>
                                        </p:attrNameLst>
                                      </p:cBhvr>
                                      <p:to>
                                        <p:strVal val="visible"/>
                                      </p:to>
                                    </p:set>
                                    <p:anim calcmode="lin" valueType="num">
                                      <p:cBhvr>
                                        <p:cTn id="36" dur="500" fill="hold"/>
                                        <p:tgtEl>
                                          <p:spTgt spid="10"/>
                                        </p:tgtEl>
                                        <p:attrNameLst>
                                          <p:attrName>ppt_w</p:attrName>
                                        </p:attrNameLst>
                                      </p:cBhvr>
                                      <p:tavLst>
                                        <p:tav tm="0">
                                          <p:val>
                                            <p:fltVal val="0"/>
                                          </p:val>
                                        </p:tav>
                                        <p:tav tm="100000">
                                          <p:val>
                                            <p:strVal val="#ppt_w"/>
                                          </p:val>
                                        </p:tav>
                                      </p:tavLst>
                                    </p:anim>
                                    <p:anim calcmode="lin" valueType="num">
                                      <p:cBhvr>
                                        <p:cTn id="37" dur="500" fill="hold"/>
                                        <p:tgtEl>
                                          <p:spTgt spid="10"/>
                                        </p:tgtEl>
                                        <p:attrNameLst>
                                          <p:attrName>ppt_h</p:attrName>
                                        </p:attrNameLst>
                                      </p:cBhvr>
                                      <p:tavLst>
                                        <p:tav tm="0">
                                          <p:val>
                                            <p:fltVal val="0"/>
                                          </p:val>
                                        </p:tav>
                                        <p:tav tm="100000">
                                          <p:val>
                                            <p:strVal val="#ppt_h"/>
                                          </p:val>
                                        </p:tav>
                                      </p:tavLst>
                                    </p:anim>
                                    <p:animEffect transition="in" filter="fade">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963683-69C5-4225-8B2B-0C82CECB9400}" type="slidenum">
              <a:rPr lang="zh-CN" altLang="en-US" smtClean="0"/>
            </a:fld>
            <a:endParaRPr lang="zh-CN" altLang="en-US"/>
          </a:p>
        </p:txBody>
      </p:sp>
      <p:sp>
        <p:nvSpPr>
          <p:cNvPr id="9" name="矩形 8"/>
          <p:cNvSpPr/>
          <p:nvPr userDrawn="1"/>
        </p:nvSpPr>
        <p:spPr>
          <a:xfrm>
            <a:off x="8725278" y="6450175"/>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
        <p:nvSpPr>
          <p:cNvPr id="2" name="文本框 1"/>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
        <p:nvSpPr>
          <p:cNvPr id="5" name="文本框 4"/>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963683-69C5-4225-8B2B-0C82CECB9400}" type="slidenum">
              <a:rPr lang="zh-CN" altLang="en-US" smtClean="0"/>
            </a:fld>
            <a:endParaRPr lang="zh-CN" altLang="en-US"/>
          </a:p>
        </p:txBody>
      </p:sp>
      <p:sp>
        <p:nvSpPr>
          <p:cNvPr id="6" name="矩形 5"/>
          <p:cNvSpPr/>
          <p:nvPr userDrawn="1"/>
        </p:nvSpPr>
        <p:spPr>
          <a:xfrm>
            <a:off x="0" y="2276872"/>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矩形 8"/>
          <p:cNvSpPr/>
          <p:nvPr userDrawn="1"/>
        </p:nvSpPr>
        <p:spPr>
          <a:xfrm>
            <a:off x="8975543" y="2276871"/>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10" name="组合 9"/>
          <p:cNvGrpSpPr/>
          <p:nvPr userDrawn="1"/>
        </p:nvGrpSpPr>
        <p:grpSpPr>
          <a:xfrm>
            <a:off x="7596491" y="2468893"/>
            <a:ext cx="576064" cy="577112"/>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3" name="组合 12"/>
          <p:cNvGrpSpPr/>
          <p:nvPr userDrawn="1"/>
        </p:nvGrpSpPr>
        <p:grpSpPr>
          <a:xfrm>
            <a:off x="5868299" y="2469417"/>
            <a:ext cx="576064" cy="576064"/>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6" name="组合 15"/>
          <p:cNvGrpSpPr/>
          <p:nvPr userDrawn="1"/>
        </p:nvGrpSpPr>
        <p:grpSpPr>
          <a:xfrm>
            <a:off x="6732395" y="2468893"/>
            <a:ext cx="577111" cy="577112"/>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9" name="组合 18"/>
          <p:cNvGrpSpPr/>
          <p:nvPr userDrawn="1"/>
        </p:nvGrpSpPr>
        <p:grpSpPr>
          <a:xfrm>
            <a:off x="4140107" y="2468893"/>
            <a:ext cx="577111" cy="577112"/>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22" name="组合 21"/>
          <p:cNvGrpSpPr/>
          <p:nvPr userDrawn="1"/>
        </p:nvGrpSpPr>
        <p:grpSpPr>
          <a:xfrm>
            <a:off x="5004203" y="2468893"/>
            <a:ext cx="577111" cy="577112"/>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sp>
        <p:nvSpPr>
          <p:cNvPr id="25" name="文本框 24"/>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pic>
        <p:nvPicPr>
          <p:cNvPr id="26" name="图片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ppt_w</p:attrName>
                                        </p:attrNameLst>
                                      </p:cBhvr>
                                      <p:tavLst>
                                        <p:tav tm="0">
                                          <p:val>
                                            <p:fltVal val="0"/>
                                          </p:val>
                                        </p:tav>
                                        <p:tav tm="100000">
                                          <p:val>
                                            <p:strVal val="#ppt_w"/>
                                          </p:val>
                                        </p:tav>
                                      </p:tavLst>
                                    </p:anim>
                                    <p:anim calcmode="lin" valueType="num">
                                      <p:cBhvr>
                                        <p:cTn id="17" dur="500" fill="hold"/>
                                        <p:tgtEl>
                                          <p:spTgt spid="19"/>
                                        </p:tgtEl>
                                        <p:attrNameLst>
                                          <p:attrName>ppt_h</p:attrName>
                                        </p:attrNameLst>
                                      </p:cBhvr>
                                      <p:tavLst>
                                        <p:tav tm="0">
                                          <p:val>
                                            <p:fltVal val="0"/>
                                          </p:val>
                                        </p:tav>
                                        <p:tav tm="100000">
                                          <p:val>
                                            <p:strVal val="#ppt_h"/>
                                          </p:val>
                                        </p:tav>
                                      </p:tavLst>
                                    </p:anim>
                                    <p:animEffect transition="in" filter="fade">
                                      <p:cBhvr>
                                        <p:cTn id="18" dur="500"/>
                                        <p:tgtEl>
                                          <p:spTgt spid="19"/>
                                        </p:tgtEl>
                                      </p:cBhvr>
                                    </p:animEffect>
                                  </p:childTnLst>
                                </p:cTn>
                              </p:par>
                              <p:par>
                                <p:cTn id="19" presetID="53" presetClass="entr" presetSubtype="16" fill="hold" nodeType="withEffect">
                                  <p:stCondLst>
                                    <p:cond delay="20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par>
                                <p:cTn id="24" presetID="53" presetClass="entr" presetSubtype="16" fill="hold" nodeType="withEffect">
                                  <p:stCondLst>
                                    <p:cond delay="40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Effect transition="in" filter="fade">
                                      <p:cBhvr>
                                        <p:cTn id="28" dur="500"/>
                                        <p:tgtEl>
                                          <p:spTgt spid="13"/>
                                        </p:tgtEl>
                                      </p:cBhvr>
                                    </p:animEffect>
                                  </p:childTnLst>
                                </p:cTn>
                              </p:par>
                              <p:par>
                                <p:cTn id="29" presetID="53" presetClass="entr" presetSubtype="16" fill="hold" nodeType="withEffect">
                                  <p:stCondLst>
                                    <p:cond delay="60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par>
                                <p:cTn id="34" presetID="53" presetClass="entr" presetSubtype="16" fill="hold" nodeType="withEffect">
                                  <p:stCondLst>
                                    <p:cond delay="800"/>
                                  </p:stCondLst>
                                  <p:childTnLst>
                                    <p:set>
                                      <p:cBhvr>
                                        <p:cTn id="35" dur="1" fill="hold">
                                          <p:stCondLst>
                                            <p:cond delay="0"/>
                                          </p:stCondLst>
                                        </p:cTn>
                                        <p:tgtEl>
                                          <p:spTgt spid="10"/>
                                        </p:tgtEl>
                                        <p:attrNameLst>
                                          <p:attrName>style.visibility</p:attrName>
                                        </p:attrNameLst>
                                      </p:cBhvr>
                                      <p:to>
                                        <p:strVal val="visible"/>
                                      </p:to>
                                    </p:set>
                                    <p:anim calcmode="lin" valueType="num">
                                      <p:cBhvr>
                                        <p:cTn id="36" dur="500" fill="hold"/>
                                        <p:tgtEl>
                                          <p:spTgt spid="10"/>
                                        </p:tgtEl>
                                        <p:attrNameLst>
                                          <p:attrName>ppt_w</p:attrName>
                                        </p:attrNameLst>
                                      </p:cBhvr>
                                      <p:tavLst>
                                        <p:tav tm="0">
                                          <p:val>
                                            <p:fltVal val="0"/>
                                          </p:val>
                                        </p:tav>
                                        <p:tav tm="100000">
                                          <p:val>
                                            <p:strVal val="#ppt_w"/>
                                          </p:val>
                                        </p:tav>
                                      </p:tavLst>
                                    </p:anim>
                                    <p:anim calcmode="lin" valueType="num">
                                      <p:cBhvr>
                                        <p:cTn id="37" dur="500" fill="hold"/>
                                        <p:tgtEl>
                                          <p:spTgt spid="10"/>
                                        </p:tgtEl>
                                        <p:attrNameLst>
                                          <p:attrName>ppt_h</p:attrName>
                                        </p:attrNameLst>
                                      </p:cBhvr>
                                      <p:tavLst>
                                        <p:tav tm="0">
                                          <p:val>
                                            <p:fltVal val="0"/>
                                          </p:val>
                                        </p:tav>
                                        <p:tav tm="100000">
                                          <p:val>
                                            <p:strVal val="#ppt_h"/>
                                          </p:val>
                                        </p:tav>
                                      </p:tavLst>
                                    </p:anim>
                                    <p:animEffect transition="in" filter="fade">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963683-69C5-4225-8B2B-0C82CECB9400}" type="slidenum">
              <a:rPr lang="zh-CN" altLang="en-US" smtClean="0"/>
            </a:fld>
            <a:endParaRPr lang="zh-CN" altLang="en-US"/>
          </a:p>
        </p:txBody>
      </p:sp>
      <p:sp>
        <p:nvSpPr>
          <p:cNvPr id="9" name="矩形 8"/>
          <p:cNvSpPr/>
          <p:nvPr userDrawn="1"/>
        </p:nvSpPr>
        <p:spPr>
          <a:xfrm>
            <a:off x="8725278" y="6450175"/>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5AC512-946F-491C-A78E-B874D25DDF2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963683-69C5-4225-8B2B-0C82CECB9400}" type="slidenum">
              <a:rPr lang="zh-CN" altLang="en-US" smtClean="0"/>
            </a:fld>
            <a:endParaRPr lang="zh-CN" altLang="en-US"/>
          </a:p>
        </p:txBody>
      </p:sp>
      <p:sp>
        <p:nvSpPr>
          <p:cNvPr id="7" name="文本框 6"/>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03A9F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5AC512-946F-491C-A78E-B874D25DDF2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963683-69C5-4225-8B2B-0C82CECB9400}" type="slidenum">
              <a:rPr lang="zh-CN" altLang="en-US" smtClean="0"/>
            </a:fld>
            <a:endParaRPr lang="zh-CN" altLang="en-US"/>
          </a:p>
        </p:txBody>
      </p:sp>
      <p:sp>
        <p:nvSpPr>
          <p:cNvPr id="7" name="文本框 6"/>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03A9F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slide" Target="slide4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5.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5.xml"/><Relationship Id="rId1" Type="http://schemas.openxmlformats.org/officeDocument/2006/relationships/image" Target="../media/image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5.xml"/><Relationship Id="rId2" Type="http://schemas.openxmlformats.org/officeDocument/2006/relationships/hyperlink" Target="https://www1.hkexnews.hk/listedco/listconews/sehk/2026/0604/2026060402926_c.pdf" TargetMode="External"/><Relationship Id="rId1" Type="http://schemas.openxmlformats.org/officeDocument/2006/relationships/hyperlink" Target="https://www1.hkexnews.hk/listedco/listconews/sehk/2025/0605/2025060500874_c.pdf"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15.xml"/><Relationship Id="rId4" Type="http://schemas.openxmlformats.org/officeDocument/2006/relationships/hyperlink" Target="https://www1.hkexnews.hk/listedco/listconews/sehk/2026/0604/2026060402792_c.pdf" TargetMode="External"/><Relationship Id="rId3" Type="http://schemas.openxmlformats.org/officeDocument/2006/relationships/hyperlink" Target="https://www1.hkexnews.hk/listedco/listconews/sehk/2026/0604/2026060402791.pdf" TargetMode="External"/><Relationship Id="rId2" Type="http://schemas.openxmlformats.org/officeDocument/2006/relationships/hyperlink" Target="https://www1.hkexnews.hk/listedco/listconews/sehk/2025/0605/2025060500658_c.pdf" TargetMode="External"/><Relationship Id="rId1" Type="http://schemas.openxmlformats.org/officeDocument/2006/relationships/hyperlink" Target="https://www1.hkexnews.hk/listedco/listconews/sehk/2025/0605/2025060500657.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635760" y="2127250"/>
            <a:ext cx="9128125" cy="1834515"/>
          </a:xfrm>
          <a:prstGeom prst="rect">
            <a:avLst/>
          </a:prstGeom>
          <a:noFill/>
        </p:spPr>
        <p:txBody>
          <a:bodyPr wrap="square" rtlCol="0">
            <a:noAutofit/>
          </a:bodyPr>
          <a:p>
            <a:pPr algn="ctr">
              <a:lnSpc>
                <a:spcPct val="105000"/>
              </a:lnSpc>
              <a:spcAft>
                <a:spcPts val="200"/>
              </a:spcAft>
              <a:buClrTx/>
              <a:buSzTx/>
              <a:buFontTx/>
            </a:pPr>
            <a:r>
              <a:rPr lang="zh-CN" altLang="zh-CN" sz="4000" dirty="0">
                <a:solidFill>
                  <a:srgbClr val="482E2C"/>
                </a:solidFill>
                <a:latin typeface="Times New Roman" panose="02020503050405090304" charset="0"/>
                <a:ea typeface="思源黑体 CN Bold"/>
                <a:cs typeface="Times New Roman" panose="02020503050405090304" charset="0"/>
              </a:rPr>
              <a:t>Nida and “the science of translating”</a:t>
            </a:r>
            <a:endParaRPr lang="zh-CN" altLang="zh-CN" sz="4000" dirty="0">
              <a:solidFill>
                <a:srgbClr val="482E2C"/>
              </a:solidFill>
              <a:latin typeface="Times New Roman" panose="02020503050405090304" charset="0"/>
              <a:ea typeface="思源黑体 CN Bold"/>
              <a:cs typeface="Times New Roman" panose="02020503050405090304" charset="0"/>
            </a:endParaRPr>
          </a:p>
        </p:txBody>
      </p:sp>
      <p:sp>
        <p:nvSpPr>
          <p:cNvPr id="5" name="文本框 4"/>
          <p:cNvSpPr txBox="1"/>
          <p:nvPr/>
        </p:nvSpPr>
        <p:spPr>
          <a:xfrm>
            <a:off x="0" y="3592830"/>
            <a:ext cx="12191365" cy="368935"/>
          </a:xfrm>
          <a:prstGeom prst="rect">
            <a:avLst/>
          </a:prstGeom>
          <a:noFill/>
        </p:spPr>
        <p:txBody>
          <a:bodyPr wrap="square" rtlCol="0">
            <a:noAutofit/>
          </a:bodyPr>
          <a:p>
            <a:pPr algn="ctr"/>
            <a:r>
              <a:rPr lang="zh-CN" altLang="en-US" sz="2000" b="1"/>
              <a:t>第一小组</a:t>
            </a:r>
            <a:r>
              <a:rPr lang="en-US" altLang="zh-CN" sz="2000" b="1"/>
              <a:t>：</a:t>
            </a:r>
            <a:r>
              <a:rPr lang="zh-CN" altLang="en-US" sz="2000" b="1"/>
              <a:t>黄润宏</a:t>
            </a:r>
            <a:r>
              <a:rPr lang="en-US" altLang="zh-CN" sz="2000" b="1"/>
              <a:t>20261210045 </a:t>
            </a:r>
            <a:r>
              <a:rPr lang="zh-CN" altLang="en-US" sz="2000" b="1"/>
              <a:t>黄业旋</a:t>
            </a:r>
            <a:r>
              <a:rPr lang="en-US" altLang="zh-CN" sz="2000" b="1"/>
              <a:t>20261210030</a:t>
            </a:r>
            <a:endParaRPr lang="en-US" altLang="zh-CN" sz="20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extBox 4"/>
          <p:cNvSpPr txBox="1"/>
          <p:nvPr/>
        </p:nvSpPr>
        <p:spPr>
          <a:xfrm>
            <a:off x="4295450" y="2448889"/>
            <a:ext cx="3601096" cy="645160"/>
          </a:xfrm>
          <a:prstGeom prst="rect">
            <a:avLst/>
          </a:prstGeom>
          <a:noFill/>
        </p:spPr>
        <p:txBody>
          <a:bodyPr wrap="square" lIns="0" tIns="0" rIns="0" bIns="0" anchor="t">
            <a:spAutoFit/>
          </a:bodyPr>
          <a:lstStyle/>
          <a:p>
            <a:pPr algn="ctr">
              <a:lnSpc>
                <a:spcPct val="105000"/>
              </a:lnSpc>
              <a:spcAft>
                <a:spcPts val="200"/>
              </a:spcAft>
            </a:pPr>
            <a:r>
              <a:rPr lang="en-US" altLang="zh-CN" sz="4000" dirty="0">
                <a:solidFill>
                  <a:srgbClr val="482E2C"/>
                </a:solidFill>
                <a:latin typeface="Times New Roman" panose="02020503050405090304" charset="0"/>
                <a:ea typeface="思源黑体 CN Bold"/>
                <a:cs typeface="Times New Roman" panose="02020503050405090304" charset="0"/>
              </a:rPr>
              <a:t>S</a:t>
            </a:r>
            <a:r>
              <a:rPr lang="zh-CN" altLang="zh-CN" sz="4000" dirty="0">
                <a:solidFill>
                  <a:srgbClr val="482E2C"/>
                </a:solidFill>
                <a:latin typeface="Times New Roman" panose="02020503050405090304" charset="0"/>
                <a:ea typeface="思源黑体 CN Bold"/>
                <a:cs typeface="Times New Roman" panose="02020503050405090304" charset="0"/>
              </a:rPr>
              <a:t>cience </a:t>
            </a:r>
            <a:r>
              <a:rPr lang="en-US" altLang="zh-CN" sz="4000" dirty="0">
                <a:solidFill>
                  <a:srgbClr val="482E2C"/>
                </a:solidFill>
                <a:latin typeface="Times New Roman" panose="02020503050405090304" charset="0"/>
                <a:ea typeface="思源黑体 CN Bold"/>
                <a:cs typeface="Times New Roman" panose="02020503050405090304" charset="0"/>
              </a:rPr>
              <a:t>or </a:t>
            </a:r>
            <a:r>
              <a:rPr lang="en-US" altLang="zh-CN" sz="4000" i="0" dirty="0">
                <a:solidFill>
                  <a:srgbClr val="482E2C"/>
                </a:solidFill>
                <a:latin typeface="Times New Roman" panose="02020503050405090304" charset="0"/>
                <a:ea typeface="思源黑体 CN Bold"/>
                <a:cs typeface="Times New Roman" panose="02020503050405090304" charset="0"/>
              </a:rPr>
              <a:t>Art?</a:t>
            </a:r>
            <a:endParaRPr lang="zh-CN" sz="4000" i="0" dirty="0">
              <a:solidFill>
                <a:srgbClr val="482E2C"/>
              </a:solidFill>
              <a:latin typeface="Times New Roman" panose="02020503050405090304" charset="0"/>
              <a:ea typeface="思源黑体 CN Bold"/>
              <a:cs typeface="Times New Roman" panose="0202050305040509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9753599" y="418338"/>
            <a:ext cx="1341119" cy="226314"/>
          </a:xfrm>
          <a:prstGeom prst="rect">
            <a:avLst/>
          </a:prstGeom>
          <a:noFill/>
        </p:spPr>
        <p:txBody>
          <a:bodyPr wrap="square" lIns="0" tIns="0" rIns="0" bIns="0" anchor="t">
            <a:spAutoFit/>
          </a:bodyPr>
          <a:lstStyle/>
          <a:p>
            <a:pPr algn="r">
              <a:lnSpc>
                <a:spcPct val="105000"/>
              </a:lnSpc>
              <a:spcAft>
                <a:spcPts val="200"/>
              </a:spcAft>
            </a:pPr>
            <a:r>
              <a:rPr lang="zh-CN" sz="820" b="1" i="0">
                <a:solidFill>
                  <a:srgbClr val="2D6F85"/>
                </a:solidFill>
                <a:latin typeface="微软雅黑"/>
                <a:ea typeface="微软雅黑"/>
                <a:cs typeface="微软雅黑"/>
              </a:rPr>
              <a:t>NIDA · 02 / 05</a:t>
            </a:r>
            <a:endParaRPr lang="zh-CN" sz="820" b="1" i="0">
              <a:solidFill>
                <a:srgbClr val="2D6F85"/>
              </a:solidFill>
              <a:latin typeface="微软雅黑"/>
              <a:ea typeface="微软雅黑"/>
              <a:cs typeface="微软雅黑"/>
            </a:endParaRPr>
          </a:p>
        </p:txBody>
      </p:sp>
      <p:sp>
        <p:nvSpPr>
          <p:cNvPr id="6" name="Rounded Rectangle 5"/>
          <p:cNvSpPr/>
          <p:nvPr/>
        </p:nvSpPr>
        <p:spPr>
          <a:xfrm>
            <a:off x="914399" y="2091690"/>
            <a:ext cx="2865119" cy="2983230"/>
          </a:xfrm>
          <a:prstGeom prst="roundRect">
            <a:avLst>
              <a:gd name="adj" fmla="val 2500"/>
            </a:avLst>
          </a:prstGeom>
          <a:solidFill>
            <a:srgbClr val="FFFFFF"/>
          </a:solidFill>
          <a:ln w="10160">
            <a:solidFill>
              <a:srgbClr val="D8DE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ugene-nida.jpg"/>
          <p:cNvPicPr>
            <a:picLocks noChangeAspect="1"/>
          </p:cNvPicPr>
          <p:nvPr/>
        </p:nvPicPr>
        <p:blipFill>
          <a:blip r:embed="rId1"/>
          <a:stretch>
            <a:fillRect/>
          </a:stretch>
        </p:blipFill>
        <p:spPr>
          <a:xfrm>
            <a:off x="987551" y="2167128"/>
            <a:ext cx="2718815" cy="2777490"/>
          </a:xfrm>
          <a:prstGeom prst="rect">
            <a:avLst/>
          </a:prstGeom>
        </p:spPr>
      </p:pic>
      <p:sp>
        <p:nvSpPr>
          <p:cNvPr id="8" name="TextBox 7"/>
          <p:cNvSpPr txBox="1"/>
          <p:nvPr/>
        </p:nvSpPr>
        <p:spPr>
          <a:xfrm>
            <a:off x="865504" y="5129784"/>
            <a:ext cx="2865119" cy="606425"/>
          </a:xfrm>
          <a:prstGeom prst="rect">
            <a:avLst/>
          </a:prstGeom>
          <a:noFill/>
        </p:spPr>
        <p:txBody>
          <a:bodyPr wrap="square" lIns="0" tIns="0" rIns="0" bIns="0" anchor="t">
            <a:spAutoFit/>
          </a:bodyPr>
          <a:lstStyle/>
          <a:p>
            <a:pPr algn="ctr">
              <a:lnSpc>
                <a:spcPct val="105000"/>
              </a:lnSpc>
              <a:spcAft>
                <a:spcPts val="200"/>
              </a:spcAft>
            </a:pPr>
            <a:r>
              <a:rPr lang="zh-CN" b="1" i="0">
                <a:solidFill>
                  <a:srgbClr val="482E2C"/>
                </a:solidFill>
                <a:latin typeface="思源黑体 CN Bold"/>
                <a:ea typeface="思源黑体 CN Bold"/>
                <a:cs typeface="思源黑体 CN Bold"/>
              </a:rPr>
              <a:t>Eugene A. Nida  </a:t>
            </a:r>
            <a:endParaRPr lang="zh-CN" b="1" i="0">
              <a:solidFill>
                <a:srgbClr val="482E2C"/>
              </a:solidFill>
              <a:latin typeface="思源黑体 CN Bold"/>
              <a:ea typeface="思源黑体 CN Bold"/>
              <a:cs typeface="思源黑体 CN Bold"/>
            </a:endParaRPr>
          </a:p>
          <a:p>
            <a:pPr algn="ctr">
              <a:lnSpc>
                <a:spcPct val="105000"/>
              </a:lnSpc>
              <a:spcAft>
                <a:spcPts val="200"/>
              </a:spcAft>
            </a:pPr>
            <a:r>
              <a:rPr lang="zh-CN" b="1" i="0">
                <a:solidFill>
                  <a:srgbClr val="482E2C"/>
                </a:solidFill>
                <a:latin typeface="思源黑体 CN Bold"/>
                <a:ea typeface="思源黑体 CN Bold"/>
                <a:cs typeface="思源黑体 CN Bold"/>
              </a:rPr>
              <a:t>  1914-2011</a:t>
            </a:r>
            <a:endParaRPr lang="zh-CN" b="1" i="0">
              <a:solidFill>
                <a:srgbClr val="482E2C"/>
              </a:solidFill>
              <a:latin typeface="思源黑体 CN Bold"/>
              <a:ea typeface="思源黑体 CN Bold"/>
              <a:cs typeface="思源黑体 CN Bold"/>
            </a:endParaRPr>
          </a:p>
        </p:txBody>
      </p:sp>
      <p:sp>
        <p:nvSpPr>
          <p:cNvPr id="15" name="Rounded Rectangle 10"/>
          <p:cNvSpPr/>
          <p:nvPr/>
        </p:nvSpPr>
        <p:spPr>
          <a:xfrm>
            <a:off x="4034790" y="1720850"/>
            <a:ext cx="6828155" cy="4170045"/>
          </a:xfrm>
          <a:prstGeom prst="roundRect">
            <a:avLst>
              <a:gd name="adj" fmla="val 3500"/>
            </a:avLst>
          </a:prstGeom>
          <a:solidFill>
            <a:srgbClr val="FFFFFF"/>
          </a:solidFill>
          <a:ln w="10160">
            <a:solidFill>
              <a:srgbClr val="D8DEE2"/>
            </a:solid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08000"/>
              </a:lnSpc>
              <a:spcAft>
                <a:spcPts val="300"/>
              </a:spcAft>
            </a:pPr>
            <a:r>
              <a:rPr lang="zh-CN" sz="2400" dirty="0">
                <a:solidFill>
                  <a:srgbClr val="3F3F3F"/>
                </a:solidFill>
                <a:latin typeface="Times New Roman" panose="02020503050405090304" charset="0"/>
                <a:ea typeface="思源黑体 CN Light"/>
                <a:cs typeface="Times New Roman" panose="02020503050405090304" charset="0"/>
                <a:sym typeface="+mn-ea"/>
              </a:rPr>
              <a:t>1914  生于美国俄克拉何马城。</a:t>
            </a:r>
            <a:endParaRPr lang="zh-CN" sz="2400" b="0" i="0" dirty="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400" dirty="0">
                <a:solidFill>
                  <a:srgbClr val="3F3F3F"/>
                </a:solidFill>
                <a:latin typeface="Times New Roman" panose="02020503050405090304" charset="0"/>
                <a:ea typeface="思源黑体 CN Light"/>
                <a:cs typeface="Times New Roman" panose="02020503050405090304" charset="0"/>
                <a:sym typeface="+mn-ea"/>
              </a:rPr>
              <a:t>1936  获 UCLA 学士；1943 年获密歇根大学语言学博士。</a:t>
            </a:r>
            <a:endParaRPr lang="zh-CN" sz="2400" b="0" i="0" dirty="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400" dirty="0">
                <a:solidFill>
                  <a:srgbClr val="3F3F3F"/>
                </a:solidFill>
                <a:latin typeface="Times New Roman" panose="02020503050405090304" charset="0"/>
                <a:ea typeface="思源黑体 CN Light"/>
                <a:cs typeface="Times New Roman" panose="02020503050405090304" charset="0"/>
                <a:sym typeface="+mn-ea"/>
              </a:rPr>
              <a:t>1943  加入 American Bible Society（ABS），长期负责翻译事务。</a:t>
            </a:r>
            <a:endParaRPr lang="zh-CN" sz="2400" b="0" i="0" dirty="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400" dirty="0">
                <a:solidFill>
                  <a:srgbClr val="3F3F3F"/>
                </a:solidFill>
                <a:latin typeface="Times New Roman" panose="02020503050405090304" charset="0"/>
                <a:ea typeface="思源黑体 CN Light"/>
                <a:cs typeface="Times New Roman" panose="02020503050405090304" charset="0"/>
                <a:sym typeface="+mn-ea"/>
              </a:rPr>
              <a:t>1949  创办并编辑 The Bible Translator。</a:t>
            </a:r>
            <a:endParaRPr lang="zh-CN" sz="2400" b="0" i="0" dirty="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400" dirty="0">
                <a:solidFill>
                  <a:srgbClr val="3F3F3F"/>
                </a:solidFill>
                <a:latin typeface="Times New Roman" panose="02020503050405090304" charset="0"/>
                <a:ea typeface="思源黑体 CN Light"/>
                <a:cs typeface="Times New Roman" panose="02020503050405090304" charset="0"/>
                <a:sym typeface="+mn-ea"/>
              </a:rPr>
              <a:t>1964  《Toward a Science of Translating》出版。</a:t>
            </a:r>
            <a:endParaRPr lang="zh-CN" sz="2400" b="0" i="0" dirty="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400" dirty="0">
                <a:solidFill>
                  <a:srgbClr val="3F3F3F"/>
                </a:solidFill>
                <a:latin typeface="Times New Roman" panose="02020503050405090304" charset="0"/>
                <a:ea typeface="思源黑体 CN Light"/>
                <a:cs typeface="Times New Roman" panose="02020503050405090304" charset="0"/>
                <a:sym typeface="+mn-ea"/>
              </a:rPr>
              <a:t>1969  与 Charles R. Taber 合著《The Theory and Practice of Translation》。</a:t>
            </a:r>
            <a:endParaRPr lang="zh-CN" sz="2400" b="0" i="0" dirty="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400" dirty="0">
                <a:solidFill>
                  <a:srgbClr val="3F3F3F"/>
                </a:solidFill>
                <a:latin typeface="Times New Roman" panose="02020503050405090304" charset="0"/>
                <a:ea typeface="思源黑体 CN Light"/>
                <a:cs typeface="Times New Roman" panose="02020503050405090304" charset="0"/>
                <a:sym typeface="+mn-ea"/>
              </a:rPr>
              <a:t>1980s 初期退休，之后仍持续讲学与写作</a:t>
            </a:r>
            <a:endParaRPr sz="2400">
              <a:latin typeface="Times New Roman" panose="02020503050405090304" charset="0"/>
              <a:cs typeface="Times New Roman" panose="0202050305040509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9753599" y="418338"/>
            <a:ext cx="1341119" cy="226314"/>
          </a:xfrm>
          <a:prstGeom prst="rect">
            <a:avLst/>
          </a:prstGeom>
          <a:noFill/>
        </p:spPr>
        <p:txBody>
          <a:bodyPr wrap="square" lIns="0" tIns="0" rIns="0" bIns="0" anchor="t">
            <a:spAutoFit/>
          </a:bodyPr>
          <a:lstStyle/>
          <a:p>
            <a:pPr algn="r">
              <a:lnSpc>
                <a:spcPct val="105000"/>
              </a:lnSpc>
              <a:spcAft>
                <a:spcPts val="200"/>
              </a:spcAft>
            </a:pPr>
            <a:r>
              <a:rPr lang="zh-CN" sz="820" b="1" i="0">
                <a:solidFill>
                  <a:srgbClr val="2D6F85"/>
                </a:solidFill>
                <a:latin typeface="微软雅黑"/>
                <a:ea typeface="微软雅黑"/>
                <a:cs typeface="微软雅黑"/>
              </a:rPr>
              <a:t>NIDA · 02 / 05</a:t>
            </a:r>
            <a:endParaRPr lang="zh-CN" sz="820" b="1" i="0">
              <a:solidFill>
                <a:srgbClr val="2D6F85"/>
              </a:solidFill>
              <a:latin typeface="微软雅黑"/>
              <a:ea typeface="微软雅黑"/>
              <a:cs typeface="微软雅黑"/>
            </a:endParaRPr>
          </a:p>
        </p:txBody>
      </p:sp>
      <p:sp>
        <p:nvSpPr>
          <p:cNvPr id="14" name="TextBox 13"/>
          <p:cNvSpPr txBox="1"/>
          <p:nvPr/>
        </p:nvSpPr>
        <p:spPr>
          <a:xfrm>
            <a:off x="1365885" y="1201420"/>
            <a:ext cx="9728200" cy="4712335"/>
          </a:xfrm>
          <a:prstGeom prst="rect">
            <a:avLst/>
          </a:prstGeom>
          <a:noFill/>
        </p:spPr>
        <p:txBody>
          <a:bodyPr wrap="square" lIns="0" tIns="0" rIns="0" bIns="0" anchor="t">
            <a:noAutofit/>
          </a:bodyPr>
          <a:lstStyle/>
          <a:p>
            <a:pPr algn="ctr">
              <a:lnSpc>
                <a:spcPct val="108000"/>
              </a:lnSpc>
              <a:spcAft>
                <a:spcPts val="300"/>
              </a:spcAft>
            </a:pPr>
            <a:r>
              <a:rPr lang="zh-CN" sz="3200" b="0" i="0" dirty="0">
                <a:solidFill>
                  <a:srgbClr val="3F3F3F"/>
                </a:solidFill>
                <a:latin typeface="Times New Roman" panose="02020503050405090304" charset="0"/>
                <a:ea typeface="思源黑体 CN Light"/>
                <a:cs typeface="Times New Roman" panose="02020503050405090304" charset="0"/>
              </a:rPr>
              <a:t>对于翻译学的贡献</a:t>
            </a:r>
            <a:endParaRPr lang="zh-CN" sz="3200" b="0" i="0" dirty="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000">
                <a:solidFill>
                  <a:srgbClr val="3F3F3F"/>
                </a:solidFill>
                <a:latin typeface="Times New Roman" panose="02020503050405090304" charset="0"/>
                <a:ea typeface="思源黑体 CN Light"/>
                <a:cs typeface="Times New Roman" panose="02020503050405090304" charset="0"/>
                <a:sym typeface="+mn-ea"/>
              </a:rPr>
              <a:t>• 推动翻译研究从经验规范走向可分析的科学。</a:t>
            </a:r>
            <a:endParaRPr lang="zh-CN" sz="2000"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000">
                <a:solidFill>
                  <a:srgbClr val="3F3F3F"/>
                </a:solidFill>
                <a:latin typeface="Times New Roman" panose="02020503050405090304" charset="0"/>
                <a:ea typeface="思源黑体 CN Light"/>
                <a:cs typeface="Times New Roman" panose="02020503050405090304" charset="0"/>
                <a:sym typeface="+mn-ea"/>
              </a:rPr>
              <a:t>• 提出 formal / dynamic equivalence，后称 functional equivalence。</a:t>
            </a:r>
            <a:endParaRPr lang="zh-CN" sz="2000"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000">
                <a:solidFill>
                  <a:srgbClr val="3F3F3F"/>
                </a:solidFill>
                <a:latin typeface="Times New Roman" panose="02020503050405090304" charset="0"/>
                <a:ea typeface="思源黑体 CN Light"/>
                <a:cs typeface="Times New Roman" panose="02020503050405090304" charset="0"/>
                <a:sym typeface="+mn-ea"/>
              </a:rPr>
              <a:t>• 将读者反应与跨文化交际纳入翻译评价。</a:t>
            </a:r>
            <a:endParaRPr lang="zh-CN" sz="2000"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000">
                <a:solidFill>
                  <a:srgbClr val="3F3F3F"/>
                </a:solidFill>
                <a:latin typeface="Times New Roman" panose="02020503050405090304" charset="0"/>
                <a:ea typeface="思源黑体 CN Light"/>
                <a:cs typeface="Times New Roman" panose="02020503050405090304" charset="0"/>
                <a:sym typeface="+mn-ea"/>
              </a:rPr>
              <a:t>• 发展 componential analysis 与 kernel sentence 方法。</a:t>
            </a:r>
            <a:endParaRPr lang="zh-CN" sz="2000"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000">
                <a:solidFill>
                  <a:srgbClr val="3F3F3F"/>
                </a:solidFill>
                <a:latin typeface="Times New Roman" panose="02020503050405090304" charset="0"/>
                <a:ea typeface="思源黑体 CN Light"/>
                <a:cs typeface="Times New Roman" panose="02020503050405090304" charset="0"/>
                <a:sym typeface="+mn-ea"/>
              </a:rPr>
              <a:t>• 推动 United Bible Societies 的跨宗派协作与全球圣经翻译。</a:t>
            </a:r>
            <a:endParaRPr lang="zh-CN" sz="2000"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000">
                <a:solidFill>
                  <a:srgbClr val="3F3F3F"/>
                </a:solidFill>
                <a:latin typeface="Times New Roman" panose="02020503050405090304" charset="0"/>
                <a:ea typeface="思源黑体 CN Light"/>
                <a:cs typeface="Times New Roman" panose="02020503050405090304" charset="0"/>
                <a:sym typeface="+mn-ea"/>
              </a:rPr>
              <a:t>• 被视为现代翻译研究的奠基者之一。</a:t>
            </a:r>
            <a:endParaRPr lang="zh-CN" sz="3200" b="0" i="0">
              <a:solidFill>
                <a:srgbClr val="3F3F3F"/>
              </a:solidFill>
              <a:latin typeface="Times New Roman" panose="02020503050405090304" charset="0"/>
              <a:ea typeface="思源黑体 CN Light"/>
              <a:cs typeface="Times New Roman" panose="02020503050405090304" charset="0"/>
            </a:endParaRPr>
          </a:p>
          <a:p>
            <a:pPr algn="ctr">
              <a:lnSpc>
                <a:spcPct val="108000"/>
              </a:lnSpc>
              <a:spcAft>
                <a:spcPts val="300"/>
              </a:spcAft>
            </a:pPr>
            <a:endParaRPr lang="en-US" altLang="zh-CN" sz="3200" b="0" i="0" dirty="0">
              <a:solidFill>
                <a:srgbClr val="3F3F3F"/>
              </a:solidFill>
              <a:latin typeface="Times New Roman" panose="02020503050405090304" charset="0"/>
              <a:ea typeface="思源黑体 CN Light"/>
              <a:cs typeface="Times New Roman" panose="0202050305040509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01439" y="534924"/>
            <a:ext cx="5242559" cy="219456"/>
          </a:xfrm>
          <a:prstGeom prst="rect">
            <a:avLst/>
          </a:prstGeom>
          <a:noFill/>
        </p:spPr>
        <p:txBody>
          <a:bodyPr wrap="square" lIns="0" tIns="0" rIns="0" bIns="0" anchor="t">
            <a:spAutoFit/>
          </a:bodyPr>
          <a:lstStyle/>
          <a:p>
            <a:r>
              <a:rPr lang="zh-CN" sz="850" b="1">
                <a:solidFill>
                  <a:srgbClr val="5CA0B4"/>
                </a:solidFill>
                <a:latin typeface="微软雅黑"/>
                <a:ea typeface="微软雅黑"/>
                <a:cs typeface="微软雅黑"/>
              </a:rPr>
              <a:t>WARM-UP  |  EUGENE A. NIDA</a:t>
            </a:r>
            <a:endParaRPr lang="zh-CN" sz="850" b="1">
              <a:solidFill>
                <a:srgbClr val="5CA0B4"/>
              </a:solidFill>
              <a:latin typeface="微软雅黑"/>
              <a:ea typeface="微软雅黑"/>
              <a:cs typeface="微软雅黑"/>
            </a:endParaRPr>
          </a:p>
        </p:txBody>
      </p:sp>
      <p:sp>
        <p:nvSpPr>
          <p:cNvPr id="3" name="TextBox 2"/>
          <p:cNvSpPr txBox="1"/>
          <p:nvPr/>
        </p:nvSpPr>
        <p:spPr>
          <a:xfrm>
            <a:off x="9753599" y="418338"/>
            <a:ext cx="1341119" cy="226314"/>
          </a:xfrm>
          <a:prstGeom prst="rect">
            <a:avLst/>
          </a:prstGeom>
          <a:noFill/>
        </p:spPr>
        <p:txBody>
          <a:bodyPr wrap="square" lIns="0" tIns="0" rIns="0" bIns="0" anchor="t">
            <a:spAutoFit/>
          </a:bodyPr>
          <a:lstStyle/>
          <a:p>
            <a:pPr algn="r">
              <a:lnSpc>
                <a:spcPct val="105000"/>
              </a:lnSpc>
              <a:spcAft>
                <a:spcPts val="200"/>
              </a:spcAft>
            </a:pPr>
            <a:r>
              <a:rPr lang="zh-CN" sz="820" b="0" i="0">
                <a:solidFill>
                  <a:srgbClr val="6E747A"/>
                </a:solidFill>
                <a:latin typeface="微软雅黑"/>
                <a:ea typeface="微软雅黑"/>
                <a:cs typeface="微软雅黑"/>
              </a:rPr>
              <a:t>01 / 05</a:t>
            </a:r>
            <a:endParaRPr lang="zh-CN" sz="820" b="0" i="0">
              <a:solidFill>
                <a:srgbClr val="6E747A"/>
              </a:solidFill>
              <a:latin typeface="微软雅黑"/>
              <a:ea typeface="微软雅黑"/>
              <a:cs typeface="微软雅黑"/>
            </a:endParaRPr>
          </a:p>
        </p:txBody>
      </p:sp>
      <p:sp>
        <p:nvSpPr>
          <p:cNvPr id="4" name="Rectangle 3"/>
          <p:cNvSpPr/>
          <p:nvPr/>
        </p:nvSpPr>
        <p:spPr>
          <a:xfrm>
            <a:off x="865631" y="898398"/>
            <a:ext cx="10241279" cy="17145"/>
          </a:xfrm>
          <a:prstGeom prst="rect">
            <a:avLst/>
          </a:prstGeom>
          <a:solidFill>
            <a:srgbClr val="5C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72894" y="2613024"/>
            <a:ext cx="10119359" cy="548640"/>
          </a:xfrm>
          <a:prstGeom prst="rect">
            <a:avLst/>
          </a:prstGeom>
          <a:noFill/>
        </p:spPr>
        <p:txBody>
          <a:bodyPr wrap="square" lIns="0" tIns="0" rIns="0" bIns="0" anchor="t">
            <a:spAutoFit/>
          </a:bodyPr>
          <a:lstStyle/>
          <a:p>
            <a:pPr algn="ctr">
              <a:lnSpc>
                <a:spcPct val="105000"/>
              </a:lnSpc>
              <a:spcAft>
                <a:spcPts val="200"/>
              </a:spcAft>
            </a:pPr>
            <a:r>
              <a:rPr lang="zh-CN" sz="3400" i="0">
                <a:solidFill>
                  <a:srgbClr val="482E2C"/>
                </a:solidFill>
                <a:latin typeface="Times New Roman" panose="02020503050405090304" charset="0"/>
                <a:ea typeface="思源黑体 CN Bold"/>
                <a:cs typeface="Times New Roman" panose="02020503050405090304" charset="0"/>
              </a:rPr>
              <a:t>How would you translate “troublemaker”?</a:t>
            </a:r>
            <a:endParaRPr lang="zh-CN" sz="3400" i="0">
              <a:solidFill>
                <a:srgbClr val="482E2C"/>
              </a:solidFill>
              <a:latin typeface="Times New Roman" panose="02020503050405090304" charset="0"/>
              <a:ea typeface="思源黑体 CN Bold"/>
              <a:cs typeface="Times New Roman" panose="02020503050405090304" charset="0"/>
            </a:endParaRPr>
          </a:p>
        </p:txBody>
      </p:sp>
      <p:sp>
        <p:nvSpPr>
          <p:cNvPr id="15" name="Rounded Rectangle 14"/>
          <p:cNvSpPr/>
          <p:nvPr/>
        </p:nvSpPr>
        <p:spPr>
          <a:xfrm>
            <a:off x="914399" y="5362956"/>
            <a:ext cx="10241279" cy="534924"/>
          </a:xfrm>
          <a:prstGeom prst="roundRect">
            <a:avLst>
              <a:gd name="adj" fmla="val 5000"/>
            </a:avLst>
          </a:prstGeom>
          <a:solidFill>
            <a:srgbClr val="FFF7EA"/>
          </a:solidFill>
          <a:ln w="10160">
            <a:solidFill>
              <a:srgbClr val="D8DE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19199" y="5520690"/>
            <a:ext cx="9631679" cy="321945"/>
          </a:xfrm>
          <a:prstGeom prst="rect">
            <a:avLst/>
          </a:prstGeom>
          <a:noFill/>
        </p:spPr>
        <p:txBody>
          <a:bodyPr wrap="square" lIns="0" tIns="0" rIns="0" bIns="0" anchor="t">
            <a:spAutoFit/>
          </a:bodyPr>
          <a:lstStyle/>
          <a:p>
            <a:pPr algn="ctr">
              <a:lnSpc>
                <a:spcPct val="105000"/>
              </a:lnSpc>
              <a:spcAft>
                <a:spcPts val="200"/>
              </a:spcAft>
            </a:pPr>
            <a:r>
              <a:rPr lang="zh-CN" sz="2000" i="0">
                <a:solidFill>
                  <a:srgbClr val="482E2C"/>
                </a:solidFill>
                <a:latin typeface="Times New Roman" panose="02020503050405090304" charset="0"/>
                <a:ea typeface="思源黑体 CN Bold"/>
                <a:cs typeface="思源黑体 CN Bold"/>
              </a:rPr>
              <a:t>在功能对等中，翻译优先追求最自然、最接近的交际效果</a:t>
            </a:r>
            <a:r>
              <a:rPr lang="zh-CN" sz="1250" b="1" i="0">
                <a:solidFill>
                  <a:srgbClr val="482E2C"/>
                </a:solidFill>
                <a:latin typeface="思源黑体 CN Bold"/>
                <a:ea typeface="思源黑体 CN Bold"/>
                <a:cs typeface="思源黑体 CN Bold"/>
              </a:rPr>
              <a:t>。</a:t>
            </a:r>
            <a:endParaRPr lang="zh-CN" sz="1250" b="1" i="0">
              <a:solidFill>
                <a:srgbClr val="482E2C"/>
              </a:solidFill>
              <a:latin typeface="思源黑体 CN Bold"/>
              <a:ea typeface="思源黑体 CN Bold"/>
              <a:cs typeface="思源黑体 CN Bo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linds(horizontal)">
                                      <p:cBhvr>
                                        <p:cTn id="7"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865631" y="925830"/>
            <a:ext cx="9997439" cy="581025"/>
          </a:xfrm>
          <a:prstGeom prst="rect">
            <a:avLst/>
          </a:prstGeom>
          <a:noFill/>
        </p:spPr>
        <p:txBody>
          <a:bodyPr wrap="square" lIns="0" tIns="0" rIns="0" bIns="0" anchor="t">
            <a:spAutoFit/>
          </a:bodyPr>
          <a:lstStyle/>
          <a:p>
            <a:pPr algn="ctr">
              <a:lnSpc>
                <a:spcPct val="105000"/>
              </a:lnSpc>
              <a:spcAft>
                <a:spcPts val="200"/>
              </a:spcAft>
            </a:pPr>
            <a:r>
              <a:rPr lang="zh-CN" sz="3600" i="0">
                <a:solidFill>
                  <a:srgbClr val="482E2C"/>
                </a:solidFill>
                <a:latin typeface="Times New Roman" panose="02020503050405090304" charset="0"/>
                <a:ea typeface="思源黑体 CN Bold"/>
                <a:cs typeface="Times New Roman" panose="02020503050405090304" charset="0"/>
              </a:rPr>
              <a:t>1960: Bible translation as a social problem</a:t>
            </a:r>
            <a:endParaRPr lang="zh-CN" sz="3600" i="0">
              <a:solidFill>
                <a:srgbClr val="482E2C"/>
              </a:solidFill>
              <a:latin typeface="Times New Roman" panose="02020503050405090304" charset="0"/>
              <a:ea typeface="思源黑体 CN Bold"/>
              <a:cs typeface="Times New Roman" panose="02020503050405090304" charset="0"/>
            </a:endParaRPr>
          </a:p>
        </p:txBody>
      </p:sp>
      <p:sp>
        <p:nvSpPr>
          <p:cNvPr id="4" name="TextBox 3"/>
          <p:cNvSpPr txBox="1"/>
          <p:nvPr/>
        </p:nvSpPr>
        <p:spPr>
          <a:xfrm>
            <a:off x="9753599" y="418338"/>
            <a:ext cx="1341119" cy="226314"/>
          </a:xfrm>
          <a:prstGeom prst="rect">
            <a:avLst/>
          </a:prstGeom>
          <a:noFill/>
        </p:spPr>
        <p:txBody>
          <a:bodyPr wrap="square" lIns="0" tIns="0" rIns="0" bIns="0" anchor="t">
            <a:spAutoFit/>
          </a:bodyPr>
          <a:lstStyle/>
          <a:p>
            <a:pPr algn="r">
              <a:lnSpc>
                <a:spcPct val="105000"/>
              </a:lnSpc>
              <a:spcAft>
                <a:spcPts val="200"/>
              </a:spcAft>
            </a:pPr>
            <a:r>
              <a:rPr lang="zh-CN" sz="820" b="1" i="0">
                <a:solidFill>
                  <a:srgbClr val="2D6F85"/>
                </a:solidFill>
                <a:latin typeface="微软雅黑"/>
                <a:ea typeface="微软雅黑"/>
                <a:cs typeface="微软雅黑"/>
              </a:rPr>
              <a:t>CONTEXT · 03 / 05</a:t>
            </a:r>
            <a:endParaRPr lang="zh-CN" sz="820" b="1" i="0">
              <a:solidFill>
                <a:srgbClr val="2D6F85"/>
              </a:solidFill>
              <a:latin typeface="微软雅黑"/>
              <a:ea typeface="微软雅黑"/>
              <a:cs typeface="微软雅黑"/>
            </a:endParaRPr>
          </a:p>
        </p:txBody>
      </p:sp>
      <p:sp>
        <p:nvSpPr>
          <p:cNvPr id="10" name="Rounded Rectangle 9"/>
          <p:cNvSpPr/>
          <p:nvPr/>
        </p:nvSpPr>
        <p:spPr>
          <a:xfrm>
            <a:off x="745490" y="2116455"/>
            <a:ext cx="10701655" cy="3680460"/>
          </a:xfrm>
          <a:prstGeom prst="roundRect">
            <a:avLst>
              <a:gd name="adj" fmla="val 3500"/>
            </a:avLst>
          </a:prstGeom>
          <a:solidFill>
            <a:srgbClr val="EAF4F7"/>
          </a:solidFill>
          <a:ln w="10160">
            <a:solidFill>
              <a:srgbClr val="D8DE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0177" y="2307463"/>
            <a:ext cx="10149840" cy="1795780"/>
          </a:xfrm>
          <a:prstGeom prst="rect">
            <a:avLst/>
          </a:prstGeom>
          <a:noFill/>
        </p:spPr>
        <p:txBody>
          <a:bodyPr wrap="square" lIns="0" tIns="0" rIns="0" bIns="0" anchor="t">
            <a:spAutoFit/>
          </a:bodyPr>
          <a:lstStyle/>
          <a:p>
            <a:pPr algn="ctr">
              <a:lnSpc>
                <a:spcPct val="105000"/>
              </a:lnSpc>
              <a:spcAft>
                <a:spcPts val="200"/>
              </a:spcAft>
            </a:pPr>
            <a:r>
              <a:rPr lang="zh-CN" sz="3600" i="0">
                <a:solidFill>
                  <a:srgbClr val="482E2C"/>
                </a:solidFill>
                <a:latin typeface="Times New Roman" panose="02020503050405090304" charset="0"/>
                <a:ea typeface="思源黑体 CN Bold"/>
                <a:cs typeface="思源黑体 CN Bold"/>
              </a:rPr>
              <a:t>为什么需要圣经翻译？</a:t>
            </a:r>
            <a:endParaRPr lang="zh-CN" sz="3600" i="0">
              <a:solidFill>
                <a:srgbClr val="482E2C"/>
              </a:solidFill>
              <a:latin typeface="Times New Roman" panose="02020503050405090304" charset="0"/>
              <a:ea typeface="思源黑体 CN Bold"/>
              <a:cs typeface="思源黑体 CN Bold"/>
            </a:endParaRPr>
          </a:p>
          <a:p>
            <a:pPr algn="ctr">
              <a:lnSpc>
                <a:spcPct val="105000"/>
              </a:lnSpc>
              <a:spcAft>
                <a:spcPts val="200"/>
              </a:spcAft>
            </a:pPr>
            <a:endParaRPr lang="zh-CN" sz="3600" b="1" i="0">
              <a:solidFill>
                <a:srgbClr val="482E2C"/>
              </a:solidFill>
              <a:latin typeface="思源黑体 CN Bold"/>
              <a:ea typeface="思源黑体 CN Bold"/>
              <a:cs typeface="思源黑体 CN Bold"/>
            </a:endParaRPr>
          </a:p>
          <a:p>
            <a:pPr algn="ctr">
              <a:lnSpc>
                <a:spcPct val="105000"/>
              </a:lnSpc>
              <a:spcAft>
                <a:spcPts val="200"/>
              </a:spcAft>
            </a:pPr>
            <a:endParaRPr lang="zh-CN" sz="3600" b="1" i="0">
              <a:solidFill>
                <a:srgbClr val="482E2C"/>
              </a:solidFill>
              <a:latin typeface="思源黑体 CN Bold"/>
              <a:ea typeface="思源黑体 CN Bold"/>
              <a:cs typeface="思源黑体 CN Bold"/>
            </a:endParaRPr>
          </a:p>
        </p:txBody>
      </p:sp>
      <p:sp>
        <p:nvSpPr>
          <p:cNvPr id="13" name="TextBox 12"/>
          <p:cNvSpPr txBox="1"/>
          <p:nvPr/>
        </p:nvSpPr>
        <p:spPr>
          <a:xfrm>
            <a:off x="1170177" y="3234690"/>
            <a:ext cx="10149840" cy="1443990"/>
          </a:xfrm>
          <a:prstGeom prst="rect">
            <a:avLst/>
          </a:prstGeom>
          <a:noFill/>
        </p:spPr>
        <p:txBody>
          <a:bodyPr wrap="square" lIns="0" tIns="0" rIns="0" bIns="0" anchor="t">
            <a:spAutoFit/>
          </a:bodyPr>
          <a:lstStyle/>
          <a:p>
            <a:pPr algn="l">
              <a:lnSpc>
                <a:spcPct val="108000"/>
              </a:lnSpc>
              <a:spcAft>
                <a:spcPts val="300"/>
              </a:spcAft>
            </a:pPr>
            <a:r>
              <a:rPr lang="zh-CN" sz="2000" b="0" i="0">
                <a:solidFill>
                  <a:srgbClr val="3F3F3F"/>
                </a:solidFill>
                <a:latin typeface="Times New Roman" panose="02020503050405090304" charset="0"/>
                <a:ea typeface="思源黑体 CN Light"/>
                <a:cs typeface="Times New Roman" panose="02020503050405090304" charset="0"/>
              </a:rPr>
              <a:t>•</a:t>
            </a:r>
            <a:r>
              <a:rPr lang="zh-CN" sz="2000" b="0" i="0">
                <a:solidFill>
                  <a:srgbClr val="3F3F3F"/>
                </a:solidFill>
                <a:latin typeface="Times New Roman" panose="02020503050405090304" charset="0"/>
                <a:ea typeface="思源黑体 CN Light"/>
                <a:cs typeface="Times New Roman" panose="02020503050405090304" charset="0"/>
              </a:rPr>
              <a:t> 战后教会增长与去殖民化：更多语言群体要求用自己的语言接触经文。</a:t>
            </a:r>
            <a:endParaRPr lang="zh-CN" sz="2000"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000" b="0" i="0">
                <a:solidFill>
                  <a:srgbClr val="3F3F3F"/>
                </a:solidFill>
                <a:latin typeface="Times New Roman" panose="02020503050405090304" charset="0"/>
                <a:ea typeface="思源黑体 CN Light"/>
                <a:cs typeface="Times New Roman" panose="02020503050405090304" charset="0"/>
              </a:rPr>
              <a:t>• 识字率、教育差异与口传文化：译文必须听得懂、说得出、记得住。</a:t>
            </a:r>
            <a:endParaRPr lang="zh-CN" sz="2000"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000" b="0" i="0">
                <a:solidFill>
                  <a:srgbClr val="3F3F3F"/>
                </a:solidFill>
                <a:latin typeface="Times New Roman" panose="02020503050405090304" charset="0"/>
                <a:ea typeface="思源黑体 CN Light"/>
                <a:cs typeface="Times New Roman" panose="02020503050405090304" charset="0"/>
              </a:rPr>
              <a:t>• 多宗派、多机构协作：ABS、UBS、教会与译者在术语和版本上需要协调。</a:t>
            </a:r>
            <a:endParaRPr lang="zh-CN" sz="2000"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sz="2000" b="0" i="0">
                <a:solidFill>
                  <a:srgbClr val="3F3F3F"/>
                </a:solidFill>
                <a:latin typeface="Times New Roman" panose="02020503050405090304" charset="0"/>
                <a:ea typeface="思源黑体 CN Light"/>
                <a:cs typeface="Times New Roman" panose="02020503050405090304" charset="0"/>
              </a:rPr>
              <a:t>• 翻译规模扩大：语言记录、译者训练和质量管理必须形成可复制流程。</a:t>
            </a:r>
            <a:endParaRPr lang="zh-CN" sz="2000" b="0" i="0">
              <a:solidFill>
                <a:srgbClr val="3F3F3F"/>
              </a:solidFill>
              <a:latin typeface="Times New Roman" panose="02020503050405090304" charset="0"/>
              <a:ea typeface="思源黑体 CN Light"/>
              <a:cs typeface="Times New Roman" panose="0202050305040509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9753599" y="418338"/>
            <a:ext cx="1341119" cy="226314"/>
          </a:xfrm>
          <a:prstGeom prst="rect">
            <a:avLst/>
          </a:prstGeom>
          <a:noFill/>
        </p:spPr>
        <p:txBody>
          <a:bodyPr wrap="square" lIns="0" tIns="0" rIns="0" bIns="0" anchor="t">
            <a:spAutoFit/>
          </a:bodyPr>
          <a:lstStyle/>
          <a:p>
            <a:pPr algn="r">
              <a:lnSpc>
                <a:spcPct val="105000"/>
              </a:lnSpc>
              <a:spcAft>
                <a:spcPts val="200"/>
              </a:spcAft>
            </a:pPr>
            <a:r>
              <a:rPr lang="zh-CN" sz="820" b="1" i="0">
                <a:solidFill>
                  <a:srgbClr val="2D6F85"/>
                </a:solidFill>
                <a:latin typeface="微软雅黑"/>
                <a:ea typeface="微软雅黑"/>
                <a:cs typeface="微软雅黑"/>
              </a:rPr>
              <a:t>CONTEXT · 03 / 05</a:t>
            </a:r>
            <a:endParaRPr lang="zh-CN" sz="820" b="1" i="0">
              <a:solidFill>
                <a:srgbClr val="2D6F85"/>
              </a:solidFill>
              <a:latin typeface="微软雅黑"/>
              <a:ea typeface="微软雅黑"/>
              <a:cs typeface="微软雅黑"/>
            </a:endParaRPr>
          </a:p>
        </p:txBody>
      </p:sp>
      <p:sp>
        <p:nvSpPr>
          <p:cNvPr id="10" name="Rounded Rectangle 9"/>
          <p:cNvSpPr/>
          <p:nvPr/>
        </p:nvSpPr>
        <p:spPr>
          <a:xfrm>
            <a:off x="745490" y="1130300"/>
            <a:ext cx="10701655" cy="3680460"/>
          </a:xfrm>
          <a:prstGeom prst="roundRect">
            <a:avLst>
              <a:gd name="adj" fmla="val 3500"/>
            </a:avLst>
          </a:prstGeom>
          <a:solidFill>
            <a:srgbClr val="EAF4F7"/>
          </a:solidFill>
          <a:ln w="10160">
            <a:solidFill>
              <a:srgbClr val="D8DEE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400">
                <a:solidFill>
                  <a:schemeClr val="tx1"/>
                </a:solidFill>
                <a:latin typeface="Times New Roman" panose="02020503050405090304" charset="0"/>
                <a:cs typeface="Times New Roman" panose="02020503050405090304" charset="0"/>
              </a:rPr>
              <a:t>White as snow/feather/salt</a:t>
            </a:r>
            <a:endParaRPr lang="en-US" sz="3400">
              <a:solidFill>
                <a:schemeClr val="tx1"/>
              </a:solidFill>
              <a:latin typeface="Times New Roman" panose="02020503050405090304" charset="0"/>
              <a:cs typeface="Times New Roman" panose="0202050305040509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Rounded Rectangle 9"/>
          <p:cNvSpPr/>
          <p:nvPr/>
        </p:nvSpPr>
        <p:spPr>
          <a:xfrm>
            <a:off x="431800" y="1130300"/>
            <a:ext cx="11015345" cy="4679950"/>
          </a:xfrm>
          <a:prstGeom prst="roundRect">
            <a:avLst>
              <a:gd name="adj" fmla="val 3500"/>
            </a:avLst>
          </a:prstGeom>
          <a:solidFill>
            <a:srgbClr val="EAF4F7"/>
          </a:solidFill>
          <a:ln w="10160">
            <a:solidFill>
              <a:srgbClr val="D8DEE2"/>
            </a:solid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08000"/>
              </a:lnSpc>
              <a:spcAft>
                <a:spcPts val="300"/>
              </a:spcAft>
            </a:pPr>
            <a:r>
              <a:rPr lang="zh-CN" sz="2800">
                <a:solidFill>
                  <a:srgbClr val="3F3F3F"/>
                </a:solidFill>
                <a:latin typeface="Times New Roman" panose="02020503050405090304" charset="0"/>
                <a:cs typeface="Times New Roman" panose="02020503050405090304" charset="0"/>
                <a:sym typeface="+mn-ea"/>
              </a:rPr>
              <a:t>• 语言并非一一对应：white as snow 可改译为 white as feather / white as salt。</a:t>
            </a:r>
            <a:endParaRPr lang="zh-CN" sz="2800" b="0" i="0">
              <a:solidFill>
                <a:srgbClr val="3F3F3F"/>
              </a:solidFill>
              <a:latin typeface="Times New Roman" panose="02020503050405090304" charset="0"/>
              <a:cs typeface="Times New Roman" panose="02020503050405090304" charset="0"/>
            </a:endParaRPr>
          </a:p>
          <a:p>
            <a:pPr algn="l">
              <a:lnSpc>
                <a:spcPct val="108000"/>
              </a:lnSpc>
              <a:spcAft>
                <a:spcPts val="300"/>
              </a:spcAft>
            </a:pPr>
            <a:r>
              <a:rPr lang="zh-CN" sz="2800">
                <a:solidFill>
                  <a:srgbClr val="3F3F3F"/>
                </a:solidFill>
                <a:latin typeface="Times New Roman" panose="02020503050405090304" charset="0"/>
                <a:cs typeface="Times New Roman" panose="02020503050405090304" charset="0"/>
                <a:sym typeface="+mn-ea"/>
              </a:rPr>
              <a:t>• 文化距离：牧羊、雪、亲属与社会角色等意象可能需要替换或补充解释。</a:t>
            </a:r>
            <a:endParaRPr lang="zh-CN" sz="2800" b="0" i="0">
              <a:solidFill>
                <a:srgbClr val="3F3F3F"/>
              </a:solidFill>
              <a:latin typeface="Times New Roman" panose="02020503050405090304" charset="0"/>
              <a:cs typeface="Times New Roman" panose="02020503050405090304" charset="0"/>
            </a:endParaRPr>
          </a:p>
          <a:p>
            <a:pPr algn="l">
              <a:lnSpc>
                <a:spcPct val="108000"/>
              </a:lnSpc>
              <a:spcAft>
                <a:spcPts val="300"/>
              </a:spcAft>
            </a:pPr>
            <a:r>
              <a:rPr lang="zh-CN" sz="2800">
                <a:solidFill>
                  <a:srgbClr val="3F3F3F"/>
                </a:solidFill>
                <a:latin typeface="Times New Roman" panose="02020503050405090304" charset="0"/>
                <a:cs typeface="Times New Roman" panose="02020503050405090304" charset="0"/>
                <a:sym typeface="+mn-ea"/>
              </a:rPr>
              <a:t>• 文本与制度约束：源文版本、神学术语和宗派期待彼此牵制。</a:t>
            </a:r>
            <a:endParaRPr lang="zh-CN" sz="2800" b="0" i="0">
              <a:solidFill>
                <a:srgbClr val="3F3F3F"/>
              </a:solidFill>
              <a:latin typeface="Times New Roman" panose="02020503050405090304" charset="0"/>
              <a:cs typeface="Times New Roman" panose="02020503050405090304" charset="0"/>
            </a:endParaRPr>
          </a:p>
          <a:p>
            <a:pPr algn="l">
              <a:lnSpc>
                <a:spcPct val="108000"/>
              </a:lnSpc>
              <a:spcAft>
                <a:spcPts val="300"/>
              </a:spcAft>
            </a:pPr>
            <a:r>
              <a:rPr lang="zh-CN" sz="2800">
                <a:solidFill>
                  <a:srgbClr val="3F3F3F"/>
                </a:solidFill>
                <a:latin typeface="Times New Roman" panose="02020503050405090304" charset="0"/>
                <a:cs typeface="Times New Roman" panose="02020503050405090304" charset="0"/>
                <a:sym typeface="+mn-ea"/>
              </a:rPr>
              <a:t>• 受众差异：教育程度、年龄、宗教经验和阅读习惯并不相同。</a:t>
            </a:r>
            <a:endParaRPr lang="en-US" sz="2800">
              <a:solidFill>
                <a:schemeClr val="tx1"/>
              </a:solidFill>
              <a:latin typeface="Times New Roman" panose="02020503050405090304" charset="0"/>
              <a:cs typeface="Times New Roman" panose="02020503050405090304" charset="0"/>
            </a:endParaRPr>
          </a:p>
        </p:txBody>
      </p:sp>
      <p:sp>
        <p:nvSpPr>
          <p:cNvPr id="2" name="文本框 1"/>
          <p:cNvSpPr txBox="1"/>
          <p:nvPr/>
        </p:nvSpPr>
        <p:spPr>
          <a:xfrm>
            <a:off x="431800" y="1130300"/>
            <a:ext cx="3971925" cy="521970"/>
          </a:xfrm>
          <a:prstGeom prst="rect">
            <a:avLst/>
          </a:prstGeom>
          <a:noFill/>
        </p:spPr>
        <p:txBody>
          <a:bodyPr wrap="square" rtlCol="0">
            <a:spAutoFit/>
          </a:bodyPr>
          <a:p>
            <a:r>
              <a:rPr lang="en-US" altLang="zh-CN" sz="2800">
                <a:latin typeface="Times New Roman Regular" panose="02020503050405090304" charset="0"/>
                <a:cs typeface="Times New Roman Regular" panose="02020503050405090304" charset="0"/>
              </a:rPr>
              <a:t>Nida</a:t>
            </a:r>
            <a:r>
              <a:rPr lang="zh-CN" altLang="en-US" sz="2800">
                <a:latin typeface="Times New Roman Regular" panose="02020503050405090304" charset="0"/>
                <a:cs typeface="Times New Roman Regular" panose="02020503050405090304" charset="0"/>
              </a:rPr>
              <a:t>遇到的主要困难</a:t>
            </a:r>
            <a:endParaRPr lang="zh-CN" altLang="en-US" sz="2800">
              <a:latin typeface="Times New Roman Regular" panose="02020503050405090304" charset="0"/>
              <a:cs typeface="Times New Roman Regular" panose="0202050305040509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865631" y="925830"/>
            <a:ext cx="9997439" cy="500634"/>
          </a:xfrm>
          <a:prstGeom prst="rect">
            <a:avLst/>
          </a:prstGeom>
          <a:noFill/>
        </p:spPr>
        <p:txBody>
          <a:bodyPr wrap="square" lIns="0" tIns="0" rIns="0" bIns="0" anchor="t">
            <a:spAutoFit/>
          </a:bodyPr>
          <a:lstStyle/>
          <a:p>
            <a:pPr algn="l">
              <a:lnSpc>
                <a:spcPct val="105000"/>
              </a:lnSpc>
              <a:spcAft>
                <a:spcPts val="200"/>
              </a:spcAft>
            </a:pPr>
            <a:r>
              <a:rPr lang="zh-CN" sz="2300" b="1" i="0">
                <a:solidFill>
                  <a:srgbClr val="482E2C"/>
                </a:solidFill>
                <a:latin typeface="思源黑体 CN Bold"/>
                <a:ea typeface="思源黑体 CN Bold"/>
                <a:cs typeface="思源黑体 CN Bold"/>
              </a:rPr>
              <a:t>Formal equivalence and dynamic equivalence</a:t>
            </a:r>
            <a:endParaRPr lang="zh-CN" sz="2300" b="1" i="0">
              <a:solidFill>
                <a:srgbClr val="482E2C"/>
              </a:solidFill>
              <a:latin typeface="思源黑体 CN Bold"/>
              <a:ea typeface="思源黑体 CN Bold"/>
              <a:cs typeface="思源黑体 CN Bold"/>
            </a:endParaRPr>
          </a:p>
        </p:txBody>
      </p:sp>
      <p:sp>
        <p:nvSpPr>
          <p:cNvPr id="3" name="TextBox 2"/>
          <p:cNvSpPr txBox="1"/>
          <p:nvPr/>
        </p:nvSpPr>
        <p:spPr>
          <a:xfrm>
            <a:off x="890015" y="1392174"/>
            <a:ext cx="10119359" cy="322326"/>
          </a:xfrm>
          <a:prstGeom prst="rect">
            <a:avLst/>
          </a:prstGeom>
          <a:noFill/>
        </p:spPr>
        <p:txBody>
          <a:bodyPr wrap="square" lIns="0" tIns="0" rIns="0" bIns="0" anchor="t">
            <a:spAutoFit/>
          </a:bodyPr>
          <a:lstStyle/>
          <a:p>
            <a:pPr algn="l">
              <a:lnSpc>
                <a:spcPct val="105000"/>
              </a:lnSpc>
              <a:spcAft>
                <a:spcPts val="200"/>
              </a:spcAft>
            </a:pPr>
            <a:r>
              <a:rPr lang="zh-CN" sz="1030" b="0" i="0">
                <a:solidFill>
                  <a:srgbClr val="6E747A"/>
                </a:solidFill>
                <a:latin typeface="思源黑体 CN Light"/>
                <a:ea typeface="思源黑体 CN Light"/>
                <a:cs typeface="思源黑体 CN Light"/>
              </a:rPr>
              <a:t>形式对等优先复制原文形式；动态对等优先实现译文读者反应。</a:t>
            </a:r>
            <a:endParaRPr lang="zh-CN" sz="1030" b="0" i="0">
              <a:solidFill>
                <a:srgbClr val="6E747A"/>
              </a:solidFill>
              <a:latin typeface="思源黑体 CN Light"/>
              <a:ea typeface="思源黑体 CN Light"/>
              <a:cs typeface="思源黑体 CN Light"/>
            </a:endParaRPr>
          </a:p>
        </p:txBody>
      </p:sp>
      <p:sp>
        <p:nvSpPr>
          <p:cNvPr id="4" name="TextBox 3"/>
          <p:cNvSpPr txBox="1"/>
          <p:nvPr/>
        </p:nvSpPr>
        <p:spPr>
          <a:xfrm>
            <a:off x="9753599" y="418338"/>
            <a:ext cx="1341119" cy="226314"/>
          </a:xfrm>
          <a:prstGeom prst="rect">
            <a:avLst/>
          </a:prstGeom>
          <a:noFill/>
        </p:spPr>
        <p:txBody>
          <a:bodyPr wrap="square" lIns="0" tIns="0" rIns="0" bIns="0" anchor="t">
            <a:spAutoFit/>
          </a:bodyPr>
          <a:lstStyle/>
          <a:p>
            <a:pPr algn="r">
              <a:lnSpc>
                <a:spcPct val="105000"/>
              </a:lnSpc>
              <a:spcAft>
                <a:spcPts val="200"/>
              </a:spcAft>
            </a:pPr>
            <a:r>
              <a:rPr lang="zh-CN" sz="820" b="1" i="0">
                <a:solidFill>
                  <a:srgbClr val="2D6F85"/>
                </a:solidFill>
                <a:latin typeface="微软雅黑"/>
                <a:ea typeface="微软雅黑"/>
                <a:cs typeface="微软雅黑"/>
              </a:rPr>
              <a:t>THEORY · 04 / 05</a:t>
            </a:r>
            <a:endParaRPr lang="zh-CN" sz="820" b="1" i="0">
              <a:solidFill>
                <a:srgbClr val="2D6F85"/>
              </a:solidFill>
              <a:latin typeface="微软雅黑"/>
              <a:ea typeface="微软雅黑"/>
              <a:cs typeface="微软雅黑"/>
            </a:endParaRPr>
          </a:p>
        </p:txBody>
      </p:sp>
      <p:sp>
        <p:nvSpPr>
          <p:cNvPr id="5" name="Rectangle 4"/>
          <p:cNvSpPr/>
          <p:nvPr/>
        </p:nvSpPr>
        <p:spPr>
          <a:xfrm>
            <a:off x="865631" y="1762506"/>
            <a:ext cx="10241279" cy="17145"/>
          </a:xfrm>
          <a:prstGeom prst="rect">
            <a:avLst/>
          </a:prstGeom>
          <a:solidFill>
            <a:srgbClr val="5C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091690"/>
            <a:ext cx="10180955" cy="2777490"/>
          </a:xfrm>
          <a:prstGeom prst="roundRect">
            <a:avLst>
              <a:gd name="adj" fmla="val 3500"/>
            </a:avLst>
          </a:prstGeom>
          <a:solidFill>
            <a:srgbClr val="EAF4F7"/>
          </a:solidFill>
          <a:ln w="10160">
            <a:solidFill>
              <a:srgbClr val="D8DE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399" y="2173986"/>
            <a:ext cx="73151" cy="2612898"/>
          </a:xfrm>
          <a:prstGeom prst="rect">
            <a:avLst/>
          </a:prstGeom>
          <a:solidFill>
            <a:srgbClr val="2D6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2045" y="2270125"/>
            <a:ext cx="9887585" cy="541655"/>
          </a:xfrm>
          <a:prstGeom prst="rect">
            <a:avLst/>
          </a:prstGeom>
          <a:noFill/>
        </p:spPr>
        <p:txBody>
          <a:bodyPr wrap="square" lIns="0" tIns="0" rIns="0" bIns="0" anchor="t">
            <a:noAutofit/>
          </a:bodyPr>
          <a:lstStyle/>
          <a:p>
            <a:pPr algn="ctr">
              <a:lnSpc>
                <a:spcPct val="105000"/>
              </a:lnSpc>
              <a:spcAft>
                <a:spcPts val="200"/>
              </a:spcAft>
            </a:pPr>
            <a:r>
              <a:rPr lang="zh-CN" sz="3200" i="0">
                <a:solidFill>
                  <a:srgbClr val="482E2C"/>
                </a:solidFill>
                <a:latin typeface="Times New Roman" panose="02020503050405090304" charset="0"/>
                <a:ea typeface="思源黑体 CN Bold"/>
                <a:cs typeface="Times New Roman" panose="02020503050405090304" charset="0"/>
              </a:rPr>
              <a:t>FORMAL EQUIVALENCE</a:t>
            </a:r>
            <a:endParaRPr lang="zh-CN" sz="3200" i="0">
              <a:solidFill>
                <a:srgbClr val="482E2C"/>
              </a:solidFill>
              <a:latin typeface="Times New Roman" panose="02020503050405090304" charset="0"/>
              <a:ea typeface="思源黑体 CN Bold"/>
              <a:cs typeface="Times New Roman" panose="02020503050405090304" charset="0"/>
            </a:endParaRPr>
          </a:p>
        </p:txBody>
      </p:sp>
      <p:sp>
        <p:nvSpPr>
          <p:cNvPr id="9" name="TextBox 8"/>
          <p:cNvSpPr txBox="1"/>
          <p:nvPr/>
        </p:nvSpPr>
        <p:spPr>
          <a:xfrm>
            <a:off x="1206500" y="3133090"/>
            <a:ext cx="9888220" cy="2056765"/>
          </a:xfrm>
          <a:prstGeom prst="rect">
            <a:avLst/>
          </a:prstGeom>
          <a:noFill/>
        </p:spPr>
        <p:txBody>
          <a:bodyPr wrap="square" lIns="0" tIns="0" rIns="0" bIns="0" anchor="t">
            <a:noAutofit/>
          </a:bodyPr>
          <a:lstStyle/>
          <a:p>
            <a:pPr algn="l">
              <a:lnSpc>
                <a:spcPct val="108000"/>
              </a:lnSpc>
              <a:spcAft>
                <a:spcPts val="300"/>
              </a:spcAft>
            </a:pPr>
            <a:r>
              <a:rPr lang="zh-CN" b="0" i="0">
                <a:solidFill>
                  <a:srgbClr val="3F3F3F"/>
                </a:solidFill>
                <a:latin typeface="Times New Roman" panose="02020503050405090304" charset="0"/>
                <a:ea typeface="思源黑体 CN Light"/>
                <a:cs typeface="Times New Roman" panose="02020503050405090304" charset="0"/>
              </a:rPr>
              <a:t>• 定义：尽量复制原语的语法形式、词序与术语对应。</a:t>
            </a:r>
            <a:endParaRPr lang="zh-CN"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b="0" i="0">
                <a:solidFill>
                  <a:srgbClr val="3F3F3F"/>
                </a:solidFill>
                <a:latin typeface="Times New Roman" panose="02020503050405090304" charset="0"/>
                <a:ea typeface="思源黑体 CN Light"/>
                <a:cs typeface="Times New Roman" panose="02020503050405090304" charset="0"/>
              </a:rPr>
              <a:t>• 常用手段：直译、逐词对应、保持同词同译。</a:t>
            </a:r>
            <a:endParaRPr lang="zh-CN"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b="0" i="0">
                <a:solidFill>
                  <a:srgbClr val="3F3F3F"/>
                </a:solidFill>
                <a:latin typeface="Times New Roman" panose="02020503050405090304" charset="0"/>
                <a:ea typeface="思源黑体 CN Light"/>
                <a:cs typeface="Times New Roman" panose="02020503050405090304" charset="0"/>
              </a:rPr>
              <a:t>• 读者可能需要借助注释理解源文化。</a:t>
            </a:r>
            <a:endParaRPr lang="zh-CN" b="0" i="0">
              <a:solidFill>
                <a:srgbClr val="3F3F3F"/>
              </a:solidFill>
              <a:latin typeface="Times New Roman" panose="02020503050405090304" charset="0"/>
              <a:ea typeface="思源黑体 CN Light"/>
              <a:cs typeface="Times New Roman" panose="0202050305040509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9753599" y="418338"/>
            <a:ext cx="1341119" cy="226314"/>
          </a:xfrm>
          <a:prstGeom prst="rect">
            <a:avLst/>
          </a:prstGeom>
          <a:noFill/>
        </p:spPr>
        <p:txBody>
          <a:bodyPr wrap="square" lIns="0" tIns="0" rIns="0" bIns="0" anchor="t">
            <a:spAutoFit/>
          </a:bodyPr>
          <a:lstStyle/>
          <a:p>
            <a:pPr algn="r">
              <a:lnSpc>
                <a:spcPct val="105000"/>
              </a:lnSpc>
              <a:spcAft>
                <a:spcPts val="200"/>
              </a:spcAft>
            </a:pPr>
            <a:r>
              <a:rPr lang="zh-CN" sz="820" b="1" i="0">
                <a:solidFill>
                  <a:srgbClr val="2D6F85"/>
                </a:solidFill>
                <a:latin typeface="微软雅黑"/>
                <a:ea typeface="微软雅黑"/>
                <a:cs typeface="微软雅黑"/>
              </a:rPr>
              <a:t>NIDA · 02 / 05</a:t>
            </a:r>
            <a:endParaRPr lang="zh-CN" sz="820" b="1" i="0">
              <a:solidFill>
                <a:srgbClr val="2D6F85"/>
              </a:solidFill>
              <a:latin typeface="微软雅黑"/>
              <a:ea typeface="微软雅黑"/>
              <a:cs typeface="微软雅黑"/>
            </a:endParaRPr>
          </a:p>
        </p:txBody>
      </p:sp>
      <p:sp>
        <p:nvSpPr>
          <p:cNvPr id="14" name="TextBox 13"/>
          <p:cNvSpPr txBox="1"/>
          <p:nvPr/>
        </p:nvSpPr>
        <p:spPr>
          <a:xfrm>
            <a:off x="1365885" y="1201420"/>
            <a:ext cx="9728200" cy="4712335"/>
          </a:xfrm>
          <a:prstGeom prst="rect">
            <a:avLst/>
          </a:prstGeom>
          <a:noFill/>
        </p:spPr>
        <p:txBody>
          <a:bodyPr wrap="square" lIns="0" tIns="0" rIns="0" bIns="0" anchor="t">
            <a:noAutofit/>
          </a:bodyPr>
          <a:lstStyle/>
          <a:p>
            <a:pPr algn="l">
              <a:lnSpc>
                <a:spcPct val="108000"/>
              </a:lnSpc>
              <a:spcAft>
                <a:spcPts val="300"/>
              </a:spcAft>
            </a:pPr>
            <a:r>
              <a:rPr lang="en-US" altLang="zh-CN" sz="2800" b="0" i="0" dirty="0">
                <a:solidFill>
                  <a:srgbClr val="3F3F3F"/>
                </a:solidFill>
                <a:latin typeface="Times New Roman" panose="02020503050405090304" charset="0"/>
                <a:ea typeface="思源黑体 CN Light"/>
                <a:cs typeface="Times New Roman" panose="02020503050405090304" charset="0"/>
              </a:rPr>
              <a:t>“Formal equivalence focuses attention on the message itself, in both form and content. In such a translation one is concerned with such correspondences as poetry to poetry, sentence to sentence, and concept to concept. Viewed from this formal orientation, one is concerned that the message in the receptor language should match as closely as possible the different elements in the source language.”</a:t>
            </a:r>
            <a:endParaRPr lang="en-US" altLang="zh-CN" sz="2800" b="0" i="0" dirty="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en-US" altLang="zh-CN" sz="2800" b="0" i="0" dirty="0">
                <a:solidFill>
                  <a:srgbClr val="3F3F3F"/>
                </a:solidFill>
                <a:latin typeface="Times New Roman" panose="02020503050405090304" charset="0"/>
                <a:ea typeface="思源黑体 CN Light"/>
                <a:cs typeface="Times New Roman" panose="02020503050405090304" charset="0"/>
              </a:rPr>
              <a:t>（Nida，1964）</a:t>
            </a:r>
            <a:endParaRPr lang="en-US" altLang="zh-CN" sz="2800" b="0" i="0" dirty="0">
              <a:solidFill>
                <a:srgbClr val="3F3F3F"/>
              </a:solidFill>
              <a:latin typeface="Times New Roman" panose="02020503050405090304" charset="0"/>
              <a:ea typeface="思源黑体 CN Light"/>
              <a:cs typeface="Times New Roman" panose="0202050305040509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865631" y="925830"/>
            <a:ext cx="9997439" cy="500634"/>
          </a:xfrm>
          <a:prstGeom prst="rect">
            <a:avLst/>
          </a:prstGeom>
          <a:noFill/>
        </p:spPr>
        <p:txBody>
          <a:bodyPr wrap="square" lIns="0" tIns="0" rIns="0" bIns="0" anchor="t">
            <a:spAutoFit/>
          </a:bodyPr>
          <a:lstStyle/>
          <a:p>
            <a:pPr algn="l">
              <a:lnSpc>
                <a:spcPct val="105000"/>
              </a:lnSpc>
              <a:spcAft>
                <a:spcPts val="200"/>
              </a:spcAft>
            </a:pPr>
            <a:r>
              <a:rPr lang="zh-CN" sz="2300" b="1" i="0">
                <a:solidFill>
                  <a:srgbClr val="482E2C"/>
                </a:solidFill>
                <a:latin typeface="思源黑体 CN Bold"/>
                <a:ea typeface="思源黑体 CN Bold"/>
                <a:cs typeface="思源黑体 CN Bold"/>
              </a:rPr>
              <a:t>Formal equivalence and dynamic equivalence</a:t>
            </a:r>
            <a:endParaRPr lang="zh-CN" sz="2300" b="1" i="0">
              <a:solidFill>
                <a:srgbClr val="482E2C"/>
              </a:solidFill>
              <a:latin typeface="思源黑体 CN Bold"/>
              <a:ea typeface="思源黑体 CN Bold"/>
              <a:cs typeface="思源黑体 CN Bold"/>
            </a:endParaRPr>
          </a:p>
        </p:txBody>
      </p:sp>
      <p:sp>
        <p:nvSpPr>
          <p:cNvPr id="3" name="TextBox 2"/>
          <p:cNvSpPr txBox="1"/>
          <p:nvPr/>
        </p:nvSpPr>
        <p:spPr>
          <a:xfrm>
            <a:off x="890015" y="1392174"/>
            <a:ext cx="10119359" cy="322326"/>
          </a:xfrm>
          <a:prstGeom prst="rect">
            <a:avLst/>
          </a:prstGeom>
          <a:noFill/>
        </p:spPr>
        <p:txBody>
          <a:bodyPr wrap="square" lIns="0" tIns="0" rIns="0" bIns="0" anchor="t">
            <a:spAutoFit/>
          </a:bodyPr>
          <a:lstStyle/>
          <a:p>
            <a:pPr algn="l">
              <a:lnSpc>
                <a:spcPct val="105000"/>
              </a:lnSpc>
              <a:spcAft>
                <a:spcPts val="200"/>
              </a:spcAft>
            </a:pPr>
            <a:r>
              <a:rPr lang="zh-CN" sz="1030" b="0" i="0">
                <a:solidFill>
                  <a:srgbClr val="6E747A"/>
                </a:solidFill>
                <a:latin typeface="思源黑体 CN Light"/>
                <a:ea typeface="思源黑体 CN Light"/>
                <a:cs typeface="思源黑体 CN Light"/>
              </a:rPr>
              <a:t>形式对等优先复制原文形式；动态对等优先实现译文读者反应。</a:t>
            </a:r>
            <a:endParaRPr lang="zh-CN" sz="1030" b="0" i="0">
              <a:solidFill>
                <a:srgbClr val="6E747A"/>
              </a:solidFill>
              <a:latin typeface="思源黑体 CN Light"/>
              <a:ea typeface="思源黑体 CN Light"/>
              <a:cs typeface="思源黑体 CN Light"/>
            </a:endParaRPr>
          </a:p>
        </p:txBody>
      </p:sp>
      <p:sp>
        <p:nvSpPr>
          <p:cNvPr id="4" name="TextBox 3"/>
          <p:cNvSpPr txBox="1"/>
          <p:nvPr/>
        </p:nvSpPr>
        <p:spPr>
          <a:xfrm>
            <a:off x="9753599" y="418338"/>
            <a:ext cx="1341119" cy="226314"/>
          </a:xfrm>
          <a:prstGeom prst="rect">
            <a:avLst/>
          </a:prstGeom>
          <a:noFill/>
        </p:spPr>
        <p:txBody>
          <a:bodyPr wrap="square" lIns="0" tIns="0" rIns="0" bIns="0" anchor="t">
            <a:spAutoFit/>
          </a:bodyPr>
          <a:lstStyle/>
          <a:p>
            <a:pPr algn="r">
              <a:lnSpc>
                <a:spcPct val="105000"/>
              </a:lnSpc>
              <a:spcAft>
                <a:spcPts val="200"/>
              </a:spcAft>
            </a:pPr>
            <a:r>
              <a:rPr lang="zh-CN" sz="820" b="1" i="0">
                <a:solidFill>
                  <a:srgbClr val="2D6F85"/>
                </a:solidFill>
                <a:latin typeface="微软雅黑"/>
                <a:ea typeface="微软雅黑"/>
                <a:cs typeface="微软雅黑"/>
              </a:rPr>
              <a:t>THEORY · 04 / 05</a:t>
            </a:r>
            <a:endParaRPr lang="zh-CN" sz="820" b="1" i="0">
              <a:solidFill>
                <a:srgbClr val="2D6F85"/>
              </a:solidFill>
              <a:latin typeface="微软雅黑"/>
              <a:ea typeface="微软雅黑"/>
              <a:cs typeface="微软雅黑"/>
            </a:endParaRPr>
          </a:p>
        </p:txBody>
      </p:sp>
      <p:sp>
        <p:nvSpPr>
          <p:cNvPr id="5" name="Rectangle 4"/>
          <p:cNvSpPr/>
          <p:nvPr/>
        </p:nvSpPr>
        <p:spPr>
          <a:xfrm>
            <a:off x="865631" y="1762506"/>
            <a:ext cx="10241279" cy="17145"/>
          </a:xfrm>
          <a:prstGeom prst="rect">
            <a:avLst/>
          </a:prstGeom>
          <a:solidFill>
            <a:srgbClr val="5C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091690"/>
            <a:ext cx="10180955" cy="2777490"/>
          </a:xfrm>
          <a:prstGeom prst="roundRect">
            <a:avLst>
              <a:gd name="adj" fmla="val 3500"/>
            </a:avLst>
          </a:prstGeom>
          <a:solidFill>
            <a:srgbClr val="EAF4F7"/>
          </a:solidFill>
          <a:ln w="10160">
            <a:solidFill>
              <a:srgbClr val="D8DE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399" y="2173986"/>
            <a:ext cx="73151" cy="2612898"/>
          </a:xfrm>
          <a:prstGeom prst="rect">
            <a:avLst/>
          </a:prstGeom>
          <a:solidFill>
            <a:srgbClr val="2D6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7135" y="2270125"/>
            <a:ext cx="9887585" cy="541655"/>
          </a:xfrm>
          <a:prstGeom prst="rect">
            <a:avLst/>
          </a:prstGeom>
          <a:noFill/>
        </p:spPr>
        <p:txBody>
          <a:bodyPr wrap="square" lIns="0" tIns="0" rIns="0" bIns="0" anchor="t">
            <a:noAutofit/>
          </a:bodyPr>
          <a:lstStyle/>
          <a:p>
            <a:pPr algn="ctr">
              <a:lnSpc>
                <a:spcPct val="105000"/>
              </a:lnSpc>
              <a:spcAft>
                <a:spcPts val="200"/>
              </a:spcAft>
            </a:pPr>
            <a:r>
              <a:rPr lang="en-US" altLang="zh-CN" sz="3200" i="0">
                <a:solidFill>
                  <a:srgbClr val="482E2C"/>
                </a:solidFill>
                <a:latin typeface="Times New Roman" panose="02020503050405090304" charset="0"/>
                <a:ea typeface="思源黑体 CN Bold"/>
                <a:cs typeface="Times New Roman" panose="02020503050405090304" charset="0"/>
              </a:rPr>
              <a:t>FUNCTIONAL</a:t>
            </a:r>
            <a:r>
              <a:rPr lang="zh-CN" sz="3200" i="0">
                <a:solidFill>
                  <a:srgbClr val="482E2C"/>
                </a:solidFill>
                <a:latin typeface="Times New Roman" panose="02020503050405090304" charset="0"/>
                <a:ea typeface="思源黑体 CN Bold"/>
                <a:cs typeface="Times New Roman" panose="02020503050405090304" charset="0"/>
              </a:rPr>
              <a:t> EQUIVALENCE</a:t>
            </a:r>
            <a:endParaRPr lang="zh-CN" sz="3200" i="0">
              <a:solidFill>
                <a:srgbClr val="482E2C"/>
              </a:solidFill>
              <a:latin typeface="Times New Roman" panose="02020503050405090304" charset="0"/>
              <a:ea typeface="思源黑体 CN Bold"/>
              <a:cs typeface="Times New Roman" panose="02020503050405090304" charset="0"/>
            </a:endParaRPr>
          </a:p>
        </p:txBody>
      </p:sp>
      <p:sp>
        <p:nvSpPr>
          <p:cNvPr id="9" name="TextBox 8"/>
          <p:cNvSpPr txBox="1"/>
          <p:nvPr/>
        </p:nvSpPr>
        <p:spPr>
          <a:xfrm>
            <a:off x="1121410" y="3133090"/>
            <a:ext cx="9888220" cy="2056765"/>
          </a:xfrm>
          <a:prstGeom prst="rect">
            <a:avLst/>
          </a:prstGeom>
          <a:noFill/>
        </p:spPr>
        <p:txBody>
          <a:bodyPr wrap="square" lIns="0" tIns="0" rIns="0" bIns="0" anchor="t">
            <a:noAutofit/>
          </a:bodyPr>
          <a:lstStyle/>
          <a:p>
            <a:pPr algn="l">
              <a:lnSpc>
                <a:spcPct val="108000"/>
              </a:lnSpc>
              <a:spcAft>
                <a:spcPts val="300"/>
              </a:spcAft>
            </a:pPr>
            <a:r>
              <a:rPr lang="zh-CN">
                <a:solidFill>
                  <a:srgbClr val="3F3F3F"/>
                </a:solidFill>
                <a:latin typeface="Times New Roman" panose="02020503050405090304" charset="0"/>
                <a:ea typeface="思源黑体 CN Light"/>
                <a:cs typeface="Times New Roman" panose="02020503050405090304" charset="0"/>
                <a:sym typeface="+mn-ea"/>
              </a:rPr>
              <a:t>• 取向：</a:t>
            </a:r>
            <a:r>
              <a:rPr lang="en-US" altLang="zh-CN">
                <a:solidFill>
                  <a:srgbClr val="3F3F3F"/>
                </a:solidFill>
                <a:latin typeface="Times New Roman" panose="02020503050405090304" charset="0"/>
                <a:ea typeface="思源黑体 CN Light"/>
                <a:cs typeface="Times New Roman" panose="02020503050405090304" charset="0"/>
                <a:sym typeface="+mn-ea"/>
              </a:rPr>
              <a:t>audicence</a:t>
            </a:r>
            <a:r>
              <a:rPr lang="zh-CN">
                <a:solidFill>
                  <a:srgbClr val="3F3F3F"/>
                </a:solidFill>
                <a:latin typeface="Times New Roman" panose="02020503050405090304" charset="0"/>
                <a:ea typeface="思源黑体 CN Light"/>
                <a:cs typeface="Times New Roman" panose="02020503050405090304" charset="0"/>
                <a:sym typeface="+mn-ea"/>
              </a:rPr>
              <a:t>-oriented，贴近译文读者。</a:t>
            </a:r>
            <a:endParaRPr lang="zh-CN"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a:solidFill>
                  <a:srgbClr val="3F3F3F"/>
                </a:solidFill>
                <a:latin typeface="Times New Roman" panose="02020503050405090304" charset="0"/>
                <a:ea typeface="思源黑体 CN Light"/>
                <a:cs typeface="Times New Roman" panose="02020503050405090304" charset="0"/>
                <a:sym typeface="+mn-ea"/>
              </a:rPr>
              <a:t>• 追求自然、地道的目标语表达。</a:t>
            </a:r>
            <a:endParaRPr lang="zh-CN"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a:solidFill>
                  <a:srgbClr val="3F3F3F"/>
                </a:solidFill>
                <a:latin typeface="Times New Roman" panose="02020503050405090304" charset="0"/>
                <a:ea typeface="思源黑体 CN Light"/>
                <a:cs typeface="Times New Roman" panose="02020503050405090304" charset="0"/>
                <a:sym typeface="+mn-ea"/>
              </a:rPr>
              <a:t>• 重点是 equivalent response，而非形式一一对应。</a:t>
            </a:r>
            <a:endParaRPr lang="zh-CN" b="0" i="0">
              <a:solidFill>
                <a:srgbClr val="3F3F3F"/>
              </a:solidFill>
              <a:latin typeface="Times New Roman" panose="02020503050405090304" charset="0"/>
              <a:ea typeface="思源黑体 CN Light"/>
              <a:cs typeface="Times New Roman" panose="02020503050405090304" charset="0"/>
            </a:endParaRPr>
          </a:p>
          <a:p>
            <a:pPr algn="l">
              <a:lnSpc>
                <a:spcPct val="108000"/>
              </a:lnSpc>
              <a:spcAft>
                <a:spcPts val="300"/>
              </a:spcAft>
            </a:pPr>
            <a:r>
              <a:rPr lang="zh-CN">
                <a:solidFill>
                  <a:srgbClr val="3F3F3F"/>
                </a:solidFill>
                <a:latin typeface="Times New Roman" panose="02020503050405090304" charset="0"/>
                <a:ea typeface="思源黑体 CN Light"/>
                <a:cs typeface="Times New Roman" panose="02020503050405090304" charset="0"/>
                <a:sym typeface="+mn-ea"/>
              </a:rPr>
              <a:t>• 让译文读者获得接近原文读者所获得的效果。</a:t>
            </a:r>
            <a:endParaRPr lang="zh-CN" b="0" i="0">
              <a:solidFill>
                <a:srgbClr val="3F3F3F"/>
              </a:solidFill>
              <a:latin typeface="Times New Roman" panose="02020503050405090304" charset="0"/>
              <a:ea typeface="思源黑体 CN Light"/>
              <a:cs typeface="Times New Roman" panose="0202050305040509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9753599" y="418338"/>
            <a:ext cx="1341119" cy="226314"/>
          </a:xfrm>
          <a:prstGeom prst="rect">
            <a:avLst/>
          </a:prstGeom>
          <a:noFill/>
        </p:spPr>
        <p:txBody>
          <a:bodyPr wrap="square" lIns="0" tIns="0" rIns="0" bIns="0" anchor="t">
            <a:spAutoFit/>
          </a:bodyPr>
          <a:lstStyle/>
          <a:p>
            <a:pPr algn="r">
              <a:lnSpc>
                <a:spcPct val="105000"/>
              </a:lnSpc>
              <a:spcAft>
                <a:spcPts val="200"/>
              </a:spcAft>
            </a:pPr>
            <a:r>
              <a:rPr lang="zh-CN" sz="820" b="1" i="0">
                <a:solidFill>
                  <a:srgbClr val="2D6F85"/>
                </a:solidFill>
                <a:latin typeface="微软雅黑"/>
                <a:ea typeface="微软雅黑"/>
                <a:cs typeface="微软雅黑"/>
              </a:rPr>
              <a:t>NIDA · 02 / 05</a:t>
            </a:r>
            <a:endParaRPr lang="zh-CN" sz="820" b="1" i="0">
              <a:solidFill>
                <a:srgbClr val="2D6F85"/>
              </a:solidFill>
              <a:latin typeface="微软雅黑"/>
              <a:ea typeface="微软雅黑"/>
              <a:cs typeface="微软雅黑"/>
            </a:endParaRPr>
          </a:p>
        </p:txBody>
      </p:sp>
      <p:sp>
        <p:nvSpPr>
          <p:cNvPr id="14" name="TextBox 13"/>
          <p:cNvSpPr txBox="1"/>
          <p:nvPr/>
        </p:nvSpPr>
        <p:spPr>
          <a:xfrm>
            <a:off x="1365885" y="1201420"/>
            <a:ext cx="9728200" cy="4712335"/>
          </a:xfrm>
          <a:prstGeom prst="rect">
            <a:avLst/>
          </a:prstGeom>
          <a:noFill/>
        </p:spPr>
        <p:txBody>
          <a:bodyPr wrap="square" lIns="0" tIns="0" rIns="0" bIns="0" anchor="t">
            <a:noAutofit/>
          </a:bodyPr>
          <a:lstStyle/>
          <a:p>
            <a:pPr algn="l">
              <a:lnSpc>
                <a:spcPct val="108000"/>
              </a:lnSpc>
              <a:spcAft>
                <a:spcPts val="300"/>
              </a:spcAft>
            </a:pPr>
            <a:r>
              <a:rPr lang="en-US" altLang="zh-CN" sz="2800" b="0" i="0" dirty="0">
                <a:solidFill>
                  <a:srgbClr val="3F3F3F"/>
                </a:solidFill>
                <a:latin typeface="Times New Roman" panose="02020503050405090304" charset="0"/>
                <a:ea typeface="思源黑体 CN Light"/>
                <a:cs typeface="Times New Roman" panose="02020503050405090304" charset="0"/>
              </a:rPr>
              <a:t>“In contrast, a translation which attempts to produce a dynamic rather than a formal equivalence is based upon ‘the principle of equivalent effect’. In such a translation one is not so concerned with matching the receptor-language message with the source-language message, but with the dynamic relationship, that the relationship between receptor and message should be substantially the same as that which existed between the original receptors and the message.”（Nida，1964）</a:t>
            </a:r>
            <a:endParaRPr lang="en-US" altLang="zh-CN" sz="2800" b="0" i="0" dirty="0">
              <a:solidFill>
                <a:srgbClr val="3F3F3F"/>
              </a:solidFill>
              <a:latin typeface="Times New Roman" panose="02020503050405090304" charset="0"/>
              <a:ea typeface="思源黑体 CN Light"/>
              <a:cs typeface="Times New Roman" panose="0202050305040509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TextBox 1"/>
          <p:cNvSpPr txBox="1"/>
          <p:nvPr/>
        </p:nvSpPr>
        <p:spPr>
          <a:xfrm>
            <a:off x="865631" y="889000"/>
            <a:ext cx="9997439" cy="1795780"/>
          </a:xfrm>
          <a:prstGeom prst="rect">
            <a:avLst/>
          </a:prstGeom>
          <a:noFill/>
        </p:spPr>
        <p:txBody>
          <a:bodyPr wrap="square" lIns="0" tIns="0" rIns="0" bIns="0" anchor="t">
            <a:spAutoFit/>
          </a:bodyPr>
          <a:lstStyle/>
          <a:p>
            <a:pPr algn="l">
              <a:lnSpc>
                <a:spcPct val="105000"/>
              </a:lnSpc>
              <a:spcAft>
                <a:spcPts val="200"/>
              </a:spcAft>
            </a:pPr>
            <a:r>
              <a:rPr lang="zh-CN" sz="3600" i="0">
                <a:solidFill>
                  <a:srgbClr val="482E2C"/>
                </a:solidFill>
                <a:latin typeface="Times New Roman Regular" panose="02020503050405090304" charset="0"/>
                <a:ea typeface="思源黑体 CN Bold"/>
                <a:cs typeface="Times New Roman Regular" panose="02020503050405090304" charset="0"/>
              </a:rPr>
              <a:t>Nida's method: </a:t>
            </a:r>
            <a:endParaRPr lang="zh-CN" sz="3600" i="0">
              <a:solidFill>
                <a:srgbClr val="482E2C"/>
              </a:solidFill>
              <a:latin typeface="Times New Roman Regular" panose="02020503050405090304" charset="0"/>
              <a:ea typeface="思源黑体 CN Bold"/>
              <a:cs typeface="Times New Roman Regular" panose="02020503050405090304" charset="0"/>
            </a:endParaRPr>
          </a:p>
          <a:p>
            <a:pPr algn="l">
              <a:lnSpc>
                <a:spcPct val="105000"/>
              </a:lnSpc>
              <a:spcAft>
                <a:spcPts val="200"/>
              </a:spcAft>
            </a:pPr>
            <a:r>
              <a:rPr lang="en-US" altLang="zh-CN" sz="3600" i="0">
                <a:solidFill>
                  <a:srgbClr val="482E2C"/>
                </a:solidFill>
                <a:latin typeface="Times New Roman Regular" panose="02020503050405090304" charset="0"/>
                <a:ea typeface="思源黑体 CN Bold"/>
                <a:cs typeface="Times New Roman Regular" panose="02020503050405090304" charset="0"/>
              </a:rPr>
              <a:t>kernel sentences（</a:t>
            </a:r>
            <a:r>
              <a:rPr lang="zh-CN" altLang="en-US" sz="3600" i="0">
                <a:solidFill>
                  <a:srgbClr val="482E2C"/>
                </a:solidFill>
                <a:latin typeface="Times New Roman Regular" panose="02020503050405090304" charset="0"/>
                <a:ea typeface="思源黑体 CN Bold"/>
                <a:cs typeface="Times New Roman Regular" panose="02020503050405090304" charset="0"/>
              </a:rPr>
              <a:t>核心句） </a:t>
            </a:r>
            <a:r>
              <a:rPr lang="en-US" altLang="zh-CN" sz="3600" i="0">
                <a:solidFill>
                  <a:srgbClr val="482E2C"/>
                </a:solidFill>
                <a:latin typeface="Times New Roman Regular" panose="02020503050405090304" charset="0"/>
                <a:ea typeface="思源黑体 CN Bold"/>
                <a:cs typeface="Times New Roman Regular" panose="02020503050405090304" charset="0"/>
              </a:rPr>
              <a:t>        </a:t>
            </a:r>
            <a:r>
              <a:rPr lang="zh-CN" altLang="en-US" sz="3600" i="0">
                <a:solidFill>
                  <a:srgbClr val="482E2C"/>
                </a:solidFill>
                <a:latin typeface="Times New Roman Regular" panose="02020503050405090304" charset="0"/>
                <a:ea typeface="思源黑体 CN Bold"/>
                <a:cs typeface="Times New Roman Regular" panose="02020503050405090304" charset="0"/>
              </a:rPr>
              <a:t> </a:t>
            </a:r>
            <a:r>
              <a:rPr lang="en-US" altLang="zh-CN" sz="3600" i="0">
                <a:solidFill>
                  <a:srgbClr val="482E2C"/>
                </a:solidFill>
                <a:latin typeface="Times New Roman Regular" panose="02020503050405090304" charset="0"/>
                <a:ea typeface="思源黑体 CN Bold"/>
                <a:cs typeface="Times New Roman Regular" panose="02020503050405090304" charset="0"/>
              </a:rPr>
              <a:t>                        </a:t>
            </a:r>
            <a:endParaRPr lang="en-US" altLang="zh-CN" sz="3600" i="0">
              <a:solidFill>
                <a:srgbClr val="482E2C"/>
              </a:solidFill>
              <a:latin typeface="Times New Roman Regular" panose="02020503050405090304" charset="0"/>
              <a:ea typeface="思源黑体 CN Bold"/>
              <a:cs typeface="Times New Roman Regular" panose="02020503050405090304" charset="0"/>
            </a:endParaRPr>
          </a:p>
          <a:p>
            <a:pPr algn="l">
              <a:lnSpc>
                <a:spcPct val="105000"/>
              </a:lnSpc>
              <a:spcAft>
                <a:spcPts val="200"/>
              </a:spcAft>
            </a:pPr>
            <a:r>
              <a:rPr lang="en-US" altLang="zh-CN" sz="3600" i="0">
                <a:solidFill>
                  <a:srgbClr val="482E2C"/>
                </a:solidFill>
                <a:latin typeface="Times New Roman Regular" panose="02020503050405090304" charset="0"/>
                <a:ea typeface="思源黑体 CN Bold"/>
                <a:cs typeface="Times New Roman Regular" panose="02020503050405090304" charset="0"/>
              </a:rPr>
              <a:t>componential analysis （</a:t>
            </a:r>
            <a:r>
              <a:rPr lang="zh-CN" altLang="en-US" sz="3600" i="0">
                <a:solidFill>
                  <a:srgbClr val="482E2C"/>
                </a:solidFill>
                <a:latin typeface="Times New Roman Regular" panose="02020503050405090304" charset="0"/>
                <a:ea typeface="思源黑体 CN Bold"/>
                <a:cs typeface="Times New Roman Regular" panose="02020503050405090304" charset="0"/>
              </a:rPr>
              <a:t>析词</a:t>
            </a:r>
            <a:r>
              <a:rPr lang="en-US" altLang="zh-CN" sz="3600" i="0">
                <a:solidFill>
                  <a:srgbClr val="482E2C"/>
                </a:solidFill>
                <a:latin typeface="Times New Roman Regular" panose="02020503050405090304" charset="0"/>
                <a:ea typeface="思源黑体 CN Bold"/>
                <a:cs typeface="Times New Roman Regular" panose="02020503050405090304" charset="0"/>
              </a:rPr>
              <a:t>）</a:t>
            </a:r>
            <a:endParaRPr lang="en-US" altLang="zh-CN" sz="3600" i="0">
              <a:solidFill>
                <a:srgbClr val="482E2C"/>
              </a:solidFill>
              <a:latin typeface="Times New Roman Regular" panose="02020503050405090304" charset="0"/>
              <a:ea typeface="思源黑体 CN Bold"/>
              <a:cs typeface="Times New Roman Regular" panose="0202050305040509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TextBox 1"/>
          <p:cNvSpPr txBox="1"/>
          <p:nvPr/>
        </p:nvSpPr>
        <p:spPr>
          <a:xfrm>
            <a:off x="865631" y="889000"/>
            <a:ext cx="9997439" cy="581025"/>
          </a:xfrm>
          <a:prstGeom prst="rect">
            <a:avLst/>
          </a:prstGeom>
          <a:noFill/>
        </p:spPr>
        <p:txBody>
          <a:bodyPr wrap="square" lIns="0" tIns="0" rIns="0" bIns="0" anchor="t">
            <a:spAutoFit/>
          </a:bodyPr>
          <a:lstStyle/>
          <a:p>
            <a:pPr algn="l">
              <a:lnSpc>
                <a:spcPct val="105000"/>
              </a:lnSpc>
              <a:spcAft>
                <a:spcPts val="200"/>
              </a:spcAft>
            </a:pPr>
            <a:r>
              <a:rPr lang="en-US" altLang="zh-CN" sz="3600" i="0">
                <a:solidFill>
                  <a:srgbClr val="482E2C"/>
                </a:solidFill>
                <a:latin typeface="Times New Roman" panose="02020503050405090304" charset="0"/>
                <a:ea typeface="思源黑体 CN Bold"/>
                <a:cs typeface="Times New Roman" panose="02020503050405090304" charset="0"/>
              </a:rPr>
              <a:t>kernel sentences（</a:t>
            </a:r>
            <a:r>
              <a:rPr lang="zh-CN" altLang="en-US" sz="3600" i="0">
                <a:solidFill>
                  <a:srgbClr val="482E2C"/>
                </a:solidFill>
                <a:latin typeface="Times New Roman" panose="02020503050405090304" charset="0"/>
                <a:ea typeface="思源黑体 CN Bold"/>
                <a:cs typeface="Times New Roman" panose="02020503050405090304" charset="0"/>
              </a:rPr>
              <a:t>核心句） </a:t>
            </a:r>
            <a:r>
              <a:rPr lang="en-US" altLang="zh-CN" sz="3600" i="0">
                <a:solidFill>
                  <a:srgbClr val="482E2C"/>
                </a:solidFill>
                <a:latin typeface="Times New Roman" panose="02020503050405090304" charset="0"/>
                <a:ea typeface="思源黑体 CN Bold"/>
                <a:cs typeface="Times New Roman" panose="02020503050405090304" charset="0"/>
              </a:rPr>
              <a:t>        </a:t>
            </a:r>
            <a:r>
              <a:rPr lang="zh-CN" altLang="en-US" sz="3600" i="0">
                <a:solidFill>
                  <a:srgbClr val="482E2C"/>
                </a:solidFill>
                <a:latin typeface="Times New Roman" panose="02020503050405090304" charset="0"/>
                <a:ea typeface="思源黑体 CN Bold"/>
                <a:cs typeface="Times New Roman" panose="02020503050405090304" charset="0"/>
              </a:rPr>
              <a:t> </a:t>
            </a:r>
            <a:r>
              <a:rPr lang="en-US" altLang="zh-CN" sz="3600" i="0">
                <a:solidFill>
                  <a:srgbClr val="482E2C"/>
                </a:solidFill>
                <a:latin typeface="Times New Roman" panose="02020503050405090304" charset="0"/>
                <a:ea typeface="思源黑体 CN Bold"/>
                <a:cs typeface="Times New Roman" panose="02020503050405090304" charset="0"/>
              </a:rPr>
              <a:t>                        </a:t>
            </a:r>
            <a:endParaRPr lang="en-US" altLang="zh-CN" sz="3600" i="0">
              <a:solidFill>
                <a:srgbClr val="482E2C"/>
              </a:solidFill>
              <a:latin typeface="Times New Roman" panose="02020503050405090304" charset="0"/>
              <a:ea typeface="思源黑体 CN Bold"/>
              <a:cs typeface="Times New Roman" panose="02020503050405090304" charset="0"/>
            </a:endParaRPr>
          </a:p>
        </p:txBody>
      </p:sp>
      <p:sp>
        <p:nvSpPr>
          <p:cNvPr id="3" name="文本框 2"/>
          <p:cNvSpPr txBox="1"/>
          <p:nvPr/>
        </p:nvSpPr>
        <p:spPr>
          <a:xfrm>
            <a:off x="865505" y="1642745"/>
            <a:ext cx="11325860" cy="3281045"/>
          </a:xfrm>
          <a:prstGeom prst="rect">
            <a:avLst/>
          </a:prstGeom>
        </p:spPr>
        <p:txBody>
          <a:bodyPr>
            <a:noAutofit/>
          </a:bodyPr>
          <a:p>
            <a:pPr algn="l"/>
            <a:r>
              <a:rPr lang="en-US" altLang="zh-CN" sz="3200">
                <a:latin typeface="Times New Roman Regular" panose="02020503050405090304" charset="0"/>
                <a:cs typeface="Times New Roman Regular" panose="02020503050405090304" charset="0"/>
              </a:rPr>
              <a:t>“The kernel constructions in any language are the minimal number of structures from which the rest can be most efficiently and relevantly derived.”</a:t>
            </a:r>
            <a:r>
              <a:rPr lang="zh-CN" altLang="en-US" sz="3200">
                <a:latin typeface="Times New Roman Regular" panose="02020503050405090304" charset="0"/>
                <a:cs typeface="Times New Roman Regular" panose="02020503050405090304" charset="0"/>
              </a:rPr>
              <a:t>（</a:t>
            </a:r>
            <a:r>
              <a:rPr lang="en-US" altLang="zh-CN" sz="3200">
                <a:latin typeface="Times New Roman Regular" panose="02020503050405090304" charset="0"/>
                <a:cs typeface="Times New Roman Regular" panose="02020503050405090304" charset="0"/>
              </a:rPr>
              <a:t>Nida 1964: 66</a:t>
            </a:r>
            <a:r>
              <a:rPr lang="zh-CN" altLang="en-US" sz="3200">
                <a:latin typeface="Times New Roman Regular" panose="02020503050405090304" charset="0"/>
                <a:cs typeface="Times New Roman Regular" panose="02020503050405090304" charset="0"/>
              </a:rPr>
              <a:t>）</a:t>
            </a:r>
            <a:endParaRPr lang="zh-CN" altLang="en-US" sz="3200">
              <a:latin typeface="Times New Roman Regular" panose="02020503050405090304" charset="0"/>
              <a:cs typeface="Times New Roman Regular" panose="0202050305040509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nvGraphicFramePr>
        <p:xfrm>
          <a:off x="840740" y="1295400"/>
          <a:ext cx="10485120" cy="167640"/>
        </p:xfrm>
        <a:graphic>
          <a:graphicData uri="http://schemas.openxmlformats.org/drawingml/2006/table">
            <a:tbl>
              <a:tblPr/>
              <a:tblGrid>
                <a:gridCol w="3495040"/>
                <a:gridCol w="3495040"/>
                <a:gridCol w="3495040"/>
              </a:tblGrid>
              <a:tr h="0">
                <a:tc>
                  <a:txBody>
                    <a:bodyPr/>
                    <a:p>
                      <a:r>
                        <a:rPr lang="zh-CN" altLang="en-US" sz="2400"/>
                        <a:t>表层结构</a:t>
                      </a:r>
                      <a:endParaRPr lang="zh-CN" altLang="en-US" sz="2400"/>
                    </a:p>
                  </a:txBody>
                  <a:tcPr marL="0" marR="0" marT="0" marB="0" anchor="ctr" anchorCtr="0">
                    <a:lnL>
                      <a:noFill/>
                    </a:lnL>
                    <a:lnR>
                      <a:noFill/>
                    </a:lnR>
                    <a:lnT>
                      <a:noFill/>
                    </a:lnT>
                    <a:lnB>
                      <a:noFill/>
                    </a:lnB>
                    <a:noFill/>
                  </a:tcPr>
                </a:tc>
                <a:tc>
                  <a:txBody>
                    <a:bodyPr/>
                    <a:p>
                      <a:r>
                        <a:rPr lang="en-US" altLang="zh-CN" sz="2400"/>
                        <a:t>Kernel sentence</a:t>
                      </a:r>
                      <a:endParaRPr lang="en-US" altLang="zh-CN" sz="2400"/>
                    </a:p>
                  </a:txBody>
                  <a:tcPr marL="0" marR="0" marT="0" marB="0" anchor="ctr" anchorCtr="0">
                    <a:lnL>
                      <a:noFill/>
                    </a:lnL>
                    <a:lnR>
                      <a:noFill/>
                    </a:lnR>
                    <a:lnT>
                      <a:noFill/>
                    </a:lnT>
                    <a:lnB>
                      <a:noFill/>
                    </a:lnB>
                    <a:noFill/>
                  </a:tcPr>
                </a:tc>
                <a:tc>
                  <a:txBody>
                    <a:bodyPr/>
                    <a:p>
                      <a:r>
                        <a:rPr lang="zh-CN" altLang="en-US" sz="2400"/>
                        <a:t>深层关系</a:t>
                      </a:r>
                      <a:endParaRPr lang="zh-CN" altLang="en-US" sz="2400"/>
                    </a:p>
                  </a:txBody>
                  <a:tcPr marL="0" marR="0" marT="0" marB="0" anchor="ctr" anchorCtr="0">
                    <a:lnL>
                      <a:noFill/>
                    </a:lnL>
                    <a:lnR>
                      <a:noFill/>
                    </a:lnR>
                    <a:lnT>
                      <a:noFill/>
                    </a:lnT>
                    <a:lnB>
                      <a:noFill/>
                    </a:lnB>
                    <a:noFill/>
                  </a:tcPr>
                </a:tc>
              </a:tr>
              <a:tr h="0">
                <a:tc>
                  <a:txBody>
                    <a:bodyPr/>
                    <a:p>
                      <a:r>
                        <a:rPr lang="en-US" altLang="zh-CN" sz="2400"/>
                        <a:t>his car</a:t>
                      </a:r>
                      <a:endParaRPr lang="en-US" altLang="zh-CN" sz="2400"/>
                    </a:p>
                  </a:txBody>
                  <a:tcPr marL="0" marR="0" marT="0" marB="0" anchor="ctr" anchorCtr="0">
                    <a:lnL>
                      <a:noFill/>
                    </a:lnL>
                    <a:lnR>
                      <a:noFill/>
                    </a:lnR>
                    <a:lnT>
                      <a:noFill/>
                    </a:lnT>
                    <a:lnB>
                      <a:noFill/>
                    </a:lnB>
                    <a:noFill/>
                  </a:tcPr>
                </a:tc>
                <a:tc>
                  <a:txBody>
                    <a:bodyPr/>
                    <a:p>
                      <a:r>
                        <a:rPr lang="en-US" altLang="zh-CN" sz="2400"/>
                        <a:t>he has a car</a:t>
                      </a:r>
                      <a:endParaRPr lang="en-US" altLang="zh-CN" sz="2400"/>
                    </a:p>
                  </a:txBody>
                  <a:tcPr marL="0" marR="0" marT="0" marB="0" anchor="ctr" anchorCtr="0">
                    <a:lnL>
                      <a:noFill/>
                    </a:lnL>
                    <a:lnR>
                      <a:noFill/>
                    </a:lnR>
                    <a:lnT>
                      <a:noFill/>
                    </a:lnT>
                    <a:lnB>
                      <a:noFill/>
                    </a:lnB>
                    <a:noFill/>
                  </a:tcPr>
                </a:tc>
                <a:tc>
                  <a:txBody>
                    <a:bodyPr/>
                    <a:p>
                      <a:r>
                        <a:rPr lang="en-US" altLang="zh-CN" sz="2400"/>
                        <a:t>A possesses B</a:t>
                      </a:r>
                      <a:endParaRPr lang="en-US" altLang="zh-CN" sz="2400"/>
                    </a:p>
                  </a:txBody>
                  <a:tcPr marL="0" marR="0" marT="0" marB="0" anchor="ctr" anchorCtr="0">
                    <a:lnL>
                      <a:noFill/>
                    </a:lnL>
                    <a:lnR>
                      <a:noFill/>
                    </a:lnR>
                    <a:lnT>
                      <a:noFill/>
                    </a:lnT>
                    <a:lnB>
                      <a:noFill/>
                    </a:lnB>
                    <a:noFill/>
                  </a:tcPr>
                </a:tc>
              </a:tr>
              <a:tr h="167640">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r>
              <a:tr h="0">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r>
              <a:tr h="0">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r>
            </a:tbl>
          </a:graphicData>
        </a:graphic>
      </p:graphicFrame>
      <p:sp>
        <p:nvSpPr>
          <p:cNvPr id="6" name="文本框 5"/>
          <p:cNvSpPr txBox="1"/>
          <p:nvPr/>
        </p:nvSpPr>
        <p:spPr>
          <a:xfrm>
            <a:off x="840740" y="2529840"/>
            <a:ext cx="9997440" cy="345440"/>
          </a:xfrm>
          <a:prstGeom prst="rect">
            <a:avLst/>
          </a:prstGeom>
          <a:noFill/>
        </p:spPr>
        <p:txBody>
          <a:bodyPr wrap="square" rtlCol="0">
            <a:noAutofit/>
          </a:bodyPr>
          <a:p>
            <a:endParaRPr lang="zh-CN" altLang="en-US" sz="3200"/>
          </a:p>
          <a:p>
            <a:r>
              <a:rPr lang="zh-CN" altLang="en-US" sz="3200"/>
              <a:t>可还原为：</a:t>
            </a:r>
            <a:endParaRPr lang="zh-CN" altLang="en-US" sz="3200"/>
          </a:p>
          <a:p>
            <a:pPr algn="ctr"/>
            <a:endParaRPr lang="en-US" altLang="zh-CN" sz="3200"/>
          </a:p>
          <a:p>
            <a:pPr algn="ctr"/>
            <a:endParaRPr lang="en-US" altLang="zh-CN" sz="3200"/>
          </a:p>
          <a:p>
            <a:pPr algn="ctr"/>
            <a:r>
              <a:rPr lang="en-US" altLang="zh-CN" sz="3200"/>
              <a:t>he has a car + the car is fine</a:t>
            </a:r>
            <a:endParaRPr lang="en-US" altLang="zh-CN" sz="3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 name="TextBox 1"/>
          <p:cNvSpPr txBox="1"/>
          <p:nvPr/>
        </p:nvSpPr>
        <p:spPr>
          <a:xfrm>
            <a:off x="865631" y="889000"/>
            <a:ext cx="9997439" cy="1188720"/>
          </a:xfrm>
          <a:prstGeom prst="rect">
            <a:avLst/>
          </a:prstGeom>
          <a:noFill/>
        </p:spPr>
        <p:txBody>
          <a:bodyPr wrap="square" lIns="0" tIns="0" rIns="0" bIns="0" anchor="t">
            <a:spAutoFit/>
          </a:bodyPr>
          <a:lstStyle/>
          <a:p>
            <a:pPr algn="l">
              <a:lnSpc>
                <a:spcPct val="105000"/>
              </a:lnSpc>
              <a:spcAft>
                <a:spcPts val="200"/>
              </a:spcAft>
            </a:pPr>
            <a:r>
              <a:rPr lang="en-US" altLang="zh-CN" sz="3600">
                <a:solidFill>
                  <a:srgbClr val="482E2C"/>
                </a:solidFill>
                <a:latin typeface="Times New Roman" panose="02020503050405090304" charset="0"/>
                <a:ea typeface="思源黑体 CN Bold"/>
                <a:cs typeface="Times New Roman" panose="02020503050405090304" charset="0"/>
                <a:sym typeface="+mn-ea"/>
              </a:rPr>
              <a:t>componential analysis （</a:t>
            </a:r>
            <a:r>
              <a:rPr lang="zh-CN" altLang="en-US" sz="3600">
                <a:solidFill>
                  <a:srgbClr val="482E2C"/>
                </a:solidFill>
                <a:latin typeface="Times New Roman" panose="02020503050405090304" charset="0"/>
                <a:ea typeface="思源黑体 CN Bold"/>
                <a:cs typeface="Times New Roman" panose="02020503050405090304" charset="0"/>
                <a:sym typeface="+mn-ea"/>
              </a:rPr>
              <a:t>析词</a:t>
            </a:r>
            <a:r>
              <a:rPr lang="en-US" altLang="zh-CN" sz="3600">
                <a:solidFill>
                  <a:srgbClr val="482E2C"/>
                </a:solidFill>
                <a:latin typeface="Times New Roman" panose="02020503050405090304" charset="0"/>
                <a:ea typeface="思源黑体 CN Bold"/>
                <a:cs typeface="Times New Roman" panose="02020503050405090304" charset="0"/>
                <a:sym typeface="+mn-ea"/>
              </a:rPr>
              <a:t>）</a:t>
            </a:r>
            <a:endParaRPr lang="en-US" altLang="zh-CN" sz="3600" i="0">
              <a:solidFill>
                <a:srgbClr val="482E2C"/>
              </a:solidFill>
              <a:latin typeface="Times New Roman" panose="02020503050405090304" charset="0"/>
              <a:ea typeface="思源黑体 CN Bold"/>
              <a:cs typeface="Times New Roman" panose="02020503050405090304" charset="0"/>
            </a:endParaRPr>
          </a:p>
          <a:p>
            <a:pPr algn="l">
              <a:lnSpc>
                <a:spcPct val="105000"/>
              </a:lnSpc>
              <a:spcAft>
                <a:spcPts val="200"/>
              </a:spcAft>
            </a:pPr>
            <a:r>
              <a:rPr lang="zh-CN" altLang="en-US" sz="3600" i="0">
                <a:solidFill>
                  <a:srgbClr val="482E2C"/>
                </a:solidFill>
                <a:latin typeface="Times New Roman" panose="02020503050405090304" charset="0"/>
                <a:ea typeface="思源黑体 CN Bold"/>
                <a:cs typeface="Times New Roman" panose="02020503050405090304" charset="0"/>
              </a:rPr>
              <a:t> </a:t>
            </a:r>
            <a:r>
              <a:rPr lang="en-US" altLang="zh-CN" sz="3600" i="0">
                <a:solidFill>
                  <a:srgbClr val="482E2C"/>
                </a:solidFill>
                <a:latin typeface="Times New Roman" panose="02020503050405090304" charset="0"/>
                <a:ea typeface="思源黑体 CN Bold"/>
                <a:cs typeface="Times New Roman" panose="02020503050405090304" charset="0"/>
              </a:rPr>
              <a:t>        </a:t>
            </a:r>
            <a:r>
              <a:rPr lang="zh-CN" altLang="en-US" sz="3600" i="0">
                <a:solidFill>
                  <a:srgbClr val="482E2C"/>
                </a:solidFill>
                <a:latin typeface="Times New Roman" panose="02020503050405090304" charset="0"/>
                <a:ea typeface="思源黑体 CN Bold"/>
                <a:cs typeface="Times New Roman" panose="02020503050405090304" charset="0"/>
              </a:rPr>
              <a:t> </a:t>
            </a:r>
            <a:r>
              <a:rPr lang="en-US" altLang="zh-CN" sz="3600" i="0">
                <a:solidFill>
                  <a:srgbClr val="482E2C"/>
                </a:solidFill>
                <a:latin typeface="Times New Roman" panose="02020503050405090304" charset="0"/>
                <a:ea typeface="思源黑体 CN Bold"/>
                <a:cs typeface="Times New Roman" panose="02020503050405090304" charset="0"/>
              </a:rPr>
              <a:t>                        </a:t>
            </a:r>
            <a:endParaRPr lang="en-US" altLang="zh-CN" sz="3600" i="0">
              <a:solidFill>
                <a:srgbClr val="482E2C"/>
              </a:solidFill>
              <a:latin typeface="Times New Roman" panose="02020503050405090304" charset="0"/>
              <a:ea typeface="思源黑体 CN Bold"/>
              <a:cs typeface="Times New Roman" panose="02020503050405090304" charset="0"/>
            </a:endParaRPr>
          </a:p>
        </p:txBody>
      </p:sp>
      <p:sp>
        <p:nvSpPr>
          <p:cNvPr id="3" name="文本框 2"/>
          <p:cNvSpPr txBox="1"/>
          <p:nvPr/>
        </p:nvSpPr>
        <p:spPr>
          <a:xfrm>
            <a:off x="865505" y="1642745"/>
            <a:ext cx="11325860" cy="3281045"/>
          </a:xfrm>
          <a:prstGeom prst="rect">
            <a:avLst/>
          </a:prstGeom>
        </p:spPr>
        <p:txBody>
          <a:bodyPr>
            <a:noAutofit/>
          </a:bodyPr>
          <a:p>
            <a:pPr algn="l"/>
            <a:r>
              <a:rPr lang="en-US" altLang="zh-CN" sz="3200">
                <a:latin typeface="Times New Roman Regular" panose="02020503050405090304" charset="0"/>
                <a:cs typeface="Times New Roman Regular" panose="02020503050405090304" charset="0"/>
              </a:rPr>
              <a:t>Componential analysis may be employed to analyze the meaning of related series of words, provided that the relationships between terms are based on certain shared and contrastive features.”（Nida 1964: 82）</a:t>
            </a:r>
            <a:endParaRPr lang="en-US" altLang="zh-CN" sz="3200">
              <a:latin typeface="Times New Roman Regular" panose="02020503050405090304" charset="0"/>
              <a:cs typeface="Times New Roman Regular" panose="0202050305040509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54990" y="1228090"/>
            <a:ext cx="9458325" cy="3969385"/>
          </a:xfrm>
          <a:prstGeom prst="rect">
            <a:avLst/>
          </a:prstGeom>
          <a:noFill/>
        </p:spPr>
        <p:txBody>
          <a:bodyPr wrap="square" rtlCol="0">
            <a:spAutoFit/>
          </a:bodyPr>
          <a:p>
            <a:r>
              <a:rPr lang="zh-CN" altLang="en-US" sz="3600"/>
              <a:t>亲属称谓</a:t>
            </a:r>
            <a:r>
              <a:rPr lang="en-US" altLang="zh-CN" sz="3600"/>
              <a:t>：</a:t>
            </a:r>
            <a:endParaRPr lang="en-US" altLang="zh-CN" sz="3600"/>
          </a:p>
          <a:p>
            <a:r>
              <a:rPr lang="en-US" altLang="zh-CN" sz="3600"/>
              <a:t>Nida </a:t>
            </a:r>
            <a:r>
              <a:rPr lang="zh-CN" altLang="en-US" sz="3600"/>
              <a:t>使用的核心特征为</a:t>
            </a:r>
            <a:endParaRPr lang="zh-CN" altLang="en-US" sz="3600"/>
          </a:p>
          <a:p>
            <a:r>
              <a:rPr lang="en-US" altLang="zh-CN" sz="3600"/>
              <a:t>- sex：male / female</a:t>
            </a:r>
            <a:endParaRPr lang="en-US" altLang="zh-CN" sz="3600"/>
          </a:p>
          <a:p>
            <a:r>
              <a:rPr lang="en-US" altLang="zh-CN" sz="3600"/>
              <a:t>- generation：</a:t>
            </a:r>
            <a:r>
              <a:rPr lang="zh-CN" altLang="en-US" sz="3600"/>
              <a:t>上一代、同代、下一代</a:t>
            </a:r>
            <a:endParaRPr lang="zh-CN" altLang="en-US" sz="3600"/>
          </a:p>
          <a:p>
            <a:r>
              <a:rPr lang="en-US" altLang="zh-CN" sz="3600"/>
              <a:t>- lineality：</a:t>
            </a:r>
            <a:r>
              <a:rPr lang="zh-CN" altLang="en-US" sz="3600"/>
              <a:t>直系 / 旁系</a:t>
            </a:r>
            <a:endParaRPr lang="zh-CN" altLang="en-US" sz="3600"/>
          </a:p>
          <a:p>
            <a:endParaRPr lang="zh-CN" altLang="en-US" sz="3600"/>
          </a:p>
          <a:p>
            <a:pPr algn="ctr"/>
            <a:r>
              <a:rPr lang="en-US" altLang="zh-CN" sz="3600"/>
              <a:t>bachelor = male + adult + unmarried</a:t>
            </a:r>
            <a:endParaRPr lang="en-US" altLang="zh-CN" sz="3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2442787" cy="345721"/>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zh-CN"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4330132" y="2881138"/>
            <a:ext cx="3531736" cy="646331"/>
          </a:xfrm>
          <a:prstGeom prst="rect">
            <a:avLst/>
          </a:prstGeom>
          <a:noFill/>
        </p:spPr>
        <p:txBody>
          <a:bodyPr wrap="none" rtlCol="0">
            <a:spAutoFit/>
          </a:bodyPr>
          <a:lstStyle/>
          <a:p>
            <a:pPr marL="571500" indent="-571500">
              <a:buFont typeface="Wingdings" panose="05000000000000000000" pitchFamily="2" charset="2"/>
              <a:buChar char="u"/>
            </a:pPr>
            <a:r>
              <a:rPr lang="zh-CN" altLang="en-US" sz="3600" dirty="0">
                <a:solidFill>
                  <a:schemeClr val="tx1">
                    <a:lumMod val="75000"/>
                    <a:lumOff val="25000"/>
                  </a:schemeClr>
                </a:solidFill>
                <a:latin typeface="微软雅黑" charset="-122"/>
                <a:ea typeface="微软雅黑" charset="-122"/>
              </a:rPr>
              <a:t>新旧版本比较</a:t>
            </a:r>
            <a:endParaRPr lang="zh-CN" altLang="en-US" sz="3600" dirty="0">
              <a:solidFill>
                <a:schemeClr val="tx1">
                  <a:lumMod val="75000"/>
                  <a:lumOff val="25000"/>
                </a:schemeClr>
              </a:solidFill>
              <a:latin typeface="微软雅黑" charset="-122"/>
              <a:ea typeface="微软雅黑" charset="-122"/>
            </a:endParaRPr>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2442787" cy="345721"/>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r>
                <a:rPr lang="zh-CN" altLang="zh-CN" sz="1600" b="1" dirty="0">
                  <a:solidFill>
                    <a:schemeClr val="tx1"/>
                  </a:solidFill>
                  <a:latin typeface="微软雅黑"/>
                  <a:ea typeface="微软雅黑"/>
                </a:rPr>
                <a:t>经文实例对比分析</a:t>
              </a:r>
              <a:endParaRPr lang="zh-CN" altLang="zh-CN"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graphicFrame>
        <p:nvGraphicFramePr>
          <p:cNvPr id="32" name="表格 31"/>
          <p:cNvGraphicFramePr>
            <a:graphicFrameLocks noGrp="1"/>
          </p:cNvGraphicFramePr>
          <p:nvPr/>
        </p:nvGraphicFramePr>
        <p:xfrm>
          <a:off x="2134031" y="1868845"/>
          <a:ext cx="8128000" cy="3388360"/>
        </p:xfrm>
        <a:graphic>
          <a:graphicData uri="http://schemas.openxmlformats.org/drawingml/2006/table">
            <a:tbl>
              <a:tblPr firstRow="1" bandRow="1">
                <a:tableStyleId>{5C22544A-7EE6-4342-B048-85BDC9FD1C3A}</a:tableStyleId>
              </a:tblPr>
              <a:tblGrid>
                <a:gridCol w="4064000"/>
                <a:gridCol w="4064000"/>
              </a:tblGrid>
              <a:tr h="370840">
                <a:tc>
                  <a:txBody>
                    <a:bodyPr/>
                    <a:lstStyle/>
                    <a:p>
                      <a:pPr algn="ctr"/>
                      <a:r>
                        <a:rPr lang="en-US" altLang="zh-CN" sz="1800" b="1" kern="1200" dirty="0">
                          <a:solidFill>
                            <a:schemeClr val="lt1"/>
                          </a:solidFill>
                          <a:effectLst/>
                          <a:latin typeface="+mn-lt"/>
                          <a:ea typeface="+mn-ea"/>
                          <a:cs typeface="+mn-cs"/>
                          <a:hlinkClick r:id="rId1" action="ppaction://hlinksldjump"/>
                        </a:rPr>
                        <a:t>KJV/ASV</a:t>
                      </a:r>
                      <a:r>
                        <a:rPr lang="zh-CN" altLang="en-US" dirty="0">
                          <a:hlinkClick r:id="rId1" action="ppaction://hlinksldjump"/>
                        </a:rPr>
                        <a:t>版本</a:t>
                      </a:r>
                      <a:endParaRPr lang="zh-CN" altLang="en-US" dirty="0"/>
                    </a:p>
                  </a:txBody>
                  <a:tcPr/>
                </a:tc>
                <a:tc>
                  <a:txBody>
                    <a:bodyPr/>
                    <a:lstStyle/>
                    <a:p>
                      <a:pPr algn="ctr"/>
                      <a:r>
                        <a:rPr lang="en-US" altLang="zh-CN" dirty="0">
                          <a:hlinkClick r:id=""/>
                        </a:rPr>
                        <a:t>TEV</a:t>
                      </a:r>
                      <a:r>
                        <a:rPr lang="zh-CN" altLang="en-US" dirty="0">
                          <a:hlinkClick r:id=""/>
                        </a:rPr>
                        <a:t>版本</a:t>
                      </a:r>
                      <a:endParaRPr lang="zh-CN" altLang="en-US" dirty="0"/>
                    </a:p>
                  </a:txBody>
                  <a:tcPr/>
                </a:tc>
              </a:tr>
              <a:tr h="370840">
                <a:tc>
                  <a:txBody>
                    <a:bodyPr/>
                    <a:lstStyle/>
                    <a:p>
                      <a:pPr algn="ctr"/>
                      <a:r>
                        <a:rPr lang="en-US" altLang="zh-CN" sz="1800" kern="1200" dirty="0">
                          <a:solidFill>
                            <a:schemeClr val="dk1"/>
                          </a:solidFill>
                          <a:effectLst/>
                          <a:latin typeface="+mn-lt"/>
                          <a:ea typeface="+mn-ea"/>
                          <a:cs typeface="+mn-cs"/>
                        </a:rPr>
                        <a:t>"And the </a:t>
                      </a:r>
                      <a:r>
                        <a:rPr lang="en-US" altLang="zh-CN" sz="1800" b="1" kern="1200" dirty="0">
                          <a:solidFill>
                            <a:schemeClr val="dk1"/>
                          </a:solidFill>
                          <a:effectLst/>
                          <a:latin typeface="+mn-lt"/>
                          <a:ea typeface="+mn-ea"/>
                          <a:cs typeface="+mn-cs"/>
                        </a:rPr>
                        <a:t>publican</a:t>
                      </a:r>
                      <a:r>
                        <a:rPr lang="en-US" altLang="zh-CN" sz="1800" kern="1200" dirty="0">
                          <a:solidFill>
                            <a:schemeClr val="dk1"/>
                          </a:solidFill>
                          <a:effectLst/>
                          <a:latin typeface="+mn-lt"/>
                          <a:ea typeface="+mn-ea"/>
                          <a:cs typeface="+mn-cs"/>
                        </a:rPr>
                        <a:t>, standing afar off, would not lift up so much as his eyes unto heaven, but smote upon his breast, saying, God be merciful to me a sinner."</a:t>
                      </a:r>
                      <a:endParaRPr lang="zh-CN" altLang="en-US" dirty="0"/>
                    </a:p>
                  </a:txBody>
                  <a:tcPr/>
                </a:tc>
                <a:tc>
                  <a:txBody>
                    <a:bodyPr/>
                    <a:lstStyle/>
                    <a:p>
                      <a:pPr algn="ctr"/>
                      <a:r>
                        <a:rPr lang="en-US" altLang="zh-CN" sz="1800" kern="1200" dirty="0">
                          <a:solidFill>
                            <a:schemeClr val="dk1"/>
                          </a:solidFill>
                          <a:effectLst/>
                          <a:latin typeface="+mn-lt"/>
                          <a:ea typeface="+mn-ea"/>
                          <a:cs typeface="+mn-cs"/>
                        </a:rPr>
                        <a:t>"But the </a:t>
                      </a:r>
                      <a:r>
                        <a:rPr lang="en-US" altLang="zh-CN" sz="1800" b="1" kern="1200" dirty="0">
                          <a:solidFill>
                            <a:schemeClr val="dk1"/>
                          </a:solidFill>
                          <a:effectLst/>
                          <a:latin typeface="+mn-lt"/>
                          <a:ea typeface="+mn-ea"/>
                          <a:cs typeface="+mn-cs"/>
                        </a:rPr>
                        <a:t>tax collector </a:t>
                      </a:r>
                      <a:r>
                        <a:rPr lang="en-US" altLang="zh-CN" sz="1800" kern="1200" dirty="0">
                          <a:solidFill>
                            <a:schemeClr val="dk1"/>
                          </a:solidFill>
                          <a:effectLst/>
                          <a:latin typeface="+mn-lt"/>
                          <a:ea typeface="+mn-ea"/>
                          <a:cs typeface="+mn-cs"/>
                        </a:rPr>
                        <a:t>stood at a distance and would not even raise his face to heaven, but beat on his breast and said, ‘God, have pity on me, a sinner!’"</a:t>
                      </a:r>
                      <a:endParaRPr lang="zh-CN" altLang="en-US" dirty="0"/>
                    </a:p>
                  </a:txBody>
                  <a:tcPr/>
                </a:tc>
              </a:tr>
              <a:tr h="370840">
                <a:tc>
                  <a:txBody>
                    <a:bodyPr/>
                    <a:lstStyle/>
                    <a:p>
                      <a:pPr algn="ctr"/>
                      <a:r>
                        <a:rPr lang="en-US" altLang="zh-CN" sz="1800" kern="1200" dirty="0">
                          <a:solidFill>
                            <a:schemeClr val="dk1"/>
                          </a:solidFill>
                          <a:effectLst/>
                          <a:latin typeface="+mn-lt"/>
                          <a:ea typeface="+mn-ea"/>
                          <a:cs typeface="+mn-cs"/>
                        </a:rPr>
                        <a:t>"But the unbelieving Jews stirred up the Gentiles, and </a:t>
                      </a:r>
                      <a:r>
                        <a:rPr lang="en-US" altLang="zh-CN" sz="1800" b="1" kern="1200" dirty="0">
                          <a:solidFill>
                            <a:schemeClr val="dk1"/>
                          </a:solidFill>
                          <a:effectLst/>
                          <a:latin typeface="+mn-lt"/>
                          <a:ea typeface="+mn-ea"/>
                          <a:cs typeface="+mn-cs"/>
                        </a:rPr>
                        <a:t>evil affected</a:t>
                      </a:r>
                      <a:r>
                        <a:rPr lang="en-US" altLang="zh-CN" sz="1800" kern="1200" dirty="0">
                          <a:solidFill>
                            <a:schemeClr val="dk1"/>
                          </a:solidFill>
                          <a:effectLst/>
                          <a:latin typeface="+mn-lt"/>
                          <a:ea typeface="+mn-ea"/>
                          <a:cs typeface="+mn-cs"/>
                        </a:rPr>
                        <a:t> their minds against the brethren."</a:t>
                      </a:r>
                      <a:endParaRPr lang="zh-CN" altLang="en-US" dirty="0"/>
                    </a:p>
                  </a:txBody>
                  <a:tcPr/>
                </a:tc>
                <a:tc>
                  <a:txBody>
                    <a:bodyPr/>
                    <a:lstStyle/>
                    <a:p>
                      <a:pPr algn="ctr"/>
                      <a:r>
                        <a:rPr lang="en-US" altLang="zh-CN" sz="1800" kern="1200" dirty="0">
                          <a:solidFill>
                            <a:schemeClr val="dk1"/>
                          </a:solidFill>
                          <a:effectLst/>
                          <a:latin typeface="+mn-lt"/>
                          <a:ea typeface="+mn-ea"/>
                          <a:cs typeface="+mn-cs"/>
                        </a:rPr>
                        <a:t>"But the Jews who did not believe stirred up the Gentiles and </a:t>
                      </a:r>
                      <a:r>
                        <a:rPr lang="en-US" altLang="zh-CN" sz="1800" b="1" kern="1200" dirty="0">
                          <a:solidFill>
                            <a:schemeClr val="dk1"/>
                          </a:solidFill>
                          <a:effectLst/>
                          <a:latin typeface="+mn-lt"/>
                          <a:ea typeface="+mn-ea"/>
                          <a:cs typeface="+mn-cs"/>
                        </a:rPr>
                        <a:t>turned</a:t>
                      </a:r>
                      <a:r>
                        <a:rPr lang="en-US" altLang="zh-CN" sz="1800" kern="1200" dirty="0">
                          <a:solidFill>
                            <a:schemeClr val="dk1"/>
                          </a:solidFill>
                          <a:effectLst/>
                          <a:latin typeface="+mn-lt"/>
                          <a:ea typeface="+mn-ea"/>
                          <a:cs typeface="+mn-cs"/>
                        </a:rPr>
                        <a:t> them against the brothers."</a:t>
                      </a:r>
                      <a:endParaRPr lang="zh-CN" altLang="en-US" dirty="0"/>
                    </a:p>
                  </a:txBody>
                  <a:tcPr/>
                </a:tc>
              </a:tr>
              <a:tr h="370840">
                <a:tc>
                  <a:txBody>
                    <a:bodyPr/>
                    <a:lstStyle/>
                    <a:p>
                      <a:pPr algn="ctr"/>
                      <a:r>
                        <a:rPr lang="en-US" altLang="zh-CN" sz="1800" kern="1200" dirty="0">
                          <a:solidFill>
                            <a:schemeClr val="dk1"/>
                          </a:solidFill>
                          <a:effectLst/>
                          <a:latin typeface="+mn-lt"/>
                          <a:ea typeface="+mn-ea"/>
                          <a:cs typeface="+mn-cs"/>
                        </a:rPr>
                        <a:t>"But the multitude of the city was divided: and part </a:t>
                      </a:r>
                      <a:r>
                        <a:rPr lang="en-US" altLang="zh-CN" sz="1800" b="1" kern="1200" dirty="0">
                          <a:solidFill>
                            <a:schemeClr val="dk1"/>
                          </a:solidFill>
                          <a:effectLst/>
                          <a:latin typeface="+mn-lt"/>
                          <a:ea typeface="+mn-ea"/>
                          <a:cs typeface="+mn-cs"/>
                        </a:rPr>
                        <a:t>held with</a:t>
                      </a:r>
                      <a:r>
                        <a:rPr lang="en-US" altLang="zh-CN" sz="1800" kern="1200" dirty="0">
                          <a:solidFill>
                            <a:schemeClr val="dk1"/>
                          </a:solidFill>
                          <a:effectLst/>
                          <a:latin typeface="+mn-lt"/>
                          <a:ea typeface="+mn-ea"/>
                          <a:cs typeface="+mn-cs"/>
                        </a:rPr>
                        <a:t> the Jews, and part with the apostles."</a:t>
                      </a:r>
                      <a:endParaRPr lang="zh-CN" altLang="en-US" dirty="0"/>
                    </a:p>
                  </a:txBody>
                  <a:tcPr/>
                </a:tc>
                <a:tc>
                  <a:txBody>
                    <a:bodyPr/>
                    <a:lstStyle/>
                    <a:p>
                      <a:pPr algn="ctr"/>
                      <a:r>
                        <a:rPr lang="en-US" altLang="zh-CN" sz="1800" kern="1200" dirty="0">
                          <a:solidFill>
                            <a:schemeClr val="dk1"/>
                          </a:solidFill>
                          <a:effectLst/>
                          <a:latin typeface="+mn-lt"/>
                          <a:ea typeface="+mn-ea"/>
                          <a:cs typeface="+mn-cs"/>
                        </a:rPr>
                        <a:t>"The people of the city were divided; some </a:t>
                      </a:r>
                      <a:r>
                        <a:rPr lang="en-US" altLang="zh-CN" sz="1800" b="1" kern="1200" dirty="0">
                          <a:solidFill>
                            <a:schemeClr val="dk1"/>
                          </a:solidFill>
                          <a:effectLst/>
                          <a:latin typeface="+mn-lt"/>
                          <a:ea typeface="+mn-ea"/>
                          <a:cs typeface="+mn-cs"/>
                        </a:rPr>
                        <a:t>sided with</a:t>
                      </a:r>
                      <a:r>
                        <a:rPr lang="en-US" altLang="zh-CN" sz="1800" kern="1200" dirty="0">
                          <a:solidFill>
                            <a:schemeClr val="dk1"/>
                          </a:solidFill>
                          <a:effectLst/>
                          <a:latin typeface="+mn-lt"/>
                          <a:ea typeface="+mn-ea"/>
                          <a:cs typeface="+mn-cs"/>
                        </a:rPr>
                        <a:t> the Jews and some with the apostles."</a:t>
                      </a:r>
                      <a:endParaRPr lang="zh-CN" altLang="en-US" dirty="0"/>
                    </a:p>
                  </a:txBody>
                  <a:tcPr/>
                </a:tc>
              </a:tr>
            </a:tbl>
          </a:graphicData>
        </a:graphic>
      </p:graphicFrame>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2442787" cy="345721"/>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r>
                <a:rPr lang="zh-CN" altLang="en-US" sz="1600" b="1" dirty="0">
                  <a:solidFill>
                    <a:schemeClr val="tx1"/>
                  </a:solidFill>
                  <a:latin typeface="微软雅黑"/>
                  <a:ea typeface="微软雅黑"/>
                </a:rPr>
                <a:t>核心翻译原则对比</a:t>
              </a:r>
              <a:endParaRPr lang="zh-CN" altLang="zh-CN"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graphicFrame>
        <p:nvGraphicFramePr>
          <p:cNvPr id="2" name="表格 1"/>
          <p:cNvGraphicFramePr>
            <a:graphicFrameLocks noGrp="1"/>
          </p:cNvGraphicFramePr>
          <p:nvPr/>
        </p:nvGraphicFramePr>
        <p:xfrm>
          <a:off x="2084295" y="1819839"/>
          <a:ext cx="8260975" cy="3989291"/>
        </p:xfrm>
        <a:graphic>
          <a:graphicData uri="http://schemas.openxmlformats.org/drawingml/2006/table">
            <a:tbl>
              <a:tblPr firstRow="1" firstCol="1" bandRow="1">
                <a:tableStyleId>{5C22544A-7EE6-4342-B048-85BDC9FD1C3A}</a:tableStyleId>
              </a:tblPr>
              <a:tblGrid>
                <a:gridCol w="1314863"/>
                <a:gridCol w="3249441"/>
                <a:gridCol w="45766"/>
                <a:gridCol w="3650905"/>
              </a:tblGrid>
              <a:tr h="269357">
                <a:tc>
                  <a:txBody>
                    <a:bodyPr/>
                    <a:lstStyle/>
                    <a:p>
                      <a:pPr algn="ctr">
                        <a:lnSpc>
                          <a:spcPct val="115000"/>
                        </a:lnSpc>
                        <a:buNone/>
                      </a:pPr>
                      <a:r>
                        <a:rPr lang="zh-CN" sz="1200" kern="100" dirty="0">
                          <a:effectLst/>
                          <a:latin typeface="微软雅黑" charset="-122"/>
                          <a:ea typeface="微软雅黑" charset="-122"/>
                        </a:rPr>
                        <a:t>对比维度</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r>
                        <a:rPr lang="zh-CN" sz="1200" kern="100" dirty="0">
                          <a:effectLst/>
                          <a:latin typeface="微软雅黑" charset="-122"/>
                          <a:ea typeface="微软雅黑" charset="-122"/>
                        </a:rPr>
                        <a:t>前人译本</a:t>
                      </a:r>
                      <a:r>
                        <a:rPr lang="en-US" sz="1200" kern="100" dirty="0">
                          <a:effectLst/>
                          <a:latin typeface="微软雅黑" charset="-122"/>
                          <a:ea typeface="微软雅黑" charset="-122"/>
                        </a:rPr>
                        <a:t> (</a:t>
                      </a:r>
                      <a:r>
                        <a:rPr lang="zh-CN" sz="1200" kern="100" dirty="0">
                          <a:effectLst/>
                          <a:latin typeface="微软雅黑" charset="-122"/>
                          <a:ea typeface="微软雅黑" charset="-122"/>
                        </a:rPr>
                        <a:t>如</a:t>
                      </a:r>
                      <a:r>
                        <a:rPr lang="en-US" sz="1200" kern="100" dirty="0">
                          <a:effectLst/>
                          <a:latin typeface="微软雅黑" charset="-122"/>
                          <a:ea typeface="微软雅黑" charset="-122"/>
                        </a:rPr>
                        <a:t> KJV, RSV)</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r>
                        <a:rPr lang="zh-CN" sz="1200" kern="100" dirty="0">
                          <a:effectLst/>
                          <a:latin typeface="微软雅黑" charset="-122"/>
                          <a:ea typeface="微软雅黑" charset="-122"/>
                        </a:rPr>
                        <a:t>奈达译本</a:t>
                      </a:r>
                      <a:r>
                        <a:rPr lang="en-US" sz="1200" kern="100" dirty="0">
                          <a:effectLst/>
                          <a:latin typeface="微软雅黑" charset="-122"/>
                          <a:ea typeface="微软雅黑" charset="-122"/>
                        </a:rPr>
                        <a:t> (TEV/GNT)</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r>
              <a:tr h="1062109">
                <a:tc>
                  <a:txBody>
                    <a:bodyPr/>
                    <a:lstStyle/>
                    <a:p>
                      <a:pPr algn="ctr">
                        <a:lnSpc>
                          <a:spcPct val="115000"/>
                        </a:lnSpc>
                        <a:buNone/>
                      </a:pPr>
                      <a:r>
                        <a:rPr lang="zh-CN" sz="1200" kern="100" dirty="0">
                          <a:effectLst/>
                          <a:latin typeface="微软雅黑" charset="-122"/>
                          <a:ea typeface="微软雅黑" charset="-122"/>
                        </a:rPr>
                        <a:t>翻译哲学</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r>
                        <a:rPr lang="zh-CN" altLang="en-US" sz="1200" kern="100" dirty="0">
                          <a:effectLst/>
                          <a:latin typeface="微软雅黑" charset="-122"/>
                          <a:ea typeface="微软雅黑" charset="-122"/>
                        </a:rPr>
                        <a:t>直译（</a:t>
                      </a:r>
                      <a:r>
                        <a:rPr lang="en-US" altLang="zh-CN" sz="1200" kern="100" dirty="0">
                          <a:effectLst/>
                          <a:latin typeface="微软雅黑" charset="-122"/>
                          <a:ea typeface="微软雅黑" charset="-122"/>
                        </a:rPr>
                        <a:t>literal translation</a:t>
                      </a:r>
                      <a:r>
                        <a:rPr lang="zh-CN" altLang="en-US" sz="1200" kern="100" dirty="0">
                          <a:effectLst/>
                          <a:latin typeface="微软雅黑" charset="-122"/>
                          <a:ea typeface="微软雅黑" charset="-122"/>
                        </a:rPr>
                        <a:t>）</a:t>
                      </a:r>
                      <a:r>
                        <a:rPr lang="zh-CN" sz="1200" kern="100" dirty="0">
                          <a:effectLst/>
                          <a:latin typeface="微软雅黑" charset="-122"/>
                          <a:ea typeface="微软雅黑" charset="-122"/>
                        </a:rPr>
                        <a:t>：力求保留源语的词语细节和语法结构，强调</a:t>
                      </a:r>
                      <a:r>
                        <a:rPr lang="en-US" sz="1200" kern="100" dirty="0">
                          <a:effectLst/>
                          <a:latin typeface="微软雅黑" charset="-122"/>
                          <a:ea typeface="微软雅黑" charset="-122"/>
                        </a:rPr>
                        <a:t>“</a:t>
                      </a:r>
                      <a:r>
                        <a:rPr lang="zh-CN" sz="1200" kern="100" dirty="0">
                          <a:effectLst/>
                          <a:latin typeface="微软雅黑" charset="-122"/>
                          <a:ea typeface="微软雅黑" charset="-122"/>
                        </a:rPr>
                        <a:t>字词保真</a:t>
                      </a:r>
                      <a:r>
                        <a:rPr lang="en-US" sz="1200" kern="100" dirty="0">
                          <a:effectLst/>
                          <a:latin typeface="微软雅黑" charset="-122"/>
                          <a:ea typeface="微软雅黑" charset="-122"/>
                        </a:rPr>
                        <a:t>”</a:t>
                      </a:r>
                      <a:r>
                        <a:rPr lang="zh-CN" sz="1200" kern="100" dirty="0">
                          <a:effectLst/>
                          <a:latin typeface="微软雅黑" charset="-122"/>
                          <a:ea typeface="微软雅黑" charset="-122"/>
                        </a:rPr>
                        <a:t>。</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r>
                        <a:rPr lang="en-US" altLang="zh-CN" sz="1200" kern="100" dirty="0">
                          <a:effectLst/>
                          <a:latin typeface="微软雅黑" charset="-122"/>
                          <a:ea typeface="微软雅黑" charset="-122"/>
                        </a:rPr>
                        <a:t> </a:t>
                      </a:r>
                      <a:endParaRPr lang="en-US" altLang="zh-CN" sz="1200" kern="100" dirty="0">
                        <a:effectLst/>
                        <a:latin typeface="微软雅黑" charset="-122"/>
                        <a:ea typeface="微软雅黑" charset="-122"/>
                      </a:endParaRPr>
                    </a:p>
                    <a:p>
                      <a:pPr algn="ctr">
                        <a:lnSpc>
                          <a:spcPct val="115000"/>
                        </a:lnSpc>
                        <a:buNone/>
                      </a:pPr>
                      <a:r>
                        <a:rPr lang="en-US" altLang="zh-CN" sz="1200" kern="100" dirty="0">
                          <a:effectLst/>
                          <a:latin typeface="微软雅黑" charset="-122"/>
                          <a:ea typeface="微软雅黑" charset="-122"/>
                        </a:rPr>
                        <a:t> </a:t>
                      </a:r>
                      <a:r>
                        <a:rPr lang="zh-CN" sz="1200" kern="100" dirty="0">
                          <a:effectLst/>
                          <a:latin typeface="微软雅黑" charset="-122"/>
                          <a:ea typeface="微软雅黑" charset="-122"/>
                        </a:rPr>
                        <a:t>动态对等</a:t>
                      </a:r>
                      <a:r>
                        <a:rPr lang="en-US" sz="1200" kern="100" dirty="0">
                          <a:effectLst/>
                          <a:latin typeface="微软雅黑" charset="-122"/>
                          <a:ea typeface="微软雅黑" charset="-122"/>
                        </a:rPr>
                        <a:t> (Dynamic Equivalence) </a:t>
                      </a:r>
                      <a:r>
                        <a:rPr lang="en-US" altLang="zh-CN" sz="1200" dirty="0"/>
                        <a:t>(Nida, 1964, p. 159) </a:t>
                      </a:r>
                      <a:r>
                        <a:rPr lang="zh-CN" sz="1200" kern="100" dirty="0">
                          <a:effectLst/>
                          <a:latin typeface="微软雅黑" charset="-122"/>
                          <a:ea typeface="微软雅黑" charset="-122"/>
                        </a:rPr>
                        <a:t>：强调用自然的目标语言表达源语的意思，注重</a:t>
                      </a:r>
                      <a:r>
                        <a:rPr lang="en-US" sz="1200" kern="100" dirty="0">
                          <a:effectLst/>
                          <a:latin typeface="微软雅黑" charset="-122"/>
                          <a:ea typeface="微软雅黑" charset="-122"/>
                        </a:rPr>
                        <a:t>“</a:t>
                      </a:r>
                      <a:r>
                        <a:rPr lang="zh-CN" sz="1200" kern="100" dirty="0">
                          <a:effectLst/>
                          <a:latin typeface="微软雅黑" charset="-122"/>
                          <a:ea typeface="微软雅黑" charset="-122"/>
                        </a:rPr>
                        <a:t>意义对意义</a:t>
                      </a:r>
                      <a:r>
                        <a:rPr lang="en-US" sz="1200" kern="100" dirty="0">
                          <a:effectLst/>
                          <a:latin typeface="微软雅黑" charset="-122"/>
                          <a:ea typeface="微软雅黑" charset="-122"/>
                        </a:rPr>
                        <a:t>”</a:t>
                      </a:r>
                      <a:r>
                        <a:rPr lang="zh-CN" sz="1200" kern="100" dirty="0">
                          <a:effectLst/>
                          <a:latin typeface="微软雅黑" charset="-122"/>
                          <a:ea typeface="微软雅黑" charset="-122"/>
                        </a:rPr>
                        <a:t>，以读者的反应为评判标准。</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r>
              <a:tr h="797858">
                <a:tc>
                  <a:txBody>
                    <a:bodyPr/>
                    <a:lstStyle/>
                    <a:p>
                      <a:pPr algn="ctr">
                        <a:lnSpc>
                          <a:spcPct val="115000"/>
                        </a:lnSpc>
                        <a:buNone/>
                      </a:pPr>
                      <a:r>
                        <a:rPr lang="zh-CN" sz="1200" kern="100" dirty="0">
                          <a:effectLst/>
                          <a:latin typeface="微软雅黑" charset="-122"/>
                          <a:ea typeface="微软雅黑" charset="-122"/>
                        </a:rPr>
                        <a:t>语言风格</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endParaRPr lang="en-US" altLang="zh-CN" sz="1200" kern="100" dirty="0">
                        <a:effectLst/>
                        <a:latin typeface="微软雅黑" charset="-122"/>
                        <a:ea typeface="微软雅黑" charset="-122"/>
                      </a:endParaRPr>
                    </a:p>
                    <a:p>
                      <a:pPr algn="ctr">
                        <a:lnSpc>
                          <a:spcPct val="115000"/>
                        </a:lnSpc>
                        <a:buNone/>
                      </a:pPr>
                      <a:r>
                        <a:rPr lang="zh-CN" sz="1200" kern="100" dirty="0">
                          <a:effectLst/>
                          <a:latin typeface="微软雅黑" charset="-122"/>
                          <a:ea typeface="微软雅黑" charset="-122"/>
                        </a:rPr>
                        <a:t>使用古典或较正式的英语，风格庄重，部分表达已显古旧。</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r>
                        <a:rPr lang="en-US" altLang="zh-CN" sz="1200" kern="100" dirty="0">
                          <a:effectLst/>
                          <a:latin typeface="微软雅黑" charset="-122"/>
                          <a:ea typeface="微软雅黑" charset="-122"/>
                        </a:rPr>
                        <a:t> </a:t>
                      </a:r>
                      <a:r>
                        <a:rPr lang="zh-CN" sz="1200" kern="100" dirty="0">
                          <a:effectLst/>
                          <a:latin typeface="微软雅黑" charset="-122"/>
                          <a:ea typeface="微软雅黑" charset="-122"/>
                        </a:rPr>
                        <a:t>使用流利的现代口语，旨在让当代读者轻松理解。</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r>
              <a:tr h="797858">
                <a:tc>
                  <a:txBody>
                    <a:bodyPr/>
                    <a:lstStyle/>
                    <a:p>
                      <a:pPr algn="ctr">
                        <a:lnSpc>
                          <a:spcPct val="115000"/>
                        </a:lnSpc>
                        <a:buNone/>
                      </a:pPr>
                      <a:r>
                        <a:rPr lang="zh-CN" sz="1200" kern="100" dirty="0">
                          <a:effectLst/>
                          <a:latin typeface="微软雅黑" charset="-122"/>
                          <a:ea typeface="微软雅黑" charset="-122"/>
                        </a:rPr>
                        <a:t>文本底本</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endParaRPr lang="en-US" sz="1200" kern="100" dirty="0">
                        <a:effectLst/>
                        <a:latin typeface="微软雅黑" charset="-122"/>
                        <a:ea typeface="微软雅黑" charset="-122"/>
                      </a:endParaRPr>
                    </a:p>
                    <a:p>
                      <a:pPr algn="ctr">
                        <a:lnSpc>
                          <a:spcPct val="115000"/>
                        </a:lnSpc>
                        <a:buNone/>
                      </a:pPr>
                      <a:r>
                        <a:rPr lang="en-US" sz="1200" kern="100" dirty="0">
                          <a:effectLst/>
                          <a:latin typeface="微软雅黑" charset="-122"/>
                          <a:ea typeface="微软雅黑" charset="-122"/>
                        </a:rPr>
                        <a:t>KJV </a:t>
                      </a:r>
                      <a:r>
                        <a:rPr lang="zh-CN" sz="1200" kern="100" dirty="0">
                          <a:effectLst/>
                          <a:latin typeface="微软雅黑" charset="-122"/>
                          <a:ea typeface="微软雅黑" charset="-122"/>
                        </a:rPr>
                        <a:t>基于</a:t>
                      </a:r>
                      <a:r>
                        <a:rPr lang="zh-CN" sz="1200" kern="100" dirty="0">
                          <a:effectLst/>
                          <a:latin typeface="微软雅黑" charset="-122"/>
                          <a:ea typeface="微软雅黑" charset="-122"/>
                          <a:hlinkClick r:id=""/>
                        </a:rPr>
                        <a:t>公认文本（</a:t>
                      </a:r>
                      <a:r>
                        <a:rPr lang="en-US" sz="1200" kern="100" dirty="0">
                          <a:effectLst/>
                          <a:latin typeface="微软雅黑" charset="-122"/>
                          <a:ea typeface="微软雅黑" charset="-122"/>
                          <a:hlinkClick r:id=""/>
                        </a:rPr>
                        <a:t>Textus Receptus</a:t>
                      </a:r>
                      <a:r>
                        <a:rPr lang="zh-CN" sz="1200" kern="100" dirty="0">
                          <a:effectLst/>
                          <a:latin typeface="微软雅黑" charset="-122"/>
                          <a:ea typeface="微软雅黑" charset="-122"/>
                          <a:hlinkClick r:id=""/>
                        </a:rPr>
                        <a:t>）</a:t>
                      </a:r>
                      <a:r>
                        <a:rPr lang="zh-CN" sz="1200" kern="100" dirty="0">
                          <a:effectLst/>
                          <a:latin typeface="微软雅黑" charset="-122"/>
                          <a:ea typeface="微软雅黑" charset="-122"/>
                        </a:rPr>
                        <a:t>；</a:t>
                      </a:r>
                      <a:r>
                        <a:rPr lang="en-US" sz="1200" kern="100" dirty="0">
                          <a:effectLst/>
                          <a:latin typeface="微软雅黑" charset="-122"/>
                          <a:ea typeface="微软雅黑" charset="-122"/>
                          <a:hlinkClick r:id=""/>
                        </a:rPr>
                        <a:t>RSV</a:t>
                      </a:r>
                      <a:r>
                        <a:rPr lang="en-US" sz="1200" kern="100" dirty="0">
                          <a:effectLst/>
                          <a:latin typeface="微软雅黑" charset="-122"/>
                          <a:ea typeface="微软雅黑" charset="-122"/>
                        </a:rPr>
                        <a:t> </a:t>
                      </a:r>
                      <a:r>
                        <a:rPr lang="zh-CN" sz="1200" kern="100" dirty="0">
                          <a:effectLst/>
                          <a:latin typeface="微软雅黑" charset="-122"/>
                          <a:ea typeface="微软雅黑" charset="-122"/>
                        </a:rPr>
                        <a:t>基于批判文本。</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r>
                        <a:rPr lang="en-US" altLang="zh-CN" sz="1200" kern="100" dirty="0">
                          <a:effectLst/>
                          <a:latin typeface="微软雅黑" charset="-122"/>
                          <a:ea typeface="微软雅黑" charset="-122"/>
                        </a:rPr>
                        <a:t> </a:t>
                      </a:r>
                      <a:r>
                        <a:rPr lang="zh-CN" sz="1200" kern="100" dirty="0">
                          <a:effectLst/>
                          <a:latin typeface="微软雅黑" charset="-122"/>
                          <a:ea typeface="微软雅黑" charset="-122"/>
                        </a:rPr>
                        <a:t>基于</a:t>
                      </a:r>
                      <a:r>
                        <a:rPr lang="zh-CN" sz="1200" kern="100" dirty="0">
                          <a:effectLst/>
                          <a:latin typeface="微软雅黑" charset="-122"/>
                          <a:ea typeface="微软雅黑" charset="-122"/>
                          <a:hlinkClick r:id=""/>
                        </a:rPr>
                        <a:t>批判文本</a:t>
                      </a:r>
                      <a:r>
                        <a:rPr lang="en-US" altLang="zh-CN" sz="1200" kern="100" dirty="0">
                          <a:effectLst/>
                          <a:latin typeface="微软雅黑" charset="-122"/>
                          <a:ea typeface="微软雅黑" charset="-122"/>
                          <a:hlinkClick r:id=""/>
                        </a:rPr>
                        <a:t>(Critical Text)</a:t>
                      </a:r>
                      <a:r>
                        <a:rPr lang="zh-CN" sz="1200" kern="100" dirty="0">
                          <a:effectLst/>
                          <a:latin typeface="微软雅黑" charset="-122"/>
                          <a:ea typeface="微软雅黑" charset="-122"/>
                        </a:rPr>
                        <a:t>（如</a:t>
                      </a:r>
                      <a:r>
                        <a:rPr lang="en-US" sz="1200" kern="100" dirty="0">
                          <a:effectLst/>
                          <a:latin typeface="微软雅黑" charset="-122"/>
                          <a:ea typeface="微软雅黑" charset="-122"/>
                        </a:rPr>
                        <a:t> Nestle-Aland </a:t>
                      </a:r>
                      <a:r>
                        <a:rPr lang="zh-CN" sz="1200" kern="100" dirty="0">
                          <a:effectLst/>
                          <a:latin typeface="微软雅黑" charset="-122"/>
                          <a:ea typeface="微软雅黑" charset="-122"/>
                        </a:rPr>
                        <a:t>版）。</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r>
              <a:tr h="1062109">
                <a:tc>
                  <a:txBody>
                    <a:bodyPr/>
                    <a:lstStyle/>
                    <a:p>
                      <a:pPr algn="ctr">
                        <a:lnSpc>
                          <a:spcPct val="115000"/>
                        </a:lnSpc>
                        <a:buNone/>
                      </a:pPr>
                      <a:r>
                        <a:rPr lang="zh-CN" sz="1200" kern="100" dirty="0">
                          <a:effectLst/>
                          <a:latin typeface="微软雅黑" charset="-122"/>
                          <a:ea typeface="微软雅黑" charset="-122"/>
                        </a:rPr>
                        <a:t>术语处理</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r>
                        <a:rPr lang="zh-CN" sz="1200" kern="100" dirty="0">
                          <a:effectLst/>
                          <a:latin typeface="微软雅黑" charset="-122"/>
                          <a:ea typeface="微软雅黑" charset="-122"/>
                        </a:rPr>
                        <a:t>倾向于一致翻译，即同一希腊词尽可能用同一英文词对应。</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endParaRPr lang="zh-CN" sz="1200" kern="100" dirty="0">
                        <a:effectLst/>
                        <a:latin typeface="微软雅黑" charset="-122"/>
                        <a:ea typeface="微软雅黑" charset="-122"/>
                        <a:cs typeface="Times New Roman" panose="02020503050405090304" charset="0"/>
                      </a:endParaRPr>
                    </a:p>
                  </a:txBody>
                  <a:tcPr marL="9525" marR="9525" marT="9525" marB="9525" anchor="ctr"/>
                </a:tc>
                <a:tc>
                  <a:txBody>
                    <a:bodyPr/>
                    <a:lstStyle/>
                    <a:p>
                      <a:pPr algn="ctr">
                        <a:lnSpc>
                          <a:spcPct val="115000"/>
                        </a:lnSpc>
                        <a:buNone/>
                      </a:pPr>
                      <a:r>
                        <a:rPr lang="zh-CN" sz="1200" kern="100" dirty="0">
                          <a:effectLst/>
                          <a:latin typeface="微软雅黑" charset="-122"/>
                          <a:ea typeface="微软雅黑" charset="-122"/>
                        </a:rPr>
                        <a:t>强调上下文一致性，同一词在不同语境下可能采用不同译法，这曾是</a:t>
                      </a:r>
                      <a:r>
                        <a:rPr lang="en-US" sz="1200" kern="100" dirty="0">
                          <a:effectLst/>
                          <a:latin typeface="微软雅黑" charset="-122"/>
                          <a:ea typeface="微软雅黑" charset="-122"/>
                        </a:rPr>
                        <a:t> TEV </a:t>
                      </a:r>
                      <a:r>
                        <a:rPr lang="zh-CN" sz="1200" kern="100" dirty="0">
                          <a:effectLst/>
                          <a:latin typeface="微软雅黑" charset="-122"/>
                          <a:ea typeface="微软雅黑" charset="-122"/>
                        </a:rPr>
                        <a:t>最具争议的特点之一。</a:t>
                      </a:r>
                      <a:endParaRPr lang="zh-CN" sz="1200" kern="100" dirty="0">
                        <a:effectLst/>
                        <a:latin typeface="微软雅黑" charset="-122"/>
                        <a:ea typeface="微软雅黑" charset="-122"/>
                        <a:cs typeface="Times New Roman" panose="02020503050405090304" charset="0"/>
                      </a:endParaRPr>
                    </a:p>
                  </a:txBody>
                  <a:tcPr marL="9525" marR="9525" marT="9525" marB="9525" anchor="ctr"/>
                </a:tc>
              </a:tr>
            </a:tbl>
          </a:graphicData>
        </a:graphic>
      </p:graphicFrame>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2442787" cy="345721"/>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zh-CN"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4849505" y="2881138"/>
            <a:ext cx="3135795" cy="646331"/>
          </a:xfrm>
          <a:prstGeom prst="rect">
            <a:avLst/>
          </a:prstGeom>
          <a:noFill/>
        </p:spPr>
        <p:txBody>
          <a:bodyPr wrap="none" rtlCol="0">
            <a:spAutoFit/>
          </a:bodyPr>
          <a:lstStyle/>
          <a:p>
            <a:pPr marL="571500" indent="-571500">
              <a:buFont typeface="Wingdings" panose="05000000000000000000" pitchFamily="2" charset="2"/>
              <a:buChar char="u"/>
            </a:pPr>
            <a:r>
              <a:rPr lang="zh-CN" altLang="en-US" sz="3600" dirty="0">
                <a:solidFill>
                  <a:schemeClr val="tx1">
                    <a:lumMod val="75000"/>
                    <a:lumOff val="25000"/>
                  </a:schemeClr>
                </a:solidFill>
                <a:latin typeface="微软雅黑" charset="-122"/>
                <a:ea typeface="微软雅黑" charset="-122"/>
              </a:rPr>
              <a:t>不足与批判</a:t>
            </a:r>
            <a:endParaRPr lang="zh-CN" altLang="en-US" sz="3600" dirty="0">
              <a:solidFill>
                <a:schemeClr val="tx1">
                  <a:lumMod val="75000"/>
                  <a:lumOff val="25000"/>
                </a:schemeClr>
              </a:solidFill>
              <a:latin typeface="微软雅黑" charset="-122"/>
              <a:ea typeface="微软雅黑" charset="-122"/>
            </a:endParaRPr>
          </a:p>
        </p:txBody>
      </p:sp>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2442787" cy="681253"/>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marL="285750" indent="-285750">
                <a:lnSpc>
                  <a:spcPct val="115000"/>
                </a:lnSpc>
                <a:buFont typeface="Wingdings" panose="05000000000000000000" pitchFamily="2" charset="2"/>
                <a:buChar char="l"/>
              </a:pPr>
              <a:r>
                <a:rPr lang="zh-CN" altLang="en-US" sz="1600" dirty="0">
                  <a:solidFill>
                    <a:schemeClr val="tx1"/>
                  </a:solidFill>
                  <a:latin typeface="微软雅黑"/>
                  <a:ea typeface="微软雅黑"/>
                </a:rPr>
                <a:t>读者反应标准的不可操作性</a:t>
              </a:r>
              <a:endParaRPr lang="en-US" altLang="zh-CN" sz="1600" dirty="0">
                <a:solidFill>
                  <a:schemeClr val="tx1"/>
                </a:solidFill>
                <a:latin typeface="微软雅黑"/>
                <a:ea typeface="微软雅黑"/>
              </a:endParaRPr>
            </a:p>
            <a:p>
              <a:pPr marL="285750" indent="-285750">
                <a:lnSpc>
                  <a:spcPct val="115000"/>
                </a:lnSpc>
                <a:buFont typeface="Wingdings" panose="05000000000000000000" pitchFamily="2" charset="2"/>
                <a:buChar char="l"/>
              </a:pPr>
              <a:r>
                <a:rPr lang="zh-CN" altLang="en-US" sz="1600" dirty="0">
                  <a:solidFill>
                    <a:schemeClr val="tx1"/>
                  </a:solidFill>
                  <a:latin typeface="微软雅黑"/>
                  <a:ea typeface="微软雅黑"/>
                </a:rPr>
                <a:t>文化</a:t>
              </a:r>
              <a:r>
                <a:rPr lang="zh-CN" altLang="en-US" sz="1600" dirty="0">
                  <a:solidFill>
                    <a:schemeClr val="tx1"/>
                  </a:solidFill>
                  <a:latin typeface="微软雅黑"/>
                  <a:ea typeface="微软雅黑"/>
                  <a:hlinkClick r:id=""/>
                </a:rPr>
                <a:t>“他者性”（</a:t>
              </a:r>
              <a:r>
                <a:rPr lang="en-US" altLang="zh-CN" sz="1600" dirty="0">
                  <a:solidFill>
                    <a:schemeClr val="tx1"/>
                  </a:solidFill>
                  <a:latin typeface="微软雅黑"/>
                  <a:ea typeface="微软雅黑"/>
                  <a:hlinkClick r:id=""/>
                </a:rPr>
                <a:t>Otherness</a:t>
              </a:r>
              <a:r>
                <a:rPr lang="zh-CN" altLang="en-US" sz="1600" dirty="0">
                  <a:solidFill>
                    <a:schemeClr val="tx1"/>
                  </a:solidFill>
                  <a:latin typeface="微软雅黑"/>
                  <a:ea typeface="微软雅黑"/>
                  <a:hlinkClick r:id=""/>
                </a:rPr>
                <a:t>）</a:t>
              </a:r>
              <a:r>
                <a:rPr lang="en-US" altLang="zh-CN" sz="1600" dirty="0">
                  <a:solidFill>
                    <a:schemeClr val="tx1"/>
                  </a:solidFill>
                  <a:latin typeface="微软雅黑"/>
                  <a:ea typeface="微软雅黑"/>
                </a:rPr>
                <a:t>(Venuti, 1995, p. 20)</a:t>
              </a:r>
              <a:r>
                <a:rPr lang="zh-CN" altLang="en-US" sz="1600" dirty="0">
                  <a:solidFill>
                    <a:schemeClr val="tx1"/>
                  </a:solidFill>
                  <a:latin typeface="微软雅黑"/>
                  <a:ea typeface="微软雅黑"/>
                </a:rPr>
                <a:t>的消解与归化倾向</a:t>
              </a:r>
              <a:endParaRPr lang="en-US" altLang="zh-CN" sz="1600" dirty="0">
                <a:solidFill>
                  <a:schemeClr val="tx1"/>
                </a:solidFill>
                <a:latin typeface="微软雅黑"/>
                <a:ea typeface="微软雅黑"/>
              </a:endParaRPr>
            </a:p>
            <a:p>
              <a:pPr marL="285750" indent="-285750">
                <a:lnSpc>
                  <a:spcPct val="115000"/>
                </a:lnSpc>
                <a:buFont typeface="Wingdings" panose="05000000000000000000" pitchFamily="2" charset="2"/>
                <a:buChar char="l"/>
              </a:pPr>
              <a:r>
                <a:rPr lang="zh-CN" altLang="en-US" sz="1600" dirty="0">
                  <a:solidFill>
                    <a:schemeClr val="tx1"/>
                  </a:solidFill>
                  <a:latin typeface="微软雅黑"/>
                  <a:ea typeface="微软雅黑"/>
                </a:rPr>
                <a:t>译者主体性的忽视</a:t>
              </a:r>
              <a:endParaRPr lang="en-US" altLang="zh-CN" sz="1600" dirty="0">
                <a:solidFill>
                  <a:schemeClr val="tx1"/>
                </a:solidFill>
                <a:latin typeface="微软雅黑"/>
                <a:ea typeface="微软雅黑"/>
              </a:endParaRPr>
            </a:p>
            <a:p>
              <a:pPr marL="285750" indent="-285750">
                <a:lnSpc>
                  <a:spcPct val="115000"/>
                </a:lnSpc>
                <a:buFont typeface="Wingdings" panose="05000000000000000000" pitchFamily="2" charset="2"/>
                <a:buChar char="l"/>
              </a:pPr>
              <a:r>
                <a:rPr lang="zh-CN" altLang="en-US" sz="1600" dirty="0">
                  <a:solidFill>
                    <a:schemeClr val="tx1"/>
                  </a:solidFill>
                  <a:latin typeface="微软雅黑"/>
                  <a:ea typeface="微软雅黑"/>
                </a:rPr>
                <a:t>神学层面的负担</a:t>
              </a:r>
              <a:endParaRPr lang="en-US" altLang="zh-CN" sz="1600" dirty="0">
                <a:solidFill>
                  <a:schemeClr val="tx1"/>
                </a:solidFill>
                <a:latin typeface="微软雅黑"/>
                <a:ea typeface="微软雅黑"/>
              </a:endParaRPr>
            </a:p>
            <a:p>
              <a:pPr marL="285750" indent="-285750">
                <a:lnSpc>
                  <a:spcPct val="115000"/>
                </a:lnSpc>
                <a:buFont typeface="Wingdings" panose="05000000000000000000" pitchFamily="2" charset="2"/>
                <a:buChar char="l"/>
              </a:pPr>
              <a:r>
                <a:rPr lang="zh-CN" altLang="en-US" sz="1600" dirty="0">
                  <a:solidFill>
                    <a:schemeClr val="tx1"/>
                  </a:solidFill>
                  <a:latin typeface="微软雅黑"/>
                  <a:ea typeface="微软雅黑"/>
                </a:rPr>
                <a:t>形式与意义分离的逻辑缺陷</a:t>
              </a:r>
              <a:endParaRPr lang="en-US" altLang="zh-CN" sz="1600"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r>
                <a:rPr lang="zh-CN" altLang="en-US" sz="1600" b="1" dirty="0">
                  <a:solidFill>
                    <a:schemeClr val="tx1"/>
                  </a:solidFill>
                  <a:latin typeface="微软雅黑"/>
                  <a:ea typeface="微软雅黑"/>
                </a:rPr>
                <a:t>读者反应标准的不可操作性</a:t>
              </a:r>
              <a:endParaRPr lang="en-US" altLang="zh-CN"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779494" y="1819838"/>
            <a:ext cx="8633012" cy="3139321"/>
          </a:xfrm>
          <a:prstGeom prst="rect">
            <a:avLst/>
          </a:prstGeom>
          <a:noFill/>
        </p:spPr>
        <p:txBody>
          <a:bodyPr wrap="square" rtlCol="0" anchor="t">
            <a:spAutoFit/>
          </a:bodyPr>
          <a:lstStyle/>
          <a:p>
            <a:pPr marL="285750" indent="-285750">
              <a:buFont typeface="Wingdings" panose="05000000000000000000" pitchFamily="2" charset="2"/>
              <a:buChar char="l"/>
            </a:pPr>
            <a:r>
              <a:rPr lang="zh-CN" altLang="zh-CN" dirty="0"/>
              <a:t>功能对等理论以</a:t>
            </a:r>
            <a:r>
              <a:rPr lang="en-US" altLang="zh-CN" dirty="0"/>
              <a:t>“</a:t>
            </a:r>
            <a:r>
              <a:rPr lang="zh-CN" altLang="zh-CN" dirty="0"/>
              <a:t>译文读者对译文的反应应与原文读者对原文的反应基本一致</a:t>
            </a:r>
            <a:r>
              <a:rPr lang="en-US" altLang="zh-CN" dirty="0"/>
              <a:t>”</a:t>
            </a:r>
            <a:r>
              <a:rPr lang="zh-CN" altLang="zh-CN" dirty="0"/>
              <a:t>为最高标准，这一标准在实践层面面临根本性质疑。有学者指出，将目的语读者读译文的反应与原文读者读原文的反应作比较是</a:t>
            </a:r>
            <a:r>
              <a:rPr lang="zh-CN" altLang="zh-CN" b="1" dirty="0"/>
              <a:t>不切实际的</a:t>
            </a:r>
            <a:r>
              <a:rPr lang="zh-CN" altLang="zh-CN" dirty="0"/>
              <a:t>，因为文化差异的客观存在决定了</a:t>
            </a:r>
            <a:r>
              <a:rPr lang="zh-CN" altLang="zh-CN" b="1" dirty="0"/>
              <a:t>同等反应在理论上即不可能实现</a:t>
            </a:r>
            <a:r>
              <a:rPr lang="zh-CN" altLang="zh-CN" dirty="0"/>
              <a:t>。该标准追求</a:t>
            </a:r>
            <a:r>
              <a:rPr lang="en-US" altLang="zh-CN" dirty="0"/>
              <a:t>“</a:t>
            </a:r>
            <a:r>
              <a:rPr lang="zh-CN" altLang="zh-CN" dirty="0"/>
              <a:t>同一</a:t>
            </a:r>
            <a:r>
              <a:rPr lang="en-US" altLang="zh-CN" dirty="0"/>
              <a:t>”</a:t>
            </a:r>
            <a:r>
              <a:rPr lang="zh-CN" altLang="zh-CN" dirty="0"/>
              <a:t>，对</a:t>
            </a:r>
            <a:r>
              <a:rPr lang="zh-CN" altLang="zh-CN" b="1" dirty="0"/>
              <a:t>译文读者</a:t>
            </a:r>
            <a:r>
              <a:rPr lang="zh-CN" altLang="zh-CN" dirty="0"/>
              <a:t>实质上构成一种</a:t>
            </a:r>
            <a:r>
              <a:rPr lang="en-US" altLang="zh-CN" b="1" dirty="0"/>
              <a:t>“</a:t>
            </a:r>
            <a:r>
              <a:rPr lang="zh-CN" altLang="zh-CN" b="1" dirty="0"/>
              <a:t>蒙蔽</a:t>
            </a:r>
            <a:r>
              <a:rPr lang="en-US" altLang="zh-CN" b="1" dirty="0"/>
              <a:t>”</a:t>
            </a:r>
            <a:r>
              <a:rPr lang="zh-CN" altLang="zh-CN" dirty="0"/>
              <a:t>，对</a:t>
            </a:r>
            <a:r>
              <a:rPr lang="en-US" altLang="zh-CN" b="1" dirty="0"/>
              <a:t>“</a:t>
            </a:r>
            <a:r>
              <a:rPr lang="zh-CN" altLang="zh-CN" b="1" dirty="0"/>
              <a:t>他者</a:t>
            </a:r>
            <a:r>
              <a:rPr lang="en-US" altLang="zh-CN" b="1" dirty="0"/>
              <a:t>”</a:t>
            </a:r>
            <a:r>
              <a:rPr lang="zh-CN" altLang="zh-CN" dirty="0"/>
              <a:t>也是一种</a:t>
            </a:r>
            <a:r>
              <a:rPr lang="zh-CN" altLang="zh-CN" b="1" dirty="0"/>
              <a:t>不尊重</a:t>
            </a:r>
            <a:r>
              <a:rPr lang="zh-CN" altLang="zh-CN" dirty="0"/>
              <a:t>，其结果可能阻碍而非促进文化交流。</a:t>
            </a:r>
            <a:endParaRPr lang="en-US" altLang="zh-CN" dirty="0"/>
          </a:p>
          <a:p>
            <a:endParaRPr lang="zh-CN" altLang="zh-CN" dirty="0"/>
          </a:p>
          <a:p>
            <a:pPr marL="285750" indent="-285750">
              <a:buFont typeface="Wingdings" panose="05000000000000000000" pitchFamily="2" charset="2"/>
              <a:buChar char="l"/>
            </a:pPr>
            <a:r>
              <a:rPr lang="zh-CN" altLang="zh-CN" dirty="0"/>
              <a:t>从理论建构角度，有研究从转换生成语法理论和读者反应理论两个角度论证了功能对等理论的不足</a:t>
            </a:r>
            <a:r>
              <a:rPr lang="en-US" altLang="zh-CN" dirty="0"/>
              <a:t>——</a:t>
            </a:r>
            <a:r>
              <a:rPr lang="zh-CN" altLang="zh-CN" b="1" dirty="0"/>
              <a:t>忽略译文效果的译者参与因素，以及单纯从读者角度谈论对等性</a:t>
            </a:r>
            <a:r>
              <a:rPr lang="zh-CN" altLang="zh-CN" dirty="0"/>
              <a:t>。换言之，该理论将翻译效果的评判完全寄托于读者反应，却无法提供可操作的测量手段，也未能解释不同读者群体反应差异的合理性问题。</a:t>
            </a:r>
            <a:endParaRPr lang="zh-CN" altLang="en-US" dirty="0"/>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r>
                <a:rPr lang="zh-CN" altLang="en-US" sz="1600" b="1" dirty="0">
                  <a:solidFill>
                    <a:schemeClr val="tx1"/>
                  </a:solidFill>
                  <a:latin typeface="微软雅黑"/>
                  <a:ea typeface="微软雅黑"/>
                </a:rPr>
                <a:t>文化“他者性”的消解与归化倾向</a:t>
              </a:r>
              <a:endParaRPr lang="en-US" altLang="zh-CN"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779494" y="1819838"/>
            <a:ext cx="8633012" cy="3970318"/>
          </a:xfrm>
          <a:prstGeom prst="rect">
            <a:avLst/>
          </a:prstGeom>
          <a:noFill/>
        </p:spPr>
        <p:txBody>
          <a:bodyPr wrap="square" rtlCol="0" anchor="t">
            <a:spAutoFit/>
          </a:bodyPr>
          <a:lstStyle/>
          <a:p>
            <a:r>
              <a:rPr lang="zh-CN" altLang="zh-CN" dirty="0"/>
              <a:t>这是来自翻译伦理层面的最尖锐批评。劳伦斯</a:t>
            </a:r>
            <a:r>
              <a:rPr lang="en-US" altLang="zh-CN" dirty="0"/>
              <a:t>·</a:t>
            </a:r>
            <a:r>
              <a:rPr lang="zh-CN" altLang="zh-CN" dirty="0"/>
              <a:t>韦努蒂（</a:t>
            </a:r>
            <a:r>
              <a:rPr lang="en-US" altLang="zh-CN" dirty="0"/>
              <a:t>Lawrence Venuti</a:t>
            </a:r>
            <a:r>
              <a:rPr lang="zh-CN" altLang="zh-CN" dirty="0"/>
              <a:t>）将奈达的动态对等策略理解为一种追求完美</a:t>
            </a:r>
            <a:r>
              <a:rPr lang="en-US" altLang="zh-CN" b="1" dirty="0">
                <a:hlinkClick r:id=""/>
              </a:rPr>
              <a:t>“</a:t>
            </a:r>
            <a:r>
              <a:rPr lang="zh-CN" altLang="zh-CN" b="1" dirty="0">
                <a:hlinkClick r:id=""/>
              </a:rPr>
              <a:t>归化</a:t>
            </a:r>
            <a:r>
              <a:rPr lang="en-US" altLang="zh-CN" b="1" dirty="0">
                <a:hlinkClick r:id=""/>
              </a:rPr>
              <a:t>”</a:t>
            </a:r>
            <a:r>
              <a:rPr lang="zh-CN" altLang="zh-CN" b="1" dirty="0">
                <a:hlinkClick r:id=""/>
              </a:rPr>
              <a:t>（</a:t>
            </a:r>
            <a:r>
              <a:rPr lang="en-US" altLang="zh-CN" b="1" dirty="0">
                <a:hlinkClick r:id=""/>
              </a:rPr>
              <a:t>domestication</a:t>
            </a:r>
            <a:r>
              <a:rPr lang="zh-CN" altLang="zh-CN" b="1" dirty="0">
                <a:hlinkClick r:id=""/>
              </a:rPr>
              <a:t>）</a:t>
            </a:r>
            <a:r>
              <a:rPr lang="zh-CN" altLang="zh-CN" dirty="0">
                <a:hlinkClick r:id=""/>
              </a:rPr>
              <a:t> </a:t>
            </a:r>
            <a:r>
              <a:rPr lang="en-US" altLang="zh-CN" dirty="0"/>
              <a:t>(Venuti, 1995, p. 20)</a:t>
            </a:r>
            <a:r>
              <a:rPr lang="zh-CN" altLang="zh-CN" dirty="0"/>
              <a:t>的翻译方法。韦努蒂的批判针对的是奈达的翻译伦理</a:t>
            </a:r>
            <a:r>
              <a:rPr lang="en-US" altLang="zh-CN" dirty="0"/>
              <a:t>——</a:t>
            </a:r>
            <a:r>
              <a:rPr lang="zh-CN" altLang="zh-CN" dirty="0"/>
              <a:t>他指责奈达将英语中</a:t>
            </a:r>
            <a:r>
              <a:rPr lang="en-US" altLang="zh-CN" dirty="0"/>
              <a:t>“</a:t>
            </a:r>
            <a:r>
              <a:rPr lang="zh-CN" altLang="zh-CN" dirty="0"/>
              <a:t>透明话语</a:t>
            </a:r>
            <a:r>
              <a:rPr lang="en-US" altLang="zh-CN" dirty="0"/>
              <a:t>”</a:t>
            </a:r>
            <a:r>
              <a:rPr lang="zh-CN" altLang="zh-CN" dirty="0"/>
              <a:t>的价值强加于每一种异域文化，掩盖了源语与目标语文本之间的根本性差异，从而</a:t>
            </a:r>
            <a:r>
              <a:rPr lang="zh-CN" altLang="zh-CN" b="1" dirty="0"/>
              <a:t>消解了源语文本的历史与文化</a:t>
            </a:r>
            <a:r>
              <a:rPr lang="en-US" altLang="zh-CN" b="1" dirty="0"/>
              <a:t>“</a:t>
            </a:r>
            <a:r>
              <a:rPr lang="zh-CN" altLang="zh-CN" b="1" dirty="0"/>
              <a:t>他者性</a:t>
            </a:r>
            <a:r>
              <a:rPr lang="en-US" altLang="zh-CN" b="1" dirty="0"/>
              <a:t>”</a:t>
            </a:r>
            <a:r>
              <a:rPr lang="zh-CN" altLang="zh-CN" dirty="0"/>
              <a:t>。</a:t>
            </a:r>
            <a:endParaRPr lang="en-US" altLang="zh-CN" dirty="0"/>
          </a:p>
          <a:p>
            <a:endParaRPr lang="zh-CN" altLang="zh-CN" dirty="0"/>
          </a:p>
          <a:p>
            <a:r>
              <a:rPr lang="en-US" altLang="zh-CN" dirty="0"/>
              <a:t>Anthony Nichols</a:t>
            </a:r>
            <a:r>
              <a:rPr lang="zh-CN" altLang="zh-CN" dirty="0"/>
              <a:t>的博士论文</a:t>
            </a:r>
            <a:r>
              <a:rPr lang="en-US" altLang="zh-CN" dirty="0"/>
              <a:t>----</a:t>
            </a:r>
            <a:r>
              <a:rPr lang="en-US" altLang="zh-CN" i="1" dirty="0"/>
              <a:t>Translating the Bible : a critical analysis of E.A. Nida's theory of dynamic equivalence and its impact upon recent Bible translations.</a:t>
            </a:r>
            <a:endParaRPr lang="en-US" altLang="zh-CN" i="1" dirty="0"/>
          </a:p>
          <a:p>
            <a:r>
              <a:rPr lang="en-US" altLang="zh-CN" dirty="0"/>
              <a:t>----</a:t>
            </a:r>
            <a:r>
              <a:rPr lang="zh-CN" altLang="zh-CN" dirty="0"/>
              <a:t>进一步论证了这一立场：功能对等模式对《圣经》翻译而言是</a:t>
            </a:r>
            <a:r>
              <a:rPr lang="zh-CN" altLang="zh-CN" b="1" dirty="0"/>
              <a:t>有缺陷的</a:t>
            </a:r>
            <a:r>
              <a:rPr lang="en-US" altLang="zh-CN" dirty="0"/>
              <a:t>——</a:t>
            </a:r>
            <a:r>
              <a:rPr lang="zh-CN" altLang="zh-CN" dirty="0"/>
              <a:t>首先，它低估了语言中形式与意义之间错综复杂的关系；其次，</a:t>
            </a:r>
            <a:r>
              <a:rPr lang="en-US" altLang="zh-CN" dirty="0"/>
              <a:t>“</a:t>
            </a:r>
            <a:r>
              <a:rPr lang="zh-CN" altLang="zh-CN" dirty="0"/>
              <a:t>对等</a:t>
            </a:r>
            <a:r>
              <a:rPr lang="en-US" altLang="zh-CN" dirty="0"/>
              <a:t>”</a:t>
            </a:r>
            <a:r>
              <a:rPr lang="zh-CN" altLang="zh-CN" dirty="0"/>
              <a:t>以接受者反应来定义，既</a:t>
            </a:r>
            <a:r>
              <a:rPr lang="zh-CN" altLang="zh-CN" b="1" dirty="0"/>
              <a:t>无法测量</a:t>
            </a:r>
            <a:r>
              <a:rPr lang="zh-CN" altLang="zh-CN" dirty="0"/>
              <a:t>，又模糊了</a:t>
            </a:r>
            <a:r>
              <a:rPr lang="en-US" altLang="zh-CN" dirty="0"/>
              <a:t>“</a:t>
            </a:r>
            <a:r>
              <a:rPr lang="zh-CN" altLang="zh-CN" dirty="0"/>
              <a:t>翻译</a:t>
            </a:r>
            <a:r>
              <a:rPr lang="en-US" altLang="zh-CN" dirty="0"/>
              <a:t>”</a:t>
            </a:r>
            <a:r>
              <a:rPr lang="zh-CN" altLang="zh-CN" dirty="0"/>
              <a:t>与</a:t>
            </a:r>
            <a:r>
              <a:rPr lang="en-US" altLang="zh-CN" dirty="0"/>
              <a:t>“</a:t>
            </a:r>
            <a:r>
              <a:rPr lang="zh-CN" altLang="zh-CN" dirty="0"/>
              <a:t>交际</a:t>
            </a:r>
            <a:r>
              <a:rPr lang="en-US" altLang="zh-CN" dirty="0"/>
              <a:t>”</a:t>
            </a:r>
            <a:r>
              <a:rPr lang="zh-CN" altLang="zh-CN" dirty="0"/>
              <a:t>之间的界限；再次，接受者反应的决定性作用</a:t>
            </a:r>
            <a:r>
              <a:rPr lang="zh-CN" altLang="zh-CN" b="1" dirty="0"/>
              <a:t>持续危及《圣经》文本的历史与文化</a:t>
            </a:r>
            <a:r>
              <a:rPr lang="en-US" altLang="zh-CN" b="1" dirty="0"/>
              <a:t>“</a:t>
            </a:r>
            <a:r>
              <a:rPr lang="zh-CN" altLang="zh-CN" b="1" dirty="0"/>
              <a:t>他者性</a:t>
            </a:r>
            <a:r>
              <a:rPr lang="en-US" altLang="zh-CN" b="1" dirty="0"/>
              <a:t>”</a:t>
            </a:r>
            <a:r>
              <a:rPr lang="zh-CN" altLang="zh-CN" dirty="0"/>
              <a:t>；最后，对</a:t>
            </a:r>
            <a:r>
              <a:rPr lang="en-US" altLang="zh-CN" dirty="0">
                <a:hlinkClick r:id=""/>
              </a:rPr>
              <a:t>“</a:t>
            </a:r>
            <a:r>
              <a:rPr lang="zh-CN" altLang="zh-CN" dirty="0">
                <a:hlinkClick r:id=""/>
              </a:rPr>
              <a:t>明晰性</a:t>
            </a:r>
            <a:r>
              <a:rPr lang="en-US" altLang="zh-CN" dirty="0">
                <a:hlinkClick r:id=""/>
              </a:rPr>
              <a:t>”</a:t>
            </a:r>
            <a:r>
              <a:rPr lang="zh-CN" altLang="zh-CN" dirty="0">
                <a:hlinkClick r:id=""/>
              </a:rPr>
              <a:t>（</a:t>
            </a:r>
            <a:r>
              <a:rPr lang="en-US" altLang="zh-CN" dirty="0">
                <a:hlinkClick r:id=""/>
              </a:rPr>
              <a:t>explicitness</a:t>
            </a:r>
            <a:r>
              <a:rPr lang="zh-CN" altLang="zh-CN" dirty="0">
                <a:hlinkClick r:id=""/>
              </a:rPr>
              <a:t>）</a:t>
            </a:r>
            <a:r>
              <a:rPr lang="zh-CN" altLang="zh-CN" dirty="0"/>
              <a:t>的追求使本土接受者不得不通过西方认知框架来接触圣经，剥夺了他们直接进入圣经话语宇宙的可能。</a:t>
            </a:r>
            <a:endParaRPr lang="zh-CN" altLang="en-US" dirty="0"/>
          </a:p>
        </p:txBody>
      </p:sp>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r>
                <a:rPr lang="zh-CN" altLang="en-US" sz="1600" b="1" dirty="0">
                  <a:solidFill>
                    <a:schemeClr val="tx1"/>
                  </a:solidFill>
                  <a:latin typeface="微软雅黑"/>
                  <a:ea typeface="微软雅黑"/>
                </a:rPr>
                <a:t>译者主体性的忽视</a:t>
              </a: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779494" y="1819838"/>
            <a:ext cx="8633012" cy="1477328"/>
          </a:xfrm>
          <a:prstGeom prst="rect">
            <a:avLst/>
          </a:prstGeom>
          <a:noFill/>
        </p:spPr>
        <p:txBody>
          <a:bodyPr wrap="square" rtlCol="0" anchor="t">
            <a:spAutoFit/>
          </a:bodyPr>
          <a:lstStyle/>
          <a:p>
            <a:r>
              <a:rPr lang="zh-CN" altLang="zh-CN" dirty="0"/>
              <a:t>功能对等理论将翻译质量的评判权完全交给读者反应，这在逻辑上</a:t>
            </a:r>
            <a:r>
              <a:rPr lang="zh-CN" altLang="zh-CN" b="1" dirty="0"/>
              <a:t>排除了译者的主体参与因素</a:t>
            </a:r>
            <a:r>
              <a:rPr lang="zh-CN" altLang="zh-CN" dirty="0"/>
              <a:t>。有学者从译者主体性角度指出，中国译界对功能对等理论的态度已从全盘接受转变为</a:t>
            </a:r>
            <a:r>
              <a:rPr lang="en-US" altLang="zh-CN" dirty="0"/>
              <a:t>“</a:t>
            </a:r>
            <a:r>
              <a:rPr lang="zh-CN" altLang="zh-CN" dirty="0"/>
              <a:t>颇多批评，甚至有全盘否定</a:t>
            </a:r>
            <a:r>
              <a:rPr lang="en-US" altLang="zh-CN" dirty="0"/>
              <a:t>”</a:t>
            </a:r>
            <a:r>
              <a:rPr lang="zh-CN" altLang="zh-CN" dirty="0"/>
              <a:t>。该理论在文学翻译中尤其受限，因为文化差异的客观存在、异质同构的表达方式差异以及译者个人因素，都使</a:t>
            </a:r>
            <a:r>
              <a:rPr lang="en-US" altLang="zh-CN" dirty="0"/>
              <a:t>“</a:t>
            </a:r>
            <a:r>
              <a:rPr lang="zh-CN" altLang="zh-CN" dirty="0"/>
              <a:t>同等反应</a:t>
            </a:r>
            <a:r>
              <a:rPr lang="en-US" altLang="zh-CN" dirty="0"/>
              <a:t>”</a:t>
            </a:r>
            <a:r>
              <a:rPr lang="zh-CN" altLang="zh-CN" dirty="0"/>
              <a:t>在文学文本中难以达成。</a:t>
            </a:r>
            <a:endParaRPr lang="zh-CN" altLang="en-US" dirty="0"/>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r>
                <a:rPr lang="zh-CN" altLang="en-US" sz="1600" b="1" dirty="0">
                  <a:solidFill>
                    <a:schemeClr val="tx1"/>
                  </a:solidFill>
                  <a:latin typeface="微软雅黑"/>
                  <a:ea typeface="微软雅黑"/>
                </a:rPr>
                <a:t>神学层面的负担</a:t>
              </a: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779494" y="1819838"/>
            <a:ext cx="8633012" cy="3139321"/>
          </a:xfrm>
          <a:prstGeom prst="rect">
            <a:avLst/>
          </a:prstGeom>
          <a:noFill/>
        </p:spPr>
        <p:txBody>
          <a:bodyPr wrap="square" rtlCol="0" anchor="t">
            <a:spAutoFit/>
          </a:bodyPr>
          <a:lstStyle/>
          <a:p>
            <a:r>
              <a:rPr lang="en-US" altLang="zh-CN" dirty="0"/>
              <a:t>Stefan Felber</a:t>
            </a:r>
            <a:r>
              <a:rPr lang="zh-CN" altLang="zh-CN" dirty="0"/>
              <a:t>在其专著《</a:t>
            </a:r>
            <a:r>
              <a:rPr lang="en-US" altLang="zh-CN" dirty="0"/>
              <a:t>Toward a Science of Translating?</a:t>
            </a:r>
            <a:r>
              <a:rPr lang="zh-CN" altLang="zh-CN" dirty="0"/>
              <a:t>》中，从释经学、神学、语文学和语言哲学等多学科视角对奈达理论进行了系统性批判。</a:t>
            </a:r>
            <a:r>
              <a:rPr lang="en-US" altLang="zh-CN" dirty="0"/>
              <a:t>Matthijs de Jong</a:t>
            </a:r>
            <a:r>
              <a:rPr lang="zh-CN" altLang="zh-CN" dirty="0"/>
              <a:t>的书评指出，</a:t>
            </a:r>
            <a:r>
              <a:rPr lang="en-US" altLang="zh-CN" dirty="0"/>
              <a:t>Felber“</a:t>
            </a:r>
            <a:r>
              <a:rPr lang="zh-CN" altLang="zh-CN" dirty="0"/>
              <a:t>在表达对奈达极大尊重的同时，从多个维度对动态对等发起了正面攻击</a:t>
            </a:r>
            <a:r>
              <a:rPr lang="en-US" altLang="zh-CN" dirty="0"/>
              <a:t>”</a:t>
            </a:r>
            <a:r>
              <a:rPr lang="zh-CN" altLang="zh-CN" dirty="0"/>
              <a:t>，尤其聚焦于其</a:t>
            </a:r>
            <a:r>
              <a:rPr lang="zh-CN" altLang="zh-CN" b="1" dirty="0"/>
              <a:t>神学层面的不足</a:t>
            </a:r>
            <a:r>
              <a:rPr lang="zh-CN" altLang="zh-CN" dirty="0"/>
              <a:t>。</a:t>
            </a:r>
            <a:r>
              <a:rPr lang="en-US" altLang="zh-CN" dirty="0"/>
              <a:t>Felber</a:t>
            </a:r>
            <a:r>
              <a:rPr lang="zh-CN" altLang="zh-CN" dirty="0"/>
              <a:t>强调奈达</a:t>
            </a:r>
            <a:r>
              <a:rPr lang="en-US" altLang="zh-CN" dirty="0"/>
              <a:t>“</a:t>
            </a:r>
            <a:r>
              <a:rPr lang="zh-CN" altLang="zh-CN" dirty="0"/>
              <a:t>并非从</a:t>
            </a:r>
            <a:r>
              <a:rPr lang="zh-CN" altLang="zh-CN" b="1" dirty="0"/>
              <a:t>神学基础</a:t>
            </a:r>
            <a:r>
              <a:rPr lang="zh-CN" altLang="zh-CN" dirty="0"/>
              <a:t>出发呈现圣经翻译，而是根据</a:t>
            </a:r>
            <a:r>
              <a:rPr lang="zh-CN" altLang="zh-CN" b="1" dirty="0"/>
              <a:t>交际本身的性质</a:t>
            </a:r>
            <a:r>
              <a:rPr lang="zh-CN" altLang="zh-CN" dirty="0"/>
              <a:t>来描述翻译</a:t>
            </a:r>
            <a:r>
              <a:rPr lang="en-US" altLang="zh-CN" dirty="0"/>
              <a:t>”——</a:t>
            </a:r>
            <a:r>
              <a:rPr lang="zh-CN" altLang="zh-CN" dirty="0"/>
              <a:t>这意味着奈达的语言交际观</a:t>
            </a:r>
            <a:r>
              <a:rPr lang="zh-CN" altLang="zh-CN" b="1" dirty="0"/>
              <a:t>决定了</a:t>
            </a:r>
            <a:r>
              <a:rPr lang="zh-CN" altLang="zh-CN" dirty="0"/>
              <a:t>其对圣经文本的理解方式，可能</a:t>
            </a:r>
            <a:r>
              <a:rPr lang="zh-CN" altLang="zh-CN" b="1" dirty="0"/>
              <a:t>低估了与圣经语言、诠释学、神学及超越性相关的文本维度</a:t>
            </a:r>
            <a:r>
              <a:rPr lang="zh-CN" altLang="zh-CN" dirty="0"/>
              <a:t>。</a:t>
            </a:r>
            <a:endParaRPr lang="en-US" altLang="zh-CN" dirty="0"/>
          </a:p>
          <a:p>
            <a:endParaRPr lang="zh-CN" altLang="zh-CN" dirty="0"/>
          </a:p>
          <a:p>
            <a:r>
              <a:rPr lang="zh-CN" altLang="zh-CN" dirty="0"/>
              <a:t>在论文《</a:t>
            </a:r>
            <a:r>
              <a:rPr lang="en-US" altLang="zh-CN" dirty="0"/>
              <a:t>Functional equivalence: Eugene Nida’s theory, its challenge for Bible Translation, and its theological burden</a:t>
            </a:r>
            <a:r>
              <a:rPr lang="zh-CN" altLang="zh-CN" dirty="0"/>
              <a:t>》中，</a:t>
            </a:r>
            <a:r>
              <a:rPr lang="en-US" altLang="zh-CN" dirty="0"/>
              <a:t>Felber</a:t>
            </a:r>
            <a:r>
              <a:rPr lang="zh-CN" altLang="zh-CN" dirty="0"/>
              <a:t>进一步系统描述了奈达翻译理论的意义与不足，将其神学负担作为核心议题加以评估。</a:t>
            </a:r>
            <a:endParaRPr lang="zh-CN" altLang="en-US" dirty="0"/>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r>
                <a:rPr lang="zh-CN" altLang="en-US" sz="1600" b="1" dirty="0">
                  <a:solidFill>
                    <a:schemeClr val="tx1"/>
                  </a:solidFill>
                  <a:latin typeface="微软雅黑"/>
                  <a:ea typeface="微软雅黑"/>
                </a:rPr>
                <a:t>形式与意义分离的逻辑缺陷</a:t>
              </a: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779494" y="1819838"/>
            <a:ext cx="8633012" cy="1477328"/>
          </a:xfrm>
          <a:prstGeom prst="rect">
            <a:avLst/>
          </a:prstGeom>
          <a:noFill/>
        </p:spPr>
        <p:txBody>
          <a:bodyPr wrap="square" rtlCol="0" anchor="t">
            <a:spAutoFit/>
          </a:bodyPr>
          <a:lstStyle/>
          <a:p>
            <a:r>
              <a:rPr lang="zh-CN" altLang="zh-CN" dirty="0"/>
              <a:t>批评者指出，功能对等理论在方法论上存在将</a:t>
            </a:r>
            <a:r>
              <a:rPr lang="zh-CN" altLang="zh-CN" b="1" dirty="0"/>
              <a:t>形式与意义分离</a:t>
            </a:r>
            <a:r>
              <a:rPr lang="zh-CN" altLang="zh-CN" dirty="0"/>
              <a:t>的风险。</a:t>
            </a:r>
            <a:r>
              <a:rPr lang="en-US" altLang="zh-CN" dirty="0"/>
              <a:t>Nichols</a:t>
            </a:r>
            <a:r>
              <a:rPr lang="zh-CN" altLang="zh-CN" dirty="0"/>
              <a:t>的论文明确将</a:t>
            </a:r>
            <a:r>
              <a:rPr lang="en-US" altLang="zh-CN" dirty="0"/>
              <a:t>“</a:t>
            </a:r>
            <a:r>
              <a:rPr lang="zh-CN" altLang="zh-CN" b="1" dirty="0"/>
              <a:t>低估语言中形式与意义的复杂关系</a:t>
            </a:r>
            <a:r>
              <a:rPr lang="en-US" altLang="zh-CN" dirty="0"/>
              <a:t>”</a:t>
            </a:r>
            <a:r>
              <a:rPr lang="zh-CN" altLang="zh-CN" dirty="0"/>
              <a:t>列为首要缺陷。这一批评触及奈达理论的根基：如果意义可以被</a:t>
            </a:r>
            <a:r>
              <a:rPr lang="en-US" altLang="zh-CN" dirty="0"/>
              <a:t>“</a:t>
            </a:r>
            <a:r>
              <a:rPr lang="zh-CN" altLang="zh-CN" dirty="0"/>
              <a:t>提取</a:t>
            </a:r>
            <a:r>
              <a:rPr lang="en-US" altLang="zh-CN" dirty="0"/>
              <a:t>”</a:t>
            </a:r>
            <a:r>
              <a:rPr lang="zh-CN" altLang="zh-CN" dirty="0"/>
              <a:t>出来并与形式分离，那么翻译就成了一种信息传递过程；但如果形式本身参与意义的构成（这在诗歌、修辞和圣经文学中尤为显著），那么对形式的系统轻视就可能导致意义的实质性损失。</a:t>
            </a:r>
            <a:endParaRPr lang="zh-CN" altLang="en-US" dirty="0"/>
          </a:p>
        </p:txBody>
      </p:sp>
    </p:spTree>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8"/>
          <p:cNvSpPr txBox="1"/>
          <p:nvPr/>
        </p:nvSpPr>
        <p:spPr>
          <a:xfrm>
            <a:off x="1210666" y="1819838"/>
            <a:ext cx="9663522" cy="368449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sp>
        <p:nvSpPr>
          <p:cNvPr id="2" name="文本框 1"/>
          <p:cNvSpPr txBox="1"/>
          <p:nvPr/>
        </p:nvSpPr>
        <p:spPr>
          <a:xfrm>
            <a:off x="1779494" y="1819838"/>
            <a:ext cx="8633012" cy="2862322"/>
          </a:xfrm>
          <a:prstGeom prst="rect">
            <a:avLst/>
          </a:prstGeom>
          <a:noFill/>
        </p:spPr>
        <p:txBody>
          <a:bodyPr wrap="square" rtlCol="0" anchor="t">
            <a:spAutoFit/>
          </a:bodyPr>
          <a:lstStyle/>
          <a:p>
            <a:pPr marL="285750" indent="-285750">
              <a:buFont typeface="Wingdings" panose="05000000000000000000" pitchFamily="2" charset="2"/>
              <a:buChar char="l"/>
            </a:pPr>
            <a:r>
              <a:rPr lang="zh-CN" altLang="zh-CN" dirty="0"/>
              <a:t>值得注意的是，部分学者对上述批判进行了辨析与回应。有研究指出，国内译论界长期盛行的</a:t>
            </a:r>
            <a:r>
              <a:rPr lang="en-US" altLang="zh-CN" dirty="0"/>
              <a:t>“</a:t>
            </a:r>
            <a:r>
              <a:rPr lang="zh-CN" altLang="zh-CN" dirty="0"/>
              <a:t>等值</a:t>
            </a:r>
            <a:r>
              <a:rPr lang="en-US" altLang="zh-CN" dirty="0"/>
              <a:t>”“</a:t>
            </a:r>
            <a:r>
              <a:rPr lang="zh-CN" altLang="zh-CN" dirty="0"/>
              <a:t>等效</a:t>
            </a:r>
            <a:r>
              <a:rPr lang="en-US" altLang="zh-CN" dirty="0"/>
              <a:t>”</a:t>
            </a:r>
            <a:r>
              <a:rPr lang="zh-CN" altLang="zh-CN" dirty="0"/>
              <a:t>等术语实际上</a:t>
            </a:r>
            <a:r>
              <a:rPr lang="zh-CN" altLang="zh-CN" b="1" dirty="0"/>
              <a:t>曲解了奈达理论的本质</a:t>
            </a:r>
            <a:r>
              <a:rPr lang="en-US" altLang="zh-CN" dirty="0"/>
              <a:t>——</a:t>
            </a:r>
            <a:r>
              <a:rPr lang="zh-CN" altLang="zh-CN" dirty="0"/>
              <a:t>奈达的本意是</a:t>
            </a:r>
            <a:r>
              <a:rPr lang="en-US" altLang="zh-CN" dirty="0"/>
              <a:t>“</a:t>
            </a:r>
            <a:r>
              <a:rPr lang="zh-CN" altLang="zh-CN" b="1" dirty="0"/>
              <a:t>求似不求等</a:t>
            </a:r>
            <a:r>
              <a:rPr lang="en-US" altLang="zh-CN" dirty="0"/>
              <a:t>”</a:t>
            </a:r>
            <a:r>
              <a:rPr lang="zh-CN" altLang="zh-CN" dirty="0"/>
              <a:t>，</a:t>
            </a:r>
            <a:r>
              <a:rPr lang="en-US" altLang="zh-CN" dirty="0"/>
              <a:t>equivalence </a:t>
            </a:r>
            <a:r>
              <a:rPr lang="zh-CN" altLang="zh-CN" dirty="0"/>
              <a:t>的含义更接近</a:t>
            </a:r>
            <a:r>
              <a:rPr lang="en-US" altLang="zh-CN" dirty="0"/>
              <a:t>“</a:t>
            </a:r>
            <a:r>
              <a:rPr lang="zh-CN" altLang="zh-CN" b="1" dirty="0"/>
              <a:t>基本相同</a:t>
            </a:r>
            <a:r>
              <a:rPr lang="en-US" altLang="zh-CN" dirty="0"/>
              <a:t>”</a:t>
            </a:r>
            <a:r>
              <a:rPr lang="zh-CN" altLang="zh-CN" dirty="0"/>
              <a:t>或</a:t>
            </a:r>
            <a:r>
              <a:rPr lang="en-US" altLang="zh-CN" dirty="0"/>
              <a:t>“</a:t>
            </a:r>
            <a:r>
              <a:rPr lang="zh-CN" altLang="zh-CN" b="1" dirty="0"/>
              <a:t>基本对等</a:t>
            </a:r>
            <a:r>
              <a:rPr lang="en-US" altLang="zh-CN" dirty="0"/>
              <a:t>”</a:t>
            </a:r>
            <a:r>
              <a:rPr lang="zh-CN" altLang="zh-CN" dirty="0"/>
              <a:t>，而非数学意义上的等同。另有学者对功能对等理论受到的各种质疑进行逐一辨析后得出结论：功能对等理论</a:t>
            </a:r>
            <a:r>
              <a:rPr lang="zh-CN" altLang="zh-CN" b="1" dirty="0"/>
              <a:t>并未过时</a:t>
            </a:r>
            <a:r>
              <a:rPr lang="zh-CN" altLang="zh-CN" dirty="0"/>
              <a:t>，对翻译实践仍具有指导意义。</a:t>
            </a:r>
            <a:endParaRPr lang="en-US" altLang="zh-CN" dirty="0"/>
          </a:p>
          <a:p>
            <a:endParaRPr lang="zh-CN" altLang="zh-CN" dirty="0"/>
          </a:p>
          <a:p>
            <a:pPr marL="285750" indent="-285750">
              <a:buFont typeface="Wingdings" panose="05000000000000000000" pitchFamily="2" charset="2"/>
              <a:buChar char="l"/>
            </a:pPr>
            <a:r>
              <a:rPr lang="zh-CN" altLang="zh-CN" dirty="0"/>
              <a:t>奈达本人也在后期将</a:t>
            </a:r>
            <a:r>
              <a:rPr lang="en-US" altLang="zh-CN" dirty="0"/>
              <a:t>“</a:t>
            </a:r>
            <a:r>
              <a:rPr lang="zh-CN" altLang="zh-CN" dirty="0"/>
              <a:t>动态对等</a:t>
            </a:r>
            <a:r>
              <a:rPr lang="en-US" altLang="zh-CN" dirty="0"/>
              <a:t>”</a:t>
            </a:r>
            <a:r>
              <a:rPr lang="zh-CN" altLang="zh-CN" dirty="0"/>
              <a:t>调整为</a:t>
            </a:r>
            <a:r>
              <a:rPr lang="en-US" altLang="zh-CN" dirty="0"/>
              <a:t>“</a:t>
            </a:r>
            <a:r>
              <a:rPr lang="zh-CN" altLang="zh-CN" dirty="0"/>
              <a:t>功能对等</a:t>
            </a:r>
            <a:r>
              <a:rPr lang="en-US" altLang="zh-CN" dirty="0"/>
              <a:t>”</a:t>
            </a:r>
            <a:r>
              <a:rPr lang="zh-CN" altLang="zh-CN" dirty="0"/>
              <a:t>，以弱化</a:t>
            </a:r>
            <a:r>
              <a:rPr lang="en-US" altLang="zh-CN" dirty="0"/>
              <a:t>“</a:t>
            </a:r>
            <a:r>
              <a:rPr lang="zh-CN" altLang="zh-CN" dirty="0"/>
              <a:t>动态</a:t>
            </a:r>
            <a:r>
              <a:rPr lang="en-US" altLang="zh-CN" dirty="0"/>
              <a:t>”</a:t>
            </a:r>
            <a:r>
              <a:rPr lang="zh-CN" altLang="zh-CN" dirty="0"/>
              <a:t>一词可能引发的误解。然而，从</a:t>
            </a:r>
            <a:r>
              <a:rPr lang="en-US" altLang="zh-CN" dirty="0"/>
              <a:t>Felber</a:t>
            </a:r>
            <a:r>
              <a:rPr lang="zh-CN" altLang="zh-CN" dirty="0"/>
              <a:t>到</a:t>
            </a:r>
            <a:r>
              <a:rPr lang="en-US" altLang="zh-CN" dirty="0"/>
              <a:t>Nichols</a:t>
            </a:r>
            <a:r>
              <a:rPr lang="zh-CN" altLang="zh-CN" dirty="0"/>
              <a:t>再到</a:t>
            </a:r>
            <a:r>
              <a:rPr lang="en-US" altLang="zh-CN" dirty="0"/>
              <a:t>Venuti</a:t>
            </a:r>
            <a:r>
              <a:rPr lang="zh-CN" altLang="zh-CN" dirty="0"/>
              <a:t>，批判的焦点已从术语层面转向了更深层的</a:t>
            </a:r>
            <a:r>
              <a:rPr lang="zh-CN" altLang="zh-CN" b="1" dirty="0"/>
              <a:t>认识论与伦理问题</a:t>
            </a:r>
            <a:r>
              <a:rPr lang="zh-CN" altLang="zh-CN" dirty="0"/>
              <a:t>：翻译是否应该、以及是否能够，在不消解源文本文化身份的前提下实现有效的跨文化交际。这一追问至今仍是翻译理论的核心议题。</a:t>
            </a:r>
            <a:endParaRPr lang="zh-CN" altLang="en-US" dirty="0"/>
          </a:p>
        </p:txBody>
      </p:sp>
    </p:spTree>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2442787" cy="345721"/>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zh-CN"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3695343" y="2881138"/>
            <a:ext cx="5378395" cy="646331"/>
          </a:xfrm>
          <a:prstGeom prst="rect">
            <a:avLst/>
          </a:prstGeom>
          <a:noFill/>
        </p:spPr>
        <p:txBody>
          <a:bodyPr wrap="none" rtlCol="0">
            <a:spAutoFit/>
          </a:bodyPr>
          <a:lstStyle/>
          <a:p>
            <a:pPr marL="571500" indent="-571500">
              <a:buFont typeface="Wingdings" panose="05000000000000000000" pitchFamily="2" charset="2"/>
              <a:buChar char="u"/>
            </a:pPr>
            <a:r>
              <a:rPr lang="zh-CN" altLang="en-US" sz="3600" dirty="0">
                <a:solidFill>
                  <a:schemeClr val="tx1">
                    <a:lumMod val="75000"/>
                    <a:lumOff val="25000"/>
                  </a:schemeClr>
                </a:solidFill>
                <a:latin typeface="微软雅黑" charset="-122"/>
                <a:ea typeface="微软雅黑" charset="-122"/>
              </a:rPr>
              <a:t>修正性回应与理论演进</a:t>
            </a:r>
            <a:endParaRPr lang="zh-CN" altLang="en-US" sz="3600" dirty="0">
              <a:solidFill>
                <a:schemeClr val="tx1">
                  <a:lumMod val="75000"/>
                  <a:lumOff val="25000"/>
                </a:schemeClr>
              </a:solidFill>
              <a:latin typeface="微软雅黑" charset="-122"/>
              <a:ea typeface="微软雅黑" charset="-122"/>
            </a:endParaRPr>
          </a:p>
        </p:txBody>
      </p:sp>
    </p:spTree>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2442787" cy="345721"/>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zh-CN"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4791797" y="2881138"/>
            <a:ext cx="2608406" cy="646331"/>
          </a:xfrm>
          <a:prstGeom prst="rect">
            <a:avLst/>
          </a:prstGeom>
          <a:noFill/>
        </p:spPr>
        <p:txBody>
          <a:bodyPr wrap="none" rtlCol="0">
            <a:spAutoFit/>
          </a:bodyPr>
          <a:lstStyle/>
          <a:p>
            <a:pPr marL="571500" indent="-571500">
              <a:buFont typeface="Wingdings" panose="05000000000000000000" pitchFamily="2" charset="2"/>
              <a:buChar char="u"/>
            </a:pPr>
            <a:r>
              <a:rPr lang="zh-CN" altLang="en-US" sz="3600" dirty="0">
                <a:solidFill>
                  <a:schemeClr val="tx1">
                    <a:lumMod val="75000"/>
                    <a:lumOff val="25000"/>
                  </a:schemeClr>
                </a:solidFill>
                <a:latin typeface="微软雅黑" charset="-122"/>
                <a:ea typeface="微软雅黑" charset="-122"/>
              </a:rPr>
              <a:t>案例分析</a:t>
            </a:r>
            <a:endParaRPr lang="zh-CN" altLang="en-US" sz="3600" dirty="0">
              <a:solidFill>
                <a:schemeClr val="tx1">
                  <a:lumMod val="75000"/>
                  <a:lumOff val="25000"/>
                </a:schemeClr>
              </a:solidFill>
              <a:latin typeface="微软雅黑" charset="-122"/>
              <a:ea typeface="微软雅黑" charset="-122"/>
            </a:endParaRPr>
          </a:p>
        </p:txBody>
      </p:sp>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r>
                <a:rPr lang="en-US" altLang="zh-CN" sz="1600" b="1" dirty="0">
                  <a:solidFill>
                    <a:schemeClr val="tx1"/>
                  </a:solidFill>
                  <a:latin typeface="微软雅黑"/>
                  <a:ea typeface="微软雅黑"/>
                </a:rPr>
                <a:t>Case Study 1 – Typo in A Letter</a:t>
              </a: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2284881" y="3186973"/>
            <a:ext cx="8339417" cy="829945"/>
          </a:xfrm>
          <a:prstGeom prst="rect">
            <a:avLst/>
          </a:prstGeom>
          <a:noFill/>
        </p:spPr>
        <p:txBody>
          <a:bodyPr wrap="square" rtlCol="0" anchor="t">
            <a:spAutoFit/>
          </a:bodyPr>
          <a:lstStyle/>
          <a:p>
            <a:pPr algn="l">
              <a:buClrTx/>
              <a:buSzTx/>
              <a:buFontTx/>
            </a:pPr>
            <a:r>
              <a:rPr lang="en-US" altLang="zh-CN" sz="2400" dirty="0"/>
              <a:t>How would you translate “amend ‘reps</a:t>
            </a:r>
            <a:r>
              <a:rPr lang="en-US" altLang="zh-CN" sz="2400" i="1" dirty="0"/>
              <a:t>onsse</a:t>
            </a:r>
            <a:r>
              <a:rPr lang="en-US" altLang="zh-CN" sz="2400" dirty="0"/>
              <a:t>’ </a:t>
            </a:r>
            <a:r>
              <a:rPr lang="en-US" altLang="zh-CN" sz="2400" dirty="0"/>
              <a:t>to ‘</a:t>
            </a:r>
            <a:r>
              <a:rPr lang="en-US" altLang="zh-CN" sz="2400" i="1" dirty="0"/>
              <a:t>response</a:t>
            </a:r>
            <a:r>
              <a:rPr lang="en-US" altLang="zh-CN" sz="2400" dirty="0"/>
              <a:t>’?”</a:t>
            </a:r>
            <a:endParaRPr lang="en-US" altLang="zh-CN" sz="2400" dirty="0"/>
          </a:p>
        </p:txBody>
      </p:sp>
    </p:spTree>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2442787" cy="345721"/>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zh-CN"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4618673" y="2881138"/>
            <a:ext cx="3531736" cy="646331"/>
          </a:xfrm>
          <a:prstGeom prst="rect">
            <a:avLst/>
          </a:prstGeom>
          <a:noFill/>
        </p:spPr>
        <p:txBody>
          <a:bodyPr wrap="none" rtlCol="0">
            <a:spAutoFit/>
          </a:bodyPr>
          <a:lstStyle/>
          <a:p>
            <a:pPr marL="571500" indent="-571500">
              <a:buFont typeface="Wingdings" panose="05000000000000000000" pitchFamily="2" charset="2"/>
              <a:buChar char="u"/>
            </a:pPr>
            <a:r>
              <a:rPr lang="en-US" altLang="zh-CN" sz="3600" dirty="0">
                <a:solidFill>
                  <a:schemeClr val="tx1">
                    <a:lumMod val="75000"/>
                    <a:lumOff val="25000"/>
                  </a:schemeClr>
                </a:solidFill>
                <a:latin typeface="微软雅黑" charset="-122"/>
                <a:ea typeface="微软雅黑" charset="-122"/>
              </a:rPr>
              <a:t>AI</a:t>
            </a:r>
            <a:r>
              <a:rPr lang="zh-CN" altLang="en-US" sz="3600" dirty="0">
                <a:solidFill>
                  <a:schemeClr val="tx1">
                    <a:lumMod val="75000"/>
                    <a:lumOff val="25000"/>
                  </a:schemeClr>
                </a:solidFill>
                <a:latin typeface="微软雅黑" charset="-122"/>
                <a:ea typeface="微软雅黑" charset="-122"/>
              </a:rPr>
              <a:t>时代的思考</a:t>
            </a:r>
            <a:endParaRPr lang="zh-CN" altLang="en-US" sz="3600" dirty="0">
              <a:solidFill>
                <a:schemeClr val="tx1">
                  <a:lumMod val="75000"/>
                  <a:lumOff val="25000"/>
                </a:schemeClr>
              </a:solidFill>
              <a:latin typeface="微软雅黑" charset="-122"/>
              <a:ea typeface="微软雅黑" charset="-122"/>
            </a:endParaRPr>
          </a:p>
        </p:txBody>
      </p:sp>
    </p:spTree>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46720" y="1718188"/>
            <a:ext cx="6698560" cy="2812024"/>
          </a:xfrm>
          <a:prstGeom prst="rect">
            <a:avLst/>
          </a:prstGeom>
        </p:spPr>
      </p:pic>
    </p:spTree>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2251412" y="2673399"/>
            <a:ext cx="8339417" cy="1200329"/>
          </a:xfrm>
          <a:prstGeom prst="rect">
            <a:avLst/>
          </a:prstGeom>
          <a:noFill/>
        </p:spPr>
        <p:txBody>
          <a:bodyPr wrap="square" rtlCol="0" anchor="t">
            <a:spAutoFit/>
          </a:bodyPr>
          <a:lstStyle/>
          <a:p>
            <a:r>
              <a:rPr lang="zh-CN" altLang="en-US" sz="2400" b="1" dirty="0"/>
              <a:t>“</a:t>
            </a:r>
            <a:r>
              <a:rPr lang="zh-CN" altLang="en-US" sz="2400" b="1" dirty="0">
                <a:latin typeface="+mn-ea"/>
              </a:rPr>
              <a:t>用“信、达、雅”原则，翻译以下内容：</a:t>
            </a:r>
            <a:r>
              <a:rPr lang="en-US" altLang="zh-CN" sz="2400" b="1" dirty="0">
                <a:latin typeface="+mn-ea"/>
              </a:rPr>
              <a:t>…</a:t>
            </a:r>
            <a:r>
              <a:rPr lang="zh-CN" altLang="en-US" sz="2400" b="1" dirty="0">
                <a:latin typeface="+mn-ea"/>
              </a:rPr>
              <a:t>”</a:t>
            </a:r>
            <a:endParaRPr lang="en-US" altLang="zh-CN" sz="2400" b="1" dirty="0">
              <a:latin typeface="+mn-ea"/>
            </a:endParaRPr>
          </a:p>
          <a:p>
            <a:pPr algn="r"/>
            <a:r>
              <a:rPr lang="en-US" altLang="zh-CN" sz="2400" i="1" dirty="0">
                <a:latin typeface="+mn-ea"/>
              </a:rPr>
              <a:t>---- by Jamie Huang (2026.9.13) </a:t>
            </a:r>
            <a:endParaRPr lang="en-US" altLang="zh-CN" sz="2400" i="1" dirty="0">
              <a:latin typeface="+mn-ea"/>
            </a:endParaRPr>
          </a:p>
          <a:p>
            <a:endParaRPr lang="zh-CN" altLang="en-US" sz="2400" dirty="0"/>
          </a:p>
        </p:txBody>
      </p:sp>
    </p:spTree>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4880" y="650239"/>
            <a:ext cx="9560560" cy="5355312"/>
          </a:xfrm>
          <a:prstGeom prst="rect">
            <a:avLst/>
          </a:prstGeom>
          <a:noFill/>
        </p:spPr>
        <p:txBody>
          <a:bodyPr wrap="square" rtlCol="0">
            <a:spAutoFit/>
          </a:bodyPr>
          <a:lstStyle/>
          <a:p>
            <a:endParaRPr lang="zh-CN" altLang="en-US" dirty="0"/>
          </a:p>
          <a:p>
            <a:r>
              <a:rPr lang="zh-CN" altLang="en-US" b="1" dirty="0"/>
              <a:t>原文：</a:t>
            </a:r>
            <a:r>
              <a:rPr lang="en-US" altLang="zh-CN" dirty="0"/>
              <a:t>In the fiscal year under review, the domestic economy has seen a continuing trend of recovery in personal consumption due to an improving employment and income environment. However, a full-scale recovery has not been achieved due to sluggish real wage growth caused by prolonged inflation from rising raw material and energy prices and the depreciation of Japanese Yen. According to the “Family Income and Expenditure Survey” by the Ministry of Internal Affairs and Communications, real consumption expenditure for all households in Japan has been negative for three consecutive years, and it is expected that consumers’ saving orientation due to a defensive attitude towards their livelihoods will continue. On the other hand, there are some signs of brightness, with some items turning positive outside of food and housing, which have been strongly affected by inflation. However, in the global economy, in addition to the prolonged situation in Ukraine, the uncertainty in the Middle East situation increases concerns that it could bring great uncertainty to the domestic economy in the future. In addition, Japan is in a position to be affected by the global economy through policy trends, as represented by the trade policy of the United States, and the business environment remains difficult to foresee. Under these circumstances, in our core pachinko business, we have continued to promote the efficient installation of gaming machines, as we did last year, and are in the process of updating our record for the largest number of installed gaming machines since our founding. As a result, gross pay-ins (pachinko and </a:t>
            </a:r>
            <a:r>
              <a:rPr lang="en-US" altLang="zh-CN" dirty="0" err="1"/>
              <a:t>pachislot</a:t>
            </a:r>
            <a:r>
              <a:rPr lang="en-US" altLang="zh-CN" dirty="0"/>
              <a:t> hall revenue) increased by 2.7% year-on-year to ¥149,054 million.</a:t>
            </a:r>
            <a:endParaRPr lang="zh-CN" alt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26951" y="1179157"/>
            <a:ext cx="9560560" cy="3139321"/>
          </a:xfrm>
          <a:prstGeom prst="rect">
            <a:avLst/>
          </a:prstGeom>
          <a:noFill/>
        </p:spPr>
        <p:txBody>
          <a:bodyPr wrap="square" rtlCol="0">
            <a:spAutoFit/>
          </a:bodyPr>
          <a:lstStyle/>
          <a:p>
            <a:endParaRPr lang="zh-CN" altLang="en-US" dirty="0"/>
          </a:p>
          <a:p>
            <a:r>
              <a:rPr lang="zh-CN" altLang="en-US" b="1" dirty="0"/>
              <a:t>译文</a:t>
            </a:r>
            <a:r>
              <a:rPr lang="en-US" altLang="zh-CN" b="1" dirty="0"/>
              <a:t>1</a:t>
            </a:r>
            <a:r>
              <a:rPr lang="zh-CN" altLang="en-US" b="1" dirty="0"/>
              <a:t>：</a:t>
            </a:r>
            <a:r>
              <a:rPr lang="zh-CN" altLang="en-US" dirty="0"/>
              <a:t>本报告期财年，随着就业和收入环境改善，国内个人消费持续呈现复苏势头。然而，原材料和能源价格上涨以及日元贬值导致通胀长期化，实际工资增长乏力，因此尚未实现全面复苏。总务省</a:t>
            </a:r>
            <a:r>
              <a:rPr lang="en-US" altLang="zh-CN" dirty="0"/>
              <a:t>《</a:t>
            </a:r>
            <a:r>
              <a:rPr lang="zh-CN" altLang="en-US" dirty="0"/>
              <a:t>家庭收支调查</a:t>
            </a:r>
            <a:r>
              <a:rPr lang="en-US" altLang="zh-CN" dirty="0"/>
              <a:t>》</a:t>
            </a:r>
            <a:r>
              <a:rPr lang="zh-CN" altLang="en-US" dirty="0"/>
              <a:t>显示，日本全体家庭的实际消费支出已连续三年负增长，预计消费者出于对生活的防御心态而形成的储蓄倾向仍将持续。另一方面，也出现一些亮色：除受通胀影响严重的食品和住房外，部分项目已转为正增长。但在全球经济层面，除乌克兰局势久拖不决外，中东局势的不确定性也加剧了人们的担忧，即未来国内经济可能面临巨大不确定性。此外，以美国贸易政策为代表的政策动向，使日本处于易受全球经济影响的位置，经营环境依然难以预料。在此形势下，我们在核心的弹珠机业务中，延续去年的做法，继续推进游戏机的高效设置，并正在刷新公司创立以来游戏机设置台数的最高纪录。结果，总投入金额（弹珠机及弹珠老虎机馆收入）同比增长</a:t>
            </a:r>
            <a:r>
              <a:rPr lang="en-US" altLang="zh-CN" dirty="0"/>
              <a:t>2.7%</a:t>
            </a:r>
            <a:r>
              <a:rPr lang="zh-CN" altLang="en-US" dirty="0"/>
              <a:t>，达到</a:t>
            </a:r>
            <a:r>
              <a:rPr lang="en-US" altLang="zh-CN" dirty="0"/>
              <a:t>1,490.54</a:t>
            </a:r>
            <a:r>
              <a:rPr lang="zh-CN" altLang="en-US" dirty="0"/>
              <a:t>亿日元。</a:t>
            </a:r>
            <a:endParaRPr lang="zh-CN" alt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97578" y="1540397"/>
            <a:ext cx="6796844" cy="4016046"/>
          </a:xfrm>
          <a:prstGeom prst="rect">
            <a:avLst/>
          </a:prstGeom>
        </p:spPr>
      </p:pic>
    </p:spTree>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926292" y="2338119"/>
            <a:ext cx="8339417" cy="2308324"/>
          </a:xfrm>
          <a:prstGeom prst="rect">
            <a:avLst/>
          </a:prstGeom>
          <a:noFill/>
        </p:spPr>
        <p:txBody>
          <a:bodyPr wrap="square" rtlCol="0" anchor="t">
            <a:spAutoFit/>
          </a:bodyPr>
          <a:lstStyle/>
          <a:p>
            <a:r>
              <a:rPr lang="zh-CN" altLang="en-US" sz="2400" dirty="0">
                <a:latin typeface="+mn-ea"/>
              </a:rPr>
              <a:t>“</a:t>
            </a:r>
            <a:r>
              <a:rPr lang="ja-JP" altLang="en-US" sz="2400" dirty="0">
                <a:latin typeface="+mn-ea"/>
              </a:rPr>
              <a:t>你需要扮演一名語言專家和演講家，觀眾是投資者和投資機構，目標公司是株式会社ニラク▪ジー▪シー▪ホールディングス</a:t>
            </a:r>
            <a:r>
              <a:rPr lang="en-US" altLang="ja-JP" sz="2400" dirty="0">
                <a:latin typeface="+mn-ea"/>
              </a:rPr>
              <a:t>NIRAKU GC HOLDINGS, INC.</a:t>
            </a:r>
            <a:r>
              <a:rPr lang="ja-JP" altLang="en-US" sz="2400" dirty="0">
                <a:latin typeface="+mn-ea"/>
              </a:rPr>
              <a:t>，請以自然和主席發言風格，翻譯所附文檔，不必逐字逐句翻譯</a:t>
            </a:r>
            <a:r>
              <a:rPr lang="zh-CN" altLang="en-US" sz="2400" dirty="0">
                <a:latin typeface="+mn-ea"/>
              </a:rPr>
              <a:t>”</a:t>
            </a:r>
            <a:endParaRPr lang="en-US" altLang="zh-CN" sz="2400" dirty="0">
              <a:latin typeface="+mn-ea"/>
            </a:endParaRPr>
          </a:p>
          <a:p>
            <a:pPr algn="r"/>
            <a:r>
              <a:rPr lang="en-US" altLang="zh-CN" sz="2400" i="1" dirty="0">
                <a:latin typeface="+mn-ea"/>
              </a:rPr>
              <a:t>---- by Jamie Huang (2026.5) </a:t>
            </a:r>
            <a:endParaRPr lang="en-US" altLang="zh-CN" sz="2400" i="1" dirty="0">
              <a:latin typeface="+mn-ea"/>
            </a:endParaRPr>
          </a:p>
          <a:p>
            <a:endParaRPr lang="zh-CN" altLang="en-US" sz="2400" dirty="0">
              <a:latin typeface="+mn-ea"/>
            </a:endParaRPr>
          </a:p>
        </p:txBody>
      </p:sp>
    </p:spTree>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9751" y="1166842"/>
            <a:ext cx="5169049" cy="4524315"/>
          </a:xfrm>
          <a:prstGeom prst="rect">
            <a:avLst/>
          </a:prstGeom>
          <a:noFill/>
        </p:spPr>
        <p:txBody>
          <a:bodyPr wrap="square" rtlCol="0">
            <a:spAutoFit/>
          </a:bodyPr>
          <a:lstStyle/>
          <a:p>
            <a:endParaRPr lang="zh-CN" altLang="en-US" sz="1600" dirty="0"/>
          </a:p>
          <a:p>
            <a:r>
              <a:rPr lang="zh-CN" altLang="en-US" sz="1600" b="1" dirty="0"/>
              <a:t>译文</a:t>
            </a:r>
            <a:r>
              <a:rPr lang="en-US" altLang="zh-CN" sz="1600" b="1" dirty="0"/>
              <a:t>1</a:t>
            </a:r>
            <a:r>
              <a:rPr lang="zh-CN" altLang="en-US" sz="1600" b="1" dirty="0"/>
              <a:t>：</a:t>
            </a:r>
            <a:r>
              <a:rPr lang="zh-CN" altLang="en-US" sz="1600" dirty="0">
                <a:highlight>
                  <a:srgbClr val="FFFF00"/>
                </a:highlight>
              </a:rPr>
              <a:t>本报告期财年，随着就业和收入环境改善，国内个人消费持续呈现复苏势头。</a:t>
            </a:r>
            <a:r>
              <a:rPr lang="zh-CN" altLang="en-US" sz="1600" dirty="0"/>
              <a:t>然而，原材料和能源价格上涨以及日元贬值导致通胀长期化，实际工资增长乏力，因此尚未实现全面复苏。总务省</a:t>
            </a:r>
            <a:r>
              <a:rPr lang="en-US" altLang="zh-CN" sz="1600" dirty="0">
                <a:highlight>
                  <a:srgbClr val="FFFF00"/>
                </a:highlight>
              </a:rPr>
              <a:t>《</a:t>
            </a:r>
            <a:r>
              <a:rPr lang="zh-CN" altLang="en-US" sz="1600" dirty="0">
                <a:highlight>
                  <a:srgbClr val="FFFF00"/>
                </a:highlight>
              </a:rPr>
              <a:t>家庭收支调查</a:t>
            </a:r>
            <a:r>
              <a:rPr lang="en-US" altLang="zh-CN" sz="1600" dirty="0">
                <a:highlight>
                  <a:srgbClr val="FFFF00"/>
                </a:highlight>
              </a:rPr>
              <a:t>》</a:t>
            </a:r>
            <a:r>
              <a:rPr lang="zh-CN" altLang="en-US" sz="1600" dirty="0"/>
              <a:t>显示，日本全体家庭的实际消费支出已连续三年负增长，</a:t>
            </a:r>
            <a:r>
              <a:rPr lang="zh-CN" altLang="en-US" sz="1600" dirty="0">
                <a:highlight>
                  <a:srgbClr val="FFFF00"/>
                </a:highlight>
              </a:rPr>
              <a:t>预计消费者出于对生活的防御心态而形成的储蓄倾向仍将持续。另一方面，也出现一些亮色：除受通胀影响严重的食品和住房外，部分项目已转为正增长。</a:t>
            </a:r>
            <a:r>
              <a:rPr lang="zh-CN" altLang="en-US" sz="1600" dirty="0"/>
              <a:t>但在全球经济层面，除乌克兰局势久拖不决外，</a:t>
            </a:r>
            <a:r>
              <a:rPr lang="zh-CN" altLang="en-US" sz="1600" dirty="0">
                <a:highlight>
                  <a:srgbClr val="FFFF00"/>
                </a:highlight>
              </a:rPr>
              <a:t>中东局势的不确定性也加剧了人们的担忧，即未来国内经济可能面临巨大不确定性</a:t>
            </a:r>
            <a:r>
              <a:rPr lang="zh-CN" altLang="en-US" sz="1600" dirty="0"/>
              <a:t>。此外，以美国贸易政策为代表的政策动向，</a:t>
            </a:r>
            <a:r>
              <a:rPr lang="zh-CN" altLang="en-US" sz="1600" dirty="0">
                <a:highlight>
                  <a:srgbClr val="FFFF00"/>
                </a:highlight>
              </a:rPr>
              <a:t>使日本处于易受全球经济影响的位置，</a:t>
            </a:r>
            <a:r>
              <a:rPr lang="zh-CN" altLang="en-US" sz="1600" dirty="0"/>
              <a:t>经营环境依然难以预料。</a:t>
            </a:r>
            <a:r>
              <a:rPr lang="zh-CN" altLang="en-US" sz="1600" dirty="0">
                <a:highlight>
                  <a:srgbClr val="FFFF00"/>
                </a:highlight>
              </a:rPr>
              <a:t>在此形势下，我们在核心的弹珠机业务中，</a:t>
            </a:r>
            <a:r>
              <a:rPr lang="zh-CN" altLang="en-US" sz="1600" dirty="0"/>
              <a:t>延续去年的做法，继续推进游戏机的高效设置，并正在刷新公司创立以来游戏机设置台数的最高纪录。</a:t>
            </a:r>
            <a:r>
              <a:rPr lang="zh-CN" altLang="en-US" sz="1600" dirty="0">
                <a:highlight>
                  <a:srgbClr val="FFFF00"/>
                </a:highlight>
              </a:rPr>
              <a:t>结果，</a:t>
            </a:r>
            <a:r>
              <a:rPr lang="zh-CN" altLang="en-US" sz="1600" dirty="0"/>
              <a:t>总投入金额（弹珠机及弹珠老虎机馆收入）同比增长</a:t>
            </a:r>
            <a:r>
              <a:rPr lang="en-US" altLang="zh-CN" sz="1600" dirty="0"/>
              <a:t>2.7%</a:t>
            </a:r>
            <a:r>
              <a:rPr lang="zh-CN" altLang="en-US" sz="1600" dirty="0"/>
              <a:t>，达到</a:t>
            </a:r>
            <a:r>
              <a:rPr lang="en-US" altLang="zh-CN" sz="1600" dirty="0"/>
              <a:t>1,490.54</a:t>
            </a:r>
            <a:r>
              <a:rPr lang="zh-CN" altLang="en-US" sz="1600" dirty="0"/>
              <a:t>亿日元。</a:t>
            </a:r>
            <a:endParaRPr lang="zh-CN" altLang="en-US" sz="1600" dirty="0"/>
          </a:p>
        </p:txBody>
      </p:sp>
      <p:sp>
        <p:nvSpPr>
          <p:cNvPr id="3" name="文本框 2"/>
          <p:cNvSpPr txBox="1"/>
          <p:nvPr/>
        </p:nvSpPr>
        <p:spPr>
          <a:xfrm>
            <a:off x="6418729" y="1166842"/>
            <a:ext cx="5169049" cy="4770537"/>
          </a:xfrm>
          <a:prstGeom prst="rect">
            <a:avLst/>
          </a:prstGeom>
          <a:noFill/>
        </p:spPr>
        <p:txBody>
          <a:bodyPr wrap="square" rtlCol="0">
            <a:spAutoFit/>
          </a:bodyPr>
          <a:lstStyle/>
          <a:p>
            <a:endParaRPr lang="zh-CN" altLang="en-US" sz="1600" dirty="0">
              <a:latin typeface="+mn-ea"/>
            </a:endParaRPr>
          </a:p>
          <a:p>
            <a:r>
              <a:rPr lang="zh-CN" altLang="en-US" sz="1600" b="1" dirty="0">
                <a:latin typeface="+mn-ea"/>
              </a:rPr>
              <a:t>译文</a:t>
            </a:r>
            <a:r>
              <a:rPr lang="en-US" altLang="zh-CN" sz="1600" b="1" dirty="0">
                <a:latin typeface="+mn-ea"/>
              </a:rPr>
              <a:t>2</a:t>
            </a:r>
            <a:r>
              <a:rPr lang="zh-CN" altLang="en-US" sz="1600" b="1" dirty="0">
                <a:latin typeface="+mn-ea"/>
              </a:rPr>
              <a:t>：</a:t>
            </a:r>
            <a:r>
              <a:rPr lang="zh-TW" altLang="en-US" sz="1600" dirty="0">
                <a:highlight>
                  <a:srgbClr val="FFFF00"/>
                </a:highlight>
                <a:latin typeface="宋体" pitchFamily="2" charset="-122"/>
                <a:ea typeface="宋体" pitchFamily="2" charset="-122"/>
              </a:rPr>
              <a:t>回顾过去这个财政年度，日本国内经济在就业与收入环境改善的支撑下，个人消费延续了复苏的趋势。</a:t>
            </a:r>
            <a:r>
              <a:rPr lang="zh-TW" altLang="en-US" sz="1600" dirty="0">
                <a:latin typeface="宋体" pitchFamily="2" charset="-122"/>
                <a:ea typeface="宋体" pitchFamily="2" charset="-122"/>
              </a:rPr>
              <a:t>然而，由于原材料和能源价格居高不下，加上日圆贬值，实质薪资增长乏力，消费的全面复苏尚未实现。总务省</a:t>
            </a:r>
            <a:r>
              <a:rPr lang="en-US" altLang="zh-TW" sz="1600" dirty="0">
                <a:highlight>
                  <a:srgbClr val="FFFF00"/>
                </a:highlight>
                <a:latin typeface="宋体" pitchFamily="2" charset="-122"/>
                <a:ea typeface="宋体" pitchFamily="2" charset="-122"/>
              </a:rPr>
              <a:t>《</a:t>
            </a:r>
            <a:r>
              <a:rPr lang="zh-TW" altLang="en-US" sz="1600" dirty="0">
                <a:highlight>
                  <a:srgbClr val="FFFF00"/>
                </a:highlight>
                <a:latin typeface="宋体" pitchFamily="2" charset="-122"/>
                <a:ea typeface="宋体" pitchFamily="2" charset="-122"/>
              </a:rPr>
              <a:t>家计调查</a:t>
            </a:r>
            <a:r>
              <a:rPr lang="en-US" altLang="zh-TW" sz="1600" dirty="0">
                <a:highlight>
                  <a:srgbClr val="FFFF00"/>
                </a:highlight>
                <a:latin typeface="宋体" pitchFamily="2" charset="-122"/>
                <a:ea typeface="宋体" pitchFamily="2" charset="-122"/>
              </a:rPr>
              <a:t>》</a:t>
            </a:r>
            <a:r>
              <a:rPr lang="zh-TW" altLang="en-US" sz="1600" dirty="0">
                <a:latin typeface="宋体" pitchFamily="2" charset="-122"/>
                <a:ea typeface="宋体" pitchFamily="2" charset="-122"/>
              </a:rPr>
              <a:t>显示，全日本家庭实质消费支出已连续三年呈现负增长，</a:t>
            </a:r>
            <a:r>
              <a:rPr lang="zh-TW" altLang="en-US" sz="1600" dirty="0">
                <a:highlight>
                  <a:srgbClr val="FFFF00"/>
                </a:highlight>
                <a:latin typeface="宋体" pitchFamily="2" charset="-122"/>
                <a:ea typeface="宋体" pitchFamily="2" charset="-122"/>
              </a:rPr>
              <a:t>预期消费者对生活开支的防卫心态与储蓄倾向仍将持续。另一方面，我们也看到一些曙光 </a:t>
            </a:r>
            <a:r>
              <a:rPr lang="en-US" altLang="zh-TW" sz="1600" dirty="0">
                <a:highlight>
                  <a:srgbClr val="FFFF00"/>
                </a:highlight>
                <a:latin typeface="宋体" pitchFamily="2" charset="-122"/>
                <a:ea typeface="宋体" pitchFamily="2" charset="-122"/>
              </a:rPr>
              <a:t>— </a:t>
            </a:r>
            <a:r>
              <a:rPr lang="zh-TW" altLang="en-US" sz="1600" dirty="0">
                <a:highlight>
                  <a:srgbClr val="FFFF00"/>
                </a:highlight>
                <a:latin typeface="宋体" pitchFamily="2" charset="-122"/>
                <a:ea typeface="宋体" pitchFamily="2" charset="-122"/>
              </a:rPr>
              <a:t>除了受通货膨胀影响较深的食品与住房支出外，部分消费项目已转趋正面。</a:t>
            </a:r>
            <a:r>
              <a:rPr lang="zh-TW" altLang="en-US" sz="1600" dirty="0">
                <a:latin typeface="宋体" pitchFamily="2" charset="-122"/>
                <a:ea typeface="宋体" pitchFamily="2" charset="-122"/>
              </a:rPr>
              <a:t>然而，就全球经济而言，除了乌克兰局势的长期化之外，</a:t>
            </a:r>
            <a:r>
              <a:rPr lang="zh-TW" altLang="en-US" sz="1600" dirty="0">
                <a:highlight>
                  <a:srgbClr val="FFFF00"/>
                </a:highlight>
                <a:latin typeface="宋体" pitchFamily="2" charset="-122"/>
                <a:ea typeface="宋体" pitchFamily="2" charset="-122"/>
              </a:rPr>
              <a:t>中东情势的不确定性也正日益加深「这可能为国内经济前景带来巨大不确定性」的忧虑</a:t>
            </a:r>
            <a:r>
              <a:rPr lang="zh-TW" altLang="en-US" sz="1600" dirty="0">
                <a:latin typeface="宋体" pitchFamily="2" charset="-122"/>
                <a:ea typeface="宋体" pitchFamily="2" charset="-122"/>
              </a:rPr>
              <a:t>。加上以美国贸易政策为代表的各国政策走向，</a:t>
            </a:r>
            <a:r>
              <a:rPr lang="zh-TW" altLang="en-US" sz="1600" dirty="0">
                <a:highlight>
                  <a:srgbClr val="FFFF00"/>
                </a:highlight>
                <a:latin typeface="宋体" pitchFamily="2" charset="-122"/>
                <a:ea typeface="宋体" pitchFamily="2" charset="-122"/>
              </a:rPr>
              <a:t>日本无可避免地会受到全球经济的牵动</a:t>
            </a:r>
            <a:r>
              <a:rPr lang="zh-TW" altLang="en-US" sz="1600" dirty="0">
                <a:latin typeface="宋体" pitchFamily="2" charset="-122"/>
                <a:ea typeface="宋体" pitchFamily="2" charset="-122"/>
              </a:rPr>
              <a:t>，我们的经营环境依然难以预测。</a:t>
            </a:r>
            <a:r>
              <a:rPr lang="zh-TW" altLang="en-US" sz="1600" dirty="0">
                <a:highlight>
                  <a:srgbClr val="FFFF00"/>
                </a:highlight>
                <a:latin typeface="宋体" pitchFamily="2" charset="-122"/>
                <a:ea typeface="宋体" pitchFamily="2" charset="-122"/>
              </a:rPr>
              <a:t>在这样的大环境下，我们的核心业务 </a:t>
            </a:r>
            <a:r>
              <a:rPr lang="en-US" altLang="zh-TW" sz="1600" dirty="0">
                <a:highlight>
                  <a:srgbClr val="FFFF00"/>
                </a:highlight>
                <a:latin typeface="宋体" pitchFamily="2" charset="-122"/>
                <a:ea typeface="宋体" pitchFamily="2" charset="-122"/>
              </a:rPr>
              <a:t>— </a:t>
            </a:r>
            <a:r>
              <a:rPr lang="zh-TW" altLang="en-US" sz="1600" dirty="0">
                <a:highlight>
                  <a:srgbClr val="FFFF00"/>
                </a:highlight>
                <a:latin typeface="宋体" pitchFamily="2" charset="-122"/>
                <a:ea typeface="宋体" pitchFamily="2" charset="-122"/>
              </a:rPr>
              <a:t>日式弹珠机业务，</a:t>
            </a:r>
            <a:r>
              <a:rPr lang="zh-TW" altLang="en-US" sz="1600" dirty="0">
                <a:latin typeface="宋体" pitchFamily="2" charset="-122"/>
                <a:ea typeface="宋体" pitchFamily="2" charset="-122"/>
              </a:rPr>
              <a:t>如同去年般持续推动游戏机的高效配置，目前正处于创立以来最大游戏机安装数目的更新进程中。</a:t>
            </a:r>
            <a:r>
              <a:rPr lang="zh-TW" altLang="en-US" sz="1600" dirty="0">
                <a:highlight>
                  <a:srgbClr val="FFFF00"/>
                </a:highlight>
                <a:latin typeface="宋体" pitchFamily="2" charset="-122"/>
                <a:ea typeface="宋体" pitchFamily="2" charset="-122"/>
              </a:rPr>
              <a:t>这使得</a:t>
            </a:r>
            <a:r>
              <a:rPr lang="zh-TW" altLang="en-US" sz="1600" dirty="0">
                <a:latin typeface="宋体" pitchFamily="2" charset="-122"/>
                <a:ea typeface="宋体" pitchFamily="2" charset="-122"/>
              </a:rPr>
              <a:t>我们的总投入额（日式弹珠机及日式角子机游戏馆收益）同比增长</a:t>
            </a:r>
            <a:r>
              <a:rPr lang="en-US" altLang="zh-TW" sz="1600" dirty="0">
                <a:latin typeface="宋体" pitchFamily="2" charset="-122"/>
                <a:ea typeface="宋体" pitchFamily="2" charset="-122"/>
              </a:rPr>
              <a:t>2.7%</a:t>
            </a:r>
            <a:r>
              <a:rPr lang="zh-TW" altLang="en-US" sz="1600" dirty="0">
                <a:latin typeface="宋体" pitchFamily="2" charset="-122"/>
                <a:ea typeface="宋体" pitchFamily="2" charset="-122"/>
              </a:rPr>
              <a:t>，达到</a:t>
            </a:r>
            <a:r>
              <a:rPr lang="en-US" altLang="zh-TW" sz="1600" dirty="0">
                <a:latin typeface="宋体" pitchFamily="2" charset="-122"/>
                <a:ea typeface="宋体" pitchFamily="2" charset="-122"/>
              </a:rPr>
              <a:t>149,054</a:t>
            </a:r>
            <a:r>
              <a:rPr lang="zh-TW" altLang="en-US" sz="1600" dirty="0">
                <a:latin typeface="宋体" pitchFamily="2" charset="-122"/>
                <a:ea typeface="宋体" pitchFamily="2" charset="-122"/>
              </a:rPr>
              <a:t>百万日圆。</a:t>
            </a:r>
            <a:endParaRPr lang="zh-CN" altLang="en-US" sz="1600" dirty="0">
              <a:latin typeface="宋体" pitchFamily="2" charset="-122"/>
              <a:ea typeface="宋体" pitchFamily="2" charset="-122"/>
            </a:endParaRPr>
          </a:p>
        </p:txBody>
      </p:sp>
      <p:sp>
        <p:nvSpPr>
          <p:cNvPr id="4" name="文本框 3"/>
          <p:cNvSpPr txBox="1"/>
          <p:nvPr/>
        </p:nvSpPr>
        <p:spPr>
          <a:xfrm>
            <a:off x="5773272" y="3244333"/>
            <a:ext cx="699247" cy="369332"/>
          </a:xfrm>
          <a:prstGeom prst="rect">
            <a:avLst/>
          </a:prstGeom>
          <a:noFill/>
        </p:spPr>
        <p:txBody>
          <a:bodyPr wrap="square" rtlCol="0">
            <a:spAutoFit/>
          </a:bodyPr>
          <a:lstStyle/>
          <a:p>
            <a:r>
              <a:rPr lang="en-US" altLang="zh-CN" dirty="0"/>
              <a:t>V.S</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26951" y="1179157"/>
            <a:ext cx="9560560" cy="3415030"/>
          </a:xfrm>
          <a:prstGeom prst="rect">
            <a:avLst/>
          </a:prstGeom>
          <a:noFill/>
        </p:spPr>
        <p:txBody>
          <a:bodyPr wrap="square" rtlCol="0">
            <a:spAutoFit/>
          </a:bodyPr>
          <a:lstStyle/>
          <a:p>
            <a:endParaRPr lang="zh-CN" altLang="en-US" dirty="0">
              <a:latin typeface="宋体" pitchFamily="2" charset="-122"/>
              <a:ea typeface="宋体" pitchFamily="2" charset="-122"/>
            </a:endParaRPr>
          </a:p>
          <a:p>
            <a:r>
              <a:rPr lang="zh-CN" altLang="en-US" b="1" dirty="0">
                <a:latin typeface="宋体" pitchFamily="2" charset="-122"/>
                <a:ea typeface="宋体" pitchFamily="2" charset="-122"/>
              </a:rPr>
              <a:t>译文</a:t>
            </a:r>
            <a:r>
              <a:rPr lang="en-US" altLang="zh-CN" b="1" dirty="0">
                <a:latin typeface="宋体" pitchFamily="2" charset="-122"/>
                <a:ea typeface="宋体" pitchFamily="2" charset="-122"/>
              </a:rPr>
              <a:t>2</a:t>
            </a:r>
            <a:r>
              <a:rPr lang="zh-CN" altLang="en-US" b="1" dirty="0">
                <a:latin typeface="宋体" pitchFamily="2" charset="-122"/>
                <a:ea typeface="宋体" pitchFamily="2" charset="-122"/>
              </a:rPr>
              <a:t>：</a:t>
            </a:r>
            <a:r>
              <a:rPr lang="zh-TW" altLang="en-US" dirty="0">
                <a:latin typeface="宋体" pitchFamily="2" charset="-122"/>
                <a:ea typeface="宋体" pitchFamily="2" charset="-122"/>
              </a:rPr>
              <a:t>回顾过去这个财政年度，日本国内经济在就业与收入环境改善的支撑下，个人消费延续了复苏的趋势。然而，由于原材料和能源价格居高不下，加上日</a:t>
            </a:r>
            <a:r>
              <a:rPr lang="zh-CN" altLang="zh-TW" dirty="0">
                <a:latin typeface="宋体" pitchFamily="2" charset="-122"/>
                <a:ea typeface="宋体" pitchFamily="2" charset="-122"/>
              </a:rPr>
              <a:t>元</a:t>
            </a:r>
            <a:r>
              <a:rPr lang="zh-TW" altLang="en-US" dirty="0">
                <a:latin typeface="宋体" pitchFamily="2" charset="-122"/>
                <a:ea typeface="宋体" pitchFamily="2" charset="-122"/>
              </a:rPr>
              <a:t>贬值，实质薪资增长乏力，消费的全面复苏尚未实现。总务省</a:t>
            </a:r>
            <a:r>
              <a:rPr lang="en-US" altLang="zh-TW" dirty="0">
                <a:latin typeface="宋体" pitchFamily="2" charset="-122"/>
                <a:ea typeface="宋体" pitchFamily="2" charset="-122"/>
              </a:rPr>
              <a:t>《</a:t>
            </a:r>
            <a:r>
              <a:rPr lang="zh-TW" altLang="en-US" dirty="0">
                <a:latin typeface="宋体" pitchFamily="2" charset="-122"/>
                <a:ea typeface="宋体" pitchFamily="2" charset="-122"/>
              </a:rPr>
              <a:t>家计调查</a:t>
            </a:r>
            <a:r>
              <a:rPr lang="en-US" altLang="zh-TW" dirty="0">
                <a:latin typeface="宋体" pitchFamily="2" charset="-122"/>
                <a:ea typeface="宋体" pitchFamily="2" charset="-122"/>
              </a:rPr>
              <a:t>》</a:t>
            </a:r>
            <a:r>
              <a:rPr lang="zh-TW" altLang="en-US" dirty="0">
                <a:latin typeface="宋体" pitchFamily="2" charset="-122"/>
                <a:ea typeface="宋体" pitchFamily="2" charset="-122"/>
              </a:rPr>
              <a:t>显示，全日本家庭实质消费支出已连续三年呈现负增长，预期消费者对生活开支的防卫心态与储蓄倾向仍将持续。另一方面，我们也看到一些曙光 </a:t>
            </a:r>
            <a:r>
              <a:rPr lang="en-US" altLang="zh-TW" dirty="0">
                <a:latin typeface="宋体" pitchFamily="2" charset="-122"/>
                <a:ea typeface="宋体" pitchFamily="2" charset="-122"/>
              </a:rPr>
              <a:t>— </a:t>
            </a:r>
            <a:r>
              <a:rPr lang="zh-TW" altLang="en-US" dirty="0">
                <a:latin typeface="宋体" pitchFamily="2" charset="-122"/>
                <a:ea typeface="宋体" pitchFamily="2" charset="-122"/>
              </a:rPr>
              <a:t>除了受通货膨胀影响较深的食品与住房支出外，部分消费项目已转趋正面。然而，就全球经济而言，除了乌克兰局势的长期化之外，中东情势的不确定性也正日益加深「这可能为国内经济前景带来巨大不确定性」的忧虑。加上以美国贸易政策为代表的各国政策走向，日本无可避免地会受到全球经济的牵动，我们的经营环境依然难以预测。在这样的大环境下，我们的核心业务 </a:t>
            </a:r>
            <a:r>
              <a:rPr lang="en-US" altLang="zh-TW" dirty="0">
                <a:latin typeface="宋体" pitchFamily="2" charset="-122"/>
                <a:ea typeface="宋体" pitchFamily="2" charset="-122"/>
              </a:rPr>
              <a:t>— </a:t>
            </a:r>
            <a:r>
              <a:rPr lang="zh-TW" altLang="en-US" dirty="0">
                <a:latin typeface="宋体" pitchFamily="2" charset="-122"/>
                <a:ea typeface="宋体" pitchFamily="2" charset="-122"/>
              </a:rPr>
              <a:t>日式弹珠机业务，如同去年般持续推动游戏机的高效配置，目前正处于创立以来最大游戏机安装数目的更新进程中。这使得我们的总投入额（日式弹珠机及日式角子机游戏馆收益）同比增长</a:t>
            </a:r>
            <a:r>
              <a:rPr lang="en-US" altLang="zh-TW" dirty="0">
                <a:latin typeface="宋体" pitchFamily="2" charset="-122"/>
                <a:ea typeface="宋体" pitchFamily="2" charset="-122"/>
              </a:rPr>
              <a:t>2.7%</a:t>
            </a:r>
            <a:r>
              <a:rPr lang="zh-TW" altLang="en-US" dirty="0">
                <a:latin typeface="宋体" pitchFamily="2" charset="-122"/>
                <a:ea typeface="宋体" pitchFamily="2" charset="-122"/>
              </a:rPr>
              <a:t>，达到</a:t>
            </a:r>
            <a:r>
              <a:rPr lang="en-US" altLang="zh-TW" dirty="0">
                <a:latin typeface="宋体" pitchFamily="2" charset="-122"/>
                <a:ea typeface="宋体" pitchFamily="2" charset="-122"/>
              </a:rPr>
              <a:t>149,054</a:t>
            </a:r>
            <a:r>
              <a:rPr lang="zh-TW" altLang="en-US" dirty="0">
                <a:latin typeface="宋体" pitchFamily="2" charset="-122"/>
                <a:ea typeface="宋体" pitchFamily="2" charset="-122"/>
              </a:rPr>
              <a:t>百万日圆。</a:t>
            </a:r>
            <a:endParaRPr lang="zh-CN" altLang="en-US" sz="1200" dirty="0">
              <a:latin typeface="宋体" pitchFamily="2" charset="-122"/>
              <a:ea typeface="宋体"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27439" y="1912736"/>
            <a:ext cx="6629975" cy="2476715"/>
          </a:xfrm>
          <a:prstGeom prst="rect">
            <a:avLst/>
          </a:prstGeom>
        </p:spPr>
      </p:pic>
    </p:spTree>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926292" y="2338119"/>
            <a:ext cx="8339417" cy="1569660"/>
          </a:xfrm>
          <a:prstGeom prst="rect">
            <a:avLst/>
          </a:prstGeom>
          <a:noFill/>
        </p:spPr>
        <p:txBody>
          <a:bodyPr wrap="square" rtlCol="0" anchor="t">
            <a:spAutoFit/>
          </a:bodyPr>
          <a:lstStyle/>
          <a:p>
            <a:r>
              <a:rPr lang="zh-CN" altLang="en-US" sz="2400" dirty="0">
                <a:latin typeface="+mn-ea"/>
              </a:rPr>
              <a:t>“</a:t>
            </a:r>
            <a:r>
              <a:rPr lang="ja-JP" altLang="en-US" sz="2400" dirty="0">
                <a:latin typeface="+mn-ea"/>
              </a:rPr>
              <a:t>這是一篇領導致辭，“</a:t>
            </a:r>
            <a:r>
              <a:rPr lang="en-US" altLang="ja-JP" sz="2400" dirty="0">
                <a:latin typeface="+mn-ea"/>
              </a:rPr>
              <a:t>Aiming for Sustainable Growth with the Community...”</a:t>
            </a:r>
            <a:r>
              <a:rPr lang="ja-JP" altLang="en-US" sz="2400" dirty="0">
                <a:latin typeface="+mn-ea"/>
              </a:rPr>
              <a:t>，用致辭的風格翻譯</a:t>
            </a:r>
            <a:r>
              <a:rPr lang="zh-CN" altLang="en-US" sz="2400" dirty="0">
                <a:latin typeface="+mn-ea"/>
              </a:rPr>
              <a:t>”</a:t>
            </a:r>
            <a:endParaRPr lang="en-US" altLang="zh-CN" sz="2400" dirty="0">
              <a:latin typeface="+mn-ea"/>
            </a:endParaRPr>
          </a:p>
          <a:p>
            <a:pPr algn="r"/>
            <a:r>
              <a:rPr lang="en-US" altLang="zh-CN" sz="2400" i="1" dirty="0">
                <a:latin typeface="+mn-ea"/>
              </a:rPr>
              <a:t>---- by Jamie Huang (2026.5) </a:t>
            </a:r>
            <a:endParaRPr lang="en-US" altLang="zh-CN" sz="2400" i="1" dirty="0">
              <a:latin typeface="+mn-ea"/>
            </a:endParaRPr>
          </a:p>
          <a:p>
            <a:endParaRPr lang="zh-CN" altLang="en-US" sz="2400" dirty="0">
              <a:latin typeface="+mn-ea"/>
            </a:endParaRPr>
          </a:p>
        </p:txBody>
      </p:sp>
    </p:spTree>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003929" y="2506980"/>
            <a:ext cx="4184143" cy="923330"/>
          </a:xfrm>
          <a:prstGeom prst="rect">
            <a:avLst/>
          </a:prstGeom>
          <a:noFill/>
        </p:spPr>
        <p:txBody>
          <a:bodyPr vert="horz" wrap="square" rtlCol="0">
            <a:spAutoFit/>
          </a:bodyPr>
          <a:lstStyle/>
          <a:p>
            <a:pPr algn="ctr"/>
            <a:r>
              <a:rPr lang="en-US" altLang="zh-CN" sz="5400" dirty="0">
                <a:solidFill>
                  <a:prstClr val="black">
                    <a:lumMod val="85000"/>
                    <a:lumOff val="15000"/>
                  </a:prstClr>
                </a:solidFill>
                <a:latin typeface="思源黑体 CN Light" panose="020B0300000000000000" pitchFamily="34" charset="-122"/>
                <a:ea typeface="思源黑体 CN Light" panose="020B0300000000000000" pitchFamily="34" charset="-122"/>
              </a:rPr>
              <a:t>Thank You</a:t>
            </a:r>
            <a:r>
              <a:rPr lang="zh-CN" altLang="en-US" sz="5400" dirty="0">
                <a:solidFill>
                  <a:prstClr val="black">
                    <a:lumMod val="85000"/>
                    <a:lumOff val="15000"/>
                  </a:prstClr>
                </a:solidFill>
                <a:latin typeface="思源黑体 CN Light" panose="020B0300000000000000" pitchFamily="34" charset="-122"/>
                <a:ea typeface="思源黑体 CN Light" panose="020B0300000000000000" pitchFamily="34" charset="-122"/>
              </a:rPr>
              <a:t>！</a:t>
            </a:r>
            <a:endParaRPr lang="zh-CN" altLang="en-US" sz="5400" dirty="0">
              <a:solidFill>
                <a:prstClr val="black">
                  <a:lumMod val="85000"/>
                  <a:lumOff val="15000"/>
                </a:prstClr>
              </a:solidFill>
              <a:latin typeface="思源黑体 CN Light" panose="020B0300000000000000" pitchFamily="34" charset="-122"/>
              <a:ea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2302810" y="2248472"/>
            <a:ext cx="8339417" cy="2677656"/>
          </a:xfrm>
          <a:prstGeom prst="rect">
            <a:avLst/>
          </a:prstGeom>
          <a:noFill/>
        </p:spPr>
        <p:txBody>
          <a:bodyPr wrap="square" rtlCol="0" anchor="t">
            <a:spAutoFit/>
          </a:bodyPr>
          <a:lstStyle/>
          <a:p>
            <a:r>
              <a:rPr lang="en-US" altLang="ja-JP" sz="2400" b="1" dirty="0">
                <a:latin typeface="+mn-ea"/>
              </a:rPr>
              <a:t>25</a:t>
            </a:r>
            <a:r>
              <a:rPr lang="zh-CN" altLang="en-US" sz="2400" b="1" dirty="0">
                <a:latin typeface="+mn-ea"/>
              </a:rPr>
              <a:t>年中文译文链接</a:t>
            </a:r>
            <a:r>
              <a:rPr lang="zh-CN" altLang="en-US" sz="2400" dirty="0">
                <a:latin typeface="+mn-ea"/>
              </a:rPr>
              <a:t>：</a:t>
            </a:r>
            <a:r>
              <a:rPr lang="en-US" altLang="zh-CN" sz="2400" dirty="0">
                <a:latin typeface="+mn-ea"/>
                <a:hlinkClick r:id="rId1"/>
              </a:rPr>
              <a:t>https://www1.hkexnews.hk/listedco/listconews/sehk/2025/0605/2025060500874_c.pdf</a:t>
            </a:r>
            <a:endParaRPr lang="en-US" altLang="zh-CN" sz="2400" dirty="0">
              <a:latin typeface="+mn-ea"/>
            </a:endParaRPr>
          </a:p>
          <a:p>
            <a:r>
              <a:rPr lang="en-US" altLang="ja-JP" sz="2400" b="1" dirty="0">
                <a:latin typeface="+mn-ea"/>
              </a:rPr>
              <a:t>26</a:t>
            </a:r>
            <a:r>
              <a:rPr lang="zh-CN" altLang="en-US" sz="2400" b="1" dirty="0">
                <a:latin typeface="+mn-ea"/>
              </a:rPr>
              <a:t>年中文译文链接</a:t>
            </a:r>
            <a:r>
              <a:rPr lang="en-US" altLang="zh-CN" sz="2400" b="1" dirty="0">
                <a:latin typeface="+mn-ea"/>
              </a:rPr>
              <a:t>:</a:t>
            </a:r>
            <a:endParaRPr lang="en-US" altLang="zh-CN" sz="2400" b="1" dirty="0">
              <a:latin typeface="+mn-ea"/>
            </a:endParaRPr>
          </a:p>
          <a:p>
            <a:r>
              <a:rPr lang="en-US" altLang="zh-CN" sz="2400" dirty="0">
                <a:latin typeface="+mn-ea"/>
                <a:hlinkClick r:id="rId2"/>
              </a:rPr>
              <a:t>https://www1.hkexnews.hk/listedco/listconews/sehk/2026/0604/2026060402926_c.pdf</a:t>
            </a:r>
            <a:endParaRPr lang="en-US" altLang="zh-CN" sz="2400" dirty="0">
              <a:latin typeface="+mn-ea"/>
            </a:endParaRPr>
          </a:p>
          <a:p>
            <a:endParaRPr lang="zh-CN" altLang="en-US" sz="2400" dirty="0">
              <a:latin typeface="+mn-ea"/>
            </a:endParaRPr>
          </a:p>
        </p:txBody>
      </p:sp>
    </p:spTree>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003928" y="2905780"/>
            <a:ext cx="4184143" cy="523220"/>
          </a:xfrm>
          <a:prstGeom prst="rect">
            <a:avLst/>
          </a:prstGeom>
          <a:noFill/>
        </p:spPr>
        <p:txBody>
          <a:bodyPr vert="horz" wrap="square" rtlCol="0">
            <a:spAutoFit/>
          </a:bodyPr>
          <a:lstStyle/>
          <a:p>
            <a:pPr algn="ctr"/>
            <a:r>
              <a:rPr lang="zh-CN" altLang="en-US" sz="2800" i="1" dirty="0">
                <a:solidFill>
                  <a:prstClr val="black">
                    <a:lumMod val="85000"/>
                    <a:lumOff val="15000"/>
                  </a:prstClr>
                </a:solidFill>
                <a:latin typeface="思源黑体 CN Light" panose="020B0300000000000000" pitchFamily="34" charset="-122"/>
                <a:ea typeface="思源黑体 CN Light" panose="020B0300000000000000" pitchFamily="34" charset="-122"/>
              </a:rPr>
              <a:t>（以下为附录）</a:t>
            </a:r>
            <a:endParaRPr lang="zh-CN" altLang="en-US" sz="2800" i="1" dirty="0">
              <a:solidFill>
                <a:prstClr val="black">
                  <a:lumMod val="85000"/>
                  <a:lumOff val="15000"/>
                </a:prstClr>
              </a:solidFill>
              <a:latin typeface="思源黑体 CN Light" panose="020B0300000000000000" pitchFamily="34" charset="-122"/>
              <a:ea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002927" y="1301557"/>
            <a:ext cx="9663522" cy="830997"/>
          </a:xfrm>
          <a:prstGeom prst="rect">
            <a:avLst/>
          </a:prstGeom>
          <a:noFill/>
        </p:spPr>
        <p:txBody>
          <a:bodyPr wrap="square" rtlCol="0" anchor="t">
            <a:spAutoFit/>
          </a:bodyPr>
          <a:lstStyle/>
          <a:p>
            <a:r>
              <a:rPr lang="en-US" altLang="zh-CN" sz="1600" dirty="0"/>
              <a:t>KJV</a:t>
            </a:r>
            <a:r>
              <a:rPr lang="zh-CN" altLang="en-US" sz="1600" dirty="0"/>
              <a:t>、</a:t>
            </a:r>
            <a:r>
              <a:rPr lang="en-US" altLang="zh-CN" sz="1600" dirty="0"/>
              <a:t>ASV </a:t>
            </a:r>
            <a:r>
              <a:rPr lang="zh-CN" altLang="en-US" sz="1600" dirty="0"/>
              <a:t>和 </a:t>
            </a:r>
            <a:r>
              <a:rPr lang="en-US" altLang="zh-CN" sz="1600" dirty="0"/>
              <a:t>TEV </a:t>
            </a:r>
            <a:r>
              <a:rPr lang="zh-CN" altLang="en-US" sz="1600" dirty="0"/>
              <a:t>是英语</a:t>
            </a:r>
            <a:r>
              <a:rPr lang="en-US" altLang="zh-CN" sz="1600" dirty="0"/>
              <a:t>《</a:t>
            </a:r>
            <a:r>
              <a:rPr lang="zh-CN" altLang="en-US" sz="1600" dirty="0"/>
              <a:t>圣经</a:t>
            </a:r>
            <a:r>
              <a:rPr lang="en-US" altLang="zh-CN" sz="1600" dirty="0"/>
              <a:t>》</a:t>
            </a:r>
            <a:r>
              <a:rPr lang="zh-CN" altLang="en-US" sz="1600" dirty="0"/>
              <a:t>翻译史上三个具有代表性的译本。它们分别对应不同的时代、底本和翻译哲学，尤其与奈达的“功能对等”理论形成鲜明对照。</a:t>
            </a:r>
            <a:endParaRPr lang="en-US" altLang="zh-CN" sz="1600" dirty="0"/>
          </a:p>
          <a:p>
            <a:endParaRPr lang="en-US" altLang="zh-CN" sz="1600" b="1" dirty="0"/>
          </a:p>
        </p:txBody>
      </p:sp>
      <p:graphicFrame>
        <p:nvGraphicFramePr>
          <p:cNvPr id="27" name="表格 26"/>
          <p:cNvGraphicFramePr>
            <a:graphicFrameLocks noGrp="1"/>
          </p:cNvGraphicFramePr>
          <p:nvPr/>
        </p:nvGraphicFramePr>
        <p:xfrm>
          <a:off x="1099670" y="1994664"/>
          <a:ext cx="8128000" cy="385064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a:txBody>
                    <a:bodyPr/>
                    <a:lstStyle/>
                    <a:p>
                      <a:r>
                        <a:rPr lang="zh-CN" altLang="zh-CN" sz="1800" b="1" kern="1200" dirty="0">
                          <a:solidFill>
                            <a:schemeClr val="lt1"/>
                          </a:solidFill>
                          <a:effectLst/>
                          <a:latin typeface="+mn-lt"/>
                          <a:ea typeface="+mn-ea"/>
                          <a:cs typeface="+mn-cs"/>
                        </a:rPr>
                        <a:t>缩写</a:t>
                      </a:r>
                      <a:endParaRPr lang="zh-CN" altLang="en-US" dirty="0"/>
                    </a:p>
                  </a:txBody>
                  <a:tcPr/>
                </a:tc>
                <a:tc>
                  <a:txBody>
                    <a:bodyPr/>
                    <a:lstStyle/>
                    <a:p>
                      <a:r>
                        <a:rPr lang="zh-CN" altLang="zh-CN" sz="1800" b="1" kern="1200" dirty="0">
                          <a:solidFill>
                            <a:schemeClr val="lt1"/>
                          </a:solidFill>
                          <a:effectLst/>
                          <a:latin typeface="+mn-lt"/>
                          <a:ea typeface="+mn-ea"/>
                          <a:cs typeface="+mn-cs"/>
                        </a:rPr>
                        <a:t>全称</a:t>
                      </a:r>
                      <a:endParaRPr lang="zh-CN" altLang="en-US" dirty="0"/>
                    </a:p>
                  </a:txBody>
                  <a:tcPr/>
                </a:tc>
                <a:tc>
                  <a:txBody>
                    <a:bodyPr/>
                    <a:lstStyle/>
                    <a:p>
                      <a:r>
                        <a:rPr lang="zh-CN" altLang="zh-CN" sz="1800" b="1" kern="1200" dirty="0">
                          <a:solidFill>
                            <a:schemeClr val="lt1"/>
                          </a:solidFill>
                          <a:effectLst/>
                          <a:latin typeface="+mn-lt"/>
                          <a:ea typeface="+mn-ea"/>
                          <a:cs typeface="+mn-cs"/>
                        </a:rPr>
                        <a:t>出版年</a:t>
                      </a:r>
                      <a:endParaRPr lang="zh-CN" altLang="en-US" dirty="0"/>
                    </a:p>
                  </a:txBody>
                  <a:tcPr/>
                </a:tc>
                <a:tc>
                  <a:txBody>
                    <a:bodyPr/>
                    <a:lstStyle/>
                    <a:p>
                      <a:r>
                        <a:rPr lang="zh-CN" altLang="zh-CN" sz="1800" b="1" kern="1200" dirty="0">
                          <a:solidFill>
                            <a:schemeClr val="lt1"/>
                          </a:solidFill>
                          <a:effectLst/>
                          <a:latin typeface="+mn-lt"/>
                          <a:ea typeface="+mn-ea"/>
                          <a:cs typeface="+mn-cs"/>
                        </a:rPr>
                        <a:t>中文常用名</a:t>
                      </a:r>
                      <a:endParaRPr lang="zh-CN" altLang="en-US" dirty="0"/>
                    </a:p>
                  </a:txBody>
                  <a:tcPr/>
                </a:tc>
              </a:tr>
              <a:tr h="370840">
                <a:tc>
                  <a:txBody>
                    <a:bodyPr/>
                    <a:lstStyle/>
                    <a:p>
                      <a:r>
                        <a:rPr lang="en-US" altLang="zh-CN" sz="1800" b="1" kern="1200" dirty="0">
                          <a:solidFill>
                            <a:schemeClr val="dk1"/>
                          </a:solidFill>
                          <a:effectLst/>
                          <a:latin typeface="+mn-lt"/>
                          <a:ea typeface="+mn-ea"/>
                          <a:cs typeface="+mn-cs"/>
                        </a:rPr>
                        <a:t>KJV</a:t>
                      </a:r>
                      <a:endParaRPr lang="zh-CN" altLang="en-US" dirty="0"/>
                    </a:p>
                  </a:txBody>
                  <a:tcPr/>
                </a:tc>
                <a:tc>
                  <a:txBody>
                    <a:bodyPr/>
                    <a:lstStyle/>
                    <a:p>
                      <a:r>
                        <a:rPr lang="en-US" altLang="zh-CN" sz="1800" kern="1200" dirty="0">
                          <a:solidFill>
                            <a:schemeClr val="dk1"/>
                          </a:solidFill>
                          <a:effectLst/>
                          <a:latin typeface="+mn-lt"/>
                          <a:ea typeface="+mn-ea"/>
                          <a:cs typeface="+mn-cs"/>
                        </a:rPr>
                        <a:t>King James Version (Authorized Version)</a:t>
                      </a:r>
                      <a:endParaRPr lang="zh-CN" altLang="en-US" dirty="0"/>
                    </a:p>
                  </a:txBody>
                  <a:tcPr/>
                </a:tc>
                <a:tc>
                  <a:txBody>
                    <a:bodyPr/>
                    <a:lstStyle/>
                    <a:p>
                      <a:r>
                        <a:rPr lang="en-US" altLang="zh-CN" sz="1800" kern="1200" dirty="0">
                          <a:solidFill>
                            <a:schemeClr val="dk1"/>
                          </a:solidFill>
                          <a:effectLst/>
                          <a:latin typeface="+mn-lt"/>
                          <a:ea typeface="+mn-ea"/>
                          <a:cs typeface="+mn-cs"/>
                        </a:rPr>
                        <a:t>1611</a:t>
                      </a:r>
                      <a:endParaRPr lang="zh-CN" altLang="en-US" dirty="0"/>
                    </a:p>
                  </a:txBody>
                  <a:tcPr/>
                </a:tc>
                <a:tc>
                  <a:txBody>
                    <a:bodyPr/>
                    <a:lstStyle/>
                    <a:p>
                      <a:r>
                        <a:rPr lang="zh-CN" altLang="zh-CN" sz="1800" kern="1200" dirty="0">
                          <a:solidFill>
                            <a:schemeClr val="dk1"/>
                          </a:solidFill>
                          <a:effectLst/>
                          <a:latin typeface="+mn-lt"/>
                          <a:ea typeface="+mn-ea"/>
                          <a:cs typeface="+mn-cs"/>
                        </a:rPr>
                        <a:t>钦定本</a:t>
                      </a:r>
                      <a:r>
                        <a:rPr lang="en-US" altLang="zh-CN" sz="1800" kern="1200" dirty="0">
                          <a:solidFill>
                            <a:schemeClr val="dk1"/>
                          </a:solidFill>
                          <a:effectLst/>
                          <a:latin typeface="+mn-lt"/>
                          <a:ea typeface="+mn-ea"/>
                          <a:cs typeface="+mn-cs"/>
                        </a:rPr>
                        <a:t> / </a:t>
                      </a:r>
                      <a:r>
                        <a:rPr lang="zh-CN" altLang="zh-CN" sz="1800" kern="1200" dirty="0">
                          <a:solidFill>
                            <a:schemeClr val="dk1"/>
                          </a:solidFill>
                          <a:effectLst/>
                          <a:latin typeface="+mn-lt"/>
                          <a:ea typeface="+mn-ea"/>
                          <a:cs typeface="+mn-cs"/>
                        </a:rPr>
                        <a:t>英王詹姆斯版</a:t>
                      </a:r>
                      <a:endParaRPr lang="zh-CN" altLang="en-US" dirty="0"/>
                    </a:p>
                  </a:txBody>
                  <a:tcPr/>
                </a:tc>
              </a:tr>
              <a:tr h="370840">
                <a:tc>
                  <a:txBody>
                    <a:bodyPr/>
                    <a:lstStyle/>
                    <a:p>
                      <a:r>
                        <a:rPr lang="en-US" altLang="zh-CN" b="1" dirty="0"/>
                        <a:t>ASV</a:t>
                      </a:r>
                      <a:endParaRPr lang="zh-CN" altLang="en-US" dirty="0"/>
                    </a:p>
                  </a:txBody>
                  <a:tcPr/>
                </a:tc>
                <a:tc>
                  <a:txBody>
                    <a:bodyPr/>
                    <a:lstStyle/>
                    <a:p>
                      <a:r>
                        <a:rPr lang="en-US" altLang="zh-CN" dirty="0"/>
                        <a:t>American Standard Version</a:t>
                      </a:r>
                      <a:endParaRPr lang="zh-CN" altLang="en-US" dirty="0"/>
                    </a:p>
                  </a:txBody>
                  <a:tcPr/>
                </a:tc>
                <a:tc>
                  <a:txBody>
                    <a:bodyPr/>
                    <a:lstStyle/>
                    <a:p>
                      <a:r>
                        <a:rPr lang="en-US" altLang="zh-CN" dirty="0"/>
                        <a:t>1901</a:t>
                      </a:r>
                      <a:endParaRPr lang="zh-CN" altLang="en-US" dirty="0"/>
                    </a:p>
                  </a:txBody>
                  <a:tcPr/>
                </a:tc>
                <a:tc>
                  <a:txBody>
                    <a:bodyPr/>
                    <a:lstStyle/>
                    <a:p>
                      <a:r>
                        <a:rPr lang="zh-CN" altLang="en-US" dirty="0"/>
                        <a:t>美国标准版</a:t>
                      </a:r>
                      <a:endParaRPr lang="zh-CN" altLang="en-US" dirty="0"/>
                    </a:p>
                  </a:txBody>
                  <a:tcPr/>
                </a:tc>
              </a:tr>
              <a:tr h="370840">
                <a:tc>
                  <a:txBody>
                    <a:bodyPr/>
                    <a:lstStyle/>
                    <a:p>
                      <a:r>
                        <a:rPr lang="en-US" altLang="zh-CN" b="1" dirty="0"/>
                        <a:t>RSV</a:t>
                      </a:r>
                      <a:endParaRPr lang="zh-CN" altLang="en-US" dirty="0"/>
                    </a:p>
                  </a:txBody>
                  <a:tcPr/>
                </a:tc>
                <a:tc>
                  <a:txBody>
                    <a:bodyPr/>
                    <a:lstStyle/>
                    <a:p>
                      <a:r>
                        <a:rPr lang="en-US" altLang="zh-CN" dirty="0"/>
                        <a:t>Revised Standard Version</a:t>
                      </a:r>
                      <a:endParaRPr lang="zh-CN" altLang="en-US" dirty="0"/>
                    </a:p>
                  </a:txBody>
                  <a:tcPr/>
                </a:tc>
                <a:tc>
                  <a:txBody>
                    <a:bodyPr/>
                    <a:lstStyle/>
                    <a:p>
                      <a:r>
                        <a:rPr lang="zh-CN" altLang="en-US" dirty="0"/>
                        <a:t>新约部分于</a:t>
                      </a:r>
                      <a:r>
                        <a:rPr lang="en-US" altLang="zh-CN" dirty="0"/>
                        <a:t>1946</a:t>
                      </a:r>
                      <a:r>
                        <a:rPr lang="zh-CN" altLang="en-US" dirty="0"/>
                        <a:t>年出版，旧约于</a:t>
                      </a:r>
                      <a:r>
                        <a:rPr lang="en-US" altLang="zh-CN" dirty="0"/>
                        <a:t>1952</a:t>
                      </a:r>
                      <a:r>
                        <a:rPr lang="zh-CN" altLang="en-US" dirty="0"/>
                        <a:t>年出版，次经于</a:t>
                      </a:r>
                      <a:r>
                        <a:rPr lang="en-US" altLang="zh-CN" dirty="0"/>
                        <a:t>1957</a:t>
                      </a:r>
                      <a:r>
                        <a:rPr lang="zh-CN" altLang="en-US" dirty="0"/>
                        <a:t>年完成</a:t>
                      </a:r>
                      <a:endParaRPr lang="zh-CN" altLang="en-US" dirty="0"/>
                    </a:p>
                  </a:txBody>
                  <a:tcPr/>
                </a:tc>
                <a:tc>
                  <a:txBody>
                    <a:bodyPr/>
                    <a:lstStyle/>
                    <a:p>
                      <a:r>
                        <a:rPr lang="zh-CN" altLang="en-US" b="0" dirty="0"/>
                        <a:t>修订标准版</a:t>
                      </a:r>
                      <a:endParaRPr lang="zh-CN" altLang="en-US" b="0" dirty="0"/>
                    </a:p>
                  </a:txBody>
                  <a:tcPr/>
                </a:tc>
              </a:tr>
              <a:tr h="370840">
                <a:tc>
                  <a:txBody>
                    <a:bodyPr/>
                    <a:lstStyle/>
                    <a:p>
                      <a:r>
                        <a:rPr lang="en-US" altLang="zh-CN" b="1" dirty="0"/>
                        <a:t>TEV*</a:t>
                      </a:r>
                      <a:endParaRPr lang="zh-CN" altLang="en-US" dirty="0"/>
                    </a:p>
                  </a:txBody>
                  <a:tcPr/>
                </a:tc>
                <a:tc>
                  <a:txBody>
                    <a:bodyPr/>
                    <a:lstStyle/>
                    <a:p>
                      <a:r>
                        <a:rPr lang="en-US" altLang="zh-CN" dirty="0"/>
                        <a:t>Today's English Version</a:t>
                      </a:r>
                      <a:endParaRPr lang="zh-CN" altLang="en-US" dirty="0"/>
                    </a:p>
                  </a:txBody>
                  <a:tcPr/>
                </a:tc>
                <a:tc>
                  <a:txBody>
                    <a:bodyPr/>
                    <a:lstStyle/>
                    <a:p>
                      <a:r>
                        <a:rPr lang="en-US" altLang="zh-CN" dirty="0"/>
                        <a:t>1966</a:t>
                      </a:r>
                      <a:r>
                        <a:rPr lang="zh-CN" altLang="en-US" dirty="0"/>
                        <a:t>（新约）；</a:t>
                      </a:r>
                      <a:r>
                        <a:rPr lang="en-US" altLang="zh-CN" dirty="0"/>
                        <a:t>1976</a:t>
                      </a:r>
                      <a:r>
                        <a:rPr lang="zh-CN" altLang="en-US" dirty="0"/>
                        <a:t>（全书）</a:t>
                      </a:r>
                      <a:endParaRPr lang="zh-CN" altLang="en-US" dirty="0"/>
                    </a:p>
                  </a:txBody>
                  <a:tcPr/>
                </a:tc>
                <a:tc>
                  <a:txBody>
                    <a:bodyPr/>
                    <a:lstStyle/>
                    <a:p>
                      <a:r>
                        <a:rPr lang="zh-CN" altLang="zh-CN" sz="1800" kern="1200" dirty="0">
                          <a:solidFill>
                            <a:schemeClr val="dk1"/>
                          </a:solidFill>
                          <a:effectLst/>
                          <a:latin typeface="+mn-lt"/>
                          <a:ea typeface="+mn-ea"/>
                          <a:cs typeface="+mn-cs"/>
                        </a:rPr>
                        <a:t>现代英文译本</a:t>
                      </a:r>
                      <a:r>
                        <a:rPr lang="en-US" altLang="zh-CN" sz="1800" kern="1200" dirty="0">
                          <a:solidFill>
                            <a:schemeClr val="dk1"/>
                          </a:solidFill>
                          <a:effectLst/>
                          <a:latin typeface="+mn-lt"/>
                          <a:ea typeface="+mn-ea"/>
                          <a:cs typeface="+mn-cs"/>
                        </a:rPr>
                        <a:t> / </a:t>
                      </a:r>
                      <a:r>
                        <a:rPr lang="zh-CN" altLang="zh-CN" sz="1800" kern="1200" dirty="0">
                          <a:solidFill>
                            <a:schemeClr val="dk1"/>
                          </a:solidFill>
                          <a:effectLst/>
                          <a:latin typeface="+mn-lt"/>
                          <a:ea typeface="+mn-ea"/>
                          <a:cs typeface="+mn-cs"/>
                        </a:rPr>
                        <a:t>福音圣经</a:t>
                      </a:r>
                      <a:endParaRPr lang="zh-CN" altLang="en-US" dirty="0"/>
                    </a:p>
                  </a:txBody>
                  <a:tcPr/>
                </a:tc>
              </a:tr>
              <a:tr h="370840">
                <a:tc gridSpan="4">
                  <a:txBody>
                    <a:bodyPr/>
                    <a:lstStyle/>
                    <a:p>
                      <a:r>
                        <a:rPr lang="en-US" altLang="zh-CN" sz="1600" i="1" dirty="0"/>
                        <a:t>* TEV </a:t>
                      </a:r>
                      <a:r>
                        <a:rPr lang="zh-CN" altLang="en-US" sz="1600" i="1" dirty="0"/>
                        <a:t>后来常被称为 </a:t>
                      </a:r>
                      <a:r>
                        <a:rPr lang="en-US" altLang="zh-CN" sz="1600" b="1" i="1" dirty="0"/>
                        <a:t>Good News Bible (GNB)</a:t>
                      </a:r>
                      <a:r>
                        <a:rPr lang="en-US" altLang="zh-CN" sz="1600" i="1" dirty="0"/>
                        <a:t> </a:t>
                      </a:r>
                      <a:r>
                        <a:rPr lang="zh-CN" altLang="en-US" sz="1600" i="1" dirty="0"/>
                        <a:t>或 </a:t>
                      </a:r>
                      <a:r>
                        <a:rPr lang="en-US" altLang="zh-CN" sz="1600" b="1" i="1" dirty="0"/>
                        <a:t>Good News Translation (GNT)</a:t>
                      </a:r>
                      <a:r>
                        <a:rPr lang="zh-CN" altLang="en-US" sz="1600" i="1" dirty="0"/>
                        <a:t>。</a:t>
                      </a:r>
                      <a:endParaRPr lang="zh-CN" altLang="en-US" sz="1600" i="1" dirty="0"/>
                    </a:p>
                  </a:txBody>
                  <a:tcPr/>
                </a:tc>
                <a:tc hMerge="1">
                  <a:tcPr/>
                </a:tc>
                <a:tc hMerge="1">
                  <a:tcPr/>
                </a:tc>
                <a:tc hMerge="1">
                  <a:tcPr/>
                </a:tc>
              </a:tr>
            </a:tbl>
          </a:graphicData>
        </a:graphic>
      </p:graphicFrame>
      <p:sp>
        <p:nvSpPr>
          <p:cNvPr id="28" name="文本框 27"/>
          <p:cNvSpPr txBox="1"/>
          <p:nvPr/>
        </p:nvSpPr>
        <p:spPr>
          <a:xfrm>
            <a:off x="1099670" y="5845304"/>
            <a:ext cx="1416424" cy="369332"/>
          </a:xfrm>
          <a:prstGeom prst="rect">
            <a:avLst/>
          </a:prstGeom>
          <a:noFill/>
        </p:spPr>
        <p:txBody>
          <a:bodyPr wrap="square" rtlCol="0">
            <a:spAutoFit/>
          </a:bodyPr>
          <a:lstStyle/>
          <a:p>
            <a:r>
              <a:rPr lang="en-US" altLang="zh-CN" dirty="0">
                <a:hlinkClick r:id=""/>
              </a:rPr>
              <a:t>…</a:t>
            </a:r>
            <a:r>
              <a:rPr lang="zh-CN" altLang="en-US" dirty="0">
                <a:hlinkClick r:id=""/>
              </a:rPr>
              <a:t>返回</a:t>
            </a:r>
            <a:endParaRPr lang="zh-CN" altLang="en-US" dirty="0"/>
          </a:p>
        </p:txBody>
      </p:sp>
    </p:spTree>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002927" y="1301557"/>
            <a:ext cx="9663522" cy="2800767"/>
          </a:xfrm>
          <a:prstGeom prst="rect">
            <a:avLst/>
          </a:prstGeom>
          <a:noFill/>
        </p:spPr>
        <p:txBody>
          <a:bodyPr wrap="square" rtlCol="0" anchor="t">
            <a:spAutoFit/>
          </a:bodyPr>
          <a:lstStyle/>
          <a:p>
            <a:r>
              <a:rPr lang="zh-CN" altLang="en-US" sz="1600" dirty="0"/>
              <a:t>该版</a:t>
            </a:r>
            <a:r>
              <a:rPr lang="en-US" altLang="zh-CN" sz="1600" dirty="0"/>
              <a:t>《</a:t>
            </a:r>
            <a:r>
              <a:rPr lang="zh-CN" altLang="en-US" sz="1600" dirty="0"/>
              <a:t>新约</a:t>
            </a:r>
            <a:r>
              <a:rPr lang="en-US" altLang="zh-CN" sz="1600" dirty="0"/>
              <a:t>》</a:t>
            </a:r>
            <a:r>
              <a:rPr lang="zh-CN" altLang="en-US" sz="1600" dirty="0"/>
              <a:t>的出版者为</a:t>
            </a:r>
            <a:r>
              <a:rPr lang="zh-CN" altLang="en-US" sz="1600" b="1" dirty="0"/>
              <a:t>博纳文图拉</a:t>
            </a:r>
            <a:r>
              <a:rPr lang="en-US" altLang="zh-CN" sz="1600" b="1" dirty="0"/>
              <a:t>·</a:t>
            </a:r>
            <a:r>
              <a:rPr lang="zh-CN" altLang="en-US" sz="1600" b="1" dirty="0"/>
              <a:t>埃尔泽维尔（</a:t>
            </a:r>
            <a:r>
              <a:rPr lang="en-US" altLang="zh-CN" sz="1600" b="1" dirty="0"/>
              <a:t>Bonaventure Elzevir</a:t>
            </a:r>
            <a:r>
              <a:rPr lang="zh-CN" altLang="en-US" sz="1600" b="1" dirty="0"/>
              <a:t>）</a:t>
            </a:r>
            <a:r>
              <a:rPr lang="en-US" altLang="zh-CN" sz="1600" dirty="0"/>
              <a:t> </a:t>
            </a:r>
            <a:r>
              <a:rPr lang="zh-CN" altLang="en-US" sz="1600" dirty="0"/>
              <a:t>及其侄子</a:t>
            </a:r>
            <a:r>
              <a:rPr lang="zh-CN" altLang="en-US" sz="1600" b="1" dirty="0"/>
              <a:t>亚伯拉罕</a:t>
            </a:r>
            <a:r>
              <a:rPr lang="en-US" altLang="zh-CN" sz="1600" b="1" dirty="0"/>
              <a:t>·</a:t>
            </a:r>
            <a:r>
              <a:rPr lang="zh-CN" altLang="en-US" sz="1600" b="1" dirty="0"/>
              <a:t>埃尔泽维尔（</a:t>
            </a:r>
            <a:r>
              <a:rPr lang="en-US" altLang="zh-CN" sz="1600" b="1" dirty="0"/>
              <a:t>Abraham Elzevir</a:t>
            </a:r>
            <a:r>
              <a:rPr lang="zh-CN" altLang="en-US" sz="1600" b="1" dirty="0"/>
              <a:t>）</a:t>
            </a:r>
            <a:r>
              <a:rPr lang="zh-CN" altLang="en-US" sz="1600" dirty="0"/>
              <a:t>。在前言中，他们写下了这样一句话：</a:t>
            </a:r>
            <a:endParaRPr lang="en-US" altLang="zh-CN" sz="1600" dirty="0"/>
          </a:p>
          <a:p>
            <a:endParaRPr lang="zh-CN" altLang="en-US" sz="1600" dirty="0"/>
          </a:p>
          <a:p>
            <a:r>
              <a:rPr lang="en-US" altLang="zh-CN" sz="1600" b="1" dirty="0"/>
              <a:t>"</a:t>
            </a:r>
            <a:r>
              <a:rPr lang="en-US" altLang="zh-CN" sz="1600" b="1" dirty="0" err="1"/>
              <a:t>Textum</a:t>
            </a:r>
            <a:r>
              <a:rPr lang="en-US" altLang="zh-CN" sz="1600" b="1" dirty="0"/>
              <a:t> ergo </a:t>
            </a:r>
            <a:r>
              <a:rPr lang="en-US" altLang="zh-CN" sz="1600" b="1" dirty="0" err="1"/>
              <a:t>habes</a:t>
            </a:r>
            <a:r>
              <a:rPr lang="en-US" altLang="zh-CN" sz="1600" b="1" dirty="0"/>
              <a:t>, </a:t>
            </a:r>
            <a:r>
              <a:rPr lang="en-US" altLang="zh-CN" sz="1600" b="1" dirty="0" err="1"/>
              <a:t>nunc</a:t>
            </a:r>
            <a:r>
              <a:rPr lang="en-US" altLang="zh-CN" sz="1600" b="1" dirty="0"/>
              <a:t> ab omnibus </a:t>
            </a:r>
            <a:r>
              <a:rPr lang="en-US" altLang="zh-CN" sz="1600" b="1" dirty="0" err="1"/>
              <a:t>receptum</a:t>
            </a:r>
            <a:r>
              <a:rPr lang="en-US" altLang="zh-CN" sz="1600" b="1" dirty="0"/>
              <a:t>, in quo nihil </a:t>
            </a:r>
            <a:r>
              <a:rPr lang="en-US" altLang="zh-CN" sz="1600" b="1" dirty="0" err="1"/>
              <a:t>immutatum</a:t>
            </a:r>
            <a:r>
              <a:rPr lang="en-US" altLang="zh-CN" sz="1600" b="1" dirty="0"/>
              <a:t> </a:t>
            </a:r>
            <a:r>
              <a:rPr lang="en-US" altLang="zh-CN" sz="1600" b="1" dirty="0" err="1"/>
              <a:t>aut</a:t>
            </a:r>
            <a:r>
              <a:rPr lang="en-US" altLang="zh-CN" sz="1600" b="1" dirty="0"/>
              <a:t> </a:t>
            </a:r>
            <a:r>
              <a:rPr lang="en-US" altLang="zh-CN" sz="1600" b="1" dirty="0" err="1"/>
              <a:t>corruptum</a:t>
            </a:r>
            <a:r>
              <a:rPr lang="en-US" altLang="zh-CN" sz="1600" b="1" dirty="0"/>
              <a:t> </a:t>
            </a:r>
            <a:r>
              <a:rPr lang="en-US" altLang="zh-CN" sz="1600" b="1" dirty="0" err="1"/>
              <a:t>damus</a:t>
            </a:r>
            <a:r>
              <a:rPr lang="en-US" altLang="zh-CN" sz="1600" b="1" dirty="0"/>
              <a:t>.“</a:t>
            </a:r>
            <a:endParaRPr lang="en-US" altLang="zh-CN" sz="1600" b="1" dirty="0"/>
          </a:p>
          <a:p>
            <a:endParaRPr lang="en-US" altLang="zh-CN" sz="1600" dirty="0"/>
          </a:p>
          <a:p>
            <a:r>
              <a:rPr lang="zh-CN" altLang="en-US" sz="1600" dirty="0"/>
              <a:t>意即：“</a:t>
            </a:r>
            <a:r>
              <a:rPr lang="zh-CN" altLang="en-US" sz="1600" b="1" dirty="0"/>
              <a:t>你因而拥有了那被所有人所接受的文本，其中我们没有给出任何被改动或败坏的内容。</a:t>
            </a:r>
            <a:r>
              <a:rPr lang="zh-CN" altLang="en-US" sz="1600" dirty="0"/>
              <a:t>”</a:t>
            </a:r>
            <a:endParaRPr lang="en-US" altLang="zh-CN" sz="1600" dirty="0"/>
          </a:p>
          <a:p>
            <a:endParaRPr lang="zh-CN" altLang="en-US" sz="1600" dirty="0"/>
          </a:p>
          <a:p>
            <a:r>
              <a:rPr lang="zh-CN" altLang="en-US" sz="1600" dirty="0"/>
              <a:t>正是从这句话中，</a:t>
            </a:r>
            <a:r>
              <a:rPr lang="en-US" altLang="zh-CN" sz="1600" b="1" dirty="0"/>
              <a:t>"</a:t>
            </a:r>
            <a:r>
              <a:rPr lang="en-US" altLang="zh-CN" sz="1600" b="1" dirty="0" err="1"/>
              <a:t>textum</a:t>
            </a:r>
            <a:r>
              <a:rPr lang="en-US" altLang="zh-CN" sz="1600" b="1" dirty="0"/>
              <a:t>"</a:t>
            </a:r>
            <a:r>
              <a:rPr lang="en-US" altLang="zh-CN" sz="1600" dirty="0"/>
              <a:t> </a:t>
            </a:r>
            <a:r>
              <a:rPr lang="zh-CN" altLang="en-US" sz="1600" dirty="0"/>
              <a:t>与 </a:t>
            </a:r>
            <a:r>
              <a:rPr lang="en-US" altLang="zh-CN" sz="1600" b="1" dirty="0"/>
              <a:t>"</a:t>
            </a:r>
            <a:r>
              <a:rPr lang="en-US" altLang="zh-CN" sz="1600" b="1" dirty="0" err="1"/>
              <a:t>receptum</a:t>
            </a:r>
            <a:r>
              <a:rPr lang="en-US" altLang="zh-CN" sz="1600" b="1" dirty="0"/>
              <a:t>"</a:t>
            </a:r>
            <a:r>
              <a:rPr lang="en-US" altLang="zh-CN" sz="1600" dirty="0"/>
              <a:t> </a:t>
            </a:r>
            <a:r>
              <a:rPr lang="zh-CN" altLang="en-US" sz="1600" dirty="0"/>
              <a:t>这两个词被后人提取出来，组合成了 </a:t>
            </a:r>
            <a:r>
              <a:rPr lang="en-US" altLang="zh-CN" sz="1600" b="1" dirty="0"/>
              <a:t>"Textus Receptus"</a:t>
            </a:r>
            <a:r>
              <a:rPr lang="en-US" altLang="zh-CN" sz="1600" dirty="0"/>
              <a:t> </a:t>
            </a:r>
            <a:r>
              <a:rPr lang="zh-CN" altLang="en-US" sz="1600" dirty="0"/>
              <a:t>这一固定术语，用以指称这一被普遍接受的希腊语</a:t>
            </a:r>
            <a:r>
              <a:rPr lang="en-US" altLang="zh-CN" sz="1600" dirty="0"/>
              <a:t>《</a:t>
            </a:r>
            <a:r>
              <a:rPr lang="zh-CN" altLang="en-US" sz="1600" dirty="0"/>
              <a:t>新约</a:t>
            </a:r>
            <a:r>
              <a:rPr lang="en-US" altLang="zh-CN" sz="1600" dirty="0"/>
              <a:t>》</a:t>
            </a:r>
            <a:r>
              <a:rPr lang="zh-CN" altLang="en-US" sz="1600" dirty="0"/>
              <a:t>文本形式。</a:t>
            </a:r>
            <a:endParaRPr lang="en-US" altLang="zh-CN" sz="1600" dirty="0"/>
          </a:p>
          <a:p>
            <a:endParaRPr lang="en-US" altLang="zh-CN" sz="1600" dirty="0"/>
          </a:p>
          <a:p>
            <a:r>
              <a:rPr lang="en-US" altLang="zh-CN" sz="1600" dirty="0">
                <a:hlinkClick r:id=""/>
              </a:rPr>
              <a:t>…</a:t>
            </a:r>
            <a:r>
              <a:rPr lang="zh-CN" altLang="en-US" sz="1600" dirty="0">
                <a:hlinkClick r:id=""/>
              </a:rPr>
              <a:t>返回</a:t>
            </a:r>
            <a:endParaRPr lang="zh-CN" altLang="en-US" sz="1600" dirty="0"/>
          </a:p>
        </p:txBody>
      </p:sp>
    </p:spTree>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002927" y="1301557"/>
            <a:ext cx="9663522" cy="830997"/>
          </a:xfrm>
          <a:prstGeom prst="rect">
            <a:avLst/>
          </a:prstGeom>
          <a:noFill/>
        </p:spPr>
        <p:txBody>
          <a:bodyPr wrap="square" rtlCol="0" anchor="t">
            <a:spAutoFit/>
          </a:bodyPr>
          <a:lstStyle/>
          <a:p>
            <a:r>
              <a:rPr lang="zh-CN" altLang="en-US" sz="1600" dirty="0"/>
              <a:t>批判文本</a:t>
            </a:r>
            <a:r>
              <a:rPr lang="en-US" altLang="zh-CN" sz="1600" dirty="0"/>
              <a:t>(Critical Text)</a:t>
            </a:r>
            <a:r>
              <a:rPr lang="zh-CN" altLang="en-US" sz="1600" dirty="0"/>
              <a:t>指通过</a:t>
            </a:r>
            <a:r>
              <a:rPr lang="zh-CN" altLang="en-US" sz="1600" b="1" dirty="0"/>
              <a:t>文本批评（</a:t>
            </a:r>
            <a:r>
              <a:rPr lang="en-US" altLang="zh-CN" sz="1600" b="1" dirty="0"/>
              <a:t>Textual Criticism</a:t>
            </a:r>
            <a:r>
              <a:rPr lang="zh-CN" altLang="en-US" sz="1600" b="1" dirty="0"/>
              <a:t>）</a:t>
            </a:r>
            <a:r>
              <a:rPr lang="zh-CN" altLang="en-US" sz="1600" dirty="0"/>
              <a:t> 方法，比较众多抄本后重建的、最接近原稿的</a:t>
            </a:r>
            <a:r>
              <a:rPr lang="zh-CN" altLang="en-US" sz="1600" b="1" dirty="0"/>
              <a:t>圣经文本</a:t>
            </a:r>
            <a:r>
              <a:rPr lang="zh-CN" altLang="en-US" sz="1600" dirty="0"/>
              <a:t>。它是现代许多圣经译本翻译时所依据的</a:t>
            </a:r>
            <a:r>
              <a:rPr lang="zh-CN" altLang="en-US" sz="1600" b="1" dirty="0"/>
              <a:t>源文本底本</a:t>
            </a:r>
            <a:endParaRPr lang="en-US" altLang="zh-CN" sz="1600" b="1" dirty="0"/>
          </a:p>
          <a:p>
            <a:r>
              <a:rPr lang="en-US" altLang="zh-CN" sz="1600" dirty="0">
                <a:hlinkClick r:id=""/>
              </a:rPr>
              <a:t>…</a:t>
            </a:r>
            <a:r>
              <a:rPr lang="zh-CN" altLang="en-US" sz="1600" dirty="0">
                <a:hlinkClick r:id=""/>
              </a:rPr>
              <a:t>返回</a:t>
            </a:r>
            <a:endParaRPr lang="zh-CN" altLang="en-US" sz="1600" dirty="0"/>
          </a:p>
        </p:txBody>
      </p:sp>
    </p:spTree>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002926" y="1301559"/>
            <a:ext cx="9978408" cy="5016758"/>
          </a:xfrm>
          <a:prstGeom prst="rect">
            <a:avLst/>
          </a:prstGeom>
          <a:noFill/>
        </p:spPr>
        <p:txBody>
          <a:bodyPr wrap="square" rtlCol="0" anchor="t">
            <a:spAutoFit/>
          </a:bodyPr>
          <a:lstStyle/>
          <a:p>
            <a:r>
              <a:rPr lang="zh-CN" altLang="en-US" sz="1600" dirty="0"/>
              <a:t>“他者性”（</a:t>
            </a:r>
            <a:r>
              <a:rPr lang="en-US" altLang="zh-CN" sz="1600" dirty="0"/>
              <a:t>Otherness</a:t>
            </a:r>
            <a:r>
              <a:rPr lang="zh-CN" altLang="en-US" sz="1600" dirty="0"/>
              <a:t>）并非由单一学者一次性提出的术语，而是在</a:t>
            </a:r>
            <a:r>
              <a:rPr lang="en-US" altLang="zh-CN" sz="1600" dirty="0"/>
              <a:t>20</a:t>
            </a:r>
            <a:r>
              <a:rPr lang="zh-CN" altLang="en-US" sz="1600" dirty="0"/>
              <a:t>世纪哲学史上逐步演化和确立的核心概念。它的思想根基可追溯至</a:t>
            </a:r>
            <a:r>
              <a:rPr lang="zh-CN" altLang="en-US" sz="1600" b="1" dirty="0"/>
              <a:t>黑格尔</a:t>
            </a:r>
            <a:r>
              <a:rPr lang="zh-CN" altLang="en-US" sz="1600" dirty="0"/>
              <a:t>，而</a:t>
            </a:r>
            <a:r>
              <a:rPr lang="zh-CN" altLang="en-US" sz="1600" b="1" dirty="0"/>
              <a:t>列维纳斯</a:t>
            </a:r>
            <a:r>
              <a:rPr lang="zh-CN" altLang="en-US" sz="1600" dirty="0"/>
              <a:t>则赋予了它最决定性的伦理内涵。以下梳理其关键的思想源头与标志性文献。</a:t>
            </a:r>
            <a:endParaRPr lang="en-US" altLang="zh-CN" sz="1600" dirty="0"/>
          </a:p>
          <a:p>
            <a:endParaRPr lang="zh-CN" altLang="en-US" sz="1600" dirty="0"/>
          </a:p>
          <a:p>
            <a:r>
              <a:rPr lang="zh-CN" altLang="en-US" sz="1600" b="1" dirty="0"/>
              <a:t>概念的源流与关键人物</a:t>
            </a:r>
            <a:endParaRPr lang="en-US" altLang="zh-CN" sz="1600" b="1" dirty="0"/>
          </a:p>
          <a:p>
            <a:endParaRPr lang="zh-CN" altLang="en-US" sz="1600" b="1" dirty="0"/>
          </a:p>
          <a:p>
            <a:pPr marL="342900" indent="-342900">
              <a:buAutoNum type="arabicPeriod"/>
            </a:pPr>
            <a:r>
              <a:rPr lang="zh-CN" altLang="en-US" sz="1600" b="1" dirty="0"/>
              <a:t>哲学奠基：黑格尔（</a:t>
            </a:r>
            <a:r>
              <a:rPr lang="en-US" altLang="zh-CN" sz="1600" b="1" dirty="0"/>
              <a:t>G.W.F. Hegel</a:t>
            </a:r>
            <a:r>
              <a:rPr lang="zh-CN" altLang="en-US" sz="1600" b="1" dirty="0"/>
              <a:t>）</a:t>
            </a:r>
            <a:br>
              <a:rPr lang="en-US" altLang="zh-CN" sz="1600" dirty="0"/>
            </a:br>
            <a:r>
              <a:rPr lang="en-US" altLang="zh-CN" sz="1600" dirty="0"/>
              <a:t>“</a:t>
            </a:r>
            <a:r>
              <a:rPr lang="zh-CN" altLang="en-US" sz="1600" dirty="0"/>
              <a:t>他者”作为自我意识构成要素的观念，最早由</a:t>
            </a:r>
            <a:r>
              <a:rPr lang="zh-CN" altLang="en-US" sz="1600" b="1" dirty="0"/>
              <a:t>黑格尔</a:t>
            </a:r>
            <a:r>
              <a:rPr lang="zh-CN" altLang="en-US" sz="1600" dirty="0"/>
              <a:t>在哲学上提出。他在 </a:t>
            </a:r>
            <a:r>
              <a:rPr lang="en-US" altLang="zh-CN" sz="1600" b="1" dirty="0"/>
              <a:t>《</a:t>
            </a:r>
            <a:r>
              <a:rPr lang="zh-CN" altLang="en-US" sz="1600" b="1" dirty="0"/>
              <a:t>精神现象学</a:t>
            </a:r>
            <a:r>
              <a:rPr lang="en-US" altLang="zh-CN" sz="1600" b="1" dirty="0"/>
              <a:t>》</a:t>
            </a:r>
            <a:r>
              <a:rPr lang="zh-CN" altLang="en-US" sz="1600" b="1" dirty="0"/>
              <a:t>（</a:t>
            </a:r>
            <a:r>
              <a:rPr lang="en-US" altLang="zh-CN" sz="1600" b="1" i="1" dirty="0" err="1"/>
              <a:t>Phänomenologie</a:t>
            </a:r>
            <a:r>
              <a:rPr lang="en-US" altLang="zh-CN" sz="1600" b="1" i="1" dirty="0"/>
              <a:t> des </a:t>
            </a:r>
            <a:r>
              <a:rPr lang="en-US" altLang="zh-CN" sz="1600" b="1" i="1" dirty="0" err="1"/>
              <a:t>Geistes</a:t>
            </a:r>
            <a:r>
              <a:rPr lang="en-US" altLang="zh-CN" sz="1600" b="1" dirty="0"/>
              <a:t>, 1807</a:t>
            </a:r>
            <a:r>
              <a:rPr lang="zh-CN" altLang="en-US" sz="1600" b="1" dirty="0"/>
              <a:t>）</a:t>
            </a:r>
            <a:r>
              <a:rPr lang="en-US" altLang="zh-CN" sz="1600" dirty="0"/>
              <a:t> </a:t>
            </a:r>
            <a:r>
              <a:rPr lang="zh-CN" altLang="en-US" sz="1600" dirty="0"/>
              <a:t>的“主人与奴隶”章节中，论述了自我意识如何通过与他者的对峙与承认来形成。</a:t>
            </a:r>
            <a:endParaRPr lang="en-US" altLang="zh-CN" sz="1600" dirty="0"/>
          </a:p>
          <a:p>
            <a:pPr marL="342900" indent="-342900">
              <a:buAutoNum type="arabicPeriod"/>
            </a:pPr>
            <a:r>
              <a:rPr lang="en-US" altLang="zh-CN" sz="1600" b="1" dirty="0"/>
              <a:t> </a:t>
            </a:r>
            <a:r>
              <a:rPr lang="zh-CN" altLang="en-US" sz="1600" b="1" dirty="0"/>
              <a:t>伦理转向：列维纳斯（</a:t>
            </a:r>
            <a:r>
              <a:rPr lang="en-US" altLang="zh-CN" sz="1600" b="1" dirty="0"/>
              <a:t>Emmanuel Levinas</a:t>
            </a:r>
            <a:r>
              <a:rPr lang="zh-CN" altLang="en-US" sz="1600" b="1" dirty="0"/>
              <a:t>）</a:t>
            </a:r>
            <a:br>
              <a:rPr lang="en-US" altLang="zh-CN" sz="1600" dirty="0"/>
            </a:br>
            <a:r>
              <a:rPr lang="zh-CN" altLang="en-US" sz="1600" dirty="0"/>
              <a:t>法国哲学家</a:t>
            </a:r>
            <a:r>
              <a:rPr lang="zh-CN" altLang="en-US" sz="1600" b="1" dirty="0"/>
              <a:t>列维纳斯</a:t>
            </a:r>
            <a:r>
              <a:rPr lang="zh-CN" altLang="en-US" sz="1600" dirty="0"/>
              <a:t>赋予了“他者性”最决定性的伦理强调，并推动了该术语的广泛传播。他认为西方哲学传统倾向于将他者还原为“同一者”，而真正的“他者性”（</a:t>
            </a:r>
            <a:r>
              <a:rPr lang="en-US" altLang="zh-CN" sz="1600" b="1" dirty="0" err="1"/>
              <a:t>altérité</a:t>
            </a:r>
            <a:r>
              <a:rPr lang="zh-CN" altLang="en-US" sz="1600" dirty="0"/>
              <a:t>）是</a:t>
            </a:r>
            <a:r>
              <a:rPr lang="zh-CN" altLang="en-US" sz="1600" b="1" dirty="0"/>
              <a:t>绝对的、不可被同化的</a:t>
            </a:r>
            <a:r>
              <a:rPr lang="zh-CN" altLang="en-US" sz="1600" dirty="0"/>
              <a:t>，它构成了伦理学的基础。其相关论述主要见于 </a:t>
            </a:r>
            <a:r>
              <a:rPr lang="en-US" altLang="zh-CN" sz="1600" b="1" dirty="0"/>
              <a:t>《</a:t>
            </a:r>
            <a:r>
              <a:rPr lang="zh-CN" altLang="en-US" sz="1600" b="1" dirty="0"/>
              <a:t>整体与无限</a:t>
            </a:r>
            <a:r>
              <a:rPr lang="en-US" altLang="zh-CN" sz="1600" b="1" dirty="0"/>
              <a:t>》</a:t>
            </a:r>
            <a:r>
              <a:rPr lang="zh-CN" altLang="en-US" sz="1600" b="1" dirty="0"/>
              <a:t>（</a:t>
            </a:r>
            <a:r>
              <a:rPr lang="en-US" altLang="zh-CN" sz="1600" b="1" i="1" dirty="0" err="1"/>
              <a:t>Totalité</a:t>
            </a:r>
            <a:r>
              <a:rPr lang="en-US" altLang="zh-CN" sz="1600" b="1" i="1" dirty="0"/>
              <a:t> et Infini</a:t>
            </a:r>
            <a:r>
              <a:rPr lang="en-US" altLang="zh-CN" sz="1600" b="1" dirty="0"/>
              <a:t>, 1961</a:t>
            </a:r>
            <a:r>
              <a:rPr lang="zh-CN" altLang="en-US" sz="1600" b="1" dirty="0"/>
              <a:t>）</a:t>
            </a:r>
            <a:r>
              <a:rPr lang="en-US" altLang="zh-CN" sz="1600" dirty="0"/>
              <a:t> </a:t>
            </a:r>
            <a:r>
              <a:rPr lang="zh-CN" altLang="en-US" sz="1600" dirty="0"/>
              <a:t>及后来的文集 </a:t>
            </a:r>
            <a:r>
              <a:rPr lang="en-US" altLang="zh-CN" sz="1600" b="1" dirty="0"/>
              <a:t>《</a:t>
            </a:r>
            <a:r>
              <a:rPr lang="zh-CN" altLang="en-US" sz="1600" b="1" dirty="0"/>
              <a:t>他异性与超越</a:t>
            </a:r>
            <a:r>
              <a:rPr lang="en-US" altLang="zh-CN" sz="1600" b="1" dirty="0"/>
              <a:t>》</a:t>
            </a:r>
            <a:r>
              <a:rPr lang="zh-CN" altLang="en-US" sz="1600" b="1" dirty="0"/>
              <a:t>（</a:t>
            </a:r>
            <a:r>
              <a:rPr lang="en-US" altLang="zh-CN" sz="1600" b="1" i="1" dirty="0" err="1"/>
              <a:t>Altérité</a:t>
            </a:r>
            <a:r>
              <a:rPr lang="en-US" altLang="zh-CN" sz="1600" b="1" i="1" dirty="0"/>
              <a:t> et Transcendence</a:t>
            </a:r>
            <a:r>
              <a:rPr lang="en-US" altLang="zh-CN" sz="1600" b="1" dirty="0"/>
              <a:t>, 1970/1999</a:t>
            </a:r>
            <a:r>
              <a:rPr lang="zh-CN" altLang="en-US" sz="1600" b="1" dirty="0"/>
              <a:t>）</a:t>
            </a:r>
            <a:r>
              <a:rPr lang="zh-CN" altLang="en-US" sz="1600" dirty="0"/>
              <a:t>。</a:t>
            </a:r>
            <a:endParaRPr lang="en-US" altLang="zh-CN" sz="1600" dirty="0"/>
          </a:p>
          <a:p>
            <a:pPr marL="342900" indent="-342900">
              <a:buAutoNum type="arabicPeriod"/>
            </a:pPr>
            <a:r>
              <a:rPr lang="zh-CN" altLang="en-US" sz="1600" b="1" dirty="0"/>
              <a:t>劳伦斯</a:t>
            </a:r>
            <a:r>
              <a:rPr lang="en-US" altLang="zh-CN" sz="1600" b="1" dirty="0"/>
              <a:t>·</a:t>
            </a:r>
            <a:r>
              <a:rPr lang="zh-CN" altLang="en-US" sz="1600" b="1" dirty="0"/>
              <a:t>韦努蒂（</a:t>
            </a:r>
            <a:r>
              <a:rPr lang="en-US" altLang="zh-CN" sz="1600" b="1" dirty="0"/>
              <a:t>Lawrence Venuti</a:t>
            </a:r>
            <a:r>
              <a:rPr lang="zh-CN" altLang="en-US" sz="1600" b="1" dirty="0"/>
              <a:t>）</a:t>
            </a:r>
            <a:r>
              <a:rPr lang="zh-CN" altLang="en-US" sz="1600" dirty="0"/>
              <a:t> 在 </a:t>
            </a:r>
            <a:r>
              <a:rPr lang="en-US" altLang="zh-CN" sz="1600" b="1" dirty="0"/>
              <a:t>《</a:t>
            </a:r>
            <a:r>
              <a:rPr lang="zh-CN" altLang="en-US" sz="1600" b="1" dirty="0"/>
              <a:t>译者的隐身</a:t>
            </a:r>
            <a:r>
              <a:rPr lang="en-US" altLang="zh-CN" sz="1600" b="1" dirty="0"/>
              <a:t>》</a:t>
            </a:r>
            <a:r>
              <a:rPr lang="zh-CN" altLang="en-US" sz="1600" b="1" dirty="0"/>
              <a:t>（</a:t>
            </a:r>
            <a:r>
              <a:rPr lang="en-US" altLang="zh-CN" sz="1600" b="1" i="1" dirty="0"/>
              <a:t>The Translator’s Invisibility</a:t>
            </a:r>
            <a:r>
              <a:rPr lang="en-US" altLang="zh-CN" sz="1600" b="1" dirty="0"/>
              <a:t>, 1995</a:t>
            </a:r>
            <a:r>
              <a:rPr lang="zh-CN" altLang="en-US" sz="1600" b="1" dirty="0"/>
              <a:t>）</a:t>
            </a:r>
            <a:r>
              <a:rPr lang="zh-CN" altLang="en-US" sz="1600" dirty="0"/>
              <a:t> 中，将“他者性”引入翻译批评，批判“流畅”的归化翻译掩盖了源语文本的文化差异，主张通过“异化”策略来</a:t>
            </a:r>
            <a:r>
              <a:rPr lang="zh-CN" altLang="en-US" sz="1600" b="1" dirty="0"/>
              <a:t>保留外语文本的语言与文化差异，从而显现其“他者性”</a:t>
            </a:r>
            <a:r>
              <a:rPr lang="zh-CN" altLang="en-US" sz="1600" dirty="0"/>
              <a:t>。</a:t>
            </a:r>
            <a:endParaRPr lang="en-US" altLang="zh-CN" sz="1600" dirty="0"/>
          </a:p>
          <a:p>
            <a:r>
              <a:rPr lang="en-US" altLang="zh-CN" sz="1600" dirty="0">
                <a:hlinkClick r:id=""/>
              </a:rPr>
              <a:t>…</a:t>
            </a:r>
            <a:r>
              <a:rPr lang="zh-CN" altLang="en-US" sz="1600" dirty="0">
                <a:hlinkClick r:id=""/>
              </a:rPr>
              <a:t>返回</a:t>
            </a:r>
            <a:endParaRPr lang="en-US" altLang="zh-CN" sz="1600" dirty="0"/>
          </a:p>
          <a:p>
            <a:endParaRPr lang="zh-CN" altLang="en-US" sz="1600" dirty="0"/>
          </a:p>
        </p:txBody>
      </p:sp>
    </p:spTree>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002926" y="1032128"/>
            <a:ext cx="9978408" cy="5262979"/>
          </a:xfrm>
          <a:prstGeom prst="rect">
            <a:avLst/>
          </a:prstGeom>
          <a:noFill/>
        </p:spPr>
        <p:txBody>
          <a:bodyPr wrap="square" rtlCol="0" anchor="t">
            <a:spAutoFit/>
          </a:bodyPr>
          <a:lstStyle/>
          <a:p>
            <a:r>
              <a:rPr lang="zh-CN" altLang="en-US" sz="1600" b="1" dirty="0"/>
              <a:t>“归化”的学术源流</a:t>
            </a:r>
            <a:endParaRPr lang="zh-CN" altLang="en-US" sz="1600" b="1" dirty="0"/>
          </a:p>
          <a:p>
            <a:endParaRPr lang="zh-CN" altLang="en-US" sz="1600" b="1" dirty="0"/>
          </a:p>
          <a:p>
            <a:r>
              <a:rPr lang="en-US" altLang="zh-CN" sz="1600" b="1" dirty="0"/>
              <a:t>1. </a:t>
            </a:r>
            <a:r>
              <a:rPr lang="zh-CN" altLang="en-US" sz="1600" b="1" dirty="0"/>
              <a:t>理论先驱：施莱尔马赫（</a:t>
            </a:r>
            <a:r>
              <a:rPr lang="en-US" altLang="zh-CN" sz="1600" b="1" dirty="0"/>
              <a:t>1813</a:t>
            </a:r>
            <a:r>
              <a:rPr lang="zh-CN" altLang="en-US" sz="1600" b="1" dirty="0"/>
              <a:t>）</a:t>
            </a:r>
            <a:endParaRPr lang="zh-CN" altLang="en-US" sz="1600" b="1" dirty="0"/>
          </a:p>
          <a:p>
            <a:r>
              <a:rPr lang="zh-CN" altLang="en-US" sz="1600" dirty="0"/>
              <a:t>施莱尔马赫在</a:t>
            </a:r>
            <a:r>
              <a:rPr lang="en-US" altLang="zh-CN" sz="1600" dirty="0"/>
              <a:t>1813</a:t>
            </a:r>
            <a:r>
              <a:rPr lang="zh-CN" altLang="en-US" sz="1600" dirty="0"/>
              <a:t>年的演讲 </a:t>
            </a:r>
            <a:r>
              <a:rPr lang="en-US" altLang="zh-CN" sz="1600" b="1" dirty="0"/>
              <a:t>《</a:t>
            </a:r>
            <a:r>
              <a:rPr lang="zh-CN" altLang="en-US" sz="1600" b="1" dirty="0"/>
              <a:t>论翻译的不同方法</a:t>
            </a:r>
            <a:r>
              <a:rPr lang="en-US" altLang="zh-CN" sz="1600" b="1" dirty="0"/>
              <a:t>》</a:t>
            </a:r>
            <a:r>
              <a:rPr lang="zh-CN" altLang="en-US" sz="1600" b="1" dirty="0"/>
              <a:t>（</a:t>
            </a:r>
            <a:r>
              <a:rPr lang="en-US" altLang="zh-CN" sz="1600" b="1" dirty="0" err="1"/>
              <a:t>Über</a:t>
            </a:r>
            <a:r>
              <a:rPr lang="en-US" altLang="zh-CN" sz="1600" b="1" dirty="0"/>
              <a:t> die </a:t>
            </a:r>
            <a:r>
              <a:rPr lang="en-US" altLang="zh-CN" sz="1600" b="1" dirty="0" err="1"/>
              <a:t>verschiedenen</a:t>
            </a:r>
            <a:r>
              <a:rPr lang="en-US" altLang="zh-CN" sz="1600" b="1" dirty="0"/>
              <a:t> </a:t>
            </a:r>
            <a:r>
              <a:rPr lang="en-US" altLang="zh-CN" sz="1600" b="1" dirty="0" err="1"/>
              <a:t>Methoden</a:t>
            </a:r>
            <a:r>
              <a:rPr lang="en-US" altLang="zh-CN" sz="1600" b="1" dirty="0"/>
              <a:t> des </a:t>
            </a:r>
            <a:r>
              <a:rPr lang="en-US" altLang="zh-CN" sz="1600" b="1" dirty="0" err="1"/>
              <a:t>Übersetzens</a:t>
            </a:r>
            <a:r>
              <a:rPr lang="zh-CN" altLang="en-US" sz="1600" b="1" dirty="0"/>
              <a:t>）</a:t>
            </a:r>
            <a:r>
              <a:rPr lang="en-US" altLang="zh-CN" sz="1600" dirty="0"/>
              <a:t> </a:t>
            </a:r>
            <a:r>
              <a:rPr lang="zh-CN" altLang="en-US" sz="1600" dirty="0"/>
              <a:t>中，首次提出了翻译的两条根本路径：要么</a:t>
            </a:r>
            <a:r>
              <a:rPr lang="zh-CN" altLang="en-US" sz="1600" b="1" dirty="0"/>
              <a:t>尽可能让读者不动，将作者带到读者面前</a:t>
            </a:r>
            <a:r>
              <a:rPr lang="zh-CN" altLang="en-US" sz="1600" dirty="0"/>
              <a:t>；要么</a:t>
            </a:r>
            <a:r>
              <a:rPr lang="zh-CN" altLang="en-US" sz="1600" b="1" dirty="0"/>
              <a:t>尽可能让作者不动，将读者带到作者面前</a:t>
            </a:r>
            <a:r>
              <a:rPr lang="zh-CN" altLang="en-US" sz="1600" dirty="0"/>
              <a:t>。这一二分法构成了后来“归化</a:t>
            </a:r>
            <a:r>
              <a:rPr lang="en-US" altLang="zh-CN" sz="1600" dirty="0"/>
              <a:t>/</a:t>
            </a:r>
            <a:r>
              <a:rPr lang="zh-CN" altLang="en-US" sz="1600" dirty="0"/>
              <a:t>异化”的理论原型。韦努蒂本人也明确承认其理论借鉴了施莱尔马赫的这一论述。</a:t>
            </a:r>
            <a:endParaRPr lang="en-US" altLang="zh-CN" sz="1600" dirty="0"/>
          </a:p>
          <a:p>
            <a:endParaRPr lang="zh-CN" altLang="en-US" sz="1600" dirty="0"/>
          </a:p>
          <a:p>
            <a:r>
              <a:rPr lang="en-US" altLang="zh-CN" sz="1600" b="1" dirty="0"/>
              <a:t>2. </a:t>
            </a:r>
            <a:r>
              <a:rPr lang="zh-CN" altLang="en-US" sz="1600" b="1" dirty="0"/>
              <a:t>术语确立：韦努蒂（</a:t>
            </a:r>
            <a:r>
              <a:rPr lang="en-US" altLang="zh-CN" sz="1600" b="1" dirty="0"/>
              <a:t>1995</a:t>
            </a:r>
            <a:r>
              <a:rPr lang="zh-CN" altLang="en-US" sz="1600" b="1" dirty="0"/>
              <a:t>）</a:t>
            </a:r>
            <a:endParaRPr lang="zh-CN" altLang="en-US" sz="1600" b="1" dirty="0"/>
          </a:p>
          <a:p>
            <a:r>
              <a:rPr lang="zh-CN" altLang="en-US" sz="1600" dirty="0"/>
              <a:t>韦努蒂在 </a:t>
            </a:r>
            <a:r>
              <a:rPr lang="en-US" altLang="zh-CN" sz="1600" b="1" dirty="0"/>
              <a:t>《</a:t>
            </a:r>
            <a:r>
              <a:rPr lang="zh-CN" altLang="en-US" sz="1600" b="1" dirty="0"/>
              <a:t>译者的隐身：一部翻译史</a:t>
            </a:r>
            <a:r>
              <a:rPr lang="en-US" altLang="zh-CN" sz="1600" b="1" dirty="0"/>
              <a:t>》</a:t>
            </a:r>
            <a:r>
              <a:rPr lang="zh-CN" altLang="en-US" sz="1600" b="1" dirty="0"/>
              <a:t>（</a:t>
            </a:r>
            <a:r>
              <a:rPr lang="en-US" altLang="zh-CN" sz="1600" b="1" i="1" dirty="0"/>
              <a:t>The Translator‘s Invisibility: A History of Translation</a:t>
            </a:r>
            <a:r>
              <a:rPr lang="zh-CN" altLang="en-US" sz="1600" b="1" dirty="0"/>
              <a:t>）</a:t>
            </a:r>
            <a:r>
              <a:rPr lang="en-US" altLang="zh-CN" sz="1600" dirty="0"/>
              <a:t> </a:t>
            </a:r>
            <a:r>
              <a:rPr lang="zh-CN" altLang="en-US" sz="1600" dirty="0"/>
              <a:t>中，正式将 </a:t>
            </a:r>
            <a:r>
              <a:rPr lang="zh-CN" altLang="en-US" sz="1600" b="1" dirty="0"/>
              <a:t>“</a:t>
            </a:r>
            <a:r>
              <a:rPr lang="en-US" altLang="zh-CN" sz="1600" b="1" dirty="0"/>
              <a:t>domestication”</a:t>
            </a:r>
            <a:r>
              <a:rPr lang="en-US" altLang="zh-CN" sz="1600" dirty="0"/>
              <a:t> </a:t>
            </a:r>
            <a:r>
              <a:rPr lang="zh-CN" altLang="en-US" sz="1600" dirty="0"/>
              <a:t>与 </a:t>
            </a:r>
            <a:r>
              <a:rPr lang="zh-CN" altLang="en-US" sz="1600" b="1" dirty="0"/>
              <a:t>“</a:t>
            </a:r>
            <a:r>
              <a:rPr lang="en-US" altLang="zh-CN" sz="1600" b="1" dirty="0"/>
              <a:t>foreignization”</a:t>
            </a:r>
            <a:r>
              <a:rPr lang="en-US" altLang="zh-CN" sz="1600" dirty="0"/>
              <a:t> </a:t>
            </a:r>
            <a:r>
              <a:rPr lang="zh-CN" altLang="en-US" sz="1600" dirty="0"/>
              <a:t>确立为翻译研究的核心术语，用以描述两种对立的翻译策略。根据翻译研究领域的共识，韦努蒂是</a:t>
            </a:r>
            <a:r>
              <a:rPr lang="zh-CN" altLang="en-US" sz="1600" b="1" dirty="0"/>
              <a:t>第一个在现代意义上系统表述并引入这两个术语的人</a:t>
            </a:r>
            <a:r>
              <a:rPr lang="zh-CN" altLang="en-US" sz="1600" dirty="0"/>
              <a:t>。他在书中将“归化”定义为“</a:t>
            </a:r>
            <a:r>
              <a:rPr lang="zh-CN" altLang="en-US" sz="1600" b="1" dirty="0"/>
              <a:t>对外语文本进行种族中心主义的缩减，使其符合目标语言的文化价值观，将作者带回家</a:t>
            </a:r>
            <a:r>
              <a:rPr lang="zh-CN" altLang="en-US" sz="1600" dirty="0"/>
              <a:t>”（</a:t>
            </a:r>
            <a:r>
              <a:rPr lang="en-US" altLang="zh-CN" sz="1600" dirty="0"/>
              <a:t>an ethnocentric reduction of the foreign text to target-language cultural values, bringing the author back home</a:t>
            </a:r>
            <a:r>
              <a:rPr lang="zh-CN" altLang="en-US" sz="1600" dirty="0"/>
              <a:t>）。</a:t>
            </a:r>
            <a:endParaRPr lang="en-US" altLang="zh-CN" sz="1600" dirty="0"/>
          </a:p>
          <a:p>
            <a:endParaRPr lang="zh-CN" altLang="en-US" sz="1600" dirty="0"/>
          </a:p>
          <a:p>
            <a:r>
              <a:rPr lang="en-US" altLang="zh-CN" sz="1600" b="1" dirty="0"/>
              <a:t>3. </a:t>
            </a:r>
            <a:r>
              <a:rPr lang="zh-CN" altLang="en-US" sz="1600" b="1" dirty="0"/>
              <a:t>中文语境的特殊脉络</a:t>
            </a:r>
            <a:endParaRPr lang="zh-CN" altLang="en-US" sz="1600" b="1" dirty="0"/>
          </a:p>
          <a:p>
            <a:r>
              <a:rPr lang="zh-CN" altLang="en-US" sz="1600" dirty="0"/>
              <a:t>值得注意的是，“归化”作为中文术语，其使用</a:t>
            </a:r>
            <a:r>
              <a:rPr lang="zh-CN" altLang="en-US" sz="1600" b="1" dirty="0"/>
              <a:t>早于韦努蒂</a:t>
            </a:r>
            <a:r>
              <a:rPr lang="zh-CN" altLang="en-US" sz="1600" dirty="0"/>
              <a:t>。有学者考证，</a:t>
            </a:r>
            <a:r>
              <a:rPr lang="zh-CN" altLang="en-US" sz="1600" b="1" dirty="0"/>
              <a:t>鲁迅于</a:t>
            </a:r>
            <a:r>
              <a:rPr lang="en-US" altLang="zh-CN" sz="1600" b="1" dirty="0"/>
              <a:t>1935</a:t>
            </a:r>
            <a:r>
              <a:rPr lang="zh-CN" altLang="en-US" sz="1600" b="1" dirty="0"/>
              <a:t>年</a:t>
            </a:r>
            <a:r>
              <a:rPr lang="zh-CN" altLang="en-US" sz="1600" dirty="0"/>
              <a:t>已率先使用“归化”一词讨论翻译策略，并提出“保存洋气”的主张。韦努蒂</a:t>
            </a:r>
            <a:r>
              <a:rPr lang="en-US" altLang="zh-CN" sz="1600" dirty="0"/>
              <a:t>1995</a:t>
            </a:r>
            <a:r>
              <a:rPr lang="zh-CN" altLang="en-US" sz="1600" dirty="0"/>
              <a:t>年的著作被引介后，国内学者将“</a:t>
            </a:r>
            <a:r>
              <a:rPr lang="en-US" altLang="zh-CN" sz="1600" dirty="0"/>
              <a:t>domestication”</a:t>
            </a:r>
            <a:r>
              <a:rPr lang="zh-CN" altLang="en-US" sz="1600" dirty="0"/>
              <a:t>译为“归化”，此后这一译法才与韦努蒂的理论紧密绑定。因此，中文“归化”与英文“</a:t>
            </a:r>
            <a:r>
              <a:rPr lang="en-US" altLang="zh-CN" sz="1600" dirty="0"/>
              <a:t>domestication”</a:t>
            </a:r>
            <a:r>
              <a:rPr lang="zh-CN" altLang="en-US" sz="1600" dirty="0"/>
              <a:t>之间并非直接的借用关系，而是术语翻译后产生的汇流。</a:t>
            </a:r>
            <a:endParaRPr lang="en-US" altLang="zh-CN" sz="1600" dirty="0"/>
          </a:p>
          <a:p>
            <a:r>
              <a:rPr lang="en-US" altLang="zh-CN" sz="1600" dirty="0">
                <a:hlinkClick r:id=""/>
              </a:rPr>
              <a:t>…</a:t>
            </a:r>
            <a:r>
              <a:rPr lang="zh-CN" altLang="en-US" sz="1600" dirty="0">
                <a:hlinkClick r:id=""/>
              </a:rPr>
              <a:t>返回</a:t>
            </a:r>
            <a:endParaRPr lang="zh-CN" altLang="en-US" sz="1600" dirty="0"/>
          </a:p>
        </p:txBody>
      </p:sp>
    </p:spTree>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002926" y="1032128"/>
            <a:ext cx="9978408" cy="3293209"/>
          </a:xfrm>
          <a:prstGeom prst="rect">
            <a:avLst/>
          </a:prstGeom>
          <a:noFill/>
        </p:spPr>
        <p:txBody>
          <a:bodyPr wrap="square" rtlCol="0" anchor="t">
            <a:spAutoFit/>
          </a:bodyPr>
          <a:lstStyle/>
          <a:p>
            <a:r>
              <a:rPr lang="en-US" altLang="zh-CN" sz="1600" dirty="0"/>
              <a:t>Nichols </a:t>
            </a:r>
            <a:r>
              <a:rPr lang="zh-CN" altLang="en-US" sz="1600" dirty="0"/>
              <a:t>论文中“</a:t>
            </a:r>
            <a:r>
              <a:rPr lang="zh-CN" altLang="en-US" sz="1600" b="1" dirty="0"/>
              <a:t>明晰性</a:t>
            </a:r>
            <a:r>
              <a:rPr lang="zh-CN" altLang="en-US" sz="1600" dirty="0"/>
              <a:t>”（</a:t>
            </a:r>
            <a:r>
              <a:rPr lang="en-US" altLang="zh-CN" sz="1600" b="1" dirty="0"/>
              <a:t>explicitness</a:t>
            </a:r>
            <a:r>
              <a:rPr lang="zh-CN" altLang="en-US" sz="1600" dirty="0"/>
              <a:t>）这一概念，并非泛指译文表达的清晰，而是一个具有特定批判指向的术语。它指的是</a:t>
            </a:r>
            <a:r>
              <a:rPr lang="zh-CN" altLang="en-US" sz="1600" b="1" dirty="0"/>
              <a:t>在翻译过程中，将源语文本中含蓄、隐含或依赖文化语境才能理解的内容，在译文中刻意地、系统地加以明确化和解释</a:t>
            </a:r>
            <a:r>
              <a:rPr lang="zh-CN" altLang="en-US" sz="1600" dirty="0"/>
              <a:t>。 </a:t>
            </a:r>
            <a:r>
              <a:rPr lang="en-US" altLang="zh-CN" sz="1600" dirty="0"/>
              <a:t>Nichols </a:t>
            </a:r>
            <a:r>
              <a:rPr lang="zh-CN" altLang="en-US" sz="1600" dirty="0"/>
              <a:t>认为，这种对“明晰性”的追求，恰恰是功能对等模式在跨文化圣经翻译中产生负面后果的关键机制之一。</a:t>
            </a:r>
            <a:endParaRPr lang="en-US" altLang="zh-CN" sz="1600" dirty="0"/>
          </a:p>
          <a:p>
            <a:endParaRPr lang="zh-CN" altLang="en-US" sz="1600" dirty="0"/>
          </a:p>
          <a:p>
            <a:r>
              <a:rPr lang="zh-CN" altLang="en-US" sz="1600" b="1" dirty="0"/>
              <a:t>“明晰性”的具体含义</a:t>
            </a:r>
            <a:endParaRPr lang="en-US" altLang="zh-CN" sz="1600" b="1" dirty="0"/>
          </a:p>
          <a:p>
            <a:endParaRPr lang="zh-CN" altLang="en-US" sz="1600" b="1" dirty="0"/>
          </a:p>
          <a:p>
            <a:r>
              <a:rPr lang="zh-CN" altLang="en-US" sz="1600" dirty="0"/>
              <a:t>在奈达的功能对等理论中，“明晰性”被视为一种必要且正当的翻译手段。奈达认为，源语中“重要的语义元素可能隐含其中”，在接收语中“可能需要明确地标识出来”。例如，将“税吏”解释为“收税的人”，或将文化特定的比喻替换为更易懂的表达，都是“明晰化”的操作。</a:t>
            </a:r>
            <a:endParaRPr lang="zh-CN" altLang="en-US" sz="1600" dirty="0"/>
          </a:p>
          <a:p>
            <a:r>
              <a:rPr lang="zh-CN" altLang="en-US" sz="1600" dirty="0"/>
              <a:t>然而，</a:t>
            </a:r>
            <a:r>
              <a:rPr lang="en-US" altLang="zh-CN" sz="1600" dirty="0"/>
              <a:t>Nichols </a:t>
            </a:r>
            <a:r>
              <a:rPr lang="zh-CN" altLang="en-US" sz="1600" dirty="0"/>
              <a:t>指出，当这种“明晰化”成为翻译的</a:t>
            </a:r>
            <a:r>
              <a:rPr lang="zh-CN" altLang="en-US" sz="1600" b="1" dirty="0"/>
              <a:t>系统性驱动力</a:t>
            </a:r>
            <a:r>
              <a:rPr lang="zh-CN" altLang="en-US" sz="1600" dirty="0"/>
              <a:t>（</a:t>
            </a:r>
            <a:r>
              <a:rPr lang="en-US" altLang="zh-CN" sz="1600" dirty="0"/>
              <a:t>drive for explicitness</a:t>
            </a:r>
            <a:r>
              <a:rPr lang="zh-CN" altLang="en-US" sz="1600" dirty="0"/>
              <a:t>）时，它就不再是中性的技术手段，而会演变为一种</a:t>
            </a:r>
            <a:r>
              <a:rPr lang="zh-CN" altLang="en-US" sz="1600" b="1" dirty="0"/>
              <a:t>认知框架的强加</a:t>
            </a:r>
            <a:r>
              <a:rPr lang="zh-CN" altLang="en-US" sz="1600" dirty="0"/>
              <a:t>。</a:t>
            </a:r>
            <a:endParaRPr lang="zh-CN" altLang="en-US" sz="1600" dirty="0"/>
          </a:p>
          <a:p>
            <a:r>
              <a:rPr lang="en-US" altLang="zh-CN" sz="1600" dirty="0">
                <a:hlinkClick r:id=""/>
              </a:rPr>
              <a:t>…</a:t>
            </a:r>
            <a:r>
              <a:rPr lang="zh-CN" altLang="en-US" sz="1600" dirty="0">
                <a:hlinkClick r:id=""/>
              </a:rPr>
              <a:t>返回</a:t>
            </a:r>
            <a:endParaRPr lang="zh-CN" altLang="en-US" sz="1600" dirty="0"/>
          </a:p>
        </p:txBody>
      </p:sp>
    </p:spTree>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210666" y="1301557"/>
            <a:ext cx="9663522" cy="4202776"/>
            <a:chOff x="2940854" y="4008898"/>
            <a:chExt cx="3251051" cy="1622762"/>
          </a:xfrm>
        </p:grpSpPr>
        <p:sp>
          <p:nvSpPr>
            <p:cNvPr id="4" name="Text Placeholder 2"/>
            <p:cNvSpPr txBox="1"/>
            <p:nvPr/>
          </p:nvSpPr>
          <p:spPr>
            <a:xfrm>
              <a:off x="2940854" y="4008898"/>
              <a:ext cx="1145917" cy="200117"/>
            </a:xfrm>
            <a:prstGeom prst="rect">
              <a:avLst/>
            </a:prstGeom>
          </p:spPr>
          <p:txBody>
            <a:bodyPr vert="horz" lIns="68580" tIns="34290" rIns="68580" bIns="34290"/>
            <a:lstStyle>
              <a:defPPr>
                <a:defRPr lang="zh-CN"/>
              </a:defPPr>
              <a:lvl1pPr indent="0" defTabSz="457200">
                <a:lnSpc>
                  <a:spcPct val="140000"/>
                </a:lnSpc>
                <a:spcBef>
                  <a:spcPct val="20000"/>
                </a:spcBef>
                <a:buFont typeface="Arial" panose="020B0604020202090204"/>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15000"/>
                </a:lnSpc>
              </a:pPr>
              <a:endParaRPr lang="zh-CN" altLang="en-US" sz="1600" b="1" dirty="0">
                <a:solidFill>
                  <a:schemeClr val="tx1"/>
                </a:solidFill>
                <a:latin typeface="微软雅黑"/>
                <a:ea typeface="微软雅黑"/>
              </a:endParaRPr>
            </a:p>
          </p:txBody>
        </p:sp>
        <p:sp>
          <p:nvSpPr>
            <p:cNvPr id="5" name="Text Placeholder 8"/>
            <p:cNvSpPr txBox="1"/>
            <p:nvPr/>
          </p:nvSpPr>
          <p:spPr>
            <a:xfrm>
              <a:off x="2940854" y="4209015"/>
              <a:ext cx="3251051" cy="1422645"/>
            </a:xfrm>
            <a:prstGeom prst="rect">
              <a:avLst/>
            </a:prstGeom>
          </p:spPr>
          <p:txBody>
            <a:bodyPr vert="horz" lIns="68580" tIns="34290" rIns="68580" bIns="34290"/>
            <a:lstStyle>
              <a:defPPr>
                <a:defRPr lang="zh-CN"/>
              </a:defPPr>
              <a:lvl1pPr indent="0" defTabSz="457200">
                <a:spcBef>
                  <a:spcPct val="20000"/>
                </a:spcBef>
                <a:buFont typeface="Arial" panose="020B0604020202090204"/>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charset="-122"/>
                  <a:ea typeface="微软雅黑" charset="-122"/>
                  <a:cs typeface="Roboto condensed"/>
                </a:defRPr>
              </a:lvl1pPr>
              <a:lvl2pPr marL="742950" indent="-285750" defTabSz="457200">
                <a:spcBef>
                  <a:spcPct val="20000"/>
                </a:spcBef>
                <a:buFont typeface="Arial" panose="020B0604020202090204"/>
                <a:buChar char="–"/>
                <a:defRPr sz="2800"/>
              </a:lvl2pPr>
              <a:lvl3pPr marL="1143000" indent="-228600" defTabSz="457200">
                <a:spcBef>
                  <a:spcPct val="20000"/>
                </a:spcBef>
                <a:buFont typeface="Arial" panose="020B0604020202090204"/>
                <a:buChar char="•"/>
                <a:defRPr sz="2400"/>
              </a:lvl3pPr>
              <a:lvl4pPr marL="1600200" indent="-228600" defTabSz="457200">
                <a:spcBef>
                  <a:spcPct val="20000"/>
                </a:spcBef>
                <a:buFont typeface="Arial" panose="020B0604020202090204"/>
                <a:buChar char="–"/>
                <a:defRPr sz="2000"/>
              </a:lvl4pPr>
              <a:lvl5pPr marL="2057400" indent="-228600" defTabSz="457200">
                <a:spcBef>
                  <a:spcPct val="20000"/>
                </a:spcBef>
                <a:buFont typeface="Arial" panose="020B0604020202090204"/>
                <a:buChar char="»"/>
                <a:defRPr sz="2000"/>
              </a:lvl5pPr>
              <a:lvl6pPr marL="2514600" indent="-228600" defTabSz="457200">
                <a:spcBef>
                  <a:spcPct val="20000"/>
                </a:spcBef>
                <a:buFont typeface="Arial" panose="020B0604020202090204"/>
                <a:buChar char="•"/>
                <a:defRPr sz="2000"/>
              </a:lvl6pPr>
              <a:lvl7pPr marL="2971800" indent="-228600" defTabSz="457200">
                <a:spcBef>
                  <a:spcPct val="20000"/>
                </a:spcBef>
                <a:buFont typeface="Arial" panose="020B0604020202090204"/>
                <a:buChar char="•"/>
                <a:defRPr sz="2000"/>
              </a:lvl7pPr>
              <a:lvl8pPr marL="3429000" indent="-228600" defTabSz="457200">
                <a:spcBef>
                  <a:spcPct val="20000"/>
                </a:spcBef>
                <a:buFont typeface="Arial" panose="020B0604020202090204"/>
                <a:buChar char="•"/>
                <a:defRPr sz="2000"/>
              </a:lvl8pPr>
              <a:lvl9pPr marL="3886200" indent="-228600" defTabSz="457200">
                <a:spcBef>
                  <a:spcPct val="20000"/>
                </a:spcBef>
                <a:buFont typeface="Arial" panose="020B0604020202090204"/>
                <a:buChar char="•"/>
                <a:defRPr sz="2000"/>
              </a:lvl9pPr>
            </a:lstStyle>
            <a:p>
              <a:pPr>
                <a:lnSpc>
                  <a:spcPct val="120000"/>
                </a:lnSpc>
                <a:spcBef>
                  <a:spcPct val="0"/>
                </a:spcBef>
              </a:pPr>
              <a:endParaRPr lang="en-US" altLang="zh-CN" sz="1050" dirty="0">
                <a:solidFill>
                  <a:schemeClr val="tx1">
                    <a:lumMod val="75000"/>
                    <a:lumOff val="25000"/>
                  </a:schemeClr>
                </a:solidFill>
                <a:latin typeface="思源黑体 CN Light" panose="020B0300000000000000" pitchFamily="34" charset="-122"/>
                <a:ea typeface="思源黑体 CN Light" panose="020B0300000000000000" pitchFamily="34" charset="-122"/>
                <a:cs typeface="Arial" panose="020B0604020202090204" pitchFamily="34" charset="0"/>
                <a:sym typeface="+mn-lt"/>
              </a:endParaRPr>
            </a:p>
          </p:txBody>
        </p:sp>
      </p:grpSp>
      <p:sp>
        <p:nvSpPr>
          <p:cNvPr id="2" name="文本框 1"/>
          <p:cNvSpPr txBox="1"/>
          <p:nvPr/>
        </p:nvSpPr>
        <p:spPr>
          <a:xfrm>
            <a:off x="1002927" y="1301557"/>
            <a:ext cx="9663522" cy="4524315"/>
          </a:xfrm>
          <a:prstGeom prst="rect">
            <a:avLst/>
          </a:prstGeom>
          <a:noFill/>
        </p:spPr>
        <p:txBody>
          <a:bodyPr wrap="square" rtlCol="0" anchor="t">
            <a:spAutoFit/>
          </a:bodyPr>
          <a:lstStyle/>
          <a:p>
            <a:r>
              <a:rPr lang="zh-CN" altLang="en-US" sz="1600" b="1" dirty="0"/>
              <a:t>参考文献</a:t>
            </a:r>
            <a:endParaRPr lang="en-US" altLang="zh-CN" sz="1600" b="1" dirty="0"/>
          </a:p>
          <a:p>
            <a:endParaRPr lang="en-US" altLang="zh-CN" sz="1600" b="1" dirty="0"/>
          </a:p>
          <a:p>
            <a:pPr marL="342900" indent="-342900">
              <a:buAutoNum type="arabicPeriod"/>
            </a:pPr>
            <a:r>
              <a:rPr lang="en-US" altLang="zh-CN" sz="1600" b="1" dirty="0"/>
              <a:t>Nida, E. A.</a:t>
            </a:r>
            <a:r>
              <a:rPr lang="en-US" altLang="zh-CN" sz="1600" dirty="0"/>
              <a:t> (1964). </a:t>
            </a:r>
            <a:r>
              <a:rPr lang="en-US" altLang="zh-CN" sz="1600" i="1" dirty="0"/>
              <a:t>Toward a science of translating: With special reference to principles and procedures involved in Bible translating</a:t>
            </a:r>
            <a:r>
              <a:rPr lang="en-US" altLang="zh-CN" sz="1600" dirty="0"/>
              <a:t>. E. J. Brill.</a:t>
            </a:r>
            <a:endParaRPr lang="en-US" altLang="zh-CN" sz="1600" dirty="0"/>
          </a:p>
          <a:p>
            <a:pPr marL="342900" indent="-342900">
              <a:buAutoNum type="arabicPeriod"/>
            </a:pPr>
            <a:r>
              <a:rPr lang="en-US" altLang="zh-CN" sz="1600" b="1" dirty="0"/>
              <a:t>Elzevir, Bonaventure, and Abraham Elzevir, editors.</a:t>
            </a:r>
            <a:r>
              <a:rPr lang="en-US" altLang="zh-CN" sz="1600" dirty="0"/>
              <a:t> </a:t>
            </a:r>
            <a:r>
              <a:rPr lang="en-US" altLang="zh-CN" sz="1600" i="1" dirty="0"/>
              <a:t>Novum </a:t>
            </a:r>
            <a:r>
              <a:rPr lang="en-US" altLang="zh-CN" sz="1600" i="1" dirty="0" err="1"/>
              <a:t>Testamentum</a:t>
            </a:r>
            <a:r>
              <a:rPr lang="en-US" altLang="zh-CN" sz="1600" i="1" dirty="0"/>
              <a:t>. Ex </a:t>
            </a:r>
            <a:r>
              <a:rPr lang="en-US" altLang="zh-CN" sz="1600" i="1" dirty="0" err="1"/>
              <a:t>Regiis</a:t>
            </a:r>
            <a:r>
              <a:rPr lang="en-US" altLang="zh-CN" sz="1600" i="1" dirty="0"/>
              <a:t> </a:t>
            </a:r>
            <a:r>
              <a:rPr lang="en-US" altLang="zh-CN" sz="1600" i="1" dirty="0" err="1"/>
              <a:t>Aliisque</a:t>
            </a:r>
            <a:r>
              <a:rPr lang="en-US" altLang="zh-CN" sz="1600" i="1" dirty="0"/>
              <a:t> </a:t>
            </a:r>
            <a:r>
              <a:rPr lang="en-US" altLang="zh-CN" sz="1600" i="1" dirty="0" err="1"/>
              <a:t>Optimis</a:t>
            </a:r>
            <a:r>
              <a:rPr lang="en-US" altLang="zh-CN" sz="1600" i="1" dirty="0"/>
              <a:t> </a:t>
            </a:r>
            <a:r>
              <a:rPr lang="en-US" altLang="zh-CN" sz="1600" i="1" dirty="0" err="1"/>
              <a:t>Editionibus</a:t>
            </a:r>
            <a:r>
              <a:rPr lang="en-US" altLang="zh-CN" sz="1600" i="1" dirty="0"/>
              <a:t>, Hac Nova </a:t>
            </a:r>
            <a:r>
              <a:rPr lang="en-US" altLang="zh-CN" sz="1600" i="1" dirty="0" err="1"/>
              <a:t>Expressum</a:t>
            </a:r>
            <a:r>
              <a:rPr lang="en-US" altLang="zh-CN" sz="1600" i="1" dirty="0"/>
              <a:t>: Cui Quid </a:t>
            </a:r>
            <a:r>
              <a:rPr lang="en-US" altLang="zh-CN" sz="1600" i="1" dirty="0" err="1"/>
              <a:t>Accesserit</a:t>
            </a:r>
            <a:r>
              <a:rPr lang="en-US" altLang="zh-CN" sz="1600" i="1" dirty="0"/>
              <a:t>, </a:t>
            </a:r>
            <a:r>
              <a:rPr lang="en-US" altLang="zh-CN" sz="1600" i="1" dirty="0" err="1"/>
              <a:t>Praefatio</a:t>
            </a:r>
            <a:r>
              <a:rPr lang="en-US" altLang="zh-CN" sz="1600" i="1" dirty="0"/>
              <a:t> </a:t>
            </a:r>
            <a:r>
              <a:rPr lang="en-US" altLang="zh-CN" sz="1600" i="1" dirty="0" err="1"/>
              <a:t>Docebit</a:t>
            </a:r>
            <a:r>
              <a:rPr lang="en-US" altLang="zh-CN" sz="1600" i="1" dirty="0"/>
              <a:t>.</a:t>
            </a:r>
            <a:r>
              <a:rPr lang="en-US" altLang="zh-CN" sz="1600" dirty="0"/>
              <a:t> Leiden: Ex </a:t>
            </a:r>
            <a:r>
              <a:rPr lang="en-US" altLang="zh-CN" sz="1600" dirty="0" err="1"/>
              <a:t>Officina</a:t>
            </a:r>
            <a:r>
              <a:rPr lang="en-US" altLang="zh-CN" sz="1600" dirty="0"/>
              <a:t> </a:t>
            </a:r>
            <a:r>
              <a:rPr lang="en-US" altLang="zh-CN" sz="1600" dirty="0" err="1"/>
              <a:t>Elzeviriana</a:t>
            </a:r>
            <a:r>
              <a:rPr lang="en-US" altLang="zh-CN" sz="1600" dirty="0"/>
              <a:t>, 1633.</a:t>
            </a:r>
            <a:endParaRPr lang="en-US" altLang="zh-CN" sz="1600" dirty="0"/>
          </a:p>
          <a:p>
            <a:pPr marL="342900" indent="-342900">
              <a:buAutoNum type="arabicPeriod"/>
            </a:pPr>
            <a:r>
              <a:rPr lang="en-US" altLang="zh-CN" sz="1600" dirty="0"/>
              <a:t>Venuti, L. (1995). </a:t>
            </a:r>
            <a:r>
              <a:rPr lang="en-US" altLang="zh-CN" sz="1600" i="1" dirty="0"/>
              <a:t>The translator's invisibility: A history of translation</a:t>
            </a:r>
            <a:r>
              <a:rPr lang="en-US" altLang="zh-CN" sz="1600" dirty="0"/>
              <a:t>. Routledge.</a:t>
            </a:r>
            <a:endParaRPr lang="en-US" altLang="zh-CN" sz="1600" dirty="0"/>
          </a:p>
          <a:p>
            <a:pPr marL="342900" indent="-342900">
              <a:buAutoNum type="arabicPeriod"/>
            </a:pPr>
            <a:r>
              <a:rPr lang="en-US" altLang="zh-CN" sz="1600" dirty="0"/>
              <a:t>Nichols, A.H. (1996). </a:t>
            </a:r>
            <a:r>
              <a:rPr lang="en-US" altLang="zh-CN" sz="1600" i="1" dirty="0"/>
              <a:t>Translating the Bible: A critical analysis of E.A. Nida's theory of dynamic equivalence and its impact upon recent Bible translations</a:t>
            </a:r>
            <a:r>
              <a:rPr lang="en-US" altLang="zh-CN" sz="1600" dirty="0"/>
              <a:t>. PhD thesis. University of Sheffield.</a:t>
            </a:r>
            <a:endParaRPr lang="en-US" altLang="zh-CN" sz="1600" dirty="0"/>
          </a:p>
          <a:p>
            <a:pPr marL="342900" indent="-342900">
              <a:buAutoNum type="arabicPeriod"/>
            </a:pPr>
            <a:r>
              <a:rPr lang="en-US" altLang="zh-CN" sz="1600" dirty="0"/>
              <a:t>Felber, S. (2025). </a:t>
            </a:r>
            <a:r>
              <a:rPr lang="en-US" altLang="zh-CN" sz="1600" i="1" dirty="0"/>
              <a:t>Toward a science of translating? Eugene A. Nida and his theory of dynamic equivalence</a:t>
            </a:r>
            <a:r>
              <a:rPr lang="en-US" altLang="zh-CN" sz="1600" dirty="0"/>
              <a:t> (TRANSÜD, Vol. 150). Frank &amp; Timme.</a:t>
            </a:r>
            <a:endParaRPr lang="en-US" altLang="zh-CN" sz="1600" dirty="0"/>
          </a:p>
          <a:p>
            <a:pPr marL="342900" indent="-342900">
              <a:buAutoNum type="arabicPeriod"/>
            </a:pPr>
            <a:r>
              <a:rPr lang="en-US" altLang="zh-CN" sz="1600" dirty="0"/>
              <a:t>Felber, S. (2023) ‘Functional equivalence: Eugene Nida’s theory, its challenge for Bible translation, and its theological burden’, </a:t>
            </a:r>
            <a:r>
              <a:rPr lang="en-US" altLang="zh-CN" sz="1600" i="1" dirty="0"/>
              <a:t>HIPHIL Novum</a:t>
            </a:r>
            <a:r>
              <a:rPr lang="en-US" altLang="zh-CN" sz="1600" dirty="0"/>
              <a:t>, 8(1), pp. 28–47.</a:t>
            </a:r>
            <a:endParaRPr lang="en-US" altLang="zh-CN" sz="1600" dirty="0"/>
          </a:p>
          <a:p>
            <a:pPr marL="342900" indent="-342900">
              <a:buAutoNum type="arabicPeriod"/>
            </a:pPr>
            <a:r>
              <a:rPr lang="en-US" altLang="zh-CN" sz="1600" dirty="0">
                <a:hlinkClick r:id="rId1"/>
              </a:rPr>
              <a:t>https://www1.hkexnews.hk/listedco/listconews/sehk/2025/0605/2025060500657.pdf</a:t>
            </a:r>
            <a:endParaRPr lang="en-US" altLang="zh-CN" sz="1600" dirty="0"/>
          </a:p>
          <a:p>
            <a:pPr marL="342900" indent="-342900">
              <a:buAutoNum type="arabicPeriod"/>
            </a:pPr>
            <a:r>
              <a:rPr lang="en-US" altLang="zh-CN" sz="1600" dirty="0">
                <a:hlinkClick r:id="rId2"/>
              </a:rPr>
              <a:t>https://www1.hkexnews.hk/listedco/listconews/sehk/2025/0605/2025060500658_c.pdf</a:t>
            </a:r>
            <a:endParaRPr lang="en-US" altLang="zh-CN" sz="1600" dirty="0"/>
          </a:p>
          <a:p>
            <a:pPr marL="342900" indent="-342900">
              <a:buAutoNum type="arabicPeriod"/>
            </a:pPr>
            <a:r>
              <a:rPr lang="en-US" altLang="zh-CN" sz="1600" dirty="0">
                <a:hlinkClick r:id="rId3"/>
              </a:rPr>
              <a:t>https://www1.hkexnews.hk/listedco/listconews/sehk/2026/0604/2026060402791.pdf</a:t>
            </a:r>
            <a:endParaRPr lang="en-US" altLang="zh-CN" sz="1600" dirty="0"/>
          </a:p>
          <a:p>
            <a:pPr marL="342900" indent="-342900">
              <a:buAutoNum type="arabicPeriod"/>
            </a:pPr>
            <a:r>
              <a:rPr lang="en-US" altLang="zh-CN" sz="1600" dirty="0">
                <a:hlinkClick r:id="rId4"/>
              </a:rPr>
              <a:t>https://www1.hkexnews.hk/listedco/listconews/sehk/2026/0604/2026060402792_c.pdf</a:t>
            </a:r>
            <a:endParaRPr lang="en-US" altLang="zh-CN" sz="1600" dirty="0"/>
          </a:p>
          <a:p>
            <a:endParaRPr lang="en-US" altLang="zh-CN" sz="1600" dirty="0"/>
          </a:p>
        </p:txBody>
      </p:sp>
    </p:spTree>
  </p:cSld>
  <p:clrMapOvr>
    <a:masterClrMapping/>
  </p:clrMapOvr>
  <p:transition spd="slow">
    <p:push dir="u"/>
  </p:transition>
</p:sld>
</file>

<file path=ppt/tags/tag1.xml><?xml version="1.0" encoding="utf-8"?>
<p:tagLst xmlns:p="http://schemas.openxmlformats.org/presentationml/2006/main">
  <p:tag name="ISPRING_PRESENTATION_TITLE" val="PowerPoint 演示文稿"/>
  <p:tag name="KSO_WM_DOC_GUID" val="{7646b040-3551-49a0-9609-8286eb574aa4}"/>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14513</Words>
  <Application>WPS 文字</Application>
  <PresentationFormat>宽屏</PresentationFormat>
  <Paragraphs>379</Paragraphs>
  <Slides>52</Slides>
  <Notes>14</Notes>
  <HiddenSlides>0</HiddenSlides>
  <MMClips>0</MMClips>
  <ScaleCrop>false</ScaleCrop>
  <HeadingPairs>
    <vt:vector size="6" baseType="variant">
      <vt:variant>
        <vt:lpstr>已用的字体</vt:lpstr>
      </vt:variant>
      <vt:variant>
        <vt:i4>32</vt:i4>
      </vt:variant>
      <vt:variant>
        <vt:lpstr>主题</vt:lpstr>
      </vt:variant>
      <vt:variant>
        <vt:i4>2</vt:i4>
      </vt:variant>
      <vt:variant>
        <vt:lpstr>幻灯片标题</vt:lpstr>
      </vt:variant>
      <vt:variant>
        <vt:i4>52</vt:i4>
      </vt:variant>
    </vt:vector>
  </HeadingPairs>
  <TitlesOfParts>
    <vt:vector size="86" baseType="lpstr">
      <vt:lpstr>Arial</vt:lpstr>
      <vt:lpstr>宋体</vt:lpstr>
      <vt:lpstr>Wingdings</vt:lpstr>
      <vt:lpstr>Brush Script MT</vt:lpstr>
      <vt:lpstr>华文隶书</vt:lpstr>
      <vt:lpstr>报隶-简</vt:lpstr>
      <vt:lpstr>汉仪书宋二KW</vt:lpstr>
      <vt:lpstr>Calibri</vt:lpstr>
      <vt:lpstr>Roboto Light</vt:lpstr>
      <vt:lpstr>Times New Roman</vt:lpstr>
      <vt:lpstr>思源黑体 CN Bold</vt:lpstr>
      <vt:lpstr>汉仪中黑KW</vt:lpstr>
      <vt:lpstr>微软雅黑</vt:lpstr>
      <vt:lpstr>方正雅意黑 GB18030L2</vt:lpstr>
      <vt:lpstr>思源黑体 CN Light</vt:lpstr>
      <vt:lpstr>Times New Roman Regular</vt:lpstr>
      <vt:lpstr>Helvetica Neue</vt:lpstr>
      <vt:lpstr>微软雅黑</vt:lpstr>
      <vt:lpstr>宋体</vt:lpstr>
      <vt:lpstr>Arial Unicode MS</vt:lpstr>
      <vt:lpstr>Calibri Light</vt:lpstr>
      <vt:lpstr>Arial</vt:lpstr>
      <vt:lpstr>Roboto condensed</vt:lpstr>
      <vt:lpstr>Thonburi</vt:lpstr>
      <vt:lpstr>思源黑体 CN Light</vt:lpstr>
      <vt:lpstr>MS PGothic</vt:lpstr>
      <vt:lpstr>Roboto condensed</vt:lpstr>
      <vt:lpstr>Wingdings</vt:lpstr>
      <vt:lpstr>微软雅黑</vt:lpstr>
      <vt:lpstr>思源黑体 CN Bold</vt:lpstr>
      <vt:lpstr>思源黑体 CN Light</vt:lpstr>
      <vt:lpstr>苹方-简</vt:lpstr>
      <vt:lpstr>第一PPT，www.1ppt.com</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Eugene A. Nida: 从圣经翻译到功能对等</dc:title>
  <dc:creator>高级翻译学院</dc:creator>
  <cp:keywords>www.1ppt.com</cp:keywords>
  <dc:description>Complete presentation built from 高级翻译学院专用PPT模板.pptx.</dc:description>
  <dc:subject>计算机辅助翻译课程汇报</dc:subject>
  <cp:lastModifiedBy>Rich brian</cp:lastModifiedBy>
  <cp:revision>133</cp:revision>
  <dcterms:created xsi:type="dcterms:W3CDTF">2026-09-22T11:27:55Z</dcterms:created>
  <dcterms:modified xsi:type="dcterms:W3CDTF">2026-09-22T11:27:55Z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2052-12.1.28496.28496</vt:lpwstr>
  </property>
  <property fmtid="{D5CDD505-2E9C-101B-9397-08002B2CF9AE}" pid="3" name="ICV">
    <vt:lpwstr>591F6C2A439E72CC9263A66ACD7891E0_43</vt:lpwstr>
  </property>
</Properties>
</file>