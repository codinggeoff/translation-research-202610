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3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Lst>
  <p:notesMasterIdLst>
    <p:notesMasterId r:id="rId6"/>
  </p:notesMasterIdLst>
  <p:sldIdLst>
    <p:sldId id="256" r:id="rId5"/>
    <p:sldId id="257" r:id="rId7"/>
    <p:sldId id="258" r:id="rId8"/>
    <p:sldId id="259" r:id="rId9"/>
    <p:sldId id="262" r:id="rId10"/>
    <p:sldId id="310" r:id="rId11"/>
    <p:sldId id="311" r:id="rId12"/>
    <p:sldId id="269" r:id="rId13"/>
    <p:sldId id="270" r:id="rId14"/>
    <p:sldId id="299" r:id="rId15"/>
    <p:sldId id="273" r:id="rId16"/>
    <p:sldId id="301" r:id="rId17"/>
    <p:sldId id="272" r:id="rId18"/>
    <p:sldId id="300" r:id="rId19"/>
    <p:sldId id="298" r:id="rId20"/>
    <p:sldId id="263" r:id="rId21"/>
    <p:sldId id="268" r:id="rId22"/>
    <p:sldId id="294" r:id="rId23"/>
    <p:sldId id="275" r:id="rId24"/>
    <p:sldId id="304" r:id="rId25"/>
    <p:sldId id="276" r:id="rId26"/>
    <p:sldId id="307" r:id="rId27"/>
    <p:sldId id="306" r:id="rId28"/>
    <p:sldId id="309" r:id="rId29"/>
    <p:sldId id="277" r:id="rId30"/>
    <p:sldId id="308" r:id="rId31"/>
    <p:sldId id="281" r:id="rId32"/>
    <p:sldId id="313" r:id="rId33"/>
    <p:sldId id="314" r:id="rId34"/>
    <p:sldId id="283" r:id="rId35"/>
    <p:sldId id="287" r:id="rId36"/>
    <p:sldId id="288" r:id="rId37"/>
    <p:sldId id="315" r:id="rId38"/>
    <p:sldId id="286" r:id="rId39"/>
    <p:sldId id="290" r:id="rId40"/>
    <p:sldId id="316" r:id="rId41"/>
  </p:sldIdLst>
  <p:sldSz cx="12192000" cy="6858000" type="screen4x3"/>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457200" marR="0" lvl="1"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L="914400" marR="0" lvl="2"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L="1371600" marR="0" lvl="3"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L="1828800" marR="0" lvl="4"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L="2286000" marR="0" lvl="5"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6pPr>
    <a:lvl7pPr marL="2743200" marR="0" lvl="6"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7pPr>
    <a:lvl8pPr marL="3200400" marR="0" lvl="7"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8pPr>
    <a:lvl9pPr marL="3657600" marR="0" lvl="8"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15:guide id="1" orient="horz" pos="1686" userDrawn="1">
          <p15:clr>
            <a:srgbClr val="A4A3A4"/>
          </p15:clr>
        </p15:guide>
        <p15:guide id="2" pos="290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86"/>
        <p:guide pos="290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6" Type="http://schemas.openxmlformats.org/officeDocument/2006/relationships/customXml" Target="../customXml/item1.xml"/><Relationship Id="rId45" Type="http://schemas.openxmlformats.org/officeDocument/2006/relationships/customXmlProps" Target="../customXml/itemProps33.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r>
              <a:rPr lang="en-US" altLang="zh-CN"/>
              <a:t>Hence there can be no fully exact translations. The total impact of a translation may be reasonably close to the original, but there can be no identity in detail.s</a:t>
            </a:r>
            <a:endParaRPr lang="en-US" altLang="zh-CN"/>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pitchFamily="34" charset="0"/>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pitchFamily="34" charset="0"/>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pitchFamily="34" charset="0"/>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pitchFamily="34" charset="0"/>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139529" y="99423"/>
            <a:ext cx="3708572" cy="861530"/>
          </a:xfrm>
          <a:prstGeom prst="rect">
            <a:avLst/>
          </a:prstGeom>
          <a:ln w="12700">
            <a:noFill/>
            <a:prstDash val="solid"/>
          </a:ln>
        </p:spPr>
      </p:pic>
      <p:sp>
        <p:nvSpPr>
          <p:cNvPr id="3" name="AutoShape 3"/>
          <p:cNvSpPr/>
          <p:nvPr/>
        </p:nvSpPr>
        <p:spPr>
          <a:xfrm>
            <a:off x="1" y="6004875"/>
            <a:ext cx="12191999" cy="707886"/>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自定义版式">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139529" y="99423"/>
            <a:ext cx="3708572" cy="861530"/>
          </a:xfrm>
          <a:prstGeom prst="rect">
            <a:avLst/>
          </a:prstGeom>
          <a:ln w="12700">
            <a:noFill/>
            <a:prstDash val="solid"/>
          </a:ln>
        </p:spPr>
      </p:pic>
      <p:sp>
        <p:nvSpPr>
          <p:cNvPr id="3" name="AutoShape 3"/>
          <p:cNvSpPr/>
          <p:nvPr/>
        </p:nvSpPr>
        <p:spPr>
          <a:xfrm>
            <a:off x="1" y="6004875"/>
            <a:ext cx="12191999" cy="707886"/>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5_自定义版式">
    <p:spTree>
      <p:nvGrpSpPr>
        <p:cNvPr id="1" name=""/>
        <p:cNvGrpSpPr/>
        <p:nvPr/>
      </p:nvGrpSpPr>
      <p:grpSpPr>
        <a:xfrm>
          <a:off x="0" y="0"/>
          <a:ext cx="0" cy="0"/>
          <a:chOff x="0" y="0"/>
          <a:chExt cx="0" cy="0"/>
        </a:xfrm>
      </p:grpSpPr>
      <p:sp>
        <p:nvSpPr>
          <p:cNvPr id="2" name="AutoShape 2"/>
          <p:cNvSpPr/>
          <p:nvPr>
            <p:ph type="body" sz="quarter" idx="6"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898989">
                    <a:alpha val="100000"/>
                  </a:srgbClr>
                </a:solidFill>
                <a:latin typeface="Calibri" panose="020F0502020204030204"/>
              </a:defRPr>
            </a:lvl1pPr>
          </a:lstStyle>
          <a:p>
            <a:pPr marL="0" indent="0" algn="l">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2019/4/1</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panose="020B0500000000000000" charset="-122"/>
              </a:defRPr>
            </a:lvl1pPr>
          </a:lstStyle>
          <a:p>
            <a:pPr marL="0" indent="0" algn="ctr">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8"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898989">
                    <a:alpha val="100000"/>
                  </a:srgbClr>
                </a:solidFill>
                <a:latin typeface="Calibri" panose="020F0502020204030204"/>
              </a:defRPr>
            </a:lvl1pPr>
          </a:lstStyle>
          <a:p>
            <a:pPr marL="0" indent="0" algn="r">
              <a:lnSpc>
                <a:spcPct val="100000"/>
              </a:lnSpc>
            </a:pPr>
            <a:fld id="{2BAE46AE-20DC-4098-B70D-150A025C481D}"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nvSpPr>
        <p:spPr>
          <a:xfrm>
            <a:off x="0" y="2276872"/>
            <a:ext cx="3264363" cy="2688299"/>
          </a:xfrm>
          <a:prstGeom prst="rect">
            <a:avLst/>
          </a:prstGeom>
          <a:solidFill>
            <a:srgbClr val="5B9BD5">
              <a:alpha val="100000"/>
            </a:srgbClr>
          </a:solidFill>
          <a:ln w="12700" cap="flat">
            <a:noFill/>
            <a:prstDash val="solid"/>
          </a:ln>
        </p:spPr>
        <p:txBody>
          <a:bodyPr wrap="square" lIns="91440" tIns="45720" rIns="91440" bIns="45720" rtlCol="0" anchor="ctr">
            <a:noAutofit/>
          </a:bodyPr>
          <a:lstStyle/>
          <a:p>
            <a:pPr marL="0" indent="0" algn="ctr">
              <a:lnSpc>
                <a:spcPct val="100000"/>
              </a:lnSpc>
              <a:defRPr/>
            </a:pPr>
            <a:r>
              <a:rPr lang="en-US" sz="2400" b="0" i="0" u="none" strike="noStrike">
                <a:solidFill>
                  <a:srgbClr val="FFFFFF"/>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6" name="AutoShape 6"/>
          <p:cNvSpPr/>
          <p:nvPr/>
        </p:nvSpPr>
        <p:spPr>
          <a:xfrm>
            <a:off x="8975543" y="2276871"/>
            <a:ext cx="3264363" cy="2688299"/>
          </a:xfrm>
          <a:prstGeom prst="rect">
            <a:avLst/>
          </a:prstGeom>
          <a:solidFill>
            <a:srgbClr val="5B9BD5">
              <a:alpha val="100000"/>
            </a:srgbClr>
          </a:solidFill>
          <a:ln w="12700" cap="flat">
            <a:noFill/>
            <a:prstDash val="solid"/>
          </a:ln>
        </p:spPr>
        <p:txBody>
          <a:bodyPr wrap="square" lIns="91440" tIns="45720" rIns="91440" bIns="45720" rtlCol="0" anchor="ctr">
            <a:noAutofit/>
          </a:bodyPr>
          <a:lstStyle/>
          <a:p>
            <a:pPr marL="0" indent="0" algn="ctr">
              <a:lnSpc>
                <a:spcPct val="100000"/>
              </a:lnSpc>
              <a:defRPr/>
            </a:pPr>
            <a:r>
              <a:rPr lang="en-US" sz="2400" b="0" i="0" u="none" strike="noStrike">
                <a:solidFill>
                  <a:srgbClr val="FFFFFF"/>
                </a:solidFill>
                <a:latin typeface="Calibri" panose="020F0502020204030204"/>
                <a:ea typeface="Calibri" panose="020F0502020204030204"/>
                <a:cs typeface="Calibri" panose="020F0502020204030204"/>
                <a:sym typeface="Calibri" panose="020F0502020204030204"/>
              </a:rPr>
              <a:t> </a:t>
            </a:r>
            <a:endParaRPr lang="en-US" sz="1100"/>
          </a:p>
        </p:txBody>
      </p:sp>
      <p:grpSp>
        <p:nvGrpSpPr>
          <p:cNvPr id="7" name="Group 7"/>
          <p:cNvGrpSpPr/>
          <p:nvPr/>
        </p:nvGrpSpPr>
        <p:grpSpPr>
          <a:xfrm>
            <a:off x="7596491" y="2468893"/>
            <a:ext cx="576064" cy="577112"/>
            <a:chOff x="7596491" y="2468893"/>
            <a:chExt cx="576064" cy="577112"/>
          </a:xfrm>
        </p:grpSpPr>
        <p:sp>
          <p:nvSpPr>
            <p:cNvPr id="8" name="AutoShape 8"/>
            <p:cNvSpPr/>
            <p:nvPr/>
          </p:nvSpPr>
          <p:spPr>
            <a:xfrm>
              <a:off x="7596491" y="2468893"/>
              <a:ext cx="576064" cy="577112"/>
            </a:xfrm>
            <a:prstGeom prst="ellipse">
              <a:avLst/>
            </a:prstGeom>
            <a:solidFill>
              <a:srgbClr val="5B9BD5">
                <a:alpha val="100000"/>
              </a:srgbClr>
            </a:solidFill>
            <a:ln w="12700">
              <a:noFill/>
              <a:prstDash val="solid"/>
            </a:ln>
          </p:spPr>
          <p:txBody>
            <a:bodyPr wrap="square" lIns="91440" tIns="45720" rIns="91440" bIns="45720" rtlCol="0" anchor="ctr">
              <a:noAutofit/>
            </a:bodyPr>
            <a:lstStyle/>
            <a:p>
              <a:pPr marL="0" indent="0" algn="ctr">
                <a:lnSpc>
                  <a:spcPct val="100000"/>
                </a:lnSpc>
                <a:defRPr/>
              </a:pPr>
              <a:r>
                <a:rPr lang="en-US" sz="2400" b="0" i="0" u="none" strike="noStrik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endParaRPr lang="en-US" sz="1100"/>
            </a:p>
          </p:txBody>
        </p:sp>
        <p:sp>
          <p:nvSpPr>
            <p:cNvPr id="9" name="Freeform 9"/>
            <p:cNvSpPr/>
            <p:nvPr/>
          </p:nvSpPr>
          <p:spPr>
            <a:xfrm>
              <a:off x="7724670" y="2590330"/>
              <a:ext cx="319157" cy="333690"/>
            </a:xfrm>
            <a:custGeom>
              <a:avLst/>
              <a:gdLst/>
              <a:ahLst/>
              <a:cxnLst/>
              <a:rect l="l" t="t" r="r" b="b"/>
              <a:pathLst>
                <a:path w="319157" h="333690">
                  <a:moveTo>
                    <a:pt x="311454" y="287039"/>
                  </a:moveTo>
                  <a:lnTo>
                    <a:pt x="311454" y="287039"/>
                  </a:lnTo>
                  <a:cubicBezTo>
                    <a:pt x="272383" y="326006"/>
                    <a:pt x="272383" y="326006"/>
                    <a:pt x="272383" y="326006"/>
                  </a:cubicBezTo>
                  <a:cubicBezTo>
                    <a:pt x="268531" y="329848"/>
                    <a:pt x="264679" y="333690"/>
                    <a:pt x="260828" y="333690"/>
                  </a:cubicBezTo>
                  <a:cubicBezTo>
                    <a:pt x="256976" y="333690"/>
                    <a:pt x="253124" y="329848"/>
                    <a:pt x="249272" y="326006"/>
                  </a:cubicBezTo>
                  <a:cubicBezTo>
                    <a:pt x="229462" y="306249"/>
                    <a:pt x="229462" y="306249"/>
                    <a:pt x="229462" y="306249"/>
                  </a:cubicBezTo>
                  <a:cubicBezTo>
                    <a:pt x="225610" y="302407"/>
                    <a:pt x="225610" y="298564"/>
                    <a:pt x="225610" y="294723"/>
                  </a:cubicBezTo>
                  <a:cubicBezTo>
                    <a:pt x="225610" y="287039"/>
                    <a:pt x="229462" y="279356"/>
                    <a:pt x="241569" y="279356"/>
                  </a:cubicBezTo>
                  <a:cubicBezTo>
                    <a:pt x="245421" y="279356"/>
                    <a:pt x="249272" y="283197"/>
                    <a:pt x="249272" y="287039"/>
                  </a:cubicBezTo>
                  <a:cubicBezTo>
                    <a:pt x="260828" y="294723"/>
                    <a:pt x="260828" y="294723"/>
                    <a:pt x="260828" y="294723"/>
                  </a:cubicBezTo>
                  <a:cubicBezTo>
                    <a:pt x="291643" y="263989"/>
                    <a:pt x="291643" y="263989"/>
                    <a:pt x="291643" y="263989"/>
                  </a:cubicBezTo>
                  <a:cubicBezTo>
                    <a:pt x="295495" y="260147"/>
                    <a:pt x="299898" y="260147"/>
                    <a:pt x="303750" y="260147"/>
                  </a:cubicBezTo>
                  <a:cubicBezTo>
                    <a:pt x="311454" y="260147"/>
                    <a:pt x="319157" y="267830"/>
                    <a:pt x="319157" y="275514"/>
                  </a:cubicBezTo>
                  <a:cubicBezTo>
                    <a:pt x="319157" y="279356"/>
                    <a:pt x="315305" y="283197"/>
                    <a:pt x="311454" y="287039"/>
                  </a:cubicBezTo>
                  <a:close/>
                  <a:moveTo>
                    <a:pt x="260828" y="271672"/>
                  </a:moveTo>
                  <a:lnTo>
                    <a:pt x="260828" y="271672"/>
                  </a:lnTo>
                  <a:cubicBezTo>
                    <a:pt x="256976" y="267830"/>
                    <a:pt x="249272" y="263989"/>
                    <a:pt x="241569" y="263989"/>
                  </a:cubicBezTo>
                  <a:cubicBezTo>
                    <a:pt x="221759" y="263989"/>
                    <a:pt x="210203" y="279356"/>
                    <a:pt x="210203" y="294723"/>
                  </a:cubicBezTo>
                  <a:cubicBezTo>
                    <a:pt x="210203" y="306249"/>
                    <a:pt x="214055" y="314481"/>
                    <a:pt x="217907" y="318323"/>
                  </a:cubicBezTo>
                  <a:cubicBezTo>
                    <a:pt x="233314" y="333690"/>
                    <a:pt x="233314" y="333690"/>
                    <a:pt x="233314" y="333690"/>
                  </a:cubicBezTo>
                  <a:cubicBezTo>
                    <a:pt x="15958" y="333690"/>
                    <a:pt x="15958" y="333690"/>
                    <a:pt x="15958" y="333690"/>
                  </a:cubicBezTo>
                  <a:cubicBezTo>
                    <a:pt x="8254" y="333690"/>
                    <a:pt x="0" y="326006"/>
                    <a:pt x="0" y="318323"/>
                  </a:cubicBezTo>
                  <a:cubicBezTo>
                    <a:pt x="0" y="46651"/>
                    <a:pt x="0" y="46651"/>
                    <a:pt x="0" y="46651"/>
                  </a:cubicBezTo>
                  <a:cubicBezTo>
                    <a:pt x="0" y="38967"/>
                    <a:pt x="8254" y="30734"/>
                    <a:pt x="15958" y="30734"/>
                  </a:cubicBezTo>
                  <a:cubicBezTo>
                    <a:pt x="42921" y="30734"/>
                    <a:pt x="42921" y="30734"/>
                    <a:pt x="42921" y="30734"/>
                  </a:cubicBezTo>
                  <a:cubicBezTo>
                    <a:pt x="42921" y="46651"/>
                    <a:pt x="42921" y="46651"/>
                    <a:pt x="42921" y="46651"/>
                  </a:cubicBezTo>
                  <a:cubicBezTo>
                    <a:pt x="42921" y="65860"/>
                    <a:pt x="58329" y="77385"/>
                    <a:pt x="74286" y="77385"/>
                  </a:cubicBezTo>
                  <a:cubicBezTo>
                    <a:pt x="89694" y="77385"/>
                    <a:pt x="105101" y="65860"/>
                    <a:pt x="105101" y="46651"/>
                  </a:cubicBezTo>
                  <a:cubicBezTo>
                    <a:pt x="105101" y="30734"/>
                    <a:pt x="105101" y="30734"/>
                    <a:pt x="105101" y="30734"/>
                  </a:cubicBezTo>
                  <a:cubicBezTo>
                    <a:pt x="120509" y="30734"/>
                    <a:pt x="120509" y="30734"/>
                    <a:pt x="120509" y="30734"/>
                  </a:cubicBezTo>
                  <a:cubicBezTo>
                    <a:pt x="120509" y="46651"/>
                    <a:pt x="120509" y="46651"/>
                    <a:pt x="120509" y="46651"/>
                  </a:cubicBezTo>
                  <a:cubicBezTo>
                    <a:pt x="120509" y="65860"/>
                    <a:pt x="136467" y="77385"/>
                    <a:pt x="151874" y="77385"/>
                  </a:cubicBezTo>
                  <a:cubicBezTo>
                    <a:pt x="167282" y="77385"/>
                    <a:pt x="183239" y="65860"/>
                    <a:pt x="183239" y="46651"/>
                  </a:cubicBezTo>
                  <a:cubicBezTo>
                    <a:pt x="183239" y="30734"/>
                    <a:pt x="183239" y="30734"/>
                    <a:pt x="183239" y="30734"/>
                  </a:cubicBezTo>
                  <a:cubicBezTo>
                    <a:pt x="198647" y="30734"/>
                    <a:pt x="198647" y="30734"/>
                    <a:pt x="198647" y="30734"/>
                  </a:cubicBezTo>
                  <a:cubicBezTo>
                    <a:pt x="198647" y="46651"/>
                    <a:pt x="198647" y="46651"/>
                    <a:pt x="198647" y="46651"/>
                  </a:cubicBezTo>
                  <a:cubicBezTo>
                    <a:pt x="198647" y="65860"/>
                    <a:pt x="214055" y="77385"/>
                    <a:pt x="229462" y="77385"/>
                  </a:cubicBezTo>
                  <a:cubicBezTo>
                    <a:pt x="245421" y="77385"/>
                    <a:pt x="260828" y="65860"/>
                    <a:pt x="260828" y="46651"/>
                  </a:cubicBezTo>
                  <a:cubicBezTo>
                    <a:pt x="260828" y="30734"/>
                    <a:pt x="260828" y="30734"/>
                    <a:pt x="260828" y="30734"/>
                  </a:cubicBezTo>
                  <a:cubicBezTo>
                    <a:pt x="287791" y="30734"/>
                    <a:pt x="287791" y="30734"/>
                    <a:pt x="287791" y="30734"/>
                  </a:cubicBezTo>
                  <a:cubicBezTo>
                    <a:pt x="295495" y="30734"/>
                    <a:pt x="303750" y="38967"/>
                    <a:pt x="303750" y="46651"/>
                  </a:cubicBezTo>
                  <a:cubicBezTo>
                    <a:pt x="303750" y="244230"/>
                    <a:pt x="303750" y="244230"/>
                    <a:pt x="303750" y="244230"/>
                  </a:cubicBezTo>
                  <a:cubicBezTo>
                    <a:pt x="291643" y="244230"/>
                    <a:pt x="283939" y="248073"/>
                    <a:pt x="280087" y="252463"/>
                  </a:cubicBezTo>
                  <a:lnTo>
                    <a:pt x="260828" y="271672"/>
                  </a:lnTo>
                  <a:close/>
                  <a:moveTo>
                    <a:pt x="42921" y="267830"/>
                  </a:moveTo>
                  <a:lnTo>
                    <a:pt x="42921" y="267830"/>
                  </a:lnTo>
                  <a:cubicBezTo>
                    <a:pt x="42921" y="275514"/>
                    <a:pt x="46773" y="279356"/>
                    <a:pt x="54477" y="279356"/>
                  </a:cubicBezTo>
                  <a:cubicBezTo>
                    <a:pt x="155726" y="279356"/>
                    <a:pt x="155726" y="279356"/>
                    <a:pt x="155726" y="279356"/>
                  </a:cubicBezTo>
                  <a:cubicBezTo>
                    <a:pt x="163430" y="279356"/>
                    <a:pt x="167282" y="275514"/>
                    <a:pt x="167282" y="267830"/>
                  </a:cubicBezTo>
                  <a:cubicBezTo>
                    <a:pt x="167282" y="260147"/>
                    <a:pt x="163430" y="256305"/>
                    <a:pt x="155726" y="256305"/>
                  </a:cubicBezTo>
                  <a:cubicBezTo>
                    <a:pt x="54477" y="256305"/>
                    <a:pt x="54477" y="256305"/>
                    <a:pt x="54477" y="256305"/>
                  </a:cubicBezTo>
                  <a:cubicBezTo>
                    <a:pt x="46773" y="256305"/>
                    <a:pt x="42921" y="260147"/>
                    <a:pt x="42921" y="267830"/>
                  </a:cubicBezTo>
                  <a:close/>
                  <a:moveTo>
                    <a:pt x="245421" y="120194"/>
                  </a:moveTo>
                  <a:lnTo>
                    <a:pt x="245421" y="120194"/>
                  </a:lnTo>
                  <a:cubicBezTo>
                    <a:pt x="58329" y="120194"/>
                    <a:pt x="58329" y="120194"/>
                    <a:pt x="58329" y="120194"/>
                  </a:cubicBezTo>
                  <a:cubicBezTo>
                    <a:pt x="50625" y="120194"/>
                    <a:pt x="42921" y="127878"/>
                    <a:pt x="42921" y="135561"/>
                  </a:cubicBezTo>
                  <a:cubicBezTo>
                    <a:pt x="42921" y="143794"/>
                    <a:pt x="50625" y="151478"/>
                    <a:pt x="58329" y="151478"/>
                  </a:cubicBezTo>
                  <a:cubicBezTo>
                    <a:pt x="245421" y="151478"/>
                    <a:pt x="245421" y="151478"/>
                    <a:pt x="245421" y="151478"/>
                  </a:cubicBezTo>
                  <a:cubicBezTo>
                    <a:pt x="253124" y="151478"/>
                    <a:pt x="260828" y="143794"/>
                    <a:pt x="260828" y="135561"/>
                  </a:cubicBezTo>
                  <a:cubicBezTo>
                    <a:pt x="260828" y="127878"/>
                    <a:pt x="253124" y="120194"/>
                    <a:pt x="245421" y="120194"/>
                  </a:cubicBezTo>
                  <a:close/>
                  <a:moveTo>
                    <a:pt x="245421" y="186054"/>
                  </a:moveTo>
                  <a:lnTo>
                    <a:pt x="245421" y="186054"/>
                  </a:lnTo>
                  <a:cubicBezTo>
                    <a:pt x="151874" y="186054"/>
                    <a:pt x="151874" y="186054"/>
                    <a:pt x="151874" y="186054"/>
                  </a:cubicBezTo>
                  <a:cubicBezTo>
                    <a:pt x="124361" y="186054"/>
                    <a:pt x="124361" y="186054"/>
                    <a:pt x="124361" y="186054"/>
                  </a:cubicBezTo>
                  <a:cubicBezTo>
                    <a:pt x="58329" y="186054"/>
                    <a:pt x="58329" y="186054"/>
                    <a:pt x="58329" y="186054"/>
                  </a:cubicBezTo>
                  <a:cubicBezTo>
                    <a:pt x="50625" y="186054"/>
                    <a:pt x="42921" y="193738"/>
                    <a:pt x="42921" y="201422"/>
                  </a:cubicBezTo>
                  <a:cubicBezTo>
                    <a:pt x="42921" y="213496"/>
                    <a:pt x="50625" y="217338"/>
                    <a:pt x="58329" y="217338"/>
                  </a:cubicBezTo>
                  <a:cubicBezTo>
                    <a:pt x="124361" y="217338"/>
                    <a:pt x="124361" y="217338"/>
                    <a:pt x="124361" y="217338"/>
                  </a:cubicBezTo>
                  <a:cubicBezTo>
                    <a:pt x="151874" y="217338"/>
                    <a:pt x="151874" y="217338"/>
                    <a:pt x="151874" y="217338"/>
                  </a:cubicBezTo>
                  <a:cubicBezTo>
                    <a:pt x="245421" y="217338"/>
                    <a:pt x="245421" y="217338"/>
                    <a:pt x="245421" y="217338"/>
                  </a:cubicBezTo>
                  <a:cubicBezTo>
                    <a:pt x="253124" y="217338"/>
                    <a:pt x="260828" y="213496"/>
                    <a:pt x="260828" y="201422"/>
                  </a:cubicBezTo>
                  <a:cubicBezTo>
                    <a:pt x="260828" y="193738"/>
                    <a:pt x="253124" y="186054"/>
                    <a:pt x="245421" y="186054"/>
                  </a:cubicBezTo>
                  <a:close/>
                  <a:moveTo>
                    <a:pt x="229462" y="62018"/>
                  </a:moveTo>
                  <a:lnTo>
                    <a:pt x="229462" y="62018"/>
                  </a:lnTo>
                  <a:cubicBezTo>
                    <a:pt x="221759" y="62018"/>
                    <a:pt x="214055" y="58176"/>
                    <a:pt x="214055" y="46651"/>
                  </a:cubicBezTo>
                  <a:cubicBezTo>
                    <a:pt x="214055" y="15367"/>
                    <a:pt x="214055" y="15367"/>
                    <a:pt x="214055" y="15367"/>
                  </a:cubicBezTo>
                  <a:cubicBezTo>
                    <a:pt x="214055" y="7683"/>
                    <a:pt x="221759" y="0"/>
                    <a:pt x="229462" y="0"/>
                  </a:cubicBezTo>
                  <a:cubicBezTo>
                    <a:pt x="237166" y="0"/>
                    <a:pt x="245421" y="7683"/>
                    <a:pt x="245421" y="15367"/>
                  </a:cubicBezTo>
                  <a:cubicBezTo>
                    <a:pt x="245421" y="46651"/>
                    <a:pt x="245421" y="46651"/>
                    <a:pt x="245421" y="46651"/>
                  </a:cubicBezTo>
                  <a:cubicBezTo>
                    <a:pt x="245421" y="58176"/>
                    <a:pt x="237166" y="62018"/>
                    <a:pt x="229462" y="62018"/>
                  </a:cubicBezTo>
                  <a:close/>
                  <a:moveTo>
                    <a:pt x="151874" y="62018"/>
                  </a:moveTo>
                  <a:lnTo>
                    <a:pt x="151874" y="62018"/>
                  </a:lnTo>
                  <a:cubicBezTo>
                    <a:pt x="144170" y="62018"/>
                    <a:pt x="136467" y="58176"/>
                    <a:pt x="136467" y="46651"/>
                  </a:cubicBezTo>
                  <a:cubicBezTo>
                    <a:pt x="136467" y="15367"/>
                    <a:pt x="136467" y="15367"/>
                    <a:pt x="136467" y="15367"/>
                  </a:cubicBezTo>
                  <a:cubicBezTo>
                    <a:pt x="136467" y="7683"/>
                    <a:pt x="144170" y="0"/>
                    <a:pt x="151874" y="0"/>
                  </a:cubicBezTo>
                  <a:cubicBezTo>
                    <a:pt x="159578" y="0"/>
                    <a:pt x="167282" y="7683"/>
                    <a:pt x="167282" y="15367"/>
                  </a:cubicBezTo>
                  <a:cubicBezTo>
                    <a:pt x="167282" y="46651"/>
                    <a:pt x="167282" y="46651"/>
                    <a:pt x="167282" y="46651"/>
                  </a:cubicBezTo>
                  <a:cubicBezTo>
                    <a:pt x="167282" y="58176"/>
                    <a:pt x="159578" y="62018"/>
                    <a:pt x="151874" y="62018"/>
                  </a:cubicBezTo>
                  <a:close/>
                  <a:moveTo>
                    <a:pt x="74286" y="62018"/>
                  </a:moveTo>
                  <a:lnTo>
                    <a:pt x="74286" y="62018"/>
                  </a:lnTo>
                  <a:cubicBezTo>
                    <a:pt x="66582" y="62018"/>
                    <a:pt x="58329" y="58176"/>
                    <a:pt x="58329" y="46651"/>
                  </a:cubicBezTo>
                  <a:cubicBezTo>
                    <a:pt x="58329" y="15367"/>
                    <a:pt x="58329" y="15367"/>
                    <a:pt x="58329" y="15367"/>
                  </a:cubicBezTo>
                  <a:cubicBezTo>
                    <a:pt x="58329" y="7683"/>
                    <a:pt x="66582" y="0"/>
                    <a:pt x="74286" y="0"/>
                  </a:cubicBezTo>
                  <a:cubicBezTo>
                    <a:pt x="81990" y="0"/>
                    <a:pt x="89694" y="7683"/>
                    <a:pt x="89694" y="15367"/>
                  </a:cubicBezTo>
                  <a:cubicBezTo>
                    <a:pt x="89694" y="46651"/>
                    <a:pt x="89694" y="46651"/>
                    <a:pt x="89694" y="46651"/>
                  </a:cubicBezTo>
                  <a:cubicBezTo>
                    <a:pt x="89694" y="58176"/>
                    <a:pt x="81990" y="62018"/>
                    <a:pt x="74286" y="62018"/>
                  </a:cubicBezTo>
                  <a:close/>
                </a:path>
              </a:pathLst>
            </a:custGeom>
            <a:solidFill>
              <a:srgbClr val="FFFFFF">
                <a:alpha val="100000"/>
              </a:srgbClr>
            </a:solidFill>
            <a:ln w="12700">
              <a:noFill/>
              <a:prstDash val="solid"/>
            </a:ln>
          </p:spPr>
          <p:txBody>
            <a:bodyPr wrap="none" lIns="45720" tIns="22860" rIns="45720" bIns="22860" rtlCol="0" anchor="ctr">
              <a:noAutofit/>
            </a:bodyPr>
            <a:lstStyle/>
            <a:p>
              <a:pPr marL="0" indent="0" algn="l">
                <a:lnSpc>
                  <a:spcPct val="100000"/>
                </a:lnSpc>
                <a:defRP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grpSp>
      <p:grpSp>
        <p:nvGrpSpPr>
          <p:cNvPr id="10" name="Group 10"/>
          <p:cNvGrpSpPr/>
          <p:nvPr/>
        </p:nvGrpSpPr>
        <p:grpSpPr>
          <a:xfrm>
            <a:off x="5868299" y="2469417"/>
            <a:ext cx="576064" cy="576064"/>
            <a:chOff x="5868299" y="2469417"/>
            <a:chExt cx="576064" cy="576064"/>
          </a:xfrm>
        </p:grpSpPr>
        <p:sp>
          <p:nvSpPr>
            <p:cNvPr id="11" name="AutoShape 11"/>
            <p:cNvSpPr/>
            <p:nvPr/>
          </p:nvSpPr>
          <p:spPr>
            <a:xfrm>
              <a:off x="5868299" y="2469417"/>
              <a:ext cx="576064" cy="576064"/>
            </a:xfrm>
            <a:prstGeom prst="ellipse">
              <a:avLst/>
            </a:prstGeom>
            <a:solidFill>
              <a:srgbClr val="F79600">
                <a:alpha val="100000"/>
              </a:srgbClr>
            </a:solidFill>
            <a:ln w="12700">
              <a:noFill/>
              <a:prstDash val="solid"/>
            </a:ln>
          </p:spPr>
          <p:txBody>
            <a:bodyPr wrap="square" lIns="91440" tIns="45720" rIns="91440" bIns="45720" rtlCol="0" anchor="ctr">
              <a:noAutofit/>
            </a:bodyPr>
            <a:lstStyle/>
            <a:p>
              <a:pPr marL="0" indent="0" algn="ctr">
                <a:lnSpc>
                  <a:spcPct val="100000"/>
                </a:lnSpc>
                <a:defRPr/>
              </a:pPr>
              <a:r>
                <a:rPr lang="en-US" sz="2400" b="0" i="0" u="none" strike="noStrik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endParaRPr lang="en-US" sz="1100"/>
            </a:p>
          </p:txBody>
        </p:sp>
        <p:sp>
          <p:nvSpPr>
            <p:cNvPr id="12" name="Freeform 12"/>
            <p:cNvSpPr/>
            <p:nvPr/>
          </p:nvSpPr>
          <p:spPr>
            <a:xfrm>
              <a:off x="6005736" y="2591541"/>
              <a:ext cx="333690" cy="331264"/>
            </a:xfrm>
            <a:custGeom>
              <a:avLst/>
              <a:gdLst/>
              <a:ahLst/>
              <a:cxnLst/>
              <a:rect l="l" t="t" r="r" b="b"/>
              <a:pathLst>
                <a:path w="333690" h="331264">
                  <a:moveTo>
                    <a:pt x="333690" y="299847"/>
                  </a:moveTo>
                  <a:lnTo>
                    <a:pt x="333690" y="299847"/>
                  </a:lnTo>
                  <a:cubicBezTo>
                    <a:pt x="333690" y="315831"/>
                    <a:pt x="317774" y="331264"/>
                    <a:pt x="302407" y="331264"/>
                  </a:cubicBezTo>
                  <a:cubicBezTo>
                    <a:pt x="290881" y="331264"/>
                    <a:pt x="283197" y="327406"/>
                    <a:pt x="279356" y="323548"/>
                  </a:cubicBezTo>
                  <a:cubicBezTo>
                    <a:pt x="189895" y="229846"/>
                    <a:pt x="189895" y="229846"/>
                    <a:pt x="189895" y="229846"/>
                  </a:cubicBezTo>
                  <a:cubicBezTo>
                    <a:pt x="170687" y="241421"/>
                    <a:pt x="147636" y="249688"/>
                    <a:pt x="124036" y="249688"/>
                  </a:cubicBezTo>
                  <a:cubicBezTo>
                    <a:pt x="58176" y="249688"/>
                    <a:pt x="0" y="191263"/>
                    <a:pt x="0" y="124569"/>
                  </a:cubicBezTo>
                  <a:cubicBezTo>
                    <a:pt x="0" y="54568"/>
                    <a:pt x="58176" y="0"/>
                    <a:pt x="124036" y="0"/>
                  </a:cubicBezTo>
                  <a:cubicBezTo>
                    <a:pt x="193738" y="0"/>
                    <a:pt x="248073" y="54568"/>
                    <a:pt x="248073" y="124569"/>
                  </a:cubicBezTo>
                  <a:cubicBezTo>
                    <a:pt x="248073" y="148270"/>
                    <a:pt x="244230" y="167561"/>
                    <a:pt x="232705" y="187405"/>
                  </a:cubicBezTo>
                  <a:cubicBezTo>
                    <a:pt x="322165" y="276697"/>
                    <a:pt x="322165" y="276697"/>
                    <a:pt x="322165" y="276697"/>
                  </a:cubicBezTo>
                  <a:cubicBezTo>
                    <a:pt x="329848" y="284414"/>
                    <a:pt x="333690" y="292130"/>
                    <a:pt x="333690" y="299847"/>
                  </a:cubicBezTo>
                  <a:close/>
                  <a:moveTo>
                    <a:pt x="124036" y="31417"/>
                  </a:moveTo>
                  <a:lnTo>
                    <a:pt x="124036" y="31417"/>
                  </a:lnTo>
                  <a:cubicBezTo>
                    <a:pt x="73543" y="31417"/>
                    <a:pt x="30734" y="70001"/>
                    <a:pt x="30734" y="124569"/>
                  </a:cubicBezTo>
                  <a:cubicBezTo>
                    <a:pt x="30734" y="175278"/>
                    <a:pt x="73543" y="218271"/>
                    <a:pt x="124036" y="218271"/>
                  </a:cubicBezTo>
                  <a:cubicBezTo>
                    <a:pt x="178370" y="218271"/>
                    <a:pt x="217338" y="175278"/>
                    <a:pt x="217338" y="124569"/>
                  </a:cubicBezTo>
                  <a:cubicBezTo>
                    <a:pt x="217338" y="70001"/>
                    <a:pt x="178370" y="31417"/>
                    <a:pt x="124036" y="31417"/>
                  </a:cubicBezTo>
                  <a:close/>
                  <a:moveTo>
                    <a:pt x="178370" y="140553"/>
                  </a:moveTo>
                  <a:lnTo>
                    <a:pt x="178370" y="140553"/>
                  </a:lnTo>
                  <a:cubicBezTo>
                    <a:pt x="139404" y="140553"/>
                    <a:pt x="139404" y="140553"/>
                    <a:pt x="139404" y="140553"/>
                  </a:cubicBezTo>
                  <a:cubicBezTo>
                    <a:pt x="139404" y="175278"/>
                    <a:pt x="139404" y="175278"/>
                    <a:pt x="139404" y="175278"/>
                  </a:cubicBezTo>
                  <a:cubicBezTo>
                    <a:pt x="139404" y="183545"/>
                    <a:pt x="135561" y="191263"/>
                    <a:pt x="124036" y="191263"/>
                  </a:cubicBezTo>
                  <a:cubicBezTo>
                    <a:pt x="116352" y="191263"/>
                    <a:pt x="108669" y="183545"/>
                    <a:pt x="108669" y="175278"/>
                  </a:cubicBezTo>
                  <a:cubicBezTo>
                    <a:pt x="108669" y="140553"/>
                    <a:pt x="108669" y="140553"/>
                    <a:pt x="108669" y="140553"/>
                  </a:cubicBezTo>
                  <a:cubicBezTo>
                    <a:pt x="73543" y="140553"/>
                    <a:pt x="73543" y="140553"/>
                    <a:pt x="73543" y="140553"/>
                  </a:cubicBezTo>
                  <a:cubicBezTo>
                    <a:pt x="65860" y="140553"/>
                    <a:pt x="58176" y="132837"/>
                    <a:pt x="58176" y="124569"/>
                  </a:cubicBezTo>
                  <a:cubicBezTo>
                    <a:pt x="58176" y="112994"/>
                    <a:pt x="65860" y="109135"/>
                    <a:pt x="73543" y="109135"/>
                  </a:cubicBezTo>
                  <a:cubicBezTo>
                    <a:pt x="108669" y="109135"/>
                    <a:pt x="108669" y="109135"/>
                    <a:pt x="108669" y="109135"/>
                  </a:cubicBezTo>
                  <a:cubicBezTo>
                    <a:pt x="108669" y="70001"/>
                    <a:pt x="108669" y="70001"/>
                    <a:pt x="108669" y="70001"/>
                  </a:cubicBezTo>
                  <a:cubicBezTo>
                    <a:pt x="108669" y="62285"/>
                    <a:pt x="116352" y="54568"/>
                    <a:pt x="124036" y="54568"/>
                  </a:cubicBezTo>
                  <a:cubicBezTo>
                    <a:pt x="135561" y="54568"/>
                    <a:pt x="139404" y="62285"/>
                    <a:pt x="139404" y="70001"/>
                  </a:cubicBezTo>
                  <a:cubicBezTo>
                    <a:pt x="139404" y="109135"/>
                    <a:pt x="139404" y="109135"/>
                    <a:pt x="139404" y="109135"/>
                  </a:cubicBezTo>
                  <a:cubicBezTo>
                    <a:pt x="178370" y="109135"/>
                    <a:pt x="178370" y="109135"/>
                    <a:pt x="178370" y="109135"/>
                  </a:cubicBezTo>
                  <a:cubicBezTo>
                    <a:pt x="186054" y="109135"/>
                    <a:pt x="193738" y="112994"/>
                    <a:pt x="193738" y="124569"/>
                  </a:cubicBezTo>
                  <a:cubicBezTo>
                    <a:pt x="193738" y="132837"/>
                    <a:pt x="186054" y="140553"/>
                    <a:pt x="178370" y="140553"/>
                  </a:cubicBezTo>
                  <a:close/>
                </a:path>
              </a:pathLst>
            </a:custGeom>
            <a:solidFill>
              <a:srgbClr val="FFFFFF">
                <a:alpha val="100000"/>
              </a:srgbClr>
            </a:solidFill>
            <a:ln w="12700">
              <a:noFill/>
              <a:prstDash val="solid"/>
            </a:ln>
          </p:spPr>
          <p:txBody>
            <a:bodyPr wrap="none" lIns="45720" tIns="22860" rIns="45720" bIns="22860" rtlCol="0" anchor="ctr">
              <a:noAutofit/>
            </a:bodyPr>
            <a:lstStyle/>
            <a:p>
              <a:pPr marL="0" indent="0" algn="l">
                <a:lnSpc>
                  <a:spcPct val="100000"/>
                </a:lnSpc>
                <a:defRP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grpSp>
      <p:grpSp>
        <p:nvGrpSpPr>
          <p:cNvPr id="13" name="Group 13"/>
          <p:cNvGrpSpPr/>
          <p:nvPr/>
        </p:nvGrpSpPr>
        <p:grpSpPr>
          <a:xfrm>
            <a:off x="6732395" y="2468893"/>
            <a:ext cx="577111" cy="577112"/>
            <a:chOff x="6732395" y="2468893"/>
            <a:chExt cx="577111" cy="577112"/>
          </a:xfrm>
        </p:grpSpPr>
        <p:sp>
          <p:nvSpPr>
            <p:cNvPr id="14" name="AutoShape 14"/>
            <p:cNvSpPr/>
            <p:nvPr/>
          </p:nvSpPr>
          <p:spPr>
            <a:xfrm>
              <a:off x="6732395" y="2468893"/>
              <a:ext cx="577111" cy="577112"/>
            </a:xfrm>
            <a:prstGeom prst="ellipse">
              <a:avLst/>
            </a:prstGeom>
            <a:solidFill>
              <a:srgbClr val="A5A5A5">
                <a:alpha val="100000"/>
              </a:srgbClr>
            </a:solidFill>
            <a:ln w="12700">
              <a:noFill/>
              <a:prstDash val="solid"/>
            </a:ln>
          </p:spPr>
          <p:txBody>
            <a:bodyPr wrap="square" lIns="91440" tIns="45720" rIns="91440" bIns="45720" rtlCol="0" anchor="ctr">
              <a:noAutofit/>
            </a:bodyPr>
            <a:lstStyle/>
            <a:p>
              <a:pPr marL="0" indent="0" algn="ctr">
                <a:lnSpc>
                  <a:spcPct val="100000"/>
                </a:lnSpc>
                <a:defRPr/>
              </a:pPr>
              <a:r>
                <a:rPr lang="en-US" sz="2400" b="0" i="0" u="none" strike="noStrik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endParaRPr lang="en-US" sz="1100"/>
            </a:p>
          </p:txBody>
        </p:sp>
        <p:sp>
          <p:nvSpPr>
            <p:cNvPr id="15" name="Freeform 15"/>
            <p:cNvSpPr/>
            <p:nvPr/>
          </p:nvSpPr>
          <p:spPr>
            <a:xfrm>
              <a:off x="6890160" y="2606073"/>
              <a:ext cx="261027" cy="302204"/>
            </a:xfrm>
            <a:custGeom>
              <a:avLst/>
              <a:gdLst/>
              <a:ahLst/>
              <a:cxnLst/>
              <a:rect l="l" t="t" r="r" b="b"/>
              <a:pathLst>
                <a:path w="261027" h="302204">
                  <a:moveTo>
                    <a:pt x="245607" y="302204"/>
                  </a:moveTo>
                  <a:lnTo>
                    <a:pt x="245607" y="302204"/>
                  </a:lnTo>
                  <a:cubicBezTo>
                    <a:pt x="229638" y="302204"/>
                    <a:pt x="229638" y="302204"/>
                    <a:pt x="229638" y="302204"/>
                  </a:cubicBezTo>
                  <a:cubicBezTo>
                    <a:pt x="229638" y="0"/>
                    <a:pt x="229638" y="0"/>
                    <a:pt x="229638" y="0"/>
                  </a:cubicBezTo>
                  <a:cubicBezTo>
                    <a:pt x="245607" y="0"/>
                    <a:pt x="245607" y="0"/>
                    <a:pt x="245607" y="0"/>
                  </a:cubicBezTo>
                  <a:cubicBezTo>
                    <a:pt x="253317" y="0"/>
                    <a:pt x="261027" y="7678"/>
                    <a:pt x="261027" y="15357"/>
                  </a:cubicBezTo>
                  <a:cubicBezTo>
                    <a:pt x="261027" y="286847"/>
                    <a:pt x="261027" y="286847"/>
                    <a:pt x="261027" y="286847"/>
                  </a:cubicBezTo>
                  <a:cubicBezTo>
                    <a:pt x="261027" y="294526"/>
                    <a:pt x="253317" y="302204"/>
                    <a:pt x="245607" y="302204"/>
                  </a:cubicBezTo>
                  <a:close/>
                  <a:moveTo>
                    <a:pt x="31389" y="286847"/>
                  </a:moveTo>
                  <a:lnTo>
                    <a:pt x="31389" y="286847"/>
                  </a:lnTo>
                  <a:cubicBezTo>
                    <a:pt x="31389" y="271490"/>
                    <a:pt x="31389" y="271490"/>
                    <a:pt x="31389" y="271490"/>
                  </a:cubicBezTo>
                  <a:cubicBezTo>
                    <a:pt x="58373" y="271490"/>
                    <a:pt x="58373" y="271490"/>
                    <a:pt x="58373" y="271490"/>
                  </a:cubicBezTo>
                  <a:cubicBezTo>
                    <a:pt x="74343" y="271490"/>
                    <a:pt x="89762" y="255585"/>
                    <a:pt x="89762" y="240228"/>
                  </a:cubicBezTo>
                  <a:cubicBezTo>
                    <a:pt x="89762" y="221032"/>
                    <a:pt x="74343" y="208966"/>
                    <a:pt x="58373" y="208966"/>
                  </a:cubicBezTo>
                  <a:cubicBezTo>
                    <a:pt x="31389" y="208966"/>
                    <a:pt x="31389" y="208966"/>
                    <a:pt x="31389" y="208966"/>
                  </a:cubicBezTo>
                  <a:cubicBezTo>
                    <a:pt x="31389" y="182090"/>
                    <a:pt x="31389" y="182090"/>
                    <a:pt x="31389" y="182090"/>
                  </a:cubicBezTo>
                  <a:cubicBezTo>
                    <a:pt x="58373" y="182090"/>
                    <a:pt x="58373" y="182090"/>
                    <a:pt x="58373" y="182090"/>
                  </a:cubicBezTo>
                  <a:cubicBezTo>
                    <a:pt x="74343" y="182090"/>
                    <a:pt x="89762" y="166733"/>
                    <a:pt x="89762" y="150828"/>
                  </a:cubicBezTo>
                  <a:cubicBezTo>
                    <a:pt x="89762" y="135471"/>
                    <a:pt x="74343" y="120114"/>
                    <a:pt x="58373" y="120114"/>
                  </a:cubicBezTo>
                  <a:cubicBezTo>
                    <a:pt x="31389" y="120114"/>
                    <a:pt x="31389" y="120114"/>
                    <a:pt x="31389" y="120114"/>
                  </a:cubicBezTo>
                  <a:cubicBezTo>
                    <a:pt x="31389" y="92691"/>
                    <a:pt x="31389" y="92691"/>
                    <a:pt x="31389" y="92691"/>
                  </a:cubicBezTo>
                  <a:cubicBezTo>
                    <a:pt x="58373" y="92691"/>
                    <a:pt x="58373" y="92691"/>
                    <a:pt x="58373" y="92691"/>
                  </a:cubicBezTo>
                  <a:cubicBezTo>
                    <a:pt x="74343" y="92691"/>
                    <a:pt x="89762" y="81173"/>
                    <a:pt x="89762" y="61976"/>
                  </a:cubicBezTo>
                  <a:cubicBezTo>
                    <a:pt x="89762" y="46619"/>
                    <a:pt x="74343" y="30714"/>
                    <a:pt x="58373" y="30714"/>
                  </a:cubicBezTo>
                  <a:cubicBezTo>
                    <a:pt x="31389" y="30714"/>
                    <a:pt x="31389" y="30714"/>
                    <a:pt x="31389" y="30714"/>
                  </a:cubicBezTo>
                  <a:cubicBezTo>
                    <a:pt x="31389" y="15357"/>
                    <a:pt x="31389" y="15357"/>
                    <a:pt x="31389" y="15357"/>
                  </a:cubicBezTo>
                  <a:cubicBezTo>
                    <a:pt x="31389" y="7678"/>
                    <a:pt x="39099" y="0"/>
                    <a:pt x="46808" y="0"/>
                  </a:cubicBezTo>
                  <a:cubicBezTo>
                    <a:pt x="214217" y="0"/>
                    <a:pt x="214217" y="0"/>
                    <a:pt x="214217" y="0"/>
                  </a:cubicBezTo>
                  <a:cubicBezTo>
                    <a:pt x="214217" y="302204"/>
                    <a:pt x="214217" y="302204"/>
                    <a:pt x="214217" y="302204"/>
                  </a:cubicBezTo>
                  <a:cubicBezTo>
                    <a:pt x="46808" y="302204"/>
                    <a:pt x="46808" y="302204"/>
                    <a:pt x="46808" y="302204"/>
                  </a:cubicBezTo>
                  <a:cubicBezTo>
                    <a:pt x="39099" y="302204"/>
                    <a:pt x="31389" y="294526"/>
                    <a:pt x="31389" y="286847"/>
                  </a:cubicBezTo>
                  <a:close/>
                  <a:moveTo>
                    <a:pt x="74343" y="61976"/>
                  </a:moveTo>
                  <a:lnTo>
                    <a:pt x="74343" y="61976"/>
                  </a:lnTo>
                  <a:cubicBezTo>
                    <a:pt x="74343" y="73495"/>
                    <a:pt x="66083" y="77334"/>
                    <a:pt x="58373" y="77334"/>
                  </a:cubicBezTo>
                  <a:cubicBezTo>
                    <a:pt x="15970" y="77334"/>
                    <a:pt x="15970" y="77334"/>
                    <a:pt x="15970" y="77334"/>
                  </a:cubicBezTo>
                  <a:cubicBezTo>
                    <a:pt x="8260" y="77334"/>
                    <a:pt x="0" y="73495"/>
                    <a:pt x="0" y="61976"/>
                  </a:cubicBezTo>
                  <a:cubicBezTo>
                    <a:pt x="0" y="54298"/>
                    <a:pt x="8260" y="46619"/>
                    <a:pt x="15970" y="46619"/>
                  </a:cubicBezTo>
                  <a:cubicBezTo>
                    <a:pt x="58373" y="46619"/>
                    <a:pt x="58373" y="46619"/>
                    <a:pt x="58373" y="46619"/>
                  </a:cubicBezTo>
                  <a:cubicBezTo>
                    <a:pt x="66083" y="46619"/>
                    <a:pt x="74343" y="54298"/>
                    <a:pt x="74343" y="61976"/>
                  </a:cubicBezTo>
                  <a:close/>
                  <a:moveTo>
                    <a:pt x="15970" y="135471"/>
                  </a:moveTo>
                  <a:lnTo>
                    <a:pt x="15970" y="135471"/>
                  </a:lnTo>
                  <a:cubicBezTo>
                    <a:pt x="58373" y="135471"/>
                    <a:pt x="58373" y="135471"/>
                    <a:pt x="58373" y="135471"/>
                  </a:cubicBezTo>
                  <a:cubicBezTo>
                    <a:pt x="66083" y="135471"/>
                    <a:pt x="74343" y="143149"/>
                    <a:pt x="74343" y="150828"/>
                  </a:cubicBezTo>
                  <a:cubicBezTo>
                    <a:pt x="74343" y="159055"/>
                    <a:pt x="66083" y="166733"/>
                    <a:pt x="58373" y="166733"/>
                  </a:cubicBezTo>
                  <a:cubicBezTo>
                    <a:pt x="15970" y="166733"/>
                    <a:pt x="15970" y="166733"/>
                    <a:pt x="15970" y="166733"/>
                  </a:cubicBezTo>
                  <a:cubicBezTo>
                    <a:pt x="8260" y="166733"/>
                    <a:pt x="0" y="159055"/>
                    <a:pt x="0" y="150828"/>
                  </a:cubicBezTo>
                  <a:cubicBezTo>
                    <a:pt x="0" y="143149"/>
                    <a:pt x="8260" y="135471"/>
                    <a:pt x="15970" y="135471"/>
                  </a:cubicBezTo>
                  <a:close/>
                  <a:moveTo>
                    <a:pt x="15970" y="224871"/>
                  </a:moveTo>
                  <a:lnTo>
                    <a:pt x="15970" y="224871"/>
                  </a:lnTo>
                  <a:cubicBezTo>
                    <a:pt x="58373" y="224871"/>
                    <a:pt x="58373" y="224871"/>
                    <a:pt x="58373" y="224871"/>
                  </a:cubicBezTo>
                  <a:cubicBezTo>
                    <a:pt x="66083" y="224871"/>
                    <a:pt x="74343" y="228710"/>
                    <a:pt x="74343" y="240228"/>
                  </a:cubicBezTo>
                  <a:cubicBezTo>
                    <a:pt x="74343" y="247907"/>
                    <a:pt x="66083" y="255585"/>
                    <a:pt x="58373" y="255585"/>
                  </a:cubicBezTo>
                  <a:cubicBezTo>
                    <a:pt x="15970" y="255585"/>
                    <a:pt x="15970" y="255585"/>
                    <a:pt x="15970" y="255585"/>
                  </a:cubicBezTo>
                  <a:cubicBezTo>
                    <a:pt x="8260" y="255585"/>
                    <a:pt x="0" y="247907"/>
                    <a:pt x="0" y="240228"/>
                  </a:cubicBezTo>
                  <a:cubicBezTo>
                    <a:pt x="0" y="228710"/>
                    <a:pt x="8260" y="224871"/>
                    <a:pt x="15970" y="224871"/>
                  </a:cubicBezTo>
                  <a:close/>
                </a:path>
              </a:pathLst>
            </a:custGeom>
            <a:solidFill>
              <a:srgbClr val="FFFFFF">
                <a:alpha val="100000"/>
              </a:srgbClr>
            </a:solidFill>
            <a:ln w="12700">
              <a:noFill/>
              <a:prstDash val="solid"/>
            </a:ln>
          </p:spPr>
          <p:txBody>
            <a:bodyPr wrap="none" lIns="45720" tIns="22860" rIns="45720" bIns="22860" rtlCol="0" anchor="ctr">
              <a:noAutofit/>
            </a:bodyPr>
            <a:lstStyle/>
            <a:p>
              <a:pPr marL="0" indent="0" algn="l">
                <a:lnSpc>
                  <a:spcPct val="100000"/>
                </a:lnSpc>
                <a:defRP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grpSp>
      <p:grpSp>
        <p:nvGrpSpPr>
          <p:cNvPr id="16" name="Group 16"/>
          <p:cNvGrpSpPr/>
          <p:nvPr/>
        </p:nvGrpSpPr>
        <p:grpSpPr>
          <a:xfrm>
            <a:off x="4140107" y="2468893"/>
            <a:ext cx="577111" cy="577112"/>
            <a:chOff x="4140107" y="2468893"/>
            <a:chExt cx="577111" cy="577112"/>
          </a:xfrm>
        </p:grpSpPr>
        <p:sp>
          <p:nvSpPr>
            <p:cNvPr id="17" name="AutoShape 17"/>
            <p:cNvSpPr/>
            <p:nvPr/>
          </p:nvSpPr>
          <p:spPr>
            <a:xfrm>
              <a:off x="4140107" y="2468893"/>
              <a:ext cx="577111" cy="577112"/>
            </a:xfrm>
            <a:prstGeom prst="ellipse">
              <a:avLst/>
            </a:prstGeom>
            <a:solidFill>
              <a:srgbClr val="5B9BD5">
                <a:alpha val="100000"/>
              </a:srgbClr>
            </a:solidFill>
            <a:ln w="12700">
              <a:noFill/>
              <a:prstDash val="solid"/>
            </a:ln>
          </p:spPr>
          <p:txBody>
            <a:bodyPr wrap="square" lIns="91440" tIns="45720" rIns="91440" bIns="45720" rtlCol="0" anchor="ctr">
              <a:noAutofit/>
            </a:bodyPr>
            <a:lstStyle/>
            <a:p>
              <a:pPr marL="0" indent="0" algn="ctr">
                <a:lnSpc>
                  <a:spcPct val="100000"/>
                </a:lnSpc>
                <a:defRPr/>
              </a:pPr>
              <a:r>
                <a:rPr lang="en-US" sz="2400" b="0" i="0" u="none" strike="noStrik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endParaRPr lang="en-US" sz="1100"/>
            </a:p>
          </p:txBody>
        </p:sp>
        <p:sp>
          <p:nvSpPr>
            <p:cNvPr id="18" name="Freeform 18"/>
            <p:cNvSpPr/>
            <p:nvPr/>
          </p:nvSpPr>
          <p:spPr>
            <a:xfrm>
              <a:off x="4262752" y="2616972"/>
              <a:ext cx="331267" cy="280405"/>
            </a:xfrm>
            <a:custGeom>
              <a:avLst/>
              <a:gdLst/>
              <a:ahLst/>
              <a:cxnLst/>
              <a:rect l="l" t="t" r="r" b="b"/>
              <a:pathLst>
                <a:path w="331267" h="280405">
                  <a:moveTo>
                    <a:pt x="315283" y="280405"/>
                  </a:moveTo>
                  <a:lnTo>
                    <a:pt x="315283" y="280405"/>
                  </a:lnTo>
                  <a:cubicBezTo>
                    <a:pt x="15433" y="280405"/>
                    <a:pt x="15433" y="280405"/>
                    <a:pt x="15433" y="280405"/>
                  </a:cubicBezTo>
                  <a:cubicBezTo>
                    <a:pt x="7717" y="280405"/>
                    <a:pt x="0" y="276548"/>
                    <a:pt x="0" y="264979"/>
                  </a:cubicBezTo>
                  <a:cubicBezTo>
                    <a:pt x="0" y="15425"/>
                    <a:pt x="0" y="15425"/>
                    <a:pt x="0" y="15425"/>
                  </a:cubicBezTo>
                  <a:cubicBezTo>
                    <a:pt x="0" y="7713"/>
                    <a:pt x="7717" y="0"/>
                    <a:pt x="15433" y="0"/>
                  </a:cubicBezTo>
                  <a:cubicBezTo>
                    <a:pt x="23150" y="0"/>
                    <a:pt x="30867" y="7713"/>
                    <a:pt x="30867" y="15425"/>
                  </a:cubicBezTo>
                  <a:cubicBezTo>
                    <a:pt x="30867" y="214297"/>
                    <a:pt x="30867" y="214297"/>
                    <a:pt x="30867" y="214297"/>
                  </a:cubicBezTo>
                  <a:cubicBezTo>
                    <a:pt x="30867" y="249004"/>
                    <a:pt x="30867" y="249004"/>
                    <a:pt x="30867" y="249004"/>
                  </a:cubicBezTo>
                  <a:cubicBezTo>
                    <a:pt x="315283" y="249004"/>
                    <a:pt x="315283" y="249004"/>
                    <a:pt x="315283" y="249004"/>
                  </a:cubicBezTo>
                  <a:cubicBezTo>
                    <a:pt x="327409" y="249004"/>
                    <a:pt x="331267" y="257266"/>
                    <a:pt x="331267" y="264979"/>
                  </a:cubicBezTo>
                  <a:cubicBezTo>
                    <a:pt x="331267" y="276548"/>
                    <a:pt x="327409" y="280405"/>
                    <a:pt x="315283" y="280405"/>
                  </a:cubicBezTo>
                  <a:close/>
                  <a:moveTo>
                    <a:pt x="280557" y="233578"/>
                  </a:moveTo>
                  <a:lnTo>
                    <a:pt x="280557" y="233578"/>
                  </a:lnTo>
                  <a:cubicBezTo>
                    <a:pt x="249140" y="233578"/>
                    <a:pt x="249140" y="233578"/>
                    <a:pt x="249140" y="233578"/>
                  </a:cubicBezTo>
                  <a:cubicBezTo>
                    <a:pt x="241422" y="233578"/>
                    <a:pt x="233705" y="229721"/>
                    <a:pt x="233705" y="218153"/>
                  </a:cubicBezTo>
                  <a:cubicBezTo>
                    <a:pt x="233705" y="109076"/>
                    <a:pt x="233705" y="109076"/>
                    <a:pt x="233705" y="109076"/>
                  </a:cubicBezTo>
                  <a:cubicBezTo>
                    <a:pt x="233705" y="101364"/>
                    <a:pt x="241422" y="93651"/>
                    <a:pt x="249140" y="93651"/>
                  </a:cubicBezTo>
                  <a:cubicBezTo>
                    <a:pt x="280557" y="93651"/>
                    <a:pt x="280557" y="93651"/>
                    <a:pt x="280557" y="93651"/>
                  </a:cubicBezTo>
                  <a:cubicBezTo>
                    <a:pt x="288273" y="93651"/>
                    <a:pt x="295990" y="101364"/>
                    <a:pt x="295990" y="109076"/>
                  </a:cubicBezTo>
                  <a:cubicBezTo>
                    <a:pt x="295990" y="218153"/>
                    <a:pt x="295990" y="218153"/>
                    <a:pt x="295990" y="218153"/>
                  </a:cubicBezTo>
                  <a:cubicBezTo>
                    <a:pt x="295990" y="229721"/>
                    <a:pt x="288273" y="233578"/>
                    <a:pt x="280557" y="233578"/>
                  </a:cubicBezTo>
                  <a:close/>
                  <a:moveTo>
                    <a:pt x="190712" y="233578"/>
                  </a:moveTo>
                  <a:lnTo>
                    <a:pt x="190712" y="233578"/>
                  </a:lnTo>
                  <a:cubicBezTo>
                    <a:pt x="159846" y="233578"/>
                    <a:pt x="159846" y="233578"/>
                    <a:pt x="159846" y="233578"/>
                  </a:cubicBezTo>
                  <a:cubicBezTo>
                    <a:pt x="152129" y="233578"/>
                    <a:pt x="143862" y="229721"/>
                    <a:pt x="143862" y="218153"/>
                  </a:cubicBezTo>
                  <a:cubicBezTo>
                    <a:pt x="143862" y="46826"/>
                    <a:pt x="143862" y="46826"/>
                    <a:pt x="143862" y="46826"/>
                  </a:cubicBezTo>
                  <a:cubicBezTo>
                    <a:pt x="143862" y="39113"/>
                    <a:pt x="152129" y="31401"/>
                    <a:pt x="159846" y="31401"/>
                  </a:cubicBezTo>
                  <a:cubicBezTo>
                    <a:pt x="190712" y="31401"/>
                    <a:pt x="190712" y="31401"/>
                    <a:pt x="190712" y="31401"/>
                  </a:cubicBezTo>
                  <a:cubicBezTo>
                    <a:pt x="202288" y="31401"/>
                    <a:pt x="206146" y="39113"/>
                    <a:pt x="206146" y="46826"/>
                  </a:cubicBezTo>
                  <a:cubicBezTo>
                    <a:pt x="206146" y="218153"/>
                    <a:pt x="206146" y="218153"/>
                    <a:pt x="206146" y="218153"/>
                  </a:cubicBezTo>
                  <a:cubicBezTo>
                    <a:pt x="206146" y="229721"/>
                    <a:pt x="202288" y="233578"/>
                    <a:pt x="190712" y="233578"/>
                  </a:cubicBezTo>
                  <a:close/>
                  <a:moveTo>
                    <a:pt x="105278" y="233578"/>
                  </a:moveTo>
                  <a:lnTo>
                    <a:pt x="105278" y="233578"/>
                  </a:lnTo>
                  <a:cubicBezTo>
                    <a:pt x="73859" y="233578"/>
                    <a:pt x="73859" y="233578"/>
                    <a:pt x="73859" y="233578"/>
                  </a:cubicBezTo>
                  <a:cubicBezTo>
                    <a:pt x="62285" y="233578"/>
                    <a:pt x="58426" y="229721"/>
                    <a:pt x="58426" y="218153"/>
                  </a:cubicBezTo>
                  <a:cubicBezTo>
                    <a:pt x="58426" y="186752"/>
                    <a:pt x="58426" y="186752"/>
                    <a:pt x="58426" y="186752"/>
                  </a:cubicBezTo>
                  <a:cubicBezTo>
                    <a:pt x="58426" y="179040"/>
                    <a:pt x="62285" y="171328"/>
                    <a:pt x="73859" y="171328"/>
                  </a:cubicBezTo>
                  <a:cubicBezTo>
                    <a:pt x="105278" y="171328"/>
                    <a:pt x="105278" y="171328"/>
                    <a:pt x="105278" y="171328"/>
                  </a:cubicBezTo>
                  <a:cubicBezTo>
                    <a:pt x="112994" y="171328"/>
                    <a:pt x="120711" y="179040"/>
                    <a:pt x="120711" y="186752"/>
                  </a:cubicBezTo>
                  <a:cubicBezTo>
                    <a:pt x="120711" y="218153"/>
                    <a:pt x="120711" y="218153"/>
                    <a:pt x="120711" y="218153"/>
                  </a:cubicBezTo>
                  <a:cubicBezTo>
                    <a:pt x="120711" y="229721"/>
                    <a:pt x="112994" y="233578"/>
                    <a:pt x="105278" y="233578"/>
                  </a:cubicBezTo>
                  <a:close/>
                </a:path>
              </a:pathLst>
            </a:custGeom>
            <a:solidFill>
              <a:srgbClr val="FFFFFF">
                <a:alpha val="100000"/>
              </a:srgbClr>
            </a:solidFill>
            <a:ln w="12700">
              <a:noFill/>
              <a:prstDash val="solid"/>
            </a:ln>
          </p:spPr>
          <p:txBody>
            <a:bodyPr wrap="none" lIns="45720" tIns="22860" rIns="45720" bIns="22860" rtlCol="0" anchor="ctr">
              <a:noAutofit/>
            </a:bodyPr>
            <a:lstStyle/>
            <a:p>
              <a:pPr marL="0" indent="0" algn="l">
                <a:lnSpc>
                  <a:spcPct val="100000"/>
                </a:lnSpc>
                <a:defRP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grpSp>
      <p:grpSp>
        <p:nvGrpSpPr>
          <p:cNvPr id="19" name="Group 19"/>
          <p:cNvGrpSpPr/>
          <p:nvPr/>
        </p:nvGrpSpPr>
        <p:grpSpPr>
          <a:xfrm>
            <a:off x="5004203" y="2468893"/>
            <a:ext cx="577111" cy="577112"/>
            <a:chOff x="5004203" y="2468893"/>
            <a:chExt cx="577111" cy="577112"/>
          </a:xfrm>
        </p:grpSpPr>
        <p:sp>
          <p:nvSpPr>
            <p:cNvPr id="20" name="AutoShape 20"/>
            <p:cNvSpPr/>
            <p:nvPr/>
          </p:nvSpPr>
          <p:spPr>
            <a:xfrm>
              <a:off x="5004203" y="2468893"/>
              <a:ext cx="577111" cy="577112"/>
            </a:xfrm>
            <a:prstGeom prst="ellipse">
              <a:avLst/>
            </a:prstGeom>
            <a:solidFill>
              <a:srgbClr val="3992DB">
                <a:alpha val="100000"/>
              </a:srgbClr>
            </a:solidFill>
            <a:ln w="12700">
              <a:noFill/>
              <a:prstDash val="solid"/>
            </a:ln>
          </p:spPr>
          <p:txBody>
            <a:bodyPr wrap="square" lIns="91440" tIns="45720" rIns="91440" bIns="45720" rtlCol="0" anchor="ctr">
              <a:noAutofit/>
            </a:bodyPr>
            <a:lstStyle/>
            <a:p>
              <a:pPr marL="0" indent="0" algn="ctr">
                <a:lnSpc>
                  <a:spcPct val="100000"/>
                </a:lnSpc>
                <a:defRPr/>
              </a:pPr>
              <a:r>
                <a:rPr lang="en-US" sz="2400" b="0" i="0" u="none" strike="noStrik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t>
              </a:r>
              <a:endParaRPr lang="en-US" sz="1100"/>
            </a:p>
          </p:txBody>
        </p:sp>
        <p:sp>
          <p:nvSpPr>
            <p:cNvPr id="21" name="Freeform 21"/>
            <p:cNvSpPr/>
            <p:nvPr/>
          </p:nvSpPr>
          <p:spPr>
            <a:xfrm>
              <a:off x="5139662" y="2591541"/>
              <a:ext cx="331267" cy="331266"/>
            </a:xfrm>
            <a:custGeom>
              <a:avLst/>
              <a:gdLst/>
              <a:ahLst/>
              <a:cxnLst/>
              <a:rect l="l" t="t" r="r" b="b"/>
              <a:pathLst>
                <a:path w="331267" h="331266">
                  <a:moveTo>
                    <a:pt x="182996" y="147719"/>
                  </a:moveTo>
                  <a:lnTo>
                    <a:pt x="182996" y="147719"/>
                  </a:lnTo>
                  <a:cubicBezTo>
                    <a:pt x="182996" y="0"/>
                    <a:pt x="182996" y="0"/>
                    <a:pt x="182996" y="0"/>
                  </a:cubicBezTo>
                  <a:cubicBezTo>
                    <a:pt x="265124" y="0"/>
                    <a:pt x="331267" y="66143"/>
                    <a:pt x="331267" y="147719"/>
                  </a:cubicBezTo>
                  <a:lnTo>
                    <a:pt x="182996" y="147719"/>
                  </a:lnTo>
                  <a:close/>
                  <a:moveTo>
                    <a:pt x="152129" y="331266"/>
                  </a:moveTo>
                  <a:lnTo>
                    <a:pt x="152129" y="331266"/>
                  </a:lnTo>
                  <a:cubicBezTo>
                    <a:pt x="66143" y="331266"/>
                    <a:pt x="0" y="264571"/>
                    <a:pt x="0" y="179137"/>
                  </a:cubicBezTo>
                  <a:cubicBezTo>
                    <a:pt x="0" y="97010"/>
                    <a:pt x="66143" y="30866"/>
                    <a:pt x="152129" y="30866"/>
                  </a:cubicBezTo>
                  <a:cubicBezTo>
                    <a:pt x="152129" y="179137"/>
                    <a:pt x="152129" y="179137"/>
                    <a:pt x="152129" y="179137"/>
                  </a:cubicBezTo>
                  <a:cubicBezTo>
                    <a:pt x="299848" y="179137"/>
                    <a:pt x="299848" y="179137"/>
                    <a:pt x="299848" y="179137"/>
                  </a:cubicBezTo>
                  <a:cubicBezTo>
                    <a:pt x="299848" y="264571"/>
                    <a:pt x="233705" y="331266"/>
                    <a:pt x="152129" y="331266"/>
                  </a:cubicBezTo>
                  <a:close/>
                </a:path>
              </a:pathLst>
            </a:custGeom>
            <a:solidFill>
              <a:srgbClr val="FFFFFF">
                <a:alpha val="100000"/>
              </a:srgbClr>
            </a:solidFill>
            <a:ln w="12700">
              <a:noFill/>
              <a:prstDash val="solid"/>
            </a:ln>
          </p:spPr>
          <p:txBody>
            <a:bodyPr wrap="none" lIns="45720" tIns="22860" rIns="45720" bIns="22860" rtlCol="0" anchor="ctr">
              <a:noAutofit/>
            </a:bodyPr>
            <a:lstStyle/>
            <a:p>
              <a:pPr marL="0" indent="0" algn="l">
                <a:lnSpc>
                  <a:spcPct val="100000"/>
                </a:lnSpc>
                <a:defRP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grpSp>
      <p:sp>
        <p:nvSpPr>
          <p:cNvPr id="22" name="AutoShape 22"/>
          <p:cNvSpPr/>
          <p:nvPr/>
        </p:nvSpPr>
        <p:spPr>
          <a:xfrm>
            <a:off x="1" y="6004875"/>
            <a:ext cx="12191999" cy="707886"/>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23" name="Picture 23"/>
          <p:cNvPicPr>
            <a:picLocks noChangeAspect="1"/>
          </p:cNvPicPr>
          <p:nvPr/>
        </p:nvPicPr>
        <p:blipFill>
          <a:blip r:embed="rId2"/>
          <a:srcRect/>
          <a:stretch>
            <a:fillRect/>
          </a:stretch>
        </p:blipFill>
        <p:spPr>
          <a:xfrm>
            <a:off x="139529" y="99423"/>
            <a:ext cx="3708572" cy="86153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139529" y="99423"/>
            <a:ext cx="3708572" cy="86153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比较">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139529" y="99424"/>
            <a:ext cx="3441871" cy="79957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仅标题">
    <p:spTree>
      <p:nvGrpSpPr>
        <p:cNvPr id="1" name=""/>
        <p:cNvGrpSpPr/>
        <p:nvPr/>
      </p:nvGrpSpPr>
      <p:grpSpPr>
        <a:xfrm>
          <a:off x="0" y="0"/>
          <a:ext cx="0" cy="0"/>
          <a:chOff x="0" y="0"/>
          <a:chExt cx="0" cy="0"/>
        </a:xfrm>
      </p:grpSpPr>
      <p:sp>
        <p:nvSpPr>
          <p:cNvPr id="2" name="AutoShape 2"/>
          <p:cNvSpPr/>
          <p:nvPr>
            <p:ph type="body" sz="quarter" idx="9" hasCustomPrompt="1"/>
          </p:nvPr>
        </p:nvSpPr>
        <p:spPr>
          <a:xfrm>
            <a:off x="838200" y="365125"/>
            <a:ext cx="10515600" cy="1325563"/>
          </a:xfrm>
          <a:prstGeom prst="rect">
            <a:avLst/>
          </a:prstGeom>
          <a:noFill/>
          <a:ln w="12700">
            <a:noFill/>
            <a:prstDash val="solid"/>
          </a:ln>
        </p:spPr>
        <p:txBody>
          <a:bodyPr wrap="square" lIns="91440" tIns="45720" rIns="91440" bIns="45720" anchor="ctr">
            <a:normAutofit/>
          </a:bodyPr>
          <a:lstStyle>
            <a:lvl1pPr algn="l">
              <a:lnSpc>
                <a:spcPct val="92000"/>
              </a:lnSpc>
              <a:defRPr sz="4400" b="0" i="0" u="none" strike="noStrike" spc="0">
                <a:solidFill>
                  <a:srgbClr val="03A9F0">
                    <a:alpha val="100000"/>
                  </a:srgbClr>
                </a:solidFill>
                <a:latin typeface="Noto Sans SC" panose="020B0500000000000000" charset="-122"/>
              </a:defRPr>
            </a:lvl1pPr>
          </a:lstStyle>
          <a:p>
            <a:pPr marL="0" indent="0" algn="l">
              <a:lnSpc>
                <a:spcPct val="92000"/>
              </a:lnSpc>
            </a:pPr>
            <a:r>
              <a:rPr lang="en-US" sz="4400" b="0" i="0" u="none" strike="noStrike">
                <a:solidFill>
                  <a:srgbClr val="03A9F0"/>
                </a:solidFill>
                <a:latin typeface="Songti SC"/>
                <a:ea typeface="Songti SC"/>
                <a:cs typeface="Songti SC"/>
                <a:sym typeface="Songti SC"/>
              </a:rPr>
              <a:t>单击此处编辑母版标题样式</a:t>
            </a:r>
            <a:endParaRPr lang="en-US" sz="4400" b="0" i="0" u="none" strike="noStrike">
              <a:solidFill>
                <a:srgbClr val="03A9F0"/>
              </a:solidFill>
              <a:latin typeface="Songti SC"/>
              <a:ea typeface="Songti SC"/>
              <a:cs typeface="Songti SC"/>
              <a:sym typeface="Songti SC"/>
            </a:endParaRPr>
          </a:p>
        </p:txBody>
      </p:sp>
      <p:sp>
        <p:nvSpPr>
          <p:cNvPr id="3" name="AutoShape 3"/>
          <p:cNvSpPr/>
          <p:nvPr>
            <p:ph type="body" sz="quarter" idx="10"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898989">
                    <a:alpha val="100000"/>
                  </a:srgbClr>
                </a:solidFill>
                <a:latin typeface="Calibri" panose="020F0502020204030204"/>
              </a:defRPr>
            </a:lvl1pPr>
          </a:lstStyle>
          <a:p>
            <a:pPr marL="0" indent="0" algn="l">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2019/4/1</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1"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panose="020B0500000000000000" charset="-122"/>
              </a:defRPr>
            </a:lvl1pPr>
          </a:lstStyle>
          <a:p>
            <a:pPr marL="0" indent="0" algn="ctr">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2"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898989">
                    <a:alpha val="100000"/>
                  </a:srgbClr>
                </a:solidFill>
                <a:latin typeface="Calibri" panose="020F0502020204030204"/>
              </a:defRPr>
            </a:lvl1pPr>
          </a:lstStyle>
          <a:p>
            <a:pPr marL="0" indent="0" algn="r">
              <a:lnSpc>
                <a:spcPct val="100000"/>
              </a:lnSpc>
            </a:pPr>
            <a:fld id="{A25EB150-0248-486A-8B98-C7DE14924524}"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139529" y="99424"/>
            <a:ext cx="3441871" cy="79957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
        <p:nvSpPr>
          <p:cNvPr id="2" name="AutoShape 2"/>
          <p:cNvSpPr/>
          <p:nvPr>
            <p:ph type="body" sz="quarter" idx="13"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898989">
                    <a:alpha val="100000"/>
                  </a:srgbClr>
                </a:solidFill>
                <a:latin typeface="Calibri" panose="020F0502020204030204"/>
              </a:defRPr>
            </a:lvl1pPr>
          </a:lstStyle>
          <a:p>
            <a:pPr marL="0" indent="0" algn="l">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2019/4/1</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4"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panose="020B0500000000000000" charset="-122"/>
              </a:defRPr>
            </a:lvl1pPr>
          </a:lstStyle>
          <a:p>
            <a:pPr marL="0" indent="0" algn="ctr">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5"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898989">
                    <a:alpha val="100000"/>
                  </a:srgbClr>
                </a:solidFill>
                <a:latin typeface="Calibri" panose="020F0502020204030204"/>
              </a:defRPr>
            </a:lvl1pPr>
          </a:lstStyle>
          <a:p>
            <a:pPr marL="0" indent="0" algn="r">
              <a:lnSpc>
                <a:spcPct val="100000"/>
              </a:lnSpc>
            </a:pPr>
            <a:fld id="{4E64568D-F8DD-4130-A275-FD2BDBD0AEA9}"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2"/>
          <a:srcRect/>
          <a:stretch>
            <a:fillRect/>
          </a:stretch>
        </p:blipFill>
        <p:spPr>
          <a:xfrm>
            <a:off x="139529" y="99424"/>
            <a:ext cx="3441871" cy="79957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内容与标题">
    <p:spTree>
      <p:nvGrpSpPr>
        <p:cNvPr id="1" name=""/>
        <p:cNvGrpSpPr/>
        <p:nvPr/>
      </p:nvGrpSpPr>
      <p:grpSpPr>
        <a:xfrm>
          <a:off x="0" y="0"/>
          <a:ext cx="0" cy="0"/>
          <a:chOff x="0" y="0"/>
          <a:chExt cx="0" cy="0"/>
        </a:xfrm>
      </p:grpSpPr>
      <p:sp>
        <p:nvSpPr>
          <p:cNvPr id="2" name="AutoShape 2"/>
          <p:cNvSpPr/>
          <p:nvPr>
            <p:ph type="body" sz="quarter" idx="16" hasCustomPrompt="1"/>
          </p:nvPr>
        </p:nvSpPr>
        <p:spPr>
          <a:xfrm>
            <a:off x="839788" y="457200"/>
            <a:ext cx="3932237" cy="1600200"/>
          </a:xfrm>
          <a:prstGeom prst="rect">
            <a:avLst/>
          </a:prstGeom>
          <a:noFill/>
          <a:ln w="12700">
            <a:noFill/>
            <a:prstDash val="solid"/>
          </a:ln>
        </p:spPr>
        <p:txBody>
          <a:bodyPr wrap="square" lIns="91440" tIns="45720" rIns="91440" bIns="45720" anchor="b">
            <a:normAutofit/>
          </a:bodyPr>
          <a:lstStyle>
            <a:lvl1pPr algn="l">
              <a:lnSpc>
                <a:spcPct val="92000"/>
              </a:lnSpc>
              <a:defRPr sz="3200" b="0" i="0" u="none" strike="noStrike" spc="0">
                <a:solidFill>
                  <a:srgbClr val="03A9F0">
                    <a:alpha val="100000"/>
                  </a:srgbClr>
                </a:solidFill>
                <a:latin typeface="Noto Sans SC" panose="020B0500000000000000" charset="-122"/>
              </a:defRPr>
            </a:lvl1pPr>
          </a:lstStyle>
          <a:p>
            <a:pPr marL="0" indent="0" algn="l">
              <a:lnSpc>
                <a:spcPct val="92000"/>
              </a:lnSpc>
            </a:pPr>
            <a:r>
              <a:rPr lang="en-US" sz="3200" b="0" i="0" u="none" strike="noStrike">
                <a:solidFill>
                  <a:srgbClr val="03A9F0"/>
                </a:solidFill>
                <a:latin typeface="Songti SC"/>
                <a:ea typeface="Songti SC"/>
                <a:cs typeface="Songti SC"/>
                <a:sym typeface="Songti SC"/>
              </a:rPr>
              <a:t>单击此处编辑母版标题样式</a:t>
            </a:r>
            <a:endParaRPr lang="en-US" sz="3200" b="0" i="0" u="none" strike="noStrike">
              <a:solidFill>
                <a:srgbClr val="03A9F0"/>
              </a:solidFill>
              <a:latin typeface="Songti SC"/>
              <a:ea typeface="Songti SC"/>
              <a:cs typeface="Songti SC"/>
              <a:sym typeface="Songti SC"/>
            </a:endParaRPr>
          </a:p>
        </p:txBody>
      </p:sp>
      <p:sp>
        <p:nvSpPr>
          <p:cNvPr id="3" name="AutoShape 3"/>
          <p:cNvSpPr/>
          <p:nvPr>
            <p:ph type="body" sz="quarter" idx="17"/>
          </p:nvPr>
        </p:nvSpPr>
        <p:spPr>
          <a:xfrm>
            <a:off x="5183188" y="987425"/>
            <a:ext cx="6172200" cy="4873625"/>
          </a:xfrm>
          <a:prstGeom prst="rect">
            <a:avLst/>
          </a:prstGeom>
          <a:noFill/>
          <a:ln w="12700">
            <a:noFill/>
            <a:prstDash val="solid"/>
          </a:ln>
        </p:spPr>
        <p:txBody>
          <a:bodyPr wrap="square" lIns="91440" tIns="45720" rIns="91440" bIns="45720" anchor="t">
            <a:normAutofit/>
          </a:bodyPr>
          <a:lstStyle>
            <a:lvl1pPr marL="635000" indent="-406400" algn="l">
              <a:lnSpc>
                <a:spcPct val="92000"/>
              </a:lnSpc>
              <a:defRPr sz="3200" b="0" i="0" u="none" strike="noStrike" spc="0">
                <a:solidFill>
                  <a:srgbClr val="1F4E79">
                    <a:alpha val="100000"/>
                  </a:srgbClr>
                </a:solidFill>
                <a:latin typeface="Noto Sans SC" panose="020B0500000000000000" charset="-122"/>
              </a:defRPr>
            </a:lvl1pPr>
            <a:lvl2pPr/>
            <a:lvl3pPr/>
            <a:lvl4pPr/>
            <a:lvl5pPr/>
            <a:lvl6pPr/>
            <a:lvl7pPr/>
            <a:lvl8pPr/>
            <a:lvl9pPr/>
          </a:lstStyle>
          <a:p>
            <a:pPr marL="228600" indent="-228600" algn="l">
              <a:lnSpc>
                <a:spcPct val="92000"/>
              </a:lnSpc>
              <a:spcBef>
                <a:spcPts val="1000"/>
              </a:spcBef>
              <a:buClr>
                <a:srgbClr val="1F4E79"/>
              </a:buClr>
              <a:buFont typeface="Arial" panose="020B0604020202020204" pitchFamily="34" charset="0"/>
              <a:buChar char="•"/>
            </a:pPr>
            <a:r>
              <a:rPr lang="en-US" sz="3200" b="0" i="0" u="none" strike="noStrike">
                <a:solidFill>
                  <a:srgbClr val="1F4E79"/>
                </a:solidFill>
                <a:latin typeface="Songti SC"/>
                <a:ea typeface="Songti SC"/>
                <a:cs typeface="Songti SC"/>
                <a:sym typeface="Songti SC"/>
              </a:rPr>
              <a:t>单击此处编辑母版文本样式</a:t>
            </a:r>
            <a:endParaRPr lang="en-US" sz="3200" b="0" i="0" u="none" strike="noStrike">
              <a:solidFill>
                <a:srgbClr val="1F4E79"/>
              </a:solidFill>
              <a:latin typeface="Songti SC"/>
              <a:ea typeface="Songti SC"/>
              <a:cs typeface="Songti SC"/>
              <a:sym typeface="Songti SC"/>
            </a:endParaRPr>
          </a:p>
          <a:p>
            <a:pPr marL="685800" lvl="1" indent="-228600" algn="l">
              <a:lnSpc>
                <a:spcPct val="92000"/>
              </a:lnSpc>
              <a:spcBef>
                <a:spcPts val="500"/>
              </a:spcBef>
              <a:buClr>
                <a:srgbClr val="000000"/>
              </a:buClr>
              <a:buFont typeface="Arial" panose="020B0604020202020204" pitchFamily="34" charset="0"/>
              <a:buChar char="•"/>
            </a:pPr>
            <a:r>
              <a:rPr lang="en-US" sz="2800" b="0" i="0" u="none" strike="noStrike">
                <a:solidFill>
                  <a:srgbClr val="000000"/>
                </a:solidFill>
                <a:latin typeface="Songti SC"/>
                <a:ea typeface="Songti SC"/>
                <a:cs typeface="Songti SC"/>
                <a:sym typeface="Songti SC"/>
              </a:rPr>
              <a:t>第二级</a:t>
            </a:r>
            <a:endParaRPr lang="en-US" sz="2800" b="0" i="0" u="none" strike="noStrike">
              <a:solidFill>
                <a:srgbClr val="000000"/>
              </a:solidFill>
              <a:latin typeface="Songti SC"/>
              <a:ea typeface="Songti SC"/>
              <a:cs typeface="Songti SC"/>
              <a:sym typeface="Songti SC"/>
            </a:endParaRPr>
          </a:p>
          <a:p>
            <a:pPr marL="1143000" lvl="2" indent="-228600" algn="l">
              <a:lnSpc>
                <a:spcPct val="92000"/>
              </a:lnSpc>
              <a:spcBef>
                <a:spcPts val="500"/>
              </a:spcBef>
              <a:buClr>
                <a:srgbClr val="000000"/>
              </a:buClr>
              <a:buFont typeface="Arial" panose="020B0604020202020204" pitchFamily="34" charset="0"/>
              <a:buChar char="•"/>
            </a:pPr>
            <a:r>
              <a:rPr lang="en-US" sz="2400" b="0" i="0" u="none" strike="noStrike">
                <a:solidFill>
                  <a:srgbClr val="000000"/>
                </a:solidFill>
                <a:latin typeface="Songti SC"/>
                <a:ea typeface="Songti SC"/>
                <a:cs typeface="Songti SC"/>
                <a:sym typeface="Songti SC"/>
              </a:rPr>
              <a:t>第三级</a:t>
            </a:r>
            <a:endParaRPr lang="en-US" sz="2400" b="0" i="0" u="none" strike="noStrike">
              <a:solidFill>
                <a:srgbClr val="000000"/>
              </a:solidFill>
              <a:latin typeface="Songti SC"/>
              <a:ea typeface="Songti SC"/>
              <a:cs typeface="Songti SC"/>
              <a:sym typeface="Songti SC"/>
            </a:endParaRPr>
          </a:p>
          <a:p>
            <a:pPr marL="1600200" lvl="3" indent="-228600" algn="l">
              <a:lnSpc>
                <a:spcPct val="92000"/>
              </a:lnSpc>
              <a:spcBef>
                <a:spcPts val="500"/>
              </a:spcBef>
              <a:buClr>
                <a:srgbClr val="000000"/>
              </a:buClr>
              <a:buFont typeface="Arial" panose="020B0604020202020204" pitchFamily="34" charset="0"/>
              <a:buChar char="•"/>
            </a:pPr>
            <a:r>
              <a:rPr lang="en-US" sz="2000" b="0" i="0" u="none" strike="noStrike">
                <a:solidFill>
                  <a:srgbClr val="000000"/>
                </a:solidFill>
                <a:latin typeface="Songti SC"/>
                <a:ea typeface="Songti SC"/>
                <a:cs typeface="Songti SC"/>
                <a:sym typeface="Songti SC"/>
              </a:rPr>
              <a:t>第四级</a:t>
            </a:r>
            <a:endParaRPr lang="en-US" sz="2000" b="0" i="0" u="none" strike="noStrike">
              <a:solidFill>
                <a:srgbClr val="000000"/>
              </a:solidFill>
              <a:latin typeface="Songti SC"/>
              <a:ea typeface="Songti SC"/>
              <a:cs typeface="Songti SC"/>
              <a:sym typeface="Songti SC"/>
            </a:endParaRPr>
          </a:p>
          <a:p>
            <a:pPr marL="2057400" lvl="4" indent="-228600" algn="l">
              <a:lnSpc>
                <a:spcPct val="92000"/>
              </a:lnSpc>
              <a:spcBef>
                <a:spcPts val="500"/>
              </a:spcBef>
              <a:buClr>
                <a:srgbClr val="000000"/>
              </a:buClr>
              <a:buFont typeface="Arial" panose="020B0604020202020204" pitchFamily="34" charset="0"/>
              <a:buChar char="•"/>
            </a:pPr>
            <a:r>
              <a:rPr lang="en-US" sz="2000" b="0" i="0" u="none" strike="noStrike">
                <a:solidFill>
                  <a:srgbClr val="000000"/>
                </a:solidFill>
                <a:latin typeface="Songti SC"/>
                <a:ea typeface="Songti SC"/>
                <a:cs typeface="Songti SC"/>
                <a:sym typeface="Songti SC"/>
              </a:rPr>
              <a:t>第五级</a:t>
            </a:r>
            <a:endParaRPr lang="en-US" sz="2000" b="0" i="0" u="none" strike="noStrike">
              <a:solidFill>
                <a:srgbClr val="000000"/>
              </a:solidFill>
              <a:latin typeface="Songti SC"/>
              <a:ea typeface="Songti SC"/>
              <a:cs typeface="Songti SC"/>
              <a:sym typeface="Songti SC"/>
            </a:endParaRPr>
          </a:p>
        </p:txBody>
      </p:sp>
      <p:sp>
        <p:nvSpPr>
          <p:cNvPr id="4" name="AutoShape 4"/>
          <p:cNvSpPr/>
          <p:nvPr>
            <p:ph type="body" sz="quarter" idx="18"/>
          </p:nvPr>
        </p:nvSpPr>
        <p:spPr>
          <a:xfrm>
            <a:off x="839788" y="2057400"/>
            <a:ext cx="3932237" cy="3811588"/>
          </a:xfrm>
          <a:prstGeom prst="rect">
            <a:avLst/>
          </a:prstGeom>
          <a:noFill/>
          <a:ln w="12700">
            <a:noFill/>
            <a:prstDash val="solid"/>
          </a:ln>
        </p:spPr>
        <p:txBody>
          <a:bodyPr wrap="square" lIns="91440" tIns="45720" rIns="91440" bIns="45720" anchor="t">
            <a:noAutofit/>
          </a:bodyPr>
          <a:lstStyle>
            <a:lvl1pPr algn="l">
              <a:lnSpc>
                <a:spcPct val="92000"/>
              </a:lnSpc>
              <a:defRPr sz="1600" b="0" i="0" u="none" strike="noStrike" spc="0">
                <a:solidFill>
                  <a:srgbClr val="1F4E79">
                    <a:alpha val="100000"/>
                  </a:srgbClr>
                </a:solidFill>
                <a:latin typeface="Noto Sans SC" panose="020B0500000000000000" charset="-122"/>
              </a:defRPr>
            </a:lvl1pPr>
          </a:lstStyle>
          <a:p>
            <a:pPr marL="0" indent="0" algn="l">
              <a:lnSpc>
                <a:spcPct val="92000"/>
              </a:lnSpc>
              <a:spcBef>
                <a:spcPts val="1000"/>
              </a:spcBef>
            </a:pPr>
            <a:r>
              <a:rPr lang="en-US" sz="1600" b="0" i="0" u="none" strike="noStrike">
                <a:solidFill>
                  <a:srgbClr val="1F4E79"/>
                </a:solidFill>
                <a:latin typeface="Songti SC"/>
                <a:ea typeface="Songti SC"/>
                <a:cs typeface="Songti SC"/>
                <a:sym typeface="Songti SC"/>
              </a:rPr>
              <a:t>单击此处编辑母版文本样式</a:t>
            </a:r>
            <a:endParaRPr lang="en-US" sz="1600" b="0" i="0" u="none" strike="noStrike">
              <a:solidFill>
                <a:srgbClr val="1F4E79"/>
              </a:solidFill>
              <a:latin typeface="Songti SC"/>
              <a:ea typeface="Songti SC"/>
              <a:cs typeface="Songti SC"/>
              <a:sym typeface="Songti SC"/>
            </a:endParaRPr>
          </a:p>
        </p:txBody>
      </p:sp>
      <p:sp>
        <p:nvSpPr>
          <p:cNvPr id="5" name="AutoShape 5"/>
          <p:cNvSpPr/>
          <p:nvPr>
            <p:ph type="body" sz="quarter" idx="19"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898989">
                    <a:alpha val="100000"/>
                  </a:srgbClr>
                </a:solidFill>
                <a:latin typeface="Calibri" panose="020F0502020204030204"/>
              </a:defRPr>
            </a:lvl1pPr>
          </a:lstStyle>
          <a:p>
            <a:pPr marL="0" indent="0" algn="l">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2019/4/1</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ph type="body" sz="quarter" idx="20"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panose="020B0500000000000000" charset="-122"/>
              </a:defRPr>
            </a:lvl1pPr>
          </a:lstStyle>
          <a:p>
            <a:pPr marL="0" indent="0" algn="ctr">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ph type="body" sz="quarter" idx="21"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898989">
                    <a:alpha val="100000"/>
                  </a:srgbClr>
                </a:solidFill>
                <a:latin typeface="Calibri" panose="020F0502020204030204"/>
              </a:defRPr>
            </a:lvl1pPr>
          </a:lstStyle>
          <a:p>
            <a:pPr marL="0" indent="0" algn="r">
              <a:lnSpc>
                <a:spcPct val="100000"/>
              </a:lnSpc>
            </a:pPr>
            <a:fld id="{B2037283-B5CB-45CD-B2F8-DB5C1551DFD3}"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8" name="AutoShape 8"/>
          <p:cNvSpPr/>
          <p:nvPr/>
        </p:nvSpPr>
        <p:spPr>
          <a:xfrm>
            <a:off x="8725278" y="6450175"/>
            <a:ext cx="775136" cy="246221"/>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PPT</a:t>
            </a:r>
            <a:r>
              <a:rPr lang="en-US" sz="100" b="0" i="0" u="none" strike="noStrike">
                <a:solidFill>
                  <a:srgbClr val="FFFFFF"/>
                </a:solidFill>
                <a:latin typeface="Songti SC"/>
                <a:ea typeface="Songti SC"/>
                <a:cs typeface="Songti SC"/>
                <a:sym typeface="Songti SC"/>
              </a:rPr>
              <a:t>模板下载：</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www.1ppt.com/moban/     </a:t>
            </a:r>
            <a:r>
              <a:rPr lang="en-US" sz="100" b="0" i="0" u="none" strike="noStrike">
                <a:solidFill>
                  <a:srgbClr val="FFFFFF"/>
                </a:solidFill>
                <a:latin typeface="Songti SC"/>
                <a:ea typeface="Songti SC"/>
                <a:cs typeface="Songti SC"/>
                <a:sym typeface="Songti SC"/>
              </a:rPr>
              <a:t>行业</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PPT</a:t>
            </a:r>
            <a:r>
              <a:rPr lang="en-US" sz="100" b="0" i="0" u="none" strike="noStrike">
                <a:solidFill>
                  <a:srgbClr val="FFFFFF"/>
                </a:solidFill>
                <a:latin typeface="Songti SC"/>
                <a:ea typeface="Songti SC"/>
                <a:cs typeface="Songti SC"/>
                <a:sym typeface="Songti SC"/>
              </a:rPr>
              <a:t>模板：</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www.1ppt.com/hangye/ </a:t>
            </a:r>
            <a:endParaRPr lang="en-US" sz="1100"/>
          </a:p>
          <a:p>
            <a:pPr marL="0" indent="0" algn="l">
              <a:lnSpc>
                <a:spcPct val="100000"/>
              </a:lnSpc>
            </a:pPr>
            <a:r>
              <a:rPr lang="en-US" sz="100" b="0" i="0" u="none" strike="noStrike">
                <a:solidFill>
                  <a:srgbClr val="FFFFFF"/>
                </a:solidFill>
                <a:latin typeface="Songti SC"/>
                <a:ea typeface="Songti SC"/>
                <a:cs typeface="Songti SC"/>
                <a:sym typeface="Songti SC"/>
              </a:rPr>
              <a:t>节日</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PPT</a:t>
            </a:r>
            <a:r>
              <a:rPr lang="en-US" sz="100" b="0" i="0" u="none" strike="noStrike">
                <a:solidFill>
                  <a:srgbClr val="FFFFFF"/>
                </a:solidFill>
                <a:latin typeface="Songti SC"/>
                <a:ea typeface="Songti SC"/>
                <a:cs typeface="Songti SC"/>
                <a:sym typeface="Songti SC"/>
              </a:rPr>
              <a:t>模板：</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www.1ppt.com/jieri/           PPT</a:t>
            </a:r>
            <a:r>
              <a:rPr lang="en-US" sz="100" b="0" i="0" u="none" strike="noStrike">
                <a:solidFill>
                  <a:srgbClr val="FFFFFF"/>
                </a:solidFill>
                <a:latin typeface="Songti SC"/>
                <a:ea typeface="Songti SC"/>
                <a:cs typeface="Songti SC"/>
                <a:sym typeface="Songti SC"/>
              </a:rPr>
              <a:t>素材下载：</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www.1ppt.com/sucai/</a:t>
            </a:r>
            <a:endPar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endParaRPr>
          </a:p>
          <a:p>
            <a:pPr marL="0" indent="0" algn="l">
              <a:lnSpc>
                <a:spcPct val="100000"/>
              </a:lnSpc>
            </a:pP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PPT</a:t>
            </a:r>
            <a:r>
              <a:rPr lang="en-US" sz="100" b="0" i="0" u="none" strike="noStrike">
                <a:solidFill>
                  <a:srgbClr val="FFFFFF"/>
                </a:solidFill>
                <a:latin typeface="Songti SC"/>
                <a:ea typeface="Songti SC"/>
                <a:cs typeface="Songti SC"/>
                <a:sym typeface="Songti SC"/>
              </a:rPr>
              <a:t>背景图片：</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www.1ppt.com/beijing/      PPT</a:t>
            </a:r>
            <a:r>
              <a:rPr lang="en-US" sz="100" b="0" i="0" u="none" strike="noStrike">
                <a:solidFill>
                  <a:srgbClr val="FFFFFF"/>
                </a:solidFill>
                <a:latin typeface="Songti SC"/>
                <a:ea typeface="Songti SC"/>
                <a:cs typeface="Songti SC"/>
                <a:sym typeface="Songti SC"/>
              </a:rPr>
              <a:t>图表下载：</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www.1ppt.com/tubiao/      </a:t>
            </a:r>
            <a:endPar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endParaRPr>
          </a:p>
          <a:p>
            <a:pPr marL="0" indent="0" algn="l">
              <a:lnSpc>
                <a:spcPct val="100000"/>
              </a:lnSpc>
            </a:pPr>
            <a:r>
              <a:rPr lang="en-US" sz="100" b="0" i="0" u="none" strike="noStrike">
                <a:solidFill>
                  <a:srgbClr val="FFFFFF"/>
                </a:solidFill>
                <a:latin typeface="Songti SC"/>
                <a:ea typeface="Songti SC"/>
                <a:cs typeface="Songti SC"/>
                <a:sym typeface="Songti SC"/>
              </a:rPr>
              <a:t>优秀</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PPT</a:t>
            </a:r>
            <a:r>
              <a:rPr lang="en-US" sz="100" b="0" i="0" u="none" strike="noStrike">
                <a:solidFill>
                  <a:srgbClr val="FFFFFF"/>
                </a:solidFill>
                <a:latin typeface="Songti SC"/>
                <a:ea typeface="Songti SC"/>
                <a:cs typeface="Songti SC"/>
                <a:sym typeface="Songti SC"/>
              </a:rPr>
              <a:t>下载：</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www.1ppt.com/xiazai/        PPT</a:t>
            </a:r>
            <a:r>
              <a:rPr lang="en-US" sz="100" b="0" i="0" u="none" strike="noStrike">
                <a:solidFill>
                  <a:srgbClr val="FFFFFF"/>
                </a:solidFill>
                <a:latin typeface="Songti SC"/>
                <a:ea typeface="Songti SC"/>
                <a:cs typeface="Songti SC"/>
                <a:sym typeface="Songti SC"/>
              </a:rPr>
              <a:t>教程： </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www.1ppt.com/powerpoint/      </a:t>
            </a:r>
            <a:endPar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endParaRPr>
          </a:p>
          <a:p>
            <a:pPr marL="0" indent="0" algn="l">
              <a:lnSpc>
                <a:spcPct val="100000"/>
              </a:lnSpc>
            </a:pP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Word</a:t>
            </a:r>
            <a:r>
              <a:rPr lang="en-US" sz="100" b="0" i="0" u="none" strike="noStrike">
                <a:solidFill>
                  <a:srgbClr val="FFFFFF"/>
                </a:solidFill>
                <a:latin typeface="Songti SC"/>
                <a:ea typeface="Songti SC"/>
                <a:cs typeface="Songti SC"/>
                <a:sym typeface="Songti SC"/>
              </a:rPr>
              <a:t>教程： </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www.1ppt.com/word/              Excel</a:t>
            </a:r>
            <a:r>
              <a:rPr lang="en-US" sz="100" b="0" i="0" u="none" strike="noStrike">
                <a:solidFill>
                  <a:srgbClr val="FFFFFF"/>
                </a:solidFill>
                <a:latin typeface="Songti SC"/>
                <a:ea typeface="Songti SC"/>
                <a:cs typeface="Songti SC"/>
                <a:sym typeface="Songti SC"/>
              </a:rPr>
              <a:t>教程：</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www.1ppt.com/excel/  </a:t>
            </a:r>
            <a:endPar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endParaRPr>
          </a:p>
          <a:p>
            <a:pPr marL="0" indent="0" algn="l">
              <a:lnSpc>
                <a:spcPct val="100000"/>
              </a:lnSpc>
            </a:pPr>
            <a:r>
              <a:rPr lang="en-US" sz="100" b="0" i="0" u="none" strike="noStrike">
                <a:solidFill>
                  <a:srgbClr val="FFFFFF"/>
                </a:solidFill>
                <a:latin typeface="Songti SC"/>
                <a:ea typeface="Songti SC"/>
                <a:cs typeface="Songti SC"/>
                <a:sym typeface="Songti SC"/>
              </a:rPr>
              <a:t>资料下载：</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www.1ppt.com/ziliao/                PPT</a:t>
            </a:r>
            <a:r>
              <a:rPr lang="en-US" sz="100" b="0" i="0" u="none" strike="noStrike">
                <a:solidFill>
                  <a:srgbClr val="FFFFFF"/>
                </a:solidFill>
                <a:latin typeface="Songti SC"/>
                <a:ea typeface="Songti SC"/>
                <a:cs typeface="Songti SC"/>
                <a:sym typeface="Songti SC"/>
              </a:rPr>
              <a:t>课件下载：</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www.1ppt.com/kejian/ </a:t>
            </a:r>
            <a:endPar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endParaRPr>
          </a:p>
          <a:p>
            <a:pPr marL="0" indent="0" algn="l">
              <a:lnSpc>
                <a:spcPct val="100000"/>
              </a:lnSpc>
            </a:pPr>
            <a:r>
              <a:rPr lang="en-US" sz="100" b="0" i="0" u="none" strike="noStrike">
                <a:solidFill>
                  <a:srgbClr val="FFFFFF"/>
                </a:solidFill>
                <a:latin typeface="Songti SC"/>
                <a:ea typeface="Songti SC"/>
                <a:cs typeface="Songti SC"/>
                <a:sym typeface="Songti SC"/>
              </a:rPr>
              <a:t>范文下载：</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www.1ppt.com/fanwen/             </a:t>
            </a:r>
            <a:r>
              <a:rPr lang="en-US" sz="100" b="0" i="0" u="none" strike="noStrike">
                <a:solidFill>
                  <a:srgbClr val="FFFFFF"/>
                </a:solidFill>
                <a:latin typeface="Songti SC"/>
                <a:ea typeface="Songti SC"/>
                <a:cs typeface="Songti SC"/>
                <a:sym typeface="Songti SC"/>
              </a:rPr>
              <a:t>试卷下载：</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www.1ppt.com/shiti/  </a:t>
            </a:r>
            <a:endPar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endParaRPr>
          </a:p>
          <a:p>
            <a:pPr marL="0" indent="0" algn="l">
              <a:lnSpc>
                <a:spcPct val="100000"/>
              </a:lnSpc>
            </a:pPr>
            <a:r>
              <a:rPr lang="en-US" sz="100" b="0" i="0" u="none" strike="noStrike">
                <a:solidFill>
                  <a:srgbClr val="FFFFFF"/>
                </a:solidFill>
                <a:latin typeface="Songti SC"/>
                <a:ea typeface="Songti SC"/>
                <a:cs typeface="Songti SC"/>
                <a:sym typeface="Songti SC"/>
              </a:rPr>
              <a:t>教案下载：</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www.1ppt.com/jiaoan/        </a:t>
            </a:r>
            <a:endPar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endParaRPr>
          </a:p>
          <a:p>
            <a:pPr marL="0" indent="0" algn="l">
              <a:lnSpc>
                <a:spcPct val="100000"/>
              </a:lnSpc>
            </a:pPr>
            <a:r>
              <a:rPr lang="en-US" sz="100" b="0" i="0" u="none" strike="noStrike">
                <a:solidFill>
                  <a:srgbClr val="FFFFFF"/>
                </a:solidFill>
                <a:latin typeface="Songti SC"/>
                <a:ea typeface="Songti SC"/>
                <a:cs typeface="Songti SC"/>
                <a:sym typeface="Songti SC"/>
              </a:rPr>
              <a:t>字体下载：</a:t>
            </a: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www.1ppt.com/ziti/</a:t>
            </a:r>
            <a:endPar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endParaRPr>
          </a:p>
          <a:p>
            <a:pPr marL="0" indent="0" algn="l">
              <a:lnSpc>
                <a:spcPct val="100000"/>
              </a:lnSpc>
            </a:pPr>
            <a:r>
              <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rPr>
              <a:t> </a:t>
            </a:r>
            <a:endParaRPr lang="en-US" sz="100" b="0"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pic>
        <p:nvPicPr>
          <p:cNvPr id="9" name="Picture 9"/>
          <p:cNvPicPr>
            <a:picLocks noChangeAspect="1"/>
          </p:cNvPicPr>
          <p:nvPr/>
        </p:nvPicPr>
        <p:blipFill>
          <a:blip r:embed="rId2"/>
          <a:srcRect/>
          <a:stretch>
            <a:fillRect/>
          </a:stretch>
        </p:blipFill>
        <p:spPr>
          <a:xfrm>
            <a:off x="139529" y="99424"/>
            <a:ext cx="3441871" cy="79957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图片与标题">
    <p:spTree>
      <p:nvGrpSpPr>
        <p:cNvPr id="1" name=""/>
        <p:cNvGrpSpPr/>
        <p:nvPr/>
      </p:nvGrpSpPr>
      <p:grpSpPr>
        <a:xfrm>
          <a:off x="0" y="0"/>
          <a:ext cx="0" cy="0"/>
          <a:chOff x="0" y="0"/>
          <a:chExt cx="0" cy="0"/>
        </a:xfrm>
      </p:grpSpPr>
      <p:sp>
        <p:nvSpPr>
          <p:cNvPr id="2" name="AutoShape 2"/>
          <p:cNvSpPr/>
          <p:nvPr>
            <p:ph type="body" sz="quarter" idx="22" hasCustomPrompt="1"/>
          </p:nvPr>
        </p:nvSpPr>
        <p:spPr>
          <a:xfrm>
            <a:off x="839788" y="457200"/>
            <a:ext cx="3932237" cy="1600200"/>
          </a:xfrm>
          <a:prstGeom prst="rect">
            <a:avLst/>
          </a:prstGeom>
          <a:noFill/>
          <a:ln w="12700">
            <a:noFill/>
            <a:prstDash val="solid"/>
          </a:ln>
        </p:spPr>
        <p:txBody>
          <a:bodyPr wrap="square" lIns="91440" tIns="45720" rIns="91440" bIns="45720" anchor="b">
            <a:normAutofit/>
          </a:bodyPr>
          <a:lstStyle>
            <a:lvl1pPr algn="l">
              <a:lnSpc>
                <a:spcPct val="92000"/>
              </a:lnSpc>
              <a:defRPr sz="3200" b="0" i="0" u="none" strike="noStrike" spc="0">
                <a:solidFill>
                  <a:srgbClr val="03A9F0">
                    <a:alpha val="100000"/>
                  </a:srgbClr>
                </a:solidFill>
                <a:latin typeface="Noto Sans SC" panose="020B0500000000000000" charset="-122"/>
              </a:defRPr>
            </a:lvl1pPr>
          </a:lstStyle>
          <a:p>
            <a:pPr marL="0" indent="0" algn="l">
              <a:lnSpc>
                <a:spcPct val="92000"/>
              </a:lnSpc>
            </a:pPr>
            <a:r>
              <a:rPr lang="en-US" sz="3200" b="0" i="0" u="none" strike="noStrike">
                <a:solidFill>
                  <a:srgbClr val="03A9F0"/>
                </a:solidFill>
                <a:latin typeface="Songti SC"/>
                <a:ea typeface="Songti SC"/>
                <a:cs typeface="Songti SC"/>
                <a:sym typeface="Songti SC"/>
              </a:rPr>
              <a:t>单击此处编辑母版标题样式</a:t>
            </a:r>
            <a:endParaRPr lang="en-US" sz="3200" b="0" i="0" u="none" strike="noStrike">
              <a:solidFill>
                <a:srgbClr val="03A9F0"/>
              </a:solidFill>
              <a:latin typeface="Songti SC"/>
              <a:ea typeface="Songti SC"/>
              <a:cs typeface="Songti SC"/>
              <a:sym typeface="Songti SC"/>
            </a:endParaRPr>
          </a:p>
        </p:txBody>
      </p:sp>
      <p:sp>
        <p:nvSpPr>
          <p:cNvPr id="3" name="AutoShape 3"/>
          <p:cNvSpPr/>
          <p:nvPr>
            <p:ph type="pic" sz="quarter" idx="23"/>
          </p:nvPr>
        </p:nvSpPr>
        <p:spPr>
          <a:xfrm>
            <a:off x="5183188" y="987425"/>
            <a:ext cx="6172200" cy="487362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500000000000000" charset="-122"/>
              </a:defRPr>
            </a:lvl1pPr>
          </a:lstStyle>
          <a:p>
            <a:pPr algn="ctr"/>
          </a:p>
        </p:txBody>
      </p:sp>
      <p:sp>
        <p:nvSpPr>
          <p:cNvPr id="4" name="AutoShape 4"/>
          <p:cNvSpPr/>
          <p:nvPr>
            <p:ph type="body" sz="quarter" idx="24"/>
          </p:nvPr>
        </p:nvSpPr>
        <p:spPr>
          <a:xfrm>
            <a:off x="839788" y="2057400"/>
            <a:ext cx="3932237" cy="3811588"/>
          </a:xfrm>
          <a:prstGeom prst="rect">
            <a:avLst/>
          </a:prstGeom>
          <a:noFill/>
          <a:ln w="12700">
            <a:noFill/>
            <a:prstDash val="solid"/>
          </a:ln>
        </p:spPr>
        <p:txBody>
          <a:bodyPr wrap="square" lIns="91440" tIns="45720" rIns="91440" bIns="45720" anchor="t">
            <a:noAutofit/>
          </a:bodyPr>
          <a:lstStyle>
            <a:lvl1pPr algn="l">
              <a:lnSpc>
                <a:spcPct val="92000"/>
              </a:lnSpc>
              <a:defRPr sz="1600" b="0" i="0" u="none" strike="noStrike" spc="0">
                <a:solidFill>
                  <a:srgbClr val="1F4E79">
                    <a:alpha val="100000"/>
                  </a:srgbClr>
                </a:solidFill>
                <a:latin typeface="Noto Sans SC" panose="020B0500000000000000" charset="-122"/>
              </a:defRPr>
            </a:lvl1pPr>
          </a:lstStyle>
          <a:p>
            <a:pPr marL="0" indent="0" algn="l">
              <a:lnSpc>
                <a:spcPct val="92000"/>
              </a:lnSpc>
              <a:spcBef>
                <a:spcPts val="1000"/>
              </a:spcBef>
            </a:pPr>
            <a:r>
              <a:rPr lang="en-US" sz="1600" b="0" i="0" u="none" strike="noStrike">
                <a:solidFill>
                  <a:srgbClr val="1F4E79"/>
                </a:solidFill>
                <a:latin typeface="Songti SC"/>
                <a:ea typeface="Songti SC"/>
                <a:cs typeface="Songti SC"/>
                <a:sym typeface="Songti SC"/>
              </a:rPr>
              <a:t>单击此处编辑母版文本样式</a:t>
            </a:r>
            <a:endParaRPr lang="en-US" sz="1600" b="0" i="0" u="none" strike="noStrike">
              <a:solidFill>
                <a:srgbClr val="1F4E79"/>
              </a:solidFill>
              <a:latin typeface="Songti SC"/>
              <a:ea typeface="Songti SC"/>
              <a:cs typeface="Songti SC"/>
              <a:sym typeface="Songti SC"/>
            </a:endParaRPr>
          </a:p>
        </p:txBody>
      </p:sp>
      <p:sp>
        <p:nvSpPr>
          <p:cNvPr id="5" name="AutoShape 5"/>
          <p:cNvSpPr/>
          <p:nvPr>
            <p:ph type="body" sz="quarter" idx="25"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898989">
                    <a:alpha val="100000"/>
                  </a:srgbClr>
                </a:solidFill>
                <a:latin typeface="Calibri" panose="020F0502020204030204"/>
              </a:defRPr>
            </a:lvl1pPr>
          </a:lstStyle>
          <a:p>
            <a:pPr marL="0" indent="0" algn="l">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2019/4/1</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ph type="body" sz="quarter" idx="26"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panose="020B0500000000000000" charset="-122"/>
              </a:defRPr>
            </a:lvl1pPr>
          </a:lstStyle>
          <a:p>
            <a:pPr marL="0" indent="0" algn="ctr">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ph type="body" sz="quarter" idx="27"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898989">
                    <a:alpha val="100000"/>
                  </a:srgbClr>
                </a:solidFill>
                <a:latin typeface="Calibri" panose="020F0502020204030204"/>
              </a:defRPr>
            </a:lvl1pPr>
          </a:lstStyle>
          <a:p>
            <a:pPr marL="0" indent="0" algn="r">
              <a:lnSpc>
                <a:spcPct val="100000"/>
              </a:lnSpc>
            </a:pPr>
            <a:fld id="{7990BF0E-AA01-4C89-B71F-66F492705185}"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8" name="Picture 8"/>
          <p:cNvPicPr>
            <a:picLocks noChangeAspect="1"/>
          </p:cNvPicPr>
          <p:nvPr/>
        </p:nvPicPr>
        <p:blipFill>
          <a:blip r:embed="rId2"/>
          <a:srcRect/>
          <a:stretch>
            <a:fillRect/>
          </a:stretch>
        </p:blipFill>
        <p:spPr>
          <a:xfrm>
            <a:off x="139529" y="99423"/>
            <a:ext cx="3708572" cy="86153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和竖排文字">
    <p:spTree>
      <p:nvGrpSpPr>
        <p:cNvPr id="1" name=""/>
        <p:cNvGrpSpPr/>
        <p:nvPr/>
      </p:nvGrpSpPr>
      <p:grpSpPr>
        <a:xfrm>
          <a:off x="0" y="0"/>
          <a:ext cx="0" cy="0"/>
          <a:chOff x="0" y="0"/>
          <a:chExt cx="0" cy="0"/>
        </a:xfrm>
      </p:grpSpPr>
      <p:sp>
        <p:nvSpPr>
          <p:cNvPr id="2" name="AutoShape 2"/>
          <p:cNvSpPr/>
          <p:nvPr>
            <p:ph type="body" sz="quarter" idx="28" hasCustomPrompt="1"/>
          </p:nvPr>
        </p:nvSpPr>
        <p:spPr>
          <a:xfrm>
            <a:off x="838200" y="365125"/>
            <a:ext cx="10515600" cy="1325563"/>
          </a:xfrm>
          <a:prstGeom prst="rect">
            <a:avLst/>
          </a:prstGeom>
          <a:noFill/>
          <a:ln w="12700">
            <a:noFill/>
            <a:prstDash val="solid"/>
          </a:ln>
        </p:spPr>
        <p:txBody>
          <a:bodyPr wrap="square" lIns="91440" tIns="45720" rIns="91440" bIns="45720" anchor="ctr">
            <a:normAutofit/>
          </a:bodyPr>
          <a:lstStyle>
            <a:lvl1pPr algn="l">
              <a:lnSpc>
                <a:spcPct val="92000"/>
              </a:lnSpc>
              <a:defRPr sz="4400" b="0" i="0" u="none" strike="noStrike" spc="0">
                <a:solidFill>
                  <a:srgbClr val="03A9F0">
                    <a:alpha val="100000"/>
                  </a:srgbClr>
                </a:solidFill>
                <a:latin typeface="Noto Sans SC" panose="020B0500000000000000" charset="-122"/>
              </a:defRPr>
            </a:lvl1pPr>
          </a:lstStyle>
          <a:p>
            <a:pPr marL="0" indent="0" algn="l">
              <a:lnSpc>
                <a:spcPct val="92000"/>
              </a:lnSpc>
            </a:pPr>
            <a:r>
              <a:rPr lang="en-US" sz="4400" b="0" i="0" u="none" strike="noStrike">
                <a:solidFill>
                  <a:srgbClr val="03A9F0"/>
                </a:solidFill>
                <a:latin typeface="Songti SC"/>
                <a:ea typeface="Songti SC"/>
                <a:cs typeface="Songti SC"/>
                <a:sym typeface="Songti SC"/>
              </a:rPr>
              <a:t>单击此处编辑母版标题样式</a:t>
            </a:r>
            <a:endParaRPr lang="en-US" sz="4400" b="0" i="0" u="none" strike="noStrike">
              <a:solidFill>
                <a:srgbClr val="03A9F0"/>
              </a:solidFill>
              <a:latin typeface="Songti SC"/>
              <a:ea typeface="Songti SC"/>
              <a:cs typeface="Songti SC"/>
              <a:sym typeface="Songti SC"/>
            </a:endParaRPr>
          </a:p>
        </p:txBody>
      </p:sp>
      <p:sp>
        <p:nvSpPr>
          <p:cNvPr id="3" name="AutoShape 3"/>
          <p:cNvSpPr/>
          <p:nvPr>
            <p:ph type="body" sz="quarter" idx="29"/>
          </p:nvPr>
        </p:nvSpPr>
        <p:spPr>
          <a:xfrm>
            <a:off x="838200" y="1825625"/>
            <a:ext cx="10515600" cy="4351338"/>
          </a:xfrm>
          <a:prstGeom prst="rect">
            <a:avLst/>
          </a:prstGeom>
          <a:noFill/>
          <a:ln w="12700">
            <a:noFill/>
            <a:prstDash val="solid"/>
          </a:ln>
        </p:spPr>
        <p:txBody>
          <a:bodyPr vert="eaVert" wrap="square" lIns="91440" tIns="45720" rIns="91440" bIns="45720" anchor="t">
            <a:normAutofit/>
          </a:bodyPr>
          <a:lstStyle>
            <a:lvl1pPr marL="584200" indent="-355600" algn="l">
              <a:lnSpc>
                <a:spcPct val="92000"/>
              </a:lnSpc>
              <a:defRPr sz="2800" b="0" i="0" u="none" strike="noStrike" spc="0">
                <a:solidFill>
                  <a:srgbClr val="1F4E79">
                    <a:alpha val="100000"/>
                  </a:srgbClr>
                </a:solidFill>
                <a:latin typeface="Noto Sans SC" panose="020B0500000000000000" charset="-122"/>
              </a:defRPr>
            </a:lvl1pPr>
            <a:lvl2pPr/>
            <a:lvl3pPr/>
            <a:lvl4pPr/>
            <a:lvl5pPr/>
            <a:lvl6pPr/>
            <a:lvl7pPr/>
            <a:lvl8pPr/>
            <a:lvl9pPr/>
          </a:lstStyle>
          <a:p>
            <a:pPr marL="228600" indent="-228600" algn="l">
              <a:lnSpc>
                <a:spcPct val="92000"/>
              </a:lnSpc>
              <a:spcBef>
                <a:spcPts val="1000"/>
              </a:spcBef>
              <a:buClr>
                <a:srgbClr val="1F4E79"/>
              </a:buClr>
              <a:buFont typeface="Arial" panose="020B0604020202020204" pitchFamily="34" charset="0"/>
              <a:buChar char="•"/>
            </a:pPr>
            <a:r>
              <a:rPr lang="en-US" sz="2800" b="0" i="0" u="none" strike="noStrike">
                <a:solidFill>
                  <a:srgbClr val="1F4E79"/>
                </a:solidFill>
                <a:latin typeface="Songti SC"/>
                <a:ea typeface="Songti SC"/>
                <a:cs typeface="Songti SC"/>
                <a:sym typeface="Songti SC"/>
              </a:rPr>
              <a:t>单击此处编辑母版文本样式</a:t>
            </a:r>
            <a:endParaRPr lang="en-US" sz="2800" b="0" i="0" u="none" strike="noStrike">
              <a:solidFill>
                <a:srgbClr val="1F4E79"/>
              </a:solidFill>
              <a:latin typeface="Songti SC"/>
              <a:ea typeface="Songti SC"/>
              <a:cs typeface="Songti SC"/>
              <a:sym typeface="Songti SC"/>
            </a:endParaRPr>
          </a:p>
          <a:p>
            <a:pPr marL="685800" lvl="1" indent="-228600" algn="l">
              <a:lnSpc>
                <a:spcPct val="92000"/>
              </a:lnSpc>
              <a:spcBef>
                <a:spcPts val="500"/>
              </a:spcBef>
              <a:buClr>
                <a:srgbClr val="000000"/>
              </a:buClr>
              <a:buFont typeface="Arial" panose="020B0604020202020204" pitchFamily="34" charset="0"/>
              <a:buChar char="•"/>
            </a:pPr>
            <a:r>
              <a:rPr lang="en-US" sz="2400" b="0" i="0" u="none" strike="noStrike">
                <a:solidFill>
                  <a:srgbClr val="000000"/>
                </a:solidFill>
                <a:latin typeface="Songti SC"/>
                <a:ea typeface="Songti SC"/>
                <a:cs typeface="Songti SC"/>
                <a:sym typeface="Songti SC"/>
              </a:rPr>
              <a:t>第二级</a:t>
            </a:r>
            <a:endParaRPr lang="en-US" sz="2400" b="0" i="0" u="none" strike="noStrike">
              <a:solidFill>
                <a:srgbClr val="000000"/>
              </a:solidFill>
              <a:latin typeface="Songti SC"/>
              <a:ea typeface="Songti SC"/>
              <a:cs typeface="Songti SC"/>
              <a:sym typeface="Songti SC"/>
            </a:endParaRPr>
          </a:p>
          <a:p>
            <a:pPr marL="1143000" lvl="2" indent="-228600" algn="l">
              <a:lnSpc>
                <a:spcPct val="92000"/>
              </a:lnSpc>
              <a:spcBef>
                <a:spcPts val="500"/>
              </a:spcBef>
              <a:buClr>
                <a:srgbClr val="000000"/>
              </a:buClr>
              <a:buFont typeface="Arial" panose="020B0604020202020204" pitchFamily="34" charset="0"/>
              <a:buChar char="•"/>
            </a:pPr>
            <a:r>
              <a:rPr lang="en-US" sz="2000" b="0" i="0" u="none" strike="noStrike">
                <a:solidFill>
                  <a:srgbClr val="000000"/>
                </a:solidFill>
                <a:latin typeface="Songti SC"/>
                <a:ea typeface="Songti SC"/>
                <a:cs typeface="Songti SC"/>
                <a:sym typeface="Songti SC"/>
              </a:rPr>
              <a:t>第三级</a:t>
            </a:r>
            <a:endParaRPr lang="en-US" sz="2000" b="0" i="0" u="none" strike="noStrike">
              <a:solidFill>
                <a:srgbClr val="000000"/>
              </a:solidFill>
              <a:latin typeface="Songti SC"/>
              <a:ea typeface="Songti SC"/>
              <a:cs typeface="Songti SC"/>
              <a:sym typeface="Songti SC"/>
            </a:endParaRPr>
          </a:p>
          <a:p>
            <a:pPr marL="1600200" lvl="3" indent="-228600" algn="l">
              <a:lnSpc>
                <a:spcPct val="92000"/>
              </a:lnSpc>
              <a:spcBef>
                <a:spcPts val="500"/>
              </a:spcBef>
              <a:buClr>
                <a:srgbClr val="000000"/>
              </a:buClr>
              <a:buFont typeface="Arial" panose="020B0604020202020204" pitchFamily="34" charset="0"/>
              <a:buChar char="•"/>
            </a:pPr>
            <a:r>
              <a:rPr lang="en-US" sz="1800" b="0" i="0" u="none" strike="noStrike">
                <a:solidFill>
                  <a:srgbClr val="000000"/>
                </a:solidFill>
                <a:latin typeface="Songti SC"/>
                <a:ea typeface="Songti SC"/>
                <a:cs typeface="Songti SC"/>
                <a:sym typeface="Songti SC"/>
              </a:rPr>
              <a:t>第四级</a:t>
            </a:r>
            <a:endParaRPr lang="en-US" sz="1800" b="0" i="0" u="none" strike="noStrike">
              <a:solidFill>
                <a:srgbClr val="000000"/>
              </a:solidFill>
              <a:latin typeface="Songti SC"/>
              <a:ea typeface="Songti SC"/>
              <a:cs typeface="Songti SC"/>
              <a:sym typeface="Songti SC"/>
            </a:endParaRPr>
          </a:p>
          <a:p>
            <a:pPr marL="2057400" lvl="4" indent="-228600" algn="l">
              <a:lnSpc>
                <a:spcPct val="92000"/>
              </a:lnSpc>
              <a:spcBef>
                <a:spcPts val="500"/>
              </a:spcBef>
              <a:buClr>
                <a:srgbClr val="000000"/>
              </a:buClr>
              <a:buFont typeface="Arial" panose="020B0604020202020204" pitchFamily="34" charset="0"/>
              <a:buChar char="•"/>
            </a:pPr>
            <a:r>
              <a:rPr lang="en-US" sz="1800" b="0" i="0" u="none" strike="noStrike">
                <a:solidFill>
                  <a:srgbClr val="000000"/>
                </a:solidFill>
                <a:latin typeface="Songti SC"/>
                <a:ea typeface="Songti SC"/>
                <a:cs typeface="Songti SC"/>
                <a:sym typeface="Songti SC"/>
              </a:rPr>
              <a:t>第五级</a:t>
            </a:r>
            <a:endParaRPr lang="en-US" sz="1800" b="0" i="0" u="none" strike="noStrike">
              <a:solidFill>
                <a:srgbClr val="000000"/>
              </a:solidFill>
              <a:latin typeface="Songti SC"/>
              <a:ea typeface="Songti SC"/>
              <a:cs typeface="Songti SC"/>
              <a:sym typeface="Songti SC"/>
            </a:endParaRPr>
          </a:p>
        </p:txBody>
      </p:sp>
      <p:sp>
        <p:nvSpPr>
          <p:cNvPr id="4" name="AutoShape 4"/>
          <p:cNvSpPr/>
          <p:nvPr>
            <p:ph type="body" sz="quarter" idx="30"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898989">
                    <a:alpha val="100000"/>
                  </a:srgbClr>
                </a:solidFill>
                <a:latin typeface="Calibri" panose="020F0502020204030204"/>
              </a:defRPr>
            </a:lvl1pPr>
          </a:lstStyle>
          <a:p>
            <a:pPr marL="0" indent="0" algn="l">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2019/4/1</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31"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panose="020B0500000000000000" charset="-122"/>
              </a:defRPr>
            </a:lvl1pPr>
          </a:lstStyle>
          <a:p>
            <a:pPr marL="0" indent="0" algn="ctr">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ph type="body" sz="quarter" idx="32"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898989">
                    <a:alpha val="100000"/>
                  </a:srgbClr>
                </a:solidFill>
                <a:latin typeface="Calibri" panose="020F0502020204030204"/>
              </a:defRPr>
            </a:lvl1pPr>
          </a:lstStyle>
          <a:p>
            <a:pPr marL="0" indent="0" algn="r">
              <a:lnSpc>
                <a:spcPct val="100000"/>
              </a:lnSpc>
            </a:pPr>
            <a:fld id="{D68B9508-1D3A-4BFC-A6BD-186F1C6CD7AA}"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2"/>
          <a:srcRect/>
          <a:stretch>
            <a:fillRect/>
          </a:stretch>
        </p:blipFill>
        <p:spPr>
          <a:xfrm>
            <a:off x="139529" y="99423"/>
            <a:ext cx="3708572" cy="86153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垂直排列标题与 文本">
    <p:spTree>
      <p:nvGrpSpPr>
        <p:cNvPr id="1" name=""/>
        <p:cNvGrpSpPr/>
        <p:nvPr/>
      </p:nvGrpSpPr>
      <p:grpSpPr>
        <a:xfrm>
          <a:off x="0" y="0"/>
          <a:ext cx="0" cy="0"/>
          <a:chOff x="0" y="0"/>
          <a:chExt cx="0" cy="0"/>
        </a:xfrm>
      </p:grpSpPr>
      <p:sp>
        <p:nvSpPr>
          <p:cNvPr id="2" name="AutoShape 2"/>
          <p:cNvSpPr/>
          <p:nvPr>
            <p:ph type="body" sz="quarter" idx="33" hasCustomPrompt="1"/>
          </p:nvPr>
        </p:nvSpPr>
        <p:spPr>
          <a:xfrm>
            <a:off x="8724900" y="365125"/>
            <a:ext cx="2628900" cy="5811838"/>
          </a:xfrm>
          <a:prstGeom prst="rect">
            <a:avLst/>
          </a:prstGeom>
          <a:noFill/>
          <a:ln w="12700">
            <a:noFill/>
            <a:prstDash val="solid"/>
          </a:ln>
        </p:spPr>
        <p:txBody>
          <a:bodyPr vert="eaVert" wrap="square" lIns="91440" tIns="45720" rIns="91440" bIns="45720" anchor="ctr">
            <a:normAutofit/>
          </a:bodyPr>
          <a:lstStyle>
            <a:lvl1pPr algn="l">
              <a:lnSpc>
                <a:spcPct val="92000"/>
              </a:lnSpc>
              <a:defRPr sz="4400" b="0" i="0" u="none" strike="noStrike" spc="0">
                <a:solidFill>
                  <a:srgbClr val="03A9F0">
                    <a:alpha val="100000"/>
                  </a:srgbClr>
                </a:solidFill>
                <a:latin typeface="Noto Sans SC" panose="020B0500000000000000" charset="-122"/>
              </a:defRPr>
            </a:lvl1pPr>
          </a:lstStyle>
          <a:p>
            <a:pPr marL="0" indent="0" algn="l">
              <a:lnSpc>
                <a:spcPct val="92000"/>
              </a:lnSpc>
            </a:pPr>
            <a:r>
              <a:rPr lang="en-US" sz="4400" b="0" i="0" u="none" strike="noStrike">
                <a:solidFill>
                  <a:srgbClr val="03A9F0"/>
                </a:solidFill>
                <a:latin typeface="Songti SC"/>
                <a:ea typeface="Songti SC"/>
                <a:cs typeface="Songti SC"/>
                <a:sym typeface="Songti SC"/>
              </a:rPr>
              <a:t>单击此处编辑母版标题样式</a:t>
            </a:r>
            <a:endParaRPr lang="en-US" sz="4400" b="0" i="0" u="none" strike="noStrike">
              <a:solidFill>
                <a:srgbClr val="03A9F0"/>
              </a:solidFill>
              <a:latin typeface="Songti SC"/>
              <a:ea typeface="Songti SC"/>
              <a:cs typeface="Songti SC"/>
              <a:sym typeface="Songti SC"/>
            </a:endParaRPr>
          </a:p>
        </p:txBody>
      </p:sp>
      <p:sp>
        <p:nvSpPr>
          <p:cNvPr id="3" name="AutoShape 3"/>
          <p:cNvSpPr/>
          <p:nvPr>
            <p:ph type="body" sz="quarter" idx="34"/>
          </p:nvPr>
        </p:nvSpPr>
        <p:spPr>
          <a:xfrm>
            <a:off x="838200" y="365125"/>
            <a:ext cx="7734300" cy="5811838"/>
          </a:xfrm>
          <a:prstGeom prst="rect">
            <a:avLst/>
          </a:prstGeom>
          <a:noFill/>
          <a:ln w="12700">
            <a:noFill/>
            <a:prstDash val="solid"/>
          </a:ln>
        </p:spPr>
        <p:txBody>
          <a:bodyPr vert="eaVert" wrap="square" lIns="91440" tIns="45720" rIns="91440" bIns="45720" anchor="t">
            <a:normAutofit/>
          </a:bodyPr>
          <a:lstStyle>
            <a:lvl1pPr marL="584200" indent="-355600" algn="l">
              <a:lnSpc>
                <a:spcPct val="92000"/>
              </a:lnSpc>
              <a:defRPr sz="2800" b="0" i="0" u="none" strike="noStrike" spc="0">
                <a:solidFill>
                  <a:srgbClr val="1F4E79">
                    <a:alpha val="100000"/>
                  </a:srgbClr>
                </a:solidFill>
                <a:latin typeface="Noto Sans SC" panose="020B0500000000000000" charset="-122"/>
              </a:defRPr>
            </a:lvl1pPr>
            <a:lvl2pPr/>
            <a:lvl3pPr/>
            <a:lvl4pPr/>
            <a:lvl5pPr/>
            <a:lvl6pPr/>
            <a:lvl7pPr/>
            <a:lvl8pPr/>
            <a:lvl9pPr/>
          </a:lstStyle>
          <a:p>
            <a:pPr marL="228600" indent="-228600" algn="l">
              <a:lnSpc>
                <a:spcPct val="92000"/>
              </a:lnSpc>
              <a:spcBef>
                <a:spcPts val="1000"/>
              </a:spcBef>
              <a:buClr>
                <a:srgbClr val="1F4E79"/>
              </a:buClr>
              <a:buFont typeface="Arial" panose="020B0604020202020204" pitchFamily="34" charset="0"/>
              <a:buChar char="•"/>
            </a:pPr>
            <a:r>
              <a:rPr lang="en-US" sz="2800" b="0" i="0" u="none" strike="noStrike">
                <a:solidFill>
                  <a:srgbClr val="1F4E79"/>
                </a:solidFill>
                <a:latin typeface="Songti SC"/>
                <a:ea typeface="Songti SC"/>
                <a:cs typeface="Songti SC"/>
                <a:sym typeface="Songti SC"/>
              </a:rPr>
              <a:t>单击此处编辑母版文本样式</a:t>
            </a:r>
            <a:endParaRPr lang="en-US" sz="2800" b="0" i="0" u="none" strike="noStrike">
              <a:solidFill>
                <a:srgbClr val="1F4E79"/>
              </a:solidFill>
              <a:latin typeface="Songti SC"/>
              <a:ea typeface="Songti SC"/>
              <a:cs typeface="Songti SC"/>
              <a:sym typeface="Songti SC"/>
            </a:endParaRPr>
          </a:p>
          <a:p>
            <a:pPr marL="685800" lvl="1" indent="-228600" algn="l">
              <a:lnSpc>
                <a:spcPct val="92000"/>
              </a:lnSpc>
              <a:spcBef>
                <a:spcPts val="500"/>
              </a:spcBef>
              <a:buClr>
                <a:srgbClr val="000000"/>
              </a:buClr>
              <a:buFont typeface="Arial" panose="020B0604020202020204" pitchFamily="34" charset="0"/>
              <a:buChar char="•"/>
            </a:pPr>
            <a:r>
              <a:rPr lang="en-US" sz="2400" b="0" i="0" u="none" strike="noStrike">
                <a:solidFill>
                  <a:srgbClr val="000000"/>
                </a:solidFill>
                <a:latin typeface="Songti SC"/>
                <a:ea typeface="Songti SC"/>
                <a:cs typeface="Songti SC"/>
                <a:sym typeface="Songti SC"/>
              </a:rPr>
              <a:t>第二级</a:t>
            </a:r>
            <a:endParaRPr lang="en-US" sz="2400" b="0" i="0" u="none" strike="noStrike">
              <a:solidFill>
                <a:srgbClr val="000000"/>
              </a:solidFill>
              <a:latin typeface="Songti SC"/>
              <a:ea typeface="Songti SC"/>
              <a:cs typeface="Songti SC"/>
              <a:sym typeface="Songti SC"/>
            </a:endParaRPr>
          </a:p>
          <a:p>
            <a:pPr marL="1143000" lvl="2" indent="-228600" algn="l">
              <a:lnSpc>
                <a:spcPct val="92000"/>
              </a:lnSpc>
              <a:spcBef>
                <a:spcPts val="500"/>
              </a:spcBef>
              <a:buClr>
                <a:srgbClr val="000000"/>
              </a:buClr>
              <a:buFont typeface="Arial" panose="020B0604020202020204" pitchFamily="34" charset="0"/>
              <a:buChar char="•"/>
            </a:pPr>
            <a:r>
              <a:rPr lang="en-US" sz="2000" b="0" i="0" u="none" strike="noStrike">
                <a:solidFill>
                  <a:srgbClr val="000000"/>
                </a:solidFill>
                <a:latin typeface="Songti SC"/>
                <a:ea typeface="Songti SC"/>
                <a:cs typeface="Songti SC"/>
                <a:sym typeface="Songti SC"/>
              </a:rPr>
              <a:t>第三级</a:t>
            </a:r>
            <a:endParaRPr lang="en-US" sz="2000" b="0" i="0" u="none" strike="noStrike">
              <a:solidFill>
                <a:srgbClr val="000000"/>
              </a:solidFill>
              <a:latin typeface="Songti SC"/>
              <a:ea typeface="Songti SC"/>
              <a:cs typeface="Songti SC"/>
              <a:sym typeface="Songti SC"/>
            </a:endParaRPr>
          </a:p>
          <a:p>
            <a:pPr marL="1600200" lvl="3" indent="-228600" algn="l">
              <a:lnSpc>
                <a:spcPct val="92000"/>
              </a:lnSpc>
              <a:spcBef>
                <a:spcPts val="500"/>
              </a:spcBef>
              <a:buClr>
                <a:srgbClr val="000000"/>
              </a:buClr>
              <a:buFont typeface="Arial" panose="020B0604020202020204" pitchFamily="34" charset="0"/>
              <a:buChar char="•"/>
            </a:pPr>
            <a:r>
              <a:rPr lang="en-US" sz="1800" b="0" i="0" u="none" strike="noStrike">
                <a:solidFill>
                  <a:srgbClr val="000000"/>
                </a:solidFill>
                <a:latin typeface="Songti SC"/>
                <a:ea typeface="Songti SC"/>
                <a:cs typeface="Songti SC"/>
                <a:sym typeface="Songti SC"/>
              </a:rPr>
              <a:t>第四级</a:t>
            </a:r>
            <a:endParaRPr lang="en-US" sz="1800" b="0" i="0" u="none" strike="noStrike">
              <a:solidFill>
                <a:srgbClr val="000000"/>
              </a:solidFill>
              <a:latin typeface="Songti SC"/>
              <a:ea typeface="Songti SC"/>
              <a:cs typeface="Songti SC"/>
              <a:sym typeface="Songti SC"/>
            </a:endParaRPr>
          </a:p>
          <a:p>
            <a:pPr marL="2057400" lvl="4" indent="-228600" algn="l">
              <a:lnSpc>
                <a:spcPct val="92000"/>
              </a:lnSpc>
              <a:spcBef>
                <a:spcPts val="500"/>
              </a:spcBef>
              <a:buClr>
                <a:srgbClr val="000000"/>
              </a:buClr>
              <a:buFont typeface="Arial" panose="020B0604020202020204" pitchFamily="34" charset="0"/>
              <a:buChar char="•"/>
            </a:pPr>
            <a:r>
              <a:rPr lang="en-US" sz="1800" b="0" i="0" u="none" strike="noStrike">
                <a:solidFill>
                  <a:srgbClr val="000000"/>
                </a:solidFill>
                <a:latin typeface="Songti SC"/>
                <a:ea typeface="Songti SC"/>
                <a:cs typeface="Songti SC"/>
                <a:sym typeface="Songti SC"/>
              </a:rPr>
              <a:t>第五级</a:t>
            </a:r>
            <a:endParaRPr lang="en-US" sz="1800" b="0" i="0" u="none" strike="noStrike">
              <a:solidFill>
                <a:srgbClr val="000000"/>
              </a:solidFill>
              <a:latin typeface="Songti SC"/>
              <a:ea typeface="Songti SC"/>
              <a:cs typeface="Songti SC"/>
              <a:sym typeface="Songti SC"/>
            </a:endParaRPr>
          </a:p>
        </p:txBody>
      </p:sp>
      <p:sp>
        <p:nvSpPr>
          <p:cNvPr id="4" name="AutoShape 4"/>
          <p:cNvSpPr/>
          <p:nvPr>
            <p:ph type="body" sz="quarter" idx="35"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a:lnSpc>
                <a:spcPct val="100000"/>
              </a:lnSpc>
              <a:defRPr sz="1200" b="0" i="0" u="none" strike="noStrike" spc="0">
                <a:solidFill>
                  <a:srgbClr val="898989">
                    <a:alpha val="100000"/>
                  </a:srgbClr>
                </a:solidFill>
                <a:latin typeface="Calibri" panose="020F0502020204030204"/>
              </a:defRPr>
            </a:lvl1pPr>
          </a:lstStyle>
          <a:p>
            <a:pPr marL="0" indent="0" algn="l">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2019/4/1</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36"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panose="020B0500000000000000" charset="-122"/>
              </a:defRPr>
            </a:lvl1pPr>
          </a:lstStyle>
          <a:p>
            <a:pPr marL="0" indent="0" algn="ctr">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ph type="body" sz="quarter" idx="37"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a:lnSpc>
                <a:spcPct val="100000"/>
              </a:lnSpc>
              <a:defRPr sz="1200" b="0" i="0" u="none" strike="noStrike" spc="0">
                <a:solidFill>
                  <a:srgbClr val="898989">
                    <a:alpha val="100000"/>
                  </a:srgbClr>
                </a:solidFill>
                <a:latin typeface="Calibri" panose="020F0502020204030204"/>
              </a:defRPr>
            </a:lvl1pPr>
          </a:lstStyle>
          <a:p>
            <a:pPr marL="0" indent="0" algn="r">
              <a:lnSpc>
                <a:spcPct val="100000"/>
              </a:lnSpc>
            </a:pPr>
            <a:fld id="{2EA838C8-EA08-405E-8665-FC3D26D2B91D}"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2"/>
          <a:srcRect/>
          <a:stretch>
            <a:fillRect/>
          </a:stretch>
        </p:blipFill>
        <p:spPr>
          <a:xfrm>
            <a:off x="139529" y="99423"/>
            <a:ext cx="3708572" cy="86153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3.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pitchFamily="34" charset="0"/>
              <a:buNone/>
              <a:defRPr sz="33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pitchFamily="34" charset="0"/>
              <a:buChar char="•"/>
              <a:defRPr sz="21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914400" marR="0" lvl="1" indent="-342900" algn="l" rtl="0">
              <a:lnSpc>
                <a:spcPct val="90000"/>
              </a:lnSpc>
              <a:spcBef>
                <a:spcPts val="400"/>
              </a:spcBef>
              <a:spcAft>
                <a:spcPts val="0"/>
              </a:spcAft>
              <a:buClr>
                <a:schemeClr val="dk1"/>
              </a:buClr>
              <a:buSzPts val="1800"/>
              <a:buFont typeface="Arial" panose="020B0604020202020204" pitchFamily="34" charset="0"/>
              <a:buChar char="•"/>
              <a:defRPr sz="18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L="1371600" marR="0" lvl="2" indent="-323850" algn="l" rtl="0">
              <a:lnSpc>
                <a:spcPct val="90000"/>
              </a:lnSpc>
              <a:spcBef>
                <a:spcPts val="400"/>
              </a:spcBef>
              <a:spcAft>
                <a:spcPts val="0"/>
              </a:spcAft>
              <a:buClr>
                <a:schemeClr val="dk1"/>
              </a:buClr>
              <a:buSzPts val="1500"/>
              <a:buFont typeface="Arial" panose="020B0604020202020204" pitchFamily="34" charset="0"/>
              <a:buChar char="•"/>
              <a:defRPr sz="15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L="1828800" marR="0" lvl="3" indent="-317500" algn="l" rtl="0">
              <a:lnSpc>
                <a:spcPct val="90000"/>
              </a:lnSpc>
              <a:spcBef>
                <a:spcPts val="400"/>
              </a:spcBef>
              <a:spcAft>
                <a:spcPts val="0"/>
              </a:spcAft>
              <a:buClr>
                <a:schemeClr val="dk1"/>
              </a:buClr>
              <a:buSzPts val="1400"/>
              <a:buFont typeface="Arial" panose="020B0604020202020204" pitchFamily="34" charset="0"/>
              <a:buChar char="•"/>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L="2286000" marR="0" lvl="4" indent="-317500" algn="l" rtl="0">
              <a:lnSpc>
                <a:spcPct val="90000"/>
              </a:lnSpc>
              <a:spcBef>
                <a:spcPts val="400"/>
              </a:spcBef>
              <a:spcAft>
                <a:spcPts val="0"/>
              </a:spcAft>
              <a:buClr>
                <a:schemeClr val="dk1"/>
              </a:buClr>
              <a:buSzPts val="1400"/>
              <a:buFont typeface="Arial" panose="020B0604020202020204" pitchFamily="34" charset="0"/>
              <a:buChar char="•"/>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L="2743200" marR="0" lvl="5" indent="-317500" algn="l" rtl="0">
              <a:lnSpc>
                <a:spcPct val="90000"/>
              </a:lnSpc>
              <a:spcBef>
                <a:spcPts val="400"/>
              </a:spcBef>
              <a:spcAft>
                <a:spcPts val="0"/>
              </a:spcAft>
              <a:buClr>
                <a:schemeClr val="dk1"/>
              </a:buClr>
              <a:buSzPts val="1400"/>
              <a:buFont typeface="Arial" panose="020B0604020202020204" pitchFamily="34" charset="0"/>
              <a:buChar char="•"/>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6pPr>
            <a:lvl7pPr marL="3200400" marR="0" lvl="6" indent="-317500" algn="l" rtl="0">
              <a:lnSpc>
                <a:spcPct val="90000"/>
              </a:lnSpc>
              <a:spcBef>
                <a:spcPts val="400"/>
              </a:spcBef>
              <a:spcAft>
                <a:spcPts val="0"/>
              </a:spcAft>
              <a:buClr>
                <a:schemeClr val="dk1"/>
              </a:buClr>
              <a:buSzPts val="1400"/>
              <a:buFont typeface="Arial" panose="020B0604020202020204" pitchFamily="34" charset="0"/>
              <a:buChar char="•"/>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7pPr>
            <a:lvl8pPr marL="3657600" marR="0" lvl="7" indent="-317500" algn="l" rtl="0">
              <a:lnSpc>
                <a:spcPct val="90000"/>
              </a:lnSpc>
              <a:spcBef>
                <a:spcPts val="400"/>
              </a:spcBef>
              <a:spcAft>
                <a:spcPts val="0"/>
              </a:spcAft>
              <a:buClr>
                <a:schemeClr val="dk1"/>
              </a:buClr>
              <a:buSzPts val="1400"/>
              <a:buFont typeface="Arial" panose="020B0604020202020204" pitchFamily="34" charset="0"/>
              <a:buChar char="•"/>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8pPr>
            <a:lvl9pPr marL="4114800" marR="0" lvl="8" indent="-317500" algn="l" rtl="0">
              <a:lnSpc>
                <a:spcPct val="90000"/>
              </a:lnSpc>
              <a:spcBef>
                <a:spcPts val="400"/>
              </a:spcBef>
              <a:spcAft>
                <a:spcPts val="0"/>
              </a:spcAft>
              <a:buClr>
                <a:schemeClr val="dk1"/>
              </a:buClr>
              <a:buSzPts val="1400"/>
              <a:buFont typeface="Arial" panose="020B0604020202020204" pitchFamily="34" charset="0"/>
              <a:buChar char="•"/>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spcBef>
                <a:spcPts val="0"/>
              </a:spcBef>
              <a:spcAft>
                <a:spcPts val="0"/>
              </a:spcAft>
              <a:buSzPts val="1100"/>
              <a:buNone/>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R="0" lvl="2" algn="l" rtl="0">
              <a:spcBef>
                <a:spcPts val="0"/>
              </a:spcBef>
              <a:spcAft>
                <a:spcPts val="0"/>
              </a:spcAft>
              <a:buSzPts val="1100"/>
              <a:buNone/>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R="0" lvl="3" algn="l" rtl="0">
              <a:spcBef>
                <a:spcPts val="0"/>
              </a:spcBef>
              <a:spcAft>
                <a:spcPts val="0"/>
              </a:spcAft>
              <a:buSzPts val="1100"/>
              <a:buNone/>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R="0" lvl="4" algn="l" rtl="0">
              <a:spcBef>
                <a:spcPts val="0"/>
              </a:spcBef>
              <a:spcAft>
                <a:spcPts val="0"/>
              </a:spcAft>
              <a:buSzPts val="1100"/>
              <a:buNone/>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R="0" lvl="5" algn="l" rtl="0">
              <a:spcBef>
                <a:spcPts val="0"/>
              </a:spcBef>
              <a:spcAft>
                <a:spcPts val="0"/>
              </a:spcAft>
              <a:buSzPts val="1100"/>
              <a:buNone/>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6pPr>
            <a:lvl7pPr marR="0" lvl="6" algn="l" rtl="0">
              <a:spcBef>
                <a:spcPts val="0"/>
              </a:spcBef>
              <a:spcAft>
                <a:spcPts val="0"/>
              </a:spcAft>
              <a:buSzPts val="1100"/>
              <a:buNone/>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7pPr>
            <a:lvl8pPr marR="0" lvl="7" algn="l" rtl="0">
              <a:spcBef>
                <a:spcPts val="0"/>
              </a:spcBef>
              <a:spcAft>
                <a:spcPts val="0"/>
              </a:spcAft>
              <a:buSzPts val="1100"/>
              <a:buNone/>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8pPr>
            <a:lvl9pPr marR="0" lvl="8" algn="l" rtl="0">
              <a:spcBef>
                <a:spcPts val="0"/>
              </a:spcBef>
              <a:spcAft>
                <a:spcPts val="0"/>
              </a:spcAft>
              <a:buSzPts val="1100"/>
              <a:buNone/>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spcBef>
                <a:spcPts val="0"/>
              </a:spcBef>
              <a:spcAft>
                <a:spcPts val="0"/>
              </a:spcAft>
              <a:buSzPts val="1100"/>
              <a:buNone/>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R="0" lvl="2" algn="l" rtl="0">
              <a:spcBef>
                <a:spcPts val="0"/>
              </a:spcBef>
              <a:spcAft>
                <a:spcPts val="0"/>
              </a:spcAft>
              <a:buSzPts val="1100"/>
              <a:buNone/>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R="0" lvl="3" algn="l" rtl="0">
              <a:spcBef>
                <a:spcPts val="0"/>
              </a:spcBef>
              <a:spcAft>
                <a:spcPts val="0"/>
              </a:spcAft>
              <a:buSzPts val="1100"/>
              <a:buNone/>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R="0" lvl="4" algn="l" rtl="0">
              <a:spcBef>
                <a:spcPts val="0"/>
              </a:spcBef>
              <a:spcAft>
                <a:spcPts val="0"/>
              </a:spcAft>
              <a:buSzPts val="1100"/>
              <a:buNone/>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R="0" lvl="5" algn="l" rtl="0">
              <a:spcBef>
                <a:spcPts val="0"/>
              </a:spcBef>
              <a:spcAft>
                <a:spcPts val="0"/>
              </a:spcAft>
              <a:buSzPts val="1100"/>
              <a:buNone/>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6pPr>
            <a:lvl7pPr marR="0" lvl="6" algn="l" rtl="0">
              <a:spcBef>
                <a:spcPts val="0"/>
              </a:spcBef>
              <a:spcAft>
                <a:spcPts val="0"/>
              </a:spcAft>
              <a:buSzPts val="1100"/>
              <a:buNone/>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7pPr>
            <a:lvl8pPr marR="0" lvl="7" algn="l" rtl="0">
              <a:spcBef>
                <a:spcPts val="0"/>
              </a:spcBef>
              <a:spcAft>
                <a:spcPts val="0"/>
              </a:spcAft>
              <a:buSzPts val="1100"/>
              <a:buNone/>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8pPr>
            <a:lvl9pPr marR="0" lvl="8" algn="l" rtl="0">
              <a:spcBef>
                <a:spcPts val="0"/>
              </a:spcBef>
              <a:spcAft>
                <a:spcPts val="0"/>
              </a:spcAft>
              <a:buSzPts val="1100"/>
              <a:buNone/>
              <a:defRPr sz="14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0" marR="0" lvl="1" indent="0" algn="r" rtl="0">
              <a:spcBef>
                <a:spcPts val="0"/>
              </a:spcBef>
              <a:buNone/>
              <a:defRPr sz="900" b="0" i="0" u="none" strike="noStrike" cap="none">
                <a:solidFill>
                  <a:srgbClr val="888888"/>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L="0" marR="0" lvl="2" indent="0" algn="r" rtl="0">
              <a:spcBef>
                <a:spcPts val="0"/>
              </a:spcBef>
              <a:buNone/>
              <a:defRPr sz="900" b="0" i="0" u="none" strike="noStrike" cap="none">
                <a:solidFill>
                  <a:srgbClr val="888888"/>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L="0" marR="0" lvl="3" indent="0" algn="r" rtl="0">
              <a:spcBef>
                <a:spcPts val="0"/>
              </a:spcBef>
              <a:buNone/>
              <a:defRPr sz="900" b="0" i="0" u="none" strike="noStrike" cap="none">
                <a:solidFill>
                  <a:srgbClr val="888888"/>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L="0" marR="0" lvl="4" indent="0" algn="r" rtl="0">
              <a:spcBef>
                <a:spcPts val="0"/>
              </a:spcBef>
              <a:buNone/>
              <a:defRPr sz="900" b="0" i="0" u="none" strike="noStrike" cap="none">
                <a:solidFill>
                  <a:srgbClr val="888888"/>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L="0" marR="0" lvl="5" indent="0" algn="r" rtl="0">
              <a:spcBef>
                <a:spcPts val="0"/>
              </a:spcBef>
              <a:buNone/>
              <a:defRPr sz="900" b="0" i="0" u="none" strike="noStrike" cap="none">
                <a:solidFill>
                  <a:srgbClr val="888888"/>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6pPr>
            <a:lvl7pPr marL="0" marR="0" lvl="6" indent="0" algn="r" rtl="0">
              <a:spcBef>
                <a:spcPts val="0"/>
              </a:spcBef>
              <a:buNone/>
              <a:defRPr sz="900" b="0" i="0" u="none" strike="noStrike" cap="none">
                <a:solidFill>
                  <a:srgbClr val="888888"/>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7pPr>
            <a:lvl8pPr marL="0" marR="0" lvl="7" indent="0" algn="r" rtl="0">
              <a:spcBef>
                <a:spcPts val="0"/>
              </a:spcBef>
              <a:buNone/>
              <a:defRPr sz="900" b="0" i="0" u="none" strike="noStrike" cap="none">
                <a:solidFill>
                  <a:srgbClr val="888888"/>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8pPr>
            <a:lvl9pPr marL="0" marR="0" lvl="8" indent="0" algn="r" rtl="0">
              <a:spcBef>
                <a:spcPts val="0"/>
              </a:spcBef>
              <a:buNone/>
              <a:defRPr sz="900" b="0" i="0" u="none" strike="noStrike" cap="none">
                <a:solidFill>
                  <a:srgbClr val="888888"/>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000"/>
    </mc:Choice>
    <mc:Fallback>
      <p:transition spd="slow"/>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R="0" lvl="2"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R="0" lvl="3"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R="0" lvl="4"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R="0" lvl="5"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6pPr>
      <a:lvl7pPr marR="0" lvl="6"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7pPr>
      <a:lvl8pPr marR="0" lvl="7"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8pPr>
      <a:lvl9pPr marR="0" lvl="8"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R="0" lvl="2"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R="0" lvl="3"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R="0" lvl="4"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R="0" lvl="5"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6pPr>
      <a:lvl7pPr marR="0" lvl="6"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7pPr>
      <a:lvl8pPr marR="0" lvl="7"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8pPr>
      <a:lvl9pPr marR="0" lvl="8"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R="0" lvl="2"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R="0" lvl="3"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R="0" lvl="4"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R="0" lvl="5"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6pPr>
      <a:lvl7pPr marR="0" lvl="6"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7pPr>
      <a:lvl8pPr marR="0" lvl="7"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8pPr>
      <a:lvl9pPr marR="0" lvl="8"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mc:AlternateContent xmlns:mc="http://schemas.openxmlformats.org/markup-compatibility/2006">
    <mc:Choice xmlns:p14="http://schemas.microsoft.com/office/powerpoint/2010/main" Requires="p14">
      <p:transition spd="slow" p14:dur="1000"/>
    </mc:Choice>
    <mc:Fallback>
      <p:transition spd="slow"/>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R="0" lvl="2"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R="0" lvl="3"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R="0" lvl="4"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R="0" lvl="5"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6pPr>
      <a:lvl7pPr marR="0" lvl="6"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7pPr>
      <a:lvl8pPr marR="0" lvl="7"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8pPr>
      <a:lvl9pPr marR="0" lvl="8"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R="0" lvl="2"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R="0" lvl="3"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R="0" lvl="4"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R="0" lvl="5"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6pPr>
      <a:lvl7pPr marR="0" lvl="6"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7pPr>
      <a:lvl8pPr marR="0" lvl="7"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8pPr>
      <a:lvl9pPr marR="0" lvl="8"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R="0" lvl="2"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R="0" lvl="3"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R="0" lvl="4"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R="0" lvl="5"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6pPr>
      <a:lvl7pPr marR="0" lvl="6"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7pPr>
      <a:lvl8pPr marR="0" lvl="7"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8pPr>
      <a:lvl9pPr marR="0" lvl="8"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
        <p:nvSpPr>
          <p:cNvPr id="1" name="AutoShape 1"/>
          <p:cNvSpPr/>
          <p:nvPr>
            <p:ph type="body" sz="quarter" idx="1" hasCustomPrompt="1"/>
          </p:nvPr>
        </p:nvSpPr>
        <p:spPr>
          <a:xfrm>
            <a:off x="838200" y="365125"/>
            <a:ext cx="10515600" cy="1325563"/>
          </a:xfrm>
          <a:prstGeom prst="rect">
            <a:avLst/>
          </a:prstGeom>
          <a:noFill/>
          <a:ln w="12700">
            <a:noFill/>
            <a:prstDash val="solid"/>
          </a:ln>
        </p:spPr>
        <p:txBody>
          <a:bodyPr vert="horz" wrap="square" lIns="91440" tIns="45720" rIns="91440" bIns="45720" anchor="ctr">
            <a:normAutofit/>
          </a:bodyPr>
          <a:lstStyle>
            <a:lvl1pPr algn="l">
              <a:lnSpc>
                <a:spcPct val="92000"/>
              </a:lnSpc>
              <a:defRPr sz="4400" b="1" i="0" u="none" strike="noStrike" spc="0">
                <a:solidFill>
                  <a:srgbClr val="03A9F0">
                    <a:alpha val="100000"/>
                  </a:srgbClr>
                </a:solidFill>
                <a:latin typeface="Noto Sans SC" panose="020B0500000000000000" charset="-122"/>
              </a:defRPr>
            </a:lvl1pPr>
          </a:lstStyle>
          <a:p>
            <a:pPr marL="0" indent="0" algn="l">
              <a:lnSpc>
                <a:spcPct val="92000"/>
              </a:lnSpc>
            </a:pPr>
            <a:r>
              <a:rPr lang="en-US" sz="4400" b="1" i="0" u="none" strike="noStrike">
                <a:solidFill>
                  <a:srgbClr val="03A9F0"/>
                </a:solidFill>
                <a:latin typeface="Songti SC"/>
                <a:ea typeface="Songti SC"/>
                <a:cs typeface="Songti SC"/>
                <a:sym typeface="Songti SC"/>
              </a:rPr>
              <a:t>单击此处编辑母版标题样式</a:t>
            </a:r>
            <a:endParaRPr lang="en-US" sz="4400" b="1" i="0" u="none" strike="noStrike">
              <a:solidFill>
                <a:srgbClr val="03A9F0"/>
              </a:solidFill>
              <a:latin typeface="Songti SC"/>
              <a:ea typeface="Songti SC"/>
              <a:cs typeface="Songti SC"/>
              <a:sym typeface="Songti SC"/>
            </a:endParaRPr>
          </a:p>
        </p:txBody>
      </p:sp>
      <p:sp>
        <p:nvSpPr>
          <p:cNvPr id="2" name="AutoShape 2"/>
          <p:cNvSpPr/>
          <p:nvPr>
            <p:ph type="body" sz="quarter" idx="2" hasCustomPrompt="1"/>
          </p:nvPr>
        </p:nvSpPr>
        <p:spPr>
          <a:xfrm>
            <a:off x="838200" y="1825625"/>
            <a:ext cx="10515600" cy="4351338"/>
          </a:xfrm>
          <a:prstGeom prst="rect">
            <a:avLst/>
          </a:prstGeom>
          <a:noFill/>
          <a:ln w="12700">
            <a:noFill/>
            <a:prstDash val="solid"/>
          </a:ln>
        </p:spPr>
        <p:txBody>
          <a:bodyPr vert="horz" wrap="square" lIns="91440" tIns="45720" rIns="91440" bIns="45720" anchor="t">
            <a:normAutofit/>
          </a:bodyPr>
          <a:lstStyle>
            <a:lvl1pPr marL="584200" indent="-355600" algn="l">
              <a:lnSpc>
                <a:spcPct val="92000"/>
              </a:lnSpc>
              <a:defRPr sz="2800" b="0" i="0" u="none" strike="noStrike" spc="0">
                <a:solidFill>
                  <a:srgbClr val="1F4E79">
                    <a:alpha val="100000"/>
                  </a:srgbClr>
                </a:solidFill>
                <a:latin typeface="Noto Sans SC" panose="020B0500000000000000" charset="-122"/>
              </a:defRPr>
            </a:lvl1pPr>
            <a:lvl2pPr/>
            <a:lvl3pPr/>
            <a:lvl4pPr/>
            <a:lvl5pPr/>
            <a:lvl6pPr/>
            <a:lvl7pPr/>
            <a:lvl8pPr/>
            <a:lvl9pPr/>
          </a:lstStyle>
          <a:p>
            <a:pPr marL="228600" indent="-228600" algn="l">
              <a:lnSpc>
                <a:spcPct val="92000"/>
              </a:lnSpc>
              <a:spcBef>
                <a:spcPts val="1000"/>
              </a:spcBef>
              <a:buClr>
                <a:srgbClr val="1F4E79"/>
              </a:buClr>
              <a:buFont typeface="Arial" panose="020B0604020202020204" pitchFamily="34" charset="0"/>
              <a:buChar char="•"/>
            </a:pPr>
            <a:r>
              <a:rPr lang="en-US" sz="2800" b="0" i="0" u="none" strike="noStrike">
                <a:solidFill>
                  <a:srgbClr val="1F4E79"/>
                </a:solidFill>
                <a:latin typeface="Songti SC"/>
                <a:ea typeface="Songti SC"/>
                <a:cs typeface="Songti SC"/>
                <a:sym typeface="Songti SC"/>
              </a:rPr>
              <a:t>单击此处编辑母版文本样式</a:t>
            </a:r>
            <a:endParaRPr lang="en-US" sz="2800" b="0" i="0" u="none" strike="noStrike">
              <a:solidFill>
                <a:srgbClr val="1F4E79"/>
              </a:solidFill>
              <a:latin typeface="Songti SC"/>
              <a:ea typeface="Songti SC"/>
              <a:cs typeface="Songti SC"/>
              <a:sym typeface="Songti SC"/>
            </a:endParaRPr>
          </a:p>
          <a:p>
            <a:pPr marL="685800" lvl="1" indent="-228600" algn="l">
              <a:lnSpc>
                <a:spcPct val="92000"/>
              </a:lnSpc>
              <a:spcBef>
                <a:spcPts val="500"/>
              </a:spcBef>
              <a:buClr>
                <a:srgbClr val="000000"/>
              </a:buClr>
              <a:buFont typeface="Arial" panose="020B0604020202020204" pitchFamily="34" charset="0"/>
              <a:buChar char="•"/>
            </a:pPr>
            <a:r>
              <a:rPr lang="en-US" sz="2400" b="0" i="0" u="none" strike="noStrike">
                <a:solidFill>
                  <a:srgbClr val="000000"/>
                </a:solidFill>
                <a:latin typeface="Songti SC"/>
                <a:ea typeface="Songti SC"/>
                <a:cs typeface="Songti SC"/>
                <a:sym typeface="Songti SC"/>
              </a:rPr>
              <a:t>第二级</a:t>
            </a:r>
            <a:endParaRPr lang="en-US" sz="2400" b="0" i="0" u="none" strike="noStrike">
              <a:solidFill>
                <a:srgbClr val="000000"/>
              </a:solidFill>
              <a:latin typeface="Songti SC"/>
              <a:ea typeface="Songti SC"/>
              <a:cs typeface="Songti SC"/>
              <a:sym typeface="Songti SC"/>
            </a:endParaRPr>
          </a:p>
          <a:p>
            <a:pPr marL="1143000" lvl="2" indent="-228600" algn="l">
              <a:lnSpc>
                <a:spcPct val="92000"/>
              </a:lnSpc>
              <a:spcBef>
                <a:spcPts val="500"/>
              </a:spcBef>
              <a:buClr>
                <a:srgbClr val="000000"/>
              </a:buClr>
              <a:buFont typeface="Arial" panose="020B0604020202020204" pitchFamily="34" charset="0"/>
              <a:buChar char="•"/>
            </a:pPr>
            <a:r>
              <a:rPr lang="en-US" sz="2000" b="0" i="0" u="none" strike="noStrike">
                <a:solidFill>
                  <a:srgbClr val="000000"/>
                </a:solidFill>
                <a:latin typeface="Songti SC"/>
                <a:ea typeface="Songti SC"/>
                <a:cs typeface="Songti SC"/>
                <a:sym typeface="Songti SC"/>
              </a:rPr>
              <a:t>第三级</a:t>
            </a:r>
            <a:endParaRPr lang="en-US" sz="2000" b="0" i="0" u="none" strike="noStrike">
              <a:solidFill>
                <a:srgbClr val="000000"/>
              </a:solidFill>
              <a:latin typeface="Songti SC"/>
              <a:ea typeface="Songti SC"/>
              <a:cs typeface="Songti SC"/>
              <a:sym typeface="Songti SC"/>
            </a:endParaRPr>
          </a:p>
          <a:p>
            <a:pPr marL="1600200" lvl="3" indent="-228600" algn="l">
              <a:lnSpc>
                <a:spcPct val="92000"/>
              </a:lnSpc>
              <a:spcBef>
                <a:spcPts val="500"/>
              </a:spcBef>
              <a:buClr>
                <a:srgbClr val="000000"/>
              </a:buClr>
              <a:buFont typeface="Arial" panose="020B0604020202020204" pitchFamily="34" charset="0"/>
              <a:buChar char="•"/>
            </a:pPr>
            <a:r>
              <a:rPr lang="en-US" sz="1800" b="0" i="0" u="none" strike="noStrike">
                <a:solidFill>
                  <a:srgbClr val="000000"/>
                </a:solidFill>
                <a:latin typeface="Songti SC"/>
                <a:ea typeface="Songti SC"/>
                <a:cs typeface="Songti SC"/>
                <a:sym typeface="Songti SC"/>
              </a:rPr>
              <a:t>第四级</a:t>
            </a:r>
            <a:endParaRPr lang="en-US" sz="1800" b="0" i="0" u="none" strike="noStrike">
              <a:solidFill>
                <a:srgbClr val="000000"/>
              </a:solidFill>
              <a:latin typeface="Songti SC"/>
              <a:ea typeface="Songti SC"/>
              <a:cs typeface="Songti SC"/>
              <a:sym typeface="Songti SC"/>
            </a:endParaRPr>
          </a:p>
          <a:p>
            <a:pPr marL="2057400" lvl="4" indent="-228600" algn="l">
              <a:lnSpc>
                <a:spcPct val="92000"/>
              </a:lnSpc>
              <a:spcBef>
                <a:spcPts val="500"/>
              </a:spcBef>
              <a:buClr>
                <a:srgbClr val="000000"/>
              </a:buClr>
              <a:buFont typeface="Arial" panose="020B0604020202020204" pitchFamily="34" charset="0"/>
              <a:buChar char="•"/>
            </a:pPr>
            <a:r>
              <a:rPr lang="en-US" sz="1800" b="0" i="0" u="none" strike="noStrike">
                <a:solidFill>
                  <a:srgbClr val="000000"/>
                </a:solidFill>
                <a:latin typeface="Songti SC"/>
                <a:ea typeface="Songti SC"/>
                <a:cs typeface="Songti SC"/>
                <a:sym typeface="Songti SC"/>
              </a:rPr>
              <a:t>第五级</a:t>
            </a:r>
            <a:endParaRPr lang="en-US" sz="1800" b="0" i="0" u="none" strike="noStrike">
              <a:solidFill>
                <a:srgbClr val="000000"/>
              </a:solidFill>
              <a:latin typeface="Songti SC"/>
              <a:ea typeface="Songti SC"/>
              <a:cs typeface="Songti SC"/>
              <a:sym typeface="Songti SC"/>
            </a:endParaRPr>
          </a:p>
        </p:txBody>
      </p:sp>
      <p:sp>
        <p:nvSpPr>
          <p:cNvPr id="3" name="AutoShape 3"/>
          <p:cNvSpPr/>
          <p:nvPr>
            <p:ph type="body" sz="quarter" idx="3" hasCustomPrompt="1"/>
          </p:nvPr>
        </p:nvSpPr>
        <p:spPr>
          <a:xfrm>
            <a:off x="838200" y="6356350"/>
            <a:ext cx="2743200"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200" b="0" i="0" u="none" strike="noStrike" spc="0">
                <a:solidFill>
                  <a:srgbClr val="898989">
                    <a:alpha val="100000"/>
                  </a:srgbClr>
                </a:solidFill>
                <a:latin typeface="Calibri" panose="020F0502020204030204"/>
              </a:defRPr>
            </a:lvl1pPr>
          </a:lstStyle>
          <a:p>
            <a:pPr marL="0" indent="0" algn="l">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2019/4/1</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4"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a:lnSpc>
                <a:spcPct val="100000"/>
              </a:lnSpc>
              <a:defRPr sz="1200" b="0" i="0" u="none" strike="noStrike" spc="0">
                <a:solidFill>
                  <a:srgbClr val="1F2329">
                    <a:alpha val="100000"/>
                  </a:srgbClr>
                </a:solidFill>
                <a:latin typeface="Noto Sans SC" panose="020B0500000000000000" charset="-122"/>
              </a:defRPr>
            </a:lvl1pPr>
          </a:lstStyle>
          <a:p>
            <a:pPr marL="0" indent="0" algn="ctr">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ph type="body" sz="quarter" idx="5" hasCustomPrompt="1"/>
          </p:nvPr>
        </p:nvSpPr>
        <p:spPr>
          <a:xfrm>
            <a:off x="8610600" y="6356350"/>
            <a:ext cx="2743200" cy="365125"/>
          </a:xfrm>
          <a:prstGeom prst="rect">
            <a:avLst/>
          </a:prstGeom>
          <a:noFill/>
          <a:ln w="12700">
            <a:noFill/>
            <a:prstDash val="solid"/>
          </a:ln>
        </p:spPr>
        <p:txBody>
          <a:bodyPr vert="horz" wrap="square" lIns="91440" tIns="45720" rIns="91440" bIns="45720" anchor="ctr">
            <a:noAutofit/>
          </a:bodyPr>
          <a:lstStyle>
            <a:lvl1pPr algn="r">
              <a:lnSpc>
                <a:spcPct val="100000"/>
              </a:lnSpc>
              <a:defRPr sz="1200" b="0" i="0" u="none" strike="noStrike" spc="0">
                <a:solidFill>
                  <a:srgbClr val="898989">
                    <a:alpha val="100000"/>
                  </a:srgbClr>
                </a:solidFill>
                <a:latin typeface="Calibri" panose="020F0502020204030204"/>
              </a:defRPr>
            </a:lvl1pPr>
          </a:lstStyle>
          <a:p>
            <a:pPr marL="0" indent="0" algn="r">
              <a:lnSpc>
                <a:spcPct val="100000"/>
              </a:lnSpc>
            </a:pPr>
            <a:fld id="{4F996508-FDEC-436C-B88F-6392337C51D7}"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1" y="6004875"/>
            <a:ext cx="12191999" cy="707886"/>
          </a:xfrm>
          <a:prstGeom prst="rect">
            <a:avLst/>
          </a:prstGeom>
          <a:noFill/>
          <a:ln w="12700">
            <a:noFill/>
            <a:prstDash val="solid"/>
          </a:ln>
        </p:spPr>
        <p:txBody>
          <a:bodyPr wrap="square" lIns="91440" tIns="45720" rIns="91440" bIns="45720" rtlCol="0" anchor="t">
            <a:spAutoFit/>
          </a:bodyPr>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mc:AlternateContent xmlns:mc="http://schemas.openxmlformats.org/markup-compatibility/2006">
    <mc:Choice xmlns:p14="http://schemas.microsoft.com/office/powerpoint/2010/main" Requires="p14">
      <p:transition spd="slow" p14:dur="1000"/>
    </mc:Choice>
    <mc:Fallback>
      <p:transition spd="slow"/>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R="0" lvl="2"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R="0" lvl="3"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R="0" lvl="4"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R="0" lvl="5"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6pPr>
      <a:lvl7pPr marR="0" lvl="6"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7pPr>
      <a:lvl8pPr marR="0" lvl="7"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8pPr>
      <a:lvl9pPr marR="0" lvl="8"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R="0" lvl="2"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R="0" lvl="3"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R="0" lvl="4"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R="0" lvl="5"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6pPr>
      <a:lvl7pPr marR="0" lvl="6"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7pPr>
      <a:lvl8pPr marR="0" lvl="7"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8pPr>
      <a:lvl9pPr marR="0" lvl="8"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R="0" lvl="1"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2pPr>
      <a:lvl3pPr marR="0" lvl="2"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3pPr>
      <a:lvl4pPr marR="0" lvl="3"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4pPr>
      <a:lvl5pPr marR="0" lvl="4"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5pPr>
      <a:lvl6pPr marR="0" lvl="5"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6pPr>
      <a:lvl7pPr marR="0" lvl="6"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7pPr>
      <a:lvl8pPr marR="0" lvl="7"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8pPr>
      <a:lvl9pPr marR="0" lvl="8" algn="l" rtl="0">
        <a:lnSpc>
          <a:spcPct val="100000"/>
        </a:lnSpc>
        <a:spcBef>
          <a:spcPts val="0"/>
        </a:spcBef>
        <a:spcAft>
          <a:spcPts val="0"/>
        </a:spcAft>
        <a:buClr>
          <a:srgbClr val="000000"/>
        </a:buClr>
        <a:buFont typeface="Arial" panose="020B0604020202020204" pitchFamily="34" charset="0"/>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3" Type="http://schemas.openxmlformats.org/officeDocument/2006/relationships/notesSlide" Target="../notesSlides/notesSlide2.xml"/><Relationship Id="rId12" Type="http://schemas.openxmlformats.org/officeDocument/2006/relationships/slideLayout" Target="../slideLayouts/slideLayout12.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2.xml"/><Relationship Id="rId4" Type="http://schemas.openxmlformats.org/officeDocument/2006/relationships/image" Target="../media/image3.png"/><Relationship Id="rId3" Type="http://schemas.openxmlformats.org/officeDocument/2006/relationships/image" Target="../media/image2.jpeg"/><Relationship Id="rId2" Type="http://schemas.openxmlformats.org/officeDocument/2006/relationships/tags" Target="../tags/tag1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6.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7.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image" Target="../media/image8.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2.xml"/><Relationship Id="rId2" Type="http://schemas.openxmlformats.org/officeDocument/2006/relationships/image" Target="../media/image9.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21.xml"/><Relationship Id="rId8" Type="http://schemas.openxmlformats.org/officeDocument/2006/relationships/slideLayout" Target="../slideLayouts/slideLayout12.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2.xml"/><Relationship Id="rId2" Type="http://schemas.openxmlformats.org/officeDocument/2006/relationships/image" Target="../media/image10.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2.xml"/><Relationship Id="rId2" Type="http://schemas.openxmlformats.org/officeDocument/2006/relationships/image" Target="../media/image11.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2.xml"/><Relationship Id="rId2" Type="http://schemas.openxmlformats.org/officeDocument/2006/relationships/image" Target="../media/image12.jpe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2.xml"/><Relationship Id="rId2" Type="http://schemas.openxmlformats.org/officeDocument/2006/relationships/image" Target="../media/image13.png"/><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12.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5" Type="http://schemas.openxmlformats.org/officeDocument/2006/relationships/notesSlide" Target="../notesSlides/notesSlide31.xml"/><Relationship Id="rId14" Type="http://schemas.openxmlformats.org/officeDocument/2006/relationships/slideLayout" Target="../slideLayouts/slideLayout12.xml"/><Relationship Id="rId13" Type="http://schemas.openxmlformats.org/officeDocument/2006/relationships/tags" Target="../tags/tag32.xml"/><Relationship Id="rId12" Type="http://schemas.openxmlformats.org/officeDocument/2006/relationships/tags" Target="../tags/tag31.xml"/><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AutoShape 4"/>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
        <p:nvSpPr>
          <p:cNvPr id="5" name="AutoShape 5"/>
          <p:cNvSpPr/>
          <p:nvPr/>
        </p:nvSpPr>
        <p:spPr>
          <a:xfrm>
            <a:off x="3683000" y="3810000"/>
            <a:ext cx="4826000" cy="457200"/>
          </a:xfrm>
          <a:prstGeom prst="rect">
            <a:avLst/>
          </a:prstGeom>
          <a:solidFill>
            <a:srgbClr val="404040">
              <a:alpha val="100000"/>
            </a:srgbClr>
          </a:solidFill>
          <a:ln w="12700" cap="flat" cmpd="sng">
            <a:noFill/>
            <a:prstDash val="solid"/>
            <a:round/>
          </a:ln>
        </p:spPr>
        <p:txBody>
          <a:bodyPr vert="horz" wrap="none" lIns="91440" tIns="45720" rIns="91440" bIns="45720" rtlCol="0" anchor="t" anchorCtr="0"/>
          <a:lstStyle/>
          <a:p>
            <a:pPr marL="0" indent="0" algn="ctr">
              <a:lnSpc>
                <a:spcPct val="100000"/>
              </a:lnSpc>
              <a:defRPr/>
            </a:pPr>
            <a:r>
              <a:rPr lang="en-US" sz="20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Eugene A. Nida (1914–2011)</a:t>
            </a:r>
            <a:endParaRPr lang="en-US" sz="1100"/>
          </a:p>
        </p:txBody>
      </p:sp>
      <p:sp>
        <p:nvSpPr>
          <p:cNvPr id="6" name="AutoShape 6"/>
          <p:cNvSpPr/>
          <p:nvPr/>
        </p:nvSpPr>
        <p:spPr>
          <a:xfrm>
            <a:off x="1187450" y="2336800"/>
            <a:ext cx="10011410" cy="1016000"/>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4400" b="1" i="0" u="none" strike="noStrike">
                <a:solidFill>
                  <a:srgbClr val="000000"/>
                </a:solidFill>
                <a:latin typeface="Songti SC"/>
                <a:ea typeface="Songti SC"/>
                <a:cs typeface="Songti SC"/>
                <a:sym typeface="Songti SC"/>
              </a:rPr>
              <a:t>Nida and ‘the Science of Translating’</a:t>
            </a:r>
            <a:endParaRPr lang="zh-CN" altLang="en-US" sz="4400" b="1" i="0" u="none" strike="noStrike">
              <a:solidFill>
                <a:srgbClr val="000000"/>
              </a:solidFill>
              <a:latin typeface="Songti SC"/>
              <a:ea typeface="宋体" panose="02010600030101010101" pitchFamily="2" charset="-122"/>
              <a:cs typeface="Songti SC"/>
              <a:sym typeface="Songti SC"/>
            </a:endParaRPr>
          </a:p>
        </p:txBody>
      </p:sp>
      <p:sp>
        <p:nvSpPr>
          <p:cNvPr id="7" name="文本框 6"/>
          <p:cNvSpPr txBox="1"/>
          <p:nvPr userDrawn="1"/>
        </p:nvSpPr>
        <p:spPr>
          <a:xfrm>
            <a:off x="6243955" y="4666615"/>
            <a:ext cx="5147945" cy="757555"/>
          </a:xfrm>
          <a:prstGeom prst="rect">
            <a:avLst/>
          </a:prstGeom>
        </p:spPr>
        <p:txBody>
          <a:bodyPr wrap="square" rtlCol="0">
            <a:noAutofit/>
          </a:bodyPr>
          <a:p>
            <a:r>
              <a:rPr lang="en-US" altLang="zh-CN" sz="2400" b="1">
                <a:latin typeface="Times New Roman" panose="02020603050405020304" charset="0"/>
                <a:ea typeface="Times New Roman" panose="02020603050405020304" charset="0"/>
                <a:cs typeface="Times New Roman" panose="02020603050405020304" charset="0"/>
              </a:rPr>
              <a:t>Speakers: </a:t>
            </a:r>
            <a:r>
              <a:rPr lang="zh-CN" altLang="en-US" sz="2400" b="1">
                <a:latin typeface="宋体" panose="02010600030101010101" pitchFamily="2" charset="-122"/>
                <a:ea typeface="宋体" panose="02010600030101010101" pitchFamily="2" charset="-122"/>
                <a:cs typeface="Times New Roman" panose="02020603050405020304" charset="0"/>
              </a:rPr>
              <a:t>蒋彬彬</a:t>
            </a:r>
            <a:r>
              <a:rPr lang="en-US" altLang="zh-CN" sz="2400" b="1">
                <a:latin typeface="宋体" panose="02010600030101010101" pitchFamily="2" charset="-122"/>
                <a:ea typeface="宋体" panose="02010600030101010101" pitchFamily="2" charset="-122"/>
                <a:cs typeface="Times New Roman" panose="02020603050405020304" charset="0"/>
              </a:rPr>
              <a:t> 20261210021</a:t>
            </a:r>
            <a:endParaRPr lang="zh-CN" altLang="en-US" sz="2400" b="1">
              <a:latin typeface="宋体" panose="02010600030101010101" pitchFamily="2" charset="-122"/>
              <a:ea typeface="宋体" panose="02010600030101010101" pitchFamily="2" charset="-122"/>
              <a:cs typeface="Times New Roman" panose="02020603050405020304" charset="0"/>
            </a:endParaRPr>
          </a:p>
          <a:p>
            <a:r>
              <a:rPr lang="en-US" altLang="zh-CN" sz="2400" b="1">
                <a:latin typeface="宋体" panose="02010600030101010101" pitchFamily="2" charset="-122"/>
                <a:ea typeface="宋体" panose="02010600030101010101" pitchFamily="2" charset="-122"/>
                <a:cs typeface="Times New Roman" panose="02020603050405020304" charset="0"/>
              </a:rPr>
              <a:t>         </a:t>
            </a:r>
            <a:r>
              <a:rPr lang="zh-CN" altLang="en-US" sz="2400" b="1">
                <a:latin typeface="宋体" panose="02010600030101010101" pitchFamily="2" charset="-122"/>
                <a:ea typeface="宋体" panose="02010600030101010101" pitchFamily="2" charset="-122"/>
                <a:cs typeface="Times New Roman" panose="02020603050405020304" charset="0"/>
              </a:rPr>
              <a:t>夏雨</a:t>
            </a:r>
            <a:r>
              <a:rPr lang="en-US" altLang="zh-CN" sz="2400" b="1">
                <a:latin typeface="宋体" panose="02010600030101010101" pitchFamily="2" charset="-122"/>
                <a:ea typeface="宋体" panose="02010600030101010101" pitchFamily="2" charset="-122"/>
                <a:cs typeface="Times New Roman" panose="02020603050405020304" charset="0"/>
              </a:rPr>
              <a:t>   20261210018</a:t>
            </a:r>
            <a:endParaRPr lang="en-US" altLang="zh-CN" sz="2400" b="1">
              <a:latin typeface="宋体" panose="02010600030101010101" pitchFamily="2" charset="-122"/>
              <a:ea typeface="宋体" panose="02010600030101010101" pitchFamily="2"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AutoShape 4"/>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
        <p:nvSpPr>
          <p:cNvPr id="6" name="AutoShape 6"/>
          <p:cNvSpPr/>
          <p:nvPr>
            <p:custDataLst>
              <p:tags r:id="rId2"/>
            </p:custDataLst>
          </p:nvPr>
        </p:nvSpPr>
        <p:spPr>
          <a:xfrm>
            <a:off x="4407195" y="1384406"/>
            <a:ext cx="1021902" cy="666786"/>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3735" b="0" i="0" u="none" strike="noStrike">
                <a:solidFill>
                  <a:schemeClr val="tx1"/>
                </a:solidFill>
                <a:latin typeface="Impact" panose="020B0806030902050204"/>
                <a:ea typeface="Impact" panose="020B0806030902050204"/>
                <a:cs typeface="Impact" panose="020B0806030902050204"/>
                <a:sym typeface="Impact" panose="020B0806030902050204"/>
              </a:rPr>
              <a:t>01</a:t>
            </a:r>
            <a:endParaRPr lang="en-US" sz="3735" b="0" i="0" u="none" strike="noStrike">
              <a:solidFill>
                <a:schemeClr val="tx1"/>
              </a:solidFill>
              <a:latin typeface="Impact" panose="020B0806030902050204"/>
              <a:ea typeface="Impact" panose="020B0806030902050204"/>
              <a:cs typeface="Impact" panose="020B0806030902050204"/>
              <a:sym typeface="Impact" panose="020B0806030902050204"/>
            </a:endParaRPr>
          </a:p>
        </p:txBody>
      </p:sp>
      <p:sp>
        <p:nvSpPr>
          <p:cNvPr id="8" name="AutoShape 8"/>
          <p:cNvSpPr/>
          <p:nvPr>
            <p:custDataLst>
              <p:tags r:id="rId3"/>
            </p:custDataLst>
          </p:nvPr>
        </p:nvSpPr>
        <p:spPr>
          <a:xfrm>
            <a:off x="4407195" y="2290308"/>
            <a:ext cx="1021902" cy="666115"/>
          </a:xfrm>
          <a:prstGeom prst="rect">
            <a:avLst/>
          </a:prstGeom>
          <a:noFill/>
          <a:ln w="12700">
            <a:noFill/>
            <a:prstDash val="solid"/>
          </a:ln>
        </p:spPr>
        <p:txBody>
          <a:bodyPr wrap="square" lIns="91440" tIns="45720" rIns="91440" bIns="45720" rtlCol="0" anchor="t">
            <a:spAutoFit/>
          </a:bodyPr>
          <a:lstStyle/>
          <a:p>
            <a:pPr marL="0" algn="l">
              <a:lnSpc>
                <a:spcPct val="100000"/>
              </a:lnSpc>
              <a:buSzTx/>
              <a:defRPr/>
            </a:pPr>
            <a:r>
              <a:rPr lang="en-US" sz="3735" b="0" i="0" u="none" strike="noStrike">
                <a:solidFill>
                  <a:schemeClr val="tx1"/>
                </a:solidFill>
                <a:latin typeface="Impact" panose="020B0806030902050204"/>
                <a:ea typeface="Impact" panose="020B0806030902050204"/>
                <a:cs typeface="Impact" panose="020B0806030902050204"/>
                <a:sym typeface="Impact" panose="020B0806030902050204"/>
              </a:rPr>
              <a:t>02</a:t>
            </a:r>
            <a:endParaRPr lang="en-US" sz="3735">
              <a:solidFill>
                <a:schemeClr val="tx1"/>
              </a:solidFill>
              <a:latin typeface="Impact" panose="020B0806030902050204"/>
              <a:ea typeface="Impact" panose="020B0806030902050204"/>
              <a:cs typeface="Impact" panose="020B0806030902050204"/>
            </a:endParaRPr>
          </a:p>
        </p:txBody>
      </p:sp>
      <p:sp>
        <p:nvSpPr>
          <p:cNvPr id="10" name="AutoShape 10"/>
          <p:cNvSpPr/>
          <p:nvPr>
            <p:custDataLst>
              <p:tags r:id="rId4"/>
            </p:custDataLst>
          </p:nvPr>
        </p:nvSpPr>
        <p:spPr>
          <a:xfrm>
            <a:off x="4420273" y="3244237"/>
            <a:ext cx="1021902" cy="666115"/>
          </a:xfrm>
          <a:prstGeom prst="rect">
            <a:avLst/>
          </a:prstGeom>
          <a:noFill/>
          <a:ln w="12700">
            <a:noFill/>
            <a:prstDash val="solid"/>
          </a:ln>
        </p:spPr>
        <p:txBody>
          <a:bodyPr wrap="square" lIns="91440" tIns="45720" rIns="91440" bIns="45720" rtlCol="0" anchor="t">
            <a:spAutoFit/>
          </a:bodyPr>
          <a:lstStyle/>
          <a:p>
            <a:pPr marL="0" algn="l">
              <a:lnSpc>
                <a:spcPct val="100000"/>
              </a:lnSpc>
              <a:buSzTx/>
              <a:defRPr/>
            </a:pPr>
            <a:r>
              <a:rPr lang="en-US" sz="3735" b="0" i="0" u="none" strike="noStrike">
                <a:solidFill>
                  <a:schemeClr val="tx1"/>
                </a:solidFill>
                <a:latin typeface="Impact" panose="020B0806030902050204"/>
                <a:ea typeface="Impact" panose="020B0806030902050204"/>
                <a:cs typeface="Impact" panose="020B0806030902050204"/>
                <a:sym typeface="Impact" panose="020B0806030902050204"/>
              </a:rPr>
              <a:t>03</a:t>
            </a:r>
            <a:endParaRPr lang="en-US" sz="3735">
              <a:solidFill>
                <a:schemeClr val="tx1"/>
              </a:solidFill>
              <a:latin typeface="Impact" panose="020B0806030902050204"/>
              <a:ea typeface="Impact" panose="020B0806030902050204"/>
              <a:cs typeface="Impact" panose="020B0806030902050204"/>
            </a:endParaRPr>
          </a:p>
        </p:txBody>
      </p:sp>
      <p:sp>
        <p:nvSpPr>
          <p:cNvPr id="12" name="AutoShape 12"/>
          <p:cNvSpPr/>
          <p:nvPr>
            <p:custDataLst>
              <p:tags r:id="rId5"/>
            </p:custDataLst>
          </p:nvPr>
        </p:nvSpPr>
        <p:spPr>
          <a:xfrm>
            <a:off x="4420273" y="4170031"/>
            <a:ext cx="1021902" cy="66611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3735" b="0" i="0" u="none" strike="noStrike">
                <a:solidFill>
                  <a:schemeClr val="tx1"/>
                </a:solidFill>
                <a:latin typeface="Impact" panose="020B0806030902050204"/>
                <a:ea typeface="Impact" panose="020B0806030902050204"/>
                <a:cs typeface="Impact" panose="020B0806030902050204"/>
                <a:sym typeface="Impact" panose="020B0806030902050204"/>
              </a:rPr>
              <a:t>04</a:t>
            </a:r>
            <a:endParaRPr lang="en-US" sz="1100"/>
          </a:p>
        </p:txBody>
      </p:sp>
      <p:sp>
        <p:nvSpPr>
          <p:cNvPr id="14" name="AutoShape 14"/>
          <p:cNvSpPr/>
          <p:nvPr>
            <p:custDataLst>
              <p:tags r:id="rId6"/>
            </p:custDataLst>
          </p:nvPr>
        </p:nvSpPr>
        <p:spPr>
          <a:xfrm>
            <a:off x="4420273" y="5095826"/>
            <a:ext cx="1021902" cy="66611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3735" b="0" i="0" u="none" strike="noStrike">
                <a:solidFill>
                  <a:schemeClr val="tx1"/>
                </a:solidFill>
                <a:latin typeface="Impact" panose="020B0806030902050204"/>
                <a:ea typeface="Impact" panose="020B0806030902050204"/>
                <a:cs typeface="Impact" panose="020B0806030902050204"/>
                <a:sym typeface="Impact" panose="020B0806030902050204"/>
              </a:rPr>
              <a:t>05</a:t>
            </a:r>
            <a:endParaRPr lang="en-US" sz="1100"/>
          </a:p>
        </p:txBody>
      </p:sp>
      <p:sp>
        <p:nvSpPr>
          <p:cNvPr id="15" name="AutoShape 15"/>
          <p:cNvSpPr/>
          <p:nvPr>
            <p:custDataLst>
              <p:tags r:id="rId7"/>
            </p:custDataLst>
          </p:nvPr>
        </p:nvSpPr>
        <p:spPr>
          <a:xfrm>
            <a:off x="5429151" y="1384372"/>
            <a:ext cx="5749290" cy="461645"/>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a:lnSpc>
                <a:spcPct val="100000"/>
              </a:lnSpc>
              <a:defRPr/>
            </a:pPr>
            <a:r>
              <a:rPr lang="en-US" sz="28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Introduction </a:t>
            </a:r>
            <a:endParaRPr lang="en-US" sz="2800"/>
          </a:p>
        </p:txBody>
      </p:sp>
      <p:sp>
        <p:nvSpPr>
          <p:cNvPr id="17" name="AutoShape 17"/>
          <p:cNvSpPr/>
          <p:nvPr>
            <p:custDataLst>
              <p:tags r:id="rId8"/>
            </p:custDataLst>
          </p:nvPr>
        </p:nvSpPr>
        <p:spPr>
          <a:xfrm>
            <a:off x="5429151" y="2290275"/>
            <a:ext cx="5749290" cy="461645"/>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a:lnSpc>
                <a:spcPct val="100000"/>
              </a:lnSpc>
              <a:defRPr/>
            </a:pPr>
            <a:r>
              <a:rPr lang="en-US" altLang="zh-CN" sz="2800" b="1">
                <a:solidFill>
                  <a:srgbClr val="404040"/>
                </a:solidFill>
                <a:latin typeface="微软雅黑" panose="020B0503020204020204" charset="-122"/>
                <a:ea typeface="微软雅黑" panose="020B0503020204020204" charset="-122"/>
                <a:cs typeface="微软雅黑" panose="020B0503020204020204" charset="-122"/>
              </a:rPr>
              <a:t>The Influence of Chomsky</a:t>
            </a:r>
            <a:endParaRPr lang="en-US" altLang="zh-CN" sz="2800" b="1">
              <a:solidFill>
                <a:srgbClr val="404040"/>
              </a:solidFill>
              <a:latin typeface="微软雅黑" panose="020B0503020204020204" charset="-122"/>
              <a:ea typeface="微软雅黑" panose="020B0503020204020204" charset="-122"/>
              <a:cs typeface="微软雅黑" panose="020B0503020204020204" charset="-122"/>
            </a:endParaRPr>
          </a:p>
        </p:txBody>
      </p:sp>
      <p:sp>
        <p:nvSpPr>
          <p:cNvPr id="19" name="AutoShape 19"/>
          <p:cNvSpPr/>
          <p:nvPr>
            <p:custDataLst>
              <p:tags r:id="rId9"/>
            </p:custDataLst>
          </p:nvPr>
        </p:nvSpPr>
        <p:spPr>
          <a:xfrm>
            <a:off x="5441315" y="3244215"/>
            <a:ext cx="5749290" cy="461645"/>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a:lnSpc>
                <a:spcPct val="100000"/>
              </a:lnSpc>
              <a:defRPr/>
            </a:pPr>
            <a:r>
              <a:rPr lang="en-US" altLang="zh-CN" sz="28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The Nature of Meaning</a:t>
            </a:r>
            <a:endParaRPr lang="en-US" sz="2800" b="1">
              <a:solidFill>
                <a:srgbClr val="404040"/>
              </a:solidFill>
              <a:latin typeface="微软雅黑" panose="020B0503020204020204" charset="-122"/>
              <a:ea typeface="微软雅黑" panose="020B0503020204020204" charset="-122"/>
              <a:cs typeface="微软雅黑" panose="020B0503020204020204" charset="-122"/>
            </a:endParaRPr>
          </a:p>
        </p:txBody>
      </p:sp>
      <p:sp>
        <p:nvSpPr>
          <p:cNvPr id="21" name="AutoShape 21"/>
          <p:cNvSpPr/>
          <p:nvPr>
            <p:custDataLst>
              <p:tags r:id="rId10"/>
            </p:custDataLst>
          </p:nvPr>
        </p:nvSpPr>
        <p:spPr>
          <a:xfrm>
            <a:off x="5441950" y="4170045"/>
            <a:ext cx="5748655" cy="461645"/>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a:lnSpc>
                <a:spcPct val="100000"/>
              </a:lnSpc>
              <a:defRPr/>
            </a:pPr>
            <a:r>
              <a:rPr lang="en-US" sz="28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Formal vs Dynamic Equivalence</a:t>
            </a:r>
            <a:endParaRPr lang="en-US" sz="2800" b="1">
              <a:solidFill>
                <a:srgbClr val="404040"/>
              </a:solidFill>
              <a:latin typeface="微软雅黑" panose="020B0503020204020204" charset="-122"/>
              <a:ea typeface="微软雅黑" panose="020B0503020204020204" charset="-122"/>
              <a:cs typeface="微软雅黑" panose="020B0503020204020204" charset="-122"/>
            </a:endParaRPr>
          </a:p>
        </p:txBody>
      </p:sp>
      <p:sp>
        <p:nvSpPr>
          <p:cNvPr id="23" name="AutoShape 23"/>
          <p:cNvSpPr/>
          <p:nvPr>
            <p:custDataLst>
              <p:tags r:id="rId11"/>
            </p:custDataLst>
          </p:nvPr>
        </p:nvSpPr>
        <p:spPr>
          <a:xfrm>
            <a:off x="5441950" y="5095875"/>
            <a:ext cx="5748655" cy="461645"/>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a:lnSpc>
                <a:spcPct val="100000"/>
              </a:lnSpc>
              <a:defRPr/>
            </a:pPr>
            <a:r>
              <a:rPr lang="en-US" altLang="zh-CN" sz="28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Critical Reception</a:t>
            </a:r>
            <a:r>
              <a:rPr lang="en-US" sz="28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&amp; Legacy</a:t>
            </a:r>
            <a:endParaRPr lang="en-US" sz="2800" b="1">
              <a:solidFill>
                <a:srgbClr val="404040"/>
              </a:solidFill>
              <a:latin typeface="微软雅黑" panose="020B0503020204020204" charset="-122"/>
              <a:ea typeface="微软雅黑" panose="020B0503020204020204" charset="-122"/>
              <a:cs typeface="微软雅黑" panose="020B0503020204020204" charset="-122"/>
            </a:endParaRPr>
          </a:p>
        </p:txBody>
      </p:sp>
      <p:sp>
        <p:nvSpPr>
          <p:cNvPr id="25" name="AutoShape 25"/>
          <p:cNvSpPr/>
          <p:nvPr/>
        </p:nvSpPr>
        <p:spPr>
          <a:xfrm>
            <a:off x="1029335" y="2383155"/>
            <a:ext cx="2605405" cy="1096010"/>
          </a:xfrm>
          <a:prstGeom prst="rect">
            <a:avLst/>
          </a:prstGeom>
          <a:noFill/>
          <a:ln w="12700">
            <a:noFill/>
            <a:prstDash val="solid"/>
          </a:ln>
        </p:spPr>
        <p:txBody>
          <a:bodyPr wrap="none" lIns="91440" tIns="45720" rIns="91440" bIns="45720" rtlCol="0" anchor="t">
            <a:noAutofit/>
          </a:bodyPr>
          <a:lstStyle/>
          <a:p>
            <a:pPr marL="0" indent="0" algn="ctr">
              <a:lnSpc>
                <a:spcPct val="150000"/>
              </a:lnSpc>
              <a:defRPr/>
            </a:pPr>
            <a:r>
              <a:rPr lang="en-US" sz="5400" b="1" u="none" strike="noStrike">
                <a:solidFill>
                  <a:schemeClr val="tx1"/>
                </a:solidFill>
                <a:effectLst>
                  <a:outerShdw blurRad="38100" dist="19050" dir="2700000" algn="tl" rotWithShape="0">
                    <a:schemeClr val="dk1">
                      <a:alpha val="40000"/>
                    </a:schemeClr>
                  </a:outerShdw>
                </a:effectLst>
                <a:latin typeface="Times New Roman" panose="02020603050405020304" charset="0"/>
                <a:ea typeface="黑体" panose="02010609060101010101" charset="-122"/>
                <a:cs typeface="Times New Roman" panose="02020603050405020304" charset="0"/>
                <a:sym typeface="黑体" panose="02010609060101010101" charset="-122"/>
              </a:rPr>
              <a:t>content</a:t>
            </a:r>
            <a:endParaRPr lang="en-US" sz="5400" b="1" u="none" strike="noStrike">
              <a:solidFill>
                <a:schemeClr val="tx1"/>
              </a:solidFill>
              <a:effectLst>
                <a:outerShdw blurRad="38100" dist="19050" dir="2700000" algn="tl" rotWithShape="0">
                  <a:schemeClr val="dk1">
                    <a:alpha val="40000"/>
                  </a:schemeClr>
                </a:outerShdw>
              </a:effectLst>
              <a:latin typeface="Times New Roman" panose="02020603050405020304" charset="0"/>
              <a:ea typeface="黑体" panose="02010609060101010101" charset="-122"/>
              <a:cs typeface="Times New Roman" panose="02020603050405020304" charset="0"/>
              <a:sym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
        <p:nvSpPr>
          <p:cNvPr id="3" name="AutoShape 3"/>
          <p:cNvSpPr/>
          <p:nvPr/>
        </p:nvSpPr>
        <p:spPr>
          <a:xfrm>
            <a:off x="0" y="2276872"/>
            <a:ext cx="3264363" cy="2688299"/>
          </a:xfrm>
          <a:prstGeom prst="roundRect">
            <a:avLst>
              <a:gd name="adj" fmla="val 0"/>
            </a:avLst>
          </a:prstGeom>
        </p:spPr>
        <p:style>
          <a:lnRef idx="0">
            <a:srgbClr val="FFFFFF"/>
          </a:lnRef>
          <a:fillRef idx="3">
            <a:prstClr val="black"/>
          </a:fillRef>
          <a:effectRef idx="0">
            <a:srgbClr val="FFFFFF"/>
          </a:effectRef>
          <a:fontRef idx="minor">
            <a:schemeClr val="lt1"/>
          </a:fontRef>
        </p:style>
        <p:txBody>
          <a:bodyPr vert="horz" wrap="square" lIns="91440" tIns="45720" rIns="91440" bIns="45720" rtlCol="0" anchor="ctr" anchorCtr="0"/>
          <a:lstStyle/>
          <a:p>
            <a:pPr algn="ctr">
              <a:defRPr/>
            </a:pPr>
            <a:endParaRPr>
              <a:solidFill>
                <a:schemeClr val="tx1"/>
              </a:solidFill>
            </a:endParaRPr>
          </a:p>
        </p:txBody>
      </p:sp>
      <p:sp>
        <p:nvSpPr>
          <p:cNvPr id="15" name="AutoShape 15"/>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16" name="Picture 16"/>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17" name="AutoShape 17"/>
          <p:cNvSpPr/>
          <p:nvPr/>
        </p:nvSpPr>
        <p:spPr>
          <a:xfrm>
            <a:off x="847611" y="2835811"/>
            <a:ext cx="1627369" cy="1569660"/>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sz="9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01</a:t>
            </a:r>
            <a:endParaRPr lang="en-US" sz="1100"/>
          </a:p>
        </p:txBody>
      </p:sp>
      <p:sp>
        <p:nvSpPr>
          <p:cNvPr id="18" name="AutoShape 18"/>
          <p:cNvSpPr/>
          <p:nvPr/>
        </p:nvSpPr>
        <p:spPr>
          <a:xfrm>
            <a:off x="4374889" y="3105813"/>
            <a:ext cx="5262979" cy="646331"/>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sz="3600" b="1" i="0" u="none" strike="noStrike">
                <a:solidFill>
                  <a:srgbClr val="404040"/>
                </a:solidFill>
                <a:latin typeface="Noto Sans SC" panose="020B0500000000000000" charset="-122"/>
                <a:ea typeface="Noto Sans SC" panose="020B0500000000000000" charset="-122"/>
                <a:cs typeface="微软雅黑" panose="020B0503020204020204" charset="-122"/>
                <a:sym typeface="微软雅黑" panose="020B0503020204020204" charset="-122"/>
              </a:rPr>
              <a:t>Introduction </a:t>
            </a:r>
            <a:endParaRPr lang="en-US" sz="3600" b="1" i="0" u="none" strike="noStrike">
              <a:solidFill>
                <a:srgbClr val="404040"/>
              </a:solidFill>
              <a:latin typeface="Noto Sans SC" panose="020B0500000000000000" charset="-122"/>
              <a:ea typeface="Noto Sans SC" panose="020B0500000000000000"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5" name="AutoShape 5"/>
          <p:cNvSpPr/>
          <p:nvPr>
            <p:custDataLst>
              <p:tags r:id="rId2"/>
            </p:custDataLst>
          </p:nvPr>
        </p:nvSpPr>
        <p:spPr>
          <a:xfrm>
            <a:off x="627489" y="1292570"/>
            <a:ext cx="11354668" cy="4028360"/>
          </a:xfrm>
          <a:prstGeom prst="rect">
            <a:avLst/>
          </a:prstGeom>
          <a:noFill/>
          <a:ln w="12700" cap="flat" cmpd="sng">
            <a:noFill/>
            <a:prstDash val="solid"/>
            <a:round/>
          </a:ln>
        </p:spPr>
        <p:txBody>
          <a:bodyPr vert="horz" wrap="square" lIns="68580" tIns="34290" rIns="68580" bIns="34290" rtlCol="0" anchor="t" anchorCtr="0"/>
          <a:lstStyle/>
          <a:p>
            <a:pPr marL="0" indent="0" algn="just">
              <a:lnSpc>
                <a:spcPct val="117000"/>
              </a:lnSpc>
              <a:defRPr/>
            </a:pPr>
            <a:r>
              <a:rPr lang="en-US" sz="2800" kern="1200">
                <a:solidFill>
                  <a:sysClr val="windowText" lastClr="000000"/>
                </a:solidFill>
                <a:latin typeface="Times New Roman" panose="02020603050405020304" charset="0"/>
                <a:cs typeface="Times New Roman" panose="02020603050405020304" charset="0"/>
                <a:sym typeface="Noto Sans SC" panose="020B0500000000000000" charset="-122"/>
              </a:rPr>
              <a:t>Eugene A. Nida </a:t>
            </a:r>
            <a:r>
              <a:rPr lang="en-US" altLang="zh-CN" sz="2800" kern="1200">
                <a:solidFill>
                  <a:sysClr val="windowText" lastClr="000000"/>
                </a:solidFill>
                <a:latin typeface="Times New Roman" panose="02020603050405020304" charset="0"/>
                <a:ea typeface="+mn-ea"/>
                <a:cs typeface="Times New Roman" panose="02020603050405020304" charset="0"/>
                <a:sym typeface="+mn-ea"/>
              </a:rPr>
              <a:t>(1914-2011) </a:t>
            </a:r>
            <a:r>
              <a:rPr lang="en-US" sz="2800" kern="1200">
                <a:solidFill>
                  <a:sysClr val="windowText" lastClr="000000"/>
                </a:solidFill>
                <a:latin typeface="Times New Roman" panose="02020603050405020304" charset="0"/>
                <a:cs typeface="Times New Roman" panose="02020603050405020304" charset="0"/>
                <a:sym typeface="Noto Sans SC" panose="020B0500000000000000" charset="-122"/>
              </a:rPr>
              <a:t> </a:t>
            </a:r>
            <a:r>
              <a:rPr lang="en-US" altLang="zh-CN" sz="2800" kern="1200">
                <a:solidFill>
                  <a:sysClr val="windowText" lastClr="000000"/>
                </a:solidFill>
                <a:latin typeface="Times New Roman" panose="02020603050405020304" charset="0"/>
                <a:ea typeface="+mn-ea"/>
                <a:cs typeface="Times New Roman" panose="02020603050405020304" charset="0"/>
                <a:sym typeface="+mn-ea"/>
              </a:rPr>
              <a:t>was a leading American linguist and translation theorist, widely hailed as the founding father of modern translations science</a:t>
            </a:r>
            <a:r>
              <a:rPr lang="en-US" altLang="zh-CN" sz="2800" kern="1200">
                <a:solidFill>
                  <a:sysClr val="windowText" lastClr="000000"/>
                </a:solidFill>
                <a:latin typeface="Times New Roman" panose="02020603050405020304" charset="0"/>
                <a:cs typeface="Times New Roman" panose="02020603050405020304" charset="0"/>
                <a:sym typeface="+mn-ea"/>
              </a:rPr>
              <a:t>. He d</a:t>
            </a:r>
            <a:r>
              <a:rPr sz="2800" kern="1200">
                <a:solidFill>
                  <a:sysClr val="windowText" lastClr="000000"/>
                </a:solidFill>
                <a:latin typeface="Times New Roman" panose="02020603050405020304" charset="0"/>
                <a:cs typeface="Times New Roman" panose="02020603050405020304" charset="0"/>
                <a:sym typeface="+mn-ea"/>
              </a:rPr>
              <a:t>eveloped his approach through practical Bible translation work from the 1940s onward</a:t>
            </a:r>
            <a:r>
              <a:rPr lang="en-US" altLang="zh-CN" sz="2800" kern="1200">
                <a:solidFill>
                  <a:sysClr val="windowText" lastClr="000000"/>
                </a:solidFill>
                <a:latin typeface="Times New Roman" panose="02020603050405020304" charset="0"/>
                <a:cs typeface="Times New Roman" panose="02020603050405020304" charset="0"/>
                <a:sym typeface="+mn-ea"/>
              </a:rPr>
              <a:t>.</a:t>
            </a:r>
            <a:endParaRPr lang="en-US" altLang="zh-CN" sz="2800" kern="1200">
              <a:solidFill>
                <a:sysClr val="windowText" lastClr="000000"/>
              </a:solidFill>
              <a:latin typeface="Times New Roman" panose="02020603050405020304" charset="0"/>
              <a:cs typeface="Times New Roman" panose="02020603050405020304" charset="0"/>
              <a:sym typeface="+mn-ea"/>
            </a:endParaRPr>
          </a:p>
        </p:txBody>
      </p:sp>
      <p:pic>
        <p:nvPicPr>
          <p:cNvPr id="15" name="图片 14"/>
          <p:cNvPicPr>
            <a:picLocks noChangeAspect="1"/>
          </p:cNvPicPr>
          <p:nvPr/>
        </p:nvPicPr>
        <p:blipFill>
          <a:blip r:embed="rId3"/>
          <a:stretch>
            <a:fillRect/>
          </a:stretch>
        </p:blipFill>
        <p:spPr>
          <a:xfrm>
            <a:off x="6434250" y="3366792"/>
            <a:ext cx="3391676" cy="2638118"/>
          </a:xfrm>
          <a:prstGeom prst="rect">
            <a:avLst/>
          </a:prstGeom>
        </p:spPr>
      </p:pic>
      <p:pic>
        <p:nvPicPr>
          <p:cNvPr id="8" name="图片 7"/>
          <p:cNvPicPr>
            <a:picLocks noChangeAspect="1"/>
          </p:cNvPicPr>
          <p:nvPr/>
        </p:nvPicPr>
        <p:blipFill>
          <a:blip r:embed="rId4"/>
          <a:stretch>
            <a:fillRect/>
          </a:stretch>
        </p:blipFill>
        <p:spPr>
          <a:xfrm>
            <a:off x="1774787" y="3282992"/>
            <a:ext cx="1727960" cy="2916925"/>
          </a:xfrm>
          <a:prstGeom prst="rect">
            <a:avLst/>
          </a:prstGeom>
        </p:spPr>
      </p:pic>
      <p:sp>
        <p:nvSpPr>
          <p:cNvPr id="4" name="AutoShape 4"/>
          <p:cNvSpPr/>
          <p:nvPr/>
        </p:nvSpPr>
        <p:spPr>
          <a:xfrm>
            <a:off x="712470" y="908685"/>
            <a:ext cx="2162175" cy="459105"/>
          </a:xfrm>
          <a:prstGeom prst="rect">
            <a:avLst/>
          </a:prstGeom>
          <a:solidFill>
            <a:srgbClr val="404040">
              <a:alpha val="100000"/>
            </a:srgbClr>
          </a:solidFill>
          <a:ln w="12700" cap="flat" cmpd="sng">
            <a:noFill/>
            <a:prstDash val="solid"/>
            <a:round/>
          </a:ln>
        </p:spPr>
        <p:txBody>
          <a:bodyPr vert="horz" wrap="square" lIns="91440" tIns="45720" rIns="91440" bIns="45720" rtlCol="0" anchor="t" anchorCtr="0"/>
          <a:lstStyle/>
          <a:p>
            <a:pPr marL="0" indent="0" algn="l">
              <a:lnSpc>
                <a:spcPct val="100000"/>
              </a:lnSpc>
              <a:defRPr/>
            </a:pPr>
            <a:r>
              <a:rPr lang="en-US" altLang="zh-CN" sz="2400" b="1">
                <a:solidFill>
                  <a:schemeClr val="bg1"/>
                </a:solidFill>
                <a:latin typeface="Noto Sans SC" panose="020B0500000000000000" charset="-122"/>
                <a:ea typeface="Noto Sans SC" panose="020B0500000000000000" charset="-122"/>
                <a:cs typeface="Noto Sans SC" panose="020B0500000000000000" charset="-122"/>
                <a:sym typeface="+mn-ea"/>
              </a:rPr>
              <a:t>Introduction</a:t>
            </a: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8" name="AutoShape 8"/>
          <p:cNvSpPr/>
          <p:nvPr/>
        </p:nvSpPr>
        <p:spPr>
          <a:xfrm>
            <a:off x="925195" y="1736090"/>
            <a:ext cx="6637655" cy="4373880"/>
          </a:xfrm>
          <a:prstGeom prst="rect">
            <a:avLst/>
          </a:prstGeom>
          <a:noFill/>
          <a:ln w="12700" cap="flat" cmpd="sng">
            <a:noFill/>
            <a:prstDash val="solid"/>
            <a:round/>
          </a:ln>
        </p:spPr>
        <p:txBody>
          <a:bodyPr vert="horz" wrap="square" lIns="91440" tIns="45720" rIns="91440" bIns="45720" rtlCol="0" anchor="t" anchorCtr="0"/>
          <a:lstStyle/>
          <a:p>
            <a:pPr marL="0" marR="0" lvl="0" indent="0" algn="just" rtl="0">
              <a:lnSpc>
                <a:spcPct val="117000"/>
              </a:lnSpc>
              <a:spcBef>
                <a:spcPts val="0"/>
              </a:spcBef>
              <a:spcAft>
                <a:spcPts val="0"/>
              </a:spcAft>
              <a:buClr>
                <a:srgbClr val="000000"/>
              </a:buClr>
              <a:buNone/>
            </a:pPr>
            <a:r>
              <a:rPr lang="en-US" sz="2600" b="1">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1</a:t>
            </a:r>
            <a:r>
              <a:rPr lang="en-US" altLang="zh-CN" sz="2600" b="1">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a:t>
            </a:r>
            <a:r>
              <a:rPr lang="en-US" sz="2600" b="1" i="1">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Toward a Science of Translating</a:t>
            </a:r>
            <a:r>
              <a:rPr lang="en-US" sz="2600" i="1">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 </a:t>
            </a:r>
            <a:r>
              <a:rPr lang="en-US" sz="2600" b="1">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(1964):</a:t>
            </a:r>
            <a:r>
              <a:rPr lang="en-US" sz="2600">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  </a:t>
            </a:r>
            <a:r>
              <a:rPr lang="en-US" altLang="zh-CN" sz="2600">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Nida attempts to move Bible translation into a more scientific era by incorporating recent work in linguistics.</a:t>
            </a:r>
            <a:endParaRPr lang="en-US" altLang="zh-CN" sz="2600">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endParaRPr>
          </a:p>
          <a:p>
            <a:pPr marL="0" marR="0" lvl="0" indent="0" algn="just" rtl="0">
              <a:lnSpc>
                <a:spcPct val="117000"/>
              </a:lnSpc>
              <a:spcBef>
                <a:spcPts val="0"/>
              </a:spcBef>
              <a:spcAft>
                <a:spcPts val="0"/>
              </a:spcAft>
              <a:buClr>
                <a:srgbClr val="000000"/>
              </a:buClr>
              <a:buNone/>
            </a:pPr>
            <a:endParaRPr lang="en-US" sz="2600">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endParaRPr>
          </a:p>
          <a:p>
            <a:pPr marL="0" lvl="0" algn="just" defTabSz="457200" rtl="0">
              <a:lnSpc>
                <a:spcPct val="100000"/>
              </a:lnSpc>
              <a:spcAft>
                <a:spcPts val="1000"/>
              </a:spcAft>
              <a:defRPr sz="1900">
                <a:solidFill>
                  <a:srgbClr val="373E48"/>
                </a:solidFill>
                <a:latin typeface="Aptos"/>
              </a:defRPr>
            </a:pPr>
            <a:r>
              <a:rPr lang="en-US" sz="2600" b="1">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2.</a:t>
            </a:r>
            <a:r>
              <a:rPr lang="en-US" altLang="zh-CN" sz="2600" b="1" i="1">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The </a:t>
            </a:r>
            <a:r>
              <a:rPr lang="en-US" sz="2600" b="1" i="1">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Theory and Practice of Translation</a:t>
            </a:r>
            <a:r>
              <a:rPr lang="en-US" sz="2600" b="1">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 </a:t>
            </a:r>
            <a:r>
              <a:rPr sz="2600" b="1">
                <a:solidFill>
                  <a:srgbClr val="404040"/>
                </a:solidFill>
                <a:latin typeface="Times New Roman" panose="02020603050405020304" charset="0"/>
                <a:ea typeface="Times New Roman" panose="02020603050405020304" charset="0"/>
                <a:cs typeface="Times New Roman" panose="02020603050405020304" charset="0"/>
                <a:sym typeface="+mn-ea"/>
              </a:rPr>
              <a:t>(Nida &amp; Taber, 1969</a:t>
            </a:r>
            <a:r>
              <a:rPr lang="en-US" sz="2600" b="1">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 </a:t>
            </a:r>
            <a:r>
              <a:rPr lang="en-US" sz="2600">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Nida</a:t>
            </a:r>
            <a:r>
              <a:rPr lang="en-US" altLang="zh-CN" sz="2600">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 gives a clear definition of dynamic equivalence.</a:t>
            </a:r>
            <a:endParaRPr lang="en-US" altLang="zh-CN" sz="2600">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endParaRPr>
          </a:p>
        </p:txBody>
      </p:sp>
      <p:pic>
        <p:nvPicPr>
          <p:cNvPr id="6" name="图片 5"/>
          <p:cNvPicPr>
            <a:picLocks noChangeAspect="1"/>
          </p:cNvPicPr>
          <p:nvPr/>
        </p:nvPicPr>
        <p:blipFill>
          <a:blip r:embed="rId2"/>
          <a:stretch>
            <a:fillRect/>
          </a:stretch>
        </p:blipFill>
        <p:spPr>
          <a:xfrm>
            <a:off x="8542166" y="706791"/>
            <a:ext cx="2447925" cy="2755663"/>
          </a:xfrm>
          <a:prstGeom prst="rect">
            <a:avLst/>
          </a:prstGeom>
        </p:spPr>
      </p:pic>
      <p:pic>
        <p:nvPicPr>
          <p:cNvPr id="7" name="图片 6"/>
          <p:cNvPicPr>
            <a:picLocks noChangeAspect="1"/>
          </p:cNvPicPr>
          <p:nvPr/>
        </p:nvPicPr>
        <p:blipFill>
          <a:blip r:embed="rId3"/>
          <a:stretch>
            <a:fillRect/>
          </a:stretch>
        </p:blipFill>
        <p:spPr>
          <a:xfrm>
            <a:off x="8542157" y="3789640"/>
            <a:ext cx="2647950" cy="2809875"/>
          </a:xfrm>
          <a:prstGeom prst="rect">
            <a:avLst/>
          </a:prstGeom>
        </p:spPr>
      </p:pic>
      <p:sp>
        <p:nvSpPr>
          <p:cNvPr id="4" name="AutoShape 4"/>
          <p:cNvSpPr/>
          <p:nvPr/>
        </p:nvSpPr>
        <p:spPr>
          <a:xfrm>
            <a:off x="859155" y="1164590"/>
            <a:ext cx="2059305" cy="447040"/>
          </a:xfrm>
          <a:prstGeom prst="rect">
            <a:avLst/>
          </a:prstGeom>
          <a:solidFill>
            <a:srgbClr val="404040">
              <a:alpha val="100000"/>
            </a:srgbClr>
          </a:solidFill>
          <a:ln w="12700" cap="flat" cmpd="sng">
            <a:noFill/>
            <a:prstDash val="solid"/>
            <a:round/>
          </a:ln>
        </p:spPr>
        <p:txBody>
          <a:bodyPr vert="horz" wrap="square" lIns="91440" tIns="45720" rIns="91440" bIns="45720" rtlCol="0" anchor="t" anchorCtr="0"/>
          <a:lstStyle/>
          <a:p>
            <a:pPr marL="0" indent="0" algn="l">
              <a:lnSpc>
                <a:spcPct val="100000"/>
              </a:lnSpc>
              <a:defRPr/>
            </a:pPr>
            <a:r>
              <a:rPr lang="en-US" altLang="zh-CN" sz="2400" b="1">
                <a:solidFill>
                  <a:schemeClr val="bg1"/>
                </a:solidFill>
                <a:latin typeface="Noto Sans SC" panose="020B0500000000000000" charset="-122"/>
                <a:ea typeface="Noto Sans SC" panose="020B0500000000000000" charset="-122"/>
                <a:cs typeface="Noto Sans SC" panose="020B0500000000000000" charset="-122"/>
                <a:sym typeface="+mn-ea"/>
              </a:rPr>
              <a:t>Major Works</a:t>
            </a: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AutoShape 4"/>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
        <p:nvSpPr>
          <p:cNvPr id="5" name="文本框 4"/>
          <p:cNvSpPr txBox="1"/>
          <p:nvPr userDrawn="1"/>
        </p:nvSpPr>
        <p:spPr>
          <a:xfrm>
            <a:off x="883848" y="2353330"/>
            <a:ext cx="10027740" cy="1995371"/>
          </a:xfrm>
          <a:prstGeom prst="rect">
            <a:avLst/>
          </a:prstGeom>
        </p:spPr>
        <p:txBody>
          <a:bodyPr wrap="square" rtlCol="0">
            <a:noAutofit/>
          </a:bodyPr>
          <a:p>
            <a:pPr marL="514350" indent="-514350" algn="just" defTabSz="457200">
              <a:spcAft>
                <a:spcPts val="1000"/>
              </a:spcAft>
              <a:buFont typeface="Arial" panose="020B0604020202020204" pitchFamily="34" charset="0"/>
              <a:buChar char="•"/>
              <a:defRPr sz="1900">
                <a:solidFill>
                  <a:srgbClr val="373E48"/>
                </a:solidFill>
                <a:latin typeface="Aptos"/>
              </a:defRPr>
            </a:pPr>
            <a:r>
              <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Nida sought a systematic and analytical approach to translation</a:t>
            </a:r>
            <a:r>
              <a:rPr lang="en-US" altLang="zh-CN"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t>
            </a:r>
            <a:endPar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marL="514350" indent="-514350" algn="just" defTabSz="457200">
              <a:spcAft>
                <a:spcPts val="1000"/>
              </a:spcAft>
              <a:buFont typeface="Arial" panose="020B0604020202020204" pitchFamily="34" charset="0"/>
              <a:buChar char="•"/>
              <a:defRPr sz="1900">
                <a:solidFill>
                  <a:srgbClr val="373E48"/>
                </a:solidFill>
                <a:latin typeface="Aptos"/>
              </a:defRPr>
            </a:pPr>
            <a:r>
              <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He drew on linguistics, semantics, pragmatics and syntax</a:t>
            </a:r>
            <a:r>
              <a:rPr lang="en-US" altLang="zh-CN"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t>
            </a:r>
            <a:endPar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marL="514350" indent="-514350" algn="just" defTabSz="457200">
              <a:spcAft>
                <a:spcPts val="1000"/>
              </a:spcAft>
              <a:buFont typeface="Arial" panose="020B0604020202020204" pitchFamily="34" charset="0"/>
              <a:buChar char="•"/>
              <a:defRPr sz="1900">
                <a:solidFill>
                  <a:srgbClr val="373E48"/>
                </a:solidFill>
                <a:latin typeface="Aptos"/>
              </a:defRPr>
            </a:pPr>
            <a:r>
              <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Translation could be analysed through identifiable procedures</a:t>
            </a:r>
            <a:r>
              <a:rPr lang="en-US" altLang="zh-CN"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t>
            </a:r>
            <a:endPar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marL="514350" indent="-514350" algn="just" defTabSz="457200">
              <a:spcAft>
                <a:spcPts val="1000"/>
              </a:spcAft>
              <a:buFont typeface="Arial" panose="020B0604020202020204" pitchFamily="34" charset="0"/>
              <a:buChar char="•"/>
              <a:defRPr sz="1900">
                <a:solidFill>
                  <a:srgbClr val="373E48"/>
                </a:solidFill>
                <a:latin typeface="Aptos"/>
              </a:defRPr>
            </a:pPr>
            <a:r>
              <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The translator’s task involves analysis, transfer and restructuring</a:t>
            </a:r>
            <a:r>
              <a:rPr lang="en-US" altLang="zh-CN"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t>
            </a:r>
            <a:endParaRPr lang="zh-CN" altLang="en-US"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p:txBody>
      </p:sp>
      <p:sp>
        <p:nvSpPr>
          <p:cNvPr id="7" name="AutoShape 4"/>
          <p:cNvSpPr/>
          <p:nvPr/>
        </p:nvSpPr>
        <p:spPr>
          <a:xfrm>
            <a:off x="1113790" y="1409700"/>
            <a:ext cx="7084060" cy="495300"/>
          </a:xfrm>
          <a:prstGeom prst="rect">
            <a:avLst/>
          </a:prstGeom>
          <a:solidFill>
            <a:srgbClr val="404040">
              <a:alpha val="100000"/>
            </a:srgbClr>
          </a:solidFill>
          <a:ln w="12700" cap="flat" cmpd="sng">
            <a:noFill/>
            <a:prstDash val="solid"/>
            <a:round/>
          </a:ln>
        </p:spPr>
        <p:txBody>
          <a:bodyPr vert="horz" wrap="square" lIns="91440" tIns="45720" rIns="91440" bIns="45720" rtlCol="0" anchor="t" anchorCtr="0"/>
          <a:lstStyle/>
          <a:p>
            <a:pPr marL="0" indent="0" algn="l">
              <a:lnSpc>
                <a:spcPct val="100000"/>
              </a:lnSpc>
              <a:defRPr/>
            </a:pPr>
            <a:r>
              <a:rPr lang="en-US" altLang="zh-CN" sz="2400" b="1">
                <a:solidFill>
                  <a:schemeClr val="bg1"/>
                </a:solidFill>
                <a:latin typeface="Noto Sans SC" panose="020B0500000000000000" charset="-122"/>
                <a:ea typeface="Noto Sans SC" panose="020B0500000000000000" charset="-122"/>
                <a:cs typeface="Noto Sans SC" panose="020B0500000000000000" charset="-122"/>
                <a:sym typeface="+mn-ea"/>
              </a:rPr>
              <a:t>Why is it called “ the science of translating</a:t>
            </a:r>
            <a:r>
              <a:rPr lang="en-US" altLang="zh-CN" sz="2400" b="1">
                <a:solidFill>
                  <a:schemeClr val="bg1"/>
                </a:solidFill>
                <a:latin typeface="Noto Sans SC" panose="020B0500000000000000" charset="-122"/>
                <a:ea typeface="Noto Sans SC" panose="020B0500000000000000" charset="-122"/>
                <a:cs typeface="Noto Sans SC" panose="020B0500000000000000" charset="-122"/>
                <a:sym typeface="+mn-ea"/>
              </a:rPr>
              <a:t>”</a:t>
            </a:r>
            <a:r>
              <a:rPr lang="en-US" altLang="zh-CN" sz="2400" b="1">
                <a:solidFill>
                  <a:schemeClr val="bg1"/>
                </a:solidFill>
                <a:latin typeface="Noto Sans SC" panose="020B0500000000000000" charset="-122"/>
                <a:ea typeface="Noto Sans SC" panose="020B0500000000000000" charset="-122"/>
                <a:cs typeface="Noto Sans SC" panose="020B0500000000000000" charset="-122"/>
                <a:sym typeface="+mn-ea"/>
              </a:rPr>
              <a:t>?</a:t>
            </a:r>
            <a:endParaRPr lang="en-US" altLang="zh-CN" sz="2400" b="1">
              <a:solidFill>
                <a:srgbClr val="000000"/>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AutoShape 4"/>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
        <p:nvSpPr>
          <p:cNvPr id="5" name="文本框 4"/>
          <p:cNvSpPr txBox="1"/>
          <p:nvPr userDrawn="1"/>
        </p:nvSpPr>
        <p:spPr>
          <a:xfrm>
            <a:off x="765369" y="1562438"/>
            <a:ext cx="9981369" cy="2654595"/>
          </a:xfrm>
          <a:prstGeom prst="rect">
            <a:avLst/>
          </a:prstGeom>
        </p:spPr>
        <p:txBody>
          <a:bodyPr wrap="square" rtlCol="0">
            <a:noAutofit/>
          </a:bodyPr>
          <a:p>
            <a:pPr algn="l" defTabSz="457200">
              <a:spcAft>
                <a:spcPts val="1000"/>
              </a:spcAft>
              <a:defRPr sz="1900" b="1">
                <a:solidFill>
                  <a:srgbClr val="373E48"/>
                </a:solidFill>
                <a:latin typeface="Aptos"/>
              </a:defRPr>
            </a:pPr>
            <a:r>
              <a:rPr sz="28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Nida incorporates insights from:</a:t>
            </a:r>
            <a:endParaRPr sz="28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a:solidFill>
                  <a:srgbClr val="373E48"/>
                </a:solidFill>
                <a:latin typeface="Aptos"/>
              </a:defRPr>
            </a:pPr>
            <a:r>
              <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Semantics — meaning</a:t>
            </a:r>
            <a:endPar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a:solidFill>
                  <a:srgbClr val="373E48"/>
                </a:solidFill>
                <a:latin typeface="Aptos"/>
              </a:defRPr>
            </a:pPr>
            <a:r>
              <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Pragmatics — meaning in context</a:t>
            </a:r>
            <a:endPar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a:solidFill>
                  <a:srgbClr val="373E48"/>
                </a:solidFill>
                <a:latin typeface="Aptos"/>
              </a:defRPr>
            </a:pPr>
            <a:r>
              <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Chomsky</a:t>
            </a:r>
            <a:r>
              <a:rPr lang="zh-CN" altLang="en-US"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t>
            </a:r>
            <a:r>
              <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s syntactic model</a:t>
            </a:r>
            <a:endPar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a:solidFill>
                  <a:srgbClr val="373E48"/>
                </a:solidFill>
                <a:latin typeface="Aptos"/>
              </a:defRPr>
            </a:pPr>
            <a:r>
              <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Generative-transformational grammar</a:t>
            </a:r>
            <a:endPar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a:solidFill>
                  <a:srgbClr val="373E48"/>
                </a:solidFill>
                <a:latin typeface="Aptos"/>
              </a:defRPr>
            </a:pPr>
            <a:r>
              <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These provide tools for analysing and reformulating messages</a:t>
            </a:r>
            <a:endParaRPr lang="zh-CN" altLang="en-US"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p:txBody>
      </p:sp>
      <p:pic>
        <p:nvPicPr>
          <p:cNvPr id="7" name="图片 6"/>
          <p:cNvPicPr>
            <a:picLocks noChangeAspect="1"/>
          </p:cNvPicPr>
          <p:nvPr/>
        </p:nvPicPr>
        <p:blipFill>
          <a:blip r:embed="rId2"/>
          <a:stretch>
            <a:fillRect/>
          </a:stretch>
        </p:blipFill>
        <p:spPr>
          <a:xfrm>
            <a:off x="1551461" y="4823721"/>
            <a:ext cx="8534400" cy="1085850"/>
          </a:xfrm>
          <a:prstGeom prst="rect">
            <a:avLst/>
          </a:prstGeom>
        </p:spPr>
      </p:pic>
      <p:sp>
        <p:nvSpPr>
          <p:cNvPr id="6" name="AutoShape 4"/>
          <p:cNvSpPr/>
          <p:nvPr/>
        </p:nvSpPr>
        <p:spPr>
          <a:xfrm>
            <a:off x="876300" y="912495"/>
            <a:ext cx="4338955" cy="501650"/>
          </a:xfrm>
          <a:prstGeom prst="rect">
            <a:avLst/>
          </a:prstGeom>
          <a:solidFill>
            <a:srgbClr val="404040">
              <a:alpha val="100000"/>
            </a:srgbClr>
          </a:solidFill>
          <a:ln w="12700" cap="flat" cmpd="sng">
            <a:noFill/>
            <a:prstDash val="solid"/>
            <a:round/>
          </a:ln>
        </p:spPr>
        <p:txBody>
          <a:bodyPr vert="horz" wrap="square" lIns="91440" tIns="45720" rIns="91440" bIns="45720" rtlCol="0" anchor="t" anchorCtr="0"/>
          <a:lstStyle/>
          <a:p>
            <a:pPr marL="0" indent="0" algn="l">
              <a:lnSpc>
                <a:spcPct val="100000"/>
              </a:lnSpc>
              <a:defRPr/>
            </a:pPr>
            <a:r>
              <a:rPr lang="en-US" altLang="zh-CN" sz="2400" b="1">
                <a:solidFill>
                  <a:schemeClr val="bg1"/>
                </a:solidFill>
                <a:latin typeface="Noto Sans SC" panose="020B0500000000000000" charset="-122"/>
                <a:ea typeface="Noto Sans SC" panose="020B0500000000000000" charset="-122"/>
                <a:cs typeface="Noto Sans SC" panose="020B0500000000000000" charset="-122"/>
                <a:sym typeface="+mn-ea"/>
              </a:rPr>
              <a:t>The Linguistic Foundations</a:t>
            </a:r>
            <a:endParaRPr sz="2400">
              <a:solidFill>
                <a:srgbClr val="000000"/>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
        <p:nvSpPr>
          <p:cNvPr id="3" name="AutoShape 3"/>
          <p:cNvSpPr/>
          <p:nvPr/>
        </p:nvSpPr>
        <p:spPr>
          <a:xfrm>
            <a:off x="0" y="2276872"/>
            <a:ext cx="3264363" cy="2688299"/>
          </a:xfrm>
          <a:prstGeom prst="roundRect">
            <a:avLst>
              <a:gd name="adj" fmla="val 0"/>
            </a:avLst>
          </a:prstGeom>
          <a:gradFill rotWithShape="1">
            <a:gsLst>
              <a:gs pos="0">
                <a:schemeClr val="phClr">
                  <a:tint val="100000"/>
                  <a:shade val="100000"/>
                  <a:satMod val="130000"/>
                </a:schemeClr>
              </a:gs>
              <a:gs pos="100000">
                <a:schemeClr val="phClr">
                  <a:tint val="50000"/>
                  <a:shade val="100000"/>
                  <a:satMod val="350000"/>
                </a:schemeClr>
              </a:gs>
            </a:gsLst>
            <a:lin ang="16200000" scaled="0"/>
          </a:gradFill>
        </p:spPr>
        <p:style>
          <a:lnRef idx="0">
            <a:srgbClr val="FFFFFF"/>
          </a:lnRef>
          <a:fillRef idx="3">
            <a:prstClr val="black"/>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marL="0" marR="0" lvl="0" indent="0" algn="ctr" rtl="0">
              <a:lnSpc>
                <a:spcPct val="100000"/>
              </a:lnSpc>
              <a:spcBef>
                <a:spcPts val="0"/>
              </a:spcBef>
              <a:spcAft>
                <a:spcPts val="0"/>
              </a:spcAft>
              <a:buClr>
                <a:srgbClr val="000000"/>
              </a:buClr>
              <a:buSzTx/>
              <a:buNone/>
            </a:pPr>
            <a:endParaRPr>
              <a:solidFill>
                <a:schemeClr val="tx1"/>
              </a:solidFill>
            </a:endParaRPr>
          </a:p>
        </p:txBody>
      </p:sp>
      <p:sp>
        <p:nvSpPr>
          <p:cNvPr id="15" name="AutoShape 15"/>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16" name="Picture 16"/>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17" name="AutoShape 17"/>
          <p:cNvSpPr/>
          <p:nvPr/>
        </p:nvSpPr>
        <p:spPr>
          <a:xfrm>
            <a:off x="847611" y="2835811"/>
            <a:ext cx="1627369" cy="1569660"/>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sz="9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a:t>
            </a:r>
            <a:r>
              <a:rPr lang="en-US" altLang="zh-CN" sz="9600" b="0" i="0" u="none" strike="noStrike">
                <a:solidFill>
                  <a:srgbClr val="FFFFFF"/>
                </a:solidFill>
                <a:latin typeface="微软雅黑" panose="020B0503020204020204" charset="-122"/>
                <a:ea typeface="微软雅黑" panose="020B0503020204020204" charset="-122"/>
                <a:sym typeface="微软雅黑" panose="020B0503020204020204" charset="-122"/>
              </a:rPr>
              <a:t>2</a:t>
            </a:r>
            <a:endParaRPr lang="en-US" sz="1100"/>
          </a:p>
        </p:txBody>
      </p:sp>
      <p:sp>
        <p:nvSpPr>
          <p:cNvPr id="18" name="AutoShape 18"/>
          <p:cNvSpPr/>
          <p:nvPr/>
        </p:nvSpPr>
        <p:spPr>
          <a:xfrm>
            <a:off x="4142066" y="3191471"/>
            <a:ext cx="5711825" cy="646430"/>
          </a:xfrm>
          <a:prstGeom prst="rect">
            <a:avLst/>
          </a:prstGeom>
          <a:noFill/>
          <a:ln w="12700" cap="flat" cmpd="sng">
            <a:noFill/>
            <a:prstDash val="solid"/>
            <a:round/>
          </a:ln>
        </p:spPr>
        <p:txBody>
          <a:bodyPr vert="horz" wrap="none" lIns="91440" tIns="45720" rIns="91440" bIns="45720" rtlCol="0" anchor="t" anchorCtr="0"/>
          <a:lstStyle/>
          <a:p>
            <a:pPr marL="0" indent="0" algn="ctr">
              <a:lnSpc>
                <a:spcPct val="100000"/>
              </a:lnSpc>
              <a:defRPr/>
            </a:pPr>
            <a:r>
              <a:rPr lang="en-US" altLang="zh-CN" sz="3600" b="1">
                <a:solidFill>
                  <a:srgbClr val="404040"/>
                </a:solidFill>
                <a:latin typeface="Noto Sans SC" panose="020B0500000000000000" charset="-122"/>
                <a:ea typeface="Noto Sans SC" panose="020B0500000000000000" charset="-122"/>
                <a:cs typeface="微软雅黑" panose="020B0503020204020204" charset="-122"/>
                <a:sym typeface="微软雅黑" panose="020B0503020204020204" charset="-122"/>
              </a:rPr>
              <a:t>T</a:t>
            </a:r>
            <a:r>
              <a:rPr lang="en-US" sz="3600" b="1">
                <a:solidFill>
                  <a:srgbClr val="404040"/>
                </a:solidFill>
                <a:latin typeface="Noto Sans SC" panose="020B0500000000000000" charset="-122"/>
                <a:ea typeface="Noto Sans SC" panose="020B0500000000000000" charset="-122"/>
                <a:cs typeface="微软雅黑" panose="020B0503020204020204" charset="-122"/>
                <a:sym typeface="微软雅黑" panose="020B0503020204020204" charset="-122"/>
              </a:rPr>
              <a:t>he </a:t>
            </a:r>
            <a:r>
              <a:rPr lang="en-US" altLang="zh-CN" sz="3600" b="1">
                <a:solidFill>
                  <a:srgbClr val="404040"/>
                </a:solidFill>
                <a:latin typeface="Noto Sans SC" panose="020B0500000000000000" charset="-122"/>
                <a:ea typeface="Noto Sans SC" panose="020B0500000000000000" charset="-122"/>
                <a:cs typeface="微软雅黑" panose="020B0503020204020204" charset="-122"/>
                <a:sym typeface="微软雅黑" panose="020B0503020204020204" charset="-122"/>
              </a:rPr>
              <a:t>influence of Chomsky</a:t>
            </a:r>
            <a:endParaRPr lang="en-US" sz="3600" b="1">
              <a:solidFill>
                <a:srgbClr val="404040"/>
              </a:solidFill>
              <a:latin typeface="Noto Sans SC" panose="020B0500000000000000" charset="-122"/>
              <a:ea typeface="Noto Sans SC" panose="020B0500000000000000"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文本框 3"/>
          <p:cNvSpPr txBox="1"/>
          <p:nvPr userDrawn="1"/>
        </p:nvSpPr>
        <p:spPr>
          <a:xfrm>
            <a:off x="1025604" y="2241144"/>
            <a:ext cx="9482755" cy="2375712"/>
          </a:xfrm>
          <a:prstGeom prst="rect">
            <a:avLst/>
          </a:prstGeom>
        </p:spPr>
        <p:txBody>
          <a:bodyPr wrap="square" rtlCol="0">
            <a:noAutofit/>
          </a:bodyPr>
          <a:p>
            <a:pPr marL="457200" indent="-457200" algn="l" defTabSz="457200">
              <a:spcAft>
                <a:spcPts val="1000"/>
              </a:spcAft>
              <a:buFont typeface="Arial" panose="020B0604020202020204" pitchFamily="34" charset="0"/>
              <a:buChar char="•"/>
              <a:defRPr sz="1900">
                <a:solidFill>
                  <a:srgbClr val="373E48"/>
                </a:solidFill>
                <a:latin typeface="Aptos"/>
              </a:defRPr>
            </a:pPr>
            <a:r>
              <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Phrase-structure rules → deep / underlying structure</a:t>
            </a:r>
            <a:endPar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marL="457200" indent="-457200" algn="l" defTabSz="457200">
              <a:spcAft>
                <a:spcPts val="1000"/>
              </a:spcAft>
              <a:buFont typeface="Arial" panose="020B0604020202020204" pitchFamily="34" charset="0"/>
              <a:buChar char="•"/>
              <a:defRPr sz="1900">
                <a:solidFill>
                  <a:srgbClr val="373E48"/>
                </a:solidFill>
                <a:latin typeface="Aptos"/>
              </a:defRPr>
            </a:pPr>
            <a:r>
              <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Transformational rules → surface structure</a:t>
            </a:r>
            <a:endPar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marL="457200" indent="-457200" algn="l" defTabSz="457200">
              <a:spcAft>
                <a:spcPts val="1000"/>
              </a:spcAft>
              <a:buFont typeface="Arial" panose="020B0604020202020204" pitchFamily="34" charset="0"/>
              <a:buChar char="•"/>
              <a:defRPr sz="1900">
                <a:solidFill>
                  <a:srgbClr val="373E48"/>
                </a:solidFill>
                <a:latin typeface="Aptos"/>
              </a:defRPr>
            </a:pPr>
            <a:r>
              <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Phonological and morphemic rules → linguistic realization</a:t>
            </a:r>
            <a:endPar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indent="0" algn="l" defTabSz="457200">
              <a:spcAft>
                <a:spcPts val="1000"/>
              </a:spcAft>
              <a:buNone/>
              <a:defRPr sz="1900">
                <a:solidFill>
                  <a:srgbClr val="373E48"/>
                </a:solidFill>
                <a:latin typeface="Aptos"/>
              </a:defRPr>
            </a:pPr>
            <a:endParaRPr lang="zh-CN" altLang="en-US"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p:txBody>
      </p:sp>
      <p:pic>
        <p:nvPicPr>
          <p:cNvPr id="5" name="图片 4"/>
          <p:cNvPicPr>
            <a:picLocks noChangeAspect="1"/>
          </p:cNvPicPr>
          <p:nvPr/>
        </p:nvPicPr>
        <p:blipFill>
          <a:blip r:embed="rId2"/>
          <a:stretch>
            <a:fillRect/>
          </a:stretch>
        </p:blipFill>
        <p:spPr>
          <a:xfrm>
            <a:off x="1056957" y="4416497"/>
            <a:ext cx="8534400" cy="1123950"/>
          </a:xfrm>
          <a:prstGeom prst="rect">
            <a:avLst/>
          </a:prstGeom>
        </p:spPr>
      </p:pic>
      <p:sp>
        <p:nvSpPr>
          <p:cNvPr id="6" name="AutoShape 4"/>
          <p:cNvSpPr/>
          <p:nvPr/>
        </p:nvSpPr>
        <p:spPr>
          <a:xfrm>
            <a:off x="1102995" y="1368425"/>
            <a:ext cx="7329805" cy="464185"/>
          </a:xfrm>
          <a:prstGeom prst="rect">
            <a:avLst/>
          </a:prstGeom>
          <a:solidFill>
            <a:srgbClr val="404040">
              <a:alpha val="100000"/>
            </a:srgbClr>
          </a:solidFill>
          <a:ln w="12700" cap="flat" cmpd="sng">
            <a:noFill/>
            <a:prstDash val="solid"/>
            <a:round/>
          </a:ln>
        </p:spPr>
        <p:txBody>
          <a:bodyPr vert="horz" wrap="square" lIns="91440" tIns="45720" rIns="91440" bIns="45720" rtlCol="0" anchor="t" anchorCtr="0"/>
          <a:lstStyle/>
          <a:p>
            <a:pPr marL="0" indent="0" algn="l">
              <a:lnSpc>
                <a:spcPct val="100000"/>
              </a:lnSpc>
              <a:defRPr/>
            </a:pPr>
            <a:r>
              <a:rPr lang="en-US" altLang="zh-CN" sz="2400" b="1">
                <a:solidFill>
                  <a:schemeClr val="bg1"/>
                </a:solidFill>
                <a:latin typeface="Noto Sans SC" panose="020B0500000000000000" charset="-122"/>
                <a:ea typeface="Noto Sans SC" panose="020B0500000000000000" charset="-122"/>
                <a:cs typeface="Noto Sans SC" panose="020B0500000000000000" charset="-122"/>
                <a:sym typeface="+mn-ea"/>
              </a:rPr>
              <a:t>Chomsky’s Generative-transforational model</a:t>
            </a:r>
            <a:endParaRPr lang="en-US" altLang="zh-CN" sz="2400" b="1">
              <a:solidFill>
                <a:schemeClr val="bg1"/>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AutoShape 4"/>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
        <p:nvSpPr>
          <p:cNvPr id="5" name="文本框 4"/>
          <p:cNvSpPr txBox="1"/>
          <p:nvPr userDrawn="1"/>
        </p:nvSpPr>
        <p:spPr>
          <a:xfrm>
            <a:off x="1946275" y="1536065"/>
            <a:ext cx="309880" cy="306705"/>
          </a:xfrm>
          <a:prstGeom prst="rect">
            <a:avLst/>
          </a:prstGeom>
        </p:spPr>
        <p:txBody>
          <a:bodyPr wrap="none" rtlCol="0">
            <a:spAutoFit/>
          </a:bodyPr>
          <a:p>
            <a:endParaRPr lang="zh-CN" altLang="en-US"/>
          </a:p>
        </p:txBody>
      </p:sp>
      <p:sp>
        <p:nvSpPr>
          <p:cNvPr id="6" name="文本框 5"/>
          <p:cNvSpPr txBox="1"/>
          <p:nvPr userDrawn="1"/>
        </p:nvSpPr>
        <p:spPr>
          <a:xfrm>
            <a:off x="1613323" y="960967"/>
            <a:ext cx="8205884" cy="1254050"/>
          </a:xfrm>
          <a:prstGeom prst="rect">
            <a:avLst/>
          </a:prstGeom>
        </p:spPr>
        <p:txBody>
          <a:bodyPr wrap="square" rtlCol="0">
            <a:noAutofit/>
          </a:bodyPr>
          <a:p>
            <a:pPr algn="l"/>
            <a:r>
              <a:rPr lang="en-US" altLang="zh-CN"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deep structure: Police-Arrest-Criminal</a:t>
            </a:r>
            <a:r>
              <a:rPr lang="en-US" altLang="zh-CN" sz="2400" kern="1200">
                <a:solidFill>
                  <a:sysClr val="windowText" lastClr="000000"/>
                </a:solidFill>
                <a:latin typeface="Calibri" panose="020F0502020204030204"/>
                <a:ea typeface="+mn-ea"/>
                <a:cs typeface="+mn-ea"/>
                <a:sym typeface="+mn-ea"/>
              </a:rPr>
              <a:t> </a:t>
            </a:r>
            <a:r>
              <a:rPr lang="zh-CN" altLang="en-US" sz="2400" kern="1200">
                <a:solidFill>
                  <a:sysClr val="windowText" lastClr="000000"/>
                </a:solidFill>
                <a:latin typeface="Calibri" panose="020F0502020204030204"/>
                <a:ea typeface="+mn-ea"/>
                <a:cs typeface="+mn-ea"/>
                <a:sym typeface="+mn-ea"/>
              </a:rPr>
              <a:t>施事者</a:t>
            </a:r>
            <a:r>
              <a:rPr lang="en-US" altLang="zh-CN" sz="2400" kern="1200">
                <a:solidFill>
                  <a:sysClr val="windowText" lastClr="000000"/>
                </a:solidFill>
                <a:latin typeface="Calibri" panose="020F0502020204030204"/>
                <a:ea typeface="+mn-ea"/>
                <a:cs typeface="+mn-ea"/>
                <a:sym typeface="+mn-ea"/>
              </a:rPr>
              <a:t>-</a:t>
            </a:r>
            <a:r>
              <a:rPr lang="zh-CN" altLang="en-US" sz="2400" kern="1200">
                <a:solidFill>
                  <a:sysClr val="windowText" lastClr="000000"/>
                </a:solidFill>
                <a:latin typeface="Calibri" panose="020F0502020204030204"/>
                <a:ea typeface="+mn-ea"/>
                <a:cs typeface="+mn-ea"/>
                <a:sym typeface="+mn-ea"/>
              </a:rPr>
              <a:t>动作</a:t>
            </a:r>
            <a:r>
              <a:rPr lang="en-US" altLang="zh-CN" sz="2400" kern="1200">
                <a:solidFill>
                  <a:sysClr val="windowText" lastClr="000000"/>
                </a:solidFill>
                <a:latin typeface="Calibri" panose="020F0502020204030204"/>
                <a:ea typeface="+mn-ea"/>
                <a:cs typeface="+mn-ea"/>
                <a:sym typeface="+mn-ea"/>
              </a:rPr>
              <a:t>-</a:t>
            </a:r>
            <a:r>
              <a:rPr lang="zh-CN" altLang="en-US" sz="2400" kern="1200">
                <a:solidFill>
                  <a:sysClr val="windowText" lastClr="000000"/>
                </a:solidFill>
                <a:latin typeface="Calibri" panose="020F0502020204030204"/>
                <a:ea typeface="+mn-ea"/>
                <a:cs typeface="+mn-ea"/>
                <a:sym typeface="+mn-ea"/>
              </a:rPr>
              <a:t>受事者</a:t>
            </a:r>
            <a:endParaRPr lang="en-US" altLang="zh-CN" sz="2000"/>
          </a:p>
          <a:p>
            <a:pPr algn="l"/>
            <a:r>
              <a:rPr lang="en-US" altLang="zh-CN" sz="2400" kern="1200">
                <a:solidFill>
                  <a:sysClr val="windowText" lastClr="000000"/>
                </a:solidFill>
                <a:latin typeface="Calibri" panose="020F0502020204030204"/>
                <a:ea typeface="+mn-ea"/>
                <a:cs typeface="+mn-ea"/>
                <a:sym typeface="+mn-ea"/>
              </a:rPr>
              <a:t>             </a:t>
            </a:r>
            <a:r>
              <a:rPr lang="en-US" altLang="zh-CN" sz="2400" kern="1200">
                <a:solidFill>
                  <a:sysClr val="windowText" lastClr="000000"/>
                </a:solidFill>
                <a:ea typeface="+mn-ea"/>
                <a:sym typeface="+mn-ea"/>
              </a:rPr>
              <a:t>↓</a:t>
            </a:r>
            <a:endParaRPr lang="en-US" altLang="zh-CN" sz="2000"/>
          </a:p>
          <a:p>
            <a:pPr algn="l"/>
            <a:r>
              <a:rPr lang="en-US" altLang="zh-CN"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surface structure: The police arrested the criminal./</a:t>
            </a:r>
            <a:endParaRPr lang="en-US" altLang="zh-CN" sz="2600" kern="1200">
              <a:solidFill>
                <a:sysClr val="windowText" lastClr="000000"/>
              </a:solidFill>
              <a:latin typeface="Times New Roman" panose="02020603050405020304" charset="0"/>
              <a:ea typeface="Times New Roman" panose="02020603050405020304" charset="0"/>
              <a:cs typeface="Times New Roman" panose="02020603050405020304" charset="0"/>
            </a:endParaRPr>
          </a:p>
          <a:p>
            <a:pPr algn="l"/>
            <a:r>
              <a:rPr lang="en-US" altLang="zh-CN"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The criminal was arrested by the police.</a:t>
            </a:r>
            <a:endParaRPr lang="zh-CN" altLang="en-US" sz="2600" kern="1200">
              <a:solidFill>
                <a:sysClr val="windowText" lastClr="000000"/>
              </a:solidFill>
              <a:latin typeface="Times New Roman" panose="02020603050405020304" charset="0"/>
              <a:ea typeface="Times New Roman" panose="02020603050405020304" charset="0"/>
              <a:cs typeface="Times New Roman" panose="02020603050405020304" charset="0"/>
            </a:endParaRPr>
          </a:p>
        </p:txBody>
      </p:sp>
      <p:sp>
        <p:nvSpPr>
          <p:cNvPr id="7" name="文本框 6"/>
          <p:cNvSpPr txBox="1"/>
          <p:nvPr userDrawn="1"/>
        </p:nvSpPr>
        <p:spPr>
          <a:xfrm>
            <a:off x="709824" y="960967"/>
            <a:ext cx="696595" cy="521970"/>
          </a:xfrm>
          <a:prstGeom prst="rect">
            <a:avLst/>
          </a:prstGeom>
        </p:spPr>
        <p:txBody>
          <a:bodyPr wrap="none" rtlCol="0">
            <a:spAutoFit/>
          </a:bodyPr>
          <a:p>
            <a:r>
              <a:rPr lang="en-US" altLang="zh-CN" sz="2800" b="1">
                <a:solidFill>
                  <a:srgbClr val="000000"/>
                </a:solidFill>
                <a:latin typeface="Noto Sans SC" panose="020B0500000000000000" charset="-122"/>
                <a:ea typeface="Noto Sans SC" panose="020B0500000000000000" charset="-122"/>
                <a:cs typeface="Noto Sans SC" panose="020B0500000000000000" charset="-122"/>
              </a:rPr>
              <a:t>eg.</a:t>
            </a:r>
            <a:endParaRPr lang="zh-CN" altLang="en-US" sz="2800" b="1">
              <a:solidFill>
                <a:srgbClr val="000000"/>
              </a:solidFill>
              <a:latin typeface="Noto Sans SC" panose="020B0500000000000000" charset="-122"/>
              <a:ea typeface="Noto Sans SC" panose="020B0500000000000000" charset="-122"/>
              <a:cs typeface="Noto Sans SC" panose="020B0500000000000000" charset="-122"/>
            </a:endParaRPr>
          </a:p>
        </p:txBody>
      </p:sp>
      <p:sp>
        <p:nvSpPr>
          <p:cNvPr id="9" name="文本框 8"/>
          <p:cNvSpPr txBox="1"/>
          <p:nvPr userDrawn="1"/>
        </p:nvSpPr>
        <p:spPr>
          <a:xfrm>
            <a:off x="273233" y="3226514"/>
            <a:ext cx="11721838" cy="2062401"/>
          </a:xfrm>
          <a:prstGeom prst="rect">
            <a:avLst/>
          </a:prstGeom>
        </p:spPr>
        <p:txBody>
          <a:bodyPr wrap="square" rtlCol="0">
            <a:noAutofit/>
          </a:bodyPr>
          <a:p>
            <a:pPr marL="457200" marR="0" lvl="0" indent="-457200" algn="l" rtl="0">
              <a:lnSpc>
                <a:spcPct val="100000"/>
              </a:lnSpc>
              <a:spcBef>
                <a:spcPts val="0"/>
              </a:spcBef>
              <a:spcAft>
                <a:spcPts val="0"/>
              </a:spcAft>
              <a:buClr>
                <a:srgbClr val="000000"/>
              </a:buClr>
              <a:buFont typeface="Arial" panose="020B0604020202020204" pitchFamily="34" charset="0"/>
              <a:buChar char="•"/>
            </a:pPr>
            <a:r>
              <a:rPr lang="en-US" altLang="zh-CN" sz="2600">
                <a:solidFill>
                  <a:srgbClr val="000000"/>
                </a:solidFill>
                <a:latin typeface="Times New Roman" panose="02020603050405020304" charset="0"/>
                <a:ea typeface="Times New Roman" panose="02020603050405020304" charset="0"/>
                <a:cs typeface="Times New Roman" panose="02020603050405020304" charset="0"/>
              </a:rPr>
              <a:t>Kernels are simple, active, declarative sentences, requiring minimal transformation.</a:t>
            </a:r>
            <a:endParaRPr lang="en-US" altLang="zh-CN" sz="2600">
              <a:solidFill>
                <a:srgbClr val="000000"/>
              </a:solidFill>
              <a:latin typeface="Times New Roman" panose="02020603050405020304" charset="0"/>
              <a:ea typeface="Times New Roman" panose="02020603050405020304" charset="0"/>
              <a:cs typeface="Times New Roman" panose="02020603050405020304" charset="0"/>
            </a:endParaRPr>
          </a:p>
          <a:p>
            <a:pPr marL="457200" marR="0" lvl="0" indent="-457200" algn="l" rtl="0">
              <a:lnSpc>
                <a:spcPct val="100000"/>
              </a:lnSpc>
              <a:spcBef>
                <a:spcPts val="0"/>
              </a:spcBef>
              <a:spcAft>
                <a:spcPts val="0"/>
              </a:spcAft>
              <a:buClr>
                <a:srgbClr val="000000"/>
              </a:buClr>
              <a:buFont typeface="Arial" panose="020B0604020202020204" pitchFamily="34" charset="0"/>
              <a:buChar char="•"/>
            </a:pPr>
            <a:r>
              <a:rPr lang="en-US" altLang="zh-CN" sz="2600">
                <a:solidFill>
                  <a:srgbClr val="000000"/>
                </a:solidFill>
                <a:latin typeface="Times New Roman" panose="02020603050405020304" charset="0"/>
                <a:ea typeface="Times New Roman" panose="02020603050405020304" charset="0"/>
                <a:cs typeface="Times New Roman" panose="02020603050405020304" charset="0"/>
              </a:rPr>
              <a:t>Kernels are the basic structural elements from which language constructs complex surface structures. </a:t>
            </a:r>
            <a:endParaRPr lang="en-US" altLang="zh-CN" sz="2600">
              <a:solidFill>
                <a:srgbClr val="000000"/>
              </a:solidFill>
              <a:latin typeface="Times New Roman" panose="02020603050405020304" charset="0"/>
              <a:ea typeface="Times New Roman" panose="02020603050405020304" charset="0"/>
              <a:cs typeface="Times New Roman" panose="02020603050405020304" charset="0"/>
            </a:endParaRPr>
          </a:p>
          <a:p>
            <a:pPr marL="457200" marR="0" lvl="0" indent="-457200" algn="l" rtl="0">
              <a:lnSpc>
                <a:spcPct val="100000"/>
              </a:lnSpc>
              <a:spcBef>
                <a:spcPts val="0"/>
              </a:spcBef>
              <a:spcAft>
                <a:spcPts val="0"/>
              </a:spcAft>
              <a:buClr>
                <a:srgbClr val="000000"/>
              </a:buClr>
              <a:buFont typeface="Arial" panose="020B0604020202020204" pitchFamily="34" charset="0"/>
              <a:buChar char="•"/>
            </a:pPr>
            <a:r>
              <a:rPr lang="en-US" altLang="zh-CN" sz="2600">
                <a:solidFill>
                  <a:srgbClr val="000000"/>
                </a:solidFill>
                <a:latin typeface="Times New Roman" panose="02020603050405020304" charset="0"/>
                <a:ea typeface="Times New Roman" panose="02020603050405020304" charset="0"/>
                <a:cs typeface="Times New Roman" panose="02020603050405020304" charset="0"/>
              </a:rPr>
              <a:t>Different languages share more commonality at the kernel level than at the level of complex surface structures (word order).</a:t>
            </a:r>
            <a:endParaRPr lang="en-US" altLang="zh-CN" sz="2600">
              <a:solidFill>
                <a:srgbClr val="000000"/>
              </a:solidFill>
              <a:latin typeface="Times New Roman" panose="02020603050405020304" charset="0"/>
              <a:ea typeface="Times New Roman" panose="02020603050405020304" charset="0"/>
              <a:cs typeface="Times New Roman" panose="02020603050405020304" charset="0"/>
            </a:endParaRPr>
          </a:p>
        </p:txBody>
      </p:sp>
      <p:sp>
        <p:nvSpPr>
          <p:cNvPr id="11" name="AutoShape 4"/>
          <p:cNvSpPr/>
          <p:nvPr/>
        </p:nvSpPr>
        <p:spPr>
          <a:xfrm>
            <a:off x="709930" y="2540635"/>
            <a:ext cx="2430145" cy="492125"/>
          </a:xfrm>
          <a:prstGeom prst="rect">
            <a:avLst/>
          </a:prstGeom>
          <a:solidFill>
            <a:srgbClr val="404040">
              <a:alpha val="100000"/>
            </a:srgbClr>
          </a:solidFill>
          <a:ln w="12700" cap="flat" cmpd="sng">
            <a:noFill/>
            <a:prstDash val="solid"/>
            <a:round/>
          </a:ln>
        </p:spPr>
        <p:txBody>
          <a:bodyPr vert="horz" wrap="square" lIns="91440" tIns="45720" rIns="91440" bIns="45720" rtlCol="0" anchor="t" anchorCtr="0"/>
          <a:lstStyle/>
          <a:p>
            <a:pPr marL="0" indent="0" algn="l">
              <a:lnSpc>
                <a:spcPct val="100000"/>
              </a:lnSpc>
              <a:defRPr/>
            </a:pPr>
            <a:r>
              <a:rPr lang="en-US" altLang="zh-CN" sz="2400" b="1">
                <a:solidFill>
                  <a:schemeClr val="bg1"/>
                </a:solidFill>
                <a:latin typeface="Noto Sans SC" panose="020B0500000000000000" charset="-122"/>
                <a:ea typeface="Noto Sans SC" panose="020B0500000000000000" charset="-122"/>
                <a:cs typeface="Noto Sans SC" panose="020B0500000000000000" charset="-122"/>
                <a:sym typeface="+mn-ea"/>
              </a:rPr>
              <a:t>What is kernel？</a:t>
            </a:r>
            <a:endParaRPr lang="en-US" altLang="zh-CN" sz="2400" b="1">
              <a:solidFill>
                <a:srgbClr val="000000"/>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sz="2400">
              <a:solidFill>
                <a:srgbClr val="000000"/>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p:txBody>
      </p:sp>
      <p:sp>
        <p:nvSpPr>
          <p:cNvPr id="10" name="文本框 9"/>
          <p:cNvSpPr txBox="1"/>
          <p:nvPr userDrawn="1"/>
        </p:nvSpPr>
        <p:spPr>
          <a:xfrm>
            <a:off x="1121357" y="5431155"/>
            <a:ext cx="9466685" cy="573643"/>
          </a:xfrm>
          <a:prstGeom prst="rect">
            <a:avLst/>
          </a:prstGeom>
        </p:spPr>
        <p:txBody>
          <a:bodyPr wrap="square" rtlCol="0">
            <a:noAutofit/>
          </a:bodyPr>
          <a:p>
            <a:pPr algn="l"/>
            <a:r>
              <a:rPr lang="en-US" altLang="zh-CN" sz="2600" b="1" i="1" kern="1200">
                <a:solidFill>
                  <a:sysClr val="windowText" lastClr="000000"/>
                </a:solidFill>
                <a:latin typeface="Times New Roman" panose="02020603050405020304" charset="0"/>
                <a:ea typeface="Times New Roman" panose="02020603050405020304" charset="0"/>
                <a:cs typeface="Times New Roman" panose="02020603050405020304" charset="0"/>
              </a:rPr>
              <a:t>Back Transformation: reducing complex structures to kernels</a:t>
            </a:r>
            <a:endParaRPr lang="en-US" altLang="zh-CN" sz="2600" b="1" i="1" kern="1200">
              <a:solidFill>
                <a:sysClr val="windowText" lastClr="000000"/>
              </a:solidFill>
              <a:latin typeface="Times New Roman" panose="02020603050405020304" charset="0"/>
              <a:ea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1" grpId="0" animBg="1"/>
      <p:bldP spid="11" grpId="1" animBg="1"/>
      <p:bldP spid="10" grpId="0"/>
      <p:bldP spid="10" grpId="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9" name="Freeform 9"/>
          <p:cNvSpPr/>
          <p:nvPr/>
        </p:nvSpPr>
        <p:spPr>
          <a:xfrm>
            <a:off x="1859693" y="2594299"/>
            <a:ext cx="695213" cy="630177"/>
          </a:xfrm>
          <a:custGeom>
            <a:avLst/>
            <a:gdLst/>
            <a:ahLst/>
            <a:cxnLst/>
            <a:rect l="l" t="t" r="r" b="b"/>
            <a:pathLst>
              <a:path w="695213" h="630177">
                <a:moveTo>
                  <a:pt x="272924" y="172872"/>
                </a:moveTo>
                <a:lnTo>
                  <a:pt x="476835" y="353432"/>
                </a:lnTo>
                <a:lnTo>
                  <a:pt x="476835" y="630177"/>
                </a:lnTo>
                <a:lnTo>
                  <a:pt x="416086" y="630177"/>
                </a:lnTo>
                <a:lnTo>
                  <a:pt x="336440" y="630177"/>
                </a:lnTo>
                <a:lnTo>
                  <a:pt x="336440" y="452197"/>
                </a:lnTo>
                <a:lnTo>
                  <a:pt x="210792" y="452197"/>
                </a:lnTo>
                <a:lnTo>
                  <a:pt x="210792" y="630177"/>
                </a:lnTo>
                <a:lnTo>
                  <a:pt x="177698" y="630177"/>
                </a:lnTo>
                <a:lnTo>
                  <a:pt x="70489" y="630177"/>
                </a:lnTo>
                <a:lnTo>
                  <a:pt x="70489" y="480784"/>
                </a:lnTo>
                <a:lnTo>
                  <a:pt x="70489" y="353432"/>
                </a:lnTo>
                <a:lnTo>
                  <a:pt x="272924" y="172872"/>
                </a:lnTo>
                <a:close/>
                <a:moveTo>
                  <a:pt x="273569" y="82517"/>
                </a:moveTo>
                <a:lnTo>
                  <a:pt x="363593" y="162611"/>
                </a:lnTo>
                <a:lnTo>
                  <a:pt x="418418" y="211552"/>
                </a:lnTo>
                <a:lnTo>
                  <a:pt x="541428" y="321321"/>
                </a:lnTo>
                <a:lnTo>
                  <a:pt x="542809" y="322612"/>
                </a:lnTo>
                <a:lnTo>
                  <a:pt x="544007" y="323995"/>
                </a:lnTo>
                <a:lnTo>
                  <a:pt x="545022" y="325562"/>
                </a:lnTo>
                <a:lnTo>
                  <a:pt x="545758" y="327128"/>
                </a:lnTo>
                <a:lnTo>
                  <a:pt x="546404" y="328788"/>
                </a:lnTo>
                <a:lnTo>
                  <a:pt x="546956" y="330354"/>
                </a:lnTo>
                <a:lnTo>
                  <a:pt x="547233" y="332105"/>
                </a:lnTo>
                <a:lnTo>
                  <a:pt x="547324" y="333672"/>
                </a:lnTo>
                <a:lnTo>
                  <a:pt x="547233" y="335424"/>
                </a:lnTo>
                <a:lnTo>
                  <a:pt x="546956" y="337082"/>
                </a:lnTo>
                <a:lnTo>
                  <a:pt x="546404" y="338741"/>
                </a:lnTo>
                <a:lnTo>
                  <a:pt x="545758" y="340308"/>
                </a:lnTo>
                <a:lnTo>
                  <a:pt x="545022" y="341968"/>
                </a:lnTo>
                <a:lnTo>
                  <a:pt x="544007" y="343442"/>
                </a:lnTo>
                <a:lnTo>
                  <a:pt x="542809" y="344917"/>
                </a:lnTo>
                <a:lnTo>
                  <a:pt x="541428" y="346207"/>
                </a:lnTo>
                <a:lnTo>
                  <a:pt x="539953" y="347405"/>
                </a:lnTo>
                <a:lnTo>
                  <a:pt x="538387" y="348511"/>
                </a:lnTo>
                <a:lnTo>
                  <a:pt x="536729" y="349340"/>
                </a:lnTo>
                <a:lnTo>
                  <a:pt x="534977" y="350078"/>
                </a:lnTo>
                <a:lnTo>
                  <a:pt x="533043" y="350630"/>
                </a:lnTo>
                <a:lnTo>
                  <a:pt x="531292" y="351000"/>
                </a:lnTo>
                <a:lnTo>
                  <a:pt x="529358" y="351184"/>
                </a:lnTo>
                <a:lnTo>
                  <a:pt x="527515" y="351276"/>
                </a:lnTo>
                <a:lnTo>
                  <a:pt x="525579" y="351184"/>
                </a:lnTo>
                <a:lnTo>
                  <a:pt x="523737" y="351000"/>
                </a:lnTo>
                <a:lnTo>
                  <a:pt x="521894" y="350630"/>
                </a:lnTo>
                <a:lnTo>
                  <a:pt x="520142" y="350078"/>
                </a:lnTo>
                <a:lnTo>
                  <a:pt x="518300" y="349340"/>
                </a:lnTo>
                <a:lnTo>
                  <a:pt x="516641" y="348511"/>
                </a:lnTo>
                <a:lnTo>
                  <a:pt x="515075" y="347405"/>
                </a:lnTo>
                <a:lnTo>
                  <a:pt x="513601" y="346207"/>
                </a:lnTo>
                <a:lnTo>
                  <a:pt x="273569" y="132287"/>
                </a:lnTo>
                <a:lnTo>
                  <a:pt x="33724" y="346207"/>
                </a:lnTo>
                <a:lnTo>
                  <a:pt x="32250" y="347405"/>
                </a:lnTo>
                <a:lnTo>
                  <a:pt x="30592" y="348511"/>
                </a:lnTo>
                <a:lnTo>
                  <a:pt x="28933" y="349340"/>
                </a:lnTo>
                <a:lnTo>
                  <a:pt x="27182" y="350078"/>
                </a:lnTo>
                <a:lnTo>
                  <a:pt x="25432" y="350539"/>
                </a:lnTo>
                <a:lnTo>
                  <a:pt x="23496" y="351000"/>
                </a:lnTo>
                <a:lnTo>
                  <a:pt x="21745" y="351184"/>
                </a:lnTo>
                <a:lnTo>
                  <a:pt x="19811" y="351276"/>
                </a:lnTo>
                <a:lnTo>
                  <a:pt x="17784" y="351184"/>
                </a:lnTo>
                <a:lnTo>
                  <a:pt x="16032" y="351000"/>
                </a:lnTo>
                <a:lnTo>
                  <a:pt x="14097" y="350539"/>
                </a:lnTo>
                <a:lnTo>
                  <a:pt x="12347" y="350078"/>
                </a:lnTo>
                <a:lnTo>
                  <a:pt x="10504" y="349340"/>
                </a:lnTo>
                <a:lnTo>
                  <a:pt x="8938" y="348511"/>
                </a:lnTo>
                <a:lnTo>
                  <a:pt x="7280" y="347405"/>
                </a:lnTo>
                <a:lnTo>
                  <a:pt x="5805" y="346207"/>
                </a:lnTo>
                <a:lnTo>
                  <a:pt x="4423" y="344917"/>
                </a:lnTo>
                <a:lnTo>
                  <a:pt x="3225" y="343442"/>
                </a:lnTo>
                <a:lnTo>
                  <a:pt x="2304" y="341968"/>
                </a:lnTo>
                <a:lnTo>
                  <a:pt x="1474" y="340308"/>
                </a:lnTo>
                <a:lnTo>
                  <a:pt x="737" y="338741"/>
                </a:lnTo>
                <a:lnTo>
                  <a:pt x="368" y="337082"/>
                </a:lnTo>
                <a:lnTo>
                  <a:pt x="91" y="335424"/>
                </a:lnTo>
                <a:lnTo>
                  <a:pt x="0" y="333672"/>
                </a:lnTo>
                <a:lnTo>
                  <a:pt x="91" y="332105"/>
                </a:lnTo>
                <a:lnTo>
                  <a:pt x="368" y="330354"/>
                </a:lnTo>
                <a:lnTo>
                  <a:pt x="737" y="328695"/>
                </a:lnTo>
                <a:lnTo>
                  <a:pt x="1474" y="327036"/>
                </a:lnTo>
                <a:lnTo>
                  <a:pt x="2304" y="325562"/>
                </a:lnTo>
                <a:lnTo>
                  <a:pt x="3225" y="323995"/>
                </a:lnTo>
                <a:lnTo>
                  <a:pt x="4423" y="322612"/>
                </a:lnTo>
                <a:lnTo>
                  <a:pt x="5805" y="321321"/>
                </a:lnTo>
                <a:lnTo>
                  <a:pt x="273569" y="82517"/>
                </a:lnTo>
                <a:close/>
                <a:moveTo>
                  <a:pt x="554326" y="63156"/>
                </a:moveTo>
                <a:lnTo>
                  <a:pt x="559943" y="63156"/>
                </a:lnTo>
                <a:lnTo>
                  <a:pt x="565560" y="63340"/>
                </a:lnTo>
                <a:lnTo>
                  <a:pt x="571177" y="63708"/>
                </a:lnTo>
                <a:lnTo>
                  <a:pt x="576610" y="64168"/>
                </a:lnTo>
                <a:lnTo>
                  <a:pt x="582135" y="64720"/>
                </a:lnTo>
                <a:lnTo>
                  <a:pt x="587475" y="65549"/>
                </a:lnTo>
                <a:lnTo>
                  <a:pt x="592908" y="66377"/>
                </a:lnTo>
                <a:lnTo>
                  <a:pt x="598250" y="67297"/>
                </a:lnTo>
                <a:lnTo>
                  <a:pt x="603406" y="68401"/>
                </a:lnTo>
                <a:lnTo>
                  <a:pt x="608655" y="69597"/>
                </a:lnTo>
                <a:lnTo>
                  <a:pt x="613627" y="70794"/>
                </a:lnTo>
                <a:lnTo>
                  <a:pt x="618692" y="72174"/>
                </a:lnTo>
                <a:lnTo>
                  <a:pt x="623480" y="73462"/>
                </a:lnTo>
                <a:lnTo>
                  <a:pt x="628176" y="74935"/>
                </a:lnTo>
                <a:lnTo>
                  <a:pt x="632965" y="76407"/>
                </a:lnTo>
                <a:lnTo>
                  <a:pt x="637477" y="77879"/>
                </a:lnTo>
                <a:lnTo>
                  <a:pt x="641805" y="79535"/>
                </a:lnTo>
                <a:lnTo>
                  <a:pt x="646133" y="81008"/>
                </a:lnTo>
                <a:lnTo>
                  <a:pt x="650277" y="82664"/>
                </a:lnTo>
                <a:lnTo>
                  <a:pt x="658104" y="85885"/>
                </a:lnTo>
                <a:lnTo>
                  <a:pt x="665378" y="88922"/>
                </a:lnTo>
                <a:lnTo>
                  <a:pt x="672008" y="91958"/>
                </a:lnTo>
                <a:lnTo>
                  <a:pt x="677902" y="94811"/>
                </a:lnTo>
                <a:lnTo>
                  <a:pt x="682967" y="97479"/>
                </a:lnTo>
                <a:lnTo>
                  <a:pt x="687294" y="99780"/>
                </a:lnTo>
                <a:lnTo>
                  <a:pt x="690701" y="101620"/>
                </a:lnTo>
                <a:lnTo>
                  <a:pt x="693188" y="103092"/>
                </a:lnTo>
                <a:lnTo>
                  <a:pt x="695213" y="104289"/>
                </a:lnTo>
                <a:lnTo>
                  <a:pt x="692727" y="104657"/>
                </a:lnTo>
                <a:lnTo>
                  <a:pt x="690333" y="105117"/>
                </a:lnTo>
                <a:lnTo>
                  <a:pt x="687846" y="105578"/>
                </a:lnTo>
                <a:lnTo>
                  <a:pt x="685361" y="106222"/>
                </a:lnTo>
                <a:lnTo>
                  <a:pt x="682874" y="106865"/>
                </a:lnTo>
                <a:lnTo>
                  <a:pt x="680571" y="107602"/>
                </a:lnTo>
                <a:lnTo>
                  <a:pt x="678086" y="108337"/>
                </a:lnTo>
                <a:lnTo>
                  <a:pt x="675691" y="109074"/>
                </a:lnTo>
                <a:lnTo>
                  <a:pt x="673481" y="110086"/>
                </a:lnTo>
                <a:lnTo>
                  <a:pt x="671087" y="111007"/>
                </a:lnTo>
                <a:lnTo>
                  <a:pt x="668693" y="112019"/>
                </a:lnTo>
                <a:lnTo>
                  <a:pt x="666483" y="113123"/>
                </a:lnTo>
                <a:lnTo>
                  <a:pt x="661880" y="115331"/>
                </a:lnTo>
                <a:lnTo>
                  <a:pt x="657459" y="117815"/>
                </a:lnTo>
                <a:lnTo>
                  <a:pt x="653131" y="120576"/>
                </a:lnTo>
                <a:lnTo>
                  <a:pt x="648711" y="123430"/>
                </a:lnTo>
                <a:lnTo>
                  <a:pt x="644475" y="126374"/>
                </a:lnTo>
                <a:lnTo>
                  <a:pt x="640331" y="129595"/>
                </a:lnTo>
                <a:lnTo>
                  <a:pt x="636280" y="132908"/>
                </a:lnTo>
                <a:lnTo>
                  <a:pt x="632320" y="136404"/>
                </a:lnTo>
                <a:lnTo>
                  <a:pt x="628269" y="139993"/>
                </a:lnTo>
                <a:lnTo>
                  <a:pt x="624493" y="143767"/>
                </a:lnTo>
                <a:lnTo>
                  <a:pt x="620718" y="147631"/>
                </a:lnTo>
                <a:lnTo>
                  <a:pt x="617035" y="151496"/>
                </a:lnTo>
                <a:lnTo>
                  <a:pt x="613443" y="155452"/>
                </a:lnTo>
                <a:lnTo>
                  <a:pt x="609944" y="159502"/>
                </a:lnTo>
                <a:lnTo>
                  <a:pt x="606445" y="163642"/>
                </a:lnTo>
                <a:lnTo>
                  <a:pt x="603131" y="167875"/>
                </a:lnTo>
                <a:lnTo>
                  <a:pt x="599815" y="172108"/>
                </a:lnTo>
                <a:lnTo>
                  <a:pt x="596593" y="176341"/>
                </a:lnTo>
                <a:lnTo>
                  <a:pt x="593461" y="180482"/>
                </a:lnTo>
                <a:lnTo>
                  <a:pt x="590423" y="184807"/>
                </a:lnTo>
                <a:lnTo>
                  <a:pt x="587475" y="189039"/>
                </a:lnTo>
                <a:lnTo>
                  <a:pt x="584713" y="193272"/>
                </a:lnTo>
                <a:lnTo>
                  <a:pt x="579189" y="201647"/>
                </a:lnTo>
                <a:lnTo>
                  <a:pt x="574031" y="209744"/>
                </a:lnTo>
                <a:lnTo>
                  <a:pt x="572466" y="212230"/>
                </a:lnTo>
                <a:lnTo>
                  <a:pt x="570716" y="214621"/>
                </a:lnTo>
                <a:lnTo>
                  <a:pt x="568968" y="216922"/>
                </a:lnTo>
                <a:lnTo>
                  <a:pt x="567125" y="219315"/>
                </a:lnTo>
                <a:lnTo>
                  <a:pt x="565283" y="221431"/>
                </a:lnTo>
                <a:lnTo>
                  <a:pt x="563258" y="223639"/>
                </a:lnTo>
                <a:lnTo>
                  <a:pt x="561232" y="225664"/>
                </a:lnTo>
                <a:lnTo>
                  <a:pt x="559022" y="227688"/>
                </a:lnTo>
                <a:lnTo>
                  <a:pt x="556812" y="229621"/>
                </a:lnTo>
                <a:lnTo>
                  <a:pt x="554603" y="231461"/>
                </a:lnTo>
                <a:lnTo>
                  <a:pt x="552207" y="233302"/>
                </a:lnTo>
                <a:lnTo>
                  <a:pt x="549813" y="234958"/>
                </a:lnTo>
                <a:lnTo>
                  <a:pt x="547420" y="236706"/>
                </a:lnTo>
                <a:lnTo>
                  <a:pt x="544933" y="238271"/>
                </a:lnTo>
                <a:lnTo>
                  <a:pt x="542355" y="239836"/>
                </a:lnTo>
                <a:lnTo>
                  <a:pt x="539685" y="241216"/>
                </a:lnTo>
                <a:lnTo>
                  <a:pt x="537106" y="242688"/>
                </a:lnTo>
                <a:lnTo>
                  <a:pt x="534436" y="243884"/>
                </a:lnTo>
                <a:lnTo>
                  <a:pt x="531674" y="245081"/>
                </a:lnTo>
                <a:lnTo>
                  <a:pt x="528911" y="246369"/>
                </a:lnTo>
                <a:lnTo>
                  <a:pt x="526057" y="247381"/>
                </a:lnTo>
                <a:lnTo>
                  <a:pt x="523293" y="248302"/>
                </a:lnTo>
                <a:lnTo>
                  <a:pt x="520440" y="249314"/>
                </a:lnTo>
                <a:lnTo>
                  <a:pt x="517585" y="250142"/>
                </a:lnTo>
                <a:lnTo>
                  <a:pt x="514638" y="250878"/>
                </a:lnTo>
                <a:lnTo>
                  <a:pt x="511692" y="251522"/>
                </a:lnTo>
                <a:lnTo>
                  <a:pt x="508744" y="252166"/>
                </a:lnTo>
                <a:lnTo>
                  <a:pt x="505706" y="252719"/>
                </a:lnTo>
                <a:lnTo>
                  <a:pt x="502851" y="253178"/>
                </a:lnTo>
                <a:lnTo>
                  <a:pt x="499812" y="253547"/>
                </a:lnTo>
                <a:lnTo>
                  <a:pt x="496773" y="253822"/>
                </a:lnTo>
                <a:lnTo>
                  <a:pt x="493827" y="254006"/>
                </a:lnTo>
                <a:lnTo>
                  <a:pt x="449443" y="214437"/>
                </a:lnTo>
                <a:lnTo>
                  <a:pt x="452298" y="209928"/>
                </a:lnTo>
                <a:lnTo>
                  <a:pt x="455244" y="205327"/>
                </a:lnTo>
                <a:lnTo>
                  <a:pt x="458099" y="200726"/>
                </a:lnTo>
                <a:lnTo>
                  <a:pt x="461230" y="196310"/>
                </a:lnTo>
                <a:lnTo>
                  <a:pt x="465926" y="189868"/>
                </a:lnTo>
                <a:lnTo>
                  <a:pt x="470807" y="183519"/>
                </a:lnTo>
                <a:lnTo>
                  <a:pt x="473293" y="180390"/>
                </a:lnTo>
                <a:lnTo>
                  <a:pt x="475872" y="177353"/>
                </a:lnTo>
                <a:lnTo>
                  <a:pt x="478357" y="174409"/>
                </a:lnTo>
                <a:lnTo>
                  <a:pt x="481028" y="171373"/>
                </a:lnTo>
                <a:lnTo>
                  <a:pt x="483790" y="168427"/>
                </a:lnTo>
                <a:lnTo>
                  <a:pt x="486552" y="165482"/>
                </a:lnTo>
                <a:lnTo>
                  <a:pt x="489314" y="162630"/>
                </a:lnTo>
                <a:lnTo>
                  <a:pt x="492078" y="159777"/>
                </a:lnTo>
                <a:lnTo>
                  <a:pt x="494932" y="156925"/>
                </a:lnTo>
                <a:lnTo>
                  <a:pt x="497879" y="154348"/>
                </a:lnTo>
                <a:lnTo>
                  <a:pt x="500917" y="151587"/>
                </a:lnTo>
                <a:lnTo>
                  <a:pt x="503956" y="149010"/>
                </a:lnTo>
                <a:lnTo>
                  <a:pt x="506995" y="146342"/>
                </a:lnTo>
                <a:lnTo>
                  <a:pt x="510126" y="143949"/>
                </a:lnTo>
                <a:lnTo>
                  <a:pt x="513349" y="141465"/>
                </a:lnTo>
                <a:lnTo>
                  <a:pt x="516571" y="139073"/>
                </a:lnTo>
                <a:lnTo>
                  <a:pt x="519794" y="136680"/>
                </a:lnTo>
                <a:lnTo>
                  <a:pt x="523018" y="134471"/>
                </a:lnTo>
                <a:lnTo>
                  <a:pt x="526425" y="132263"/>
                </a:lnTo>
                <a:lnTo>
                  <a:pt x="529831" y="130239"/>
                </a:lnTo>
                <a:lnTo>
                  <a:pt x="533423" y="128123"/>
                </a:lnTo>
                <a:lnTo>
                  <a:pt x="536922" y="126098"/>
                </a:lnTo>
                <a:lnTo>
                  <a:pt x="540422" y="124258"/>
                </a:lnTo>
                <a:lnTo>
                  <a:pt x="544012" y="122417"/>
                </a:lnTo>
                <a:lnTo>
                  <a:pt x="547696" y="120760"/>
                </a:lnTo>
                <a:lnTo>
                  <a:pt x="551379" y="119012"/>
                </a:lnTo>
                <a:lnTo>
                  <a:pt x="555062" y="117448"/>
                </a:lnTo>
                <a:lnTo>
                  <a:pt x="558838" y="115975"/>
                </a:lnTo>
                <a:lnTo>
                  <a:pt x="562614" y="114595"/>
                </a:lnTo>
                <a:lnTo>
                  <a:pt x="566481" y="113307"/>
                </a:lnTo>
                <a:lnTo>
                  <a:pt x="570348" y="112019"/>
                </a:lnTo>
                <a:lnTo>
                  <a:pt x="574308" y="111007"/>
                </a:lnTo>
                <a:lnTo>
                  <a:pt x="578268" y="109995"/>
                </a:lnTo>
                <a:lnTo>
                  <a:pt x="582226" y="108983"/>
                </a:lnTo>
                <a:lnTo>
                  <a:pt x="586186" y="108153"/>
                </a:lnTo>
                <a:lnTo>
                  <a:pt x="590239" y="107418"/>
                </a:lnTo>
                <a:lnTo>
                  <a:pt x="594290" y="106865"/>
                </a:lnTo>
                <a:lnTo>
                  <a:pt x="598433" y="106313"/>
                </a:lnTo>
                <a:lnTo>
                  <a:pt x="602485" y="105762"/>
                </a:lnTo>
                <a:lnTo>
                  <a:pt x="606537" y="105393"/>
                </a:lnTo>
                <a:lnTo>
                  <a:pt x="610681" y="105209"/>
                </a:lnTo>
                <a:lnTo>
                  <a:pt x="614825" y="105025"/>
                </a:lnTo>
                <a:lnTo>
                  <a:pt x="618969" y="104934"/>
                </a:lnTo>
                <a:lnTo>
                  <a:pt x="623112" y="105025"/>
                </a:lnTo>
                <a:lnTo>
                  <a:pt x="619060" y="104473"/>
                </a:lnTo>
                <a:lnTo>
                  <a:pt x="614825" y="104104"/>
                </a:lnTo>
                <a:lnTo>
                  <a:pt x="610681" y="103737"/>
                </a:lnTo>
                <a:lnTo>
                  <a:pt x="606537" y="103553"/>
                </a:lnTo>
                <a:lnTo>
                  <a:pt x="602393" y="103369"/>
                </a:lnTo>
                <a:lnTo>
                  <a:pt x="598250" y="103369"/>
                </a:lnTo>
                <a:lnTo>
                  <a:pt x="594013" y="103369"/>
                </a:lnTo>
                <a:lnTo>
                  <a:pt x="589778" y="103553"/>
                </a:lnTo>
                <a:lnTo>
                  <a:pt x="585634" y="103829"/>
                </a:lnTo>
                <a:lnTo>
                  <a:pt x="581490" y="104197"/>
                </a:lnTo>
                <a:lnTo>
                  <a:pt x="577254" y="104657"/>
                </a:lnTo>
                <a:lnTo>
                  <a:pt x="573110" y="105209"/>
                </a:lnTo>
                <a:lnTo>
                  <a:pt x="568968" y="105853"/>
                </a:lnTo>
                <a:lnTo>
                  <a:pt x="564824" y="106681"/>
                </a:lnTo>
                <a:lnTo>
                  <a:pt x="560680" y="107509"/>
                </a:lnTo>
                <a:lnTo>
                  <a:pt x="556444" y="108521"/>
                </a:lnTo>
                <a:lnTo>
                  <a:pt x="552392" y="109626"/>
                </a:lnTo>
                <a:lnTo>
                  <a:pt x="548340" y="110730"/>
                </a:lnTo>
                <a:lnTo>
                  <a:pt x="544289" y="112019"/>
                </a:lnTo>
                <a:lnTo>
                  <a:pt x="540238" y="113400"/>
                </a:lnTo>
                <a:lnTo>
                  <a:pt x="536185" y="114871"/>
                </a:lnTo>
                <a:lnTo>
                  <a:pt x="532227" y="116436"/>
                </a:lnTo>
                <a:lnTo>
                  <a:pt x="528267" y="118092"/>
                </a:lnTo>
                <a:lnTo>
                  <a:pt x="524398" y="119841"/>
                </a:lnTo>
                <a:lnTo>
                  <a:pt x="520531" y="121589"/>
                </a:lnTo>
                <a:lnTo>
                  <a:pt x="516757" y="123521"/>
                </a:lnTo>
                <a:lnTo>
                  <a:pt x="512797" y="125453"/>
                </a:lnTo>
                <a:lnTo>
                  <a:pt x="509113" y="127479"/>
                </a:lnTo>
                <a:lnTo>
                  <a:pt x="505338" y="129595"/>
                </a:lnTo>
                <a:lnTo>
                  <a:pt x="501747" y="131803"/>
                </a:lnTo>
                <a:lnTo>
                  <a:pt x="498064" y="134104"/>
                </a:lnTo>
                <a:lnTo>
                  <a:pt x="494472" y="136404"/>
                </a:lnTo>
                <a:lnTo>
                  <a:pt x="490973" y="138888"/>
                </a:lnTo>
                <a:lnTo>
                  <a:pt x="487473" y="141374"/>
                </a:lnTo>
                <a:lnTo>
                  <a:pt x="483974" y="143858"/>
                </a:lnTo>
                <a:lnTo>
                  <a:pt x="480567" y="146435"/>
                </a:lnTo>
                <a:lnTo>
                  <a:pt x="477161" y="149103"/>
                </a:lnTo>
                <a:lnTo>
                  <a:pt x="473846" y="151864"/>
                </a:lnTo>
                <a:lnTo>
                  <a:pt x="470530" y="154624"/>
                </a:lnTo>
                <a:lnTo>
                  <a:pt x="467308" y="157477"/>
                </a:lnTo>
                <a:lnTo>
                  <a:pt x="464085" y="160237"/>
                </a:lnTo>
                <a:lnTo>
                  <a:pt x="460954" y="163182"/>
                </a:lnTo>
                <a:lnTo>
                  <a:pt x="457822" y="166126"/>
                </a:lnTo>
                <a:lnTo>
                  <a:pt x="454692" y="169164"/>
                </a:lnTo>
                <a:lnTo>
                  <a:pt x="451745" y="172201"/>
                </a:lnTo>
                <a:lnTo>
                  <a:pt x="448706" y="175329"/>
                </a:lnTo>
                <a:lnTo>
                  <a:pt x="445760" y="178458"/>
                </a:lnTo>
                <a:lnTo>
                  <a:pt x="442905" y="181679"/>
                </a:lnTo>
                <a:lnTo>
                  <a:pt x="439499" y="185452"/>
                </a:lnTo>
                <a:lnTo>
                  <a:pt x="436275" y="189224"/>
                </a:lnTo>
                <a:lnTo>
                  <a:pt x="433052" y="193088"/>
                </a:lnTo>
                <a:lnTo>
                  <a:pt x="429922" y="197046"/>
                </a:lnTo>
                <a:lnTo>
                  <a:pt x="408189" y="177721"/>
                </a:lnTo>
                <a:lnTo>
                  <a:pt x="408374" y="175513"/>
                </a:lnTo>
                <a:lnTo>
                  <a:pt x="408650" y="173304"/>
                </a:lnTo>
                <a:lnTo>
                  <a:pt x="409019" y="171096"/>
                </a:lnTo>
                <a:lnTo>
                  <a:pt x="409478" y="168796"/>
                </a:lnTo>
                <a:lnTo>
                  <a:pt x="409939" y="166494"/>
                </a:lnTo>
                <a:lnTo>
                  <a:pt x="410676" y="164194"/>
                </a:lnTo>
                <a:lnTo>
                  <a:pt x="411321" y="161802"/>
                </a:lnTo>
                <a:lnTo>
                  <a:pt x="412149" y="159409"/>
                </a:lnTo>
                <a:lnTo>
                  <a:pt x="412979" y="156925"/>
                </a:lnTo>
                <a:lnTo>
                  <a:pt x="413899" y="154532"/>
                </a:lnTo>
                <a:lnTo>
                  <a:pt x="415096" y="152048"/>
                </a:lnTo>
                <a:lnTo>
                  <a:pt x="416201" y="149471"/>
                </a:lnTo>
                <a:lnTo>
                  <a:pt x="417491" y="146895"/>
                </a:lnTo>
                <a:lnTo>
                  <a:pt x="418871" y="144410"/>
                </a:lnTo>
                <a:lnTo>
                  <a:pt x="420345" y="141741"/>
                </a:lnTo>
                <a:lnTo>
                  <a:pt x="421911" y="139073"/>
                </a:lnTo>
                <a:lnTo>
                  <a:pt x="424028" y="135668"/>
                </a:lnTo>
                <a:lnTo>
                  <a:pt x="426330" y="132356"/>
                </a:lnTo>
                <a:lnTo>
                  <a:pt x="428540" y="129135"/>
                </a:lnTo>
                <a:lnTo>
                  <a:pt x="430751" y="126006"/>
                </a:lnTo>
                <a:lnTo>
                  <a:pt x="433052" y="122969"/>
                </a:lnTo>
                <a:lnTo>
                  <a:pt x="435355" y="120117"/>
                </a:lnTo>
                <a:lnTo>
                  <a:pt x="437656" y="117264"/>
                </a:lnTo>
                <a:lnTo>
                  <a:pt x="440051" y="114412"/>
                </a:lnTo>
                <a:lnTo>
                  <a:pt x="442537" y="111742"/>
                </a:lnTo>
                <a:lnTo>
                  <a:pt x="444932" y="109074"/>
                </a:lnTo>
                <a:lnTo>
                  <a:pt x="447326" y="106681"/>
                </a:lnTo>
                <a:lnTo>
                  <a:pt x="449811" y="104197"/>
                </a:lnTo>
                <a:lnTo>
                  <a:pt x="452391" y="101804"/>
                </a:lnTo>
                <a:lnTo>
                  <a:pt x="454784" y="99596"/>
                </a:lnTo>
                <a:lnTo>
                  <a:pt x="457363" y="97387"/>
                </a:lnTo>
                <a:lnTo>
                  <a:pt x="459941" y="95272"/>
                </a:lnTo>
                <a:lnTo>
                  <a:pt x="462611" y="93246"/>
                </a:lnTo>
                <a:lnTo>
                  <a:pt x="465190" y="91314"/>
                </a:lnTo>
                <a:lnTo>
                  <a:pt x="467768" y="89474"/>
                </a:lnTo>
                <a:lnTo>
                  <a:pt x="470438" y="87634"/>
                </a:lnTo>
                <a:lnTo>
                  <a:pt x="473108" y="85976"/>
                </a:lnTo>
                <a:lnTo>
                  <a:pt x="475779" y="84229"/>
                </a:lnTo>
                <a:lnTo>
                  <a:pt x="478450" y="82664"/>
                </a:lnTo>
                <a:lnTo>
                  <a:pt x="481119" y="81100"/>
                </a:lnTo>
                <a:lnTo>
                  <a:pt x="483883" y="79719"/>
                </a:lnTo>
                <a:lnTo>
                  <a:pt x="486645" y="78247"/>
                </a:lnTo>
                <a:lnTo>
                  <a:pt x="489407" y="77051"/>
                </a:lnTo>
                <a:lnTo>
                  <a:pt x="492078" y="75855"/>
                </a:lnTo>
                <a:lnTo>
                  <a:pt x="494840" y="74567"/>
                </a:lnTo>
                <a:lnTo>
                  <a:pt x="497695" y="73462"/>
                </a:lnTo>
                <a:lnTo>
                  <a:pt x="500457" y="72450"/>
                </a:lnTo>
                <a:lnTo>
                  <a:pt x="503311" y="71437"/>
                </a:lnTo>
                <a:lnTo>
                  <a:pt x="505982" y="70518"/>
                </a:lnTo>
                <a:lnTo>
                  <a:pt x="508837" y="69689"/>
                </a:lnTo>
                <a:lnTo>
                  <a:pt x="511692" y="68861"/>
                </a:lnTo>
                <a:lnTo>
                  <a:pt x="514546" y="68125"/>
                </a:lnTo>
                <a:lnTo>
                  <a:pt x="520255" y="66836"/>
                </a:lnTo>
                <a:lnTo>
                  <a:pt x="525873" y="65733"/>
                </a:lnTo>
                <a:lnTo>
                  <a:pt x="531581" y="64720"/>
                </a:lnTo>
                <a:lnTo>
                  <a:pt x="537290" y="64077"/>
                </a:lnTo>
                <a:lnTo>
                  <a:pt x="542907" y="63616"/>
                </a:lnTo>
                <a:lnTo>
                  <a:pt x="548617" y="63247"/>
                </a:lnTo>
                <a:lnTo>
                  <a:pt x="554326" y="63156"/>
                </a:lnTo>
                <a:close/>
                <a:moveTo>
                  <a:pt x="322958" y="0"/>
                </a:moveTo>
                <a:lnTo>
                  <a:pt x="324067" y="184"/>
                </a:lnTo>
                <a:lnTo>
                  <a:pt x="327391" y="829"/>
                </a:lnTo>
                <a:lnTo>
                  <a:pt x="332748" y="1934"/>
                </a:lnTo>
                <a:lnTo>
                  <a:pt x="335980" y="2671"/>
                </a:lnTo>
                <a:lnTo>
                  <a:pt x="339583" y="3592"/>
                </a:lnTo>
                <a:lnTo>
                  <a:pt x="343461" y="4696"/>
                </a:lnTo>
                <a:lnTo>
                  <a:pt x="347709" y="5894"/>
                </a:lnTo>
                <a:lnTo>
                  <a:pt x="352143" y="7367"/>
                </a:lnTo>
                <a:lnTo>
                  <a:pt x="356852" y="8933"/>
                </a:lnTo>
                <a:lnTo>
                  <a:pt x="361747" y="10775"/>
                </a:lnTo>
                <a:lnTo>
                  <a:pt x="366827" y="12709"/>
                </a:lnTo>
                <a:lnTo>
                  <a:pt x="371907" y="14920"/>
                </a:lnTo>
                <a:lnTo>
                  <a:pt x="377171" y="17222"/>
                </a:lnTo>
                <a:lnTo>
                  <a:pt x="382435" y="19893"/>
                </a:lnTo>
                <a:lnTo>
                  <a:pt x="387792" y="22840"/>
                </a:lnTo>
                <a:lnTo>
                  <a:pt x="390378" y="24406"/>
                </a:lnTo>
                <a:lnTo>
                  <a:pt x="392963" y="25971"/>
                </a:lnTo>
                <a:lnTo>
                  <a:pt x="395642" y="27722"/>
                </a:lnTo>
                <a:lnTo>
                  <a:pt x="398228" y="29379"/>
                </a:lnTo>
                <a:lnTo>
                  <a:pt x="400813" y="31220"/>
                </a:lnTo>
                <a:lnTo>
                  <a:pt x="403308" y="32970"/>
                </a:lnTo>
                <a:lnTo>
                  <a:pt x="405801" y="34997"/>
                </a:lnTo>
                <a:lnTo>
                  <a:pt x="408295" y="36930"/>
                </a:lnTo>
                <a:lnTo>
                  <a:pt x="410696" y="39049"/>
                </a:lnTo>
                <a:lnTo>
                  <a:pt x="413005" y="41076"/>
                </a:lnTo>
                <a:lnTo>
                  <a:pt x="415406" y="43377"/>
                </a:lnTo>
                <a:lnTo>
                  <a:pt x="417714" y="45679"/>
                </a:lnTo>
                <a:lnTo>
                  <a:pt x="419839" y="48075"/>
                </a:lnTo>
                <a:lnTo>
                  <a:pt x="422055" y="50469"/>
                </a:lnTo>
                <a:lnTo>
                  <a:pt x="424087" y="52955"/>
                </a:lnTo>
                <a:lnTo>
                  <a:pt x="426119" y="55535"/>
                </a:lnTo>
                <a:lnTo>
                  <a:pt x="428059" y="58297"/>
                </a:lnTo>
                <a:lnTo>
                  <a:pt x="429814" y="60968"/>
                </a:lnTo>
                <a:lnTo>
                  <a:pt x="431660" y="63823"/>
                </a:lnTo>
                <a:lnTo>
                  <a:pt x="433230" y="66678"/>
                </a:lnTo>
                <a:lnTo>
                  <a:pt x="434892" y="69717"/>
                </a:lnTo>
                <a:lnTo>
                  <a:pt x="436278" y="72848"/>
                </a:lnTo>
                <a:lnTo>
                  <a:pt x="437664" y="75979"/>
                </a:lnTo>
                <a:lnTo>
                  <a:pt x="438956" y="79295"/>
                </a:lnTo>
                <a:lnTo>
                  <a:pt x="440065" y="82611"/>
                </a:lnTo>
                <a:lnTo>
                  <a:pt x="441081" y="86018"/>
                </a:lnTo>
                <a:lnTo>
                  <a:pt x="442004" y="89517"/>
                </a:lnTo>
                <a:lnTo>
                  <a:pt x="442744" y="93201"/>
                </a:lnTo>
                <a:lnTo>
                  <a:pt x="438956" y="96886"/>
                </a:lnTo>
                <a:lnTo>
                  <a:pt x="435171" y="100661"/>
                </a:lnTo>
                <a:lnTo>
                  <a:pt x="431476" y="104714"/>
                </a:lnTo>
                <a:lnTo>
                  <a:pt x="427874" y="108767"/>
                </a:lnTo>
                <a:lnTo>
                  <a:pt x="424364" y="113186"/>
                </a:lnTo>
                <a:lnTo>
                  <a:pt x="420948" y="117607"/>
                </a:lnTo>
                <a:lnTo>
                  <a:pt x="417623" y="122121"/>
                </a:lnTo>
                <a:lnTo>
                  <a:pt x="414390" y="126909"/>
                </a:lnTo>
                <a:lnTo>
                  <a:pt x="414020" y="123226"/>
                </a:lnTo>
                <a:lnTo>
                  <a:pt x="413375" y="119450"/>
                </a:lnTo>
                <a:lnTo>
                  <a:pt x="412820" y="115673"/>
                </a:lnTo>
                <a:lnTo>
                  <a:pt x="412173" y="111990"/>
                </a:lnTo>
                <a:lnTo>
                  <a:pt x="411434" y="108398"/>
                </a:lnTo>
                <a:lnTo>
                  <a:pt x="410604" y="104714"/>
                </a:lnTo>
                <a:lnTo>
                  <a:pt x="409588" y="101122"/>
                </a:lnTo>
                <a:lnTo>
                  <a:pt x="408664" y="97438"/>
                </a:lnTo>
                <a:lnTo>
                  <a:pt x="406909" y="92189"/>
                </a:lnTo>
                <a:lnTo>
                  <a:pt x="405154" y="87032"/>
                </a:lnTo>
                <a:lnTo>
                  <a:pt x="403031" y="81874"/>
                </a:lnTo>
                <a:lnTo>
                  <a:pt x="401922" y="79479"/>
                </a:lnTo>
                <a:lnTo>
                  <a:pt x="400813" y="76992"/>
                </a:lnTo>
                <a:lnTo>
                  <a:pt x="399520" y="74506"/>
                </a:lnTo>
                <a:lnTo>
                  <a:pt x="398320" y="72112"/>
                </a:lnTo>
                <a:lnTo>
                  <a:pt x="397027" y="69717"/>
                </a:lnTo>
                <a:lnTo>
                  <a:pt x="395642" y="67323"/>
                </a:lnTo>
                <a:lnTo>
                  <a:pt x="394256" y="64929"/>
                </a:lnTo>
                <a:lnTo>
                  <a:pt x="392687" y="62718"/>
                </a:lnTo>
                <a:lnTo>
                  <a:pt x="391208" y="60415"/>
                </a:lnTo>
                <a:lnTo>
                  <a:pt x="389546" y="58113"/>
                </a:lnTo>
                <a:lnTo>
                  <a:pt x="387976" y="55994"/>
                </a:lnTo>
                <a:lnTo>
                  <a:pt x="386221" y="53785"/>
                </a:lnTo>
                <a:lnTo>
                  <a:pt x="384559" y="51759"/>
                </a:lnTo>
                <a:lnTo>
                  <a:pt x="382805" y="49732"/>
                </a:lnTo>
                <a:lnTo>
                  <a:pt x="380957" y="47706"/>
                </a:lnTo>
                <a:lnTo>
                  <a:pt x="379110" y="45772"/>
                </a:lnTo>
                <a:lnTo>
                  <a:pt x="377171" y="43838"/>
                </a:lnTo>
                <a:lnTo>
                  <a:pt x="375232" y="41996"/>
                </a:lnTo>
                <a:lnTo>
                  <a:pt x="373291" y="40154"/>
                </a:lnTo>
                <a:lnTo>
                  <a:pt x="371168" y="38405"/>
                </a:lnTo>
                <a:lnTo>
                  <a:pt x="369043" y="36655"/>
                </a:lnTo>
                <a:lnTo>
                  <a:pt x="367012" y="35089"/>
                </a:lnTo>
                <a:lnTo>
                  <a:pt x="364888" y="33431"/>
                </a:lnTo>
                <a:lnTo>
                  <a:pt x="362763" y="31957"/>
                </a:lnTo>
                <a:lnTo>
                  <a:pt x="360454" y="30392"/>
                </a:lnTo>
                <a:lnTo>
                  <a:pt x="358238" y="29011"/>
                </a:lnTo>
                <a:lnTo>
                  <a:pt x="360270" y="30668"/>
                </a:lnTo>
                <a:lnTo>
                  <a:pt x="362209" y="32418"/>
                </a:lnTo>
                <a:lnTo>
                  <a:pt x="364241" y="34168"/>
                </a:lnTo>
                <a:lnTo>
                  <a:pt x="366273" y="36010"/>
                </a:lnTo>
                <a:lnTo>
                  <a:pt x="368027" y="37944"/>
                </a:lnTo>
                <a:lnTo>
                  <a:pt x="369968" y="39785"/>
                </a:lnTo>
                <a:lnTo>
                  <a:pt x="371630" y="41812"/>
                </a:lnTo>
                <a:lnTo>
                  <a:pt x="373477" y="43746"/>
                </a:lnTo>
                <a:lnTo>
                  <a:pt x="375046" y="45772"/>
                </a:lnTo>
                <a:lnTo>
                  <a:pt x="376801" y="47798"/>
                </a:lnTo>
                <a:lnTo>
                  <a:pt x="378278" y="49916"/>
                </a:lnTo>
                <a:lnTo>
                  <a:pt x="379849" y="52034"/>
                </a:lnTo>
                <a:lnTo>
                  <a:pt x="381326" y="54153"/>
                </a:lnTo>
                <a:lnTo>
                  <a:pt x="382712" y="56363"/>
                </a:lnTo>
                <a:lnTo>
                  <a:pt x="384098" y="58665"/>
                </a:lnTo>
                <a:lnTo>
                  <a:pt x="385390" y="60876"/>
                </a:lnTo>
                <a:lnTo>
                  <a:pt x="386683" y="63179"/>
                </a:lnTo>
                <a:lnTo>
                  <a:pt x="387792" y="65481"/>
                </a:lnTo>
                <a:lnTo>
                  <a:pt x="388899" y="67784"/>
                </a:lnTo>
                <a:lnTo>
                  <a:pt x="390101" y="70178"/>
                </a:lnTo>
                <a:lnTo>
                  <a:pt x="391024" y="72572"/>
                </a:lnTo>
                <a:lnTo>
                  <a:pt x="391947" y="74874"/>
                </a:lnTo>
                <a:lnTo>
                  <a:pt x="393795" y="79847"/>
                </a:lnTo>
                <a:lnTo>
                  <a:pt x="395365" y="84729"/>
                </a:lnTo>
                <a:lnTo>
                  <a:pt x="396658" y="89703"/>
                </a:lnTo>
                <a:lnTo>
                  <a:pt x="397858" y="94676"/>
                </a:lnTo>
                <a:lnTo>
                  <a:pt x="398781" y="99832"/>
                </a:lnTo>
                <a:lnTo>
                  <a:pt x="399520" y="104805"/>
                </a:lnTo>
                <a:lnTo>
                  <a:pt x="400074" y="109963"/>
                </a:lnTo>
                <a:lnTo>
                  <a:pt x="400629" y="115029"/>
                </a:lnTo>
                <a:lnTo>
                  <a:pt x="400813" y="120186"/>
                </a:lnTo>
                <a:lnTo>
                  <a:pt x="400906" y="125344"/>
                </a:lnTo>
                <a:lnTo>
                  <a:pt x="400813" y="130501"/>
                </a:lnTo>
                <a:lnTo>
                  <a:pt x="400629" y="135566"/>
                </a:lnTo>
                <a:lnTo>
                  <a:pt x="400167" y="140724"/>
                </a:lnTo>
                <a:lnTo>
                  <a:pt x="399706" y="145790"/>
                </a:lnTo>
                <a:lnTo>
                  <a:pt x="399151" y="150854"/>
                </a:lnTo>
                <a:lnTo>
                  <a:pt x="398320" y="155919"/>
                </a:lnTo>
                <a:lnTo>
                  <a:pt x="397488" y="160985"/>
                </a:lnTo>
                <a:lnTo>
                  <a:pt x="396751" y="164024"/>
                </a:lnTo>
                <a:lnTo>
                  <a:pt x="396104" y="166879"/>
                </a:lnTo>
                <a:lnTo>
                  <a:pt x="387330" y="159051"/>
                </a:lnTo>
                <a:lnTo>
                  <a:pt x="339028" y="116042"/>
                </a:lnTo>
                <a:lnTo>
                  <a:pt x="338565" y="112542"/>
                </a:lnTo>
                <a:lnTo>
                  <a:pt x="338474" y="108951"/>
                </a:lnTo>
                <a:lnTo>
                  <a:pt x="338565" y="107292"/>
                </a:lnTo>
                <a:lnTo>
                  <a:pt x="338658" y="105451"/>
                </a:lnTo>
                <a:lnTo>
                  <a:pt x="338844" y="103701"/>
                </a:lnTo>
                <a:lnTo>
                  <a:pt x="339120" y="101859"/>
                </a:lnTo>
                <a:lnTo>
                  <a:pt x="339860" y="95872"/>
                </a:lnTo>
                <a:lnTo>
                  <a:pt x="340599" y="89517"/>
                </a:lnTo>
                <a:lnTo>
                  <a:pt x="341244" y="82887"/>
                </a:lnTo>
                <a:lnTo>
                  <a:pt x="341706" y="76164"/>
                </a:lnTo>
                <a:lnTo>
                  <a:pt x="341983" y="69348"/>
                </a:lnTo>
                <a:lnTo>
                  <a:pt x="342076" y="65941"/>
                </a:lnTo>
                <a:lnTo>
                  <a:pt x="342076" y="62441"/>
                </a:lnTo>
                <a:lnTo>
                  <a:pt x="341983" y="59033"/>
                </a:lnTo>
                <a:lnTo>
                  <a:pt x="341892" y="55535"/>
                </a:lnTo>
                <a:lnTo>
                  <a:pt x="341706" y="52127"/>
                </a:lnTo>
                <a:lnTo>
                  <a:pt x="341429" y="48718"/>
                </a:lnTo>
                <a:lnTo>
                  <a:pt x="341060" y="45220"/>
                </a:lnTo>
                <a:lnTo>
                  <a:pt x="340690" y="41904"/>
                </a:lnTo>
                <a:lnTo>
                  <a:pt x="340136" y="38496"/>
                </a:lnTo>
                <a:lnTo>
                  <a:pt x="339490" y="35180"/>
                </a:lnTo>
                <a:lnTo>
                  <a:pt x="338844" y="31866"/>
                </a:lnTo>
                <a:lnTo>
                  <a:pt x="337920" y="28642"/>
                </a:lnTo>
                <a:lnTo>
                  <a:pt x="336996" y="25419"/>
                </a:lnTo>
                <a:lnTo>
                  <a:pt x="335980" y="22287"/>
                </a:lnTo>
                <a:lnTo>
                  <a:pt x="334780" y="19248"/>
                </a:lnTo>
                <a:lnTo>
                  <a:pt x="333487" y="16209"/>
                </a:lnTo>
                <a:lnTo>
                  <a:pt x="332101" y="13263"/>
                </a:lnTo>
                <a:lnTo>
                  <a:pt x="330531" y="10406"/>
                </a:lnTo>
                <a:lnTo>
                  <a:pt x="328869" y="7737"/>
                </a:lnTo>
                <a:lnTo>
                  <a:pt x="327021" y="5065"/>
                </a:lnTo>
                <a:lnTo>
                  <a:pt x="324990" y="2487"/>
                </a:lnTo>
                <a:lnTo>
                  <a:pt x="322958" y="0"/>
                </a:lnTo>
                <a:close/>
              </a:path>
            </a:pathLst>
          </a:custGeom>
          <a:solidFill>
            <a:srgbClr val="FFFFFF">
              <a:alpha val="100000"/>
            </a:srgbClr>
          </a:solidFill>
          <a:ln w="25400" cap="flat" cmpd="sng">
            <a:noFill/>
            <a:prstDash val="solid"/>
            <a:round/>
          </a:ln>
        </p:spPr>
        <p:txBody>
          <a:bodyPr vert="horz" wrap="square" lIns="68580" tIns="34290" rIns="68580" bIns="34290" rtlCol="0" anchor="ctr" anchorCtr="0"/>
          <a:lstStyle/>
          <a:p>
            <a:pPr algn="ctr">
              <a:defRPr/>
            </a:pPr>
          </a:p>
        </p:txBody>
      </p:sp>
      <p:sp>
        <p:nvSpPr>
          <p:cNvPr id="11" name="Freeform 11"/>
          <p:cNvSpPr/>
          <p:nvPr/>
        </p:nvSpPr>
        <p:spPr>
          <a:xfrm>
            <a:off x="3706116" y="2637657"/>
            <a:ext cx="452261" cy="616720"/>
          </a:xfrm>
          <a:custGeom>
            <a:avLst/>
            <a:gdLst/>
            <a:ahLst/>
            <a:cxnLst/>
            <a:rect l="l" t="t" r="r" b="b"/>
            <a:pathLst>
              <a:path w="452261" h="616720">
                <a:moveTo>
                  <a:pt x="241803" y="410294"/>
                </a:moveTo>
                <a:lnTo>
                  <a:pt x="245093" y="411570"/>
                </a:lnTo>
                <a:lnTo>
                  <a:pt x="248200" y="413028"/>
                </a:lnTo>
                <a:lnTo>
                  <a:pt x="251033" y="414303"/>
                </a:lnTo>
                <a:lnTo>
                  <a:pt x="253591" y="415580"/>
                </a:lnTo>
                <a:lnTo>
                  <a:pt x="255967" y="417038"/>
                </a:lnTo>
                <a:lnTo>
                  <a:pt x="258069" y="418313"/>
                </a:lnTo>
                <a:lnTo>
                  <a:pt x="259897" y="419679"/>
                </a:lnTo>
                <a:lnTo>
                  <a:pt x="261543" y="421047"/>
                </a:lnTo>
                <a:lnTo>
                  <a:pt x="262821" y="422505"/>
                </a:lnTo>
                <a:lnTo>
                  <a:pt x="264100" y="423963"/>
                </a:lnTo>
                <a:lnTo>
                  <a:pt x="265106" y="425511"/>
                </a:lnTo>
                <a:lnTo>
                  <a:pt x="265836" y="427152"/>
                </a:lnTo>
                <a:lnTo>
                  <a:pt x="266568" y="428974"/>
                </a:lnTo>
                <a:lnTo>
                  <a:pt x="267025" y="430888"/>
                </a:lnTo>
                <a:lnTo>
                  <a:pt x="267299" y="432711"/>
                </a:lnTo>
                <a:lnTo>
                  <a:pt x="267391" y="434806"/>
                </a:lnTo>
                <a:lnTo>
                  <a:pt x="267391" y="436081"/>
                </a:lnTo>
                <a:lnTo>
                  <a:pt x="267299" y="437449"/>
                </a:lnTo>
                <a:lnTo>
                  <a:pt x="267117" y="438633"/>
                </a:lnTo>
                <a:lnTo>
                  <a:pt x="266934" y="439818"/>
                </a:lnTo>
                <a:lnTo>
                  <a:pt x="266659" y="440911"/>
                </a:lnTo>
                <a:lnTo>
                  <a:pt x="266294" y="441913"/>
                </a:lnTo>
                <a:lnTo>
                  <a:pt x="265929" y="443006"/>
                </a:lnTo>
                <a:lnTo>
                  <a:pt x="265563" y="444009"/>
                </a:lnTo>
                <a:lnTo>
                  <a:pt x="265015" y="444920"/>
                </a:lnTo>
                <a:lnTo>
                  <a:pt x="264558" y="445831"/>
                </a:lnTo>
                <a:lnTo>
                  <a:pt x="263917" y="446651"/>
                </a:lnTo>
                <a:lnTo>
                  <a:pt x="263187" y="447472"/>
                </a:lnTo>
                <a:lnTo>
                  <a:pt x="262547" y="448201"/>
                </a:lnTo>
                <a:lnTo>
                  <a:pt x="261725" y="448930"/>
                </a:lnTo>
                <a:lnTo>
                  <a:pt x="260902" y="449567"/>
                </a:lnTo>
                <a:lnTo>
                  <a:pt x="259988" y="450113"/>
                </a:lnTo>
                <a:lnTo>
                  <a:pt x="258161" y="451207"/>
                </a:lnTo>
                <a:lnTo>
                  <a:pt x="256150" y="452302"/>
                </a:lnTo>
                <a:lnTo>
                  <a:pt x="253957" y="453304"/>
                </a:lnTo>
                <a:lnTo>
                  <a:pt x="251855" y="454123"/>
                </a:lnTo>
                <a:lnTo>
                  <a:pt x="249479" y="455035"/>
                </a:lnTo>
                <a:lnTo>
                  <a:pt x="247011" y="455764"/>
                </a:lnTo>
                <a:lnTo>
                  <a:pt x="244453" y="456401"/>
                </a:lnTo>
                <a:lnTo>
                  <a:pt x="241803" y="456949"/>
                </a:lnTo>
                <a:lnTo>
                  <a:pt x="241803" y="410294"/>
                </a:lnTo>
                <a:close/>
                <a:moveTo>
                  <a:pt x="216855" y="313792"/>
                </a:moveTo>
                <a:lnTo>
                  <a:pt x="216855" y="353416"/>
                </a:lnTo>
                <a:lnTo>
                  <a:pt x="213553" y="352586"/>
                </a:lnTo>
                <a:lnTo>
                  <a:pt x="210434" y="351664"/>
                </a:lnTo>
                <a:lnTo>
                  <a:pt x="207682" y="350558"/>
                </a:lnTo>
                <a:lnTo>
                  <a:pt x="205114" y="349545"/>
                </a:lnTo>
                <a:lnTo>
                  <a:pt x="202820" y="348347"/>
                </a:lnTo>
                <a:lnTo>
                  <a:pt x="201811" y="347610"/>
                </a:lnTo>
                <a:lnTo>
                  <a:pt x="200894" y="346965"/>
                </a:lnTo>
                <a:lnTo>
                  <a:pt x="199977" y="346320"/>
                </a:lnTo>
                <a:lnTo>
                  <a:pt x="199151" y="345584"/>
                </a:lnTo>
                <a:lnTo>
                  <a:pt x="198417" y="344846"/>
                </a:lnTo>
                <a:lnTo>
                  <a:pt x="197776" y="344016"/>
                </a:lnTo>
                <a:lnTo>
                  <a:pt x="196491" y="342542"/>
                </a:lnTo>
                <a:lnTo>
                  <a:pt x="195482" y="340976"/>
                </a:lnTo>
                <a:lnTo>
                  <a:pt x="194473" y="339501"/>
                </a:lnTo>
                <a:lnTo>
                  <a:pt x="193831" y="338027"/>
                </a:lnTo>
                <a:lnTo>
                  <a:pt x="193280" y="336553"/>
                </a:lnTo>
                <a:lnTo>
                  <a:pt x="192822" y="335078"/>
                </a:lnTo>
                <a:lnTo>
                  <a:pt x="192639" y="333695"/>
                </a:lnTo>
                <a:lnTo>
                  <a:pt x="192546" y="332222"/>
                </a:lnTo>
                <a:lnTo>
                  <a:pt x="192546" y="331300"/>
                </a:lnTo>
                <a:lnTo>
                  <a:pt x="192639" y="330286"/>
                </a:lnTo>
                <a:lnTo>
                  <a:pt x="192822" y="329273"/>
                </a:lnTo>
                <a:lnTo>
                  <a:pt x="193004" y="328351"/>
                </a:lnTo>
                <a:lnTo>
                  <a:pt x="193189" y="327430"/>
                </a:lnTo>
                <a:lnTo>
                  <a:pt x="193556" y="326417"/>
                </a:lnTo>
                <a:lnTo>
                  <a:pt x="193923" y="325587"/>
                </a:lnTo>
                <a:lnTo>
                  <a:pt x="194290" y="324758"/>
                </a:lnTo>
                <a:lnTo>
                  <a:pt x="194840" y="324020"/>
                </a:lnTo>
                <a:lnTo>
                  <a:pt x="195389" y="323191"/>
                </a:lnTo>
                <a:lnTo>
                  <a:pt x="195941" y="322454"/>
                </a:lnTo>
                <a:lnTo>
                  <a:pt x="196582" y="321716"/>
                </a:lnTo>
                <a:lnTo>
                  <a:pt x="197225" y="321071"/>
                </a:lnTo>
                <a:lnTo>
                  <a:pt x="198050" y="320335"/>
                </a:lnTo>
                <a:lnTo>
                  <a:pt x="199701" y="319137"/>
                </a:lnTo>
                <a:lnTo>
                  <a:pt x="201536" y="318031"/>
                </a:lnTo>
                <a:lnTo>
                  <a:pt x="203370" y="316925"/>
                </a:lnTo>
                <a:lnTo>
                  <a:pt x="205481" y="316095"/>
                </a:lnTo>
                <a:lnTo>
                  <a:pt x="207590" y="315450"/>
                </a:lnTo>
                <a:lnTo>
                  <a:pt x="209791" y="314805"/>
                </a:lnTo>
                <a:lnTo>
                  <a:pt x="211993" y="314344"/>
                </a:lnTo>
                <a:lnTo>
                  <a:pt x="214379" y="313976"/>
                </a:lnTo>
                <a:lnTo>
                  <a:pt x="216855" y="313792"/>
                </a:lnTo>
                <a:close/>
                <a:moveTo>
                  <a:pt x="217042" y="263418"/>
                </a:moveTo>
                <a:lnTo>
                  <a:pt x="217042" y="277298"/>
                </a:lnTo>
                <a:lnTo>
                  <a:pt x="213571" y="277754"/>
                </a:lnTo>
                <a:lnTo>
                  <a:pt x="210190" y="278211"/>
                </a:lnTo>
                <a:lnTo>
                  <a:pt x="206811" y="278759"/>
                </a:lnTo>
                <a:lnTo>
                  <a:pt x="203614" y="279399"/>
                </a:lnTo>
                <a:lnTo>
                  <a:pt x="200508" y="280129"/>
                </a:lnTo>
                <a:lnTo>
                  <a:pt x="197493" y="280859"/>
                </a:lnTo>
                <a:lnTo>
                  <a:pt x="194570" y="281589"/>
                </a:lnTo>
                <a:lnTo>
                  <a:pt x="191738" y="282503"/>
                </a:lnTo>
                <a:lnTo>
                  <a:pt x="189089" y="283416"/>
                </a:lnTo>
                <a:lnTo>
                  <a:pt x="186440" y="284329"/>
                </a:lnTo>
                <a:lnTo>
                  <a:pt x="183882" y="285425"/>
                </a:lnTo>
                <a:lnTo>
                  <a:pt x="181416" y="286521"/>
                </a:lnTo>
                <a:lnTo>
                  <a:pt x="179041" y="287617"/>
                </a:lnTo>
                <a:lnTo>
                  <a:pt x="176757" y="288895"/>
                </a:lnTo>
                <a:lnTo>
                  <a:pt x="174657" y="290082"/>
                </a:lnTo>
                <a:lnTo>
                  <a:pt x="172555" y="291452"/>
                </a:lnTo>
                <a:lnTo>
                  <a:pt x="170546" y="292821"/>
                </a:lnTo>
                <a:lnTo>
                  <a:pt x="168628" y="294283"/>
                </a:lnTo>
                <a:lnTo>
                  <a:pt x="166801" y="295652"/>
                </a:lnTo>
                <a:lnTo>
                  <a:pt x="164973" y="297114"/>
                </a:lnTo>
                <a:lnTo>
                  <a:pt x="163421" y="298483"/>
                </a:lnTo>
                <a:lnTo>
                  <a:pt x="161776" y="299853"/>
                </a:lnTo>
                <a:lnTo>
                  <a:pt x="160315" y="301405"/>
                </a:lnTo>
                <a:lnTo>
                  <a:pt x="158853" y="302867"/>
                </a:lnTo>
                <a:lnTo>
                  <a:pt x="157574" y="304328"/>
                </a:lnTo>
                <a:lnTo>
                  <a:pt x="156295" y="305971"/>
                </a:lnTo>
                <a:lnTo>
                  <a:pt x="155108" y="307431"/>
                </a:lnTo>
                <a:lnTo>
                  <a:pt x="154012" y="308985"/>
                </a:lnTo>
                <a:lnTo>
                  <a:pt x="152916" y="310537"/>
                </a:lnTo>
                <a:lnTo>
                  <a:pt x="152002" y="312181"/>
                </a:lnTo>
                <a:lnTo>
                  <a:pt x="151180" y="313733"/>
                </a:lnTo>
                <a:lnTo>
                  <a:pt x="150449" y="315377"/>
                </a:lnTo>
                <a:lnTo>
                  <a:pt x="148988" y="318573"/>
                </a:lnTo>
                <a:lnTo>
                  <a:pt x="147891" y="321768"/>
                </a:lnTo>
                <a:lnTo>
                  <a:pt x="146795" y="324874"/>
                </a:lnTo>
                <a:lnTo>
                  <a:pt x="145974" y="327979"/>
                </a:lnTo>
                <a:lnTo>
                  <a:pt x="145334" y="330992"/>
                </a:lnTo>
                <a:lnTo>
                  <a:pt x="144877" y="334005"/>
                </a:lnTo>
                <a:lnTo>
                  <a:pt x="144603" y="336927"/>
                </a:lnTo>
                <a:lnTo>
                  <a:pt x="144512" y="339849"/>
                </a:lnTo>
                <a:lnTo>
                  <a:pt x="144603" y="342955"/>
                </a:lnTo>
                <a:lnTo>
                  <a:pt x="144877" y="346060"/>
                </a:lnTo>
                <a:lnTo>
                  <a:pt x="145242" y="349164"/>
                </a:lnTo>
                <a:lnTo>
                  <a:pt x="145882" y="352177"/>
                </a:lnTo>
                <a:lnTo>
                  <a:pt x="146613" y="355191"/>
                </a:lnTo>
                <a:lnTo>
                  <a:pt x="147526" y="358203"/>
                </a:lnTo>
                <a:lnTo>
                  <a:pt x="148623" y="361217"/>
                </a:lnTo>
                <a:lnTo>
                  <a:pt x="149810" y="364139"/>
                </a:lnTo>
                <a:lnTo>
                  <a:pt x="150541" y="365509"/>
                </a:lnTo>
                <a:lnTo>
                  <a:pt x="151362" y="366970"/>
                </a:lnTo>
                <a:lnTo>
                  <a:pt x="152185" y="368431"/>
                </a:lnTo>
                <a:lnTo>
                  <a:pt x="153098" y="369893"/>
                </a:lnTo>
                <a:lnTo>
                  <a:pt x="154195" y="371263"/>
                </a:lnTo>
                <a:lnTo>
                  <a:pt x="155291" y="372723"/>
                </a:lnTo>
                <a:lnTo>
                  <a:pt x="156569" y="374092"/>
                </a:lnTo>
                <a:lnTo>
                  <a:pt x="157757" y="375554"/>
                </a:lnTo>
                <a:lnTo>
                  <a:pt x="159219" y="376923"/>
                </a:lnTo>
                <a:lnTo>
                  <a:pt x="160589" y="378294"/>
                </a:lnTo>
                <a:lnTo>
                  <a:pt x="162234" y="379663"/>
                </a:lnTo>
                <a:lnTo>
                  <a:pt x="163786" y="381033"/>
                </a:lnTo>
                <a:lnTo>
                  <a:pt x="165522" y="382403"/>
                </a:lnTo>
                <a:lnTo>
                  <a:pt x="167256" y="383772"/>
                </a:lnTo>
                <a:lnTo>
                  <a:pt x="171003" y="386329"/>
                </a:lnTo>
                <a:lnTo>
                  <a:pt x="173104" y="387699"/>
                </a:lnTo>
                <a:lnTo>
                  <a:pt x="175204" y="388978"/>
                </a:lnTo>
                <a:lnTo>
                  <a:pt x="177488" y="390347"/>
                </a:lnTo>
                <a:lnTo>
                  <a:pt x="179862" y="391535"/>
                </a:lnTo>
                <a:lnTo>
                  <a:pt x="182330" y="392814"/>
                </a:lnTo>
                <a:lnTo>
                  <a:pt x="184978" y="393908"/>
                </a:lnTo>
                <a:lnTo>
                  <a:pt x="187627" y="395096"/>
                </a:lnTo>
                <a:lnTo>
                  <a:pt x="190459" y="396283"/>
                </a:lnTo>
                <a:lnTo>
                  <a:pt x="193383" y="397379"/>
                </a:lnTo>
                <a:lnTo>
                  <a:pt x="196488" y="398474"/>
                </a:lnTo>
                <a:lnTo>
                  <a:pt x="199594" y="399478"/>
                </a:lnTo>
                <a:lnTo>
                  <a:pt x="202882" y="400483"/>
                </a:lnTo>
                <a:lnTo>
                  <a:pt x="209734" y="402584"/>
                </a:lnTo>
                <a:lnTo>
                  <a:pt x="217042" y="404501"/>
                </a:lnTo>
                <a:lnTo>
                  <a:pt x="217042" y="457100"/>
                </a:lnTo>
                <a:lnTo>
                  <a:pt x="213935" y="456642"/>
                </a:lnTo>
                <a:lnTo>
                  <a:pt x="210830" y="456187"/>
                </a:lnTo>
                <a:lnTo>
                  <a:pt x="207724" y="455546"/>
                </a:lnTo>
                <a:lnTo>
                  <a:pt x="204619" y="454816"/>
                </a:lnTo>
                <a:lnTo>
                  <a:pt x="201512" y="453995"/>
                </a:lnTo>
                <a:lnTo>
                  <a:pt x="198498" y="453173"/>
                </a:lnTo>
                <a:lnTo>
                  <a:pt x="195483" y="452260"/>
                </a:lnTo>
                <a:lnTo>
                  <a:pt x="192468" y="451164"/>
                </a:lnTo>
                <a:lnTo>
                  <a:pt x="189455" y="450068"/>
                </a:lnTo>
                <a:lnTo>
                  <a:pt x="186440" y="448880"/>
                </a:lnTo>
                <a:lnTo>
                  <a:pt x="183518" y="447603"/>
                </a:lnTo>
                <a:lnTo>
                  <a:pt x="180594" y="446324"/>
                </a:lnTo>
                <a:lnTo>
                  <a:pt x="177670" y="444863"/>
                </a:lnTo>
                <a:lnTo>
                  <a:pt x="174840" y="443493"/>
                </a:lnTo>
                <a:lnTo>
                  <a:pt x="171916" y="441941"/>
                </a:lnTo>
                <a:lnTo>
                  <a:pt x="169084" y="440389"/>
                </a:lnTo>
                <a:lnTo>
                  <a:pt x="163512" y="436918"/>
                </a:lnTo>
                <a:lnTo>
                  <a:pt x="158031" y="433448"/>
                </a:lnTo>
                <a:lnTo>
                  <a:pt x="152733" y="429796"/>
                </a:lnTo>
                <a:lnTo>
                  <a:pt x="147617" y="426052"/>
                </a:lnTo>
                <a:lnTo>
                  <a:pt x="147617" y="470979"/>
                </a:lnTo>
                <a:lnTo>
                  <a:pt x="151637" y="473263"/>
                </a:lnTo>
                <a:lnTo>
                  <a:pt x="155656" y="475454"/>
                </a:lnTo>
                <a:lnTo>
                  <a:pt x="159857" y="477554"/>
                </a:lnTo>
                <a:lnTo>
                  <a:pt x="164151" y="479655"/>
                </a:lnTo>
                <a:lnTo>
                  <a:pt x="168537" y="481481"/>
                </a:lnTo>
                <a:lnTo>
                  <a:pt x="173012" y="483307"/>
                </a:lnTo>
                <a:lnTo>
                  <a:pt x="177579" y="485042"/>
                </a:lnTo>
                <a:lnTo>
                  <a:pt x="182239" y="486594"/>
                </a:lnTo>
                <a:lnTo>
                  <a:pt x="186988" y="488147"/>
                </a:lnTo>
                <a:lnTo>
                  <a:pt x="191464" y="489516"/>
                </a:lnTo>
                <a:lnTo>
                  <a:pt x="196032" y="490612"/>
                </a:lnTo>
                <a:lnTo>
                  <a:pt x="200416" y="491800"/>
                </a:lnTo>
                <a:lnTo>
                  <a:pt x="204710" y="492713"/>
                </a:lnTo>
                <a:lnTo>
                  <a:pt x="208911" y="493535"/>
                </a:lnTo>
                <a:lnTo>
                  <a:pt x="213114" y="494265"/>
                </a:lnTo>
                <a:lnTo>
                  <a:pt x="217042" y="494814"/>
                </a:lnTo>
                <a:lnTo>
                  <a:pt x="217042" y="522299"/>
                </a:lnTo>
                <a:lnTo>
                  <a:pt x="242071" y="522299"/>
                </a:lnTo>
                <a:lnTo>
                  <a:pt x="242071" y="494814"/>
                </a:lnTo>
                <a:lnTo>
                  <a:pt x="245267" y="494448"/>
                </a:lnTo>
                <a:lnTo>
                  <a:pt x="248465" y="494082"/>
                </a:lnTo>
                <a:lnTo>
                  <a:pt x="251479" y="493535"/>
                </a:lnTo>
                <a:lnTo>
                  <a:pt x="254494" y="493077"/>
                </a:lnTo>
                <a:lnTo>
                  <a:pt x="257416" y="492530"/>
                </a:lnTo>
                <a:lnTo>
                  <a:pt x="260248" y="491891"/>
                </a:lnTo>
                <a:lnTo>
                  <a:pt x="263080" y="491251"/>
                </a:lnTo>
                <a:lnTo>
                  <a:pt x="265730" y="490430"/>
                </a:lnTo>
                <a:lnTo>
                  <a:pt x="268379" y="489608"/>
                </a:lnTo>
                <a:lnTo>
                  <a:pt x="270937" y="488786"/>
                </a:lnTo>
                <a:lnTo>
                  <a:pt x="273494" y="487873"/>
                </a:lnTo>
                <a:lnTo>
                  <a:pt x="275869" y="486868"/>
                </a:lnTo>
                <a:lnTo>
                  <a:pt x="278153" y="485864"/>
                </a:lnTo>
                <a:lnTo>
                  <a:pt x="280436" y="484676"/>
                </a:lnTo>
                <a:lnTo>
                  <a:pt x="282628" y="483490"/>
                </a:lnTo>
                <a:lnTo>
                  <a:pt x="284822" y="482303"/>
                </a:lnTo>
                <a:lnTo>
                  <a:pt x="286739" y="481024"/>
                </a:lnTo>
                <a:lnTo>
                  <a:pt x="288750" y="479746"/>
                </a:lnTo>
                <a:lnTo>
                  <a:pt x="290667" y="478376"/>
                </a:lnTo>
                <a:lnTo>
                  <a:pt x="292495" y="477007"/>
                </a:lnTo>
                <a:lnTo>
                  <a:pt x="294230" y="475637"/>
                </a:lnTo>
                <a:lnTo>
                  <a:pt x="295874" y="474266"/>
                </a:lnTo>
                <a:lnTo>
                  <a:pt x="297519" y="472714"/>
                </a:lnTo>
                <a:lnTo>
                  <a:pt x="299071" y="471345"/>
                </a:lnTo>
                <a:lnTo>
                  <a:pt x="300533" y="469792"/>
                </a:lnTo>
                <a:lnTo>
                  <a:pt x="301903" y="468332"/>
                </a:lnTo>
                <a:lnTo>
                  <a:pt x="303273" y="466687"/>
                </a:lnTo>
                <a:lnTo>
                  <a:pt x="304552" y="465226"/>
                </a:lnTo>
                <a:lnTo>
                  <a:pt x="305740" y="463583"/>
                </a:lnTo>
                <a:lnTo>
                  <a:pt x="306836" y="461940"/>
                </a:lnTo>
                <a:lnTo>
                  <a:pt x="307840" y="460295"/>
                </a:lnTo>
                <a:lnTo>
                  <a:pt x="308845" y="458652"/>
                </a:lnTo>
                <a:lnTo>
                  <a:pt x="310581" y="455182"/>
                </a:lnTo>
                <a:lnTo>
                  <a:pt x="312134" y="451712"/>
                </a:lnTo>
                <a:lnTo>
                  <a:pt x="313322" y="448241"/>
                </a:lnTo>
                <a:lnTo>
                  <a:pt x="313869" y="446598"/>
                </a:lnTo>
                <a:lnTo>
                  <a:pt x="314326" y="444863"/>
                </a:lnTo>
                <a:lnTo>
                  <a:pt x="314875" y="443037"/>
                </a:lnTo>
                <a:lnTo>
                  <a:pt x="315239" y="441392"/>
                </a:lnTo>
                <a:lnTo>
                  <a:pt x="315514" y="439657"/>
                </a:lnTo>
                <a:lnTo>
                  <a:pt x="315788" y="437923"/>
                </a:lnTo>
                <a:lnTo>
                  <a:pt x="315971" y="436188"/>
                </a:lnTo>
                <a:lnTo>
                  <a:pt x="316154" y="434453"/>
                </a:lnTo>
                <a:lnTo>
                  <a:pt x="316245" y="432718"/>
                </a:lnTo>
                <a:lnTo>
                  <a:pt x="316245" y="430892"/>
                </a:lnTo>
                <a:lnTo>
                  <a:pt x="316154" y="427421"/>
                </a:lnTo>
                <a:lnTo>
                  <a:pt x="315971" y="424043"/>
                </a:lnTo>
                <a:lnTo>
                  <a:pt x="315605" y="420756"/>
                </a:lnTo>
                <a:lnTo>
                  <a:pt x="315058" y="417559"/>
                </a:lnTo>
                <a:lnTo>
                  <a:pt x="314235" y="414454"/>
                </a:lnTo>
                <a:lnTo>
                  <a:pt x="313413" y="411533"/>
                </a:lnTo>
                <a:lnTo>
                  <a:pt x="312409" y="408611"/>
                </a:lnTo>
                <a:lnTo>
                  <a:pt x="311221" y="405779"/>
                </a:lnTo>
                <a:lnTo>
                  <a:pt x="309942" y="403041"/>
                </a:lnTo>
                <a:lnTo>
                  <a:pt x="308389" y="400392"/>
                </a:lnTo>
                <a:lnTo>
                  <a:pt x="306836" y="397835"/>
                </a:lnTo>
                <a:lnTo>
                  <a:pt x="304918" y="395461"/>
                </a:lnTo>
                <a:lnTo>
                  <a:pt x="303091" y="393087"/>
                </a:lnTo>
                <a:lnTo>
                  <a:pt x="300899" y="390895"/>
                </a:lnTo>
                <a:lnTo>
                  <a:pt x="298615" y="388704"/>
                </a:lnTo>
                <a:lnTo>
                  <a:pt x="296149" y="386695"/>
                </a:lnTo>
                <a:lnTo>
                  <a:pt x="293682" y="384686"/>
                </a:lnTo>
                <a:lnTo>
                  <a:pt x="291033" y="382676"/>
                </a:lnTo>
                <a:lnTo>
                  <a:pt x="288201" y="380850"/>
                </a:lnTo>
                <a:lnTo>
                  <a:pt x="285369" y="378932"/>
                </a:lnTo>
                <a:lnTo>
                  <a:pt x="282355" y="377015"/>
                </a:lnTo>
                <a:lnTo>
                  <a:pt x="279249" y="375280"/>
                </a:lnTo>
                <a:lnTo>
                  <a:pt x="276052" y="373545"/>
                </a:lnTo>
                <a:lnTo>
                  <a:pt x="272581" y="371902"/>
                </a:lnTo>
                <a:lnTo>
                  <a:pt x="269201" y="370167"/>
                </a:lnTo>
                <a:lnTo>
                  <a:pt x="265638" y="368614"/>
                </a:lnTo>
                <a:lnTo>
                  <a:pt x="261984" y="366970"/>
                </a:lnTo>
                <a:lnTo>
                  <a:pt x="258331" y="365327"/>
                </a:lnTo>
                <a:lnTo>
                  <a:pt x="254311" y="363865"/>
                </a:lnTo>
                <a:lnTo>
                  <a:pt x="250383" y="362313"/>
                </a:lnTo>
                <a:lnTo>
                  <a:pt x="246363" y="360944"/>
                </a:lnTo>
                <a:lnTo>
                  <a:pt x="242071" y="359482"/>
                </a:lnTo>
                <a:lnTo>
                  <a:pt x="242071" y="316381"/>
                </a:lnTo>
                <a:lnTo>
                  <a:pt x="246912" y="317477"/>
                </a:lnTo>
                <a:lnTo>
                  <a:pt x="251662" y="318846"/>
                </a:lnTo>
                <a:lnTo>
                  <a:pt x="256412" y="320217"/>
                </a:lnTo>
                <a:lnTo>
                  <a:pt x="261071" y="321860"/>
                </a:lnTo>
                <a:lnTo>
                  <a:pt x="265638" y="323595"/>
                </a:lnTo>
                <a:lnTo>
                  <a:pt x="270206" y="325512"/>
                </a:lnTo>
                <a:lnTo>
                  <a:pt x="274591" y="327613"/>
                </a:lnTo>
                <a:lnTo>
                  <a:pt x="278975" y="329896"/>
                </a:lnTo>
                <a:lnTo>
                  <a:pt x="283177" y="332087"/>
                </a:lnTo>
                <a:lnTo>
                  <a:pt x="287197" y="334462"/>
                </a:lnTo>
                <a:lnTo>
                  <a:pt x="291125" y="336744"/>
                </a:lnTo>
                <a:lnTo>
                  <a:pt x="294778" y="339028"/>
                </a:lnTo>
                <a:lnTo>
                  <a:pt x="298249" y="341220"/>
                </a:lnTo>
                <a:lnTo>
                  <a:pt x="301537" y="343502"/>
                </a:lnTo>
                <a:lnTo>
                  <a:pt x="304644" y="345785"/>
                </a:lnTo>
                <a:lnTo>
                  <a:pt x="307567" y="348068"/>
                </a:lnTo>
                <a:lnTo>
                  <a:pt x="307567" y="301222"/>
                </a:lnTo>
                <a:lnTo>
                  <a:pt x="303273" y="298666"/>
                </a:lnTo>
                <a:lnTo>
                  <a:pt x="298889" y="296201"/>
                </a:lnTo>
                <a:lnTo>
                  <a:pt x="294687" y="294100"/>
                </a:lnTo>
                <a:lnTo>
                  <a:pt x="290485" y="291908"/>
                </a:lnTo>
                <a:lnTo>
                  <a:pt x="286465" y="289991"/>
                </a:lnTo>
                <a:lnTo>
                  <a:pt x="282537" y="288256"/>
                </a:lnTo>
                <a:lnTo>
                  <a:pt x="278701" y="286521"/>
                </a:lnTo>
                <a:lnTo>
                  <a:pt x="274865" y="285151"/>
                </a:lnTo>
                <a:lnTo>
                  <a:pt x="271028" y="283690"/>
                </a:lnTo>
                <a:lnTo>
                  <a:pt x="267191" y="282503"/>
                </a:lnTo>
                <a:lnTo>
                  <a:pt x="263172" y="281316"/>
                </a:lnTo>
                <a:lnTo>
                  <a:pt x="259152" y="280312"/>
                </a:lnTo>
                <a:lnTo>
                  <a:pt x="255041" y="279489"/>
                </a:lnTo>
                <a:lnTo>
                  <a:pt x="250749" y="278576"/>
                </a:lnTo>
                <a:lnTo>
                  <a:pt x="246546" y="277846"/>
                </a:lnTo>
                <a:lnTo>
                  <a:pt x="242071" y="277298"/>
                </a:lnTo>
                <a:lnTo>
                  <a:pt x="242071" y="263418"/>
                </a:lnTo>
                <a:lnTo>
                  <a:pt x="217042" y="263418"/>
                </a:lnTo>
                <a:close/>
                <a:moveTo>
                  <a:pt x="221334" y="149546"/>
                </a:moveTo>
                <a:lnTo>
                  <a:pt x="227273" y="149546"/>
                </a:lnTo>
                <a:lnTo>
                  <a:pt x="232844" y="149546"/>
                </a:lnTo>
                <a:lnTo>
                  <a:pt x="238234" y="149729"/>
                </a:lnTo>
                <a:lnTo>
                  <a:pt x="243624" y="150004"/>
                </a:lnTo>
                <a:lnTo>
                  <a:pt x="248830" y="150459"/>
                </a:lnTo>
                <a:lnTo>
                  <a:pt x="253945" y="151008"/>
                </a:lnTo>
                <a:lnTo>
                  <a:pt x="259061" y="151647"/>
                </a:lnTo>
                <a:lnTo>
                  <a:pt x="264085" y="152377"/>
                </a:lnTo>
                <a:lnTo>
                  <a:pt x="268926" y="153290"/>
                </a:lnTo>
                <a:lnTo>
                  <a:pt x="273769" y="154386"/>
                </a:lnTo>
                <a:lnTo>
                  <a:pt x="278519" y="155482"/>
                </a:lnTo>
                <a:lnTo>
                  <a:pt x="283177" y="156670"/>
                </a:lnTo>
                <a:lnTo>
                  <a:pt x="287835" y="158130"/>
                </a:lnTo>
                <a:lnTo>
                  <a:pt x="292312" y="159591"/>
                </a:lnTo>
                <a:lnTo>
                  <a:pt x="296788" y="161235"/>
                </a:lnTo>
                <a:lnTo>
                  <a:pt x="301081" y="163062"/>
                </a:lnTo>
                <a:lnTo>
                  <a:pt x="305374" y="164888"/>
                </a:lnTo>
                <a:lnTo>
                  <a:pt x="309576" y="166897"/>
                </a:lnTo>
                <a:lnTo>
                  <a:pt x="313687" y="169088"/>
                </a:lnTo>
                <a:lnTo>
                  <a:pt x="317797" y="171280"/>
                </a:lnTo>
                <a:lnTo>
                  <a:pt x="321817" y="173653"/>
                </a:lnTo>
                <a:lnTo>
                  <a:pt x="325745" y="176211"/>
                </a:lnTo>
                <a:lnTo>
                  <a:pt x="329673" y="178859"/>
                </a:lnTo>
                <a:lnTo>
                  <a:pt x="333418" y="181599"/>
                </a:lnTo>
                <a:lnTo>
                  <a:pt x="337163" y="184521"/>
                </a:lnTo>
                <a:lnTo>
                  <a:pt x="340817" y="187625"/>
                </a:lnTo>
                <a:lnTo>
                  <a:pt x="344471" y="190730"/>
                </a:lnTo>
                <a:lnTo>
                  <a:pt x="348033" y="194018"/>
                </a:lnTo>
                <a:lnTo>
                  <a:pt x="351504" y="197488"/>
                </a:lnTo>
                <a:lnTo>
                  <a:pt x="354976" y="201049"/>
                </a:lnTo>
                <a:lnTo>
                  <a:pt x="358264" y="204793"/>
                </a:lnTo>
                <a:lnTo>
                  <a:pt x="361645" y="208628"/>
                </a:lnTo>
                <a:lnTo>
                  <a:pt x="364842" y="212555"/>
                </a:lnTo>
                <a:lnTo>
                  <a:pt x="368038" y="216755"/>
                </a:lnTo>
                <a:lnTo>
                  <a:pt x="371328" y="220956"/>
                </a:lnTo>
                <a:lnTo>
                  <a:pt x="374433" y="225339"/>
                </a:lnTo>
                <a:lnTo>
                  <a:pt x="377448" y="229906"/>
                </a:lnTo>
                <a:lnTo>
                  <a:pt x="380463" y="234561"/>
                </a:lnTo>
                <a:lnTo>
                  <a:pt x="383385" y="239310"/>
                </a:lnTo>
                <a:lnTo>
                  <a:pt x="386309" y="244333"/>
                </a:lnTo>
                <a:lnTo>
                  <a:pt x="389231" y="249446"/>
                </a:lnTo>
                <a:lnTo>
                  <a:pt x="391972" y="254560"/>
                </a:lnTo>
                <a:lnTo>
                  <a:pt x="394712" y="259947"/>
                </a:lnTo>
                <a:lnTo>
                  <a:pt x="397453" y="265518"/>
                </a:lnTo>
                <a:lnTo>
                  <a:pt x="400194" y="271179"/>
                </a:lnTo>
                <a:lnTo>
                  <a:pt x="402843" y="276932"/>
                </a:lnTo>
                <a:lnTo>
                  <a:pt x="405399" y="282868"/>
                </a:lnTo>
                <a:lnTo>
                  <a:pt x="408048" y="288986"/>
                </a:lnTo>
                <a:lnTo>
                  <a:pt x="410606" y="295196"/>
                </a:lnTo>
                <a:lnTo>
                  <a:pt x="413073" y="301497"/>
                </a:lnTo>
                <a:lnTo>
                  <a:pt x="415447" y="308072"/>
                </a:lnTo>
                <a:lnTo>
                  <a:pt x="417914" y="314646"/>
                </a:lnTo>
                <a:lnTo>
                  <a:pt x="420381" y="321586"/>
                </a:lnTo>
                <a:lnTo>
                  <a:pt x="422756" y="328526"/>
                </a:lnTo>
                <a:lnTo>
                  <a:pt x="425040" y="335558"/>
                </a:lnTo>
                <a:lnTo>
                  <a:pt x="427323" y="342863"/>
                </a:lnTo>
                <a:lnTo>
                  <a:pt x="429607" y="350260"/>
                </a:lnTo>
                <a:lnTo>
                  <a:pt x="431890" y="357839"/>
                </a:lnTo>
                <a:lnTo>
                  <a:pt x="434175" y="365509"/>
                </a:lnTo>
                <a:lnTo>
                  <a:pt x="436275" y="373362"/>
                </a:lnTo>
                <a:lnTo>
                  <a:pt x="438467" y="381490"/>
                </a:lnTo>
                <a:lnTo>
                  <a:pt x="440660" y="389617"/>
                </a:lnTo>
                <a:lnTo>
                  <a:pt x="442761" y="397927"/>
                </a:lnTo>
                <a:lnTo>
                  <a:pt x="446963" y="415003"/>
                </a:lnTo>
                <a:lnTo>
                  <a:pt x="448333" y="421303"/>
                </a:lnTo>
                <a:lnTo>
                  <a:pt x="449612" y="427512"/>
                </a:lnTo>
                <a:lnTo>
                  <a:pt x="450525" y="433540"/>
                </a:lnTo>
                <a:lnTo>
                  <a:pt x="451256" y="439567"/>
                </a:lnTo>
                <a:lnTo>
                  <a:pt x="451895" y="445411"/>
                </a:lnTo>
                <a:lnTo>
                  <a:pt x="452170" y="451255"/>
                </a:lnTo>
                <a:lnTo>
                  <a:pt x="452261" y="456917"/>
                </a:lnTo>
                <a:lnTo>
                  <a:pt x="452170" y="462487"/>
                </a:lnTo>
                <a:lnTo>
                  <a:pt x="451895" y="468057"/>
                </a:lnTo>
                <a:lnTo>
                  <a:pt x="451348" y="473445"/>
                </a:lnTo>
                <a:lnTo>
                  <a:pt x="450708" y="478650"/>
                </a:lnTo>
                <a:lnTo>
                  <a:pt x="449886" y="483855"/>
                </a:lnTo>
                <a:lnTo>
                  <a:pt x="448790" y="488969"/>
                </a:lnTo>
                <a:lnTo>
                  <a:pt x="447511" y="493991"/>
                </a:lnTo>
                <a:lnTo>
                  <a:pt x="446141" y="498831"/>
                </a:lnTo>
                <a:lnTo>
                  <a:pt x="444588" y="503579"/>
                </a:lnTo>
                <a:lnTo>
                  <a:pt x="442761" y="508236"/>
                </a:lnTo>
                <a:lnTo>
                  <a:pt x="440842" y="512893"/>
                </a:lnTo>
                <a:lnTo>
                  <a:pt x="438742" y="517277"/>
                </a:lnTo>
                <a:lnTo>
                  <a:pt x="436458" y="521752"/>
                </a:lnTo>
                <a:lnTo>
                  <a:pt x="434083" y="525951"/>
                </a:lnTo>
                <a:lnTo>
                  <a:pt x="431526" y="530244"/>
                </a:lnTo>
                <a:lnTo>
                  <a:pt x="428785" y="534261"/>
                </a:lnTo>
                <a:lnTo>
                  <a:pt x="425861" y="538188"/>
                </a:lnTo>
                <a:lnTo>
                  <a:pt x="422848" y="542206"/>
                </a:lnTo>
                <a:lnTo>
                  <a:pt x="419741" y="545950"/>
                </a:lnTo>
                <a:lnTo>
                  <a:pt x="416453" y="549603"/>
                </a:lnTo>
                <a:lnTo>
                  <a:pt x="412891" y="553164"/>
                </a:lnTo>
                <a:lnTo>
                  <a:pt x="409327" y="556725"/>
                </a:lnTo>
                <a:lnTo>
                  <a:pt x="405674" y="560104"/>
                </a:lnTo>
                <a:lnTo>
                  <a:pt x="401837" y="563391"/>
                </a:lnTo>
                <a:lnTo>
                  <a:pt x="397817" y="566588"/>
                </a:lnTo>
                <a:lnTo>
                  <a:pt x="393799" y="569693"/>
                </a:lnTo>
                <a:lnTo>
                  <a:pt x="389688" y="572705"/>
                </a:lnTo>
                <a:lnTo>
                  <a:pt x="385303" y="575536"/>
                </a:lnTo>
                <a:lnTo>
                  <a:pt x="380919" y="578367"/>
                </a:lnTo>
                <a:lnTo>
                  <a:pt x="376443" y="581106"/>
                </a:lnTo>
                <a:lnTo>
                  <a:pt x="371875" y="583664"/>
                </a:lnTo>
                <a:lnTo>
                  <a:pt x="367125" y="586129"/>
                </a:lnTo>
                <a:lnTo>
                  <a:pt x="362375" y="588504"/>
                </a:lnTo>
                <a:lnTo>
                  <a:pt x="357443" y="590878"/>
                </a:lnTo>
                <a:lnTo>
                  <a:pt x="352419" y="593070"/>
                </a:lnTo>
                <a:lnTo>
                  <a:pt x="347395" y="595078"/>
                </a:lnTo>
                <a:lnTo>
                  <a:pt x="342188" y="597178"/>
                </a:lnTo>
                <a:lnTo>
                  <a:pt x="336981" y="599096"/>
                </a:lnTo>
                <a:lnTo>
                  <a:pt x="331682" y="600831"/>
                </a:lnTo>
                <a:lnTo>
                  <a:pt x="326293" y="602565"/>
                </a:lnTo>
                <a:lnTo>
                  <a:pt x="320904" y="604210"/>
                </a:lnTo>
                <a:lnTo>
                  <a:pt x="315332" y="605671"/>
                </a:lnTo>
                <a:lnTo>
                  <a:pt x="309759" y="607224"/>
                </a:lnTo>
                <a:lnTo>
                  <a:pt x="304187" y="608501"/>
                </a:lnTo>
                <a:lnTo>
                  <a:pt x="298432" y="609689"/>
                </a:lnTo>
                <a:lnTo>
                  <a:pt x="292768" y="610785"/>
                </a:lnTo>
                <a:lnTo>
                  <a:pt x="286922" y="611789"/>
                </a:lnTo>
                <a:lnTo>
                  <a:pt x="281076" y="612703"/>
                </a:lnTo>
                <a:lnTo>
                  <a:pt x="275229" y="613616"/>
                </a:lnTo>
                <a:lnTo>
                  <a:pt x="269384" y="614346"/>
                </a:lnTo>
                <a:lnTo>
                  <a:pt x="263446" y="614893"/>
                </a:lnTo>
                <a:lnTo>
                  <a:pt x="257416" y="615442"/>
                </a:lnTo>
                <a:lnTo>
                  <a:pt x="251479" y="615898"/>
                </a:lnTo>
                <a:lnTo>
                  <a:pt x="245450" y="616264"/>
                </a:lnTo>
                <a:lnTo>
                  <a:pt x="239422" y="616537"/>
                </a:lnTo>
                <a:lnTo>
                  <a:pt x="233393" y="616720"/>
                </a:lnTo>
                <a:lnTo>
                  <a:pt x="227273" y="616720"/>
                </a:lnTo>
                <a:lnTo>
                  <a:pt x="221244" y="616720"/>
                </a:lnTo>
                <a:lnTo>
                  <a:pt x="215123" y="616537"/>
                </a:lnTo>
                <a:lnTo>
                  <a:pt x="209094" y="616264"/>
                </a:lnTo>
                <a:lnTo>
                  <a:pt x="203065" y="615806"/>
                </a:lnTo>
                <a:lnTo>
                  <a:pt x="197037" y="615259"/>
                </a:lnTo>
                <a:lnTo>
                  <a:pt x="191008" y="614712"/>
                </a:lnTo>
                <a:lnTo>
                  <a:pt x="184978" y="613980"/>
                </a:lnTo>
                <a:lnTo>
                  <a:pt x="179041" y="613250"/>
                </a:lnTo>
                <a:lnTo>
                  <a:pt x="173012" y="612245"/>
                </a:lnTo>
                <a:lnTo>
                  <a:pt x="167166" y="611241"/>
                </a:lnTo>
                <a:lnTo>
                  <a:pt x="161228" y="610145"/>
                </a:lnTo>
                <a:lnTo>
                  <a:pt x="155382" y="608776"/>
                </a:lnTo>
                <a:lnTo>
                  <a:pt x="149628" y="607497"/>
                </a:lnTo>
                <a:lnTo>
                  <a:pt x="143872" y="605945"/>
                </a:lnTo>
                <a:lnTo>
                  <a:pt x="138209" y="604483"/>
                </a:lnTo>
                <a:lnTo>
                  <a:pt x="132636" y="602748"/>
                </a:lnTo>
                <a:lnTo>
                  <a:pt x="127065" y="600922"/>
                </a:lnTo>
                <a:lnTo>
                  <a:pt x="121583" y="599096"/>
                </a:lnTo>
                <a:lnTo>
                  <a:pt x="116103" y="597087"/>
                </a:lnTo>
                <a:lnTo>
                  <a:pt x="110714" y="594986"/>
                </a:lnTo>
                <a:lnTo>
                  <a:pt x="105507" y="592887"/>
                </a:lnTo>
                <a:lnTo>
                  <a:pt x="100300" y="590512"/>
                </a:lnTo>
                <a:lnTo>
                  <a:pt x="95093" y="588138"/>
                </a:lnTo>
                <a:lnTo>
                  <a:pt x="90068" y="585673"/>
                </a:lnTo>
                <a:lnTo>
                  <a:pt x="85227" y="583024"/>
                </a:lnTo>
                <a:lnTo>
                  <a:pt x="80294" y="580376"/>
                </a:lnTo>
                <a:lnTo>
                  <a:pt x="75636" y="577637"/>
                </a:lnTo>
                <a:lnTo>
                  <a:pt x="70976" y="574714"/>
                </a:lnTo>
                <a:lnTo>
                  <a:pt x="66410" y="571701"/>
                </a:lnTo>
                <a:lnTo>
                  <a:pt x="62024" y="568597"/>
                </a:lnTo>
                <a:lnTo>
                  <a:pt x="57823" y="565309"/>
                </a:lnTo>
                <a:lnTo>
                  <a:pt x="53529" y="562022"/>
                </a:lnTo>
                <a:lnTo>
                  <a:pt x="49510" y="558643"/>
                </a:lnTo>
                <a:lnTo>
                  <a:pt x="45582" y="555173"/>
                </a:lnTo>
                <a:lnTo>
                  <a:pt x="41838" y="551612"/>
                </a:lnTo>
                <a:lnTo>
                  <a:pt x="38183" y="547959"/>
                </a:lnTo>
                <a:lnTo>
                  <a:pt x="34712" y="544124"/>
                </a:lnTo>
                <a:lnTo>
                  <a:pt x="31332" y="540288"/>
                </a:lnTo>
                <a:lnTo>
                  <a:pt x="28136" y="536362"/>
                </a:lnTo>
                <a:lnTo>
                  <a:pt x="25121" y="532252"/>
                </a:lnTo>
                <a:lnTo>
                  <a:pt x="22197" y="528143"/>
                </a:lnTo>
                <a:lnTo>
                  <a:pt x="19458" y="523944"/>
                </a:lnTo>
                <a:lnTo>
                  <a:pt x="16807" y="519560"/>
                </a:lnTo>
                <a:lnTo>
                  <a:pt x="14432" y="515177"/>
                </a:lnTo>
                <a:lnTo>
                  <a:pt x="12149" y="510610"/>
                </a:lnTo>
                <a:lnTo>
                  <a:pt x="10140" y="506045"/>
                </a:lnTo>
                <a:lnTo>
                  <a:pt x="8221" y="501297"/>
                </a:lnTo>
                <a:lnTo>
                  <a:pt x="6486" y="496457"/>
                </a:lnTo>
                <a:lnTo>
                  <a:pt x="5024" y="491617"/>
                </a:lnTo>
                <a:lnTo>
                  <a:pt x="3654" y="486686"/>
                </a:lnTo>
                <a:lnTo>
                  <a:pt x="2558" y="481573"/>
                </a:lnTo>
                <a:lnTo>
                  <a:pt x="1645" y="476458"/>
                </a:lnTo>
                <a:lnTo>
                  <a:pt x="1005" y="471162"/>
                </a:lnTo>
                <a:lnTo>
                  <a:pt x="366" y="465866"/>
                </a:lnTo>
                <a:lnTo>
                  <a:pt x="91" y="460386"/>
                </a:lnTo>
                <a:lnTo>
                  <a:pt x="0" y="454908"/>
                </a:lnTo>
                <a:lnTo>
                  <a:pt x="183" y="449337"/>
                </a:lnTo>
                <a:lnTo>
                  <a:pt x="456" y="443676"/>
                </a:lnTo>
                <a:lnTo>
                  <a:pt x="1187" y="437923"/>
                </a:lnTo>
                <a:lnTo>
                  <a:pt x="1918" y="432079"/>
                </a:lnTo>
                <a:lnTo>
                  <a:pt x="3015" y="426143"/>
                </a:lnTo>
                <a:lnTo>
                  <a:pt x="4293" y="420116"/>
                </a:lnTo>
                <a:lnTo>
                  <a:pt x="5846" y="413998"/>
                </a:lnTo>
                <a:lnTo>
                  <a:pt x="7673" y="407789"/>
                </a:lnTo>
                <a:lnTo>
                  <a:pt x="11966" y="393908"/>
                </a:lnTo>
                <a:lnTo>
                  <a:pt x="16351" y="380211"/>
                </a:lnTo>
                <a:lnTo>
                  <a:pt x="20645" y="366787"/>
                </a:lnTo>
                <a:lnTo>
                  <a:pt x="25029" y="353729"/>
                </a:lnTo>
                <a:lnTo>
                  <a:pt x="29505" y="340854"/>
                </a:lnTo>
                <a:lnTo>
                  <a:pt x="34073" y="328343"/>
                </a:lnTo>
                <a:lnTo>
                  <a:pt x="38640" y="316107"/>
                </a:lnTo>
                <a:lnTo>
                  <a:pt x="41015" y="310172"/>
                </a:lnTo>
                <a:lnTo>
                  <a:pt x="43390" y="304236"/>
                </a:lnTo>
                <a:lnTo>
                  <a:pt x="45766" y="298483"/>
                </a:lnTo>
                <a:lnTo>
                  <a:pt x="48141" y="292730"/>
                </a:lnTo>
                <a:lnTo>
                  <a:pt x="50606" y="287068"/>
                </a:lnTo>
                <a:lnTo>
                  <a:pt x="53165" y="281498"/>
                </a:lnTo>
                <a:lnTo>
                  <a:pt x="55721" y="276019"/>
                </a:lnTo>
                <a:lnTo>
                  <a:pt x="58280" y="270723"/>
                </a:lnTo>
                <a:lnTo>
                  <a:pt x="60928" y="265426"/>
                </a:lnTo>
                <a:lnTo>
                  <a:pt x="63486" y="260222"/>
                </a:lnTo>
                <a:lnTo>
                  <a:pt x="66227" y="255109"/>
                </a:lnTo>
                <a:lnTo>
                  <a:pt x="69059" y="250269"/>
                </a:lnTo>
                <a:lnTo>
                  <a:pt x="71798" y="245337"/>
                </a:lnTo>
                <a:lnTo>
                  <a:pt x="74722" y="240589"/>
                </a:lnTo>
                <a:lnTo>
                  <a:pt x="77554" y="235840"/>
                </a:lnTo>
                <a:lnTo>
                  <a:pt x="80569" y="231275"/>
                </a:lnTo>
                <a:lnTo>
                  <a:pt x="83583" y="226892"/>
                </a:lnTo>
                <a:lnTo>
                  <a:pt x="86689" y="222508"/>
                </a:lnTo>
                <a:lnTo>
                  <a:pt x="89794" y="218216"/>
                </a:lnTo>
                <a:lnTo>
                  <a:pt x="92992" y="214107"/>
                </a:lnTo>
                <a:lnTo>
                  <a:pt x="96280" y="210088"/>
                </a:lnTo>
                <a:lnTo>
                  <a:pt x="99661" y="206163"/>
                </a:lnTo>
                <a:lnTo>
                  <a:pt x="103040" y="202419"/>
                </a:lnTo>
                <a:lnTo>
                  <a:pt x="106511" y="198765"/>
                </a:lnTo>
                <a:lnTo>
                  <a:pt x="109982" y="195113"/>
                </a:lnTo>
                <a:lnTo>
                  <a:pt x="113636" y="191734"/>
                </a:lnTo>
                <a:lnTo>
                  <a:pt x="117291" y="188448"/>
                </a:lnTo>
                <a:lnTo>
                  <a:pt x="121126" y="185251"/>
                </a:lnTo>
                <a:lnTo>
                  <a:pt x="124963" y="182146"/>
                </a:lnTo>
                <a:lnTo>
                  <a:pt x="128800" y="179225"/>
                </a:lnTo>
                <a:lnTo>
                  <a:pt x="132911" y="176394"/>
                </a:lnTo>
                <a:lnTo>
                  <a:pt x="136930" y="173745"/>
                </a:lnTo>
                <a:lnTo>
                  <a:pt x="141131" y="171188"/>
                </a:lnTo>
                <a:lnTo>
                  <a:pt x="145425" y="168815"/>
                </a:lnTo>
                <a:lnTo>
                  <a:pt x="149719" y="166531"/>
                </a:lnTo>
                <a:lnTo>
                  <a:pt x="154195" y="164341"/>
                </a:lnTo>
                <a:lnTo>
                  <a:pt x="158761" y="162330"/>
                </a:lnTo>
                <a:lnTo>
                  <a:pt x="163421" y="160505"/>
                </a:lnTo>
                <a:lnTo>
                  <a:pt x="168171" y="158769"/>
                </a:lnTo>
                <a:lnTo>
                  <a:pt x="173012" y="157217"/>
                </a:lnTo>
                <a:lnTo>
                  <a:pt x="177945" y="155755"/>
                </a:lnTo>
                <a:lnTo>
                  <a:pt x="182969" y="154478"/>
                </a:lnTo>
                <a:lnTo>
                  <a:pt x="188084" y="153290"/>
                </a:lnTo>
                <a:lnTo>
                  <a:pt x="193383" y="152286"/>
                </a:lnTo>
                <a:lnTo>
                  <a:pt x="198772" y="151464"/>
                </a:lnTo>
                <a:lnTo>
                  <a:pt x="204253" y="150734"/>
                </a:lnTo>
                <a:lnTo>
                  <a:pt x="209826" y="150186"/>
                </a:lnTo>
                <a:lnTo>
                  <a:pt x="215489" y="149821"/>
                </a:lnTo>
                <a:lnTo>
                  <a:pt x="221334" y="149546"/>
                </a:lnTo>
                <a:close/>
                <a:moveTo>
                  <a:pt x="183500" y="0"/>
                </a:moveTo>
                <a:lnTo>
                  <a:pt x="186787" y="91"/>
                </a:lnTo>
                <a:lnTo>
                  <a:pt x="189982" y="274"/>
                </a:lnTo>
                <a:lnTo>
                  <a:pt x="193086" y="640"/>
                </a:lnTo>
                <a:lnTo>
                  <a:pt x="196007" y="1006"/>
                </a:lnTo>
                <a:lnTo>
                  <a:pt x="198836" y="1556"/>
                </a:lnTo>
                <a:lnTo>
                  <a:pt x="201574" y="2287"/>
                </a:lnTo>
                <a:lnTo>
                  <a:pt x="204222" y="3019"/>
                </a:lnTo>
                <a:lnTo>
                  <a:pt x="206596" y="3750"/>
                </a:lnTo>
                <a:lnTo>
                  <a:pt x="208968" y="4575"/>
                </a:lnTo>
                <a:lnTo>
                  <a:pt x="211252" y="5580"/>
                </a:lnTo>
                <a:lnTo>
                  <a:pt x="213351" y="6586"/>
                </a:lnTo>
                <a:lnTo>
                  <a:pt x="215359" y="7593"/>
                </a:lnTo>
                <a:lnTo>
                  <a:pt x="217275" y="8691"/>
                </a:lnTo>
                <a:lnTo>
                  <a:pt x="219102" y="9788"/>
                </a:lnTo>
                <a:lnTo>
                  <a:pt x="220745" y="10978"/>
                </a:lnTo>
                <a:lnTo>
                  <a:pt x="222388" y="12075"/>
                </a:lnTo>
                <a:lnTo>
                  <a:pt x="223757" y="13172"/>
                </a:lnTo>
                <a:lnTo>
                  <a:pt x="225218" y="14362"/>
                </a:lnTo>
                <a:lnTo>
                  <a:pt x="227592" y="16467"/>
                </a:lnTo>
                <a:lnTo>
                  <a:pt x="229599" y="18478"/>
                </a:lnTo>
                <a:lnTo>
                  <a:pt x="231334" y="20400"/>
                </a:lnTo>
                <a:lnTo>
                  <a:pt x="232520" y="21864"/>
                </a:lnTo>
                <a:lnTo>
                  <a:pt x="233342" y="23144"/>
                </a:lnTo>
                <a:lnTo>
                  <a:pt x="234164" y="24150"/>
                </a:lnTo>
                <a:lnTo>
                  <a:pt x="237907" y="20857"/>
                </a:lnTo>
                <a:lnTo>
                  <a:pt x="241558" y="17838"/>
                </a:lnTo>
                <a:lnTo>
                  <a:pt x="245027" y="15094"/>
                </a:lnTo>
                <a:lnTo>
                  <a:pt x="248496" y="12624"/>
                </a:lnTo>
                <a:lnTo>
                  <a:pt x="251964" y="10429"/>
                </a:lnTo>
                <a:lnTo>
                  <a:pt x="255251" y="8599"/>
                </a:lnTo>
                <a:lnTo>
                  <a:pt x="258355" y="6861"/>
                </a:lnTo>
                <a:lnTo>
                  <a:pt x="261459" y="5397"/>
                </a:lnTo>
                <a:lnTo>
                  <a:pt x="264380" y="4117"/>
                </a:lnTo>
                <a:lnTo>
                  <a:pt x="267209" y="3019"/>
                </a:lnTo>
                <a:lnTo>
                  <a:pt x="269947" y="2196"/>
                </a:lnTo>
                <a:lnTo>
                  <a:pt x="272595" y="1373"/>
                </a:lnTo>
                <a:lnTo>
                  <a:pt x="275060" y="914"/>
                </a:lnTo>
                <a:lnTo>
                  <a:pt x="277433" y="457"/>
                </a:lnTo>
                <a:lnTo>
                  <a:pt x="279715" y="183"/>
                </a:lnTo>
                <a:lnTo>
                  <a:pt x="281907" y="91"/>
                </a:lnTo>
                <a:lnTo>
                  <a:pt x="283915" y="0"/>
                </a:lnTo>
                <a:lnTo>
                  <a:pt x="285831" y="91"/>
                </a:lnTo>
                <a:lnTo>
                  <a:pt x="287658" y="183"/>
                </a:lnTo>
                <a:lnTo>
                  <a:pt x="289301" y="366"/>
                </a:lnTo>
                <a:lnTo>
                  <a:pt x="290853" y="640"/>
                </a:lnTo>
                <a:lnTo>
                  <a:pt x="292222" y="914"/>
                </a:lnTo>
                <a:lnTo>
                  <a:pt x="293591" y="1280"/>
                </a:lnTo>
                <a:lnTo>
                  <a:pt x="294687" y="1556"/>
                </a:lnTo>
                <a:lnTo>
                  <a:pt x="296695" y="2379"/>
                </a:lnTo>
                <a:lnTo>
                  <a:pt x="298064" y="3019"/>
                </a:lnTo>
                <a:lnTo>
                  <a:pt x="299160" y="3567"/>
                </a:lnTo>
                <a:lnTo>
                  <a:pt x="300893" y="5306"/>
                </a:lnTo>
                <a:lnTo>
                  <a:pt x="302628" y="7043"/>
                </a:lnTo>
                <a:lnTo>
                  <a:pt x="304180" y="8965"/>
                </a:lnTo>
                <a:lnTo>
                  <a:pt x="305732" y="11069"/>
                </a:lnTo>
                <a:lnTo>
                  <a:pt x="307101" y="13082"/>
                </a:lnTo>
                <a:lnTo>
                  <a:pt x="308470" y="15277"/>
                </a:lnTo>
                <a:lnTo>
                  <a:pt x="309748" y="17564"/>
                </a:lnTo>
                <a:lnTo>
                  <a:pt x="310935" y="19851"/>
                </a:lnTo>
                <a:lnTo>
                  <a:pt x="312122" y="22047"/>
                </a:lnTo>
                <a:lnTo>
                  <a:pt x="313126" y="24425"/>
                </a:lnTo>
                <a:lnTo>
                  <a:pt x="314039" y="26895"/>
                </a:lnTo>
                <a:lnTo>
                  <a:pt x="315044" y="29273"/>
                </a:lnTo>
                <a:lnTo>
                  <a:pt x="316686" y="33939"/>
                </a:lnTo>
                <a:lnTo>
                  <a:pt x="318146" y="38604"/>
                </a:lnTo>
                <a:lnTo>
                  <a:pt x="319334" y="42996"/>
                </a:lnTo>
                <a:lnTo>
                  <a:pt x="320337" y="47203"/>
                </a:lnTo>
                <a:lnTo>
                  <a:pt x="321067" y="50955"/>
                </a:lnTo>
                <a:lnTo>
                  <a:pt x="321708" y="54157"/>
                </a:lnTo>
                <a:lnTo>
                  <a:pt x="322438" y="59004"/>
                </a:lnTo>
                <a:lnTo>
                  <a:pt x="322619" y="60651"/>
                </a:lnTo>
                <a:lnTo>
                  <a:pt x="324720" y="60101"/>
                </a:lnTo>
                <a:lnTo>
                  <a:pt x="326728" y="59553"/>
                </a:lnTo>
                <a:lnTo>
                  <a:pt x="328554" y="58913"/>
                </a:lnTo>
                <a:lnTo>
                  <a:pt x="330471" y="58181"/>
                </a:lnTo>
                <a:lnTo>
                  <a:pt x="332114" y="57450"/>
                </a:lnTo>
                <a:lnTo>
                  <a:pt x="333757" y="56718"/>
                </a:lnTo>
                <a:lnTo>
                  <a:pt x="335399" y="55985"/>
                </a:lnTo>
                <a:lnTo>
                  <a:pt x="336768" y="55071"/>
                </a:lnTo>
                <a:lnTo>
                  <a:pt x="338230" y="54247"/>
                </a:lnTo>
                <a:lnTo>
                  <a:pt x="339508" y="53424"/>
                </a:lnTo>
                <a:lnTo>
                  <a:pt x="341973" y="51686"/>
                </a:lnTo>
                <a:lnTo>
                  <a:pt x="343981" y="49948"/>
                </a:lnTo>
                <a:lnTo>
                  <a:pt x="345898" y="48210"/>
                </a:lnTo>
                <a:lnTo>
                  <a:pt x="347541" y="46563"/>
                </a:lnTo>
                <a:lnTo>
                  <a:pt x="348819" y="45008"/>
                </a:lnTo>
                <a:lnTo>
                  <a:pt x="349914" y="43636"/>
                </a:lnTo>
                <a:lnTo>
                  <a:pt x="350827" y="42356"/>
                </a:lnTo>
                <a:lnTo>
                  <a:pt x="351832" y="40434"/>
                </a:lnTo>
                <a:lnTo>
                  <a:pt x="352196" y="39794"/>
                </a:lnTo>
                <a:lnTo>
                  <a:pt x="352744" y="42813"/>
                </a:lnTo>
                <a:lnTo>
                  <a:pt x="353292" y="45832"/>
                </a:lnTo>
                <a:lnTo>
                  <a:pt x="353565" y="48759"/>
                </a:lnTo>
                <a:lnTo>
                  <a:pt x="353748" y="51686"/>
                </a:lnTo>
                <a:lnTo>
                  <a:pt x="353748" y="54522"/>
                </a:lnTo>
                <a:lnTo>
                  <a:pt x="353565" y="57267"/>
                </a:lnTo>
                <a:lnTo>
                  <a:pt x="353292" y="60010"/>
                </a:lnTo>
                <a:lnTo>
                  <a:pt x="352835" y="62755"/>
                </a:lnTo>
                <a:lnTo>
                  <a:pt x="352288" y="65408"/>
                </a:lnTo>
                <a:lnTo>
                  <a:pt x="351740" y="67969"/>
                </a:lnTo>
                <a:lnTo>
                  <a:pt x="350919" y="70531"/>
                </a:lnTo>
                <a:lnTo>
                  <a:pt x="350006" y="73001"/>
                </a:lnTo>
                <a:lnTo>
                  <a:pt x="349093" y="75380"/>
                </a:lnTo>
                <a:lnTo>
                  <a:pt x="347998" y="77850"/>
                </a:lnTo>
                <a:lnTo>
                  <a:pt x="346810" y="80228"/>
                </a:lnTo>
                <a:lnTo>
                  <a:pt x="345624" y="82514"/>
                </a:lnTo>
                <a:lnTo>
                  <a:pt x="344255" y="84710"/>
                </a:lnTo>
                <a:lnTo>
                  <a:pt x="342795" y="86906"/>
                </a:lnTo>
                <a:lnTo>
                  <a:pt x="341334" y="89101"/>
                </a:lnTo>
                <a:lnTo>
                  <a:pt x="339691" y="91114"/>
                </a:lnTo>
                <a:lnTo>
                  <a:pt x="338047" y="93218"/>
                </a:lnTo>
                <a:lnTo>
                  <a:pt x="336404" y="95231"/>
                </a:lnTo>
                <a:lnTo>
                  <a:pt x="334578" y="97151"/>
                </a:lnTo>
                <a:lnTo>
                  <a:pt x="332844" y="99073"/>
                </a:lnTo>
                <a:lnTo>
                  <a:pt x="330926" y="100994"/>
                </a:lnTo>
                <a:lnTo>
                  <a:pt x="329010" y="102732"/>
                </a:lnTo>
                <a:lnTo>
                  <a:pt x="327092" y="104562"/>
                </a:lnTo>
                <a:lnTo>
                  <a:pt x="325084" y="106299"/>
                </a:lnTo>
                <a:lnTo>
                  <a:pt x="321067" y="109592"/>
                </a:lnTo>
                <a:lnTo>
                  <a:pt x="316869" y="112702"/>
                </a:lnTo>
                <a:lnTo>
                  <a:pt x="312762" y="115631"/>
                </a:lnTo>
                <a:lnTo>
                  <a:pt x="308562" y="118374"/>
                </a:lnTo>
                <a:lnTo>
                  <a:pt x="304363" y="120846"/>
                </a:lnTo>
                <a:lnTo>
                  <a:pt x="300346" y="123132"/>
                </a:lnTo>
                <a:lnTo>
                  <a:pt x="296421" y="125327"/>
                </a:lnTo>
                <a:lnTo>
                  <a:pt x="292496" y="127339"/>
                </a:lnTo>
                <a:lnTo>
                  <a:pt x="288935" y="129078"/>
                </a:lnTo>
                <a:lnTo>
                  <a:pt x="285558" y="130725"/>
                </a:lnTo>
                <a:lnTo>
                  <a:pt x="282363" y="132005"/>
                </a:lnTo>
                <a:lnTo>
                  <a:pt x="279533" y="133286"/>
                </a:lnTo>
                <a:lnTo>
                  <a:pt x="274786" y="135115"/>
                </a:lnTo>
                <a:lnTo>
                  <a:pt x="271774" y="136305"/>
                </a:lnTo>
                <a:lnTo>
                  <a:pt x="270769" y="136671"/>
                </a:lnTo>
                <a:lnTo>
                  <a:pt x="265201" y="135298"/>
                </a:lnTo>
                <a:lnTo>
                  <a:pt x="259815" y="134292"/>
                </a:lnTo>
                <a:lnTo>
                  <a:pt x="254704" y="133378"/>
                </a:lnTo>
                <a:lnTo>
                  <a:pt x="249682" y="132554"/>
                </a:lnTo>
                <a:lnTo>
                  <a:pt x="244845" y="131914"/>
                </a:lnTo>
                <a:lnTo>
                  <a:pt x="240189" y="131456"/>
                </a:lnTo>
                <a:lnTo>
                  <a:pt x="235716" y="131091"/>
                </a:lnTo>
                <a:lnTo>
                  <a:pt x="231517" y="130816"/>
                </a:lnTo>
                <a:lnTo>
                  <a:pt x="227317" y="130633"/>
                </a:lnTo>
                <a:lnTo>
                  <a:pt x="223483" y="130633"/>
                </a:lnTo>
                <a:lnTo>
                  <a:pt x="219740" y="130633"/>
                </a:lnTo>
                <a:lnTo>
                  <a:pt x="216272" y="130816"/>
                </a:lnTo>
                <a:lnTo>
                  <a:pt x="212894" y="130999"/>
                </a:lnTo>
                <a:lnTo>
                  <a:pt x="209608" y="131274"/>
                </a:lnTo>
                <a:lnTo>
                  <a:pt x="206596" y="131548"/>
                </a:lnTo>
                <a:lnTo>
                  <a:pt x="203765" y="131914"/>
                </a:lnTo>
                <a:lnTo>
                  <a:pt x="201118" y="132371"/>
                </a:lnTo>
                <a:lnTo>
                  <a:pt x="198653" y="132829"/>
                </a:lnTo>
                <a:lnTo>
                  <a:pt x="196371" y="133378"/>
                </a:lnTo>
                <a:lnTo>
                  <a:pt x="194180" y="133835"/>
                </a:lnTo>
                <a:lnTo>
                  <a:pt x="190438" y="134841"/>
                </a:lnTo>
                <a:lnTo>
                  <a:pt x="187425" y="135755"/>
                </a:lnTo>
                <a:lnTo>
                  <a:pt x="184960" y="136762"/>
                </a:lnTo>
                <a:lnTo>
                  <a:pt x="183318" y="137403"/>
                </a:lnTo>
                <a:lnTo>
                  <a:pt x="181948" y="138043"/>
                </a:lnTo>
                <a:lnTo>
                  <a:pt x="179575" y="135755"/>
                </a:lnTo>
                <a:lnTo>
                  <a:pt x="177110" y="133378"/>
                </a:lnTo>
                <a:lnTo>
                  <a:pt x="171541" y="128346"/>
                </a:lnTo>
                <a:lnTo>
                  <a:pt x="165425" y="123132"/>
                </a:lnTo>
                <a:lnTo>
                  <a:pt x="158853" y="117734"/>
                </a:lnTo>
                <a:lnTo>
                  <a:pt x="152098" y="112429"/>
                </a:lnTo>
                <a:lnTo>
                  <a:pt x="145160" y="107123"/>
                </a:lnTo>
                <a:lnTo>
                  <a:pt x="138313" y="101817"/>
                </a:lnTo>
                <a:lnTo>
                  <a:pt x="131467" y="96785"/>
                </a:lnTo>
                <a:lnTo>
                  <a:pt x="118961" y="87638"/>
                </a:lnTo>
                <a:lnTo>
                  <a:pt x="108737" y="80320"/>
                </a:lnTo>
                <a:lnTo>
                  <a:pt x="101708" y="75380"/>
                </a:lnTo>
                <a:lnTo>
                  <a:pt x="99151" y="73732"/>
                </a:lnTo>
                <a:lnTo>
                  <a:pt x="101434" y="71079"/>
                </a:lnTo>
                <a:lnTo>
                  <a:pt x="103807" y="68702"/>
                </a:lnTo>
                <a:lnTo>
                  <a:pt x="106181" y="66598"/>
                </a:lnTo>
                <a:lnTo>
                  <a:pt x="108646" y="64676"/>
                </a:lnTo>
                <a:lnTo>
                  <a:pt x="110928" y="62939"/>
                </a:lnTo>
                <a:lnTo>
                  <a:pt x="113483" y="61383"/>
                </a:lnTo>
                <a:lnTo>
                  <a:pt x="115948" y="60101"/>
                </a:lnTo>
                <a:lnTo>
                  <a:pt x="118414" y="59004"/>
                </a:lnTo>
                <a:lnTo>
                  <a:pt x="120877" y="57998"/>
                </a:lnTo>
                <a:lnTo>
                  <a:pt x="123342" y="57175"/>
                </a:lnTo>
                <a:lnTo>
                  <a:pt x="125716" y="56534"/>
                </a:lnTo>
                <a:lnTo>
                  <a:pt x="128090" y="55985"/>
                </a:lnTo>
                <a:lnTo>
                  <a:pt x="130463" y="55620"/>
                </a:lnTo>
                <a:lnTo>
                  <a:pt x="132837" y="55162"/>
                </a:lnTo>
                <a:lnTo>
                  <a:pt x="135028" y="54980"/>
                </a:lnTo>
                <a:lnTo>
                  <a:pt x="137218" y="54888"/>
                </a:lnTo>
                <a:lnTo>
                  <a:pt x="139409" y="54888"/>
                </a:lnTo>
                <a:lnTo>
                  <a:pt x="141417" y="54980"/>
                </a:lnTo>
                <a:lnTo>
                  <a:pt x="143333" y="55071"/>
                </a:lnTo>
                <a:lnTo>
                  <a:pt x="145251" y="55254"/>
                </a:lnTo>
                <a:lnTo>
                  <a:pt x="148629" y="55803"/>
                </a:lnTo>
                <a:lnTo>
                  <a:pt x="151550" y="56351"/>
                </a:lnTo>
                <a:lnTo>
                  <a:pt x="154014" y="56900"/>
                </a:lnTo>
                <a:lnTo>
                  <a:pt x="155749" y="57450"/>
                </a:lnTo>
                <a:lnTo>
                  <a:pt x="157301" y="57907"/>
                </a:lnTo>
                <a:lnTo>
                  <a:pt x="157118" y="54705"/>
                </a:lnTo>
                <a:lnTo>
                  <a:pt x="157118" y="51504"/>
                </a:lnTo>
                <a:lnTo>
                  <a:pt x="157301" y="48393"/>
                </a:lnTo>
                <a:lnTo>
                  <a:pt x="157575" y="45282"/>
                </a:lnTo>
                <a:lnTo>
                  <a:pt x="158031" y="42356"/>
                </a:lnTo>
                <a:lnTo>
                  <a:pt x="158670" y="39519"/>
                </a:lnTo>
                <a:lnTo>
                  <a:pt x="159400" y="36684"/>
                </a:lnTo>
                <a:lnTo>
                  <a:pt x="160222" y="33939"/>
                </a:lnTo>
                <a:lnTo>
                  <a:pt x="161135" y="31378"/>
                </a:lnTo>
                <a:lnTo>
                  <a:pt x="162140" y="28908"/>
                </a:lnTo>
                <a:lnTo>
                  <a:pt x="163234" y="26438"/>
                </a:lnTo>
                <a:lnTo>
                  <a:pt x="164330" y="24059"/>
                </a:lnTo>
                <a:lnTo>
                  <a:pt x="165608" y="21864"/>
                </a:lnTo>
                <a:lnTo>
                  <a:pt x="166795" y="19760"/>
                </a:lnTo>
                <a:lnTo>
                  <a:pt x="168073" y="17656"/>
                </a:lnTo>
                <a:lnTo>
                  <a:pt x="169351" y="15734"/>
                </a:lnTo>
                <a:lnTo>
                  <a:pt x="170628" y="13905"/>
                </a:lnTo>
                <a:lnTo>
                  <a:pt x="171907" y="12167"/>
                </a:lnTo>
                <a:lnTo>
                  <a:pt x="174462" y="9056"/>
                </a:lnTo>
                <a:lnTo>
                  <a:pt x="176836" y="6312"/>
                </a:lnTo>
                <a:lnTo>
                  <a:pt x="178935" y="4117"/>
                </a:lnTo>
                <a:lnTo>
                  <a:pt x="180853" y="2379"/>
                </a:lnTo>
                <a:lnTo>
                  <a:pt x="182222" y="1006"/>
                </a:lnTo>
                <a:lnTo>
                  <a:pt x="183500" y="0"/>
                </a:lnTo>
                <a:close/>
              </a:path>
            </a:pathLst>
          </a:custGeom>
          <a:solidFill>
            <a:srgbClr val="FFFFFF">
              <a:alpha val="100000"/>
            </a:srgbClr>
          </a:solidFill>
          <a:ln w="25400" cap="flat" cmpd="sng">
            <a:noFill/>
            <a:prstDash val="solid"/>
            <a:round/>
          </a:ln>
        </p:spPr>
        <p:txBody>
          <a:bodyPr vert="horz" wrap="square" lIns="68580" tIns="34290" rIns="68580" bIns="34290" rtlCol="0" anchor="ctr" anchorCtr="0"/>
          <a:lstStyle/>
          <a:p>
            <a:pPr algn="ctr">
              <a:defRPr/>
            </a:pPr>
          </a:p>
        </p:txBody>
      </p:sp>
      <p:sp>
        <p:nvSpPr>
          <p:cNvPr id="5" name="文本框 4"/>
          <p:cNvSpPr txBox="1"/>
          <p:nvPr userDrawn="1"/>
        </p:nvSpPr>
        <p:spPr>
          <a:xfrm>
            <a:off x="678736" y="2200473"/>
            <a:ext cx="11286025" cy="2948703"/>
          </a:xfrm>
          <a:prstGeom prst="rect">
            <a:avLst/>
          </a:prstGeom>
        </p:spPr>
        <p:txBody>
          <a:bodyPr wrap="square" rtlCol="0">
            <a:noAutofit/>
          </a:bodyPr>
          <a:p>
            <a:pPr algn="l" defTabSz="457200">
              <a:spcAft>
                <a:spcPts val="1000"/>
              </a:spcAft>
              <a:defRPr sz="1900" b="1">
                <a:solidFill>
                  <a:srgbClr val="373E48"/>
                </a:solidFill>
                <a:latin typeface="Aptos"/>
              </a:defRPr>
            </a:pPr>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(1)</a:t>
            </a:r>
            <a:r>
              <a:rPr lang="en-US" altLang="zh-CN"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a:t>
            </a:r>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EVENTS: </a:t>
            </a:r>
            <a:r>
              <a:rPr lang="en-US" altLang="zh-CN"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often but not always performed by verbs (e.g., run,fall,grow, think);</a:t>
            </a:r>
            <a:endParaRPr lang="en-US" altLang="zh-CN" sz="2400" b="0">
              <a:latin typeface="Times New Roman" panose="02020603050405020304" charset="0"/>
              <a:ea typeface="Times New Roman" panose="02020603050405020304" charset="0"/>
              <a:cs typeface="Times New Roman" panose="02020603050405020304" charset="0"/>
            </a:endParaRPr>
          </a:p>
          <a:p>
            <a:r>
              <a:rPr lang="en-US" altLang="zh-CN" sz="24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(2) </a:t>
            </a:r>
            <a:r>
              <a:rPr lang="en-US" altLang="zh-CN" sz="24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OBJECTS: </a:t>
            </a:r>
            <a:r>
              <a:rPr lang="en-US" altLang="zh-CN"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often but not always performed by nouns (e.g., man, horse, mountain);</a:t>
            </a:r>
            <a:endParaRPr lang="en-US" altLang="zh-CN" sz="2000" b="0">
              <a:latin typeface="Times New Roman" panose="02020603050405020304" charset="0"/>
              <a:ea typeface="Times New Roman" panose="02020603050405020304" charset="0"/>
              <a:cs typeface="Times New Roman" panose="02020603050405020304" charset="0"/>
            </a:endParaRPr>
          </a:p>
          <a:p>
            <a:r>
              <a:rPr lang="en-US" altLang="zh-CN" sz="24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(3) ABSTRACTS:</a:t>
            </a:r>
            <a:r>
              <a:rPr lang="en-US" altLang="zh-CN"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quantities and qualities, including adjectives and adverbs  (e.g., red, </a:t>
            </a:r>
            <a:endParaRPr lang="en-US" altLang="zh-CN" sz="2000" b="0">
              <a:latin typeface="Times New Roman" panose="02020603050405020304" charset="0"/>
              <a:ea typeface="Times New Roman" panose="02020603050405020304" charset="0"/>
              <a:cs typeface="Times New Roman" panose="02020603050405020304" charset="0"/>
            </a:endParaRPr>
          </a:p>
          <a:p>
            <a:r>
              <a:rPr lang="en-US" altLang="zh-CN"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length, slowly);</a:t>
            </a:r>
            <a:endParaRPr lang="en-US" altLang="zh-CN" sz="2000" b="0">
              <a:latin typeface="Times New Roman" panose="02020603050405020304" charset="0"/>
              <a:ea typeface="Times New Roman" panose="02020603050405020304" charset="0"/>
              <a:cs typeface="Times New Roman" panose="02020603050405020304" charset="0"/>
            </a:endParaRPr>
          </a:p>
          <a:p>
            <a:r>
              <a:rPr lang="en-US" altLang="zh-CN" sz="24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(4) RELATIONALS:</a:t>
            </a:r>
            <a:r>
              <a:rPr lang="en-US" altLang="zh-CN"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including affixes, prepositions, conjunctions and copulas (e.g., pre-, </a:t>
            </a:r>
            <a:endParaRPr lang="en-US" altLang="zh-CN" sz="2000" b="0">
              <a:latin typeface="Times New Roman" panose="02020603050405020304" charset="0"/>
              <a:ea typeface="Times New Roman" panose="02020603050405020304" charset="0"/>
              <a:cs typeface="Times New Roman" panose="02020603050405020304" charset="0"/>
            </a:endParaRPr>
          </a:p>
          <a:p>
            <a:r>
              <a:rPr lang="en-US" altLang="zh-CN"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into, of, and, because, be).</a:t>
            </a:r>
            <a:endParaRPr lang="en-US" altLang="zh-CN" sz="2000" b="0">
              <a:latin typeface="Times New Roman" panose="02020603050405020304" charset="0"/>
              <a:ea typeface="Times New Roman" panose="02020603050405020304" charset="0"/>
              <a:cs typeface="Times New Roman" panose="02020603050405020304" charset="0"/>
            </a:endParaRPr>
          </a:p>
          <a:p>
            <a:endParaRPr lang="en-US" altLang="zh-CN" b="0">
              <a:latin typeface="Times New Roman" panose="02020603050405020304" charset="0"/>
              <a:ea typeface="Times New Roman" panose="02020603050405020304" charset="0"/>
              <a:cs typeface="Times New Roman" panose="02020603050405020304" charset="0"/>
            </a:endParaRPr>
          </a:p>
        </p:txBody>
      </p:sp>
      <p:sp>
        <p:nvSpPr>
          <p:cNvPr id="4" name="文本框 3"/>
          <p:cNvSpPr txBox="1"/>
          <p:nvPr userDrawn="1"/>
        </p:nvSpPr>
        <p:spPr>
          <a:xfrm>
            <a:off x="601266" y="4773930"/>
            <a:ext cx="10488930" cy="491490"/>
          </a:xfrm>
          <a:prstGeom prst="rect">
            <a:avLst/>
          </a:prstGeom>
        </p:spPr>
        <p:txBody>
          <a:bodyPr wrap="none" rtlCol="0">
            <a:spAutoFit/>
          </a:bodyPr>
          <a:p>
            <a:pPr algn="l"/>
            <a:r>
              <a:rPr lang="en-US" altLang="zh-CN" sz="2600" b="1" kern="1200">
                <a:solidFill>
                  <a:sysClr val="windowText" lastClr="000000"/>
                </a:solidFill>
                <a:latin typeface="Times New Roman" panose="02020603050405020304" charset="0"/>
                <a:ea typeface="Times New Roman" panose="02020603050405020304" charset="0"/>
                <a:cs typeface="Times New Roman" panose="02020603050405020304" charset="0"/>
              </a:rPr>
              <a:t>These categories help translators break down complex surface structures</a:t>
            </a:r>
            <a:r>
              <a:rPr lang="en-US" altLang="zh-CN"/>
              <a:t>.</a:t>
            </a:r>
            <a:endParaRPr lang="en-US" altLang="zh-CN"/>
          </a:p>
        </p:txBody>
      </p:sp>
      <p:sp>
        <p:nvSpPr>
          <p:cNvPr id="8" name="AutoShape 4"/>
          <p:cNvSpPr/>
          <p:nvPr/>
        </p:nvSpPr>
        <p:spPr>
          <a:xfrm>
            <a:off x="822960" y="1213485"/>
            <a:ext cx="4613275" cy="574040"/>
          </a:xfrm>
          <a:prstGeom prst="rect">
            <a:avLst/>
          </a:prstGeom>
          <a:solidFill>
            <a:srgbClr val="404040">
              <a:alpha val="100000"/>
            </a:srgbClr>
          </a:solidFill>
          <a:ln w="12700" cap="flat" cmpd="sng">
            <a:noFill/>
            <a:prstDash val="solid"/>
            <a:round/>
          </a:ln>
        </p:spPr>
        <p:txBody>
          <a:bodyPr vert="horz" wrap="square" lIns="91440" tIns="45720" rIns="91440" bIns="45720" rtlCol="0" anchor="t" anchorCtr="0"/>
          <a:lstStyle/>
          <a:p>
            <a:pPr marL="0" indent="0" algn="l">
              <a:lnSpc>
                <a:spcPct val="100000"/>
              </a:lnSpc>
              <a:defRPr/>
            </a:pPr>
            <a:r>
              <a:rPr lang="en-US" altLang="zh-CN" sz="2400" b="1">
                <a:solidFill>
                  <a:schemeClr val="bg1"/>
                </a:solidFill>
                <a:latin typeface="Noto Sans SC" panose="020B0500000000000000" charset="-122"/>
                <a:ea typeface="Noto Sans SC" panose="020B0500000000000000" charset="-122"/>
                <a:cs typeface="Noto Sans SC" panose="020B0500000000000000" charset="-122"/>
                <a:sym typeface="+mn-ea"/>
              </a:rPr>
              <a:t>Four types of functional class</a:t>
            </a:r>
            <a:endParaRPr lang="en-US" altLang="zh-CN" sz="2400" b="1">
              <a:solidFill>
                <a:schemeClr val="bg1"/>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rgbClr val="000000"/>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AutoShape 4"/>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
        <p:nvSpPr>
          <p:cNvPr id="7" name="文本框 6"/>
          <p:cNvSpPr txBox="1"/>
          <p:nvPr userDrawn="1"/>
        </p:nvSpPr>
        <p:spPr>
          <a:xfrm>
            <a:off x="1148239" y="1626433"/>
            <a:ext cx="10690622" cy="1394103"/>
          </a:xfrm>
          <a:prstGeom prst="rect">
            <a:avLst/>
          </a:prstGeom>
        </p:spPr>
        <p:txBody>
          <a:bodyPr wrap="square" rtlCol="0">
            <a:noAutofit/>
          </a:bodyPr>
          <a:p>
            <a:pPr algn="l" defTabSz="457200">
              <a:spcAft>
                <a:spcPts val="1000"/>
              </a:spcAft>
              <a:defRPr sz="1900">
                <a:solidFill>
                  <a:srgbClr val="373E48"/>
                </a:solidFill>
                <a:latin typeface="Aptos"/>
              </a:defRPr>
            </a:pPr>
            <a:r>
              <a:rPr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Surface expression: “will of God”</a:t>
            </a:r>
            <a:endParaRPr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b="1">
                <a:solidFill>
                  <a:srgbClr val="373E48"/>
                </a:solidFill>
                <a:latin typeface="Aptos"/>
              </a:defRPr>
            </a:pPr>
            <a:r>
              <a:rPr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Underlying relationship: B (OBJECT</a:t>
            </a:r>
            <a:r>
              <a:rPr lang="en-US" altLang="zh-CN"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a:t>
            </a:r>
            <a:r>
              <a:rPr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God</a:t>
            </a:r>
            <a:r>
              <a:rPr lang="en-US" altLang="zh-CN"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t>
            </a:r>
            <a:r>
              <a:rPr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a:t>
            </a:r>
            <a:r>
              <a:rPr lang="en-US" altLang="zh-CN"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performs</a:t>
            </a:r>
            <a:r>
              <a:rPr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A (EVENT</a:t>
            </a:r>
            <a:r>
              <a:rPr lang="en-US" altLang="zh-CN"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a:t>
            </a:r>
            <a:r>
              <a:rPr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wills</a:t>
            </a:r>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t>
            </a:r>
            <a:endParaRPr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a:solidFill>
                  <a:srgbClr val="373E48"/>
                </a:solidFill>
                <a:latin typeface="Aptos"/>
              </a:defRPr>
            </a:pPr>
            <a:r>
              <a:rPr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Kernel: God wills</a:t>
            </a:r>
            <a:endParaRPr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a:solidFill>
                  <a:srgbClr val="373E48"/>
                </a:solidFill>
                <a:latin typeface="Aptos"/>
              </a:defRPr>
            </a:pPr>
            <a:endParaRPr lang="zh-CN" altLang="en-US" sz="26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p:txBody>
      </p:sp>
      <p:sp>
        <p:nvSpPr>
          <p:cNvPr id="8" name="文本框 7"/>
          <p:cNvSpPr txBox="1"/>
          <p:nvPr userDrawn="1"/>
        </p:nvSpPr>
        <p:spPr>
          <a:xfrm>
            <a:off x="1148239" y="960834"/>
            <a:ext cx="4293235" cy="521970"/>
          </a:xfrm>
          <a:prstGeom prst="rect">
            <a:avLst/>
          </a:prstGeom>
        </p:spPr>
        <p:txBody>
          <a:bodyPr wrap="none" rtlCol="0">
            <a:spAutoFit/>
          </a:bodyPr>
          <a:p>
            <a:pPr algn="l" defTabSz="457200">
              <a:defRPr sz="2800" b="1">
                <a:solidFill>
                  <a:srgbClr val="202938"/>
                </a:solidFill>
                <a:latin typeface="Aptos Display"/>
              </a:defRPr>
            </a:pPr>
            <a:r>
              <a:rPr>
                <a:solidFill>
                  <a:srgbClr val="000000"/>
                </a:solidFill>
                <a:latin typeface="Noto Sans SC" panose="020B0500000000000000" charset="-122"/>
                <a:ea typeface="Noto Sans SC" panose="020B0500000000000000" charset="-122"/>
                <a:cs typeface="Noto Sans SC" panose="020B0500000000000000" charset="-122"/>
                <a:sym typeface="+mn-ea"/>
              </a:rPr>
              <a:t>Example</a:t>
            </a:r>
            <a:r>
              <a:rPr lang="en-US" altLang="zh-CN">
                <a:solidFill>
                  <a:srgbClr val="000000"/>
                </a:solidFill>
                <a:latin typeface="Noto Sans SC" panose="020B0500000000000000" charset="-122"/>
                <a:ea typeface="Noto Sans SC" panose="020B0500000000000000" charset="-122"/>
                <a:cs typeface="Noto Sans SC" panose="020B0500000000000000" charset="-122"/>
                <a:sym typeface="+mn-ea"/>
              </a:rPr>
              <a:t>1</a:t>
            </a:r>
            <a:r>
              <a:rPr>
                <a:solidFill>
                  <a:srgbClr val="000000"/>
                </a:solidFill>
                <a:latin typeface="Noto Sans SC" panose="020B0500000000000000" charset="-122"/>
                <a:ea typeface="Noto Sans SC" panose="020B0500000000000000" charset="-122"/>
                <a:cs typeface="Noto Sans SC" panose="020B0500000000000000" charset="-122"/>
                <a:sym typeface="+mn-ea"/>
              </a:rPr>
              <a:t>: “Will of God”</a:t>
            </a:r>
            <a:endParaRPr lang="zh-CN" altLang="en-US">
              <a:solidFill>
                <a:srgbClr val="000000"/>
              </a:solidFill>
              <a:latin typeface="Noto Sans SC" panose="020B0500000000000000" charset="-122"/>
              <a:ea typeface="Noto Sans SC" panose="020B0500000000000000" charset="-122"/>
              <a:cs typeface="Noto Sans SC" panose="020B0500000000000000" charset="-122"/>
              <a:sym typeface="+mn-ea"/>
            </a:endParaRPr>
          </a:p>
        </p:txBody>
      </p:sp>
      <p:sp>
        <p:nvSpPr>
          <p:cNvPr id="9" name="文本框 8"/>
          <p:cNvSpPr txBox="1"/>
          <p:nvPr userDrawn="1"/>
        </p:nvSpPr>
        <p:spPr>
          <a:xfrm>
            <a:off x="1148239" y="3829526"/>
            <a:ext cx="10690622" cy="1268201"/>
          </a:xfrm>
          <a:prstGeom prst="rect">
            <a:avLst/>
          </a:prstGeom>
        </p:spPr>
        <p:txBody>
          <a:bodyPr wrap="square" rtlCol="0">
            <a:noAutofit/>
          </a:bodyPr>
          <a:p>
            <a:pPr algn="l" defTabSz="457200">
              <a:spcAft>
                <a:spcPts val="1000"/>
              </a:spcAft>
              <a:defRPr sz="1900">
                <a:solidFill>
                  <a:srgbClr val="373E48"/>
                </a:solidFill>
                <a:latin typeface="Aptos"/>
              </a:defRPr>
            </a:pPr>
            <a:r>
              <a:rPr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Surface expression: “creation of the world”</a:t>
            </a:r>
            <a:endParaRPr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b="1">
                <a:solidFill>
                  <a:srgbClr val="373E48"/>
                </a:solidFill>
                <a:latin typeface="Aptos"/>
              </a:defRPr>
            </a:pPr>
            <a:r>
              <a:rPr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Underlying relationship: B (OBJECT</a:t>
            </a:r>
            <a:r>
              <a:rPr lang="en-US" altLang="zh-CN"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a:t>
            </a:r>
            <a:r>
              <a:rPr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the world</a:t>
            </a:r>
            <a:r>
              <a:rPr lang="en-US" altLang="zh-CN"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t>
            </a:r>
            <a:r>
              <a:rPr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a:t>
            </a:r>
            <a:r>
              <a:rPr lang="en-US" altLang="zh-CN"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is performed by</a:t>
            </a:r>
            <a:r>
              <a:rPr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a:t>
            </a:r>
            <a:r>
              <a:rPr lang="en-US" altLang="zh-CN"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 (EVENT, creates)</a:t>
            </a:r>
            <a:endParaRPr lang="en-US" altLang="zh-CN"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b="1">
                <a:solidFill>
                  <a:srgbClr val="373E48"/>
                </a:solidFill>
                <a:latin typeface="Aptos"/>
              </a:defRPr>
            </a:pPr>
            <a:r>
              <a:rPr lang="en-US" altLang="zh-CN"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Kernel: </a:t>
            </a:r>
            <a:r>
              <a:rPr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The world is created by A</a:t>
            </a:r>
            <a:endParaRPr sz="2400" b="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b="1">
                <a:solidFill>
                  <a:srgbClr val="373E48"/>
                </a:solidFill>
                <a:latin typeface="Aptos"/>
              </a:defRPr>
            </a:pPr>
            <a:endParaRPr lang="zh-CN" altLang="en-US" sz="26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p:txBody>
      </p:sp>
      <p:sp>
        <p:nvSpPr>
          <p:cNvPr id="10" name="文本框 9"/>
          <p:cNvSpPr txBox="1"/>
          <p:nvPr userDrawn="1"/>
        </p:nvSpPr>
        <p:spPr>
          <a:xfrm>
            <a:off x="1148239" y="3164046"/>
            <a:ext cx="6029960" cy="521970"/>
          </a:xfrm>
          <a:prstGeom prst="rect">
            <a:avLst/>
          </a:prstGeom>
        </p:spPr>
        <p:txBody>
          <a:bodyPr wrap="none" rtlCol="0">
            <a:spAutoFit/>
          </a:bodyPr>
          <a:p>
            <a:pPr algn="l" defTabSz="457200">
              <a:defRPr sz="2800" b="1">
                <a:solidFill>
                  <a:srgbClr val="202938"/>
                </a:solidFill>
                <a:latin typeface="Aptos Display"/>
              </a:defRPr>
            </a:pPr>
            <a:r>
              <a:rPr>
                <a:solidFill>
                  <a:srgbClr val="000000"/>
                </a:solidFill>
                <a:latin typeface="Noto Sans SC" panose="020B0500000000000000" charset="-122"/>
                <a:ea typeface="Noto Sans SC" panose="020B0500000000000000" charset="-122"/>
                <a:cs typeface="Noto Sans SC" panose="020B0500000000000000" charset="-122"/>
                <a:sym typeface="+mn-ea"/>
              </a:rPr>
              <a:t>Example</a:t>
            </a:r>
            <a:r>
              <a:rPr lang="en-US" altLang="zh-CN">
                <a:solidFill>
                  <a:srgbClr val="000000"/>
                </a:solidFill>
                <a:latin typeface="Noto Sans SC" panose="020B0500000000000000" charset="-122"/>
                <a:ea typeface="Noto Sans SC" panose="020B0500000000000000" charset="-122"/>
                <a:cs typeface="Noto Sans SC" panose="020B0500000000000000" charset="-122"/>
                <a:sym typeface="+mn-ea"/>
              </a:rPr>
              <a:t>2</a:t>
            </a:r>
            <a:r>
              <a:rPr>
                <a:solidFill>
                  <a:srgbClr val="000000"/>
                </a:solidFill>
                <a:latin typeface="Noto Sans SC" panose="020B0500000000000000" charset="-122"/>
                <a:ea typeface="Noto Sans SC" panose="020B0500000000000000" charset="-122"/>
                <a:cs typeface="Noto Sans SC" panose="020B0500000000000000" charset="-122"/>
                <a:sym typeface="+mn-ea"/>
              </a:rPr>
              <a:t>: “Creation of the World”</a:t>
            </a:r>
            <a:endParaRPr lang="zh-CN" altLang="en-US">
              <a:solidFill>
                <a:srgbClr val="000000"/>
              </a:solidFill>
              <a:latin typeface="Noto Sans SC" panose="020B0500000000000000" charset="-122"/>
              <a:ea typeface="Noto Sans SC" panose="020B0500000000000000" charset="-122"/>
              <a:cs typeface="Noto Sans SC" panose="020B0500000000000000" charset="-122"/>
              <a:sym typeface="+mn-ea"/>
            </a:endParaRPr>
          </a:p>
        </p:txBody>
      </p:sp>
      <p:sp>
        <p:nvSpPr>
          <p:cNvPr id="13" name="文本框 12"/>
          <p:cNvSpPr txBox="1"/>
          <p:nvPr/>
        </p:nvSpPr>
        <p:spPr>
          <a:xfrm>
            <a:off x="1450340" y="6004560"/>
            <a:ext cx="8505190" cy="454660"/>
          </a:xfrm>
          <a:prstGeom prst="rect">
            <a:avLst/>
          </a:prstGeom>
          <a:noFill/>
        </p:spPr>
        <p:txBody>
          <a:bodyPr wrap="square" rtlCol="0">
            <a:noAutofit/>
          </a:bodyPr>
          <a:p>
            <a:endParaRPr lang="zh-CN" altLang="en-US"/>
          </a:p>
        </p:txBody>
      </p:sp>
      <p:sp>
        <p:nvSpPr>
          <p:cNvPr id="14" name="文本框 13"/>
          <p:cNvSpPr txBox="1"/>
          <p:nvPr/>
        </p:nvSpPr>
        <p:spPr>
          <a:xfrm>
            <a:off x="1047115" y="5502275"/>
            <a:ext cx="9671050" cy="502285"/>
          </a:xfrm>
          <a:prstGeom prst="rect">
            <a:avLst/>
          </a:prstGeom>
          <a:noFill/>
        </p:spPr>
        <p:txBody>
          <a:bodyPr wrap="square" rtlCol="0">
            <a:noAutofit/>
          </a:bodyPr>
          <a:p>
            <a:r>
              <a:rPr lang="en-US" altLang="zh-CN" sz="26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Surface form is not directly equal to deep meaning relation.</a:t>
            </a:r>
            <a:endParaRPr lang="en-US" altLang="zh-CN" sz="26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14" grpId="0"/>
      <p:bldP spid="14" grpId="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2" name="文本框 41"/>
          <p:cNvSpPr txBox="1"/>
          <p:nvPr userDrawn="1"/>
        </p:nvSpPr>
        <p:spPr>
          <a:xfrm>
            <a:off x="762106" y="960967"/>
            <a:ext cx="7593003" cy="645160"/>
          </a:xfrm>
          <a:prstGeom prst="rect">
            <a:avLst/>
          </a:prstGeom>
        </p:spPr>
        <p:txBody>
          <a:bodyPr wrap="square" rtlCol="0">
            <a:noAutofit/>
          </a:bodyPr>
          <a:p>
            <a:endParaRPr lang="zh-CN" altLang="en-US" sz="2800" b="1">
              <a:solidFill>
                <a:srgbClr val="000000"/>
              </a:solidFill>
              <a:latin typeface="Noto Sans SC" panose="020B0500000000000000" charset="-122"/>
              <a:ea typeface="Noto Sans SC" panose="020B0500000000000000" charset="-122"/>
              <a:cs typeface="Noto Sans SC" panose="020B0500000000000000" charset="-122"/>
            </a:endParaRPr>
          </a:p>
        </p:txBody>
      </p:sp>
      <p:sp>
        <p:nvSpPr>
          <p:cNvPr id="43" name="文本框 42"/>
          <p:cNvSpPr txBox="1"/>
          <p:nvPr userDrawn="1"/>
        </p:nvSpPr>
        <p:spPr>
          <a:xfrm>
            <a:off x="762068" y="1468515"/>
            <a:ext cx="9383327" cy="3198113"/>
          </a:xfrm>
          <a:prstGeom prst="rect">
            <a:avLst/>
          </a:prstGeom>
        </p:spPr>
        <p:txBody>
          <a:bodyPr wrap="square" rtlCol="0">
            <a:noAutofit/>
          </a:bodyPr>
          <a:p>
            <a:pPr algn="l" defTabSz="457200">
              <a:spcAft>
                <a:spcPts val="1000"/>
              </a:spcAft>
              <a:defRPr sz="1900">
                <a:solidFill>
                  <a:srgbClr val="373E48"/>
                </a:solidFill>
                <a:latin typeface="Aptos"/>
              </a:defRPr>
            </a:pPr>
            <a:r>
              <a:rPr sz="26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1. ANALYSIS</a:t>
            </a:r>
            <a:endParaRPr sz="26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a:solidFill>
                  <a:srgbClr val="373E48"/>
                </a:solidFill>
                <a:latin typeface="Aptos"/>
              </a:defRPr>
            </a:pPr>
            <a:r>
              <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Identify linguistic and semantic relationships in the source </a:t>
            </a:r>
            <a:r>
              <a:rPr lang="en-US" altLang="zh-CN"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text</a:t>
            </a:r>
            <a:endPar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a:solidFill>
                  <a:srgbClr val="373E48"/>
                </a:solidFill>
                <a:latin typeface="Aptos"/>
              </a:defRPr>
            </a:pPr>
            <a:r>
              <a:rPr sz="26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2. TRANSFER</a:t>
            </a:r>
            <a:endParaRPr sz="26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a:solidFill>
                  <a:srgbClr val="373E48"/>
                </a:solidFill>
                <a:latin typeface="Aptos"/>
              </a:defRPr>
            </a:pPr>
            <a:r>
              <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Transfer the analysed message from SL to TL</a:t>
            </a:r>
            <a:endPar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a:solidFill>
                  <a:srgbClr val="373E48"/>
                </a:solidFill>
                <a:latin typeface="Aptos"/>
              </a:defRPr>
            </a:pPr>
            <a:r>
              <a:rPr sz="26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3. RESTRUCTURING</a:t>
            </a:r>
            <a:endParaRPr sz="26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a:solidFill>
                  <a:srgbClr val="373E48"/>
                </a:solidFill>
                <a:latin typeface="Aptos"/>
              </a:defRPr>
            </a:pPr>
            <a:r>
              <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Re-express the message naturally in the receptor language</a:t>
            </a:r>
            <a:endParaRPr lang="zh-CN" altLang="en-US"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p:txBody>
      </p:sp>
      <p:pic>
        <p:nvPicPr>
          <p:cNvPr id="4" name="图片 3"/>
          <p:cNvPicPr>
            <a:picLocks noChangeAspect="1"/>
          </p:cNvPicPr>
          <p:nvPr/>
        </p:nvPicPr>
        <p:blipFill>
          <a:blip r:embed="rId2"/>
          <a:stretch>
            <a:fillRect/>
          </a:stretch>
        </p:blipFill>
        <p:spPr>
          <a:xfrm>
            <a:off x="1610995" y="4666615"/>
            <a:ext cx="8534400" cy="1085850"/>
          </a:xfrm>
          <a:prstGeom prst="rect">
            <a:avLst/>
          </a:prstGeom>
        </p:spPr>
      </p:pic>
      <p:sp>
        <p:nvSpPr>
          <p:cNvPr id="6" name="AutoShape 4"/>
          <p:cNvSpPr/>
          <p:nvPr/>
        </p:nvSpPr>
        <p:spPr>
          <a:xfrm>
            <a:off x="908050" y="895350"/>
            <a:ext cx="6705600" cy="508635"/>
          </a:xfrm>
          <a:prstGeom prst="rect">
            <a:avLst/>
          </a:prstGeom>
          <a:solidFill>
            <a:srgbClr val="404040">
              <a:alpha val="100000"/>
            </a:srgbClr>
          </a:solidFill>
          <a:ln w="12700" cap="flat" cmpd="sng">
            <a:noFill/>
            <a:prstDash val="solid"/>
            <a:round/>
          </a:ln>
        </p:spPr>
        <p:txBody>
          <a:bodyPr vert="horz" wrap="square" lIns="91440" tIns="45720" rIns="91440" bIns="45720" rtlCol="0" anchor="t" anchorCtr="0"/>
          <a:lstStyle/>
          <a:p>
            <a:pPr marL="0" indent="0" algn="l">
              <a:lnSpc>
                <a:spcPct val="100000"/>
              </a:lnSpc>
              <a:defRPr/>
            </a:pPr>
            <a:r>
              <a:rPr lang="en-US" altLang="zh-CN" sz="2400" b="1">
                <a:solidFill>
                  <a:schemeClr val="bg1"/>
                </a:solidFill>
                <a:latin typeface="Noto Sans SC" panose="020B0500000000000000" charset="-122"/>
                <a:ea typeface="Noto Sans SC" panose="020B0500000000000000" charset="-122"/>
                <a:cs typeface="Noto Sans SC" panose="020B0500000000000000" charset="-122"/>
                <a:sym typeface="+mn-ea"/>
              </a:rPr>
              <a:t>Nida’s three-stage system of translation</a:t>
            </a:r>
            <a:endParaRPr lang="en-US" altLang="zh-CN" sz="2400" b="1">
              <a:solidFill>
                <a:schemeClr val="bg1"/>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AutoShape 4"/>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6" name="图片 5"/>
          <p:cNvPicPr>
            <a:picLocks noChangeAspect="1"/>
          </p:cNvPicPr>
          <p:nvPr/>
        </p:nvPicPr>
        <p:blipFill>
          <a:blip r:embed="rId2"/>
          <a:stretch>
            <a:fillRect/>
          </a:stretch>
        </p:blipFill>
        <p:spPr>
          <a:xfrm>
            <a:off x="1056217" y="1364990"/>
            <a:ext cx="10212896" cy="439975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AutoShape 4"/>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
        <p:nvSpPr>
          <p:cNvPr id="5" name="文本框 4"/>
          <p:cNvSpPr txBox="1"/>
          <p:nvPr userDrawn="1"/>
        </p:nvSpPr>
        <p:spPr>
          <a:xfrm>
            <a:off x="2300301" y="1186621"/>
            <a:ext cx="6541135" cy="4707890"/>
          </a:xfrm>
          <a:prstGeom prst="rect">
            <a:avLst/>
          </a:prstGeom>
        </p:spPr>
        <p:txBody>
          <a:bodyPr wrap="none" rtlCol="0">
            <a:spAutoFit/>
          </a:bodyPr>
          <a:p>
            <a:pPr algn="l"/>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The boy opened the door.</a:t>
            </a:r>
            <a:endParaRPr lang="en-US" altLang="zh-CN" sz="2000">
              <a:latin typeface="Times New Roman" panose="02020603050405020304" charset="0"/>
              <a:ea typeface="Times New Roman" panose="02020603050405020304" charset="0"/>
              <a:cs typeface="Times New Roman" panose="02020603050405020304" charset="0"/>
            </a:endParaRPr>
          </a:p>
          <a:p>
            <a:pPr algn="l"/>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a:t>
            </a:r>
            <a:endParaRPr lang="en-US" altLang="zh-CN" sz="7200" b="1">
              <a:solidFill>
                <a:srgbClr val="000000"/>
              </a:solidFill>
              <a:latin typeface="Times New Roman" panose="02020603050405020304" charset="0"/>
              <a:ea typeface="Times New Roman" panose="02020603050405020304" charset="0"/>
              <a:cs typeface="Times New Roman" panose="02020603050405020304" charset="0"/>
            </a:endParaRPr>
          </a:p>
          <a:p>
            <a:pPr algn="l"/>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Analysis</a:t>
            </a:r>
            <a:endParaRPr lang="en-US" altLang="zh-CN" sz="2000">
              <a:latin typeface="Times New Roman" panose="02020603050405020304" charset="0"/>
              <a:ea typeface="Times New Roman" panose="02020603050405020304" charset="0"/>
              <a:cs typeface="Times New Roman" panose="02020603050405020304" charset="0"/>
            </a:endParaRPr>
          </a:p>
          <a:p>
            <a:pPr algn="l"/>
            <a:endParaRPr lang="en-US" altLang="zh-CN" sz="2000">
              <a:latin typeface="Times New Roman" panose="02020603050405020304" charset="0"/>
              <a:ea typeface="Times New Roman" panose="02020603050405020304" charset="0"/>
              <a:cs typeface="Times New Roman" panose="02020603050405020304" charset="0"/>
            </a:endParaRPr>
          </a:p>
          <a:p>
            <a:pPr algn="l"/>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BOY + OPEN + DOOR </a:t>
            </a:r>
            <a:r>
              <a:rPr lang="zh-CN" altLang="en-US"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t>
            </a:r>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Agent+Action+Object</a:t>
            </a:r>
            <a:r>
              <a:rPr lang="zh-CN" altLang="en-US"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t>
            </a:r>
            <a:endParaRPr lang="en-US" altLang="zh-CN" sz="2000">
              <a:latin typeface="Times New Roman" panose="02020603050405020304" charset="0"/>
              <a:ea typeface="Times New Roman" panose="02020603050405020304" charset="0"/>
              <a:cs typeface="Times New Roman" panose="02020603050405020304" charset="0"/>
            </a:endParaRPr>
          </a:p>
          <a:p>
            <a:pPr algn="l"/>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a:t>
            </a:r>
            <a:endParaRPr lang="en-US" altLang="zh-CN" sz="2000">
              <a:latin typeface="Times New Roman" panose="02020603050405020304" charset="0"/>
              <a:ea typeface="Times New Roman" panose="02020603050405020304" charset="0"/>
              <a:cs typeface="Times New Roman" panose="02020603050405020304" charset="0"/>
            </a:endParaRPr>
          </a:p>
          <a:p>
            <a:pPr algn="l"/>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Transfer</a:t>
            </a:r>
            <a:endParaRPr lang="en-US" altLang="zh-CN" sz="2000">
              <a:latin typeface="Times New Roman" panose="02020603050405020304" charset="0"/>
              <a:ea typeface="Times New Roman" panose="02020603050405020304" charset="0"/>
              <a:cs typeface="Times New Roman" panose="02020603050405020304" charset="0"/>
            </a:endParaRPr>
          </a:p>
          <a:p>
            <a:pPr algn="l"/>
            <a:endParaRPr lang="en-US" altLang="zh-CN" sz="2000">
              <a:latin typeface="Times New Roman" panose="02020603050405020304" charset="0"/>
              <a:ea typeface="Times New Roman" panose="02020603050405020304" charset="0"/>
              <a:cs typeface="Times New Roman" panose="02020603050405020304" charset="0"/>
            </a:endParaRPr>
          </a:p>
          <a:p>
            <a:pPr algn="l"/>
            <a:r>
              <a:rPr lang="zh-CN" altLang="en-US" sz="2400" kern="1200">
                <a:solidFill>
                  <a:sysClr val="windowText" lastClr="000000"/>
                </a:solidFill>
                <a:latin typeface="Calibri" panose="020F0502020204030204"/>
                <a:ea typeface="+mn-ea"/>
                <a:cs typeface="+mn-ea"/>
                <a:sym typeface="+mn-ea"/>
              </a:rPr>
              <a:t>男孩 + 打开 + 门（主语</a:t>
            </a:r>
            <a:r>
              <a:rPr lang="en-US" altLang="zh-CN" sz="2400" kern="1200">
                <a:solidFill>
                  <a:sysClr val="windowText" lastClr="000000"/>
                </a:solidFill>
                <a:latin typeface="Calibri" panose="020F0502020204030204"/>
                <a:ea typeface="+mn-ea"/>
                <a:cs typeface="+mn-ea"/>
                <a:sym typeface="+mn-ea"/>
              </a:rPr>
              <a:t>+</a:t>
            </a:r>
            <a:r>
              <a:rPr lang="zh-CN" altLang="en-US" sz="2400" kern="1200">
                <a:solidFill>
                  <a:sysClr val="windowText" lastClr="000000"/>
                </a:solidFill>
                <a:latin typeface="Calibri" panose="020F0502020204030204"/>
                <a:ea typeface="+mn-ea"/>
                <a:cs typeface="+mn-ea"/>
                <a:sym typeface="+mn-ea"/>
              </a:rPr>
              <a:t>动词</a:t>
            </a:r>
            <a:r>
              <a:rPr lang="en-US" altLang="zh-CN" sz="2400" kern="1200">
                <a:solidFill>
                  <a:sysClr val="windowText" lastClr="000000"/>
                </a:solidFill>
                <a:latin typeface="Calibri" panose="020F0502020204030204"/>
                <a:ea typeface="+mn-ea"/>
                <a:cs typeface="+mn-ea"/>
                <a:sym typeface="+mn-ea"/>
              </a:rPr>
              <a:t>+</a:t>
            </a:r>
            <a:r>
              <a:rPr lang="zh-CN" altLang="en-US" sz="2400" kern="1200">
                <a:solidFill>
                  <a:sysClr val="windowText" lastClr="000000"/>
                </a:solidFill>
                <a:latin typeface="Calibri" panose="020F0502020204030204"/>
                <a:ea typeface="+mn-ea"/>
                <a:cs typeface="+mn-ea"/>
                <a:sym typeface="+mn-ea"/>
              </a:rPr>
              <a:t>宾语）</a:t>
            </a:r>
            <a:endParaRPr lang="zh-CN" altLang="en-US" sz="2000"/>
          </a:p>
          <a:p>
            <a:pPr algn="l"/>
            <a:r>
              <a:rPr lang="en-US" altLang="zh-CN" sz="2400" kern="1200">
                <a:solidFill>
                  <a:sysClr val="windowText" lastClr="000000"/>
                </a:solidFill>
                <a:latin typeface="Calibri" panose="020F0502020204030204"/>
                <a:ea typeface="+mn-ea"/>
                <a:cs typeface="+mn-ea"/>
                <a:sym typeface="+mn-ea"/>
              </a:rPr>
              <a:t>         </a:t>
            </a:r>
            <a:r>
              <a:rPr lang="en-US" altLang="zh-CN" sz="2400" kern="1200">
                <a:solidFill>
                  <a:sysClr val="windowText" lastClr="000000"/>
                </a:solidFill>
                <a:ea typeface="+mn-ea"/>
                <a:sym typeface="+mn-ea"/>
              </a:rPr>
              <a:t>↓</a:t>
            </a:r>
            <a:endParaRPr lang="en-US" altLang="zh-CN" sz="2000"/>
          </a:p>
          <a:p>
            <a:pPr algn="l"/>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Restructuring</a:t>
            </a:r>
            <a:endPar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endParaRPr>
          </a:p>
          <a:p>
            <a:pPr algn="l"/>
            <a:endParaRPr lang="en-US" altLang="zh-CN" sz="2000"/>
          </a:p>
          <a:p>
            <a:pPr algn="l"/>
            <a:r>
              <a:rPr lang="zh-CN" altLang="en-US" sz="2400" kern="1200">
                <a:solidFill>
                  <a:sysClr val="windowText" lastClr="000000"/>
                </a:solidFill>
                <a:latin typeface="Calibri" panose="020F0502020204030204"/>
                <a:ea typeface="+mn-ea"/>
                <a:cs typeface="+mn-ea"/>
                <a:sym typeface="+mn-ea"/>
              </a:rPr>
              <a:t>男孩打开了门。</a:t>
            </a:r>
            <a:r>
              <a:rPr lang="en-US" altLang="zh-CN" sz="2400" kern="1200">
                <a:solidFill>
                  <a:sysClr val="windowText" lastClr="000000"/>
                </a:solidFill>
                <a:latin typeface="Calibri" panose="020F0502020204030204"/>
                <a:ea typeface="+mn-ea"/>
                <a:cs typeface="+mn-ea"/>
                <a:sym typeface="+mn-ea"/>
              </a:rPr>
              <a:t>/</a:t>
            </a:r>
            <a:r>
              <a:rPr lang="zh-CN" altLang="en-US" sz="2400" kern="1200">
                <a:solidFill>
                  <a:sysClr val="windowText" lastClr="000000"/>
                </a:solidFill>
                <a:latin typeface="Calibri" panose="020F0502020204030204"/>
                <a:ea typeface="+mn-ea"/>
                <a:cs typeface="+mn-ea"/>
                <a:sym typeface="+mn-ea"/>
              </a:rPr>
              <a:t>门被男孩打开了。</a:t>
            </a:r>
            <a:endParaRPr lang="zh-CN" altLang="en-US"/>
          </a:p>
        </p:txBody>
      </p:sp>
      <p:sp>
        <p:nvSpPr>
          <p:cNvPr id="6" name="文本框 5"/>
          <p:cNvSpPr txBox="1"/>
          <p:nvPr userDrawn="1"/>
        </p:nvSpPr>
        <p:spPr>
          <a:xfrm>
            <a:off x="1312122" y="1103842"/>
            <a:ext cx="696595" cy="521970"/>
          </a:xfrm>
          <a:prstGeom prst="rect">
            <a:avLst/>
          </a:prstGeom>
        </p:spPr>
        <p:txBody>
          <a:bodyPr wrap="none" rtlCol="0">
            <a:spAutoFit/>
          </a:bodyPr>
          <a:p>
            <a:pPr algn="l"/>
            <a:r>
              <a:rPr lang="en-US" altLang="zh-CN" sz="2800" b="1">
                <a:solidFill>
                  <a:srgbClr val="000000"/>
                </a:solidFill>
                <a:latin typeface="Noto Sans SC" panose="020B0500000000000000" charset="-122"/>
                <a:ea typeface="Noto Sans SC" panose="020B0500000000000000" charset="-122"/>
                <a:cs typeface="Noto Sans SC" panose="020B0500000000000000" charset="-122"/>
              </a:rPr>
              <a:t>eg.</a:t>
            </a:r>
            <a:endParaRPr lang="en-US" altLang="zh-CN" sz="2800" b="1">
              <a:solidFill>
                <a:srgbClr val="000000"/>
              </a:solidFill>
              <a:latin typeface="Noto Sans SC" panose="020B0500000000000000" charset="-122"/>
              <a:ea typeface="Noto Sans SC" panose="020B0500000000000000" charset="-122"/>
              <a:cs typeface="Noto Sans SC" panose="020B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
        <p:nvSpPr>
          <p:cNvPr id="3" name="AutoShape 3"/>
          <p:cNvSpPr/>
          <p:nvPr/>
        </p:nvSpPr>
        <p:spPr>
          <a:xfrm>
            <a:off x="0" y="2276872"/>
            <a:ext cx="3264363" cy="2688299"/>
          </a:xfrm>
          <a:prstGeom prst="roundRect">
            <a:avLst>
              <a:gd name="adj" fmla="val 0"/>
            </a:avLst>
          </a:prstGeom>
          <a:gradFill rotWithShape="1">
            <a:gsLst>
              <a:gs pos="0">
                <a:schemeClr val="phClr">
                  <a:tint val="100000"/>
                  <a:shade val="100000"/>
                  <a:satMod val="130000"/>
                </a:schemeClr>
              </a:gs>
              <a:gs pos="100000">
                <a:schemeClr val="phClr">
                  <a:tint val="50000"/>
                  <a:shade val="100000"/>
                  <a:satMod val="350000"/>
                </a:schemeClr>
              </a:gs>
            </a:gsLst>
            <a:lin ang="16200000" scaled="0"/>
          </a:gradFill>
        </p:spPr>
        <p:style>
          <a:lnRef idx="0">
            <a:srgbClr val="FFFFFF"/>
          </a:lnRef>
          <a:fillRef idx="3">
            <a:prstClr val="black"/>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marL="0" marR="0" lvl="0" indent="0" algn="ctr" rtl="0">
              <a:lnSpc>
                <a:spcPct val="100000"/>
              </a:lnSpc>
              <a:spcBef>
                <a:spcPts val="0"/>
              </a:spcBef>
              <a:spcAft>
                <a:spcPts val="0"/>
              </a:spcAft>
              <a:buClr>
                <a:srgbClr val="000000"/>
              </a:buClr>
              <a:buSzTx/>
              <a:buNone/>
            </a:pPr>
            <a:endParaRPr>
              <a:solidFill>
                <a:schemeClr val="tx1"/>
              </a:solidFill>
            </a:endParaRPr>
          </a:p>
        </p:txBody>
      </p:sp>
      <p:sp>
        <p:nvSpPr>
          <p:cNvPr id="15" name="AutoShape 15"/>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16" name="Picture 16"/>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17" name="AutoShape 17"/>
          <p:cNvSpPr/>
          <p:nvPr/>
        </p:nvSpPr>
        <p:spPr>
          <a:xfrm>
            <a:off x="847611" y="2835811"/>
            <a:ext cx="1627369" cy="1569660"/>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sz="9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a:t>
            </a:r>
            <a:r>
              <a:rPr lang="en-US" altLang="zh-CN" sz="9600" b="0" i="0" u="none" strike="noStrike">
                <a:solidFill>
                  <a:srgbClr val="FFFFFF"/>
                </a:solidFill>
                <a:latin typeface="微软雅黑" panose="020B0503020204020204" charset="-122"/>
                <a:ea typeface="微软雅黑" panose="020B0503020204020204" charset="-122"/>
                <a:sym typeface="微软雅黑" panose="020B0503020204020204" charset="-122"/>
              </a:rPr>
              <a:t>3</a:t>
            </a:r>
            <a:endParaRPr lang="en-US" sz="1100"/>
          </a:p>
        </p:txBody>
      </p:sp>
      <p:sp>
        <p:nvSpPr>
          <p:cNvPr id="18" name="AutoShape 18"/>
          <p:cNvSpPr/>
          <p:nvPr/>
        </p:nvSpPr>
        <p:spPr>
          <a:xfrm>
            <a:off x="4994041" y="2835833"/>
            <a:ext cx="5432408" cy="1667717"/>
          </a:xfrm>
          <a:prstGeom prst="rect">
            <a:avLst/>
          </a:prstGeom>
          <a:noFill/>
          <a:ln w="12700" cap="flat" cmpd="sng">
            <a:noFill/>
            <a:prstDash val="solid"/>
            <a:round/>
          </a:ln>
        </p:spPr>
        <p:txBody>
          <a:bodyPr vert="horz" wrap="none" lIns="91440" tIns="45720" rIns="91440" bIns="45720" rtlCol="0" anchor="t" anchorCtr="0"/>
          <a:lstStyle/>
          <a:p>
            <a:pPr marL="0" indent="0" algn="ctr">
              <a:lnSpc>
                <a:spcPct val="100000"/>
              </a:lnSpc>
              <a:defRPr/>
            </a:pPr>
            <a:r>
              <a:rPr lang="en-US" sz="3600" b="1">
                <a:solidFill>
                  <a:srgbClr val="404040"/>
                </a:solidFill>
                <a:latin typeface="Noto Sans SC" panose="020B0500000000000000" charset="-122"/>
                <a:ea typeface="Noto Sans SC" panose="020B0500000000000000" charset="-122"/>
                <a:cs typeface="微软雅黑" panose="020B0503020204020204" charset="-122"/>
                <a:sym typeface="微软雅黑" panose="020B0503020204020204" charset="-122"/>
              </a:rPr>
              <a:t>T</a:t>
            </a:r>
            <a:r>
              <a:rPr lang="en-US" altLang="zh-CN" sz="3600" b="1">
                <a:solidFill>
                  <a:srgbClr val="404040"/>
                </a:solidFill>
                <a:latin typeface="Noto Sans SC" panose="020B0500000000000000" charset="-122"/>
                <a:ea typeface="Noto Sans SC" panose="020B0500000000000000" charset="-122"/>
                <a:cs typeface="微软雅黑" panose="020B0503020204020204" charset="-122"/>
                <a:sym typeface="微软雅黑" panose="020B0503020204020204" charset="-122"/>
              </a:rPr>
              <a:t>he Nature of Meaning: </a:t>
            </a:r>
            <a:br>
              <a:rPr lang="en-US" altLang="zh-CN" sz="3600" b="1">
                <a:solidFill>
                  <a:srgbClr val="404040"/>
                </a:solidFill>
                <a:latin typeface="Noto Sans SC" panose="020B0500000000000000" charset="-122"/>
                <a:ea typeface="Noto Sans SC" panose="020B0500000000000000" charset="-122"/>
                <a:cs typeface="微软雅黑" panose="020B0503020204020204" charset="-122"/>
                <a:sym typeface="微软雅黑" panose="020B0503020204020204" charset="-122"/>
              </a:rPr>
            </a:br>
            <a:r>
              <a:rPr lang="en-US" altLang="zh-CN" sz="3600" b="1">
                <a:solidFill>
                  <a:srgbClr val="404040"/>
                </a:solidFill>
                <a:latin typeface="Noto Sans SC" panose="020B0500000000000000" charset="-122"/>
                <a:ea typeface="Noto Sans SC" panose="020B0500000000000000" charset="-122"/>
                <a:cs typeface="微软雅黑" panose="020B0503020204020204" charset="-122"/>
                <a:sym typeface="微软雅黑" panose="020B0503020204020204" charset="-122"/>
              </a:rPr>
              <a:t>advances in semantics and </a:t>
            </a:r>
            <a:r>
              <a:rPr lang="en-US" altLang="zh-CN" sz="3600" b="1">
                <a:solidFill>
                  <a:srgbClr val="404040"/>
                </a:solidFill>
                <a:latin typeface="Noto Sans SC" panose="020B0500000000000000" charset="-122"/>
                <a:ea typeface="Noto Sans SC" panose="020B0500000000000000" charset="-122"/>
                <a:cs typeface="微软雅黑" panose="020B0503020204020204" charset="-122"/>
                <a:sym typeface="微软雅黑" panose="020B0503020204020204" charset="-122"/>
              </a:rPr>
              <a:t>pragmatics</a:t>
            </a:r>
            <a:endParaRPr lang="en-US" altLang="zh-CN" sz="3600" b="1">
              <a:solidFill>
                <a:srgbClr val="404040"/>
              </a:solidFill>
              <a:latin typeface="Noto Sans SC" panose="020B0500000000000000" charset="-122"/>
              <a:ea typeface="Noto Sans SC" panose="020B0500000000000000"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文本框 3"/>
          <p:cNvSpPr txBox="1"/>
          <p:nvPr userDrawn="1"/>
        </p:nvSpPr>
        <p:spPr>
          <a:xfrm>
            <a:off x="722418" y="3252470"/>
            <a:ext cx="11469582" cy="2942828"/>
          </a:xfrm>
          <a:prstGeom prst="rect">
            <a:avLst/>
          </a:prstGeom>
        </p:spPr>
        <p:txBody>
          <a:bodyPr wrap="square" rtlCol="0">
            <a:noAutofit/>
          </a:bodyPr>
          <a:p>
            <a:pPr algn="l" defTabSz="457200">
              <a:spcAft>
                <a:spcPts val="1000"/>
              </a:spcAft>
              <a:defRPr sz="1900">
                <a:solidFill>
                  <a:srgbClr val="373E48"/>
                </a:solidFill>
                <a:latin typeface="Aptos"/>
              </a:defRPr>
            </a:pPr>
            <a:r>
              <a:rPr sz="24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1. LINGUISTIC MEANING</a:t>
            </a:r>
            <a:endParaRPr sz="24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a:solidFill>
                  <a:srgbClr val="373E48"/>
                </a:solidFill>
                <a:latin typeface="Aptos"/>
              </a:defRPr>
            </a:pPr>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the relationship between different linguistic structures (his house, his journey, his kindness)</a:t>
            </a:r>
            <a:endPar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a:solidFill>
                  <a:srgbClr val="373E48"/>
                </a:solidFill>
                <a:latin typeface="Aptos"/>
              </a:defRPr>
            </a:pPr>
            <a:r>
              <a:rPr sz="24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2.REFERENTIAL MEANING </a:t>
            </a:r>
            <a:endParaRPr sz="24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a:solidFill>
                  <a:srgbClr val="373E48"/>
                </a:solidFill>
                <a:latin typeface="Aptos"/>
              </a:defRPr>
            </a:pPr>
            <a:r>
              <a:rPr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denotative </a:t>
            </a:r>
            <a:r>
              <a:rPr lang="en-US"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t>
            </a:r>
            <a:r>
              <a:rPr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dictionary</a:t>
            </a:r>
            <a:r>
              <a:rPr lang="en-US"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t>
            </a:r>
            <a:r>
              <a:rPr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meaning </a:t>
            </a:r>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t>
            </a:r>
            <a:r>
              <a:rPr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son = male child</a:t>
            </a:r>
            <a:r>
              <a:rPr lang="en-US" altLang="zh-CN" sz="1800" kern="1200">
                <a:solidFill>
                  <a:sysClr val="windowText" lastClr="000000"/>
                </a:solidFill>
                <a:latin typeface="Calibri" panose="020F0502020204030204"/>
                <a:ea typeface="+mn-ea"/>
                <a:cs typeface="+mn-ea"/>
                <a:sym typeface="+mn-ea"/>
              </a:rPr>
              <a:t>)</a:t>
            </a:r>
            <a:endParaRPr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a:solidFill>
                  <a:srgbClr val="373E48"/>
                </a:solidFill>
                <a:latin typeface="Aptos"/>
              </a:defRPr>
            </a:pPr>
            <a:r>
              <a:rPr sz="24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3. EMOTIVE MEANING</a:t>
            </a:r>
            <a:endParaRPr sz="2400" b="1"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l" defTabSz="457200">
              <a:spcAft>
                <a:spcPts val="1000"/>
              </a:spcAft>
              <a:defRPr sz="1900">
                <a:solidFill>
                  <a:srgbClr val="373E48"/>
                </a:solidFill>
                <a:latin typeface="Aptos"/>
              </a:defRPr>
            </a:pPr>
            <a:r>
              <a:rPr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Associations </a:t>
            </a:r>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or</a:t>
            </a:r>
            <a:r>
              <a:rPr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 connotations </a:t>
            </a:r>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a word produces (Don’t worry about that, son.)</a:t>
            </a:r>
            <a:endPar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p:txBody>
      </p:sp>
      <p:sp>
        <p:nvSpPr>
          <p:cNvPr id="10" name="文本框 9"/>
          <p:cNvSpPr txBox="1"/>
          <p:nvPr userDrawn="1"/>
        </p:nvSpPr>
        <p:spPr>
          <a:xfrm>
            <a:off x="722392" y="1338540"/>
            <a:ext cx="10440247" cy="1339017"/>
          </a:xfrm>
          <a:prstGeom prst="rect">
            <a:avLst/>
          </a:prstGeom>
        </p:spPr>
        <p:txBody>
          <a:bodyPr wrap="square" rtlCol="0">
            <a:noAutofit/>
          </a:bodyPr>
          <a:p>
            <a:pPr algn="just" defTabSz="457200">
              <a:spcAft>
                <a:spcPts val="1000"/>
              </a:spcAft>
              <a:defRPr sz="1900">
                <a:solidFill>
                  <a:srgbClr val="373E48"/>
                </a:solidFill>
                <a:latin typeface="Aptos"/>
              </a:defRPr>
            </a:pPr>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Nida opposed understanding word meaning as completely fixed “dictionary units.”</a:t>
            </a:r>
            <a:endPar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just" defTabSz="457200">
              <a:spcAft>
                <a:spcPts val="1000"/>
              </a:spcAft>
              <a:defRPr sz="1900">
                <a:solidFill>
                  <a:srgbClr val="373E48"/>
                </a:solidFill>
                <a:latin typeface="Aptos"/>
              </a:defRPr>
            </a:pPr>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Meaning has a functional character: words have specific meaning in context.</a:t>
            </a:r>
            <a:endPar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a:p>
            <a:pPr algn="just" defTabSz="457200">
              <a:spcAft>
                <a:spcPts val="1000"/>
              </a:spcAft>
              <a:defRPr sz="1900">
                <a:solidFill>
                  <a:srgbClr val="373E48"/>
                </a:solidFill>
                <a:latin typeface="Aptos"/>
              </a:defRPr>
            </a:pPr>
            <a:r>
              <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The same word may produce different associations / responses in different cultures.</a:t>
            </a:r>
            <a:endParaRPr lang="en-US" altLang="zh-CN" sz="24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p:txBody>
      </p:sp>
      <p:sp>
        <p:nvSpPr>
          <p:cNvPr id="6" name="AutoShape 4"/>
          <p:cNvSpPr/>
          <p:nvPr/>
        </p:nvSpPr>
        <p:spPr>
          <a:xfrm>
            <a:off x="775970" y="882650"/>
            <a:ext cx="3435350" cy="455295"/>
          </a:xfrm>
          <a:prstGeom prst="rect">
            <a:avLst/>
          </a:prstGeom>
          <a:solidFill>
            <a:srgbClr val="404040">
              <a:alpha val="100000"/>
            </a:srgbClr>
          </a:solidFill>
          <a:ln w="12700" cap="flat" cmpd="sng">
            <a:noFill/>
            <a:prstDash val="solid"/>
            <a:round/>
          </a:ln>
        </p:spPr>
        <p:txBody>
          <a:bodyPr vert="horz" wrap="square" lIns="91440" tIns="45720" rIns="91440" bIns="45720" rtlCol="0" anchor="t" anchorCtr="0"/>
          <a:lstStyle/>
          <a:p>
            <a:pPr marL="0" indent="0" algn="l">
              <a:lnSpc>
                <a:spcPct val="100000"/>
              </a:lnSpc>
              <a:defRPr/>
            </a:pPr>
            <a:r>
              <a:rPr lang="en-US" altLang="zh-CN" sz="2400" b="1">
                <a:solidFill>
                  <a:schemeClr val="bg1"/>
                </a:solidFill>
                <a:latin typeface="Noto Sans SC" panose="020B0500000000000000" charset="-122"/>
                <a:ea typeface="Noto Sans SC" panose="020B0500000000000000" charset="-122"/>
                <a:cs typeface="Noto Sans SC" panose="020B0500000000000000" charset="-122"/>
                <a:sym typeface="+mn-ea"/>
              </a:rPr>
              <a:t>What Is “Meaning”?</a:t>
            </a: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p:txBody>
      </p:sp>
      <p:sp>
        <p:nvSpPr>
          <p:cNvPr id="5" name="AutoShape 4"/>
          <p:cNvSpPr/>
          <p:nvPr/>
        </p:nvSpPr>
        <p:spPr>
          <a:xfrm>
            <a:off x="775970" y="2727960"/>
            <a:ext cx="3977005" cy="474345"/>
          </a:xfrm>
          <a:prstGeom prst="rect">
            <a:avLst/>
          </a:prstGeom>
          <a:solidFill>
            <a:srgbClr val="404040">
              <a:alpha val="100000"/>
            </a:srgbClr>
          </a:solidFill>
          <a:ln w="12700" cap="flat" cmpd="sng">
            <a:noFill/>
            <a:prstDash val="solid"/>
            <a:round/>
          </a:ln>
        </p:spPr>
        <p:txBody>
          <a:bodyPr vert="horz" wrap="square" lIns="91440" tIns="45720" rIns="91440" bIns="45720" rtlCol="0" anchor="t" anchorCtr="0"/>
          <a:lstStyle/>
          <a:p>
            <a:pPr marL="0" indent="0" algn="l">
              <a:lnSpc>
                <a:spcPct val="100000"/>
              </a:lnSpc>
              <a:defRPr/>
            </a:pPr>
            <a:r>
              <a:rPr lang="en-US" altLang="zh-CN" sz="2400" b="1">
                <a:solidFill>
                  <a:schemeClr val="bg1"/>
                </a:solidFill>
                <a:latin typeface="Noto Sans SC" panose="020B0500000000000000" charset="-122"/>
                <a:ea typeface="Noto Sans SC" panose="020B0500000000000000" charset="-122"/>
                <a:cs typeface="Noto Sans SC" panose="020B0500000000000000" charset="-122"/>
                <a:sym typeface="+mn-ea"/>
              </a:rPr>
              <a:t>Three Types of Meaning:</a:t>
            </a:r>
            <a:endParaRPr lang="en-US" altLang="zh-CN" sz="2400" b="1">
              <a:solidFill>
                <a:schemeClr val="bg1"/>
              </a:solidFill>
              <a:latin typeface="Noto Sans SC" panose="020B0500000000000000" charset="-122"/>
              <a:ea typeface="Noto Sans SC" panose="020B0500000000000000" charset="-122"/>
              <a:cs typeface="Noto Sans SC" panose="020B0500000000000000" charset="-122"/>
              <a:sym typeface="+mn-ea"/>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4" grpId="0"/>
      <p:bldP spid="4" grpId="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AutoShape 4"/>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
        <p:nvSpPr>
          <p:cNvPr id="8" name="文本框 7"/>
          <p:cNvSpPr txBox="1"/>
          <p:nvPr userDrawn="1"/>
        </p:nvSpPr>
        <p:spPr>
          <a:xfrm>
            <a:off x="139541" y="2097643"/>
            <a:ext cx="11896050" cy="3334592"/>
          </a:xfrm>
          <a:prstGeom prst="rect">
            <a:avLst/>
          </a:prstGeom>
        </p:spPr>
        <p:txBody>
          <a:bodyPr wrap="square" rtlCol="0">
            <a:noAutofit/>
          </a:bodyPr>
          <a:p>
            <a:pPr algn="l"/>
            <a:r>
              <a:rPr lang="en-US" altLang="zh-CN" sz="2400" b="1">
                <a:solidFill>
                  <a:srgbClr val="404040"/>
                </a:solidFill>
                <a:latin typeface="Times New Roman" panose="02020603050405020304" charset="0"/>
                <a:ea typeface="Times New Roman" panose="02020603050405020304" charset="0"/>
                <a:cs typeface="Times New Roman" panose="02020603050405020304" charset="0"/>
                <a:sym typeface="+mn-ea"/>
              </a:rPr>
              <a:t>hierarchical structuring: </a:t>
            </a:r>
            <a:endParaRPr lang="en-US" altLang="zh-CN" sz="2400" b="1">
              <a:solidFill>
                <a:srgbClr val="404040"/>
              </a:solidFill>
              <a:latin typeface="Times New Roman" panose="02020603050405020304" charset="0"/>
              <a:ea typeface="Times New Roman" panose="02020603050405020304" charset="0"/>
              <a:cs typeface="Times New Roman" panose="02020603050405020304" charset="0"/>
            </a:endParaRPr>
          </a:p>
          <a:p>
            <a:pPr algn="l"/>
            <a:r>
              <a:rPr lang="en-US" altLang="zh-CN" sz="2400">
                <a:solidFill>
                  <a:srgbClr val="404040"/>
                </a:solidFill>
                <a:latin typeface="Times New Roman" panose="02020603050405020304" charset="0"/>
                <a:ea typeface="Times New Roman" panose="02020603050405020304" charset="0"/>
                <a:cs typeface="Times New Roman" panose="02020603050405020304" charset="0"/>
                <a:sym typeface="+mn-ea"/>
              </a:rPr>
              <a:t>differentiating series of words according to their level </a:t>
            </a:r>
            <a:endParaRPr lang="en-US" altLang="zh-CN" sz="2400">
              <a:solidFill>
                <a:srgbClr val="404040"/>
              </a:solidFill>
              <a:latin typeface="Times New Roman" panose="02020603050405020304" charset="0"/>
              <a:ea typeface="Times New Roman" panose="02020603050405020304" charset="0"/>
              <a:cs typeface="Times New Roman" panose="02020603050405020304" charset="0"/>
            </a:endParaRPr>
          </a:p>
          <a:p>
            <a:pPr algn="l"/>
            <a:r>
              <a:rPr lang="en-US" altLang="zh-CN" sz="2400">
                <a:solidFill>
                  <a:srgbClr val="404040"/>
                </a:solidFill>
                <a:latin typeface="Times New Roman" panose="02020603050405020304" charset="0"/>
                <a:ea typeface="Times New Roman" panose="02020603050405020304" charset="0"/>
                <a:cs typeface="Times New Roman" panose="02020603050405020304" charset="0"/>
                <a:sym typeface="+mn-ea"/>
              </a:rPr>
              <a:t>eg. the superordinate animal and its hyponyms goat, dog, cow etc.</a:t>
            </a:r>
            <a:endParaRPr lang="en-US" altLang="zh-CN" sz="2400">
              <a:solidFill>
                <a:srgbClr val="404040"/>
              </a:solidFill>
              <a:latin typeface="Times New Roman" panose="02020603050405020304" charset="0"/>
              <a:ea typeface="Times New Roman" panose="02020603050405020304" charset="0"/>
              <a:cs typeface="Times New Roman" panose="02020603050405020304" charset="0"/>
            </a:endParaRPr>
          </a:p>
          <a:p>
            <a:pPr algn="l"/>
            <a:r>
              <a:rPr lang="en-US" altLang="zh-CN" sz="2400" b="1">
                <a:solidFill>
                  <a:srgbClr val="404040"/>
                </a:solidFill>
                <a:latin typeface="Times New Roman" panose="02020603050405020304" charset="0"/>
                <a:ea typeface="Times New Roman" panose="02020603050405020304" charset="0"/>
                <a:cs typeface="Times New Roman" panose="02020603050405020304" charset="0"/>
                <a:sym typeface="+mn-ea"/>
              </a:rPr>
              <a:t>componential analysis: </a:t>
            </a:r>
            <a:endParaRPr lang="en-US" altLang="zh-CN" sz="2400" b="1">
              <a:solidFill>
                <a:srgbClr val="404040"/>
              </a:solidFill>
              <a:latin typeface="Times New Roman" panose="02020603050405020304" charset="0"/>
              <a:ea typeface="Times New Roman" panose="02020603050405020304" charset="0"/>
              <a:cs typeface="Times New Roman" panose="02020603050405020304" charset="0"/>
            </a:endParaRPr>
          </a:p>
          <a:p>
            <a:pPr algn="l"/>
            <a:r>
              <a:rPr lang="en-US" altLang="zh-CN" sz="2400">
                <a:solidFill>
                  <a:srgbClr val="404040"/>
                </a:solidFill>
                <a:latin typeface="Times New Roman" panose="02020603050405020304" charset="0"/>
                <a:ea typeface="Times New Roman" panose="02020603050405020304" charset="0"/>
                <a:cs typeface="Times New Roman" panose="02020603050405020304" charset="0"/>
                <a:sym typeface="+mn-ea"/>
              </a:rPr>
              <a:t>seeking to identify and discriminate specific features of a range of related words. (kinship terms</a:t>
            </a:r>
            <a:r>
              <a:rPr lang="zh-CN" altLang="en-US" sz="2400">
                <a:solidFill>
                  <a:srgbClr val="404040"/>
                </a:solidFill>
                <a:latin typeface="Times New Roman" panose="02020603050405020304" charset="0"/>
                <a:ea typeface="Times New Roman" panose="02020603050405020304" charset="0"/>
                <a:cs typeface="Times New Roman" panose="02020603050405020304" charset="0"/>
                <a:sym typeface="+mn-ea"/>
              </a:rPr>
              <a:t>）</a:t>
            </a:r>
            <a:endParaRPr lang="en-US" altLang="zh-CN" sz="2400">
              <a:solidFill>
                <a:srgbClr val="404040"/>
              </a:solidFill>
              <a:latin typeface="Times New Roman" panose="02020603050405020304" charset="0"/>
              <a:ea typeface="Times New Roman" panose="02020603050405020304" charset="0"/>
              <a:cs typeface="Times New Roman" panose="02020603050405020304" charset="0"/>
            </a:endParaRPr>
          </a:p>
          <a:p>
            <a:pPr algn="l"/>
            <a:r>
              <a:rPr lang="en-US" altLang="zh-CN" sz="2400" b="1">
                <a:solidFill>
                  <a:srgbClr val="404040"/>
                </a:solidFill>
                <a:latin typeface="Times New Roman" panose="02020603050405020304" charset="0"/>
                <a:ea typeface="Times New Roman" panose="02020603050405020304" charset="0"/>
                <a:cs typeface="Times New Roman" panose="02020603050405020304" charset="0"/>
                <a:sym typeface="+mn-ea"/>
              </a:rPr>
              <a:t>semantic structure analysis:  </a:t>
            </a:r>
            <a:endParaRPr lang="en-US" altLang="zh-CN" sz="2400" b="1">
              <a:solidFill>
                <a:srgbClr val="404040"/>
              </a:solidFill>
              <a:latin typeface="Times New Roman" panose="02020603050405020304" charset="0"/>
              <a:ea typeface="Times New Roman" panose="02020603050405020304" charset="0"/>
              <a:cs typeface="Times New Roman" panose="02020603050405020304" charset="0"/>
            </a:endParaRPr>
          </a:p>
          <a:p>
            <a:pPr algn="l"/>
            <a:r>
              <a:rPr lang="en-US" altLang="zh-CN" sz="2400">
                <a:solidFill>
                  <a:srgbClr val="404040"/>
                </a:solidFill>
                <a:latin typeface="Times New Roman" panose="02020603050405020304" charset="0"/>
                <a:ea typeface="Times New Roman" panose="02020603050405020304" charset="0"/>
                <a:cs typeface="Times New Roman" panose="02020603050405020304" charset="0"/>
                <a:sym typeface="+mn-ea"/>
              </a:rPr>
              <a:t>encouraging the trainee translator to realize that the sense of a complex semantic term;  </a:t>
            </a:r>
            <a:endParaRPr lang="en-US" altLang="zh-CN" sz="2400">
              <a:solidFill>
                <a:srgbClr val="404040"/>
              </a:solidFill>
              <a:latin typeface="Times New Roman" panose="02020603050405020304" charset="0"/>
              <a:ea typeface="Times New Roman" panose="02020603050405020304" charset="0"/>
              <a:cs typeface="Times New Roman" panose="02020603050405020304" charset="0"/>
            </a:endParaRPr>
          </a:p>
          <a:p>
            <a:pPr algn="l"/>
            <a:r>
              <a:rPr lang="en-US" altLang="zh-CN" sz="2400">
                <a:solidFill>
                  <a:srgbClr val="404040"/>
                </a:solidFill>
                <a:latin typeface="Times New Roman" panose="02020603050405020304" charset="0"/>
                <a:ea typeface="Times New Roman" panose="02020603050405020304" charset="0"/>
                <a:cs typeface="Times New Roman" panose="02020603050405020304" charset="0"/>
                <a:sym typeface="+mn-ea"/>
              </a:rPr>
              <a:t>stressing the importance of </a:t>
            </a:r>
            <a:r>
              <a:rPr lang="en-US" altLang="zh-CN" sz="2400" b="1">
                <a:solidFill>
                  <a:srgbClr val="404040"/>
                </a:solidFill>
                <a:latin typeface="Times New Roman" panose="02020603050405020304" charset="0"/>
                <a:ea typeface="Times New Roman" panose="02020603050405020304" charset="0"/>
                <a:cs typeface="Times New Roman" panose="02020603050405020304" charset="0"/>
                <a:sym typeface="+mn-ea"/>
              </a:rPr>
              <a:t>context</a:t>
            </a:r>
            <a:r>
              <a:rPr lang="en-US" altLang="zh-CN" sz="2400">
                <a:solidFill>
                  <a:srgbClr val="404040"/>
                </a:solidFill>
                <a:latin typeface="Times New Roman" panose="02020603050405020304" charset="0"/>
                <a:ea typeface="Times New Roman" panose="02020603050405020304" charset="0"/>
                <a:cs typeface="Times New Roman" panose="02020603050405020304" charset="0"/>
                <a:sym typeface="+mn-ea"/>
              </a:rPr>
              <a:t> for communication when dealing with metaphorical meaning and with complex cultural idioms. </a:t>
            </a:r>
            <a:r>
              <a:rPr lang="zh-CN" altLang="en-US" sz="2400">
                <a:solidFill>
                  <a:srgbClr val="404040"/>
                </a:solidFill>
                <a:latin typeface="Times New Roman" panose="02020603050405020304" charset="0"/>
                <a:ea typeface="Times New Roman" panose="02020603050405020304" charset="0"/>
                <a:cs typeface="Times New Roman" panose="02020603050405020304" charset="0"/>
                <a:sym typeface="+mn-ea"/>
              </a:rPr>
              <a:t>（</a:t>
            </a:r>
            <a:r>
              <a:rPr lang="en-US" altLang="zh-CN" sz="2400">
                <a:solidFill>
                  <a:srgbClr val="404040"/>
                </a:solidFill>
                <a:latin typeface="Times New Roman" panose="02020603050405020304" charset="0"/>
                <a:ea typeface="Times New Roman" panose="02020603050405020304" charset="0"/>
                <a:cs typeface="Times New Roman" panose="02020603050405020304" charset="0"/>
                <a:sym typeface="+mn-ea"/>
              </a:rPr>
              <a:t>spirit)</a:t>
            </a:r>
            <a:endParaRPr lang="en-US" altLang="zh-CN" sz="2400">
              <a:solidFill>
                <a:srgbClr val="404040"/>
              </a:solidFill>
              <a:latin typeface="Times New Roman" panose="02020603050405020304" charset="0"/>
              <a:ea typeface="Times New Roman" panose="02020603050405020304" charset="0"/>
              <a:cs typeface="Times New Roman" panose="02020603050405020304" charset="0"/>
            </a:endParaRPr>
          </a:p>
          <a:p>
            <a:pPr algn="l"/>
            <a:endParaRPr lang="zh-CN" altLang="en-US" sz="2400">
              <a:solidFill>
                <a:srgbClr val="404040"/>
              </a:solidFill>
              <a:latin typeface="Times New Roman" panose="02020603050405020304" charset="0"/>
              <a:ea typeface="Times New Roman" panose="02020603050405020304" charset="0"/>
              <a:cs typeface="Times New Roman" panose="02020603050405020304" charset="0"/>
            </a:endParaRPr>
          </a:p>
        </p:txBody>
      </p:sp>
      <p:sp>
        <p:nvSpPr>
          <p:cNvPr id="6" name="文本框 5"/>
          <p:cNvSpPr txBox="1"/>
          <p:nvPr userDrawn="1"/>
        </p:nvSpPr>
        <p:spPr>
          <a:xfrm>
            <a:off x="139541" y="1606153"/>
            <a:ext cx="6530340" cy="491490"/>
          </a:xfrm>
          <a:prstGeom prst="rect">
            <a:avLst/>
          </a:prstGeom>
        </p:spPr>
        <p:txBody>
          <a:bodyPr wrap="none" rtlCol="0">
            <a:spAutoFit/>
          </a:bodyPr>
          <a:p>
            <a:pPr algn="l" defTabSz="457200">
              <a:spcAft>
                <a:spcPts val="1000"/>
              </a:spcAft>
              <a:defRPr sz="1900" b="1">
                <a:solidFill>
                  <a:srgbClr val="373E48"/>
                </a:solidFill>
                <a:latin typeface="Aptos"/>
              </a:defRPr>
            </a:pPr>
            <a:r>
              <a:rPr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rPr>
              <a:t>Nida proposes systematic techniques such as:</a:t>
            </a:r>
            <a:endParaRPr lang="zh-CN" altLang="en-US" sz="2600" kern="1200">
              <a:solidFill>
                <a:sysClr val="windowText" lastClr="000000"/>
              </a:solidFill>
              <a:latin typeface="Times New Roman" panose="02020603050405020304" charset="0"/>
              <a:ea typeface="Times New Roman" panose="02020603050405020304" charset="0"/>
              <a:cs typeface="Times New Roman" panose="02020603050405020304" charset="0"/>
              <a:sym typeface="+mn-ea"/>
            </a:endParaRPr>
          </a:p>
        </p:txBody>
      </p:sp>
      <p:sp>
        <p:nvSpPr>
          <p:cNvPr id="7" name="文本框 6"/>
          <p:cNvSpPr txBox="1"/>
          <p:nvPr userDrawn="1"/>
        </p:nvSpPr>
        <p:spPr>
          <a:xfrm>
            <a:off x="-132715" y="5544185"/>
            <a:ext cx="12324715" cy="575945"/>
          </a:xfrm>
          <a:prstGeom prst="rect">
            <a:avLst/>
          </a:prstGeom>
        </p:spPr>
        <p:txBody>
          <a:bodyPr wrap="none" rtlCol="0">
            <a:noAutofit/>
          </a:bodyPr>
          <a:p>
            <a:r>
              <a:rPr lang="en-US" altLang="zh-CN" sz="2400" b="1" i="1">
                <a:solidFill>
                  <a:srgbClr val="404040"/>
                </a:solidFill>
                <a:latin typeface="Times New Roman" panose="02020603050405020304" charset="0"/>
                <a:ea typeface="Times New Roman" panose="02020603050405020304" charset="0"/>
                <a:cs typeface="Times New Roman" panose="02020603050405020304" charset="0"/>
              </a:rPr>
              <a:t>T</a:t>
            </a:r>
            <a:r>
              <a:rPr lang="en-US" altLang="zh-CN" sz="2400" b="1" i="1">
                <a:solidFill>
                  <a:srgbClr val="404040"/>
                </a:solidFill>
                <a:latin typeface="Times New Roman" panose="02020603050405020304" charset="0"/>
                <a:ea typeface="Times New Roman" panose="02020603050405020304" charset="0"/>
                <a:cs typeface="Times New Roman" panose="02020603050405020304" charset="0"/>
              </a:rPr>
              <a:t>hese</a:t>
            </a:r>
            <a:r>
              <a:rPr lang="zh-CN" altLang="en-US" sz="2400" b="1" i="1">
                <a:solidFill>
                  <a:srgbClr val="404040"/>
                </a:solidFill>
                <a:latin typeface="Times New Roman" panose="02020603050405020304" charset="0"/>
                <a:ea typeface="Times New Roman" panose="02020603050405020304" charset="0"/>
                <a:cs typeface="Times New Roman" panose="02020603050405020304" charset="0"/>
              </a:rPr>
              <a:t> </a:t>
            </a:r>
            <a:r>
              <a:rPr lang="en-US" altLang="zh-CN" sz="2400" b="1" i="1">
                <a:solidFill>
                  <a:srgbClr val="404040"/>
                </a:solidFill>
                <a:latin typeface="Times New Roman" panose="02020603050405020304" charset="0"/>
                <a:ea typeface="Times New Roman" panose="02020603050405020304" charset="0"/>
                <a:cs typeface="Times New Roman" panose="02020603050405020304" charset="0"/>
              </a:rPr>
              <a:t>techniques help translators identify the relevent features of meaning before reformulation</a:t>
            </a:r>
            <a:endParaRPr lang="zh-CN" altLang="en-US" sz="2400" i="1">
              <a:solidFill>
                <a:srgbClr val="404040"/>
              </a:solidFill>
              <a:latin typeface="Times New Roman" panose="02020603050405020304" charset="0"/>
              <a:ea typeface="Times New Roman" panose="02020603050405020304" charset="0"/>
              <a:cs typeface="Times New Roman" panose="02020603050405020304" charset="0"/>
            </a:endParaRPr>
          </a:p>
        </p:txBody>
      </p:sp>
      <p:sp>
        <p:nvSpPr>
          <p:cNvPr id="9" name="AutoShape 4"/>
          <p:cNvSpPr/>
          <p:nvPr/>
        </p:nvSpPr>
        <p:spPr>
          <a:xfrm>
            <a:off x="241300" y="1002665"/>
            <a:ext cx="4830445" cy="491490"/>
          </a:xfrm>
          <a:prstGeom prst="rect">
            <a:avLst/>
          </a:prstGeom>
          <a:solidFill>
            <a:srgbClr val="404040">
              <a:alpha val="100000"/>
            </a:srgbClr>
          </a:solidFill>
          <a:ln w="12700" cap="flat" cmpd="sng">
            <a:noFill/>
            <a:prstDash val="solid"/>
            <a:round/>
          </a:ln>
        </p:spPr>
        <p:txBody>
          <a:bodyPr vert="horz" wrap="square" lIns="91440" tIns="45720" rIns="91440" bIns="45720" rtlCol="0" anchor="t" anchorCtr="0"/>
          <a:lstStyle/>
          <a:p>
            <a:pPr marL="0" indent="0" algn="l">
              <a:lnSpc>
                <a:spcPct val="100000"/>
              </a:lnSpc>
              <a:defRPr/>
            </a:pPr>
            <a:r>
              <a:rPr lang="en-US" altLang="zh-CN" sz="2400" b="1">
                <a:solidFill>
                  <a:schemeClr val="bg1"/>
                </a:solidFill>
                <a:latin typeface="Noto Sans SC" panose="020B0500000000000000" charset="-122"/>
                <a:ea typeface="Noto Sans SC" panose="020B0500000000000000" charset="-122"/>
                <a:cs typeface="Noto Sans SC" panose="020B0500000000000000" charset="-122"/>
                <a:sym typeface="+mn-ea"/>
              </a:rPr>
              <a:t>Analysing Semantic Structure</a:t>
            </a:r>
            <a:endParaRPr lang="en-US" altLang="zh-CN" sz="2400" b="1">
              <a:solidFill>
                <a:schemeClr val="bg1"/>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
        <p:nvSpPr>
          <p:cNvPr id="3" name="AutoShape 3"/>
          <p:cNvSpPr/>
          <p:nvPr/>
        </p:nvSpPr>
        <p:spPr>
          <a:xfrm>
            <a:off x="0" y="2276872"/>
            <a:ext cx="3264363" cy="2688299"/>
          </a:xfrm>
          <a:prstGeom prst="roundRect">
            <a:avLst>
              <a:gd name="adj" fmla="val 0"/>
            </a:avLst>
          </a:prstGeom>
          <a:gradFill rotWithShape="1">
            <a:gsLst>
              <a:gs pos="0">
                <a:schemeClr val="phClr">
                  <a:tint val="100000"/>
                  <a:shade val="100000"/>
                  <a:satMod val="130000"/>
                </a:schemeClr>
              </a:gs>
              <a:gs pos="100000">
                <a:schemeClr val="phClr">
                  <a:tint val="50000"/>
                  <a:shade val="100000"/>
                  <a:satMod val="350000"/>
                </a:schemeClr>
              </a:gs>
            </a:gsLst>
            <a:lin ang="16200000" scaled="0"/>
          </a:gradFill>
        </p:spPr>
        <p:style>
          <a:lnRef idx="0">
            <a:srgbClr val="FFFFFF"/>
          </a:lnRef>
          <a:fillRef idx="3">
            <a:prstClr val="black"/>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marL="0" marR="0" lvl="0" indent="0" algn="ctr" rtl="0">
              <a:lnSpc>
                <a:spcPct val="100000"/>
              </a:lnSpc>
              <a:spcBef>
                <a:spcPts val="0"/>
              </a:spcBef>
              <a:spcAft>
                <a:spcPts val="0"/>
              </a:spcAft>
              <a:buClr>
                <a:srgbClr val="000000"/>
              </a:buClr>
              <a:buSzTx/>
              <a:buNone/>
            </a:pPr>
            <a:endParaRPr>
              <a:solidFill>
                <a:schemeClr val="tx1"/>
              </a:solidFill>
            </a:endParaRPr>
          </a:p>
        </p:txBody>
      </p:sp>
      <p:sp>
        <p:nvSpPr>
          <p:cNvPr id="15" name="AutoShape 15"/>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16" name="Picture 16"/>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17" name="AutoShape 17"/>
          <p:cNvSpPr/>
          <p:nvPr/>
        </p:nvSpPr>
        <p:spPr>
          <a:xfrm>
            <a:off x="847611" y="2835811"/>
            <a:ext cx="1627369" cy="1569660"/>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sz="9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04</a:t>
            </a:r>
            <a:endParaRPr lang="en-US" sz="1100"/>
          </a:p>
        </p:txBody>
      </p:sp>
      <p:sp>
        <p:nvSpPr>
          <p:cNvPr id="18" name="AutoShape 18"/>
          <p:cNvSpPr/>
          <p:nvPr/>
        </p:nvSpPr>
        <p:spPr>
          <a:xfrm>
            <a:off x="3911296" y="3297895"/>
            <a:ext cx="5692932" cy="646331"/>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sz="3600" b="1">
                <a:solidFill>
                  <a:srgbClr val="404040"/>
                </a:solidFill>
                <a:latin typeface="Noto Sans SC" panose="020B0500000000000000" charset="-122"/>
                <a:ea typeface="Noto Sans SC" panose="020B0500000000000000" charset="-122"/>
                <a:cs typeface="微软雅黑" panose="020B0503020204020204" charset="-122"/>
                <a:sym typeface="微软雅黑" panose="020B0503020204020204" charset="-122"/>
              </a:rPr>
              <a:t>Formal vs Dynamic Equivalence</a:t>
            </a:r>
            <a:endParaRPr lang="en-US" sz="3600" b="1">
              <a:solidFill>
                <a:srgbClr val="404040"/>
              </a:solidFill>
              <a:latin typeface="Noto Sans SC" panose="020B0500000000000000" charset="-122"/>
              <a:ea typeface="Noto Sans SC" panose="020B0500000000000000"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AutoShape 4"/>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
        <p:nvSpPr>
          <p:cNvPr id="5" name="文本框 4"/>
          <p:cNvSpPr txBox="1"/>
          <p:nvPr userDrawn="1"/>
        </p:nvSpPr>
        <p:spPr>
          <a:xfrm>
            <a:off x="1570375" y="1721245"/>
            <a:ext cx="8330145" cy="1917531"/>
          </a:xfrm>
          <a:prstGeom prst="rect">
            <a:avLst/>
          </a:prstGeom>
        </p:spPr>
        <p:txBody>
          <a:bodyPr wrap="square" rtlCol="0">
            <a:noAutofit/>
          </a:bodyPr>
          <a:p>
            <a:pPr algn="l"/>
            <a:r>
              <a:rPr lang="en-US" altLang="zh-CN" sz="2000">
                <a:latin typeface="Times New Roman" panose="02020603050405020304" charset="0"/>
                <a:ea typeface="Times New Roman" panose="02020603050405020304" charset="0"/>
                <a:cs typeface="Times New Roman" panose="02020603050405020304" charset="0"/>
              </a:rPr>
              <a:t>Since no two language are identical, either in the meanings given to corresponding symbols or in the ways in which such symbols are arranged in phrases and sentences, it stands to reason that there can be no absolute correspondence between languages.</a:t>
            </a:r>
            <a:br>
              <a:rPr lang="en-US" altLang="zh-CN" sz="2000">
                <a:latin typeface="Times New Roman" panose="02020603050405020304" charset="0"/>
                <a:ea typeface="Times New Roman" panose="02020603050405020304" charset="0"/>
                <a:cs typeface="Times New Roman" panose="02020603050405020304" charset="0"/>
              </a:rPr>
            </a:br>
            <a:br>
              <a:rPr lang="en-US" altLang="zh-CN" sz="2000">
                <a:latin typeface="Times New Roman" panose="02020603050405020304" charset="0"/>
                <a:ea typeface="Times New Roman" panose="02020603050405020304" charset="0"/>
                <a:cs typeface="Times New Roman" panose="02020603050405020304" charset="0"/>
              </a:rPr>
            </a:br>
            <a:endParaRPr lang="zh-CN" altLang="en-US" sz="2000">
              <a:latin typeface="Times New Roman" panose="02020603050405020304" charset="0"/>
              <a:ea typeface="Times New Roman" panose="02020603050405020304" charset="0"/>
              <a:cs typeface="Times New Roman" panose="02020603050405020304" charset="0"/>
            </a:endParaRPr>
          </a:p>
        </p:txBody>
      </p:sp>
      <p:sp>
        <p:nvSpPr>
          <p:cNvPr id="6" name="文本框 5"/>
          <p:cNvSpPr txBox="1"/>
          <p:nvPr userDrawn="1"/>
        </p:nvSpPr>
        <p:spPr>
          <a:xfrm>
            <a:off x="7700346" y="4484417"/>
            <a:ext cx="3794125" cy="306705"/>
          </a:xfrm>
          <a:prstGeom prst="rect">
            <a:avLst/>
          </a:prstGeom>
        </p:spPr>
        <p:txBody>
          <a:bodyPr wrap="square" rtlCol="0">
            <a:spAutoFit/>
          </a:bodyPr>
          <a:p>
            <a:r>
              <a:rPr lang="zh-CN" altLang="en-US"/>
              <a:t>-------</a:t>
            </a:r>
            <a:r>
              <a:rPr lang="en-US" altLang="zh-CN"/>
              <a:t>Eugene Nida</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10" name="AutoShape 10"/>
          <p:cNvSpPr/>
          <p:nvPr/>
        </p:nvSpPr>
        <p:spPr>
          <a:xfrm>
            <a:off x="1069495" y="1337788"/>
            <a:ext cx="3445447" cy="369332"/>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endParaRPr lang="en-US" sz="2000" b="1">
              <a:latin typeface="Times New Roman" panose="02020603050405020304" charset="0"/>
              <a:ea typeface="Times New Roman" panose="02020603050405020304" charset="0"/>
              <a:cs typeface="Times New Roman" panose="02020603050405020304" charset="0"/>
            </a:endParaRPr>
          </a:p>
        </p:txBody>
      </p:sp>
      <p:sp>
        <p:nvSpPr>
          <p:cNvPr id="11" name="AutoShape 11"/>
          <p:cNvSpPr/>
          <p:nvPr/>
        </p:nvSpPr>
        <p:spPr>
          <a:xfrm>
            <a:off x="1069506" y="1983104"/>
            <a:ext cx="10086398" cy="701731"/>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17000"/>
              </a:lnSpc>
              <a:defRPr/>
            </a:pPr>
            <a:r>
              <a:rPr lang="en-US" altLang="zh-CN" sz="1600" b="0" i="0" u="none" strike="noStrike">
                <a:solidFill>
                  <a:srgbClr val="595959"/>
                </a:solidFill>
                <a:latin typeface="Times New Roman" panose="02020603050405020304" charset="0"/>
                <a:ea typeface="Times New Roman" panose="02020603050405020304" charset="0"/>
                <a:cs typeface="Times New Roman" panose="02020603050405020304" charset="0"/>
                <a:sym typeface="Noto Sans SC" panose="020B0500000000000000" charset="-122"/>
              </a:rPr>
              <a:t>I</a:t>
            </a:r>
            <a:r>
              <a:rPr lang="en-US" altLang="zh-CN" sz="1600" b="0" i="0" u="none" strike="noStrike">
                <a:solidFill>
                  <a:srgbClr val="595959"/>
                </a:solidFill>
                <a:latin typeface="Times New Roman" panose="02020603050405020304" charset="0"/>
                <a:ea typeface="Times New Roman" panose="02020603050405020304" charset="0"/>
                <a:sym typeface="Noto Sans SC" panose="020B0500000000000000" charset="-122"/>
              </a:rPr>
              <a:t>t f</a:t>
            </a:r>
            <a:r>
              <a:rPr lang="en-US" sz="1600" b="0" i="0" u="none" strike="noStrike">
                <a:solidFill>
                  <a:srgbClr val="595959"/>
                </a:solidFill>
                <a:latin typeface="Times New Roman" panose="02020603050405020304" charset="0"/>
                <a:ea typeface="Times New Roman" panose="02020603050405020304" charset="0"/>
                <a:cs typeface="Times New Roman" panose="02020603050405020304" charset="0"/>
                <a:sym typeface="Noto Sans SC" panose="020B0500000000000000" charset="-122"/>
              </a:rPr>
              <a:t>ocuses attention on the message itself, in both form and content. The receptor language message should match as closely as possible the different elements in the source language. </a:t>
            </a:r>
            <a:endParaRPr lang="en-US" sz="1600">
              <a:latin typeface="Times New Roman" panose="02020603050405020304" charset="0"/>
              <a:ea typeface="Times New Roman" panose="02020603050405020304" charset="0"/>
              <a:cs typeface="Times New Roman" panose="02020603050405020304" charset="0"/>
            </a:endParaRPr>
          </a:p>
        </p:txBody>
      </p:sp>
      <p:sp>
        <p:nvSpPr>
          <p:cNvPr id="21" name="AutoShape 11"/>
          <p:cNvSpPr/>
          <p:nvPr/>
        </p:nvSpPr>
        <p:spPr>
          <a:xfrm>
            <a:off x="1069506" y="2863494"/>
            <a:ext cx="10086398" cy="701731"/>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17000"/>
              </a:lnSpc>
              <a:defRPr/>
            </a:pPr>
            <a:r>
              <a:rPr lang="en-US" altLang="zh-CN" sz="1600" b="0" i="0" u="none" strike="noStrike">
                <a:solidFill>
                  <a:srgbClr val="595959"/>
                </a:solidFill>
                <a:latin typeface="Times New Roman" panose="02020603050405020304" charset="0"/>
                <a:ea typeface="Times New Roman" panose="02020603050405020304" charset="0"/>
                <a:cs typeface="Times New Roman" panose="02020603050405020304" charset="0"/>
                <a:sym typeface="Noto Sans SC" panose="020B0500000000000000" charset="-122"/>
              </a:rPr>
              <a:t>I</a:t>
            </a:r>
            <a:r>
              <a:rPr lang="en-US" altLang="zh-CN" sz="1600" b="0" i="0" u="none" strike="noStrike">
                <a:solidFill>
                  <a:srgbClr val="595959"/>
                </a:solidFill>
                <a:latin typeface="Times New Roman" panose="02020603050405020304" charset="0"/>
                <a:ea typeface="Times New Roman" panose="02020603050405020304" charset="0"/>
                <a:sym typeface="Noto Sans SC" panose="020B0500000000000000" charset="-122"/>
              </a:rPr>
              <a:t>t might be called a "gloss translation" which the transaltor attempts to reproduce as literally and meaningfully as possible the form and content of the original.</a:t>
            </a:r>
            <a:endParaRPr lang="en-US" sz="1600">
              <a:latin typeface="Times New Roman" panose="02020603050405020304" charset="0"/>
              <a:ea typeface="Times New Roman" panose="02020603050405020304" charset="0"/>
              <a:cs typeface="Times New Roman" panose="02020603050405020304" charset="0"/>
            </a:endParaRPr>
          </a:p>
        </p:txBody>
      </p:sp>
      <p:sp>
        <p:nvSpPr>
          <p:cNvPr id="22" name="圆角矩形 21"/>
          <p:cNvSpPr/>
          <p:nvPr userDrawn="1"/>
        </p:nvSpPr>
        <p:spPr>
          <a:xfrm>
            <a:off x="1163607" y="4128904"/>
            <a:ext cx="1660525" cy="507365"/>
          </a:xfrm>
          <a:prstGeom prst="roundRect">
            <a:avLst/>
          </a:prstGeom>
          <a:solidFill>
            <a:schemeClr val="accent3">
              <a:lumMod val="20000"/>
              <a:lumOff val="80000"/>
              <a:alpha val="10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r>
              <a:rPr lang="en-US" altLang="zh-CN" sz="1600">
                <a:solidFill>
                  <a:srgbClr val="000000"/>
                </a:solidFill>
                <a:latin typeface="Times New Roman" panose="02020603050405020304" charset="0"/>
                <a:ea typeface="Times New Roman" panose="02020603050405020304" charset="0"/>
                <a:cs typeface="Times New Roman" panose="02020603050405020304" charset="0"/>
              </a:rPr>
              <a:t>Medieval French text</a:t>
            </a:r>
            <a:r>
              <a:rPr lang="zh-CN" altLang="en-US" sz="1600">
                <a:solidFill>
                  <a:srgbClr val="000000"/>
                </a:solidFill>
                <a:latin typeface="Times New Roman" panose="02020603050405020304" charset="0"/>
                <a:ea typeface="Times New Roman" panose="02020603050405020304" charset="0"/>
                <a:cs typeface="Times New Roman" panose="02020603050405020304" charset="0"/>
              </a:rPr>
              <a:t>-</a:t>
            </a:r>
            <a:r>
              <a:rPr lang="en-US" altLang="zh-CN" sz="1600">
                <a:solidFill>
                  <a:srgbClr val="000000"/>
                </a:solidFill>
                <a:latin typeface="Times New Roman" panose="02020603050405020304" charset="0"/>
                <a:ea typeface="Times New Roman" panose="02020603050405020304" charset="0"/>
                <a:cs typeface="Times New Roman" panose="02020603050405020304" charset="0"/>
              </a:rPr>
              <a:t>English</a:t>
            </a:r>
            <a:endParaRPr lang="zh-CN" altLang="en-US" sz="1600">
              <a:solidFill>
                <a:srgbClr val="000000"/>
              </a:solidFill>
              <a:latin typeface="Times New Roman" panose="02020603050405020304" charset="0"/>
              <a:ea typeface="Times New Roman" panose="02020603050405020304" charset="0"/>
              <a:cs typeface="Times New Roman" panose="02020603050405020304" charset="0"/>
            </a:endParaRPr>
          </a:p>
        </p:txBody>
      </p:sp>
      <p:cxnSp>
        <p:nvCxnSpPr>
          <p:cNvPr id="23" name="直接箭头连接符 22"/>
          <p:cNvCxnSpPr/>
          <p:nvPr userDrawn="1"/>
        </p:nvCxnSpPr>
        <p:spPr>
          <a:xfrm>
            <a:off x="2982194" y="4382576"/>
            <a:ext cx="599804" cy="0"/>
          </a:xfrm>
          <a:prstGeom prst="straightConnector1">
            <a:avLst/>
          </a:prstGeom>
          <a:ln w="19050">
            <a:solidFill>
              <a:schemeClr val="tx1">
                <a:alpha val="100000"/>
              </a:schemeClr>
            </a:solidFill>
            <a:tailEnd type="triangle"/>
          </a:ln>
        </p:spPr>
        <p:style>
          <a:lnRef idx="2">
            <a:schemeClr val="accent1"/>
          </a:lnRef>
          <a:fillRef idx="0">
            <a:srgbClr val="FFFFFF"/>
          </a:fillRef>
          <a:effectRef idx="0">
            <a:srgbClr val="FFFFFF"/>
          </a:effectRef>
          <a:fontRef idx="minor">
            <a:schemeClr val="tx1"/>
          </a:fontRef>
        </p:style>
      </p:cxnSp>
      <p:sp>
        <p:nvSpPr>
          <p:cNvPr id="25" name="圆角矩形 24"/>
          <p:cNvSpPr/>
          <p:nvPr userDrawn="1"/>
        </p:nvSpPr>
        <p:spPr>
          <a:xfrm>
            <a:off x="3735751" y="4128884"/>
            <a:ext cx="1660525" cy="507385"/>
          </a:xfrm>
          <a:prstGeom prst="roundRect">
            <a:avLst/>
          </a:prstGeom>
          <a:solidFill>
            <a:schemeClr val="accent3">
              <a:lumMod val="20000"/>
              <a:lumOff val="80000"/>
              <a:alpha val="10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r>
              <a:rPr lang="en-US" altLang="zh-CN" sz="1600">
                <a:solidFill>
                  <a:srgbClr val="000000"/>
                </a:solidFill>
                <a:latin typeface="Times New Roman" panose="02020603050405020304" charset="0"/>
                <a:ea typeface="Times New Roman" panose="02020603050405020304" charset="0"/>
                <a:cs typeface="Times New Roman" panose="02020603050405020304" charset="0"/>
              </a:rPr>
              <a:t>students of early French literature</a:t>
            </a:r>
            <a:endParaRPr lang="zh-CN" altLang="en-US" sz="1600">
              <a:solidFill>
                <a:srgbClr val="000000"/>
              </a:solidFill>
              <a:latin typeface="Times New Roman" panose="02020603050405020304" charset="0"/>
              <a:ea typeface="Times New Roman" panose="02020603050405020304" charset="0"/>
              <a:cs typeface="Times New Roman" panose="02020603050405020304" charset="0"/>
            </a:endParaRPr>
          </a:p>
        </p:txBody>
      </p:sp>
      <p:sp>
        <p:nvSpPr>
          <p:cNvPr id="26" name="文本框 25"/>
          <p:cNvSpPr txBox="1"/>
          <p:nvPr userDrawn="1"/>
        </p:nvSpPr>
        <p:spPr>
          <a:xfrm>
            <a:off x="2982194" y="4043486"/>
            <a:ext cx="599440" cy="337185"/>
          </a:xfrm>
          <a:prstGeom prst="rect">
            <a:avLst/>
          </a:prstGeom>
        </p:spPr>
        <p:txBody>
          <a:bodyPr wrap="square" rtlCol="0">
            <a:spAutoFit/>
          </a:bodyPr>
          <a:p>
            <a:r>
              <a:rPr lang="en-US" altLang="zh-CN" sz="1600">
                <a:latin typeface="Times New Roman" panose="02020603050405020304" charset="0"/>
                <a:ea typeface="Times New Roman" panose="02020603050405020304" charset="0"/>
                <a:cs typeface="Times New Roman" panose="02020603050405020304" charset="0"/>
              </a:rPr>
              <a:t>for</a:t>
            </a:r>
            <a:endParaRPr lang="zh-CN" altLang="en-US" sz="1600">
              <a:latin typeface="Times New Roman" panose="02020603050405020304" charset="0"/>
              <a:ea typeface="Times New Roman" panose="02020603050405020304" charset="0"/>
              <a:cs typeface="Times New Roman" panose="02020603050405020304" charset="0"/>
            </a:endParaRPr>
          </a:p>
        </p:txBody>
      </p:sp>
      <p:sp>
        <p:nvSpPr>
          <p:cNvPr id="30" name="对角圆角矩形 29"/>
          <p:cNvSpPr/>
          <p:nvPr>
            <p:custDataLst>
              <p:tags r:id="rId2"/>
            </p:custDataLst>
          </p:nvPr>
        </p:nvSpPr>
        <p:spPr>
          <a:xfrm>
            <a:off x="6859698" y="4612518"/>
            <a:ext cx="1143803" cy="661477"/>
          </a:xfrm>
          <a:prstGeom prst="round2DiagRect">
            <a:avLst/>
          </a:prstGeom>
          <a:solidFill>
            <a:srgbClr val="009DD9"/>
          </a:solidFill>
          <a:ln w="12700" cap="flat" cmpd="sng" algn="ctr">
            <a:noFill/>
            <a:prstDash val="solid"/>
            <a:miter lim="800000"/>
          </a:ln>
          <a:effectLst/>
        </p:spPr>
        <p:txBody>
          <a:bodyPr rtlCol="0" anchor="ctr" anchorCtr="0">
            <a:normAutofit/>
          </a:bodyPr>
          <a:lstStyle/>
          <a:p>
            <a:pPr algn="ctr"/>
            <a:r>
              <a:rPr lang="en-US" altLang="zh-CN" sz="1600" b="1">
                <a:solidFill>
                  <a:sysClr val="window" lastClr="FFFFFF"/>
                </a:solidFill>
                <a:latin typeface="Times New Roman" panose="02020603050405020304" charset="0"/>
                <a:ea typeface="Times New Roman" panose="02020603050405020304" charset="0"/>
                <a:cs typeface="Times New Roman" panose="02020603050405020304" charset="0"/>
              </a:rPr>
              <a:t>footnotes</a:t>
            </a:r>
            <a:endParaRPr lang="da-DK" altLang="zh-CN" sz="1600" b="1">
              <a:solidFill>
                <a:sysClr val="window" lastClr="FFFFFF"/>
              </a:solidFill>
              <a:latin typeface="Times New Roman" panose="02020603050405020304" charset="0"/>
              <a:ea typeface="Times New Roman" panose="02020603050405020304" charset="0"/>
              <a:cs typeface="Times New Roman" panose="02020603050405020304" charset="0"/>
            </a:endParaRPr>
          </a:p>
        </p:txBody>
      </p:sp>
      <p:sp>
        <p:nvSpPr>
          <p:cNvPr id="31" name="对角圆角矩形 30"/>
          <p:cNvSpPr/>
          <p:nvPr>
            <p:custDataLst>
              <p:tags r:id="rId3"/>
            </p:custDataLst>
          </p:nvPr>
        </p:nvSpPr>
        <p:spPr>
          <a:xfrm>
            <a:off x="8454409" y="5399820"/>
            <a:ext cx="3273103" cy="661477"/>
          </a:xfrm>
          <a:prstGeom prst="round2DiagRect">
            <a:avLst/>
          </a:prstGeom>
          <a:solidFill>
            <a:srgbClr val="0F6FC6">
              <a:lumMod val="60000"/>
              <a:lumOff val="40000"/>
            </a:srgbClr>
          </a:solidFill>
          <a:ln w="12700" cap="flat" cmpd="sng" algn="ctr">
            <a:noFill/>
            <a:prstDash val="solid"/>
            <a:miter lim="800000"/>
          </a:ln>
          <a:effectLst/>
        </p:spPr>
        <p:txBody>
          <a:bodyPr rtlCol="0" anchor="ctr" anchorCtr="0">
            <a:normAutofit/>
          </a:bodyPr>
          <a:lstStyle/>
          <a:p>
            <a:pPr algn="l"/>
            <a:r>
              <a:rPr lang="en-US" altLang="zh-CN">
                <a:solidFill>
                  <a:sysClr val="window" lastClr="FFFFFF"/>
                </a:solidFill>
                <a:latin typeface="Times New Roman" panose="02020603050405020304" charset="0"/>
                <a:ea typeface="Times New Roman" panose="02020603050405020304" charset="0"/>
                <a:cs typeface="Times New Roman" panose="02020603050405020304" charset="0"/>
              </a:rPr>
              <a:t>make</a:t>
            </a:r>
            <a:r>
              <a:rPr lang="da-DK" altLang="zh-CN">
                <a:solidFill>
                  <a:sysClr val="window" lastClr="FFFFFF"/>
                </a:solidFill>
                <a:latin typeface="Times New Roman" panose="02020603050405020304" charset="0"/>
                <a:ea typeface="Times New Roman" panose="02020603050405020304" charset="0"/>
                <a:cs typeface="Times New Roman" panose="02020603050405020304" charset="0"/>
              </a:rPr>
              <a:t> </a:t>
            </a:r>
            <a:r>
              <a:rPr lang="en-US" altLang="zh-CN">
                <a:solidFill>
                  <a:sysClr val="window" lastClr="FFFFFF"/>
                </a:solidFill>
                <a:latin typeface="Times New Roman" panose="02020603050405020304" charset="0"/>
                <a:ea typeface="Times New Roman" panose="02020603050405020304" charset="0"/>
                <a:cs typeface="Times New Roman" panose="02020603050405020304" charset="0"/>
              </a:rPr>
              <a:t>intelligible some of the formal equivalents employed</a:t>
            </a:r>
            <a:endParaRPr lang="da-DK" altLang="zh-CN">
              <a:solidFill>
                <a:sysClr val="window" lastClr="FFFFFF"/>
              </a:solidFill>
              <a:latin typeface="Times New Roman" panose="02020603050405020304" charset="0"/>
              <a:ea typeface="Times New Roman" panose="02020603050405020304" charset="0"/>
              <a:cs typeface="Times New Roman" panose="02020603050405020304" charset="0"/>
            </a:endParaRPr>
          </a:p>
        </p:txBody>
      </p:sp>
      <p:sp>
        <p:nvSpPr>
          <p:cNvPr id="32" name="对角圆角矩形 31"/>
          <p:cNvSpPr/>
          <p:nvPr>
            <p:custDataLst>
              <p:tags r:id="rId4"/>
            </p:custDataLst>
          </p:nvPr>
        </p:nvSpPr>
        <p:spPr>
          <a:xfrm>
            <a:off x="8461899" y="3864028"/>
            <a:ext cx="3265595" cy="661477"/>
          </a:xfrm>
          <a:prstGeom prst="round2DiagRect">
            <a:avLst/>
          </a:prstGeom>
          <a:solidFill>
            <a:srgbClr val="0F6FC6">
              <a:lumMod val="60000"/>
              <a:lumOff val="40000"/>
            </a:srgbClr>
          </a:solidFill>
          <a:ln w="12700" cap="flat" cmpd="sng" algn="ctr">
            <a:noFill/>
            <a:prstDash val="solid"/>
            <a:miter lim="800000"/>
          </a:ln>
          <a:effectLst/>
        </p:spPr>
        <p:txBody>
          <a:bodyPr rtlCol="0" anchor="ctr" anchorCtr="0">
            <a:normAutofit/>
          </a:bodyPr>
          <a:lstStyle/>
          <a:p>
            <a:pPr algn="l"/>
            <a:r>
              <a:rPr lang="en-US" altLang="zh-CN">
                <a:solidFill>
                  <a:sysClr val="window" lastClr="FFFFFF"/>
                </a:solidFill>
                <a:latin typeface="Times New Roman" panose="02020603050405020304" charset="0"/>
                <a:ea typeface="Times New Roman" panose="02020603050405020304" charset="0"/>
                <a:cs typeface="Times New Roman" panose="02020603050405020304" charset="0"/>
              </a:rPr>
              <a:t>explain</a:t>
            </a:r>
            <a:r>
              <a:rPr lang="da-DK" altLang="zh-CN">
                <a:solidFill>
                  <a:sysClr val="window" lastClr="FFFFFF"/>
                </a:solidFill>
                <a:latin typeface="Times New Roman" panose="02020603050405020304" charset="0"/>
                <a:ea typeface="Times New Roman" panose="02020603050405020304" charset="0"/>
                <a:cs typeface="Times New Roman" panose="02020603050405020304" charset="0"/>
              </a:rPr>
              <a:t> </a:t>
            </a:r>
            <a:r>
              <a:rPr lang="en-US" altLang="zh-CN">
                <a:solidFill>
                  <a:sysClr val="window" lastClr="FFFFFF"/>
                </a:solidFill>
                <a:latin typeface="Times New Roman" panose="02020603050405020304" charset="0"/>
                <a:ea typeface="Times New Roman" panose="02020603050405020304" charset="0"/>
                <a:cs typeface="Times New Roman" panose="02020603050405020304" charset="0"/>
              </a:rPr>
              <a:t>the</a:t>
            </a:r>
            <a:r>
              <a:rPr lang="da-DK" altLang="zh-CN">
                <a:solidFill>
                  <a:sysClr val="window" lastClr="FFFFFF"/>
                </a:solidFill>
                <a:latin typeface="Times New Roman" panose="02020603050405020304" charset="0"/>
                <a:ea typeface="Times New Roman" panose="02020603050405020304" charset="0"/>
                <a:cs typeface="Times New Roman" panose="02020603050405020304" charset="0"/>
              </a:rPr>
              <a:t> </a:t>
            </a:r>
            <a:r>
              <a:rPr lang="en-US" altLang="zh-CN">
                <a:solidFill>
                  <a:sysClr val="window" lastClr="FFFFFF"/>
                </a:solidFill>
                <a:latin typeface="Times New Roman" panose="02020603050405020304" charset="0"/>
                <a:ea typeface="Times New Roman" panose="02020603050405020304" charset="0"/>
                <a:cs typeface="Times New Roman" panose="02020603050405020304" charset="0"/>
              </a:rPr>
              <a:t>formal features which could not be adequately represented</a:t>
            </a:r>
            <a:endParaRPr lang="da-DK" altLang="zh-CN">
              <a:solidFill>
                <a:sysClr val="window" lastClr="FFFFFF"/>
              </a:solidFill>
              <a:latin typeface="Times New Roman" panose="02020603050405020304" charset="0"/>
              <a:ea typeface="Times New Roman" panose="02020603050405020304" charset="0"/>
              <a:cs typeface="Times New Roman" panose="02020603050405020304" charset="0"/>
            </a:endParaRPr>
          </a:p>
        </p:txBody>
      </p:sp>
      <p:grpSp>
        <p:nvGrpSpPr>
          <p:cNvPr id="33" name="组合 32"/>
          <p:cNvGrpSpPr/>
          <p:nvPr>
            <p:custDataLst>
              <p:tags r:id="rId5"/>
            </p:custDataLst>
          </p:nvPr>
        </p:nvGrpSpPr>
        <p:grpSpPr>
          <a:xfrm rot="16200000">
            <a:off x="7458050" y="4721752"/>
            <a:ext cx="1570242" cy="481820"/>
            <a:chOff x="5028186" y="3262886"/>
            <a:chExt cx="2109213" cy="1067814"/>
          </a:xfrm>
        </p:grpSpPr>
        <p:cxnSp>
          <p:nvCxnSpPr>
            <p:cNvPr id="34" name="肘形连接符 33"/>
            <p:cNvCxnSpPr/>
            <p:nvPr>
              <p:custDataLst>
                <p:tags r:id="rId6"/>
              </p:custDataLst>
            </p:nvPr>
          </p:nvCxnSpPr>
          <p:spPr>
            <a:xfrm rot="5400000">
              <a:off x="5028186" y="3262886"/>
              <a:ext cx="1067814" cy="1067814"/>
            </a:xfrm>
            <a:prstGeom prst="bentConnector3">
              <a:avLst>
                <a:gd name="adj1" fmla="val 50000"/>
              </a:avLst>
            </a:prstGeom>
            <a:noFill/>
            <a:ln w="31750" cap="flat" cmpd="sng" algn="ctr">
              <a:solidFill>
                <a:srgbClr val="0F6FC6"/>
              </a:solidFill>
              <a:prstDash val="solid"/>
              <a:miter lim="800000"/>
            </a:ln>
            <a:effectLst/>
          </p:spPr>
        </p:cxnSp>
        <p:cxnSp>
          <p:nvCxnSpPr>
            <p:cNvPr id="35" name="肘形连接符 34"/>
            <p:cNvCxnSpPr/>
            <p:nvPr>
              <p:custDataLst>
                <p:tags r:id="rId7"/>
              </p:custDataLst>
            </p:nvPr>
          </p:nvCxnSpPr>
          <p:spPr>
            <a:xfrm rot="16200000" flipH="1">
              <a:off x="6095999" y="3276094"/>
              <a:ext cx="1041400" cy="1041400"/>
            </a:xfrm>
            <a:prstGeom prst="bentConnector3">
              <a:avLst>
                <a:gd name="adj1" fmla="val 50000"/>
              </a:avLst>
            </a:prstGeom>
            <a:noFill/>
            <a:ln w="31750" cap="flat" cmpd="sng" algn="ctr">
              <a:solidFill>
                <a:srgbClr val="0F6FC6"/>
              </a:solidFill>
              <a:prstDash val="solid"/>
              <a:miter lim="800000"/>
            </a:ln>
            <a:effectLst/>
          </p:spPr>
        </p:cxnSp>
      </p:grpSp>
      <p:cxnSp>
        <p:nvCxnSpPr>
          <p:cNvPr id="37" name="曲线连接符 36"/>
          <p:cNvCxnSpPr>
            <a:stCxn id="25" idx="3"/>
          </p:cNvCxnSpPr>
          <p:nvPr userDrawn="1"/>
        </p:nvCxnSpPr>
        <p:spPr>
          <a:xfrm>
            <a:off x="5396230" y="4382770"/>
            <a:ext cx="1352550" cy="568960"/>
          </a:xfrm>
          <a:prstGeom prst="curvedConnector3">
            <a:avLst>
              <a:gd name="adj1" fmla="val 50023"/>
            </a:avLst>
          </a:prstGeom>
          <a:ln w="19050">
            <a:solidFill>
              <a:schemeClr val="tx1">
                <a:alpha val="100000"/>
              </a:schemeClr>
            </a:solidFill>
            <a:tailEnd type="triangle"/>
          </a:ln>
        </p:spPr>
        <p:style>
          <a:lnRef idx="2">
            <a:schemeClr val="accent1"/>
          </a:lnRef>
          <a:fillRef idx="0">
            <a:srgbClr val="FFFFFF"/>
          </a:fillRef>
          <a:effectRef idx="0">
            <a:srgbClr val="FFFFFF"/>
          </a:effectRef>
          <a:fontRef idx="minor">
            <a:schemeClr val="tx1"/>
          </a:fontRef>
        </p:style>
      </p:cxnSp>
      <p:sp>
        <p:nvSpPr>
          <p:cNvPr id="6" name="AutoShape 4"/>
          <p:cNvSpPr/>
          <p:nvPr/>
        </p:nvSpPr>
        <p:spPr>
          <a:xfrm>
            <a:off x="1163320" y="1200150"/>
            <a:ext cx="3445510" cy="506730"/>
          </a:xfrm>
          <a:prstGeom prst="rect">
            <a:avLst/>
          </a:prstGeom>
          <a:solidFill>
            <a:srgbClr val="404040">
              <a:alpha val="100000"/>
            </a:srgbClr>
          </a:solidFill>
          <a:ln w="12700" cap="flat" cmpd="sng">
            <a:noFill/>
            <a:prstDash val="solid"/>
            <a:round/>
          </a:ln>
        </p:spPr>
        <p:txBody>
          <a:bodyPr vert="horz" wrap="square" lIns="91440" tIns="45720" rIns="91440" bIns="45720" rtlCol="0" anchor="t" anchorCtr="0"/>
          <a:lstStyle/>
          <a:p>
            <a:pPr marL="0" indent="0" algn="l">
              <a:lnSpc>
                <a:spcPct val="100000"/>
              </a:lnSpc>
              <a:defRPr/>
            </a:pPr>
            <a:r>
              <a:rPr lang="en-US" altLang="zh-CN" sz="2400" b="1">
                <a:solidFill>
                  <a:schemeClr val="bg1"/>
                </a:solidFill>
                <a:latin typeface="Noto Sans SC" panose="020B0500000000000000" charset="-122"/>
                <a:ea typeface="Noto Sans SC" panose="020B0500000000000000" charset="-122"/>
                <a:cs typeface="Noto Sans SC" panose="020B0500000000000000" charset="-122"/>
                <a:sym typeface="Noto Sans SC" panose="020B0500000000000000" charset="-122"/>
              </a:rPr>
              <a:t>Formal Equivalence</a:t>
            </a:r>
            <a:endParaRPr lang="en-US" altLang="zh-CN" sz="2400" b="1">
              <a:solidFill>
                <a:schemeClr val="bg1"/>
              </a:solidFill>
              <a:latin typeface="Noto Sans SC" panose="020B0500000000000000" charset="-122"/>
              <a:ea typeface="Noto Sans SC" panose="020B0500000000000000" charset="-122"/>
              <a:cs typeface="Noto Sans SC" panose="020B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10" name="AutoShape 10"/>
          <p:cNvSpPr/>
          <p:nvPr/>
        </p:nvSpPr>
        <p:spPr>
          <a:xfrm>
            <a:off x="1069506" y="1091783"/>
            <a:ext cx="8642299" cy="369332"/>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altLang="zh-CN" sz="2000" b="1" i="0" u="none" strike="noStrike">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F</a:t>
            </a:r>
            <a:r>
              <a:rPr lang="zh-CN" altLang="en-US" sz="2000" b="1" i="0" u="none" strike="noStrike">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a:t>
            </a:r>
            <a:r>
              <a:rPr lang="en-US" sz="2000" b="1" i="0" u="none" strike="noStrike">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E </a:t>
            </a:r>
            <a:r>
              <a:rPr lang="en-US" altLang="zh-CN" sz="2000" b="1" i="0" u="none" strike="noStrike">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translation attempts to reproduce</a:t>
            </a:r>
            <a:r>
              <a:rPr lang="zh-CN" altLang="en-US" sz="2000" b="1" i="0" u="none" strike="noStrike">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a:t>
            </a:r>
            <a:endParaRPr lang="en-US" sz="2000" b="1">
              <a:latin typeface="Times New Roman" panose="02020603050405020304" charset="0"/>
              <a:ea typeface="Times New Roman" panose="02020603050405020304" charset="0"/>
              <a:cs typeface="Times New Roman" panose="02020603050405020304" charset="0"/>
            </a:endParaRPr>
          </a:p>
        </p:txBody>
      </p:sp>
      <p:pic>
        <p:nvPicPr>
          <p:cNvPr id="4" name="E657119C-6982-421D-8BA7-E74DEB70A7D9-1"/>
          <p:cNvPicPr>
            <a:picLocks noChangeAspect="1"/>
          </p:cNvPicPr>
          <p:nvPr/>
        </p:nvPicPr>
        <p:blipFill>
          <a:blip r:embed="rId2"/>
          <a:stretch>
            <a:fillRect/>
          </a:stretch>
        </p:blipFill>
        <p:spPr>
          <a:xfrm>
            <a:off x="1069506" y="1972205"/>
            <a:ext cx="9360730" cy="35252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10" name="AutoShape 10"/>
          <p:cNvSpPr/>
          <p:nvPr/>
        </p:nvSpPr>
        <p:spPr>
          <a:xfrm>
            <a:off x="1069506" y="1214014"/>
            <a:ext cx="3445447" cy="369332"/>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endParaRPr lang="en-US" sz="2000" b="1">
              <a:latin typeface="Times New Roman" panose="02020603050405020304" charset="0"/>
              <a:ea typeface="Times New Roman" panose="02020603050405020304" charset="0"/>
              <a:cs typeface="Times New Roman" panose="02020603050405020304" charset="0"/>
            </a:endParaRPr>
          </a:p>
        </p:txBody>
      </p:sp>
      <p:sp>
        <p:nvSpPr>
          <p:cNvPr id="11" name="AutoShape 11"/>
          <p:cNvSpPr/>
          <p:nvPr/>
        </p:nvSpPr>
        <p:spPr>
          <a:xfrm>
            <a:off x="1069506" y="1829351"/>
            <a:ext cx="9272691" cy="701731"/>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17000"/>
              </a:lnSpc>
              <a:defRPr/>
            </a:pPr>
            <a:r>
              <a:rPr lang="en-US" altLang="zh-CN" sz="1600" b="0" i="0" u="none" strike="noStrike">
                <a:solidFill>
                  <a:srgbClr val="595959"/>
                </a:solidFill>
                <a:latin typeface="Times New Roman" panose="02020603050405020304" charset="0"/>
                <a:ea typeface="Times New Roman" panose="02020603050405020304" charset="0"/>
                <a:cs typeface="Times New Roman" panose="02020603050405020304" charset="0"/>
                <a:sym typeface="Noto Sans SC" panose="020B0500000000000000" charset="-122"/>
              </a:rPr>
              <a:t>Based on "the principle of equivalent effect"(Rieu and Phillips,1954), where the relationship between receptor and message should be substantially the same as that which existed between the original receptors and the message. </a:t>
            </a:r>
            <a:endParaRPr lang="en-US" sz="1600">
              <a:latin typeface="Times New Roman" panose="02020603050405020304" charset="0"/>
              <a:ea typeface="Times New Roman" panose="02020603050405020304" charset="0"/>
              <a:cs typeface="Times New Roman" panose="02020603050405020304" charset="0"/>
            </a:endParaRPr>
          </a:p>
        </p:txBody>
      </p:sp>
      <p:sp>
        <p:nvSpPr>
          <p:cNvPr id="4" name="AutoShape 11"/>
          <p:cNvSpPr/>
          <p:nvPr/>
        </p:nvSpPr>
        <p:spPr>
          <a:xfrm>
            <a:off x="1069506" y="2985882"/>
            <a:ext cx="9272691" cy="701731"/>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17000"/>
              </a:lnSpc>
              <a:defRPr/>
            </a:pPr>
            <a:r>
              <a:rPr lang="en-US" altLang="zh-CN" sz="1600">
                <a:solidFill>
                  <a:srgbClr val="595959"/>
                </a:solidFill>
                <a:latin typeface="Times New Roman" panose="02020603050405020304" charset="0"/>
                <a:ea typeface="Times New Roman" panose="02020603050405020304" charset="0"/>
                <a:cs typeface="Times New Roman" panose="02020603050405020304" charset="0"/>
                <a:sym typeface="Noto Sans SC" panose="020B0500000000000000" charset="-122"/>
              </a:rPr>
              <a:t>It a</a:t>
            </a:r>
            <a:r>
              <a:rPr lang="en-US" altLang="zh-CN" sz="1600" b="0" i="0" u="none" strike="noStrike">
                <a:solidFill>
                  <a:srgbClr val="595959"/>
                </a:solidFill>
                <a:latin typeface="Times New Roman" panose="02020603050405020304" charset="0"/>
                <a:ea typeface="Times New Roman" panose="02020603050405020304" charset="0"/>
                <a:cs typeface="Times New Roman" panose="02020603050405020304" charset="0"/>
                <a:sym typeface="Noto Sans SC" panose="020B0500000000000000" charset="-122"/>
              </a:rPr>
              <a:t>ims at complete naturalness of expression, and tries to relate the receptor to modes of behavior relevant within the context of his own culture </a:t>
            </a:r>
            <a:endParaRPr lang="en-US" sz="1600">
              <a:latin typeface="Times New Roman" panose="02020603050405020304" charset="0"/>
              <a:ea typeface="Times New Roman" panose="02020603050405020304" charset="0"/>
              <a:cs typeface="Times New Roman" panose="02020603050405020304" charset="0"/>
            </a:endParaRPr>
          </a:p>
        </p:txBody>
      </p:sp>
      <p:pic>
        <p:nvPicPr>
          <p:cNvPr id="9" name="E657119C-6982-421D-8BA7-E74DEB70A7D9-2"/>
          <p:cNvPicPr>
            <a:picLocks noChangeAspect="1"/>
          </p:cNvPicPr>
          <p:nvPr/>
        </p:nvPicPr>
        <p:blipFill>
          <a:blip r:embed="rId2"/>
          <a:stretch>
            <a:fillRect/>
          </a:stretch>
        </p:blipFill>
        <p:spPr>
          <a:xfrm>
            <a:off x="1238028" y="3840936"/>
            <a:ext cx="8565121" cy="2008340"/>
          </a:xfrm>
          <a:prstGeom prst="rect">
            <a:avLst/>
          </a:prstGeom>
        </p:spPr>
      </p:pic>
      <p:sp>
        <p:nvSpPr>
          <p:cNvPr id="6" name="AutoShape 4"/>
          <p:cNvSpPr/>
          <p:nvPr/>
        </p:nvSpPr>
        <p:spPr>
          <a:xfrm>
            <a:off x="1179195" y="1136650"/>
            <a:ext cx="3576320" cy="516890"/>
          </a:xfrm>
          <a:prstGeom prst="rect">
            <a:avLst/>
          </a:prstGeom>
          <a:solidFill>
            <a:srgbClr val="404040">
              <a:alpha val="100000"/>
            </a:srgbClr>
          </a:solidFill>
          <a:ln w="12700" cap="flat" cmpd="sng">
            <a:noFill/>
            <a:prstDash val="solid"/>
            <a:round/>
          </a:ln>
        </p:spPr>
        <p:txBody>
          <a:bodyPr vert="horz" wrap="square" lIns="91440" tIns="45720" rIns="91440" bIns="45720" rtlCol="0" anchor="t" anchorCtr="0"/>
          <a:lstStyle/>
          <a:p>
            <a:pPr marL="0" indent="0" algn="l">
              <a:lnSpc>
                <a:spcPct val="100000"/>
              </a:lnSpc>
              <a:defRPr/>
            </a:pPr>
            <a:r>
              <a:rPr lang="en-US" altLang="zh-CN" sz="2400" b="1">
                <a:solidFill>
                  <a:schemeClr val="bg1"/>
                </a:solidFill>
                <a:latin typeface="Noto Sans SC" panose="020B0500000000000000" charset="-122"/>
                <a:ea typeface="Noto Sans SC" panose="020B0500000000000000" charset="-122"/>
                <a:cs typeface="Noto Sans SC" panose="020B0500000000000000" charset="-122"/>
                <a:sym typeface="Noto Sans SC" panose="020B0500000000000000" charset="-122"/>
              </a:rPr>
              <a:t>Dynamic Equivalence</a:t>
            </a:r>
            <a:endParaRPr lang="en-US" altLang="zh-CN" sz="2400" b="1">
              <a:solidFill>
                <a:schemeClr val="bg1"/>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a:p>
            <a:pPr marL="0" indent="0" algn="l">
              <a:lnSpc>
                <a:spcPct val="100000"/>
              </a:lnSpc>
              <a:defRPr/>
            </a:pPr>
            <a:endParaRPr lang="zh-CN" altLang="en-US" sz="2400" b="1">
              <a:solidFill>
                <a:schemeClr val="bg1"/>
              </a:solidFill>
              <a:latin typeface="Noto Sans SC" panose="020B0500000000000000" charset="-122"/>
              <a:ea typeface="Noto Sans SC" panose="020B0500000000000000" charset="-122"/>
              <a:cs typeface="Noto Sans SC" panose="020B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10" name="AutoShape 10"/>
          <p:cNvSpPr/>
          <p:nvPr/>
        </p:nvSpPr>
        <p:spPr>
          <a:xfrm>
            <a:off x="1192508" y="1275515"/>
            <a:ext cx="6066677" cy="369332"/>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altLang="zh-CN" sz="2000" b="1" i="0" u="none" strike="noStrike">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H</a:t>
            </a:r>
            <a:r>
              <a:rPr lang="en-US" altLang="zh-CN" sz="2000" b="1" i="0" u="none" strike="noStrike">
                <a:solidFill>
                  <a:srgbClr val="404040"/>
                </a:solidFill>
                <a:latin typeface="Times New Roman" panose="02020603050405020304" charset="0"/>
                <a:ea typeface="Times New Roman" panose="02020603050405020304" charset="0"/>
                <a:sym typeface="Noto Sans SC" panose="020B0500000000000000" charset="-122"/>
              </a:rPr>
              <a:t>ow to achieve d</a:t>
            </a:r>
            <a:r>
              <a:rPr lang="en-US" altLang="zh-CN" sz="2000" b="1" i="0" u="none" strike="noStrike">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ynamic</a:t>
            </a:r>
            <a:r>
              <a:rPr lang="en-US" sz="2000" b="1" i="0" u="none" strike="noStrike">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 </a:t>
            </a:r>
            <a:r>
              <a:rPr lang="en-US" altLang="zh-CN" sz="2000" b="1" i="0" u="none" strike="noStrike">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e</a:t>
            </a:r>
            <a:r>
              <a:rPr lang="en-US" sz="2000" b="1" i="0" u="none" strike="noStrike">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quivalence</a:t>
            </a:r>
            <a:r>
              <a:rPr lang="en-US" altLang="zh-CN" sz="2000" b="1" i="0" u="none" strike="noStrike">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a:t>
            </a:r>
            <a:endParaRPr lang="en-US" sz="2000" b="1">
              <a:latin typeface="Times New Roman" panose="02020603050405020304" charset="0"/>
              <a:ea typeface="Times New Roman" panose="02020603050405020304" charset="0"/>
              <a:cs typeface="Times New Roman" panose="02020603050405020304" charset="0"/>
            </a:endParaRPr>
          </a:p>
        </p:txBody>
      </p:sp>
      <p:cxnSp>
        <p:nvCxnSpPr>
          <p:cNvPr id="5" name="直接箭头连接符 4"/>
          <p:cNvCxnSpPr/>
          <p:nvPr userDrawn="1"/>
        </p:nvCxnSpPr>
        <p:spPr>
          <a:xfrm flipV="1">
            <a:off x="3111654" y="1829351"/>
            <a:ext cx="0" cy="514350"/>
          </a:xfrm>
          <a:prstGeom prst="straightConnector1">
            <a:avLst/>
          </a:prstGeom>
          <a:ln w="19050">
            <a:headEnd type="triangle"/>
            <a:tailEnd type="none"/>
          </a:ln>
        </p:spPr>
        <p:style>
          <a:lnRef idx="2">
            <a:schemeClr val="accent1"/>
          </a:lnRef>
          <a:fillRef idx="0">
            <a:srgbClr val="FFFFFF"/>
          </a:fillRef>
          <a:effectRef idx="0">
            <a:srgbClr val="FFFFFF"/>
          </a:effectRef>
          <a:fontRef idx="minor">
            <a:schemeClr val="tx1"/>
          </a:fontRef>
        </p:style>
      </p:cxnSp>
      <p:sp>
        <p:nvSpPr>
          <p:cNvPr id="6" name="文本框 5"/>
          <p:cNvSpPr txBox="1"/>
          <p:nvPr userDrawn="1"/>
        </p:nvSpPr>
        <p:spPr>
          <a:xfrm>
            <a:off x="1192560" y="2529930"/>
            <a:ext cx="7995348" cy="706755"/>
          </a:xfrm>
          <a:prstGeom prst="rect">
            <a:avLst/>
          </a:prstGeom>
        </p:spPr>
        <p:txBody>
          <a:bodyPr wrap="square" rtlCol="0">
            <a:noAutofit/>
          </a:bodyPr>
          <a:p>
            <a:r>
              <a:rPr lang="en-US" altLang="zh-CN" sz="2000" b="1">
                <a:latin typeface="Times New Roman" panose="02020603050405020304" charset="0"/>
                <a:ea typeface="Times New Roman" panose="02020603050405020304" charset="0"/>
                <a:cs typeface="Times New Roman" panose="02020603050405020304" charset="0"/>
              </a:rPr>
              <a:t>How to achieve equivalent response?</a:t>
            </a:r>
            <a:endParaRPr lang="zh-CN" altLang="en-US" sz="2000" b="1">
              <a:latin typeface="Times New Roman" panose="02020603050405020304" charset="0"/>
              <a:ea typeface="Times New Roman" panose="02020603050405020304" charset="0"/>
              <a:cs typeface="Times New Roman" panose="02020603050405020304" charset="0"/>
            </a:endParaRPr>
          </a:p>
        </p:txBody>
      </p:sp>
      <p:cxnSp>
        <p:nvCxnSpPr>
          <p:cNvPr id="12" name="直接箭头连接符 11"/>
          <p:cNvCxnSpPr/>
          <p:nvPr userDrawn="1"/>
        </p:nvCxnSpPr>
        <p:spPr>
          <a:xfrm flipV="1">
            <a:off x="3111729" y="3072668"/>
            <a:ext cx="0" cy="514350"/>
          </a:xfrm>
          <a:prstGeom prst="straightConnector1">
            <a:avLst/>
          </a:prstGeom>
          <a:ln w="19050">
            <a:headEnd type="triangle"/>
            <a:tailEnd type="none"/>
          </a:ln>
        </p:spPr>
        <p:style>
          <a:lnRef idx="2">
            <a:schemeClr val="accent1"/>
          </a:lnRef>
          <a:fillRef idx="0">
            <a:srgbClr val="FFFFFF"/>
          </a:fillRef>
          <a:effectRef idx="0">
            <a:srgbClr val="FFFFFF"/>
          </a:effectRef>
          <a:fontRef idx="minor">
            <a:schemeClr val="tx1"/>
          </a:fontRef>
        </p:style>
      </p:cxnSp>
      <p:sp>
        <p:nvSpPr>
          <p:cNvPr id="13" name="文本框 12"/>
          <p:cNvSpPr txBox="1"/>
          <p:nvPr userDrawn="1"/>
        </p:nvSpPr>
        <p:spPr>
          <a:xfrm>
            <a:off x="997743" y="3901559"/>
            <a:ext cx="5618338" cy="706755"/>
          </a:xfrm>
          <a:prstGeom prst="rect">
            <a:avLst/>
          </a:prstGeom>
        </p:spPr>
        <p:txBody>
          <a:bodyPr wrap="square" rtlCol="0">
            <a:noAutofit/>
          </a:bodyPr>
          <a:p>
            <a:r>
              <a:rPr lang="en-US" altLang="zh-CN" sz="2000" b="1">
                <a:latin typeface="Times New Roman" panose="02020603050405020304" charset="0"/>
                <a:ea typeface="Times New Roman" panose="02020603050405020304" charset="0"/>
                <a:cs typeface="Times New Roman" panose="02020603050405020304" charset="0"/>
              </a:rPr>
              <a:t>four basic requirements of a translation</a:t>
            </a:r>
            <a:endParaRPr lang="zh-CN" altLang="en-US" sz="2000" b="1">
              <a:latin typeface="Times New Roman" panose="02020603050405020304" charset="0"/>
              <a:ea typeface="Times New Roman" panose="02020603050405020304" charset="0"/>
              <a:cs typeface="Times New Roman" panose="02020603050405020304" charset="0"/>
            </a:endParaRPr>
          </a:p>
        </p:txBody>
      </p:sp>
      <p:sp>
        <p:nvSpPr>
          <p:cNvPr id="14" name="圆角矩形 13"/>
          <p:cNvSpPr/>
          <p:nvPr userDrawn="1"/>
        </p:nvSpPr>
        <p:spPr>
          <a:xfrm>
            <a:off x="1069506" y="3901483"/>
            <a:ext cx="4500268" cy="407035"/>
          </a:xfrm>
          <a:prstGeom prst="roundRect">
            <a:avLst/>
          </a:prstGeom>
          <a:noFill/>
          <a:ln>
            <a:solidFill>
              <a:schemeClr val="tx1">
                <a:alpha val="10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
        <p:nvSpPr>
          <p:cNvPr id="15" name="左大括号 14"/>
          <p:cNvSpPr/>
          <p:nvPr userDrawn="1"/>
        </p:nvSpPr>
        <p:spPr>
          <a:xfrm>
            <a:off x="5757391" y="2704560"/>
            <a:ext cx="431165" cy="2800985"/>
          </a:xfrm>
          <a:prstGeom prst="leftBrace">
            <a:avLst/>
          </a:prstGeom>
        </p:spPr>
        <p:style>
          <a:lnRef idx="2">
            <a:schemeClr val="accent1"/>
          </a:lnRef>
          <a:fillRef idx="0">
            <a:srgbClr val="FFFFFF"/>
          </a:fillRef>
          <a:effectRef idx="0">
            <a:srgbClr val="FFFFFF"/>
          </a:effectRef>
          <a:fontRef idx="minor">
            <a:schemeClr val="tx1"/>
          </a:fontRef>
        </p:style>
        <p:txBody>
          <a:bodyPr rtlCol="0" anchor="ctr">
            <a:noAutofit/>
          </a:bodyPr>
          <a:p>
            <a:pPr algn="ctr"/>
            <a:endParaRPr lang="zh-CN" altLang="en-US"/>
          </a:p>
        </p:txBody>
      </p:sp>
      <p:sp>
        <p:nvSpPr>
          <p:cNvPr id="16" name="文本框 15"/>
          <p:cNvSpPr txBox="1"/>
          <p:nvPr userDrawn="1"/>
        </p:nvSpPr>
        <p:spPr>
          <a:xfrm>
            <a:off x="6188559" y="2982372"/>
            <a:ext cx="5381625" cy="2245360"/>
          </a:xfrm>
          <a:prstGeom prst="rect">
            <a:avLst/>
          </a:prstGeom>
        </p:spPr>
        <p:txBody>
          <a:bodyPr wrap="square" rtlCol="0">
            <a:spAutoFit/>
          </a:bodyPr>
          <a:p>
            <a:r>
              <a:rPr lang="en-US" altLang="zh-CN" sz="2000">
                <a:latin typeface="Times New Roman" panose="02020603050405020304" charset="0"/>
                <a:ea typeface="Times New Roman" panose="02020603050405020304" charset="0"/>
                <a:cs typeface="Times New Roman" panose="02020603050405020304" charset="0"/>
              </a:rPr>
              <a:t>1. making sense;</a:t>
            </a:r>
            <a:br>
              <a:rPr lang="en-US" altLang="zh-CN" sz="2000">
                <a:latin typeface="Times New Roman" panose="02020603050405020304" charset="0"/>
                <a:ea typeface="Times New Roman" panose="02020603050405020304" charset="0"/>
                <a:cs typeface="Times New Roman" panose="02020603050405020304" charset="0"/>
              </a:rPr>
            </a:br>
            <a:br>
              <a:rPr lang="en-US" altLang="zh-CN" sz="2000">
                <a:latin typeface="Times New Roman" panose="02020603050405020304" charset="0"/>
                <a:ea typeface="Times New Roman" panose="02020603050405020304" charset="0"/>
                <a:cs typeface="Times New Roman" panose="02020603050405020304" charset="0"/>
              </a:rPr>
            </a:br>
            <a:r>
              <a:rPr lang="en-US" altLang="zh-CN" sz="2000">
                <a:latin typeface="Times New Roman" panose="02020603050405020304" charset="0"/>
                <a:ea typeface="Times New Roman" panose="02020603050405020304" charset="0"/>
                <a:cs typeface="Times New Roman" panose="02020603050405020304" charset="0"/>
              </a:rPr>
              <a:t>2. conveying the spirit and manner of the original;</a:t>
            </a:r>
            <a:br>
              <a:rPr lang="en-US" altLang="zh-CN" sz="2000">
                <a:latin typeface="Times New Roman" panose="02020603050405020304" charset="0"/>
                <a:ea typeface="Times New Roman" panose="02020603050405020304" charset="0"/>
                <a:cs typeface="Times New Roman" panose="02020603050405020304" charset="0"/>
              </a:rPr>
            </a:br>
            <a:br>
              <a:rPr lang="en-US" altLang="zh-CN" sz="2000">
                <a:latin typeface="Times New Roman" panose="02020603050405020304" charset="0"/>
                <a:ea typeface="Times New Roman" panose="02020603050405020304" charset="0"/>
                <a:cs typeface="Times New Roman" panose="02020603050405020304" charset="0"/>
              </a:rPr>
            </a:br>
            <a:r>
              <a:rPr lang="en-US" altLang="zh-CN" sz="2000">
                <a:latin typeface="Times New Roman" panose="02020603050405020304" charset="0"/>
                <a:ea typeface="Times New Roman" panose="02020603050405020304" charset="0"/>
                <a:cs typeface="Times New Roman" panose="02020603050405020304" charset="0"/>
              </a:rPr>
              <a:t>3. having a natural and easy form of expression;</a:t>
            </a:r>
            <a:br>
              <a:rPr lang="en-US" altLang="zh-CN" sz="2000">
                <a:latin typeface="Times New Roman" panose="02020603050405020304" charset="0"/>
                <a:ea typeface="Times New Roman" panose="02020603050405020304" charset="0"/>
                <a:cs typeface="Times New Roman" panose="02020603050405020304" charset="0"/>
              </a:rPr>
            </a:br>
            <a:br>
              <a:rPr lang="en-US" altLang="zh-CN" sz="2000">
                <a:latin typeface="Times New Roman" panose="02020603050405020304" charset="0"/>
                <a:ea typeface="Times New Roman" panose="02020603050405020304" charset="0"/>
                <a:cs typeface="Times New Roman" panose="02020603050405020304" charset="0"/>
              </a:rPr>
            </a:br>
            <a:r>
              <a:rPr lang="en-US" altLang="zh-CN" sz="2000">
                <a:latin typeface="Times New Roman" panose="02020603050405020304" charset="0"/>
                <a:ea typeface="Times New Roman" panose="02020603050405020304" charset="0"/>
                <a:cs typeface="Times New Roman" panose="02020603050405020304" charset="0"/>
              </a:rPr>
              <a:t>4. producing a similar response.</a:t>
            </a:r>
            <a:endParaRPr lang="zh-CN" altLang="en-US" sz="2000">
              <a:latin typeface="Times New Roman" panose="02020603050405020304" charset="0"/>
              <a:ea typeface="Times New Roman" panose="02020603050405020304" charset="0"/>
              <a:cs typeface="Times New Roman" panose="02020603050405020304" charset="0"/>
            </a:endParaRPr>
          </a:p>
        </p:txBody>
      </p:sp>
      <p:cxnSp>
        <p:nvCxnSpPr>
          <p:cNvPr id="4" name="曲线连接符 3"/>
          <p:cNvCxnSpPr/>
          <p:nvPr userDrawn="1"/>
        </p:nvCxnSpPr>
        <p:spPr>
          <a:xfrm flipV="1">
            <a:off x="8009890" y="1638300"/>
            <a:ext cx="1199515" cy="1121410"/>
          </a:xfrm>
          <a:prstGeom prst="curvedConnector3">
            <a:avLst/>
          </a:prstGeom>
          <a:ln w="19050">
            <a:tailEnd type="arrow"/>
          </a:ln>
        </p:spPr>
        <p:style>
          <a:lnRef idx="2">
            <a:schemeClr val="accent1"/>
          </a:lnRef>
          <a:fillRef idx="0">
            <a:srgbClr val="FFFFFF"/>
          </a:fillRef>
          <a:effectRef idx="0">
            <a:srgbClr val="FFFFFF"/>
          </a:effectRef>
          <a:fontRef idx="minor">
            <a:schemeClr val="tx1"/>
          </a:fontRef>
        </p:style>
      </p:cxnSp>
      <p:sp>
        <p:nvSpPr>
          <p:cNvPr id="7" name="圆角矩形 6"/>
          <p:cNvSpPr/>
          <p:nvPr userDrawn="1"/>
        </p:nvSpPr>
        <p:spPr>
          <a:xfrm>
            <a:off x="8409305" y="945515"/>
            <a:ext cx="1814830" cy="58483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r>
              <a:rPr lang="en-US" altLang="zh-CN" sz="1800" b="1">
                <a:latin typeface="Times New Roman" panose="02020603050405020304" charset="0"/>
                <a:ea typeface="Times New Roman" panose="02020603050405020304" charset="0"/>
                <a:cs typeface="Times New Roman" panose="02020603050405020304" charset="0"/>
              </a:rPr>
              <a:t>Tytler</a:t>
            </a:r>
            <a:r>
              <a:rPr lang="zh-CN" altLang="en-US" sz="1800" b="1">
                <a:latin typeface="Times New Roman" panose="02020603050405020304" charset="0"/>
                <a:ea typeface="Times New Roman" panose="02020603050405020304" charset="0"/>
                <a:cs typeface="Times New Roman" panose="02020603050405020304" charset="0"/>
              </a:rPr>
              <a:t>？</a:t>
            </a:r>
            <a:endParaRPr lang="zh-CN" altLang="en-US" sz="1800" b="1">
              <a:latin typeface="Times New Roman" panose="02020603050405020304" charset="0"/>
              <a:ea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19" name="圆角矩形 18"/>
          <p:cNvSpPr/>
          <p:nvPr userDrawn="1"/>
        </p:nvSpPr>
        <p:spPr>
          <a:xfrm>
            <a:off x="568336" y="3013979"/>
            <a:ext cx="4842996" cy="830042"/>
          </a:xfrm>
          <a:prstGeom prst="roundRect">
            <a:avLst/>
          </a:prstGeom>
          <a:solidFill>
            <a:schemeClr val="tx2">
              <a:alpha val="10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r>
              <a:rPr lang="en-US" altLang="zh-CN" sz="2400">
                <a:solidFill>
                  <a:srgbClr val="000000"/>
                </a:solidFill>
                <a:latin typeface="Times New Roman" panose="02020603050405020304" charset="0"/>
                <a:ea typeface="Times New Roman" panose="02020603050405020304" charset="0"/>
                <a:cs typeface="Times New Roman" panose="02020603050405020304" charset="0"/>
              </a:rPr>
              <a:t>Tytler's three general rules</a:t>
            </a:r>
            <a:endParaRPr lang="zh-CN" altLang="en-US" sz="2400">
              <a:solidFill>
                <a:srgbClr val="000000"/>
              </a:solidFill>
              <a:latin typeface="Times New Roman" panose="02020603050405020304" charset="0"/>
              <a:ea typeface="Times New Roman" panose="02020603050405020304" charset="0"/>
              <a:cs typeface="Times New Roman" panose="02020603050405020304" charset="0"/>
            </a:endParaRPr>
          </a:p>
        </p:txBody>
      </p:sp>
      <p:sp>
        <p:nvSpPr>
          <p:cNvPr id="20" name="左中括号 19"/>
          <p:cNvSpPr/>
          <p:nvPr userDrawn="1"/>
        </p:nvSpPr>
        <p:spPr>
          <a:xfrm>
            <a:off x="5518785" y="1068705"/>
            <a:ext cx="184785" cy="4751070"/>
          </a:xfrm>
          <a:prstGeom prst="leftBracket">
            <a:avLst/>
          </a:prstGeom>
        </p:spPr>
        <p:style>
          <a:lnRef idx="2">
            <a:schemeClr val="accent1"/>
          </a:lnRef>
          <a:fillRef idx="0">
            <a:srgbClr val="FFFFFF"/>
          </a:fillRef>
          <a:effectRef idx="0">
            <a:srgbClr val="FFFFFF"/>
          </a:effectRef>
          <a:fontRef idx="minor">
            <a:schemeClr val="tx1"/>
          </a:fontRef>
        </p:style>
        <p:txBody>
          <a:bodyPr rtlCol="0" anchor="ctr">
            <a:noAutofit/>
          </a:bodyPr>
          <a:p>
            <a:pPr algn="ctr"/>
            <a:endParaRPr lang="zh-CN" altLang="en-US"/>
          </a:p>
        </p:txBody>
      </p:sp>
      <p:sp>
        <p:nvSpPr>
          <p:cNvPr id="21" name="文本框 20"/>
          <p:cNvSpPr txBox="1"/>
          <p:nvPr userDrawn="1"/>
        </p:nvSpPr>
        <p:spPr>
          <a:xfrm>
            <a:off x="5861527" y="1437452"/>
            <a:ext cx="5380990" cy="706755"/>
          </a:xfrm>
          <a:prstGeom prst="rect">
            <a:avLst/>
          </a:prstGeom>
        </p:spPr>
        <p:txBody>
          <a:bodyPr wrap="square" rtlCol="0">
            <a:spAutoFit/>
          </a:bodyPr>
          <a:p>
            <a:r>
              <a:rPr lang="en-US" altLang="zh-CN" sz="2000">
                <a:latin typeface="Times New Roman" panose="02020603050405020304" charset="0"/>
                <a:ea typeface="Times New Roman" panose="02020603050405020304" charset="0"/>
                <a:cs typeface="Times New Roman" panose="02020603050405020304" charset="0"/>
              </a:rPr>
              <a:t>The translation should give a </a:t>
            </a:r>
            <a:r>
              <a:rPr lang="en-US" altLang="zh-CN" sz="2000" b="1">
                <a:latin typeface="Times New Roman" panose="02020603050405020304" charset="0"/>
                <a:ea typeface="Times New Roman" panose="02020603050405020304" charset="0"/>
                <a:cs typeface="Times New Roman" panose="02020603050405020304" charset="0"/>
              </a:rPr>
              <a:t>complete</a:t>
            </a:r>
            <a:r>
              <a:rPr lang="en-US" altLang="zh-CN" sz="2000">
                <a:latin typeface="Times New Roman" panose="02020603050405020304" charset="0"/>
                <a:ea typeface="Times New Roman" panose="02020603050405020304" charset="0"/>
                <a:cs typeface="Times New Roman" panose="02020603050405020304" charset="0"/>
              </a:rPr>
              <a:t> transcript of the </a:t>
            </a:r>
            <a:r>
              <a:rPr lang="en-US" altLang="zh-CN" sz="2000" b="1">
                <a:latin typeface="Times New Roman" panose="02020603050405020304" charset="0"/>
                <a:ea typeface="Times New Roman" panose="02020603050405020304" charset="0"/>
                <a:cs typeface="Times New Roman" panose="02020603050405020304" charset="0"/>
              </a:rPr>
              <a:t>ideas</a:t>
            </a:r>
            <a:r>
              <a:rPr lang="en-US" altLang="zh-CN" sz="2000">
                <a:latin typeface="Times New Roman" panose="02020603050405020304" charset="0"/>
                <a:ea typeface="Times New Roman" panose="02020603050405020304" charset="0"/>
                <a:cs typeface="Times New Roman" panose="02020603050405020304" charset="0"/>
              </a:rPr>
              <a:t> of the original work</a:t>
            </a:r>
            <a:endParaRPr lang="zh-CN" altLang="en-US" sz="2000">
              <a:latin typeface="Times New Roman" panose="02020603050405020304" charset="0"/>
              <a:ea typeface="Times New Roman" panose="02020603050405020304" charset="0"/>
              <a:cs typeface="Times New Roman" panose="02020603050405020304" charset="0"/>
            </a:endParaRPr>
          </a:p>
        </p:txBody>
      </p:sp>
      <p:sp>
        <p:nvSpPr>
          <p:cNvPr id="22" name="文本框 21"/>
          <p:cNvSpPr txBox="1"/>
          <p:nvPr userDrawn="1"/>
        </p:nvSpPr>
        <p:spPr>
          <a:xfrm>
            <a:off x="5861527" y="3014021"/>
            <a:ext cx="5380990" cy="706755"/>
          </a:xfrm>
          <a:prstGeom prst="rect">
            <a:avLst/>
          </a:prstGeom>
        </p:spPr>
        <p:txBody>
          <a:bodyPr wrap="square" rtlCol="0">
            <a:spAutoFit/>
          </a:bodyPr>
          <a:p>
            <a:r>
              <a:rPr lang="en-US" altLang="zh-CN" sz="2000">
                <a:latin typeface="Times New Roman" panose="02020603050405020304" charset="0"/>
                <a:ea typeface="Times New Roman" panose="02020603050405020304" charset="0"/>
                <a:cs typeface="Times New Roman" panose="02020603050405020304" charset="0"/>
              </a:rPr>
              <a:t>The </a:t>
            </a:r>
            <a:r>
              <a:rPr lang="en-US" altLang="zh-CN" sz="2000" b="1">
                <a:latin typeface="Times New Roman" panose="02020603050405020304" charset="0"/>
                <a:ea typeface="Times New Roman" panose="02020603050405020304" charset="0"/>
                <a:cs typeface="Times New Roman" panose="02020603050405020304" charset="0"/>
              </a:rPr>
              <a:t>style and manner</a:t>
            </a:r>
            <a:r>
              <a:rPr lang="en-US" altLang="zh-CN" sz="2000">
                <a:latin typeface="Times New Roman" panose="02020603050405020304" charset="0"/>
                <a:ea typeface="Times New Roman" panose="02020603050405020304" charset="0"/>
                <a:cs typeface="Times New Roman" panose="02020603050405020304" charset="0"/>
              </a:rPr>
              <a:t> of writing should be of </a:t>
            </a:r>
            <a:r>
              <a:rPr lang="en-US" altLang="zh-CN" sz="2000" b="1">
                <a:latin typeface="Times New Roman" panose="02020603050405020304" charset="0"/>
                <a:ea typeface="Times New Roman" panose="02020603050405020304" charset="0"/>
                <a:cs typeface="Times New Roman" panose="02020603050405020304" charset="0"/>
              </a:rPr>
              <a:t>the same </a:t>
            </a:r>
            <a:r>
              <a:rPr lang="en-US" altLang="zh-CN" sz="2000">
                <a:latin typeface="Times New Roman" panose="02020603050405020304" charset="0"/>
                <a:ea typeface="Times New Roman" panose="02020603050405020304" charset="0"/>
                <a:cs typeface="Times New Roman" panose="02020603050405020304" charset="0"/>
              </a:rPr>
              <a:t>character </a:t>
            </a:r>
            <a:r>
              <a:rPr lang="en-US" altLang="zh-CN" sz="2000" b="1">
                <a:latin typeface="Times New Roman" panose="02020603050405020304" charset="0"/>
                <a:ea typeface="Times New Roman" panose="02020603050405020304" charset="0"/>
                <a:cs typeface="Times New Roman" panose="02020603050405020304" charset="0"/>
              </a:rPr>
              <a:t>with</a:t>
            </a:r>
            <a:r>
              <a:rPr lang="en-US" altLang="zh-CN" sz="2000">
                <a:latin typeface="Times New Roman" panose="02020603050405020304" charset="0"/>
                <a:ea typeface="Times New Roman" panose="02020603050405020304" charset="0"/>
                <a:cs typeface="Times New Roman" panose="02020603050405020304" charset="0"/>
              </a:rPr>
              <a:t> that of </a:t>
            </a:r>
            <a:r>
              <a:rPr lang="en-US" altLang="zh-CN" sz="2000" b="1">
                <a:latin typeface="Times New Roman" panose="02020603050405020304" charset="0"/>
                <a:ea typeface="Times New Roman" panose="02020603050405020304" charset="0"/>
                <a:cs typeface="Times New Roman" panose="02020603050405020304" charset="0"/>
              </a:rPr>
              <a:t>the original </a:t>
            </a:r>
            <a:endParaRPr lang="zh-CN" altLang="en-US" sz="2000" b="1">
              <a:latin typeface="Times New Roman" panose="02020603050405020304" charset="0"/>
              <a:ea typeface="Times New Roman" panose="02020603050405020304" charset="0"/>
              <a:cs typeface="Times New Roman" panose="02020603050405020304" charset="0"/>
            </a:endParaRPr>
          </a:p>
        </p:txBody>
      </p:sp>
      <p:sp>
        <p:nvSpPr>
          <p:cNvPr id="23" name="文本框 22"/>
          <p:cNvSpPr txBox="1"/>
          <p:nvPr userDrawn="1"/>
        </p:nvSpPr>
        <p:spPr>
          <a:xfrm>
            <a:off x="5861527" y="4597168"/>
            <a:ext cx="5380990" cy="706755"/>
          </a:xfrm>
          <a:prstGeom prst="rect">
            <a:avLst/>
          </a:prstGeom>
        </p:spPr>
        <p:txBody>
          <a:bodyPr wrap="square" rtlCol="0">
            <a:spAutoFit/>
          </a:bodyPr>
          <a:p>
            <a:r>
              <a:rPr lang="en-US" altLang="zh-CN" sz="2000">
                <a:latin typeface="Times New Roman" panose="02020603050405020304" charset="0"/>
                <a:ea typeface="Times New Roman" panose="02020603050405020304" charset="0"/>
                <a:cs typeface="Times New Roman" panose="02020603050405020304" charset="0"/>
              </a:rPr>
              <a:t>The translation should </a:t>
            </a:r>
            <a:r>
              <a:rPr lang="en-US" altLang="zh-CN" sz="2000" b="1">
                <a:latin typeface="Times New Roman" panose="02020603050405020304" charset="0"/>
                <a:ea typeface="Times New Roman" panose="02020603050405020304" charset="0"/>
                <a:cs typeface="Times New Roman" panose="02020603050405020304" charset="0"/>
              </a:rPr>
              <a:t>have all the ease</a:t>
            </a:r>
            <a:r>
              <a:rPr lang="en-US" altLang="zh-CN" sz="2000">
                <a:latin typeface="Times New Roman" panose="02020603050405020304" charset="0"/>
                <a:ea typeface="Times New Roman" panose="02020603050405020304" charset="0"/>
                <a:cs typeface="Times New Roman" panose="02020603050405020304" charset="0"/>
              </a:rPr>
              <a:t> of the original composition</a:t>
            </a:r>
            <a:endParaRPr lang="zh-CN" altLang="en-US" sz="2000">
              <a:latin typeface="Times New Roman" panose="02020603050405020304" charset="0"/>
              <a:ea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32" name="圆角矩形 31"/>
          <p:cNvSpPr/>
          <p:nvPr userDrawn="1"/>
        </p:nvSpPr>
        <p:spPr>
          <a:xfrm>
            <a:off x="3848131" y="4843336"/>
            <a:ext cx="3951520" cy="1506855"/>
          </a:xfrm>
          <a:prstGeom prst="roundRect">
            <a:avLst/>
          </a:prstGeom>
          <a:solidFill>
            <a:schemeClr val="accent3">
              <a:lumMod val="20000"/>
              <a:lumOff val="80000"/>
              <a:alpha val="10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r>
              <a:rPr lang="en-US" altLang="zh-CN" sz="1800" b="1">
                <a:solidFill>
                  <a:srgbClr val="000000"/>
                </a:solidFill>
                <a:latin typeface="Times New Roman" panose="02020603050405020304" charset="0"/>
                <a:ea typeface="Times New Roman" panose="02020603050405020304" charset="0"/>
                <a:cs typeface="Times New Roman" panose="02020603050405020304" charset="0"/>
              </a:rPr>
              <a:t>"greet one another with a holy kiss"</a:t>
            </a:r>
            <a:br>
              <a:rPr lang="en-US" altLang="zh-CN" sz="1800" b="1">
                <a:solidFill>
                  <a:srgbClr val="000000"/>
                </a:solidFill>
                <a:latin typeface="Times New Roman" panose="02020603050405020304" charset="0"/>
                <a:ea typeface="Times New Roman" panose="02020603050405020304" charset="0"/>
                <a:cs typeface="Times New Roman" panose="02020603050405020304" charset="0"/>
              </a:rPr>
            </a:br>
            <a:br>
              <a:rPr lang="en-US" altLang="zh-CN" sz="1800" b="1">
                <a:solidFill>
                  <a:srgbClr val="000000"/>
                </a:solidFill>
                <a:latin typeface="Times New Roman" panose="02020603050405020304" charset="0"/>
                <a:ea typeface="Times New Roman" panose="02020603050405020304" charset="0"/>
                <a:cs typeface="Times New Roman" panose="02020603050405020304" charset="0"/>
              </a:rPr>
            </a:br>
            <a:r>
              <a:rPr lang="en-US" altLang="zh-CN" sz="1800" b="1">
                <a:solidFill>
                  <a:srgbClr val="000000"/>
                </a:solidFill>
                <a:latin typeface="Times New Roman" panose="02020603050405020304" charset="0"/>
                <a:ea typeface="Times New Roman" panose="02020603050405020304" charset="0"/>
                <a:cs typeface="Arial" panose="020B0604020202020204" pitchFamily="34" charset="0"/>
              </a:rPr>
              <a:t>                                    </a:t>
            </a:r>
            <a:r>
              <a:rPr lang="zh-CN" altLang="en-US" sz="1800" b="1">
                <a:solidFill>
                  <a:srgbClr val="000000"/>
                </a:solidFill>
                <a:latin typeface="Times New Roman" panose="02020603050405020304" charset="0"/>
                <a:ea typeface="Times New Roman" panose="02020603050405020304" charset="0"/>
                <a:cs typeface="Times New Roman" panose="02020603050405020304" charset="0"/>
              </a:rPr>
              <a:t>----</a:t>
            </a:r>
            <a:r>
              <a:rPr lang="en-US" altLang="zh-CN" sz="1800" b="1" i="1">
                <a:solidFill>
                  <a:srgbClr val="000000"/>
                </a:solidFill>
                <a:latin typeface="Times New Roman" panose="02020603050405020304" charset="0"/>
                <a:ea typeface="Times New Roman" panose="02020603050405020304" charset="0"/>
                <a:cs typeface="Times New Roman" panose="02020603050405020304" charset="0"/>
              </a:rPr>
              <a:t>Romans</a:t>
            </a:r>
            <a:endParaRPr lang="zh-CN" altLang="en-US" sz="1800" b="1" i="1">
              <a:solidFill>
                <a:srgbClr val="000000"/>
              </a:solidFill>
              <a:latin typeface="Times New Roman" panose="02020603050405020304" charset="0"/>
              <a:ea typeface="Times New Roman" panose="02020603050405020304" charset="0"/>
              <a:cs typeface="Times New Roman" panose="02020603050405020304" charset="0"/>
            </a:endParaRPr>
          </a:p>
        </p:txBody>
      </p:sp>
      <p:cxnSp>
        <p:nvCxnSpPr>
          <p:cNvPr id="33" name="直接箭头连接符 32"/>
          <p:cNvCxnSpPr/>
          <p:nvPr userDrawn="1"/>
        </p:nvCxnSpPr>
        <p:spPr>
          <a:xfrm flipH="1">
            <a:off x="2890728" y="5711730"/>
            <a:ext cx="907415" cy="0"/>
          </a:xfrm>
          <a:prstGeom prst="straightConnector1">
            <a:avLst/>
          </a:prstGeom>
          <a:ln w="19050">
            <a:solidFill>
              <a:schemeClr val="tx1">
                <a:alpha val="100000"/>
              </a:schemeClr>
            </a:solidFill>
            <a:headEnd type="none"/>
            <a:tailEnd type="triangle"/>
          </a:ln>
        </p:spPr>
        <p:style>
          <a:lnRef idx="2">
            <a:schemeClr val="accent1"/>
          </a:lnRef>
          <a:fillRef idx="0">
            <a:srgbClr val="FFFFFF"/>
          </a:fillRef>
          <a:effectRef idx="0">
            <a:srgbClr val="FFFFFF"/>
          </a:effectRef>
          <a:fontRef idx="minor">
            <a:schemeClr val="tx1"/>
          </a:fontRef>
        </p:style>
      </p:cxnSp>
      <p:sp>
        <p:nvSpPr>
          <p:cNvPr id="34" name="圆角矩形 33"/>
          <p:cNvSpPr/>
          <p:nvPr userDrawn="1"/>
        </p:nvSpPr>
        <p:spPr>
          <a:xfrm>
            <a:off x="353186" y="4712377"/>
            <a:ext cx="2490396" cy="1768739"/>
          </a:xfrm>
          <a:prstGeom prst="roundRect">
            <a:avLst/>
          </a:prstGeom>
          <a:solidFill>
            <a:schemeClr val="accent3">
              <a:lumMod val="20000"/>
              <a:lumOff val="80000"/>
              <a:alpha val="10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r>
              <a:rPr lang="en-US" altLang="zh-CN">
                <a:solidFill>
                  <a:srgbClr val="000000"/>
                </a:solidFill>
                <a:latin typeface="Times New Roman" panose="02020603050405020304" charset="0"/>
                <a:ea typeface="Times New Roman" panose="02020603050405020304" charset="0"/>
                <a:cs typeface="Times New Roman" panose="02020603050405020304" charset="0"/>
              </a:rPr>
              <a:t>"</a:t>
            </a:r>
            <a:r>
              <a:rPr lang="zh-CN" altLang="en-US">
                <a:solidFill>
                  <a:srgbClr val="000000"/>
                </a:solidFill>
                <a:latin typeface="Times New Roman" panose="02020603050405020304" charset="0"/>
                <a:ea typeface="Times New Roman" panose="02020603050405020304" charset="0"/>
                <a:cs typeface="Arial" panose="020B0604020202020204" pitchFamily="34" charset="0"/>
              </a:rPr>
              <a:t>圣吻</a:t>
            </a:r>
            <a:r>
              <a:rPr lang="en-US" altLang="zh-CN">
                <a:solidFill>
                  <a:srgbClr val="000000"/>
                </a:solidFill>
                <a:latin typeface="Times New Roman" panose="02020603050405020304" charset="0"/>
                <a:ea typeface="Times New Roman" panose="02020603050405020304" charset="0"/>
                <a:cs typeface="Times New Roman" panose="02020603050405020304" charset="0"/>
              </a:rPr>
              <a:t>"(footnotes: an ancient Mediterranean greeting ritual for believers, representing sincere Chistian fellowship, not romantic affection.)</a:t>
            </a:r>
            <a:endParaRPr lang="en-US" altLang="zh-CN">
              <a:solidFill>
                <a:srgbClr val="000000"/>
              </a:solidFill>
              <a:latin typeface="Times New Roman" panose="02020603050405020304" charset="0"/>
              <a:ea typeface="Times New Roman" panose="02020603050405020304" charset="0"/>
              <a:cs typeface="Times New Roman" panose="02020603050405020304" charset="0"/>
            </a:endParaRPr>
          </a:p>
        </p:txBody>
      </p:sp>
      <p:cxnSp>
        <p:nvCxnSpPr>
          <p:cNvPr id="5" name="直接箭头连接符 4"/>
          <p:cNvCxnSpPr/>
          <p:nvPr userDrawn="1"/>
        </p:nvCxnSpPr>
        <p:spPr>
          <a:xfrm flipH="1">
            <a:off x="7891835" y="5711771"/>
            <a:ext cx="907415" cy="0"/>
          </a:xfrm>
          <a:prstGeom prst="straightConnector1">
            <a:avLst/>
          </a:prstGeom>
          <a:ln w="19050">
            <a:solidFill>
              <a:schemeClr val="tx1">
                <a:alpha val="100000"/>
              </a:schemeClr>
            </a:solidFill>
            <a:headEnd type="triangle"/>
            <a:tailEnd type="none"/>
          </a:ln>
        </p:spPr>
        <p:style>
          <a:lnRef idx="2">
            <a:schemeClr val="accent1"/>
          </a:lnRef>
          <a:fillRef idx="0">
            <a:srgbClr val="FFFFFF"/>
          </a:fillRef>
          <a:effectRef idx="0">
            <a:srgbClr val="FFFFFF"/>
          </a:effectRef>
          <a:fontRef idx="minor">
            <a:schemeClr val="tx1"/>
          </a:fontRef>
        </p:style>
      </p:cxnSp>
      <p:sp>
        <p:nvSpPr>
          <p:cNvPr id="6" name="圆角矩形 5"/>
          <p:cNvSpPr/>
          <p:nvPr userDrawn="1"/>
        </p:nvSpPr>
        <p:spPr>
          <a:xfrm>
            <a:off x="8820657" y="4712377"/>
            <a:ext cx="2730788" cy="1768775"/>
          </a:xfrm>
          <a:prstGeom prst="roundRect">
            <a:avLst/>
          </a:prstGeom>
          <a:solidFill>
            <a:schemeClr val="accent3">
              <a:lumMod val="20000"/>
              <a:lumOff val="80000"/>
              <a:alpha val="10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r>
              <a:rPr lang="en-US" altLang="zh-CN">
                <a:solidFill>
                  <a:srgbClr val="000000"/>
                </a:solidFill>
                <a:latin typeface="Times New Roman" panose="02020603050405020304" charset="0"/>
                <a:ea typeface="Times New Roman" panose="02020603050405020304" charset="0"/>
                <a:cs typeface="Times New Roman" panose="02020603050405020304" charset="0"/>
              </a:rPr>
              <a:t>"give one another a hearty handshake all around"</a:t>
            </a:r>
            <a:endParaRPr lang="zh-CN" altLang="en-US">
              <a:solidFill>
                <a:srgbClr val="000000"/>
              </a:solidFill>
              <a:latin typeface="Times New Roman" panose="02020603050405020304" charset="0"/>
              <a:ea typeface="Times New Roman" panose="02020603050405020304" charset="0"/>
              <a:cs typeface="Times New Roman" panose="02020603050405020304" charset="0"/>
            </a:endParaRPr>
          </a:p>
        </p:txBody>
      </p:sp>
      <p:sp>
        <p:nvSpPr>
          <p:cNvPr id="7" name="文本框 6"/>
          <p:cNvSpPr txBox="1"/>
          <p:nvPr userDrawn="1"/>
        </p:nvSpPr>
        <p:spPr>
          <a:xfrm>
            <a:off x="7938028" y="5288489"/>
            <a:ext cx="882650" cy="337185"/>
          </a:xfrm>
          <a:prstGeom prst="rect">
            <a:avLst/>
          </a:prstGeom>
        </p:spPr>
        <p:txBody>
          <a:bodyPr wrap="none" rtlCol="0">
            <a:spAutoFit/>
          </a:bodyPr>
          <a:p>
            <a:r>
              <a:rPr lang="en-US" altLang="zh-CN" sz="1600">
                <a:latin typeface="Times New Roman" panose="02020603050405020304" charset="0"/>
                <a:ea typeface="Times New Roman" panose="02020603050405020304" charset="0"/>
                <a:cs typeface="Times New Roman" panose="02020603050405020304" charset="0"/>
              </a:rPr>
              <a:t>dynamic</a:t>
            </a:r>
            <a:endParaRPr lang="zh-CN" altLang="en-US" sz="1600">
              <a:latin typeface="Times New Roman" panose="02020603050405020304" charset="0"/>
              <a:ea typeface="Times New Roman" panose="02020603050405020304" charset="0"/>
              <a:cs typeface="Times New Roman" panose="02020603050405020304" charset="0"/>
            </a:endParaRPr>
          </a:p>
        </p:txBody>
      </p:sp>
      <p:sp>
        <p:nvSpPr>
          <p:cNvPr id="8" name="文本框 7"/>
          <p:cNvSpPr txBox="1"/>
          <p:nvPr userDrawn="1"/>
        </p:nvSpPr>
        <p:spPr>
          <a:xfrm>
            <a:off x="2981886" y="5288425"/>
            <a:ext cx="725170" cy="337185"/>
          </a:xfrm>
          <a:prstGeom prst="rect">
            <a:avLst/>
          </a:prstGeom>
        </p:spPr>
        <p:txBody>
          <a:bodyPr wrap="none" rtlCol="0">
            <a:spAutoFit/>
          </a:bodyPr>
          <a:p>
            <a:r>
              <a:rPr lang="en-US" altLang="zh-CN" sz="1600">
                <a:latin typeface="Times New Roman" panose="02020603050405020304" charset="0"/>
                <a:ea typeface="Times New Roman" panose="02020603050405020304" charset="0"/>
                <a:cs typeface="Times New Roman" panose="02020603050405020304" charset="0"/>
              </a:rPr>
              <a:t>formal</a:t>
            </a:r>
            <a:endParaRPr lang="zh-CN" altLang="en-US" sz="1600">
              <a:latin typeface="Times New Roman" panose="02020603050405020304" charset="0"/>
              <a:ea typeface="Times New Roman" panose="02020603050405020304" charset="0"/>
              <a:cs typeface="Times New Roman" panose="02020603050405020304" charset="0"/>
            </a:endParaRPr>
          </a:p>
        </p:txBody>
      </p:sp>
      <p:graphicFrame>
        <p:nvGraphicFramePr>
          <p:cNvPr id="9" name="表格 8"/>
          <p:cNvGraphicFramePr/>
          <p:nvPr/>
        </p:nvGraphicFramePr>
        <p:xfrm>
          <a:off x="1163307" y="832554"/>
          <a:ext cx="9680575" cy="3571240"/>
        </p:xfrm>
        <a:graphic>
          <a:graphicData uri="http://schemas.openxmlformats.org/drawingml/2006/table">
            <a:tbl>
              <a:tblPr/>
              <a:tblGrid>
                <a:gridCol w="1529080"/>
                <a:gridCol w="4074795"/>
                <a:gridCol w="4076700"/>
              </a:tblGrid>
              <a:tr h="469900">
                <a:tc>
                  <a:txBody>
                    <a:bodyPr/>
                    <a:p>
                      <a:pPr>
                        <a:buNone/>
                      </a:pP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solidFill>
                      <a:srgbClr val="0070C0"/>
                    </a:solidFill>
                  </a:tcPr>
                </a:tc>
                <a:tc>
                  <a:txBody>
                    <a:bodyPr/>
                    <a:p>
                      <a:pPr marL="0" indent="0" algn="ctr">
                        <a:buNone/>
                      </a:pPr>
                      <a:r>
                        <a:rPr lang="en-US" sz="1100" b="1">
                          <a:solidFill>
                            <a:srgbClr val="FFFFFF"/>
                          </a:solidFill>
                          <a:latin typeface="微软雅黑" panose="020B0503020204020204" charset="-122"/>
                        </a:rPr>
                        <a:t>Formal Equivalence</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solidFill>
                      <a:srgbClr val="0070C0"/>
                    </a:solidFill>
                  </a:tcPr>
                </a:tc>
                <a:tc>
                  <a:txBody>
                    <a:bodyPr/>
                    <a:p>
                      <a:pPr marL="0" indent="0" algn="ctr">
                        <a:buNone/>
                      </a:pPr>
                      <a:r>
                        <a:rPr lang="en-US" sz="1100" b="1">
                          <a:solidFill>
                            <a:srgbClr val="FFFFFF"/>
                          </a:solidFill>
                          <a:latin typeface="微软雅黑" panose="020B0503020204020204" charset="-122"/>
                        </a:rPr>
                        <a:t>Dynamic Equivalence</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solidFill>
                      <a:srgbClr val="0070C0"/>
                    </a:solidFill>
                  </a:tcPr>
                </a:tc>
              </a:tr>
              <a:tr h="469900">
                <a:tc>
                  <a:txBody>
                    <a:bodyPr/>
                    <a:p>
                      <a:pPr marL="0" indent="0" algn="ctr">
                        <a:buNone/>
                      </a:pPr>
                      <a:r>
                        <a:rPr lang="en-US" sz="1000" b="1">
                          <a:solidFill>
                            <a:srgbClr val="1F4E79"/>
                          </a:solidFill>
                          <a:latin typeface="微软雅黑" panose="020B0503020204020204" charset="-122"/>
                        </a:rPr>
                        <a:t>Definition</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solidFill>
                      <a:srgbClr val="EBF1F8"/>
                    </a:solidFill>
                  </a:tcPr>
                </a:tc>
                <a:tc>
                  <a:txBody>
                    <a:bodyPr/>
                    <a:p>
                      <a:pPr marL="0" indent="0" algn="ctr">
                        <a:buNone/>
                      </a:pPr>
                      <a:r>
                        <a:rPr lang="en-US" sz="1000">
                          <a:solidFill>
                            <a:srgbClr val="333333"/>
                          </a:solidFill>
                          <a:latin typeface="微软雅黑" panose="020B0503020204020204" charset="-122"/>
                        </a:rPr>
                        <a:t>word for word</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solidFill>
                      <a:srgbClr val="EBF1F8"/>
                    </a:solidFill>
                  </a:tcPr>
                </a:tc>
                <a:tc>
                  <a:txBody>
                    <a:bodyPr/>
                    <a:p>
                      <a:pPr marL="0" indent="0" algn="ctr">
                        <a:buNone/>
                      </a:pPr>
                      <a:r>
                        <a:rPr lang="en-US" sz="1000">
                          <a:solidFill>
                            <a:srgbClr val="333333"/>
                          </a:solidFill>
                          <a:latin typeface="微软雅黑" panose="020B0503020204020204" charset="-122"/>
                        </a:rPr>
                        <a:t>convey the thought expressed in a source text</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solidFill>
                      <a:srgbClr val="EBF1F8"/>
                    </a:solidFill>
                  </a:tcPr>
                </a:tc>
              </a:tr>
              <a:tr h="342900">
                <a:tc>
                  <a:txBody>
                    <a:bodyPr/>
                    <a:p>
                      <a:pPr marL="0" indent="0" algn="ctr">
                        <a:buNone/>
                      </a:pPr>
                      <a:r>
                        <a:rPr lang="en-US" sz="1000" b="1">
                          <a:solidFill>
                            <a:srgbClr val="1F4E79"/>
                          </a:solidFill>
                          <a:latin typeface="微软雅黑" panose="020B0503020204020204" charset="-122"/>
                        </a:rPr>
                        <a:t>Principle</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noFill/>
                  </a:tcPr>
                </a:tc>
                <a:tc>
                  <a:txBody>
                    <a:bodyPr/>
                    <a:p>
                      <a:pPr marL="0" indent="0" algn="ctr">
                        <a:buNone/>
                      </a:pPr>
                      <a:r>
                        <a:rPr lang="en-US" sz="1000">
                          <a:solidFill>
                            <a:srgbClr val="333333"/>
                          </a:solidFill>
                          <a:latin typeface="微软雅黑" panose="020B0503020204020204" charset="-122"/>
                        </a:rPr>
                        <a:t>focuses on the original text and expresses the form and content of the original text</a:t>
                      </a:r>
                      <a:endParaRPr lang="en-US" altLang="en-US" sz="1000">
                        <a:solidFill>
                          <a:srgbClr val="333333"/>
                        </a:solidFill>
                        <a:latin typeface="微软雅黑" panose="020B0503020204020204" charset="-122"/>
                      </a:endParaRPr>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noFill/>
                  </a:tcPr>
                </a:tc>
                <a:tc>
                  <a:txBody>
                    <a:bodyPr/>
                    <a:p>
                      <a:pPr marL="0" indent="0" algn="ctr">
                        <a:buNone/>
                      </a:pPr>
                      <a:r>
                        <a:rPr lang="en-US" sz="1000">
                          <a:solidFill>
                            <a:srgbClr val="333333"/>
                          </a:solidFill>
                          <a:latin typeface="微软雅黑" panose="020B0503020204020204" charset="-122"/>
                        </a:rPr>
                        <a:t>aims at complete naturalness of expression</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noFill/>
                  </a:tcPr>
                </a:tc>
              </a:tr>
              <a:tr h="520700">
                <a:tc>
                  <a:txBody>
                    <a:bodyPr/>
                    <a:p>
                      <a:pPr marL="0" indent="0" algn="ctr">
                        <a:buNone/>
                      </a:pPr>
                      <a:r>
                        <a:rPr lang="en-US" sz="1000" b="1">
                          <a:solidFill>
                            <a:srgbClr val="1F4E79"/>
                          </a:solidFill>
                          <a:latin typeface="微软雅黑" panose="020B0503020204020204" charset="-122"/>
                        </a:rPr>
                        <a:t>Requirement</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solidFill>
                      <a:srgbClr val="EBF1F8"/>
                    </a:solidFill>
                  </a:tcPr>
                </a:tc>
                <a:tc>
                  <a:txBody>
                    <a:bodyPr/>
                    <a:p>
                      <a:pPr marL="0" indent="0" algn="ctr">
                        <a:buNone/>
                      </a:pPr>
                      <a:r>
                        <a:rPr lang="en-US" sz="1000">
                          <a:solidFill>
                            <a:srgbClr val="333333"/>
                          </a:solidFill>
                          <a:latin typeface="微软雅黑" panose="020B0503020204020204" charset="-122"/>
                        </a:rPr>
                        <a:t>the message in the receptor language should match as closely as possible as the different elements in the source language</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solidFill>
                      <a:srgbClr val="EBF1F8"/>
                    </a:solidFill>
                  </a:tcPr>
                </a:tc>
                <a:tc>
                  <a:txBody>
                    <a:bodyPr/>
                    <a:p>
                      <a:pPr marL="0" indent="0" algn="ctr">
                        <a:buNone/>
                      </a:pPr>
                      <a:r>
                        <a:rPr lang="en-US" sz="1000">
                          <a:solidFill>
                            <a:srgbClr val="333333"/>
                          </a:solidFill>
                          <a:latin typeface="微软雅黑" panose="020B0503020204020204" charset="-122"/>
                        </a:rPr>
                        <a:t>the relationship between receptor and message should be substentially the same as that which existed between the original receptors and the message</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solidFill>
                      <a:srgbClr val="EBF1F8"/>
                    </a:solidFill>
                  </a:tcPr>
                </a:tc>
              </a:tr>
              <a:tr h="342900">
                <a:tc>
                  <a:txBody>
                    <a:bodyPr/>
                    <a:p>
                      <a:pPr marL="0" indent="0" algn="ctr">
                        <a:buNone/>
                      </a:pPr>
                      <a:r>
                        <a:rPr lang="en-US" sz="1000" b="1">
                          <a:solidFill>
                            <a:srgbClr val="1F4E79"/>
                          </a:solidFill>
                          <a:latin typeface="微软雅黑" panose="020B0503020204020204" charset="-122"/>
                        </a:rPr>
                        <a:t>Example</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noFill/>
                  </a:tcPr>
                </a:tc>
                <a:tc>
                  <a:txBody>
                    <a:bodyPr/>
                    <a:p>
                      <a:pPr marL="0" indent="0" algn="ctr">
                        <a:buNone/>
                      </a:pPr>
                      <a:r>
                        <a:rPr lang="zh-CN" sz="1000">
                          <a:solidFill>
                            <a:srgbClr val="333333"/>
                          </a:solidFill>
                          <a:latin typeface="Arial" panose="020B0604020202020204" pitchFamily="34" charset="0"/>
                          <a:ea typeface="微软雅黑" panose="020B0503020204020204" charset="-122"/>
                        </a:rPr>
                        <a:t>"It's raining cats and dogs"直译为"下着猫和狗"</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noFill/>
                  </a:tcPr>
                </a:tc>
                <a:tc>
                  <a:txBody>
                    <a:bodyPr/>
                    <a:p>
                      <a:pPr marL="0" indent="0" algn="ctr">
                        <a:buNone/>
                      </a:pPr>
                      <a:r>
                        <a:rPr lang="zh-CN" sz="1000">
                          <a:solidFill>
                            <a:srgbClr val="333333"/>
                          </a:solidFill>
                          <a:latin typeface="Arial" panose="020B0604020202020204" pitchFamily="34" charset="0"/>
                          <a:ea typeface="微软雅黑" panose="020B0503020204020204" charset="-122"/>
                        </a:rPr>
                        <a:t>"It's raining cats and dogs"译为"下着倾盆大雨"</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noFill/>
                  </a:tcPr>
                </a:tc>
              </a:tr>
              <a:tr h="698500">
                <a:tc>
                  <a:txBody>
                    <a:bodyPr/>
                    <a:p>
                      <a:pPr marL="0" indent="0" algn="ctr">
                        <a:buNone/>
                      </a:pPr>
                      <a:r>
                        <a:rPr lang="en-US" sz="1000" b="1">
                          <a:solidFill>
                            <a:srgbClr val="1F4E79"/>
                          </a:solidFill>
                          <a:latin typeface="微软雅黑" panose="020B0503020204020204" charset="-122"/>
                        </a:rPr>
                        <a:t>Strengths</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solidFill>
                      <a:srgbClr val="EBF1F8"/>
                    </a:solidFill>
                  </a:tcPr>
                </a:tc>
                <a:tc>
                  <a:txBody>
                    <a:bodyPr/>
                    <a:p>
                      <a:pPr marL="0" indent="0" algn="ctr">
                        <a:buNone/>
                      </a:pPr>
                      <a:r>
                        <a:rPr lang="en-US" sz="1000">
                          <a:solidFill>
                            <a:srgbClr val="333333"/>
                          </a:solidFill>
                          <a:latin typeface="微软雅黑" panose="020B0503020204020204" charset="-122"/>
                        </a:rPr>
                        <a:t>preserves the linguistic and cultural features of the original</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solidFill>
                      <a:srgbClr val="EBF1F8"/>
                    </a:solidFill>
                  </a:tcPr>
                </a:tc>
                <a:tc>
                  <a:txBody>
                    <a:bodyPr/>
                    <a:p>
                      <a:pPr marL="0" indent="0" algn="ctr">
                        <a:buNone/>
                      </a:pPr>
                      <a:r>
                        <a:rPr lang="en-US" sz="1000">
                          <a:solidFill>
                            <a:srgbClr val="333333"/>
                          </a:solidFill>
                          <a:latin typeface="微软雅黑" panose="020B0503020204020204" charset="-122"/>
                        </a:rPr>
                        <a:t>1. Produces a natural, fluent text that conforms to target-language conventions;</a:t>
                      </a:r>
                      <a:endParaRPr lang="en-US" sz="1000">
                        <a:solidFill>
                          <a:srgbClr val="333333"/>
                        </a:solidFill>
                        <a:latin typeface="微软雅黑" panose="020B0503020204020204" charset="-122"/>
                      </a:endParaRPr>
                    </a:p>
                    <a:p>
                      <a:pPr marL="0" indent="0" algn="ctr">
                        <a:buNone/>
                      </a:pPr>
                      <a:r>
                        <a:rPr lang="en-US" sz="1000">
                          <a:solidFill>
                            <a:srgbClr val="333333"/>
                          </a:solidFill>
                          <a:latin typeface="微软雅黑" panose="020B0503020204020204" charset="-122"/>
                        </a:rPr>
                        <a:t>2. lowers comprehension barriers and enables effective cross-cultural communication.</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solidFill>
                      <a:srgbClr val="EBF1F8"/>
                    </a:solidFill>
                  </a:tcPr>
                </a:tc>
              </a:tr>
              <a:tr h="342900">
                <a:tc>
                  <a:txBody>
                    <a:bodyPr/>
                    <a:p>
                      <a:pPr marL="0" indent="0" algn="ctr">
                        <a:buNone/>
                      </a:pPr>
                      <a:r>
                        <a:rPr lang="en-US" sz="1000" b="1">
                          <a:solidFill>
                            <a:srgbClr val="1F4E79"/>
                          </a:solidFill>
                          <a:latin typeface="微软雅黑" panose="020B0503020204020204" charset="-122"/>
                        </a:rPr>
                        <a:t>Limitations</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noFill/>
                  </a:tcPr>
                </a:tc>
                <a:tc>
                  <a:txBody>
                    <a:bodyPr/>
                    <a:p>
                      <a:pPr marL="0" indent="0" algn="ctr">
                        <a:buNone/>
                      </a:pPr>
                      <a:r>
                        <a:rPr lang="en-US" sz="1000">
                          <a:solidFill>
                            <a:srgbClr val="333333"/>
                          </a:solidFill>
                          <a:latin typeface="微软雅黑" panose="020B0503020204020204" charset="-122"/>
                        </a:rPr>
                        <a:t>awkward and may cause comprehension difficulties for readers</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noFill/>
                  </a:tcPr>
                </a:tc>
                <a:tc>
                  <a:txBody>
                    <a:bodyPr/>
                    <a:p>
                      <a:pPr marL="0" indent="0" algn="ctr">
                        <a:buNone/>
                      </a:pPr>
                      <a:r>
                        <a:rPr lang="en-US" sz="1000">
                          <a:solidFill>
                            <a:srgbClr val="333333"/>
                          </a:solidFill>
                          <a:latin typeface="微软雅黑" panose="020B0503020204020204" charset="-122"/>
                        </a:rPr>
                        <a:t>1. lose cultural and stylistic features of the original;</a:t>
                      </a:r>
                      <a:endParaRPr lang="en-US" sz="1000">
                        <a:solidFill>
                          <a:srgbClr val="333333"/>
                        </a:solidFill>
                        <a:latin typeface="微软雅黑" panose="020B0503020204020204" charset="-122"/>
                      </a:endParaRPr>
                    </a:p>
                    <a:p>
                      <a:pPr marL="0" indent="0" algn="ctr">
                        <a:buNone/>
                      </a:pPr>
                      <a:r>
                        <a:rPr lang="en-US" sz="1000">
                          <a:solidFill>
                            <a:srgbClr val="333333"/>
                          </a:solidFill>
                          <a:latin typeface="微软雅黑" panose="020B0503020204020204" charset="-122"/>
                        </a:rPr>
                        <a:t>2. Judgments of "equivalent response" are inherently subjective.</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noFill/>
                  </a:tcPr>
                </a:tc>
              </a:tr>
              <a:tr h="342900">
                <a:tc>
                  <a:txBody>
                    <a:bodyPr/>
                    <a:p>
                      <a:pPr marL="0" indent="0" algn="ctr">
                        <a:buNone/>
                      </a:pPr>
                      <a:r>
                        <a:rPr lang="en-US" sz="1000" b="1">
                          <a:solidFill>
                            <a:srgbClr val="1F4E79"/>
                          </a:solidFill>
                          <a:latin typeface="微软雅黑" panose="020B0503020204020204" charset="-122"/>
                        </a:rPr>
                        <a:t>Preferred Text Types</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solidFill>
                      <a:srgbClr val="EBF1F8"/>
                    </a:solidFill>
                  </a:tcPr>
                </a:tc>
                <a:tc>
                  <a:txBody>
                    <a:bodyPr/>
                    <a:p>
                      <a:pPr marL="0" indent="0" algn="ctr">
                        <a:buNone/>
                      </a:pPr>
                      <a:r>
                        <a:rPr lang="zh-CN" sz="1000">
                          <a:solidFill>
                            <a:srgbClr val="333333"/>
                          </a:solidFill>
                          <a:latin typeface="Arial" panose="020B0604020202020204" pitchFamily="34" charset="0"/>
                          <a:ea typeface="微软雅黑" panose="020B0503020204020204" charset="-122"/>
                        </a:rPr>
                        <a:t>legal documents、academic papers、religious scriptures</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solidFill>
                      <a:srgbClr val="EBF1F8"/>
                    </a:solidFill>
                  </a:tcPr>
                </a:tc>
                <a:tc>
                  <a:txBody>
                    <a:bodyPr/>
                    <a:p>
                      <a:pPr marL="0" indent="0" algn="ctr">
                        <a:buNone/>
                      </a:pPr>
                      <a:r>
                        <a:rPr lang="zh-CN" sz="1000">
                          <a:solidFill>
                            <a:srgbClr val="333333"/>
                          </a:solidFill>
                          <a:latin typeface="Arial" panose="020B0604020202020204" pitchFamily="34" charset="0"/>
                          <a:ea typeface="微软雅黑" panose="020B0503020204020204" charset="-122"/>
                        </a:rPr>
                        <a:t>literary works、 audiovisual translation、advertising</a:t>
                      </a:r>
                      <a:endParaRPr lang="zh-CN" altLang="en-US"/>
                    </a:p>
                  </a:txBody>
                  <a:tcPr marL="12700" marR="12700" marT="12700" vert="horz"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lnTlToBr>
                      <a:noFill/>
                    </a:lnTlToBr>
                    <a:lnBlToTr>
                      <a:noFill/>
                    </a:lnBlToTr>
                    <a:solidFill>
                      <a:srgbClr val="EBF1F8"/>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AutoShape 4"/>
          <p:cNvSpPr/>
          <p:nvPr/>
        </p:nvSpPr>
        <p:spPr>
          <a:xfrm>
            <a:off x="6038844" y="1992848"/>
            <a:ext cx="3255860" cy="461665"/>
          </a:xfrm>
          <a:prstGeom prst="rect">
            <a:avLst/>
          </a:prstGeom>
          <a:solidFill>
            <a:srgbClr val="404040">
              <a:alpha val="100000"/>
            </a:srgbClr>
          </a:solidFill>
          <a:ln w="12700" cap="flat" cmpd="sng">
            <a:noFill/>
            <a:prstDash val="solid"/>
            <a:round/>
          </a:ln>
        </p:spPr>
        <p:txBody>
          <a:bodyPr vert="horz" wrap="square" lIns="91440" tIns="45720" rIns="91440" bIns="45720" rtlCol="0" anchor="t" anchorCtr="0"/>
          <a:lstStyle/>
          <a:p>
            <a:pPr marL="0" indent="0" algn="l">
              <a:lnSpc>
                <a:spcPct val="100000"/>
              </a:lnSpc>
              <a:defRPr/>
            </a:pPr>
            <a:r>
              <a:rPr lang="en-US" sz="24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Case Study: The Holy Kiss</a:t>
            </a:r>
            <a:endParaRPr lang="en-US" sz="1100"/>
          </a:p>
        </p:txBody>
      </p:sp>
      <p:sp>
        <p:nvSpPr>
          <p:cNvPr id="5" name="AutoShape 5"/>
          <p:cNvSpPr/>
          <p:nvPr/>
        </p:nvSpPr>
        <p:spPr>
          <a:xfrm>
            <a:off x="6038804" y="2782753"/>
            <a:ext cx="4749840" cy="484428"/>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17000"/>
              </a:lnSpc>
              <a:defRPr/>
            </a:pPr>
            <a:r>
              <a:rPr lang="en-US" sz="1050" b="0" i="0" u="none" strike="noStrike">
                <a:solidFill>
                  <a:srgbClr val="404040"/>
                </a:solidFill>
                <a:latin typeface="Noto Sans SC" panose="020B0500000000000000" charset="-122"/>
                <a:ea typeface="Noto Sans SC" panose="020B0500000000000000" charset="-122"/>
                <a:cs typeface="Noto Sans SC" panose="020B0500000000000000" charset="-122"/>
                <a:sym typeface="Noto Sans SC" panose="020B0500000000000000" charset="-122"/>
              </a:rPr>
              <a:t>In Romans 16:16, the Greek original instructs readers to greet one another with a holy kiss. This cultural practice was common in the early Christian church but unfamiliar in many modern cultures.</a:t>
            </a:r>
            <a:endParaRPr lang="en-US" sz="1100"/>
          </a:p>
        </p:txBody>
      </p:sp>
      <p:sp>
        <p:nvSpPr>
          <p:cNvPr id="6" name="AutoShape 6"/>
          <p:cNvSpPr/>
          <p:nvPr/>
        </p:nvSpPr>
        <p:spPr>
          <a:xfrm>
            <a:off x="5926257" y="1439128"/>
            <a:ext cx="7011670" cy="1015365"/>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00000"/>
              </a:lnSpc>
              <a:defRPr/>
            </a:pPr>
            <a:r>
              <a:rPr lang="en-US" sz="1800" b="1" i="0" u="none" strike="noStrike">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Dynamic Equivalence in Action</a:t>
            </a:r>
            <a:endParaRPr lang="en-US" sz="1800">
              <a:latin typeface="Times New Roman" panose="02020603050405020304" charset="0"/>
              <a:ea typeface="Times New Roman" panose="02020603050405020304" charset="0"/>
              <a:cs typeface="Times New Roman" panose="02020603050405020304" charset="0"/>
            </a:endParaRPr>
          </a:p>
        </p:txBody>
      </p:sp>
      <p:cxnSp>
        <p:nvCxnSpPr>
          <p:cNvPr id="7" name="Connector 7"/>
          <p:cNvCxnSpPr/>
          <p:nvPr/>
        </p:nvCxnSpPr>
        <p:spPr>
          <a:xfrm>
            <a:off x="6038804" y="4809076"/>
            <a:ext cx="5984042" cy="12700"/>
          </a:xfrm>
          <a:prstGeom prst="line">
            <a:avLst/>
          </a:prstGeom>
          <a:solidFill>
            <a:srgbClr val="DEE0E3">
              <a:alpha val="100000"/>
            </a:srgbClr>
          </a:solidFill>
          <a:ln w="12700" cap="flat" cmpd="sng">
            <a:solidFill>
              <a:srgbClr val="595959">
                <a:alpha val="100000"/>
              </a:srgbClr>
            </a:solidFill>
            <a:prstDash val="solid"/>
            <a:miter lim="1000000"/>
            <a:headEnd type="none" w="med" len="med"/>
            <a:tailEnd type="none" w="med" len="med"/>
          </a:ln>
        </p:spPr>
      </p:cxnSp>
      <p:sp>
        <p:nvSpPr>
          <p:cNvPr id="8" name="AutoShape 8"/>
          <p:cNvSpPr/>
          <p:nvPr/>
        </p:nvSpPr>
        <p:spPr>
          <a:xfrm>
            <a:off x="6038856" y="3632760"/>
            <a:ext cx="4749840" cy="484428"/>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17000"/>
              </a:lnSpc>
              <a:defRPr/>
            </a:pPr>
            <a:r>
              <a:rPr lang="en-US" sz="1050" b="0" i="0" u="none" strike="noStrike">
                <a:solidFill>
                  <a:srgbClr val="404040"/>
                </a:solidFill>
                <a:latin typeface="Noto Sans SC" panose="020B0500000000000000" charset="-122"/>
                <a:ea typeface="Noto Sans SC" panose="020B0500000000000000" charset="-122"/>
                <a:cs typeface="Noto Sans SC" panose="020B0500000000000000" charset="-122"/>
                <a:sym typeface="Noto Sans SC" panose="020B0500000000000000" charset="-122"/>
              </a:rPr>
              <a:t>J.B. Phillips dynamic equivalent translation renders this as give one another a hearty handshake all around. This adaptation preserves the original meaning while using a culturally appropriate expression. The form changes but the effect remains equivalent.</a:t>
            </a:r>
            <a:endParaRPr lang="en-US" sz="1100"/>
          </a:p>
        </p:txBody>
      </p:sp>
      <p:pic>
        <p:nvPicPr>
          <p:cNvPr id="10" name="Picture 10"/>
          <p:cNvPicPr>
            <a:picLocks noChangeAspect="1"/>
          </p:cNvPicPr>
          <p:nvPr/>
        </p:nvPicPr>
        <p:blipFill>
          <a:blip r:embed="rId2"/>
          <a:srcRect l="509" r="509"/>
          <a:stretch>
            <a:fillRect/>
          </a:stretch>
        </p:blipFill>
        <p:spPr>
          <a:xfrm>
            <a:off x="245290" y="1439150"/>
            <a:ext cx="5680943" cy="3781207"/>
          </a:xfrm>
          <a:prstGeom prst="rect">
            <a:avLst/>
          </a:prstGeom>
          <a:noFill/>
          <a:ln w="25400" cap="flat" cmpd="sng">
            <a:noFill/>
            <a:prstDash val="solid"/>
            <a:round/>
          </a:ln>
        </p:spPr>
      </p:pic>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
        <p:nvSpPr>
          <p:cNvPr id="6" name="Freeform 6"/>
          <p:cNvSpPr/>
          <p:nvPr/>
        </p:nvSpPr>
        <p:spPr>
          <a:xfrm>
            <a:off x="7724670" y="2590330"/>
            <a:ext cx="319157" cy="333690"/>
          </a:xfrm>
          <a:custGeom>
            <a:avLst/>
            <a:gdLst/>
            <a:ahLst/>
            <a:cxnLst/>
            <a:rect l="l" t="t" r="r" b="b"/>
            <a:pathLst>
              <a:path w="319157" h="333690">
                <a:moveTo>
                  <a:pt x="311454" y="287039"/>
                </a:moveTo>
                <a:lnTo>
                  <a:pt x="311454" y="287039"/>
                </a:lnTo>
                <a:cubicBezTo>
                  <a:pt x="272383" y="326006"/>
                  <a:pt x="272383" y="326006"/>
                  <a:pt x="272383" y="326006"/>
                </a:cubicBezTo>
                <a:cubicBezTo>
                  <a:pt x="268531" y="329848"/>
                  <a:pt x="264679" y="333690"/>
                  <a:pt x="260828" y="333690"/>
                </a:cubicBezTo>
                <a:cubicBezTo>
                  <a:pt x="256976" y="333690"/>
                  <a:pt x="253124" y="329848"/>
                  <a:pt x="249272" y="326006"/>
                </a:cubicBezTo>
                <a:cubicBezTo>
                  <a:pt x="229462" y="306249"/>
                  <a:pt x="229462" y="306249"/>
                  <a:pt x="229462" y="306249"/>
                </a:cubicBezTo>
                <a:cubicBezTo>
                  <a:pt x="225610" y="302407"/>
                  <a:pt x="225610" y="298564"/>
                  <a:pt x="225610" y="294723"/>
                </a:cubicBezTo>
                <a:cubicBezTo>
                  <a:pt x="225610" y="287039"/>
                  <a:pt x="229462" y="279356"/>
                  <a:pt x="241569" y="279356"/>
                </a:cubicBezTo>
                <a:cubicBezTo>
                  <a:pt x="245421" y="279356"/>
                  <a:pt x="249272" y="283197"/>
                  <a:pt x="249272" y="287039"/>
                </a:cubicBezTo>
                <a:cubicBezTo>
                  <a:pt x="260828" y="294723"/>
                  <a:pt x="260828" y="294723"/>
                  <a:pt x="260828" y="294723"/>
                </a:cubicBezTo>
                <a:cubicBezTo>
                  <a:pt x="291643" y="263989"/>
                  <a:pt x="291643" y="263989"/>
                  <a:pt x="291643" y="263989"/>
                </a:cubicBezTo>
                <a:cubicBezTo>
                  <a:pt x="295495" y="260147"/>
                  <a:pt x="299898" y="260147"/>
                  <a:pt x="303750" y="260147"/>
                </a:cubicBezTo>
                <a:cubicBezTo>
                  <a:pt x="311454" y="260147"/>
                  <a:pt x="319157" y="267830"/>
                  <a:pt x="319157" y="275514"/>
                </a:cubicBezTo>
                <a:cubicBezTo>
                  <a:pt x="319157" y="279356"/>
                  <a:pt x="315305" y="283197"/>
                  <a:pt x="311454" y="287039"/>
                </a:cubicBezTo>
                <a:close/>
                <a:moveTo>
                  <a:pt x="260828" y="271672"/>
                </a:moveTo>
                <a:lnTo>
                  <a:pt x="260828" y="271672"/>
                </a:lnTo>
                <a:cubicBezTo>
                  <a:pt x="256976" y="267830"/>
                  <a:pt x="249272" y="263989"/>
                  <a:pt x="241569" y="263989"/>
                </a:cubicBezTo>
                <a:cubicBezTo>
                  <a:pt x="221759" y="263989"/>
                  <a:pt x="210203" y="279356"/>
                  <a:pt x="210203" y="294723"/>
                </a:cubicBezTo>
                <a:cubicBezTo>
                  <a:pt x="210203" y="306249"/>
                  <a:pt x="214055" y="314481"/>
                  <a:pt x="217907" y="318323"/>
                </a:cubicBezTo>
                <a:cubicBezTo>
                  <a:pt x="233314" y="333690"/>
                  <a:pt x="233314" y="333690"/>
                  <a:pt x="233314" y="333690"/>
                </a:cubicBezTo>
                <a:cubicBezTo>
                  <a:pt x="15958" y="333690"/>
                  <a:pt x="15958" y="333690"/>
                  <a:pt x="15958" y="333690"/>
                </a:cubicBezTo>
                <a:cubicBezTo>
                  <a:pt x="8254" y="333690"/>
                  <a:pt x="0" y="326006"/>
                  <a:pt x="0" y="318323"/>
                </a:cubicBezTo>
                <a:cubicBezTo>
                  <a:pt x="0" y="46651"/>
                  <a:pt x="0" y="46651"/>
                  <a:pt x="0" y="46651"/>
                </a:cubicBezTo>
                <a:cubicBezTo>
                  <a:pt x="0" y="38967"/>
                  <a:pt x="8254" y="30734"/>
                  <a:pt x="15958" y="30734"/>
                </a:cubicBezTo>
                <a:cubicBezTo>
                  <a:pt x="42921" y="30734"/>
                  <a:pt x="42921" y="30734"/>
                  <a:pt x="42921" y="30734"/>
                </a:cubicBezTo>
                <a:cubicBezTo>
                  <a:pt x="42921" y="46651"/>
                  <a:pt x="42921" y="46651"/>
                  <a:pt x="42921" y="46651"/>
                </a:cubicBezTo>
                <a:cubicBezTo>
                  <a:pt x="42921" y="65860"/>
                  <a:pt x="58329" y="77385"/>
                  <a:pt x="74286" y="77385"/>
                </a:cubicBezTo>
                <a:cubicBezTo>
                  <a:pt x="89694" y="77385"/>
                  <a:pt x="105101" y="65860"/>
                  <a:pt x="105101" y="46651"/>
                </a:cubicBezTo>
                <a:cubicBezTo>
                  <a:pt x="105101" y="30734"/>
                  <a:pt x="105101" y="30734"/>
                  <a:pt x="105101" y="30734"/>
                </a:cubicBezTo>
                <a:cubicBezTo>
                  <a:pt x="120509" y="30734"/>
                  <a:pt x="120509" y="30734"/>
                  <a:pt x="120509" y="30734"/>
                </a:cubicBezTo>
                <a:cubicBezTo>
                  <a:pt x="120509" y="46651"/>
                  <a:pt x="120509" y="46651"/>
                  <a:pt x="120509" y="46651"/>
                </a:cubicBezTo>
                <a:cubicBezTo>
                  <a:pt x="120509" y="65860"/>
                  <a:pt x="136467" y="77385"/>
                  <a:pt x="151874" y="77385"/>
                </a:cubicBezTo>
                <a:cubicBezTo>
                  <a:pt x="167282" y="77385"/>
                  <a:pt x="183239" y="65860"/>
                  <a:pt x="183239" y="46651"/>
                </a:cubicBezTo>
                <a:cubicBezTo>
                  <a:pt x="183239" y="30734"/>
                  <a:pt x="183239" y="30734"/>
                  <a:pt x="183239" y="30734"/>
                </a:cubicBezTo>
                <a:cubicBezTo>
                  <a:pt x="198647" y="30734"/>
                  <a:pt x="198647" y="30734"/>
                  <a:pt x="198647" y="30734"/>
                </a:cubicBezTo>
                <a:cubicBezTo>
                  <a:pt x="198647" y="46651"/>
                  <a:pt x="198647" y="46651"/>
                  <a:pt x="198647" y="46651"/>
                </a:cubicBezTo>
                <a:cubicBezTo>
                  <a:pt x="198647" y="65860"/>
                  <a:pt x="214055" y="77385"/>
                  <a:pt x="229462" y="77385"/>
                </a:cubicBezTo>
                <a:cubicBezTo>
                  <a:pt x="245421" y="77385"/>
                  <a:pt x="260828" y="65860"/>
                  <a:pt x="260828" y="46651"/>
                </a:cubicBezTo>
                <a:cubicBezTo>
                  <a:pt x="260828" y="30734"/>
                  <a:pt x="260828" y="30734"/>
                  <a:pt x="260828" y="30734"/>
                </a:cubicBezTo>
                <a:cubicBezTo>
                  <a:pt x="287791" y="30734"/>
                  <a:pt x="287791" y="30734"/>
                  <a:pt x="287791" y="30734"/>
                </a:cubicBezTo>
                <a:cubicBezTo>
                  <a:pt x="295495" y="30734"/>
                  <a:pt x="303750" y="38967"/>
                  <a:pt x="303750" y="46651"/>
                </a:cubicBezTo>
                <a:cubicBezTo>
                  <a:pt x="303750" y="244230"/>
                  <a:pt x="303750" y="244230"/>
                  <a:pt x="303750" y="244230"/>
                </a:cubicBezTo>
                <a:cubicBezTo>
                  <a:pt x="291643" y="244230"/>
                  <a:pt x="283939" y="248073"/>
                  <a:pt x="280087" y="252463"/>
                </a:cubicBezTo>
                <a:lnTo>
                  <a:pt x="260828" y="271672"/>
                </a:lnTo>
                <a:close/>
                <a:moveTo>
                  <a:pt x="42921" y="267830"/>
                </a:moveTo>
                <a:lnTo>
                  <a:pt x="42921" y="267830"/>
                </a:lnTo>
                <a:cubicBezTo>
                  <a:pt x="42921" y="275514"/>
                  <a:pt x="46773" y="279356"/>
                  <a:pt x="54477" y="279356"/>
                </a:cubicBezTo>
                <a:cubicBezTo>
                  <a:pt x="155726" y="279356"/>
                  <a:pt x="155726" y="279356"/>
                  <a:pt x="155726" y="279356"/>
                </a:cubicBezTo>
                <a:cubicBezTo>
                  <a:pt x="163430" y="279356"/>
                  <a:pt x="167282" y="275514"/>
                  <a:pt x="167282" y="267830"/>
                </a:cubicBezTo>
                <a:cubicBezTo>
                  <a:pt x="167282" y="260147"/>
                  <a:pt x="163430" y="256305"/>
                  <a:pt x="155726" y="256305"/>
                </a:cubicBezTo>
                <a:cubicBezTo>
                  <a:pt x="54477" y="256305"/>
                  <a:pt x="54477" y="256305"/>
                  <a:pt x="54477" y="256305"/>
                </a:cubicBezTo>
                <a:cubicBezTo>
                  <a:pt x="46773" y="256305"/>
                  <a:pt x="42921" y="260147"/>
                  <a:pt x="42921" y="267830"/>
                </a:cubicBezTo>
                <a:close/>
                <a:moveTo>
                  <a:pt x="245421" y="120194"/>
                </a:moveTo>
                <a:lnTo>
                  <a:pt x="245421" y="120194"/>
                </a:lnTo>
                <a:cubicBezTo>
                  <a:pt x="58329" y="120194"/>
                  <a:pt x="58329" y="120194"/>
                  <a:pt x="58329" y="120194"/>
                </a:cubicBezTo>
                <a:cubicBezTo>
                  <a:pt x="50625" y="120194"/>
                  <a:pt x="42921" y="127878"/>
                  <a:pt x="42921" y="135561"/>
                </a:cubicBezTo>
                <a:cubicBezTo>
                  <a:pt x="42921" y="143794"/>
                  <a:pt x="50625" y="151478"/>
                  <a:pt x="58329" y="151478"/>
                </a:cubicBezTo>
                <a:cubicBezTo>
                  <a:pt x="245421" y="151478"/>
                  <a:pt x="245421" y="151478"/>
                  <a:pt x="245421" y="151478"/>
                </a:cubicBezTo>
                <a:cubicBezTo>
                  <a:pt x="253124" y="151478"/>
                  <a:pt x="260828" y="143794"/>
                  <a:pt x="260828" y="135561"/>
                </a:cubicBezTo>
                <a:cubicBezTo>
                  <a:pt x="260828" y="127878"/>
                  <a:pt x="253124" y="120194"/>
                  <a:pt x="245421" y="120194"/>
                </a:cubicBezTo>
                <a:close/>
                <a:moveTo>
                  <a:pt x="245421" y="186054"/>
                </a:moveTo>
                <a:lnTo>
                  <a:pt x="245421" y="186054"/>
                </a:lnTo>
                <a:cubicBezTo>
                  <a:pt x="151874" y="186054"/>
                  <a:pt x="151874" y="186054"/>
                  <a:pt x="151874" y="186054"/>
                </a:cubicBezTo>
                <a:cubicBezTo>
                  <a:pt x="124361" y="186054"/>
                  <a:pt x="124361" y="186054"/>
                  <a:pt x="124361" y="186054"/>
                </a:cubicBezTo>
                <a:cubicBezTo>
                  <a:pt x="58329" y="186054"/>
                  <a:pt x="58329" y="186054"/>
                  <a:pt x="58329" y="186054"/>
                </a:cubicBezTo>
                <a:cubicBezTo>
                  <a:pt x="50625" y="186054"/>
                  <a:pt x="42921" y="193738"/>
                  <a:pt x="42921" y="201422"/>
                </a:cubicBezTo>
                <a:cubicBezTo>
                  <a:pt x="42921" y="213496"/>
                  <a:pt x="50625" y="217338"/>
                  <a:pt x="58329" y="217338"/>
                </a:cubicBezTo>
                <a:cubicBezTo>
                  <a:pt x="124361" y="217338"/>
                  <a:pt x="124361" y="217338"/>
                  <a:pt x="124361" y="217338"/>
                </a:cubicBezTo>
                <a:cubicBezTo>
                  <a:pt x="151874" y="217338"/>
                  <a:pt x="151874" y="217338"/>
                  <a:pt x="151874" y="217338"/>
                </a:cubicBezTo>
                <a:cubicBezTo>
                  <a:pt x="245421" y="217338"/>
                  <a:pt x="245421" y="217338"/>
                  <a:pt x="245421" y="217338"/>
                </a:cubicBezTo>
                <a:cubicBezTo>
                  <a:pt x="253124" y="217338"/>
                  <a:pt x="260828" y="213496"/>
                  <a:pt x="260828" y="201422"/>
                </a:cubicBezTo>
                <a:cubicBezTo>
                  <a:pt x="260828" y="193738"/>
                  <a:pt x="253124" y="186054"/>
                  <a:pt x="245421" y="186054"/>
                </a:cubicBezTo>
                <a:close/>
                <a:moveTo>
                  <a:pt x="229462" y="62018"/>
                </a:moveTo>
                <a:lnTo>
                  <a:pt x="229462" y="62018"/>
                </a:lnTo>
                <a:cubicBezTo>
                  <a:pt x="221759" y="62018"/>
                  <a:pt x="214055" y="58176"/>
                  <a:pt x="214055" y="46651"/>
                </a:cubicBezTo>
                <a:cubicBezTo>
                  <a:pt x="214055" y="15367"/>
                  <a:pt x="214055" y="15367"/>
                  <a:pt x="214055" y="15367"/>
                </a:cubicBezTo>
                <a:cubicBezTo>
                  <a:pt x="214055" y="7683"/>
                  <a:pt x="221759" y="0"/>
                  <a:pt x="229462" y="0"/>
                </a:cubicBezTo>
                <a:cubicBezTo>
                  <a:pt x="237166" y="0"/>
                  <a:pt x="245421" y="7683"/>
                  <a:pt x="245421" y="15367"/>
                </a:cubicBezTo>
                <a:cubicBezTo>
                  <a:pt x="245421" y="46651"/>
                  <a:pt x="245421" y="46651"/>
                  <a:pt x="245421" y="46651"/>
                </a:cubicBezTo>
                <a:cubicBezTo>
                  <a:pt x="245421" y="58176"/>
                  <a:pt x="237166" y="62018"/>
                  <a:pt x="229462" y="62018"/>
                </a:cubicBezTo>
                <a:close/>
                <a:moveTo>
                  <a:pt x="151874" y="62018"/>
                </a:moveTo>
                <a:lnTo>
                  <a:pt x="151874" y="62018"/>
                </a:lnTo>
                <a:cubicBezTo>
                  <a:pt x="144170" y="62018"/>
                  <a:pt x="136467" y="58176"/>
                  <a:pt x="136467" y="46651"/>
                </a:cubicBezTo>
                <a:cubicBezTo>
                  <a:pt x="136467" y="15367"/>
                  <a:pt x="136467" y="15367"/>
                  <a:pt x="136467" y="15367"/>
                </a:cubicBezTo>
                <a:cubicBezTo>
                  <a:pt x="136467" y="7683"/>
                  <a:pt x="144170" y="0"/>
                  <a:pt x="151874" y="0"/>
                </a:cubicBezTo>
                <a:cubicBezTo>
                  <a:pt x="159578" y="0"/>
                  <a:pt x="167282" y="7683"/>
                  <a:pt x="167282" y="15367"/>
                </a:cubicBezTo>
                <a:cubicBezTo>
                  <a:pt x="167282" y="46651"/>
                  <a:pt x="167282" y="46651"/>
                  <a:pt x="167282" y="46651"/>
                </a:cubicBezTo>
                <a:cubicBezTo>
                  <a:pt x="167282" y="58176"/>
                  <a:pt x="159578" y="62018"/>
                  <a:pt x="151874" y="62018"/>
                </a:cubicBezTo>
                <a:close/>
                <a:moveTo>
                  <a:pt x="74286" y="62018"/>
                </a:moveTo>
                <a:lnTo>
                  <a:pt x="74286" y="62018"/>
                </a:lnTo>
                <a:cubicBezTo>
                  <a:pt x="66582" y="62018"/>
                  <a:pt x="58329" y="58176"/>
                  <a:pt x="58329" y="46651"/>
                </a:cubicBezTo>
                <a:cubicBezTo>
                  <a:pt x="58329" y="15367"/>
                  <a:pt x="58329" y="15367"/>
                  <a:pt x="58329" y="15367"/>
                </a:cubicBezTo>
                <a:cubicBezTo>
                  <a:pt x="58329" y="7683"/>
                  <a:pt x="66582" y="0"/>
                  <a:pt x="74286" y="0"/>
                </a:cubicBezTo>
                <a:cubicBezTo>
                  <a:pt x="81990" y="0"/>
                  <a:pt x="89694" y="7683"/>
                  <a:pt x="89694" y="15367"/>
                </a:cubicBezTo>
                <a:cubicBezTo>
                  <a:pt x="89694" y="46651"/>
                  <a:pt x="89694" y="46651"/>
                  <a:pt x="89694" y="46651"/>
                </a:cubicBezTo>
                <a:cubicBezTo>
                  <a:pt x="89694" y="58176"/>
                  <a:pt x="81990" y="62018"/>
                  <a:pt x="74286" y="62018"/>
                </a:cubicBezTo>
                <a:close/>
              </a:path>
            </a:pathLst>
          </a:custGeom>
          <a:solidFill>
            <a:srgbClr val="FFFFFF">
              <a:alpha val="100000"/>
            </a:srgbClr>
          </a:solidFill>
          <a:ln w="25400" cap="flat" cmpd="sng">
            <a:noFill/>
            <a:prstDash val="solid"/>
            <a:round/>
          </a:ln>
        </p:spPr>
        <p:txBody>
          <a:bodyPr vert="horz" wrap="none" lIns="45720" tIns="22860" rIns="45720" bIns="22860" rtlCol="0" anchor="ctr" anchorCtr="0"/>
          <a:lstStyle/>
          <a:p>
            <a:pPr algn="l">
              <a:defRPr/>
            </a:pPr>
          </a:p>
        </p:txBody>
      </p:sp>
      <p:sp>
        <p:nvSpPr>
          <p:cNvPr id="15" name="AutoShape 15"/>
          <p:cNvSpPr/>
          <p:nvPr/>
        </p:nvSpPr>
        <p:spPr>
          <a:xfrm>
            <a:off x="1" y="6040782"/>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16" name="Picture 16"/>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pic>
        <p:nvPicPr>
          <p:cNvPr id="5" name="E657119C-6982-421D-8BA7-E74DEB70A7D9-3"/>
          <p:cNvPicPr>
            <a:picLocks noChangeAspect="1"/>
          </p:cNvPicPr>
          <p:nvPr/>
        </p:nvPicPr>
        <p:blipFill>
          <a:blip r:embed="rId2"/>
          <a:stretch>
            <a:fillRect/>
          </a:stretch>
        </p:blipFill>
        <p:spPr>
          <a:xfrm>
            <a:off x="1220721" y="1294825"/>
            <a:ext cx="10107930" cy="1852930"/>
          </a:xfrm>
          <a:prstGeom prst="rect">
            <a:avLst/>
          </a:prstGeom>
          <a:noFill/>
          <a:ln w="12700" cap="flat" cmpd="sng">
            <a:noFill/>
            <a:prstDash val="solid"/>
            <a:round/>
          </a:ln>
        </p:spPr>
      </p:pic>
      <p:sp>
        <p:nvSpPr>
          <p:cNvPr id="7" name="文本框 6"/>
          <p:cNvSpPr txBox="1"/>
          <p:nvPr userDrawn="1"/>
        </p:nvSpPr>
        <p:spPr>
          <a:xfrm>
            <a:off x="1506220" y="3328670"/>
            <a:ext cx="9794240" cy="521970"/>
          </a:xfrm>
          <a:prstGeom prst="rect">
            <a:avLst/>
          </a:prstGeom>
        </p:spPr>
        <p:txBody>
          <a:bodyPr wrap="square" rtlCol="0">
            <a:spAutoFit/>
          </a:bodyPr>
          <a:p>
            <a:r>
              <a:rPr lang="en-US" altLang="zh-CN"/>
              <a:t>1. There may be no object or event in the receptor culture which corresponds to some referent in the source text, but the equivalent function is realized by another object or event</a:t>
            </a:r>
            <a:r>
              <a:rPr lang="zh-CN" altLang="en-US"/>
              <a:t>……</a:t>
            </a:r>
            <a:endParaRPr lang="zh-CN" altLang="en-US"/>
          </a:p>
        </p:txBody>
      </p:sp>
      <p:sp>
        <p:nvSpPr>
          <p:cNvPr id="19" name="文本框 18"/>
          <p:cNvSpPr txBox="1"/>
          <p:nvPr userDrawn="1"/>
        </p:nvSpPr>
        <p:spPr>
          <a:xfrm>
            <a:off x="1506165" y="4096645"/>
            <a:ext cx="9794240" cy="521970"/>
          </a:xfrm>
          <a:prstGeom prst="rect">
            <a:avLst/>
          </a:prstGeom>
        </p:spPr>
        <p:txBody>
          <a:bodyPr wrap="square" rtlCol="0">
            <a:spAutoFit/>
          </a:bodyPr>
          <a:p>
            <a:r>
              <a:rPr lang="en-US" altLang="zh-CN"/>
              <a:t>2. The obligatory categories of various languages give them their distinctive character, and at the same time impose serious restrictions on the extent to which corresponding expressions can be made fully equivalent</a:t>
            </a:r>
            <a:r>
              <a:rPr lang="zh-CN" altLang="en-US"/>
              <a:t>……</a:t>
            </a:r>
            <a:endParaRPr lang="zh-CN" altLang="en-US"/>
          </a:p>
        </p:txBody>
      </p:sp>
      <p:sp>
        <p:nvSpPr>
          <p:cNvPr id="21" name="文本框 20"/>
          <p:cNvSpPr txBox="1"/>
          <p:nvPr userDrawn="1"/>
        </p:nvSpPr>
        <p:spPr>
          <a:xfrm>
            <a:off x="1506165" y="4864620"/>
            <a:ext cx="9794240" cy="306705"/>
          </a:xfrm>
          <a:prstGeom prst="rect">
            <a:avLst/>
          </a:prstGeom>
        </p:spPr>
        <p:txBody>
          <a:bodyPr wrap="square" rtlCol="0">
            <a:spAutoFit/>
          </a:bodyPr>
          <a:p>
            <a:r>
              <a:rPr lang="en-US" altLang="zh-CN"/>
              <a:t>3. One must consider the rate at which the message is both transmitted and decoded</a:t>
            </a:r>
            <a:r>
              <a:rPr lang="zh-CN" altLang="en-US"/>
              <a:t>……</a:t>
            </a:r>
            <a:endParaRPr lang="zh-CN" altLang="en-US"/>
          </a:p>
        </p:txBody>
      </p:sp>
      <p:sp>
        <p:nvSpPr>
          <p:cNvPr id="22" name="上箭头 21"/>
          <p:cNvSpPr/>
          <p:nvPr userDrawn="1"/>
        </p:nvSpPr>
        <p:spPr>
          <a:xfrm>
            <a:off x="9716770" y="883920"/>
            <a:ext cx="184150" cy="415290"/>
          </a:xfrm>
          <a:prstGeom prs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
        <p:nvSpPr>
          <p:cNvPr id="23" name="文本框 22"/>
          <p:cNvSpPr txBox="1"/>
          <p:nvPr userDrawn="1"/>
        </p:nvSpPr>
        <p:spPr>
          <a:xfrm>
            <a:off x="8109766" y="469373"/>
            <a:ext cx="3398123" cy="706755"/>
          </a:xfrm>
          <a:prstGeom prst="rect">
            <a:avLst/>
          </a:prstGeom>
        </p:spPr>
        <p:txBody>
          <a:bodyPr wrap="square" rtlCol="0">
            <a:noAutofit/>
          </a:bodyPr>
          <a:p>
            <a:r>
              <a:rPr lang="en-US" altLang="zh-CN" sz="2000">
                <a:latin typeface="Times New Roman" panose="02020603050405020304" charset="0"/>
                <a:ea typeface="Times New Roman" panose="02020603050405020304" charset="0"/>
                <a:cs typeface="Times New Roman" panose="02020603050405020304" charset="0"/>
              </a:rPr>
              <a:t>Functional Equivalence (1993)</a:t>
            </a:r>
            <a:endParaRPr lang="zh-CN" altLang="en-US" sz="2000">
              <a:latin typeface="Times New Roman" panose="02020603050405020304" charset="0"/>
              <a:ea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AutoShape 4"/>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cxnSp>
        <p:nvCxnSpPr>
          <p:cNvPr id="8" name="直接箭头连接符 7"/>
          <p:cNvCxnSpPr/>
          <p:nvPr>
            <p:custDataLst>
              <p:tags r:id="rId2"/>
            </p:custDataLst>
          </p:nvPr>
        </p:nvCxnSpPr>
        <p:spPr>
          <a:xfrm flipH="1">
            <a:off x="5941013" y="2528432"/>
            <a:ext cx="3177" cy="835873"/>
          </a:xfrm>
          <a:prstGeom prst="straightConnector1">
            <a:avLst/>
          </a:prstGeom>
          <a:noFill/>
          <a:ln w="38100" cap="flat" cmpd="sng" algn="ctr">
            <a:solidFill>
              <a:srgbClr val="BABD3D"/>
            </a:solidFill>
            <a:prstDash val="solid"/>
            <a:miter lim="800000"/>
            <a:headEnd w="lg" len="lg"/>
            <a:tailEnd type="triangle"/>
          </a:ln>
          <a:effectLst/>
        </p:spPr>
      </p:cxnSp>
      <p:sp>
        <p:nvSpPr>
          <p:cNvPr id="9" name="文本框 8"/>
          <p:cNvSpPr txBox="1"/>
          <p:nvPr>
            <p:custDataLst>
              <p:tags r:id="rId3"/>
            </p:custDataLst>
          </p:nvPr>
        </p:nvSpPr>
        <p:spPr>
          <a:xfrm>
            <a:off x="4704126" y="1682271"/>
            <a:ext cx="2473773" cy="846161"/>
          </a:xfrm>
          <a:prstGeom prst="rect">
            <a:avLst/>
          </a:prstGeom>
          <a:solidFill>
            <a:srgbClr val="BABD3D"/>
          </a:solidFill>
          <a:ln w="12700" cap="flat" cmpd="sng" algn="ctr">
            <a:noFill/>
            <a:prstDash val="solid"/>
            <a:miter lim="800000"/>
          </a:ln>
          <a:effectLst/>
        </p:spPr>
        <p:txBody>
          <a:bodyPr anchor="ctr">
            <a:noAutofit/>
          </a:bodyPr>
          <a:lstStyle>
            <a:defPPr>
              <a:defRPr lang="zh-CN"/>
            </a:defPPr>
            <a:lvl1pPr algn="ctr">
              <a:defRPr>
                <a:solidFill>
                  <a:srgbClr val="FFFFFF"/>
                </a:solidFill>
                <a:latin typeface="Arial" panose="020B0604020202020204" pitchFamily="34"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r>
              <a:rPr lang="en-US" altLang="zh-CN" sz="1600" b="1">
                <a:solidFill>
                  <a:srgbClr val="FF0000"/>
                </a:solidFill>
                <a:latin typeface="Times New Roman" panose="02020603050405020304" charset="0"/>
                <a:ea typeface="Times New Roman" panose="02020603050405020304" charset="0"/>
                <a:cs typeface="Times New Roman" panose="02020603050405020304" charset="0"/>
              </a:rPr>
              <a:t>Dynamic</a:t>
            </a:r>
            <a:r>
              <a:rPr lang="en-US" altLang="zh-CN" sz="1600" b="1">
                <a:solidFill>
                  <a:srgbClr val="FFFFFF"/>
                </a:solidFill>
                <a:latin typeface="Times New Roman" panose="02020603050405020304" charset="0"/>
                <a:ea typeface="Times New Roman" panose="02020603050405020304" charset="0"/>
                <a:cs typeface="Times New Roman" panose="02020603050405020304" charset="0"/>
              </a:rPr>
              <a:t> Equivalence</a:t>
            </a:r>
            <a:endParaRPr lang="en-US" altLang="zh-CN" sz="1600" b="1">
              <a:solidFill>
                <a:srgbClr val="FFFFFF"/>
              </a:solidFill>
              <a:latin typeface="Times New Roman" panose="02020603050405020304" charset="0"/>
              <a:ea typeface="Times New Roman" panose="02020603050405020304" charset="0"/>
              <a:cs typeface="Times New Roman" panose="02020603050405020304" charset="0"/>
            </a:endParaRPr>
          </a:p>
        </p:txBody>
      </p:sp>
      <p:sp>
        <p:nvSpPr>
          <p:cNvPr id="5" name="文本框 4"/>
          <p:cNvSpPr txBox="1"/>
          <p:nvPr>
            <p:custDataLst>
              <p:tags r:id="rId4"/>
            </p:custDataLst>
          </p:nvPr>
        </p:nvSpPr>
        <p:spPr>
          <a:xfrm>
            <a:off x="4704126" y="3364305"/>
            <a:ext cx="2473773" cy="846161"/>
          </a:xfrm>
          <a:prstGeom prst="rect">
            <a:avLst/>
          </a:prstGeom>
          <a:solidFill>
            <a:srgbClr val="7DB359"/>
          </a:solidFill>
          <a:ln w="12700" cap="flat" cmpd="sng" algn="ctr">
            <a:noFill/>
            <a:prstDash val="solid"/>
            <a:miter lim="800000"/>
          </a:ln>
          <a:effectLst/>
        </p:spPr>
        <p:txBody>
          <a:bodyPr anchor="ctr">
            <a:noAutofit/>
          </a:bodyPr>
          <a:lstStyle>
            <a:defPPr>
              <a:defRPr lang="zh-CN"/>
            </a:defPPr>
            <a:lvl1pPr algn="ctr">
              <a:defRPr>
                <a:solidFill>
                  <a:srgbClr val="FFFFFF"/>
                </a:solidFill>
                <a:latin typeface="Arial" panose="020B0604020202020204" pitchFamily="34"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r>
              <a:rPr lang="en-US" altLang="zh-CN" sz="1600" b="1">
                <a:solidFill>
                  <a:srgbClr val="FFFFFF"/>
                </a:solidFill>
                <a:latin typeface="Times New Roman" panose="02020603050405020304" charset="0"/>
                <a:ea typeface="Times New Roman" panose="02020603050405020304" charset="0"/>
                <a:cs typeface="Times New Roman" panose="02020603050405020304" charset="0"/>
              </a:rPr>
              <a:t>Functional Equivalence</a:t>
            </a:r>
            <a:endParaRPr lang="en-US" altLang="zh-CN" sz="1600" b="1">
              <a:solidFill>
                <a:srgbClr val="FFFFFF"/>
              </a:solidFill>
              <a:latin typeface="Times New Roman" panose="02020603050405020304" charset="0"/>
              <a:ea typeface="Times New Roman" panose="02020603050405020304" charset="0"/>
              <a:cs typeface="Times New Roman" panose="02020603050405020304" charset="0"/>
            </a:endParaRPr>
          </a:p>
        </p:txBody>
      </p:sp>
      <p:sp>
        <p:nvSpPr>
          <p:cNvPr id="6" name="左箭头 5"/>
          <p:cNvSpPr/>
          <p:nvPr userDrawn="1"/>
        </p:nvSpPr>
        <p:spPr>
          <a:xfrm>
            <a:off x="3505200" y="2037080"/>
            <a:ext cx="968375" cy="184785"/>
          </a:xfrm>
          <a:prstGeom prst="leftArrow">
            <a:avLst/>
          </a:prstGeom>
          <a:solidFill>
            <a:srgbClr val="FF0000">
              <a:alpha val="100000"/>
            </a:srgbClr>
          </a:solidFill>
          <a:ln>
            <a:solidFill>
              <a:srgbClr val="FF0000">
                <a:alpha val="100000"/>
              </a:srgb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FF0000"/>
              </a:solidFill>
            </a:endParaRPr>
          </a:p>
        </p:txBody>
      </p:sp>
      <p:sp>
        <p:nvSpPr>
          <p:cNvPr id="11" name="文本框 10"/>
          <p:cNvSpPr txBox="1"/>
          <p:nvPr userDrawn="1"/>
        </p:nvSpPr>
        <p:spPr>
          <a:xfrm>
            <a:off x="384383" y="1558001"/>
            <a:ext cx="2890188" cy="2151752"/>
          </a:xfrm>
          <a:prstGeom prst="rect">
            <a:avLst/>
          </a:prstGeom>
        </p:spPr>
        <p:txBody>
          <a:bodyPr wrap="square" rtlCol="0">
            <a:noAutofit/>
          </a:bodyPr>
          <a:p>
            <a:r>
              <a:rPr lang="en-US" altLang="zh-CN" sz="1800">
                <a:latin typeface="Times New Roman" panose="02020603050405020304" charset="0"/>
                <a:ea typeface="Times New Roman" panose="02020603050405020304" charset="0"/>
                <a:cs typeface="Times New Roman" panose="02020603050405020304" charset="0"/>
              </a:rPr>
              <a:t>The term"dynamic"has been misunderstood by some persons as referring only to something which has impact.</a:t>
            </a:r>
            <a:endParaRPr lang="zh-CN" altLang="en-US" sz="1800">
              <a:latin typeface="Times New Roman" panose="02020603050405020304" charset="0"/>
              <a:ea typeface="Times New Roman" panose="02020603050405020304" charset="0"/>
              <a:cs typeface="Times New Roman" panose="02020603050405020304" charset="0"/>
            </a:endParaRPr>
          </a:p>
        </p:txBody>
      </p:sp>
      <p:sp>
        <p:nvSpPr>
          <p:cNvPr id="13" name="右箭头 12"/>
          <p:cNvSpPr/>
          <p:nvPr userDrawn="1"/>
        </p:nvSpPr>
        <p:spPr>
          <a:xfrm rot="19800000">
            <a:off x="7348678" y="3364270"/>
            <a:ext cx="692150" cy="18478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
        <p:nvSpPr>
          <p:cNvPr id="14" name="右箭头 13"/>
          <p:cNvSpPr/>
          <p:nvPr userDrawn="1"/>
        </p:nvSpPr>
        <p:spPr>
          <a:xfrm rot="1560000">
            <a:off x="7360427" y="3955808"/>
            <a:ext cx="692150" cy="18478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
        <p:nvSpPr>
          <p:cNvPr id="15" name="文本框 14"/>
          <p:cNvSpPr txBox="1"/>
          <p:nvPr userDrawn="1"/>
        </p:nvSpPr>
        <p:spPr>
          <a:xfrm>
            <a:off x="8058042" y="2037074"/>
            <a:ext cx="3643630" cy="1322070"/>
          </a:xfrm>
          <a:prstGeom prst="rect">
            <a:avLst/>
          </a:prstGeom>
        </p:spPr>
        <p:txBody>
          <a:bodyPr wrap="square" rtlCol="0">
            <a:spAutoFit/>
          </a:bodyPr>
          <a:p>
            <a:r>
              <a:rPr lang="en-US" altLang="zh-CN" sz="1600" b="1">
                <a:latin typeface="Times New Roman" panose="02020603050405020304" charset="0"/>
                <a:ea typeface="Times New Roman" panose="02020603050405020304" charset="0"/>
                <a:cs typeface="Times New Roman" panose="02020603050405020304" charset="0"/>
              </a:rPr>
              <a:t>A minimal</a:t>
            </a:r>
            <a:r>
              <a:rPr lang="en-US" altLang="zh-CN" sz="1600">
                <a:latin typeface="Times New Roman" panose="02020603050405020304" charset="0"/>
                <a:ea typeface="Times New Roman" panose="02020603050405020304" charset="0"/>
                <a:cs typeface="Times New Roman" panose="02020603050405020304" charset="0"/>
              </a:rPr>
              <a:t>: The readers of a translated text should be able to comprehend it to the point that they can conceive of how the original readers of the text must have understood and appreciated it.</a:t>
            </a:r>
            <a:endParaRPr lang="zh-CN" altLang="en-US" sz="1600">
              <a:latin typeface="Times New Roman" panose="02020603050405020304" charset="0"/>
              <a:ea typeface="Times New Roman" panose="02020603050405020304" charset="0"/>
              <a:cs typeface="Times New Roman" panose="02020603050405020304" charset="0"/>
            </a:endParaRPr>
          </a:p>
        </p:txBody>
      </p:sp>
      <p:sp>
        <p:nvSpPr>
          <p:cNvPr id="16" name="文本框 15"/>
          <p:cNvSpPr txBox="1"/>
          <p:nvPr userDrawn="1"/>
        </p:nvSpPr>
        <p:spPr>
          <a:xfrm>
            <a:off x="8058042" y="4210527"/>
            <a:ext cx="3643630" cy="1076325"/>
          </a:xfrm>
          <a:prstGeom prst="rect">
            <a:avLst/>
          </a:prstGeom>
        </p:spPr>
        <p:txBody>
          <a:bodyPr wrap="square" rtlCol="0">
            <a:spAutoFit/>
          </a:bodyPr>
          <a:p>
            <a:r>
              <a:rPr lang="en-US" altLang="zh-CN" sz="1600" b="1">
                <a:latin typeface="Times New Roman" panose="02020603050405020304" charset="0"/>
                <a:ea typeface="Times New Roman" panose="02020603050405020304" charset="0"/>
                <a:cs typeface="Times New Roman" panose="02020603050405020304" charset="0"/>
              </a:rPr>
              <a:t>A maximal</a:t>
            </a:r>
            <a:r>
              <a:rPr lang="en-US" altLang="zh-CN" sz="1600">
                <a:latin typeface="Times New Roman" panose="02020603050405020304" charset="0"/>
                <a:ea typeface="Times New Roman" panose="02020603050405020304" charset="0"/>
                <a:cs typeface="Times New Roman" panose="02020603050405020304" charset="0"/>
              </a:rPr>
              <a:t>: The readers of a translated text should be able to understand and appreciate it in essentially the same manner as the original readers did.</a:t>
            </a:r>
            <a:endParaRPr lang="zh-CN" altLang="en-US" sz="1600">
              <a:latin typeface="Times New Roman" panose="02020603050405020304" charset="0"/>
              <a:ea typeface="Times New Roman" panose="02020603050405020304" charset="0"/>
              <a:cs typeface="Times New Roman" panose="02020603050405020304" charset="0"/>
            </a:endParaRPr>
          </a:p>
        </p:txBody>
      </p:sp>
      <p:cxnSp>
        <p:nvCxnSpPr>
          <p:cNvPr id="20" name="曲线连接符 19"/>
          <p:cNvCxnSpPr/>
          <p:nvPr userDrawn="1"/>
        </p:nvCxnSpPr>
        <p:spPr>
          <a:xfrm rot="10800000" flipV="1">
            <a:off x="6380000" y="4912360"/>
            <a:ext cx="1492730" cy="600169"/>
          </a:xfrm>
          <a:prstGeom prst="curvedConnector3">
            <a:avLst>
              <a:gd name="adj1" fmla="val 49968"/>
            </a:avLst>
          </a:prstGeom>
          <a:ln w="19050">
            <a:tailEnd type="triangle"/>
          </a:ln>
        </p:spPr>
        <p:style>
          <a:lnRef idx="2">
            <a:schemeClr val="accent1"/>
          </a:lnRef>
          <a:fillRef idx="0">
            <a:srgbClr val="FFFFFF"/>
          </a:fillRef>
          <a:effectRef idx="0">
            <a:srgbClr val="FFFFFF"/>
          </a:effectRef>
          <a:fontRef idx="minor">
            <a:schemeClr val="tx1"/>
          </a:fontRef>
        </p:style>
      </p:cxnSp>
      <p:sp>
        <p:nvSpPr>
          <p:cNvPr id="21" name="文本框 20"/>
          <p:cNvSpPr txBox="1"/>
          <p:nvPr userDrawn="1"/>
        </p:nvSpPr>
        <p:spPr>
          <a:xfrm>
            <a:off x="260923" y="5286798"/>
            <a:ext cx="5949948" cy="521970"/>
          </a:xfrm>
          <a:prstGeom prst="rect">
            <a:avLst/>
          </a:prstGeom>
        </p:spPr>
        <p:txBody>
          <a:bodyPr wrap="square" rtlCol="0">
            <a:noAutofit/>
          </a:bodyPr>
          <a:p>
            <a:r>
              <a:rPr lang="en-US" altLang="zh-CN" sz="1600">
                <a:latin typeface="Times New Roman" panose="02020603050405020304" charset="0"/>
                <a:ea typeface="Times New Roman" panose="02020603050405020304" charset="0"/>
                <a:cs typeface="Times New Roman" panose="02020603050405020304" charset="0"/>
              </a:rPr>
              <a:t>rarely achieved, except for texts having little or no aesthetic value and involving only routine information</a:t>
            </a:r>
            <a:endParaRPr lang="zh-CN" altLang="en-US" sz="1600">
              <a:latin typeface="Times New Roman" panose="02020603050405020304" charset="0"/>
              <a:ea typeface="Times New Roman" panose="02020603050405020304" charset="0"/>
              <a:cs typeface="Times New Roman" panose="02020603050405020304" charset="0"/>
            </a:endParaRPr>
          </a:p>
        </p:txBody>
      </p:sp>
      <p:cxnSp>
        <p:nvCxnSpPr>
          <p:cNvPr id="22" name="曲线连接符 21"/>
          <p:cNvCxnSpPr/>
          <p:nvPr userDrawn="1"/>
        </p:nvCxnSpPr>
        <p:spPr>
          <a:xfrm rot="10800000">
            <a:off x="8717280" y="930275"/>
            <a:ext cx="1045210" cy="907415"/>
          </a:xfrm>
          <a:prstGeom prst="curvedConnector3">
            <a:avLst/>
          </a:prstGeom>
          <a:ln w="19050">
            <a:tailEnd type="triangle"/>
          </a:ln>
        </p:spPr>
        <p:style>
          <a:lnRef idx="2">
            <a:schemeClr val="accent1"/>
          </a:lnRef>
          <a:fillRef idx="0">
            <a:srgbClr val="FFFFFF"/>
          </a:fillRef>
          <a:effectRef idx="0">
            <a:srgbClr val="FFFFFF"/>
          </a:effectRef>
          <a:fontRef idx="minor">
            <a:schemeClr val="tx1"/>
          </a:fontRef>
        </p:style>
      </p:cxnSp>
      <p:sp>
        <p:nvSpPr>
          <p:cNvPr id="23" name="文本框 22"/>
          <p:cNvSpPr txBox="1"/>
          <p:nvPr userDrawn="1"/>
        </p:nvSpPr>
        <p:spPr>
          <a:xfrm>
            <a:off x="5641892" y="576798"/>
            <a:ext cx="6903614" cy="521970"/>
          </a:xfrm>
          <a:prstGeom prst="rect">
            <a:avLst/>
          </a:prstGeom>
        </p:spPr>
        <p:txBody>
          <a:bodyPr wrap="square" rtlCol="0">
            <a:noAutofit/>
          </a:bodyPr>
          <a:p>
            <a:r>
              <a:rPr lang="en-US" altLang="zh-CN" sz="1600">
                <a:latin typeface="Times New Roman" panose="02020603050405020304" charset="0"/>
                <a:ea typeface="Times New Roman" panose="02020603050405020304" charset="0"/>
                <a:cs typeface="Times New Roman" panose="02020603050405020304" charset="0"/>
              </a:rPr>
              <a:t>Anything less than this degree of equivalence should be unacceptable.</a:t>
            </a:r>
            <a:endParaRPr lang="zh-CN" altLang="en-US" sz="1600">
              <a:latin typeface="Times New Roman" panose="02020603050405020304" charset="0"/>
              <a:ea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
        <p:nvSpPr>
          <p:cNvPr id="3" name="AutoShape 3"/>
          <p:cNvSpPr/>
          <p:nvPr/>
        </p:nvSpPr>
        <p:spPr>
          <a:xfrm>
            <a:off x="0" y="2276872"/>
            <a:ext cx="3264363" cy="2688299"/>
          </a:xfrm>
          <a:prstGeom prst="roundRect">
            <a:avLst>
              <a:gd name="adj" fmla="val 0"/>
            </a:avLst>
          </a:prstGeom>
          <a:gradFill rotWithShape="1">
            <a:gsLst>
              <a:gs pos="0">
                <a:schemeClr val="phClr">
                  <a:tint val="100000"/>
                  <a:shade val="100000"/>
                  <a:satMod val="130000"/>
                </a:schemeClr>
              </a:gs>
              <a:gs pos="100000">
                <a:schemeClr val="phClr">
                  <a:tint val="50000"/>
                  <a:shade val="100000"/>
                  <a:satMod val="350000"/>
                </a:schemeClr>
              </a:gs>
            </a:gsLst>
            <a:lin ang="16200000" scaled="0"/>
          </a:gradFill>
        </p:spPr>
        <p:style>
          <a:lnRef idx="0">
            <a:srgbClr val="FFFFFF"/>
          </a:lnRef>
          <a:fillRef idx="3">
            <a:prstClr val="black"/>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marL="0" marR="0" lvl="0" indent="0" algn="ctr" rtl="0">
              <a:lnSpc>
                <a:spcPct val="100000"/>
              </a:lnSpc>
              <a:spcBef>
                <a:spcPts val="0"/>
              </a:spcBef>
              <a:spcAft>
                <a:spcPts val="0"/>
              </a:spcAft>
              <a:buClr>
                <a:srgbClr val="000000"/>
              </a:buClr>
              <a:buSzTx/>
              <a:buNone/>
            </a:pPr>
            <a:endParaRPr>
              <a:solidFill>
                <a:schemeClr val="tx1"/>
              </a:solidFill>
            </a:endParaRPr>
          </a:p>
        </p:txBody>
      </p:sp>
      <p:sp>
        <p:nvSpPr>
          <p:cNvPr id="6" name="Freeform 6"/>
          <p:cNvSpPr/>
          <p:nvPr/>
        </p:nvSpPr>
        <p:spPr>
          <a:xfrm>
            <a:off x="7724670" y="2590330"/>
            <a:ext cx="319157" cy="333690"/>
          </a:xfrm>
          <a:custGeom>
            <a:avLst/>
            <a:gdLst/>
            <a:ahLst/>
            <a:cxnLst/>
            <a:rect l="l" t="t" r="r" b="b"/>
            <a:pathLst>
              <a:path w="319157" h="333690">
                <a:moveTo>
                  <a:pt x="311454" y="287039"/>
                </a:moveTo>
                <a:lnTo>
                  <a:pt x="311454" y="287039"/>
                </a:lnTo>
                <a:cubicBezTo>
                  <a:pt x="272383" y="326006"/>
                  <a:pt x="272383" y="326006"/>
                  <a:pt x="272383" y="326006"/>
                </a:cubicBezTo>
                <a:cubicBezTo>
                  <a:pt x="268531" y="329848"/>
                  <a:pt x="264679" y="333690"/>
                  <a:pt x="260828" y="333690"/>
                </a:cubicBezTo>
                <a:cubicBezTo>
                  <a:pt x="256976" y="333690"/>
                  <a:pt x="253124" y="329848"/>
                  <a:pt x="249272" y="326006"/>
                </a:cubicBezTo>
                <a:cubicBezTo>
                  <a:pt x="229462" y="306249"/>
                  <a:pt x="229462" y="306249"/>
                  <a:pt x="229462" y="306249"/>
                </a:cubicBezTo>
                <a:cubicBezTo>
                  <a:pt x="225610" y="302407"/>
                  <a:pt x="225610" y="298564"/>
                  <a:pt x="225610" y="294723"/>
                </a:cubicBezTo>
                <a:cubicBezTo>
                  <a:pt x="225610" y="287039"/>
                  <a:pt x="229462" y="279356"/>
                  <a:pt x="241569" y="279356"/>
                </a:cubicBezTo>
                <a:cubicBezTo>
                  <a:pt x="245421" y="279356"/>
                  <a:pt x="249272" y="283197"/>
                  <a:pt x="249272" y="287039"/>
                </a:cubicBezTo>
                <a:cubicBezTo>
                  <a:pt x="260828" y="294723"/>
                  <a:pt x="260828" y="294723"/>
                  <a:pt x="260828" y="294723"/>
                </a:cubicBezTo>
                <a:cubicBezTo>
                  <a:pt x="291643" y="263989"/>
                  <a:pt x="291643" y="263989"/>
                  <a:pt x="291643" y="263989"/>
                </a:cubicBezTo>
                <a:cubicBezTo>
                  <a:pt x="295495" y="260147"/>
                  <a:pt x="299898" y="260147"/>
                  <a:pt x="303750" y="260147"/>
                </a:cubicBezTo>
                <a:cubicBezTo>
                  <a:pt x="311454" y="260147"/>
                  <a:pt x="319157" y="267830"/>
                  <a:pt x="319157" y="275514"/>
                </a:cubicBezTo>
                <a:cubicBezTo>
                  <a:pt x="319157" y="279356"/>
                  <a:pt x="315305" y="283197"/>
                  <a:pt x="311454" y="287039"/>
                </a:cubicBezTo>
                <a:close/>
                <a:moveTo>
                  <a:pt x="260828" y="271672"/>
                </a:moveTo>
                <a:lnTo>
                  <a:pt x="260828" y="271672"/>
                </a:lnTo>
                <a:cubicBezTo>
                  <a:pt x="256976" y="267830"/>
                  <a:pt x="249272" y="263989"/>
                  <a:pt x="241569" y="263989"/>
                </a:cubicBezTo>
                <a:cubicBezTo>
                  <a:pt x="221759" y="263989"/>
                  <a:pt x="210203" y="279356"/>
                  <a:pt x="210203" y="294723"/>
                </a:cubicBezTo>
                <a:cubicBezTo>
                  <a:pt x="210203" y="306249"/>
                  <a:pt x="214055" y="314481"/>
                  <a:pt x="217907" y="318323"/>
                </a:cubicBezTo>
                <a:cubicBezTo>
                  <a:pt x="233314" y="333690"/>
                  <a:pt x="233314" y="333690"/>
                  <a:pt x="233314" y="333690"/>
                </a:cubicBezTo>
                <a:cubicBezTo>
                  <a:pt x="15958" y="333690"/>
                  <a:pt x="15958" y="333690"/>
                  <a:pt x="15958" y="333690"/>
                </a:cubicBezTo>
                <a:cubicBezTo>
                  <a:pt x="8254" y="333690"/>
                  <a:pt x="0" y="326006"/>
                  <a:pt x="0" y="318323"/>
                </a:cubicBezTo>
                <a:cubicBezTo>
                  <a:pt x="0" y="46651"/>
                  <a:pt x="0" y="46651"/>
                  <a:pt x="0" y="46651"/>
                </a:cubicBezTo>
                <a:cubicBezTo>
                  <a:pt x="0" y="38967"/>
                  <a:pt x="8254" y="30734"/>
                  <a:pt x="15958" y="30734"/>
                </a:cubicBezTo>
                <a:cubicBezTo>
                  <a:pt x="42921" y="30734"/>
                  <a:pt x="42921" y="30734"/>
                  <a:pt x="42921" y="30734"/>
                </a:cubicBezTo>
                <a:cubicBezTo>
                  <a:pt x="42921" y="46651"/>
                  <a:pt x="42921" y="46651"/>
                  <a:pt x="42921" y="46651"/>
                </a:cubicBezTo>
                <a:cubicBezTo>
                  <a:pt x="42921" y="65860"/>
                  <a:pt x="58329" y="77385"/>
                  <a:pt x="74286" y="77385"/>
                </a:cubicBezTo>
                <a:cubicBezTo>
                  <a:pt x="89694" y="77385"/>
                  <a:pt x="105101" y="65860"/>
                  <a:pt x="105101" y="46651"/>
                </a:cubicBezTo>
                <a:cubicBezTo>
                  <a:pt x="105101" y="30734"/>
                  <a:pt x="105101" y="30734"/>
                  <a:pt x="105101" y="30734"/>
                </a:cubicBezTo>
                <a:cubicBezTo>
                  <a:pt x="120509" y="30734"/>
                  <a:pt x="120509" y="30734"/>
                  <a:pt x="120509" y="30734"/>
                </a:cubicBezTo>
                <a:cubicBezTo>
                  <a:pt x="120509" y="46651"/>
                  <a:pt x="120509" y="46651"/>
                  <a:pt x="120509" y="46651"/>
                </a:cubicBezTo>
                <a:cubicBezTo>
                  <a:pt x="120509" y="65860"/>
                  <a:pt x="136467" y="77385"/>
                  <a:pt x="151874" y="77385"/>
                </a:cubicBezTo>
                <a:cubicBezTo>
                  <a:pt x="167282" y="77385"/>
                  <a:pt x="183239" y="65860"/>
                  <a:pt x="183239" y="46651"/>
                </a:cubicBezTo>
                <a:cubicBezTo>
                  <a:pt x="183239" y="30734"/>
                  <a:pt x="183239" y="30734"/>
                  <a:pt x="183239" y="30734"/>
                </a:cubicBezTo>
                <a:cubicBezTo>
                  <a:pt x="198647" y="30734"/>
                  <a:pt x="198647" y="30734"/>
                  <a:pt x="198647" y="30734"/>
                </a:cubicBezTo>
                <a:cubicBezTo>
                  <a:pt x="198647" y="46651"/>
                  <a:pt x="198647" y="46651"/>
                  <a:pt x="198647" y="46651"/>
                </a:cubicBezTo>
                <a:cubicBezTo>
                  <a:pt x="198647" y="65860"/>
                  <a:pt x="214055" y="77385"/>
                  <a:pt x="229462" y="77385"/>
                </a:cubicBezTo>
                <a:cubicBezTo>
                  <a:pt x="245421" y="77385"/>
                  <a:pt x="260828" y="65860"/>
                  <a:pt x="260828" y="46651"/>
                </a:cubicBezTo>
                <a:cubicBezTo>
                  <a:pt x="260828" y="30734"/>
                  <a:pt x="260828" y="30734"/>
                  <a:pt x="260828" y="30734"/>
                </a:cubicBezTo>
                <a:cubicBezTo>
                  <a:pt x="287791" y="30734"/>
                  <a:pt x="287791" y="30734"/>
                  <a:pt x="287791" y="30734"/>
                </a:cubicBezTo>
                <a:cubicBezTo>
                  <a:pt x="295495" y="30734"/>
                  <a:pt x="303750" y="38967"/>
                  <a:pt x="303750" y="46651"/>
                </a:cubicBezTo>
                <a:cubicBezTo>
                  <a:pt x="303750" y="244230"/>
                  <a:pt x="303750" y="244230"/>
                  <a:pt x="303750" y="244230"/>
                </a:cubicBezTo>
                <a:cubicBezTo>
                  <a:pt x="291643" y="244230"/>
                  <a:pt x="283939" y="248073"/>
                  <a:pt x="280087" y="252463"/>
                </a:cubicBezTo>
                <a:lnTo>
                  <a:pt x="260828" y="271672"/>
                </a:lnTo>
                <a:close/>
                <a:moveTo>
                  <a:pt x="42921" y="267830"/>
                </a:moveTo>
                <a:lnTo>
                  <a:pt x="42921" y="267830"/>
                </a:lnTo>
                <a:cubicBezTo>
                  <a:pt x="42921" y="275514"/>
                  <a:pt x="46773" y="279356"/>
                  <a:pt x="54477" y="279356"/>
                </a:cubicBezTo>
                <a:cubicBezTo>
                  <a:pt x="155726" y="279356"/>
                  <a:pt x="155726" y="279356"/>
                  <a:pt x="155726" y="279356"/>
                </a:cubicBezTo>
                <a:cubicBezTo>
                  <a:pt x="163430" y="279356"/>
                  <a:pt x="167282" y="275514"/>
                  <a:pt x="167282" y="267830"/>
                </a:cubicBezTo>
                <a:cubicBezTo>
                  <a:pt x="167282" y="260147"/>
                  <a:pt x="163430" y="256305"/>
                  <a:pt x="155726" y="256305"/>
                </a:cubicBezTo>
                <a:cubicBezTo>
                  <a:pt x="54477" y="256305"/>
                  <a:pt x="54477" y="256305"/>
                  <a:pt x="54477" y="256305"/>
                </a:cubicBezTo>
                <a:cubicBezTo>
                  <a:pt x="46773" y="256305"/>
                  <a:pt x="42921" y="260147"/>
                  <a:pt x="42921" y="267830"/>
                </a:cubicBezTo>
                <a:close/>
                <a:moveTo>
                  <a:pt x="245421" y="120194"/>
                </a:moveTo>
                <a:lnTo>
                  <a:pt x="245421" y="120194"/>
                </a:lnTo>
                <a:cubicBezTo>
                  <a:pt x="58329" y="120194"/>
                  <a:pt x="58329" y="120194"/>
                  <a:pt x="58329" y="120194"/>
                </a:cubicBezTo>
                <a:cubicBezTo>
                  <a:pt x="50625" y="120194"/>
                  <a:pt x="42921" y="127878"/>
                  <a:pt x="42921" y="135561"/>
                </a:cubicBezTo>
                <a:cubicBezTo>
                  <a:pt x="42921" y="143794"/>
                  <a:pt x="50625" y="151478"/>
                  <a:pt x="58329" y="151478"/>
                </a:cubicBezTo>
                <a:cubicBezTo>
                  <a:pt x="245421" y="151478"/>
                  <a:pt x="245421" y="151478"/>
                  <a:pt x="245421" y="151478"/>
                </a:cubicBezTo>
                <a:cubicBezTo>
                  <a:pt x="253124" y="151478"/>
                  <a:pt x="260828" y="143794"/>
                  <a:pt x="260828" y="135561"/>
                </a:cubicBezTo>
                <a:cubicBezTo>
                  <a:pt x="260828" y="127878"/>
                  <a:pt x="253124" y="120194"/>
                  <a:pt x="245421" y="120194"/>
                </a:cubicBezTo>
                <a:close/>
                <a:moveTo>
                  <a:pt x="245421" y="186054"/>
                </a:moveTo>
                <a:lnTo>
                  <a:pt x="245421" y="186054"/>
                </a:lnTo>
                <a:cubicBezTo>
                  <a:pt x="151874" y="186054"/>
                  <a:pt x="151874" y="186054"/>
                  <a:pt x="151874" y="186054"/>
                </a:cubicBezTo>
                <a:cubicBezTo>
                  <a:pt x="124361" y="186054"/>
                  <a:pt x="124361" y="186054"/>
                  <a:pt x="124361" y="186054"/>
                </a:cubicBezTo>
                <a:cubicBezTo>
                  <a:pt x="58329" y="186054"/>
                  <a:pt x="58329" y="186054"/>
                  <a:pt x="58329" y="186054"/>
                </a:cubicBezTo>
                <a:cubicBezTo>
                  <a:pt x="50625" y="186054"/>
                  <a:pt x="42921" y="193738"/>
                  <a:pt x="42921" y="201422"/>
                </a:cubicBezTo>
                <a:cubicBezTo>
                  <a:pt x="42921" y="213496"/>
                  <a:pt x="50625" y="217338"/>
                  <a:pt x="58329" y="217338"/>
                </a:cubicBezTo>
                <a:cubicBezTo>
                  <a:pt x="124361" y="217338"/>
                  <a:pt x="124361" y="217338"/>
                  <a:pt x="124361" y="217338"/>
                </a:cubicBezTo>
                <a:cubicBezTo>
                  <a:pt x="151874" y="217338"/>
                  <a:pt x="151874" y="217338"/>
                  <a:pt x="151874" y="217338"/>
                </a:cubicBezTo>
                <a:cubicBezTo>
                  <a:pt x="245421" y="217338"/>
                  <a:pt x="245421" y="217338"/>
                  <a:pt x="245421" y="217338"/>
                </a:cubicBezTo>
                <a:cubicBezTo>
                  <a:pt x="253124" y="217338"/>
                  <a:pt x="260828" y="213496"/>
                  <a:pt x="260828" y="201422"/>
                </a:cubicBezTo>
                <a:cubicBezTo>
                  <a:pt x="260828" y="193738"/>
                  <a:pt x="253124" y="186054"/>
                  <a:pt x="245421" y="186054"/>
                </a:cubicBezTo>
                <a:close/>
                <a:moveTo>
                  <a:pt x="229462" y="62018"/>
                </a:moveTo>
                <a:lnTo>
                  <a:pt x="229462" y="62018"/>
                </a:lnTo>
                <a:cubicBezTo>
                  <a:pt x="221759" y="62018"/>
                  <a:pt x="214055" y="58176"/>
                  <a:pt x="214055" y="46651"/>
                </a:cubicBezTo>
                <a:cubicBezTo>
                  <a:pt x="214055" y="15367"/>
                  <a:pt x="214055" y="15367"/>
                  <a:pt x="214055" y="15367"/>
                </a:cubicBezTo>
                <a:cubicBezTo>
                  <a:pt x="214055" y="7683"/>
                  <a:pt x="221759" y="0"/>
                  <a:pt x="229462" y="0"/>
                </a:cubicBezTo>
                <a:cubicBezTo>
                  <a:pt x="237166" y="0"/>
                  <a:pt x="245421" y="7683"/>
                  <a:pt x="245421" y="15367"/>
                </a:cubicBezTo>
                <a:cubicBezTo>
                  <a:pt x="245421" y="46651"/>
                  <a:pt x="245421" y="46651"/>
                  <a:pt x="245421" y="46651"/>
                </a:cubicBezTo>
                <a:cubicBezTo>
                  <a:pt x="245421" y="58176"/>
                  <a:pt x="237166" y="62018"/>
                  <a:pt x="229462" y="62018"/>
                </a:cubicBezTo>
                <a:close/>
                <a:moveTo>
                  <a:pt x="151874" y="62018"/>
                </a:moveTo>
                <a:lnTo>
                  <a:pt x="151874" y="62018"/>
                </a:lnTo>
                <a:cubicBezTo>
                  <a:pt x="144170" y="62018"/>
                  <a:pt x="136467" y="58176"/>
                  <a:pt x="136467" y="46651"/>
                </a:cubicBezTo>
                <a:cubicBezTo>
                  <a:pt x="136467" y="15367"/>
                  <a:pt x="136467" y="15367"/>
                  <a:pt x="136467" y="15367"/>
                </a:cubicBezTo>
                <a:cubicBezTo>
                  <a:pt x="136467" y="7683"/>
                  <a:pt x="144170" y="0"/>
                  <a:pt x="151874" y="0"/>
                </a:cubicBezTo>
                <a:cubicBezTo>
                  <a:pt x="159578" y="0"/>
                  <a:pt x="167282" y="7683"/>
                  <a:pt x="167282" y="15367"/>
                </a:cubicBezTo>
                <a:cubicBezTo>
                  <a:pt x="167282" y="46651"/>
                  <a:pt x="167282" y="46651"/>
                  <a:pt x="167282" y="46651"/>
                </a:cubicBezTo>
                <a:cubicBezTo>
                  <a:pt x="167282" y="58176"/>
                  <a:pt x="159578" y="62018"/>
                  <a:pt x="151874" y="62018"/>
                </a:cubicBezTo>
                <a:close/>
                <a:moveTo>
                  <a:pt x="74286" y="62018"/>
                </a:moveTo>
                <a:lnTo>
                  <a:pt x="74286" y="62018"/>
                </a:lnTo>
                <a:cubicBezTo>
                  <a:pt x="66582" y="62018"/>
                  <a:pt x="58329" y="58176"/>
                  <a:pt x="58329" y="46651"/>
                </a:cubicBezTo>
                <a:cubicBezTo>
                  <a:pt x="58329" y="15367"/>
                  <a:pt x="58329" y="15367"/>
                  <a:pt x="58329" y="15367"/>
                </a:cubicBezTo>
                <a:cubicBezTo>
                  <a:pt x="58329" y="7683"/>
                  <a:pt x="66582" y="0"/>
                  <a:pt x="74286" y="0"/>
                </a:cubicBezTo>
                <a:cubicBezTo>
                  <a:pt x="81990" y="0"/>
                  <a:pt x="89694" y="7683"/>
                  <a:pt x="89694" y="15367"/>
                </a:cubicBezTo>
                <a:cubicBezTo>
                  <a:pt x="89694" y="46651"/>
                  <a:pt x="89694" y="46651"/>
                  <a:pt x="89694" y="46651"/>
                </a:cubicBezTo>
                <a:cubicBezTo>
                  <a:pt x="89694" y="58176"/>
                  <a:pt x="81990" y="62018"/>
                  <a:pt x="74286" y="62018"/>
                </a:cubicBezTo>
                <a:close/>
              </a:path>
            </a:pathLst>
          </a:custGeom>
          <a:solidFill>
            <a:srgbClr val="FFFFFF">
              <a:alpha val="100000"/>
            </a:srgbClr>
          </a:solidFill>
          <a:ln w="25400" cap="flat" cmpd="sng">
            <a:noFill/>
            <a:prstDash val="solid"/>
            <a:round/>
          </a:ln>
        </p:spPr>
        <p:txBody>
          <a:bodyPr vert="horz" wrap="none" lIns="45720" tIns="22860" rIns="45720" bIns="22860" rtlCol="0" anchor="ctr" anchorCtr="0"/>
          <a:lstStyle/>
          <a:p>
            <a:pPr algn="l">
              <a:defRPr/>
            </a:pPr>
          </a:p>
        </p:txBody>
      </p:sp>
      <p:sp>
        <p:nvSpPr>
          <p:cNvPr id="15" name="AutoShape 15"/>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16" name="Picture 16"/>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17" name="AutoShape 17"/>
          <p:cNvSpPr/>
          <p:nvPr/>
        </p:nvSpPr>
        <p:spPr>
          <a:xfrm>
            <a:off x="847611" y="2835811"/>
            <a:ext cx="1627369" cy="1569660"/>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sz="96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05</a:t>
            </a:r>
            <a:endParaRPr lang="en-US" sz="1100"/>
          </a:p>
        </p:txBody>
      </p:sp>
      <p:sp>
        <p:nvSpPr>
          <p:cNvPr id="18" name="AutoShape 18"/>
          <p:cNvSpPr/>
          <p:nvPr/>
        </p:nvSpPr>
        <p:spPr>
          <a:xfrm>
            <a:off x="3994571" y="3297895"/>
            <a:ext cx="6723633" cy="646331"/>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altLang="zh-CN" sz="3600" b="1">
                <a:solidFill>
                  <a:srgbClr val="404040"/>
                </a:solidFill>
                <a:latin typeface="Noto Sans SC" panose="020B0500000000000000" charset="-122"/>
                <a:ea typeface="Noto Sans SC" panose="020B0500000000000000" charset="-122"/>
                <a:cs typeface="微软雅黑" panose="020B0503020204020204" charset="-122"/>
                <a:sym typeface="微软雅黑" panose="020B0503020204020204" charset="-122"/>
              </a:rPr>
              <a:t>Critical R</a:t>
            </a:r>
            <a:r>
              <a:rPr lang="en-US" altLang="zh-CN" sz="3600" b="1">
                <a:solidFill>
                  <a:srgbClr val="404040"/>
                </a:solidFill>
                <a:latin typeface="Noto Sans SC" panose="020B0500000000000000" charset="-122"/>
                <a:ea typeface="Noto Sans SC" panose="020B0500000000000000" charset="-122"/>
                <a:sym typeface="微软雅黑" panose="020B0503020204020204" charset="-122"/>
              </a:rPr>
              <a:t>eception</a:t>
            </a:r>
            <a:r>
              <a:rPr lang="en-US" sz="3600" b="1">
                <a:solidFill>
                  <a:srgbClr val="404040"/>
                </a:solidFill>
                <a:latin typeface="Noto Sans SC" panose="020B0500000000000000" charset="-122"/>
                <a:ea typeface="Noto Sans SC" panose="020B0500000000000000" charset="-122"/>
                <a:cs typeface="微软雅黑" panose="020B0503020204020204" charset="-122"/>
                <a:sym typeface="微软雅黑" panose="020B0503020204020204" charset="-122"/>
              </a:rPr>
              <a:t> &amp; Legacy</a:t>
            </a:r>
            <a:endParaRPr lang="en-US" sz="3600" b="1">
              <a:solidFill>
                <a:srgbClr val="404040"/>
              </a:solidFill>
              <a:latin typeface="Noto Sans SC" panose="020B0500000000000000" charset="-122"/>
              <a:ea typeface="Noto Sans SC" panose="020B0500000000000000"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AutoShape 4"/>
          <p:cNvSpPr/>
          <p:nvPr>
            <p:custDataLst>
              <p:tags r:id="rId2"/>
            </p:custDataLst>
          </p:nvPr>
        </p:nvSpPr>
        <p:spPr>
          <a:xfrm>
            <a:off x="2940854" y="1975089"/>
            <a:ext cx="2442787" cy="345721"/>
          </a:xfrm>
          <a:prstGeom prst="rect">
            <a:avLst/>
          </a:prstGeom>
          <a:noFill/>
          <a:ln w="12700" cap="flat" cmpd="sng">
            <a:noFill/>
            <a:prstDash val="solid"/>
            <a:round/>
          </a:ln>
        </p:spPr>
        <p:txBody>
          <a:bodyPr vert="horz" wrap="square" lIns="68580" tIns="34290" rIns="68580" bIns="34290" rtlCol="0" anchor="t" anchorCtr="0"/>
          <a:lstStyle/>
          <a:p>
            <a:pPr marL="0" indent="0" algn="l">
              <a:lnSpc>
                <a:spcPct val="142000"/>
              </a:lnSpc>
              <a:spcBef>
                <a:spcPct val="20000"/>
              </a:spcBef>
              <a:defRPr/>
            </a:pPr>
            <a:r>
              <a:rPr lang="en-US" sz="1600" b="1" i="0" u="none" strike="noStrike">
                <a:solidFill>
                  <a:srgbClr val="404040"/>
                </a:solidFill>
                <a:latin typeface="Noto Sans SC" panose="020B0500000000000000" charset="-122"/>
                <a:ea typeface="Noto Sans SC" panose="020B0500000000000000" charset="-122"/>
                <a:cs typeface="Noto Sans SC" panose="020B0500000000000000" charset="-122"/>
                <a:sym typeface="Noto Sans SC" panose="020B0500000000000000" charset="-122"/>
              </a:rPr>
              <a:t>Lefevere (1993)</a:t>
            </a:r>
            <a:endParaRPr lang="en-US" sz="1100"/>
          </a:p>
        </p:txBody>
      </p:sp>
      <p:sp>
        <p:nvSpPr>
          <p:cNvPr id="5" name="AutoShape 5"/>
          <p:cNvSpPr/>
          <p:nvPr>
            <p:custDataLst>
              <p:tags r:id="rId3"/>
            </p:custDataLst>
          </p:nvPr>
        </p:nvSpPr>
        <p:spPr>
          <a:xfrm>
            <a:off x="2940852" y="2352696"/>
            <a:ext cx="3251051" cy="1110039"/>
          </a:xfrm>
          <a:prstGeom prst="rect">
            <a:avLst/>
          </a:prstGeom>
          <a:noFill/>
          <a:ln w="12700" cap="flat" cmpd="sng">
            <a:noFill/>
            <a:prstDash val="solid"/>
            <a:round/>
          </a:ln>
        </p:spPr>
        <p:txBody>
          <a:bodyPr vert="horz" wrap="square" lIns="68580" tIns="34290" rIns="68580" bIns="34290" rtlCol="0" anchor="t" anchorCtr="0"/>
          <a:lstStyle/>
          <a:p>
            <a:pPr marL="0" indent="0" algn="l">
              <a:lnSpc>
                <a:spcPct val="117000"/>
              </a:lnSpc>
              <a:defRPr/>
            </a:pPr>
            <a:r>
              <a:rPr lang="en-US" sz="1050" b="0" i="0" u="none" strike="noStrike">
                <a:solidFill>
                  <a:srgbClr val="404040"/>
                </a:solidFill>
                <a:latin typeface="Noto Sans SC" panose="020B0500000000000000" charset="-122"/>
                <a:ea typeface="Noto Sans SC" panose="020B0500000000000000" charset="-122"/>
                <a:cs typeface="Noto Sans SC" panose="020B0500000000000000" charset="-122"/>
                <a:sym typeface="Noto Sans SC" panose="020B0500000000000000" charset="-122"/>
              </a:rPr>
              <a:t>Andre Lefevere feels equivalence is still overly concerned with the word level, arguing Nida approach does not account for broader cultural and ideological forces shaping translation.</a:t>
            </a:r>
            <a:endParaRPr lang="en-US" sz="1100"/>
          </a:p>
        </p:txBody>
      </p:sp>
      <p:sp>
        <p:nvSpPr>
          <p:cNvPr id="6" name="AutoShape 6"/>
          <p:cNvSpPr/>
          <p:nvPr>
            <p:custDataLst>
              <p:tags r:id="rId4"/>
            </p:custDataLst>
          </p:nvPr>
        </p:nvSpPr>
        <p:spPr>
          <a:xfrm>
            <a:off x="2940685" y="4008755"/>
            <a:ext cx="3359785" cy="345440"/>
          </a:xfrm>
          <a:prstGeom prst="rect">
            <a:avLst/>
          </a:prstGeom>
          <a:noFill/>
          <a:ln w="12700" cap="flat" cmpd="sng">
            <a:noFill/>
            <a:prstDash val="solid"/>
            <a:round/>
          </a:ln>
        </p:spPr>
        <p:txBody>
          <a:bodyPr vert="horz" wrap="square" lIns="68580" tIns="34290" rIns="68580" bIns="34290" rtlCol="0" anchor="t" anchorCtr="0"/>
          <a:lstStyle/>
          <a:p>
            <a:pPr marL="0" indent="0" algn="l">
              <a:lnSpc>
                <a:spcPct val="142000"/>
              </a:lnSpc>
              <a:spcBef>
                <a:spcPct val="20000"/>
              </a:spcBef>
              <a:defRPr/>
            </a:pPr>
            <a:r>
              <a:rPr lang="en-US" sz="1600" b="1" i="0" u="none" strike="noStrike">
                <a:solidFill>
                  <a:srgbClr val="404040"/>
                </a:solidFill>
                <a:latin typeface="Noto Sans SC" panose="020B0500000000000000" charset="-122"/>
                <a:ea typeface="Noto Sans SC" panose="020B0500000000000000" charset="-122"/>
                <a:cs typeface="Noto Sans SC" panose="020B0500000000000000" charset="-122"/>
                <a:sym typeface="Noto Sans SC" panose="020B0500000000000000" charset="-122"/>
              </a:rPr>
              <a:t>van den Broeck and Larose</a:t>
            </a:r>
            <a:endParaRPr lang="en-US" sz="1100"/>
          </a:p>
        </p:txBody>
      </p:sp>
      <p:sp>
        <p:nvSpPr>
          <p:cNvPr id="7" name="AutoShape 7"/>
          <p:cNvSpPr/>
          <p:nvPr>
            <p:custDataLst>
              <p:tags r:id="rId5"/>
            </p:custDataLst>
          </p:nvPr>
        </p:nvSpPr>
        <p:spPr>
          <a:xfrm>
            <a:off x="2940852" y="4404286"/>
            <a:ext cx="3251051" cy="1110039"/>
          </a:xfrm>
          <a:prstGeom prst="rect">
            <a:avLst/>
          </a:prstGeom>
          <a:noFill/>
          <a:ln w="12700" cap="flat" cmpd="sng">
            <a:noFill/>
            <a:prstDash val="solid"/>
            <a:round/>
          </a:ln>
        </p:spPr>
        <p:txBody>
          <a:bodyPr vert="horz" wrap="square" lIns="68580" tIns="34290" rIns="68580" bIns="34290" rtlCol="0" anchor="t" anchorCtr="0"/>
          <a:lstStyle/>
          <a:p>
            <a:pPr marL="0" indent="0" algn="l">
              <a:lnSpc>
                <a:spcPct val="117000"/>
              </a:lnSpc>
              <a:defRPr/>
            </a:pPr>
            <a:r>
              <a:rPr lang="en-US" sz="1050" b="0" i="0" u="none" strike="noStrike">
                <a:solidFill>
                  <a:srgbClr val="404040"/>
                </a:solidFill>
                <a:latin typeface="Noto Sans SC" panose="020B0500000000000000" charset="-122"/>
                <a:ea typeface="Noto Sans SC" panose="020B0500000000000000" charset="-122"/>
                <a:cs typeface="Noto Sans SC" panose="020B0500000000000000" charset="-122"/>
                <a:sym typeface="Noto Sans SC" panose="020B0500000000000000" charset="-122"/>
              </a:rPr>
              <a:t>Van den Broeck (1978) and Larose (1989) consider equivalent effect impossible. They ask: how is the effect measured and on whom? How can a text have the same effect in two cultures?</a:t>
            </a:r>
            <a:endParaRPr lang="en-US" sz="1100"/>
          </a:p>
        </p:txBody>
      </p:sp>
      <p:sp>
        <p:nvSpPr>
          <p:cNvPr id="8" name="AutoShape 8"/>
          <p:cNvSpPr/>
          <p:nvPr>
            <p:custDataLst>
              <p:tags r:id="rId6"/>
            </p:custDataLst>
          </p:nvPr>
        </p:nvSpPr>
        <p:spPr>
          <a:xfrm>
            <a:off x="2135699" y="2100517"/>
            <a:ext cx="737219" cy="737219"/>
          </a:xfrm>
          <a:prstGeom prst="teardrop">
            <a:avLst>
              <a:gd name="adj" fmla="val 100000"/>
            </a:avLst>
          </a:prstGeom>
          <a:solidFill>
            <a:srgbClr val="404040">
              <a:alpha val="100000"/>
            </a:srgbClr>
          </a:solidFill>
          <a:ln w="25400" cap="flat" cmpd="sng">
            <a:noFill/>
            <a:prstDash val="solid"/>
            <a:round/>
          </a:ln>
        </p:spPr>
        <p:txBody>
          <a:bodyPr vert="horz" wrap="square" lIns="91440" tIns="45720" rIns="91440" bIns="45720" rtlCol="0" anchor="ctr" anchorCtr="0"/>
          <a:lstStyle/>
          <a:p>
            <a:pPr algn="ctr">
              <a:defRPr/>
            </a:pPr>
            <a:r>
              <a:rPr lang="en-US" altLang="zh-CN" sz="3200" b="1">
                <a:solidFill>
                  <a:schemeClr val="bg1"/>
                </a:solidFill>
                <a:latin typeface="Times New Roman" panose="02020603050405020304" charset="0"/>
                <a:ea typeface="Times New Roman" panose="02020603050405020304" charset="0"/>
                <a:cs typeface="Times New Roman" panose="02020603050405020304" charset="0"/>
              </a:rPr>
              <a:t>1</a:t>
            </a:r>
            <a:endParaRPr sz="3200" b="1">
              <a:solidFill>
                <a:schemeClr val="bg1"/>
              </a:solidFill>
              <a:latin typeface="Times New Roman" panose="02020603050405020304" charset="0"/>
              <a:ea typeface="Times New Roman" panose="02020603050405020304" charset="0"/>
              <a:cs typeface="Times New Roman" panose="02020603050405020304" charset="0"/>
            </a:endParaRPr>
          </a:p>
        </p:txBody>
      </p:sp>
      <p:sp>
        <p:nvSpPr>
          <p:cNvPr id="13" name="AutoShape 13"/>
          <p:cNvSpPr/>
          <p:nvPr>
            <p:custDataLst>
              <p:tags r:id="rId7"/>
            </p:custDataLst>
          </p:nvPr>
        </p:nvSpPr>
        <p:spPr>
          <a:xfrm>
            <a:off x="2135699" y="4126624"/>
            <a:ext cx="737219" cy="737219"/>
          </a:xfrm>
          <a:prstGeom prst="teardrop">
            <a:avLst>
              <a:gd name="adj" fmla="val 100000"/>
            </a:avLst>
          </a:prstGeom>
          <a:solidFill>
            <a:srgbClr val="404040">
              <a:alpha val="100000"/>
            </a:srgbClr>
          </a:solidFill>
          <a:ln w="25400" cap="flat" cmpd="sng">
            <a:noFill/>
            <a:prstDash val="solid"/>
            <a:round/>
          </a:ln>
        </p:spPr>
        <p:txBody>
          <a:bodyPr vert="horz" wrap="square" lIns="91440" tIns="45720" rIns="91440" bIns="45720" rtlCol="0" anchor="ctr" anchorCtr="0"/>
          <a:lstStyle/>
          <a:p>
            <a:pPr algn="ctr">
              <a:defRPr/>
            </a:pPr>
            <a:r>
              <a:rPr lang="en-US" altLang="zh-CN" sz="3200">
                <a:solidFill>
                  <a:schemeClr val="bg1"/>
                </a:solidFill>
                <a:latin typeface="Times New Roman" panose="02020603050405020304" charset="0"/>
                <a:ea typeface="Times New Roman" panose="02020603050405020304" charset="0"/>
                <a:cs typeface="Times New Roman" panose="02020603050405020304" charset="0"/>
              </a:rPr>
              <a:t>3</a:t>
            </a:r>
            <a:endParaRPr sz="3200">
              <a:solidFill>
                <a:schemeClr val="bg1"/>
              </a:solidFill>
              <a:latin typeface="Times New Roman" panose="02020603050405020304" charset="0"/>
              <a:ea typeface="Times New Roman" panose="02020603050405020304" charset="0"/>
              <a:cs typeface="Times New Roman" panose="02020603050405020304" charset="0"/>
            </a:endParaRPr>
          </a:p>
        </p:txBody>
      </p:sp>
      <p:sp>
        <p:nvSpPr>
          <p:cNvPr id="15" name="AutoShape 15"/>
          <p:cNvSpPr/>
          <p:nvPr>
            <p:custDataLst>
              <p:tags r:id="rId8"/>
            </p:custDataLst>
          </p:nvPr>
        </p:nvSpPr>
        <p:spPr>
          <a:xfrm>
            <a:off x="7416953" y="1975089"/>
            <a:ext cx="2442787" cy="345721"/>
          </a:xfrm>
          <a:prstGeom prst="rect">
            <a:avLst/>
          </a:prstGeom>
          <a:noFill/>
          <a:ln w="12700" cap="flat" cmpd="sng">
            <a:noFill/>
            <a:prstDash val="solid"/>
            <a:round/>
          </a:ln>
        </p:spPr>
        <p:txBody>
          <a:bodyPr vert="horz" wrap="square" lIns="68580" tIns="34290" rIns="68580" bIns="34290" rtlCol="0" anchor="t" anchorCtr="0"/>
          <a:lstStyle/>
          <a:p>
            <a:pPr marL="0" indent="0" algn="l">
              <a:lnSpc>
                <a:spcPct val="142000"/>
              </a:lnSpc>
              <a:spcBef>
                <a:spcPct val="20000"/>
              </a:spcBef>
              <a:defRPr/>
            </a:pPr>
            <a:r>
              <a:rPr lang="en-US" sz="1600" b="1" i="0" u="none" strike="noStrike">
                <a:solidFill>
                  <a:srgbClr val="404040"/>
                </a:solidFill>
                <a:latin typeface="Noto Sans SC" panose="020B0500000000000000" charset="-122"/>
                <a:ea typeface="Noto Sans SC" panose="020B0500000000000000" charset="-122"/>
                <a:cs typeface="Noto Sans SC" panose="020B0500000000000000" charset="-122"/>
                <a:sym typeface="Noto Sans SC" panose="020B0500000000000000" charset="-122"/>
              </a:rPr>
              <a:t>Edwin Gentzler</a:t>
            </a:r>
            <a:endParaRPr lang="en-US" sz="1100"/>
          </a:p>
        </p:txBody>
      </p:sp>
      <p:sp>
        <p:nvSpPr>
          <p:cNvPr id="16" name="AutoShape 16"/>
          <p:cNvSpPr/>
          <p:nvPr>
            <p:custDataLst>
              <p:tags r:id="rId9"/>
            </p:custDataLst>
          </p:nvPr>
        </p:nvSpPr>
        <p:spPr>
          <a:xfrm>
            <a:off x="7416950" y="2352696"/>
            <a:ext cx="3251051" cy="1110039"/>
          </a:xfrm>
          <a:prstGeom prst="rect">
            <a:avLst/>
          </a:prstGeom>
          <a:noFill/>
          <a:ln w="12700" cap="flat" cmpd="sng">
            <a:noFill/>
            <a:prstDash val="solid"/>
            <a:round/>
          </a:ln>
        </p:spPr>
        <p:txBody>
          <a:bodyPr vert="horz" wrap="square" lIns="68580" tIns="34290" rIns="68580" bIns="34290" rtlCol="0" anchor="t" anchorCtr="0"/>
          <a:lstStyle/>
          <a:p>
            <a:pPr marL="0" indent="0" algn="l">
              <a:lnSpc>
                <a:spcPct val="117000"/>
              </a:lnSpc>
              <a:defRPr/>
            </a:pPr>
            <a:r>
              <a:rPr lang="en-US" sz="1050" b="0" i="0" u="none" strike="noStrike">
                <a:solidFill>
                  <a:srgbClr val="404040"/>
                </a:solidFill>
                <a:latin typeface="Noto Sans SC" panose="020B0500000000000000" charset="-122"/>
                <a:ea typeface="Noto Sans SC" panose="020B0500000000000000" charset="-122"/>
                <a:cs typeface="Noto Sans SC" panose="020B0500000000000000" charset="-122"/>
                <a:sym typeface="Noto Sans SC" panose="020B0500000000000000" charset="-122"/>
              </a:rPr>
              <a:t>Gentzler (1993), from a deconstructionist perspective, denigrates Nida work for its theological standpoint. He argues dynamic equivalence serves converting receptors to Protestant Christianity.</a:t>
            </a:r>
            <a:endParaRPr lang="en-US" sz="1100"/>
          </a:p>
        </p:txBody>
      </p:sp>
      <p:sp>
        <p:nvSpPr>
          <p:cNvPr id="17" name="AutoShape 17"/>
          <p:cNvSpPr/>
          <p:nvPr>
            <p:custDataLst>
              <p:tags r:id="rId10"/>
            </p:custDataLst>
          </p:nvPr>
        </p:nvSpPr>
        <p:spPr>
          <a:xfrm>
            <a:off x="7416953" y="4008898"/>
            <a:ext cx="2442787" cy="345721"/>
          </a:xfrm>
          <a:prstGeom prst="rect">
            <a:avLst/>
          </a:prstGeom>
          <a:noFill/>
          <a:ln w="12700" cap="flat" cmpd="sng">
            <a:noFill/>
            <a:prstDash val="solid"/>
            <a:round/>
          </a:ln>
        </p:spPr>
        <p:txBody>
          <a:bodyPr vert="horz" wrap="square" lIns="68580" tIns="34290" rIns="68580" bIns="34290" rtlCol="0" anchor="t" anchorCtr="0"/>
          <a:lstStyle/>
          <a:p>
            <a:pPr marL="0" indent="0" algn="l">
              <a:lnSpc>
                <a:spcPct val="142000"/>
              </a:lnSpc>
              <a:spcBef>
                <a:spcPct val="20000"/>
              </a:spcBef>
              <a:defRPr/>
            </a:pPr>
            <a:r>
              <a:rPr lang="en-US" sz="1600" b="1" i="0" u="none" strike="noStrike">
                <a:solidFill>
                  <a:srgbClr val="404040"/>
                </a:solidFill>
                <a:latin typeface="Noto Sans SC" panose="020B0500000000000000" charset="-122"/>
                <a:ea typeface="Noto Sans SC" panose="020B0500000000000000" charset="-122"/>
                <a:cs typeface="Noto Sans SC" panose="020B0500000000000000" charset="-122"/>
                <a:sym typeface="Noto Sans SC" panose="020B0500000000000000" charset="-122"/>
              </a:rPr>
              <a:t>Qian Hu (1993)</a:t>
            </a:r>
            <a:endParaRPr lang="en-US" sz="1100"/>
          </a:p>
        </p:txBody>
      </p:sp>
      <p:sp>
        <p:nvSpPr>
          <p:cNvPr id="18" name="AutoShape 18"/>
          <p:cNvSpPr/>
          <p:nvPr>
            <p:custDataLst>
              <p:tags r:id="rId11"/>
            </p:custDataLst>
          </p:nvPr>
        </p:nvSpPr>
        <p:spPr>
          <a:xfrm>
            <a:off x="7416950" y="4404286"/>
            <a:ext cx="3251051" cy="1110039"/>
          </a:xfrm>
          <a:prstGeom prst="rect">
            <a:avLst/>
          </a:prstGeom>
          <a:noFill/>
          <a:ln w="12700" cap="flat" cmpd="sng">
            <a:noFill/>
            <a:prstDash val="solid"/>
            <a:round/>
          </a:ln>
        </p:spPr>
        <p:txBody>
          <a:bodyPr vert="horz" wrap="square" lIns="68580" tIns="34290" rIns="68580" bIns="34290" rtlCol="0" anchor="t" anchorCtr="0"/>
          <a:lstStyle/>
          <a:p>
            <a:pPr marL="0" indent="0" algn="l">
              <a:lnSpc>
                <a:spcPct val="117000"/>
              </a:lnSpc>
              <a:defRPr/>
            </a:pPr>
            <a:r>
              <a:rPr lang="en-US" sz="1050" b="0" i="0" u="none" strike="noStrike">
                <a:solidFill>
                  <a:srgbClr val="404040"/>
                </a:solidFill>
                <a:latin typeface="Noto Sans SC" panose="020B0500000000000000" charset="-122"/>
                <a:ea typeface="Noto Sans SC" panose="020B0500000000000000" charset="-122"/>
                <a:cs typeface="Noto Sans SC" panose="020B0500000000000000" charset="-122"/>
                <a:sym typeface="Noto Sans SC" panose="020B0500000000000000" charset="-122"/>
              </a:rPr>
              <a:t>Qian Hu published papers in Meta (1992-1993) demonstrating the implausibility of equivalent response, focusing on the impossibility when meaning is bound up in form, especially in literary works.</a:t>
            </a:r>
            <a:endParaRPr lang="en-US" sz="1100"/>
          </a:p>
        </p:txBody>
      </p:sp>
      <p:sp>
        <p:nvSpPr>
          <p:cNvPr id="19" name="AutoShape 19"/>
          <p:cNvSpPr/>
          <p:nvPr>
            <p:custDataLst>
              <p:tags r:id="rId12"/>
            </p:custDataLst>
          </p:nvPr>
        </p:nvSpPr>
        <p:spPr>
          <a:xfrm>
            <a:off x="6611798" y="2100517"/>
            <a:ext cx="737219" cy="737219"/>
          </a:xfrm>
          <a:prstGeom prst="teardrop">
            <a:avLst>
              <a:gd name="adj" fmla="val 100000"/>
            </a:avLst>
          </a:prstGeom>
          <a:solidFill>
            <a:srgbClr val="404040">
              <a:alpha val="100000"/>
            </a:srgbClr>
          </a:solidFill>
          <a:ln w="25400" cap="flat" cmpd="sng">
            <a:noFill/>
            <a:prstDash val="solid"/>
            <a:round/>
          </a:ln>
        </p:spPr>
        <p:txBody>
          <a:bodyPr vert="horz" wrap="square" lIns="91440" tIns="45720" rIns="91440" bIns="45720" rtlCol="0" anchor="ctr" anchorCtr="0"/>
          <a:lstStyle/>
          <a:p>
            <a:pPr algn="ctr">
              <a:defRPr/>
            </a:pPr>
            <a:r>
              <a:rPr lang="en-US" altLang="zh-CN" sz="3200" b="1">
                <a:solidFill>
                  <a:schemeClr val="bg1"/>
                </a:solidFill>
                <a:latin typeface="Times New Roman" panose="02020603050405020304" charset="0"/>
                <a:ea typeface="Times New Roman" panose="02020603050405020304" charset="0"/>
                <a:cs typeface="Times New Roman" panose="02020603050405020304" charset="0"/>
                <a:sym typeface="+mn-ea"/>
              </a:rPr>
              <a:t>2</a:t>
            </a:r>
            <a:endParaRPr lang="en-US" altLang="zh-CN" sz="3200" b="1">
              <a:solidFill>
                <a:schemeClr val="bg1"/>
              </a:solidFill>
              <a:latin typeface="Times New Roman" panose="02020603050405020304" charset="0"/>
              <a:ea typeface="Times New Roman" panose="02020603050405020304" charset="0"/>
              <a:cs typeface="Times New Roman" panose="02020603050405020304" charset="0"/>
              <a:sym typeface="+mn-ea"/>
            </a:endParaRPr>
          </a:p>
        </p:txBody>
      </p:sp>
      <p:sp>
        <p:nvSpPr>
          <p:cNvPr id="22" name="AutoShape 22"/>
          <p:cNvSpPr/>
          <p:nvPr>
            <p:custDataLst>
              <p:tags r:id="rId13"/>
            </p:custDataLst>
          </p:nvPr>
        </p:nvSpPr>
        <p:spPr>
          <a:xfrm>
            <a:off x="6611798" y="4126624"/>
            <a:ext cx="737219" cy="737219"/>
          </a:xfrm>
          <a:prstGeom prst="teardrop">
            <a:avLst>
              <a:gd name="adj" fmla="val 100000"/>
            </a:avLst>
          </a:prstGeom>
          <a:solidFill>
            <a:srgbClr val="404040">
              <a:alpha val="100000"/>
            </a:srgbClr>
          </a:solidFill>
          <a:ln w="25400" cap="flat" cmpd="sng">
            <a:noFill/>
            <a:prstDash val="solid"/>
            <a:round/>
          </a:ln>
        </p:spPr>
        <p:txBody>
          <a:bodyPr vert="horz" wrap="square" lIns="91440" tIns="45720" rIns="91440" bIns="45720" rtlCol="0" anchor="ctr" anchorCtr="0"/>
          <a:lstStyle/>
          <a:p>
            <a:pPr algn="ctr">
              <a:defRPr/>
            </a:pPr>
            <a:r>
              <a:rPr lang="en-US" altLang="zh-CN" sz="3200">
                <a:solidFill>
                  <a:schemeClr val="bg1"/>
                </a:solidFill>
                <a:latin typeface="Times New Roman" panose="02020603050405020304" charset="0"/>
                <a:ea typeface="Times New Roman" panose="02020603050405020304" charset="0"/>
                <a:cs typeface="Times New Roman" panose="02020603050405020304" charset="0"/>
              </a:rPr>
              <a:t>4</a:t>
            </a:r>
            <a:endParaRPr sz="3200">
              <a:solidFill>
                <a:schemeClr val="bg1"/>
              </a:solidFill>
              <a:latin typeface="Times New Roman" panose="02020603050405020304" charset="0"/>
              <a:ea typeface="Times New Roman" panose="02020603050405020304" charset="0"/>
              <a:cs typeface="Times New Roman" panose="02020603050405020304" charset="0"/>
            </a:endParaRPr>
          </a:p>
        </p:txBody>
      </p:sp>
      <p:sp>
        <p:nvSpPr>
          <p:cNvPr id="27" name="AutoShape 4"/>
          <p:cNvSpPr/>
          <p:nvPr/>
        </p:nvSpPr>
        <p:spPr>
          <a:xfrm>
            <a:off x="1011080" y="1066589"/>
            <a:ext cx="9884936" cy="461665"/>
          </a:xfrm>
          <a:prstGeom prst="rect">
            <a:avLst/>
          </a:prstGeom>
          <a:solidFill>
            <a:srgbClr val="404040">
              <a:alpha val="100000"/>
            </a:srgbClr>
          </a:solidFill>
          <a:ln w="12700" cap="flat" cmpd="sng">
            <a:noFill/>
            <a:prstDash val="solid"/>
            <a:round/>
          </a:ln>
        </p:spPr>
        <p:txBody>
          <a:bodyPr vert="horz" wrap="square" lIns="91440" tIns="45720" rIns="91440" bIns="45720" rtlCol="0" anchor="t" anchorCtr="0"/>
          <a:lstStyle/>
          <a:p>
            <a:pPr marL="0" indent="0" algn="l">
              <a:lnSpc>
                <a:spcPct val="100000"/>
              </a:lnSpc>
              <a:defRPr/>
            </a:pPr>
            <a:r>
              <a:rPr lang="en-US" altLang="zh-CN" sz="2400">
                <a:solidFill>
                  <a:srgbClr val="FFFFFF"/>
                </a:solidFill>
                <a:latin typeface="Times New Roman" panose="02020603050405020304" charset="0"/>
                <a:ea typeface="Times New Roman" panose="02020603050405020304" charset="0"/>
                <a:cs typeface="Times New Roman" panose="02020603050405020304" charset="0"/>
              </a:rPr>
              <a:t>Critical Reception: Implausibility＆Theological and Proselytizing Standpoint</a:t>
            </a:r>
            <a:endParaRPr lang="en-US" altLang="zh-CN" sz="2400">
              <a:solidFill>
                <a:srgbClr val="FFFFFF"/>
              </a:solidFill>
              <a:latin typeface="Times New Roman" panose="02020603050405020304" charset="0"/>
              <a:ea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8" name="AutoShape 8"/>
          <p:cNvSpPr/>
          <p:nvPr/>
        </p:nvSpPr>
        <p:spPr>
          <a:xfrm>
            <a:off x="631464" y="1480427"/>
            <a:ext cx="285917" cy="304246"/>
          </a:xfrm>
          <a:prstGeom prst="ellipse">
            <a:avLst/>
          </a:prstGeom>
          <a:solidFill>
            <a:srgbClr val="404040">
              <a:alpha val="100000"/>
            </a:srgbClr>
          </a:solidFill>
          <a:ln w="25400" cap="flat" cmpd="sng">
            <a:noFill/>
            <a:prstDash val="solid"/>
            <a:round/>
          </a:ln>
        </p:spPr>
        <p:txBody>
          <a:bodyPr vert="horz" wrap="square" lIns="91440" tIns="45720" rIns="91440" bIns="45720" rtlCol="0" anchor="ctr" anchorCtr="0"/>
          <a:lstStyle/>
          <a:p>
            <a:pPr algn="ctr">
              <a:defRPr/>
            </a:pPr>
          </a:p>
        </p:txBody>
      </p:sp>
      <p:sp>
        <p:nvSpPr>
          <p:cNvPr id="10" name="AutoShape 10"/>
          <p:cNvSpPr/>
          <p:nvPr/>
        </p:nvSpPr>
        <p:spPr>
          <a:xfrm>
            <a:off x="917444" y="1415279"/>
            <a:ext cx="3337820" cy="369332"/>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sz="2000" b="1" i="0" u="none" strike="noStrike">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Peter Newmark</a:t>
            </a:r>
            <a:endParaRPr lang="en-US" sz="2000" b="1">
              <a:latin typeface="Times New Roman" panose="02020603050405020304" charset="0"/>
              <a:ea typeface="Times New Roman" panose="02020603050405020304" charset="0"/>
              <a:cs typeface="Times New Roman" panose="02020603050405020304" charset="0"/>
            </a:endParaRPr>
          </a:p>
        </p:txBody>
      </p:sp>
      <p:sp>
        <p:nvSpPr>
          <p:cNvPr id="11" name="AutoShape 11"/>
          <p:cNvSpPr/>
          <p:nvPr/>
        </p:nvSpPr>
        <p:spPr>
          <a:xfrm>
            <a:off x="3006015" y="1249088"/>
            <a:ext cx="7715039" cy="701731"/>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17000"/>
              </a:lnSpc>
              <a:defRPr/>
            </a:pPr>
            <a:r>
              <a:rPr lang="en-US" sz="1800" b="0" i="0" u="none" strike="noStrike">
                <a:solidFill>
                  <a:srgbClr val="595959"/>
                </a:solidFill>
                <a:latin typeface="Times New Roman" panose="02020603050405020304" charset="0"/>
                <a:ea typeface="Times New Roman" panose="02020603050405020304" charset="0"/>
                <a:cs typeface="Times New Roman" panose="02020603050405020304" charset="0"/>
                <a:sym typeface="Noto Sans SC" panose="020B0500000000000000" charset="-122"/>
              </a:rPr>
              <a:t>Newmark stated dynamic equivalence is an important concept which has a degree of application to any type of text, but not the same degree of importance. He saw it as broadly applicable across text types.</a:t>
            </a:r>
            <a:endParaRPr lang="en-US" sz="1800">
              <a:latin typeface="Times New Roman" panose="02020603050405020304" charset="0"/>
              <a:ea typeface="Times New Roman" panose="02020603050405020304" charset="0"/>
              <a:cs typeface="Times New Roman" panose="02020603050405020304" charset="0"/>
            </a:endParaRPr>
          </a:p>
        </p:txBody>
      </p:sp>
      <p:sp>
        <p:nvSpPr>
          <p:cNvPr id="12" name="AutoShape 12"/>
          <p:cNvSpPr/>
          <p:nvPr/>
        </p:nvSpPr>
        <p:spPr>
          <a:xfrm>
            <a:off x="917444" y="4481286"/>
            <a:ext cx="2323050" cy="369332"/>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sz="1800" b="1" i="0" u="none" strike="noStrike">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Edwin Gentzler</a:t>
            </a:r>
            <a:endParaRPr lang="en-US" sz="1800" b="1">
              <a:latin typeface="Times New Roman" panose="02020603050405020304" charset="0"/>
              <a:ea typeface="Times New Roman" panose="02020603050405020304" charset="0"/>
              <a:cs typeface="Times New Roman" panose="02020603050405020304" charset="0"/>
            </a:endParaRPr>
          </a:p>
        </p:txBody>
      </p:sp>
      <p:sp>
        <p:nvSpPr>
          <p:cNvPr id="13" name="AutoShape 13"/>
          <p:cNvSpPr/>
          <p:nvPr/>
        </p:nvSpPr>
        <p:spPr>
          <a:xfrm>
            <a:off x="3006025" y="4245429"/>
            <a:ext cx="7715019" cy="701731"/>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17000"/>
              </a:lnSpc>
              <a:defRPr/>
            </a:pPr>
            <a:r>
              <a:rPr lang="en-US" sz="1800" b="0" i="0" u="none" strike="noStrike">
                <a:solidFill>
                  <a:srgbClr val="595959"/>
                </a:solidFill>
                <a:latin typeface="Times New Roman" panose="02020603050405020304" charset="0"/>
                <a:ea typeface="Times New Roman" panose="02020603050405020304" charset="0"/>
                <a:cs typeface="Times New Roman" panose="02020603050405020304" charset="0"/>
                <a:sym typeface="Noto Sans SC" panose="020B0500000000000000" charset="-122"/>
              </a:rPr>
              <a:t>Gentzler expressed doubts about applying dynamic equivalence to general translation practice, especially literary translation. In his view, Nida theory is only useful for propaganda, advertisement or certain religious material.</a:t>
            </a:r>
            <a:endParaRPr lang="en-US" sz="1800">
              <a:latin typeface="Times New Roman" panose="02020603050405020304" charset="0"/>
              <a:ea typeface="Times New Roman" panose="02020603050405020304" charset="0"/>
              <a:cs typeface="Times New Roman" panose="02020603050405020304" charset="0"/>
            </a:endParaRPr>
          </a:p>
        </p:txBody>
      </p:sp>
      <p:sp>
        <p:nvSpPr>
          <p:cNvPr id="14" name="AutoShape 14"/>
          <p:cNvSpPr/>
          <p:nvPr/>
        </p:nvSpPr>
        <p:spPr>
          <a:xfrm>
            <a:off x="3006025" y="2792615"/>
            <a:ext cx="7883390" cy="701731"/>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17000"/>
              </a:lnSpc>
              <a:defRPr/>
            </a:pPr>
            <a:r>
              <a:rPr lang="en-US" sz="1800" b="0" i="0" u="none" strike="noStrike">
                <a:solidFill>
                  <a:srgbClr val="595959"/>
                </a:solidFill>
                <a:latin typeface="Times New Roman" panose="02020603050405020304" charset="0"/>
                <a:ea typeface="Times New Roman" panose="02020603050405020304" charset="0"/>
                <a:cs typeface="Times New Roman" panose="02020603050405020304" charset="0"/>
                <a:sym typeface="Noto Sans SC" panose="020B0500000000000000" charset="-122"/>
              </a:rPr>
              <a:t>Divided Opinions: The core question is whether a theory developed primarily for Bible translation can be extended to all text types, or whether it is limited to certain kinds of communicative texts where equivalent effect is the primary goal.</a:t>
            </a:r>
            <a:endParaRPr lang="en-US" sz="1800">
              <a:latin typeface="Times New Roman" panose="02020603050405020304" charset="0"/>
              <a:ea typeface="Times New Roman" panose="02020603050405020304" charset="0"/>
              <a:cs typeface="Times New Roman" panose="02020603050405020304" charset="0"/>
            </a:endParaRPr>
          </a:p>
        </p:txBody>
      </p:sp>
      <p:sp>
        <p:nvSpPr>
          <p:cNvPr id="15" name="AutoShape 15"/>
          <p:cNvSpPr/>
          <p:nvPr/>
        </p:nvSpPr>
        <p:spPr>
          <a:xfrm>
            <a:off x="1436365" y="2958806"/>
            <a:ext cx="800895" cy="369332"/>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sz="1800" b="0" i="0" u="none" strike="noStrike">
                <a:solidFill>
                  <a:srgbClr val="404040"/>
                </a:solidFill>
                <a:latin typeface="Noto Sans SC" panose="020B0500000000000000" charset="-122"/>
                <a:ea typeface="Noto Sans SC" panose="020B0500000000000000" charset="-122"/>
                <a:cs typeface="Noto Sans SC" panose="020B0500000000000000" charset="-122"/>
                <a:sym typeface="Noto Sans SC" panose="020B0500000000000000" charset="-122"/>
              </a:rPr>
              <a:t>VS</a:t>
            </a:r>
            <a:endParaRPr lang="en-US" sz="1100"/>
          </a:p>
        </p:txBody>
      </p:sp>
      <p:sp>
        <p:nvSpPr>
          <p:cNvPr id="19" name="AutoShape 8"/>
          <p:cNvSpPr/>
          <p:nvPr/>
        </p:nvSpPr>
        <p:spPr>
          <a:xfrm>
            <a:off x="631464" y="4481317"/>
            <a:ext cx="285917" cy="304246"/>
          </a:xfrm>
          <a:prstGeom prst="ellipse">
            <a:avLst/>
          </a:prstGeom>
          <a:solidFill>
            <a:srgbClr val="404040">
              <a:alpha val="100000"/>
            </a:srgbClr>
          </a:solidFill>
          <a:ln w="25400" cap="flat" cmpd="sng">
            <a:noFill/>
            <a:prstDash val="solid"/>
            <a:round/>
          </a:ln>
        </p:spPr>
        <p:txBody>
          <a:bodyPr vert="horz" wrap="square" lIns="91440" tIns="45720" rIns="91440" bIns="45720" rtlCol="0" anchor="ctr" anchorCtr="0"/>
          <a:lstStyle/>
          <a:p>
            <a:pPr algn="ctr">
              <a:defRPr/>
            </a:p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AutoShape 4"/>
          <p:cNvSpPr/>
          <p:nvPr/>
        </p:nvSpPr>
        <p:spPr>
          <a:xfrm>
            <a:off x="888559" y="1081964"/>
            <a:ext cx="9722553" cy="446853"/>
          </a:xfrm>
          <a:prstGeom prst="rect">
            <a:avLst/>
          </a:prstGeom>
          <a:solidFill>
            <a:srgbClr val="404040">
              <a:alpha val="100000"/>
            </a:srgbClr>
          </a:solidFill>
          <a:ln w="12700" cap="flat" cmpd="sng">
            <a:noFill/>
            <a:prstDash val="solid"/>
            <a:round/>
          </a:ln>
        </p:spPr>
        <p:txBody>
          <a:bodyPr vert="horz" wrap="square" lIns="91440" tIns="45720" rIns="91440" bIns="45720" rtlCol="0" anchor="t" anchorCtr="0"/>
          <a:lstStyle/>
          <a:p>
            <a:pPr marL="0" indent="0" algn="l">
              <a:lnSpc>
                <a:spcPct val="100000"/>
              </a:lnSpc>
              <a:defRPr/>
            </a:pPr>
            <a:r>
              <a:rPr lang="en-US" altLang="zh-CN" sz="2400">
                <a:solidFill>
                  <a:srgbClr val="FFFFFF"/>
                </a:solidFill>
                <a:latin typeface="Times New Roman" panose="02020603050405020304" charset="0"/>
                <a:ea typeface="Times New Roman" panose="02020603050405020304" charset="0"/>
                <a:cs typeface="Times New Roman" panose="02020603050405020304" charset="0"/>
              </a:rPr>
              <a:t>Nida's </a:t>
            </a:r>
            <a:r>
              <a:rPr lang="en-US" altLang="zh-CN" sz="2400">
                <a:solidFill>
                  <a:srgbClr val="FFFFFF"/>
                </a:solidFill>
                <a:latin typeface="Times New Roman" panose="02020603050405020304" charset="0"/>
                <a:ea typeface="Times New Roman" panose="02020603050405020304" charset="0"/>
              </a:rPr>
              <a:t>Defense and Enduring Legacy</a:t>
            </a:r>
            <a:endParaRPr lang="en-US" altLang="zh-CN" sz="2400">
              <a:solidFill>
                <a:srgbClr val="FFFFFF"/>
              </a:solidFill>
              <a:latin typeface="Times New Roman" panose="02020603050405020304" charset="0"/>
              <a:ea typeface="Times New Roman" panose="02020603050405020304" charset="0"/>
              <a:cs typeface="Times New Roman" panose="02020603050405020304" charset="0"/>
            </a:endParaRPr>
          </a:p>
        </p:txBody>
      </p:sp>
      <p:cxnSp>
        <p:nvCxnSpPr>
          <p:cNvPr id="7" name="Connector 7"/>
          <p:cNvCxnSpPr/>
          <p:nvPr/>
        </p:nvCxnSpPr>
        <p:spPr>
          <a:xfrm>
            <a:off x="1044598" y="5839221"/>
            <a:ext cx="9566488" cy="0"/>
          </a:xfrm>
          <a:prstGeom prst="line">
            <a:avLst/>
          </a:prstGeom>
          <a:solidFill>
            <a:srgbClr val="DEE0E3">
              <a:alpha val="100000"/>
            </a:srgbClr>
          </a:solidFill>
          <a:ln w="12700" cap="flat" cmpd="sng">
            <a:solidFill>
              <a:srgbClr val="595959">
                <a:alpha val="100000"/>
              </a:srgbClr>
            </a:solidFill>
            <a:prstDash val="solid"/>
            <a:miter lim="1000000"/>
            <a:headEnd type="none" w="med" len="med"/>
            <a:tailEnd type="none" w="med" len="med"/>
          </a:ln>
        </p:spPr>
      </p:cxnSp>
      <p:sp>
        <p:nvSpPr>
          <p:cNvPr id="10" name="文本框 9"/>
          <p:cNvSpPr txBox="1"/>
          <p:nvPr userDrawn="1"/>
        </p:nvSpPr>
        <p:spPr>
          <a:xfrm>
            <a:off x="860248" y="3305229"/>
            <a:ext cx="9722573" cy="922020"/>
          </a:xfrm>
          <a:prstGeom prst="rect">
            <a:avLst/>
          </a:prstGeom>
        </p:spPr>
        <p:txBody>
          <a:bodyPr wrap="square" rtlCol="0">
            <a:noAutofit/>
          </a:bodyPr>
          <a:p>
            <a:r>
              <a:rPr lang="en-US" altLang="zh-CN" sz="1800" b="1">
                <a:latin typeface="Times New Roman" panose="02020603050405020304" charset="0"/>
                <a:ea typeface="Times New Roman" panose="02020603050405020304" charset="0"/>
                <a:cs typeface="Times New Roman" panose="02020603050405020304" charset="0"/>
              </a:rPr>
              <a:t>Mo</a:t>
            </a:r>
            <a:r>
              <a:rPr lang="en-US" altLang="zh-CN" sz="1800" b="1">
                <a:latin typeface="Times New Roman" panose="02020603050405020304" charset="0"/>
                <a:ea typeface="Times New Roman" panose="02020603050405020304" charset="0"/>
              </a:rPr>
              <a:t>numental Contributions:</a:t>
            </a:r>
            <a:r>
              <a:rPr lang="en-US" altLang="zh-CN" sz="1800">
                <a:latin typeface="Times New Roman" panose="02020603050405020304" charset="0"/>
                <a:ea typeface="Times New Roman" panose="02020603050405020304" charset="0"/>
              </a:rPr>
              <a:t> Formulated a systematic analytical procedure for translators; brought the receptor's cultural expectations into translation equation.</a:t>
            </a:r>
            <a:endParaRPr lang="zh-CN" altLang="en-US" sz="1800">
              <a:latin typeface="Times New Roman" panose="02020603050405020304" charset="0"/>
              <a:ea typeface="Times New Roman" panose="02020603050405020304" charset="0"/>
              <a:cs typeface="Times New Roman" panose="02020603050405020304" charset="0"/>
            </a:endParaRPr>
          </a:p>
        </p:txBody>
      </p:sp>
      <p:sp>
        <p:nvSpPr>
          <p:cNvPr id="11" name="文本框 10"/>
          <p:cNvSpPr txBox="1"/>
          <p:nvPr userDrawn="1"/>
        </p:nvSpPr>
        <p:spPr>
          <a:xfrm>
            <a:off x="888539" y="4289237"/>
            <a:ext cx="9694282" cy="369570"/>
          </a:xfrm>
          <a:prstGeom prst="rect">
            <a:avLst/>
          </a:prstGeom>
        </p:spPr>
        <p:txBody>
          <a:bodyPr wrap="square" rtlCol="0">
            <a:noAutofit/>
          </a:bodyPr>
          <a:p>
            <a:r>
              <a:rPr lang="en-US" altLang="zh-CN" sz="1800" b="1">
                <a:latin typeface="Times New Roman" panose="02020603050405020304" charset="0"/>
                <a:ea typeface="Times New Roman" panose="02020603050405020304" charset="0"/>
                <a:cs typeface="Times New Roman" panose="02020603050405020304" charset="0"/>
              </a:rPr>
              <a:t>Influence: </a:t>
            </a:r>
            <a:r>
              <a:rPr lang="en-US" altLang="zh-CN" sz="1800">
                <a:latin typeface="Times New Roman" panose="02020603050405020304" charset="0"/>
                <a:ea typeface="Times New Roman" panose="02020603050405020304" charset="0"/>
                <a:cs typeface="Times New Roman" panose="02020603050405020304" charset="0"/>
              </a:rPr>
              <a:t>Profundly shaped later scholars, notable Peter Newmark and Werner Koller.</a:t>
            </a:r>
            <a:endParaRPr lang="zh-CN" altLang="en-US" sz="1800">
              <a:latin typeface="Times New Roman" panose="02020603050405020304" charset="0"/>
              <a:ea typeface="Times New Roman" panose="02020603050405020304" charset="0"/>
              <a:cs typeface="Times New Roman" panose="02020603050405020304" charset="0"/>
            </a:endParaRPr>
          </a:p>
        </p:txBody>
      </p:sp>
      <p:sp>
        <p:nvSpPr>
          <p:cNvPr id="12" name="文本框 11"/>
          <p:cNvSpPr txBox="1"/>
          <p:nvPr userDrawn="1"/>
        </p:nvSpPr>
        <p:spPr>
          <a:xfrm>
            <a:off x="860313" y="2229510"/>
            <a:ext cx="9979056" cy="1075708"/>
          </a:xfrm>
          <a:prstGeom prst="rect">
            <a:avLst/>
          </a:prstGeom>
        </p:spPr>
        <p:txBody>
          <a:bodyPr wrap="square" rtlCol="0">
            <a:noAutofit/>
          </a:bodyPr>
          <a:p>
            <a:r>
              <a:rPr lang="en-US" altLang="zh-CN" sz="2000" b="1">
                <a:latin typeface="Times New Roman" panose="02020603050405020304" charset="0"/>
                <a:ea typeface="Times New Roman" panose="02020603050405020304" charset="0"/>
                <a:cs typeface="Times New Roman" panose="02020603050405020304" charset="0"/>
              </a:rPr>
              <a:t>Nida's Stance: </a:t>
            </a:r>
            <a:r>
              <a:rPr lang="en-US" altLang="zh-CN" sz="2000">
                <a:latin typeface="Times New Roman" panose="02020603050405020304" charset="0"/>
                <a:ea typeface="Times New Roman" panose="02020603050405020304" charset="0"/>
                <a:cs typeface="Times New Roman" panose="02020603050405020304" charset="0"/>
              </a:rPr>
              <a:t>Acknowledged that "artistic sensibility" is essential for literary translation; DE is a dynamic concept, not an absolute state.</a:t>
            </a:r>
            <a:endParaRPr lang="zh-CN" altLang="en-US" sz="2000">
              <a:latin typeface="Times New Roman" panose="02020603050405020304" charset="0"/>
              <a:ea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6" name="AutoShape 6"/>
          <p:cNvSpPr/>
          <p:nvPr/>
        </p:nvSpPr>
        <p:spPr>
          <a:xfrm>
            <a:off x="1154461" y="1129061"/>
            <a:ext cx="2693670" cy="369570"/>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00000"/>
              </a:lnSpc>
              <a:defRPr/>
            </a:pPr>
            <a:r>
              <a:rPr lang="en-US" sz="1800" b="1" i="0" u="none" strike="noStrike">
                <a:solidFill>
                  <a:srgbClr val="404040"/>
                </a:solidFill>
                <a:latin typeface="Noto Sans SC" panose="020B0500000000000000" charset="-122"/>
                <a:ea typeface="Noto Sans SC" panose="020B0500000000000000" charset="-122"/>
                <a:cs typeface="Noto Sans SC" panose="020B0500000000000000" charset="-122"/>
                <a:sym typeface="Noto Sans SC" panose="020B0500000000000000" charset="-122"/>
              </a:rPr>
              <a:t>Beyond Literal vs Free</a:t>
            </a:r>
            <a:endParaRPr lang="en-US" sz="1100"/>
          </a:p>
        </p:txBody>
      </p:sp>
      <p:sp>
        <p:nvSpPr>
          <p:cNvPr id="7" name="AutoShape 7"/>
          <p:cNvSpPr/>
          <p:nvPr/>
        </p:nvSpPr>
        <p:spPr>
          <a:xfrm>
            <a:off x="1154531" y="1498631"/>
            <a:ext cx="9508750" cy="674031"/>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17000"/>
              </a:lnSpc>
              <a:defRPr/>
            </a:pPr>
            <a:r>
              <a:rPr lang="en-US" sz="1800" i="0" u="none" strike="noStrike" spc="-150">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Nida theory avoids the traditional debate of literal versus free translation, providing a new perspective. He introduced a scientific, linguistic approach that transcended the old binary opposition.</a:t>
            </a:r>
            <a:endParaRPr lang="en-US" sz="1800">
              <a:latin typeface="Times New Roman" panose="02020603050405020304" charset="0"/>
              <a:ea typeface="Times New Roman" panose="02020603050405020304" charset="0"/>
              <a:cs typeface="Times New Roman" panose="02020603050405020304" charset="0"/>
            </a:endParaRPr>
          </a:p>
        </p:txBody>
      </p:sp>
      <p:sp>
        <p:nvSpPr>
          <p:cNvPr id="15" name="AutoShape 15"/>
          <p:cNvSpPr/>
          <p:nvPr/>
        </p:nvSpPr>
        <p:spPr>
          <a:xfrm>
            <a:off x="1154531" y="2574954"/>
            <a:ext cx="3525520" cy="369570"/>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00000"/>
              </a:lnSpc>
              <a:defRPr/>
            </a:pPr>
            <a:r>
              <a:rPr lang="en-US" sz="1800" b="1" i="0" u="none" strike="noStrike">
                <a:solidFill>
                  <a:srgbClr val="404040"/>
                </a:solidFill>
                <a:latin typeface="Noto Sans SC" panose="020B0500000000000000" charset="-122"/>
                <a:ea typeface="Noto Sans SC" panose="020B0500000000000000" charset="-122"/>
                <a:cs typeface="Noto Sans SC" panose="020B0500000000000000" charset="-122"/>
                <a:sym typeface="Noto Sans SC" panose="020B0500000000000000" charset="-122"/>
              </a:rPr>
              <a:t>Reader-Oriented Approach</a:t>
            </a:r>
            <a:endParaRPr lang="en-US" sz="1100"/>
          </a:p>
        </p:txBody>
      </p:sp>
      <p:sp>
        <p:nvSpPr>
          <p:cNvPr id="16" name="AutoShape 16"/>
          <p:cNvSpPr/>
          <p:nvPr/>
        </p:nvSpPr>
        <p:spPr>
          <a:xfrm>
            <a:off x="1154531" y="2944524"/>
            <a:ext cx="9508702" cy="674031"/>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17000"/>
              </a:lnSpc>
              <a:defRPr/>
            </a:pPr>
            <a:r>
              <a:rPr lang="en-US" sz="1800" i="0" u="none" strike="noStrike" spc="-150">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Nida freed translators from source text structural constraints by shifting focus from strict correspondence to the receptor response. This receptor-oriented approach revolutionized translation theory.</a:t>
            </a:r>
            <a:endParaRPr lang="en-US" sz="1800">
              <a:latin typeface="Times New Roman" panose="02020603050405020304" charset="0"/>
              <a:ea typeface="Times New Roman" panose="02020603050405020304" charset="0"/>
              <a:cs typeface="Times New Roman" panose="02020603050405020304" charset="0"/>
            </a:endParaRPr>
          </a:p>
        </p:txBody>
      </p:sp>
      <p:sp>
        <p:nvSpPr>
          <p:cNvPr id="17" name="AutoShape 17"/>
          <p:cNvSpPr/>
          <p:nvPr/>
        </p:nvSpPr>
        <p:spPr>
          <a:xfrm>
            <a:off x="1154531" y="4020795"/>
            <a:ext cx="4026535" cy="369570"/>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00000"/>
              </a:lnSpc>
              <a:defRPr/>
            </a:pPr>
            <a:r>
              <a:rPr lang="en-US" sz="1800" b="1" i="0" u="none" strike="noStrike">
                <a:solidFill>
                  <a:srgbClr val="404040"/>
                </a:solidFill>
                <a:latin typeface="Noto Sans SC" panose="020B0500000000000000" charset="-122"/>
                <a:ea typeface="Noto Sans SC" panose="020B0500000000000000" charset="-122"/>
                <a:cs typeface="Noto Sans SC" panose="020B0500000000000000" charset="-122"/>
                <a:sym typeface="Noto Sans SC" panose="020B0500000000000000" charset="-122"/>
              </a:rPr>
              <a:t>Scientific Methodology</a:t>
            </a:r>
            <a:endParaRPr lang="en-US" sz="1100"/>
          </a:p>
        </p:txBody>
      </p:sp>
      <p:sp>
        <p:nvSpPr>
          <p:cNvPr id="18" name="AutoShape 18"/>
          <p:cNvSpPr/>
          <p:nvPr/>
        </p:nvSpPr>
        <p:spPr>
          <a:xfrm>
            <a:off x="1154531" y="4390418"/>
            <a:ext cx="9954634" cy="674031"/>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17000"/>
              </a:lnSpc>
              <a:defRPr/>
            </a:pPr>
            <a:r>
              <a:rPr lang="en-US" sz="1800" i="0" u="none" strike="noStrike" spc="-150">
                <a:solidFill>
                  <a:srgbClr val="404040"/>
                </a:solidFill>
                <a:latin typeface="Times New Roman" panose="02020603050405020304" charset="0"/>
                <a:ea typeface="Times New Roman" panose="02020603050405020304" charset="0"/>
                <a:cs typeface="Times New Roman" panose="02020603050405020304" charset="0"/>
                <a:sym typeface="Noto Sans SC" panose="020B0500000000000000" charset="-122"/>
              </a:rPr>
              <a:t>Nida produced a systematic analytical procedure for translators working with all kinds of texts. He factored target text receivers and their cultural expectations into the translation equation.</a:t>
            </a:r>
            <a:endParaRPr lang="en-US" sz="1800">
              <a:latin typeface="Times New Roman" panose="02020603050405020304" charset="0"/>
              <a:ea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AutoShape 4"/>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
        <p:nvSpPr>
          <p:cNvPr id="5" name="AutoShape 5"/>
          <p:cNvSpPr/>
          <p:nvPr/>
        </p:nvSpPr>
        <p:spPr>
          <a:xfrm>
            <a:off x="888539" y="1976283"/>
            <a:ext cx="9977820" cy="1460156"/>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00000"/>
              </a:lnSpc>
              <a:defRPr/>
            </a:pPr>
            <a:r>
              <a:rPr lang="en-US" altLang="zh-CN" sz="2000">
                <a:latin typeface="Times New Roman" panose="02020603050405020304" charset="0"/>
                <a:ea typeface="Times New Roman" panose="02020603050405020304" charset="0"/>
                <a:cs typeface="Times New Roman" panose="02020603050405020304" charset="0"/>
              </a:rPr>
              <a:t>"</a:t>
            </a:r>
            <a:r>
              <a:rPr lang="en-US" altLang="zh-CN" sz="2000">
                <a:latin typeface="Times New Roman" panose="02020603050405020304" charset="0"/>
                <a:ea typeface="Times New Roman" panose="02020603050405020304" charset="0"/>
              </a:rPr>
              <a:t>T</a:t>
            </a:r>
            <a:r>
              <a:rPr lang="en-US" altLang="zh-CN" sz="2000">
                <a:latin typeface="Times New Roman" panose="02020603050405020304" charset="0"/>
                <a:ea typeface="Times New Roman" panose="02020603050405020304" charset="0"/>
                <a:cs typeface="Times New Roman" panose="02020603050405020304" charset="0"/>
              </a:rPr>
              <a:t>ranslation is not merely an art, but a science that can and must be described and regulated by objective principles."</a:t>
            </a:r>
            <a:br>
              <a:rPr lang="en-US" altLang="zh-CN" sz="2000">
                <a:latin typeface="Times New Roman" panose="02020603050405020304" charset="0"/>
                <a:ea typeface="Times New Roman" panose="02020603050405020304" charset="0"/>
                <a:cs typeface="Times New Roman" panose="02020603050405020304" charset="0"/>
              </a:rPr>
            </a:br>
            <a:br>
              <a:rPr lang="en-US" altLang="zh-CN" sz="2000">
                <a:latin typeface="Times New Roman" panose="02020603050405020304" charset="0"/>
                <a:ea typeface="Times New Roman" panose="02020603050405020304" charset="0"/>
                <a:cs typeface="Times New Roman" panose="02020603050405020304" charset="0"/>
              </a:rPr>
            </a:br>
            <a:r>
              <a:rPr lang="en-US" altLang="zh-CN" sz="2000">
                <a:latin typeface="Times New Roman" panose="02020603050405020304" charset="0"/>
                <a:ea typeface="Times New Roman" panose="02020603050405020304" charset="0"/>
                <a:cs typeface="Times New Roman" panose="02020603050405020304" charset="0"/>
              </a:rPr>
              <a:t>"Translation activity should never be carried out arbitrarily." </a:t>
            </a:r>
            <a:br>
              <a:rPr lang="en-US" altLang="zh-CN" sz="2000">
                <a:latin typeface="Times New Roman" panose="02020603050405020304" charset="0"/>
                <a:ea typeface="Times New Roman" panose="02020603050405020304" charset="0"/>
                <a:cs typeface="Times New Roman" panose="02020603050405020304" charset="0"/>
              </a:rPr>
            </a:br>
            <a:br>
              <a:rPr lang="en-US" altLang="zh-CN" sz="2000">
                <a:latin typeface="Times New Roman" panose="02020603050405020304" charset="0"/>
                <a:ea typeface="Times New Roman" panose="02020603050405020304" charset="0"/>
                <a:cs typeface="Times New Roman" panose="02020603050405020304" charset="0"/>
              </a:rPr>
            </a:br>
            <a:endParaRPr lang="en-US" altLang="zh-CN" sz="2000">
              <a:latin typeface="Times New Roman" panose="02020603050405020304" charset="0"/>
              <a:ea typeface="Times New Roman" panose="02020603050405020304" charset="0"/>
              <a:cs typeface="Times New Roman" panose="02020603050405020304" charset="0"/>
            </a:endParaRPr>
          </a:p>
          <a:p>
            <a:pPr marL="0" indent="0" algn="ctr">
              <a:lnSpc>
                <a:spcPct val="100000"/>
              </a:lnSpc>
              <a:defRPr/>
            </a:pPr>
            <a:endParaRPr lang="en-US" sz="2000">
              <a:latin typeface="Times New Roman" panose="02020603050405020304" charset="0"/>
              <a:ea typeface="Times New Roman" panose="02020603050405020304" charset="0"/>
              <a:cs typeface="Times New Roman" panose="02020603050405020304" charset="0"/>
            </a:endParaRPr>
          </a:p>
        </p:txBody>
      </p:sp>
      <p:sp>
        <p:nvSpPr>
          <p:cNvPr id="7" name="AutoShape 4"/>
          <p:cNvSpPr/>
          <p:nvPr/>
        </p:nvSpPr>
        <p:spPr>
          <a:xfrm>
            <a:off x="888559" y="1081964"/>
            <a:ext cx="1881149" cy="446853"/>
          </a:xfrm>
          <a:prstGeom prst="rect">
            <a:avLst/>
          </a:prstGeom>
          <a:solidFill>
            <a:srgbClr val="404040">
              <a:alpha val="100000"/>
            </a:srgbClr>
          </a:solidFill>
          <a:ln w="12700" cap="flat" cmpd="sng">
            <a:noFill/>
            <a:prstDash val="solid"/>
            <a:round/>
          </a:ln>
        </p:spPr>
        <p:txBody>
          <a:bodyPr vert="horz" wrap="square" lIns="91440" tIns="45720" rIns="91440" bIns="45720" rtlCol="0" anchor="t" anchorCtr="0"/>
          <a:lstStyle/>
          <a:p>
            <a:pPr marL="0" indent="0" algn="l">
              <a:lnSpc>
                <a:spcPct val="100000"/>
              </a:lnSpc>
              <a:defRPr/>
            </a:pPr>
            <a:r>
              <a:rPr lang="en-US" altLang="zh-CN" sz="2400">
                <a:solidFill>
                  <a:srgbClr val="FFFFFF"/>
                </a:solidFill>
                <a:latin typeface="Times New Roman" panose="02020603050405020304" charset="0"/>
                <a:ea typeface="Times New Roman" panose="02020603050405020304" charset="0"/>
                <a:cs typeface="Times New Roman" panose="02020603050405020304" charset="0"/>
              </a:rPr>
              <a:t>Conclusion</a:t>
            </a:r>
            <a:endParaRPr lang="en-US" altLang="zh-CN" sz="2400">
              <a:solidFill>
                <a:srgbClr val="FFFFFF"/>
              </a:solidFill>
              <a:latin typeface="Times New Roman" panose="02020603050405020304" charset="0"/>
              <a:ea typeface="Times New Roman" panose="02020603050405020304" charset="0"/>
              <a:cs typeface="Times New Roman" panose="02020603050405020304" charset="0"/>
            </a:endParaRPr>
          </a:p>
        </p:txBody>
      </p:sp>
      <p:sp>
        <p:nvSpPr>
          <p:cNvPr id="8" name="下箭头 7"/>
          <p:cNvSpPr/>
          <p:nvPr userDrawn="1"/>
        </p:nvSpPr>
        <p:spPr>
          <a:xfrm>
            <a:off x="5956867" y="3605093"/>
            <a:ext cx="184785" cy="61531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
        <p:nvSpPr>
          <p:cNvPr id="9" name="左中括号 8"/>
          <p:cNvSpPr/>
          <p:nvPr userDrawn="1"/>
        </p:nvSpPr>
        <p:spPr>
          <a:xfrm>
            <a:off x="737235" y="2021840"/>
            <a:ext cx="184785" cy="1183640"/>
          </a:xfrm>
          <a:prstGeom prst="leftBracket">
            <a:avLst/>
          </a:prstGeom>
        </p:spPr>
        <p:style>
          <a:lnRef idx="2">
            <a:schemeClr val="accent1"/>
          </a:lnRef>
          <a:fillRef idx="0">
            <a:srgbClr val="FFFFFF"/>
          </a:fillRef>
          <a:effectRef idx="0">
            <a:srgbClr val="FFFFFF"/>
          </a:effectRef>
          <a:fontRef idx="minor">
            <a:schemeClr val="tx1"/>
          </a:fontRef>
        </p:style>
        <p:txBody>
          <a:bodyPr rtlCol="0" anchor="ctr">
            <a:noAutofit/>
          </a:bodyPr>
          <a:p>
            <a:pPr algn="ctr"/>
            <a:endParaRPr lang="zh-CN" altLang="en-US"/>
          </a:p>
        </p:txBody>
      </p:sp>
      <p:sp>
        <p:nvSpPr>
          <p:cNvPr id="11" name="圆角矩形 10"/>
          <p:cNvSpPr/>
          <p:nvPr userDrawn="1"/>
        </p:nvSpPr>
        <p:spPr>
          <a:xfrm>
            <a:off x="752475" y="4558665"/>
            <a:ext cx="10593705" cy="1107440"/>
          </a:xfrm>
          <a:prstGeom prst="roundRect">
            <a:avLst/>
          </a:prstGeom>
          <a:solidFill>
            <a:schemeClr val="bg1">
              <a:lumMod val="95000"/>
              <a:alpha val="10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r>
              <a:rPr lang="en-US" altLang="zh-CN" sz="1800">
                <a:solidFill>
                  <a:srgbClr val="000000"/>
                </a:solidFill>
                <a:latin typeface="Times New Roman" panose="02020603050405020304" charset="0"/>
                <a:ea typeface="Times New Roman" panose="02020603050405020304" charset="0"/>
                <a:cs typeface="Times New Roman" panose="02020603050405020304" charset="0"/>
              </a:rPr>
              <a:t>It is well to remember that Nida's work is aimed above all at training translators who do not have expertise in linguistics but who have to deal with very different cultures. It may, therefore, be helpful now to attempt to adopt his model not for the analysis of existing translations but for the analysis of an ST that is to be translated.</a:t>
            </a:r>
            <a:endParaRPr lang="en-US" altLang="zh-CN" sz="1800">
              <a:solidFill>
                <a:srgbClr val="000000"/>
              </a:solidFill>
              <a:latin typeface="Times New Roman" panose="02020603050405020304" charset="0"/>
              <a:ea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pic>
        <p:nvPicPr>
          <p:cNvPr id="3" name="Picture 3"/>
          <p:cNvPicPr>
            <a:picLocks noChangeAspect="1"/>
          </p:cNvPicPr>
          <p:nvPr/>
        </p:nvPicPr>
        <p:blipFill>
          <a:blip r:embed="rId1"/>
          <a:srcRect/>
          <a:stretch>
            <a:fillRect/>
          </a:stretch>
        </p:blipFill>
        <p:spPr>
          <a:xfrm>
            <a:off x="139529" y="99423"/>
            <a:ext cx="3708572" cy="861530"/>
          </a:xfrm>
          <a:prstGeom prst="rect">
            <a:avLst/>
          </a:prstGeom>
          <a:noFill/>
          <a:ln w="25400" cap="flat" cmpd="sng">
            <a:noFill/>
            <a:prstDash val="solid"/>
            <a:round/>
          </a:ln>
        </p:spPr>
      </p:pic>
      <p:sp>
        <p:nvSpPr>
          <p:cNvPr id="4" name="AutoShape 4"/>
          <p:cNvSpPr/>
          <p:nvPr/>
        </p:nvSpPr>
        <p:spPr>
          <a:xfrm>
            <a:off x="1" y="6004875"/>
            <a:ext cx="12191999" cy="70788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2000" b="0" i="0" u="none" strike="noStrike">
                <a:solidFill>
                  <a:srgbClr val="808080"/>
                </a:solidFill>
                <a:latin typeface="Brush Script MT" panose="03060802040406070304"/>
                <a:ea typeface="Brush Script MT" panose="03060802040406070304"/>
                <a:cs typeface="Brush Script MT" panose="03060802040406070304"/>
                <a:sym typeface="Brush Script MT" panose="03060802040406070304"/>
              </a:rPr>
              <a:t>In Pursuit of Excellence in Interpreting and Translation</a:t>
            </a:r>
            <a:endParaRPr lang="en-US" sz="1100"/>
          </a:p>
          <a:p>
            <a:pPr marL="0" indent="0" algn="ctr">
              <a:lnSpc>
                <a:spcPct val="100000"/>
              </a:lnSpc>
            </a:pPr>
            <a:r>
              <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rPr>
              <a:t>译无止境，臻于至善</a:t>
            </a:r>
            <a:endParaRPr lang="en-US" sz="2000" b="0" i="0" u="none" strike="noStrike">
              <a:solidFill>
                <a:srgbClr val="808080"/>
              </a:solidFill>
              <a:latin typeface="华文隶书" panose="02010800040101010101" charset="-122"/>
              <a:ea typeface="华文隶书" panose="02010800040101010101" charset="-122"/>
              <a:cs typeface="华文隶书" panose="02010800040101010101" charset="-122"/>
              <a:sym typeface="华文隶书" panose="02010800040101010101" charset="-122"/>
            </a:endParaRPr>
          </a:p>
        </p:txBody>
      </p:sp>
      <p:sp>
        <p:nvSpPr>
          <p:cNvPr id="5" name="AutoShape 5"/>
          <p:cNvSpPr/>
          <p:nvPr/>
        </p:nvSpPr>
        <p:spPr>
          <a:xfrm>
            <a:off x="2625467" y="2698922"/>
            <a:ext cx="7348643" cy="1460156"/>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5400" b="0" i="0" u="none" strike="noStrike">
                <a:solidFill>
                  <a:srgbClr val="262626"/>
                </a:solidFill>
                <a:latin typeface="Times New Roman" panose="02020603050405020304" charset="0"/>
                <a:ea typeface="Times New Roman" panose="02020603050405020304" charset="0"/>
                <a:cs typeface="Times New Roman" panose="02020603050405020304" charset="0"/>
                <a:sym typeface="Noto Sans SC" panose="020B0500000000000000" charset="-122"/>
              </a:rPr>
              <a:t>Thank You</a:t>
            </a:r>
            <a:endParaRPr lang="en-US" sz="1100">
              <a:latin typeface="Times New Roman" panose="02020603050405020304" charset="0"/>
              <a:ea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tags/tag1.xml><?xml version="1.0" encoding="utf-8"?>
<p:tagLst xmlns:p="http://schemas.openxmlformats.org/presentationml/2006/main">
  <p:tag name="KSO_WM_DIAGRAM_VIRTUALLY_FRAME" val="{&quot;height&quot;:342.9109448818898,&quot;left&quot;:334.63204724409445,&quot;top&quot;:100.9323622047244,&quot;width&quot;:546.5407874015749}"/>
</p:tagLst>
</file>

<file path=ppt/tags/tag2.xml><?xml version="1.0" encoding="utf-8"?>
<p:tagLst xmlns:p="http://schemas.openxmlformats.org/presentationml/2006/main">
  <p:tag name="KSO_WM_DIAGRAM_VIRTUALLY_FRAME" val="{&quot;height&quot;:342.9109448818898,&quot;left&quot;:334.63204724409445,&quot;top&quot;:100.9323622047244,&quot;width&quot;:546.5407874015749}"/>
</p:tagLst>
</file>

<file path=ppt/tags/tag3.xml><?xml version="1.0" encoding="utf-8"?>
<p:tagLst xmlns:p="http://schemas.openxmlformats.org/presentationml/2006/main">
  <p:tag name="KSO_WM_DIAGRAM_VIRTUALLY_FRAME" val="{&quot;height&quot;:342.9109448818898,&quot;left&quot;:334.63204724409445,&quot;top&quot;:100.9323622047244,&quot;width&quot;:546.5407874015749}"/>
</p:tagLst>
</file>

<file path=ppt/tags/tag4.xml><?xml version="1.0" encoding="utf-8"?>
<p:tagLst xmlns:p="http://schemas.openxmlformats.org/presentationml/2006/main">
  <p:tag name="KSO_WM_DIAGRAM_VIRTUALLY_FRAME" val="{&quot;height&quot;:342.9109448818898,&quot;left&quot;:334.63204724409445,&quot;top&quot;:100.9323622047244,&quot;width&quot;:546.5407874015749}"/>
</p:tagLst>
</file>

<file path=ppt/tags/tag5.xml><?xml version="1.0" encoding="utf-8"?>
<p:tagLst xmlns:p="http://schemas.openxmlformats.org/presentationml/2006/main">
  <p:tag name="KSO_WM_DIAGRAM_VIRTUALLY_FRAME" val="{&quot;height&quot;:342.9109448818898,&quot;left&quot;:334.63204724409445,&quot;top&quot;:100.9323622047244,&quot;width&quot;:546.5407874015749}"/>
</p:tagLst>
</file>

<file path=ppt/tags/tag6.xml><?xml version="1.0" encoding="utf-8"?>
<p:tagLst xmlns:p="http://schemas.openxmlformats.org/presentationml/2006/main">
  <p:tag name="KSO_WM_DIAGRAM_VIRTUALLY_FRAME" val="{&quot;height&quot;:342.9109448818898,&quot;left&quot;:334.63204724409445,&quot;top&quot;:100.9323622047244,&quot;width&quot;:546.5407874015749}"/>
</p:tagLst>
</file>

<file path=ppt/tags/tag7.xml><?xml version="1.0" encoding="utf-8"?>
<p:tagLst xmlns:p="http://schemas.openxmlformats.org/presentationml/2006/main">
  <p:tag name="KSO_WM_DIAGRAM_VIRTUALLY_FRAME" val="{&quot;height&quot;:342.9109448818898,&quot;left&quot;:334.63204724409445,&quot;top&quot;:100.9323622047244,&quot;width&quot;:546.5407874015749}"/>
</p:tagLst>
</file>

<file path=ppt/tags/tag8.xml><?xml version="1.0" encoding="utf-8"?>
<p:tagLst xmlns:p="http://schemas.openxmlformats.org/presentationml/2006/main">
  <p:tag name="KSO_WM_DIAGRAM_VIRTUALLY_FRAME" val="{&quot;height&quot;:342.9109448818898,&quot;left&quot;:334.63204724409445,&quot;top&quot;:100.9323622047244,&quot;width&quot;:546.5407874015749}"/>
</p:tagLst>
</file>

<file path=ppt/tags/tag9.xml><?xml version="1.0" encoding="utf-8"?>
<p:tagLst xmlns:p="http://schemas.openxmlformats.org/presentationml/2006/main">
  <p:tag name="KSO_WM_DIAGRAM_VIRTUALLY_FRAME" val="{&quot;height&quot;:342.9109448818898,&quot;left&quot;:334.63204724409445,&quot;top&quot;:100.9323622047244,&quot;width&quot;:546.5407874015749}"/>
</p:tagLst>
</file>

<file path=ppt/tags/tag10.xml><?xml version="1.0" encoding="utf-8"?>
<p:tagLst xmlns:p="http://schemas.openxmlformats.org/presentationml/2006/main">
  <p:tag name="KSO_WM_DIAGRAM_VIRTUALLY_FRAME" val="{&quot;height&quot;:342.9109448818898,&quot;left&quot;:334.63204724409445,&quot;top&quot;:100.9323622047244,&quot;width&quot;:546.5407874015749}"/>
</p:tagLst>
</file>

<file path=ppt/tags/tag11.xml><?xml version="1.0" encoding="utf-8"?>
<p:tagLst xmlns:p="http://schemas.openxmlformats.org/presentationml/2006/main">
  <p:tag name="KSO_WM_DIAGRAM_VIRTUALLY_FRAME" val="{&quot;height&quot;:374.88,&quot;left&quot;:168.16527559055118,&quot;top&quot;:59.31881889763781,&quot;width&quot;:394.64346456692914}"/>
</p:tagLst>
</file>

<file path=ppt/tags/tag12.xml><?xml version="1.0" encoding="utf-8"?>
<p:tagLst xmlns:p="http://schemas.openxmlformats.org/presentationml/2006/main">
  <p:tag name="KSO_WM_TEMPLATE_CATEGORY" val="diagram"/>
  <p:tag name="KSO_WM_TEMPLATE_INDEX" val="160824"/>
  <p:tag name="KSO_WM_UNIT_TYPE" val="p_h_f"/>
  <p:tag name="KSO_WM_UNIT_INDEX" val="1_1_1"/>
  <p:tag name="KSO_WM_UNIT_ID" val="diagram160824_1*p_h_f*1_1_1"/>
  <p:tag name="KSO_WM_UNIT_LAYERLEVEL" val="1_1_1"/>
  <p:tag name="KSO_WM_UNIT_VALUE" val="21"/>
  <p:tag name="KSO_WM_UNIT_HIGHLIGHT" val="0"/>
  <p:tag name="KSO_WM_UNIT_COMPATIBLE" val="0"/>
  <p:tag name="KSO_WM_UNIT_CLEAR" val="0"/>
  <p:tag name="KSO_WM_BEAUTIFY_FLAG" val="#wm#"/>
  <p:tag name="KSO_WM_TAG_VERSION" val="1.0"/>
  <p:tag name="KSO_WM_DIAGRAM_GROUP_CODE" val="p1-1"/>
  <p:tag name="KSO_WM_UNIT_PRESET_TEXT" val="LOREM IPSUM"/>
</p:tagLst>
</file>

<file path=ppt/tags/tag13.xml><?xml version="1.0" encoding="utf-8"?>
<p:tagLst xmlns:p="http://schemas.openxmlformats.org/presentationml/2006/main">
  <p:tag name="KSO_WM_TEMPLATE_CATEGORY" val="diagram"/>
  <p:tag name="KSO_WM_TEMPLATE_INDEX" val="160824"/>
  <p:tag name="KSO_WM_UNIT_TYPE" val="p_h_h_f"/>
  <p:tag name="KSO_WM_UNIT_INDEX" val="1_1_2_1"/>
  <p:tag name="KSO_WM_UNIT_ID" val="diagram160824_1*p_h_h_f*1_1_2_1"/>
  <p:tag name="KSO_WM_UNIT_LAYERLEVEL" val="1_1_1_1"/>
  <p:tag name="KSO_WM_UNIT_VALUE" val="21"/>
  <p:tag name="KSO_WM_UNIT_HIGHLIGHT" val="0"/>
  <p:tag name="KSO_WM_UNIT_COMPATIBLE" val="0"/>
  <p:tag name="KSO_WM_UNIT_CLEAR" val="0"/>
  <p:tag name="KSO_WM_BEAUTIFY_FLAG" val="#wm#"/>
  <p:tag name="KSO_WM_TAG_VERSION" val="1.0"/>
  <p:tag name="KSO_WM_DIAGRAM_GROUP_CODE" val="p1-1"/>
  <p:tag name="KSO_WM_UNIT_PRESET_TEXT" val="LOREM IPSUM"/>
</p:tagLst>
</file>

<file path=ppt/tags/tag14.xml><?xml version="1.0" encoding="utf-8"?>
<p:tagLst xmlns:p="http://schemas.openxmlformats.org/presentationml/2006/main">
  <p:tag name="KSO_WM_TEMPLATE_CATEGORY" val="diagram"/>
  <p:tag name="KSO_WM_TEMPLATE_INDEX" val="160824"/>
  <p:tag name="KSO_WM_UNIT_TYPE" val="p_h_h_f"/>
  <p:tag name="KSO_WM_UNIT_INDEX" val="1_1_1_1"/>
  <p:tag name="KSO_WM_UNIT_ID" val="diagram160824_1*p_h_h_f*1_1_1_1"/>
  <p:tag name="KSO_WM_UNIT_LAYERLEVEL" val="1_1_1_1"/>
  <p:tag name="KSO_WM_UNIT_VALUE" val="21"/>
  <p:tag name="KSO_WM_UNIT_HIGHLIGHT" val="0"/>
  <p:tag name="KSO_WM_UNIT_COMPATIBLE" val="0"/>
  <p:tag name="KSO_WM_UNIT_CLEAR" val="0"/>
  <p:tag name="KSO_WM_BEAUTIFY_FLAG" val="#wm#"/>
  <p:tag name="KSO_WM_TAG_VERSION" val="1.0"/>
  <p:tag name="KSO_WM_DIAGRAM_GROUP_CODE" val="p1-1"/>
  <p:tag name="KSO_WM_UNIT_PRESET_TEXT" val="LOREM IPSUM"/>
</p:tagLst>
</file>

<file path=ppt/tags/tag15.xml><?xml version="1.0" encoding="utf-8"?>
<p:tagLst xmlns:p="http://schemas.openxmlformats.org/presentationml/2006/main">
  <p:tag name="KSO_WM_TAG_VERSION" val="1.0"/>
  <p:tag name="KSO_WM_BEAUTIFY_FLAG" val="#wm#"/>
  <p:tag name="KSO_WM_UNIT_TYPE" val="i"/>
  <p:tag name="KSO_WM_UNIT_ID" val="diagram160824_1*i*3"/>
  <p:tag name="KSO_WM_TEMPLATE_CATEGORY" val="diagram"/>
  <p:tag name="KSO_WM_TEMPLATE_INDEX" val="160824"/>
  <p:tag name="KSO_WM_UNIT_INDEX" val="3"/>
</p:tagLst>
</file>

<file path=ppt/tags/tag16.xml><?xml version="1.0" encoding="utf-8"?>
<p:tagLst xmlns:p="http://schemas.openxmlformats.org/presentationml/2006/main">
  <p:tag name="KSO_WM_TEMPLATE_CATEGORY" val="diagram"/>
  <p:tag name="KSO_WM_TEMPLATE_INDEX" val="160824"/>
  <p:tag name="KSO_WM_UNIT_TYPE" val="p_h_h_i"/>
  <p:tag name="KSO_WM_UNIT_INDEX" val="1_1_2_1"/>
  <p:tag name="KSO_WM_UNIT_ID" val="diagram160824_1*p_h_h_i*1_1_2_1"/>
  <p:tag name="KSO_WM_UNIT_LAYERLEVEL" val="1_1_1_1"/>
  <p:tag name="KSO_WM_BEAUTIFY_FLAG" val="#wm#"/>
  <p:tag name="KSO_WM_TAG_VERSION" val="1.0"/>
  <p:tag name="KSO_WM_DIAGRAM_GROUP_CODE" val="p1-1"/>
</p:tagLst>
</file>

<file path=ppt/tags/tag17.xml><?xml version="1.0" encoding="utf-8"?>
<p:tagLst xmlns:p="http://schemas.openxmlformats.org/presentationml/2006/main">
  <p:tag name="KSO_WM_TEMPLATE_CATEGORY" val="diagram"/>
  <p:tag name="KSO_WM_TEMPLATE_INDEX" val="160824"/>
  <p:tag name="KSO_WM_UNIT_TYPE" val="p_h_h_i"/>
  <p:tag name="KSO_WM_UNIT_INDEX" val="1_1_1_1"/>
  <p:tag name="KSO_WM_UNIT_ID" val="diagram160824_1*p_h_h_i*1_1_1_1"/>
  <p:tag name="KSO_WM_UNIT_LAYERLEVEL" val="1_1_1_1"/>
  <p:tag name="KSO_WM_BEAUTIFY_FLAG" val="#wm#"/>
  <p:tag name="KSO_WM_TAG_VERSION" val="1.0"/>
  <p:tag name="KSO_WM_DIAGRAM_GROUP_CODE" val="p1-1"/>
</p:tagLst>
</file>

<file path=ppt/tags/tag18.xml><?xml version="1.0" encoding="utf-8"?>
<p:tagLst xmlns:p="http://schemas.openxmlformats.org/presentationml/2006/main">
  <p:tag name="KSO_WM_TEMPLATE_CATEGORY" val="diagram"/>
  <p:tag name="KSO_WM_TEMPLATE_INDEX" val="820"/>
  <p:tag name="KSO_WM_UNIT_TYPE" val="p_h_h_i"/>
  <p:tag name="KSO_WM_UNIT_INDEX" val="1_1_1_1"/>
  <p:tag name="KSO_WM_UNIT_ID" val="diagram820_1*p_h_h_i*1_1_1_1"/>
  <p:tag name="KSO_WM_UNIT_LAYERLEVEL" val="1_1_1_1"/>
  <p:tag name="KSO_WM_BEAUTIFY_FLAG" val="#wm#"/>
  <p:tag name="KSO_WM_TAG_VERSION" val="1.0"/>
  <p:tag name="KSO_WM_DIAGRAM_GROUP_CODE" val="p1-1"/>
</p:tagLst>
</file>

<file path=ppt/tags/tag19.xml><?xml version="1.0" encoding="utf-8"?>
<p:tagLst xmlns:p="http://schemas.openxmlformats.org/presentationml/2006/main">
  <p:tag name="KSO_WM_TEMPLATE_CATEGORY" val="diagram"/>
  <p:tag name="KSO_WM_TEMPLATE_INDEX" val="820"/>
  <p:tag name="KSO_WM_UNIT_TYPE" val="p_h_f"/>
  <p:tag name="KSO_WM_UNIT_INDEX" val="1_1_1"/>
  <p:tag name="KSO_WM_UNIT_ID" val="diagram820_1*p_h_f*1_1_1"/>
  <p:tag name="KSO_WM_UNIT_LAYERLEVEL" val="1_1_1"/>
  <p:tag name="KSO_WM_UNIT_VALUE" val="30"/>
  <p:tag name="KSO_WM_UNIT_HIGHLIGHT" val="0"/>
  <p:tag name="KSO_WM_UNIT_COMPATIBLE" val="0"/>
  <p:tag name="KSO_WM_UNIT_CLEAR" val="0"/>
  <p:tag name="KSO_WM_BEAUTIFY_FLAG" val="#wm#"/>
  <p:tag name="KSO_WM_TAG_VERSION" val="1.0"/>
  <p:tag name="KSO_WM_DIAGRAM_GROUP_CODE" val="p1-1"/>
  <p:tag name="KSO_WM_UNIT_PRESET_TEXT" val="LOREM IPSUM DOLOR LOREM"/>
</p:tagLst>
</file>

<file path=ppt/tags/tag20.xml><?xml version="1.0" encoding="utf-8"?>
<p:tagLst xmlns:p="http://schemas.openxmlformats.org/presentationml/2006/main">
  <p:tag name="KSO_WM_TEMPLATE_CATEGORY" val="diagram"/>
  <p:tag name="KSO_WM_TEMPLATE_INDEX" val="820"/>
  <p:tag name="KSO_WM_UNIT_TYPE" val="p_h_h_f"/>
  <p:tag name="KSO_WM_UNIT_INDEX" val="1_1_1_1"/>
  <p:tag name="KSO_WM_UNIT_ID" val="diagram820_1*p_h_h_f*1_1_1_1"/>
  <p:tag name="KSO_WM_UNIT_LAYERLEVEL" val="1_1_1_1"/>
  <p:tag name="KSO_WM_UNIT_VALUE" val="30"/>
  <p:tag name="KSO_WM_UNIT_HIGHLIGHT" val="0"/>
  <p:tag name="KSO_WM_UNIT_COMPATIBLE" val="0"/>
  <p:tag name="KSO_WM_UNIT_CLEAR" val="0"/>
  <p:tag name="KSO_WM_BEAUTIFY_FLAG" val="#wm#"/>
  <p:tag name="KSO_WM_TAG_VERSION" val="1.0"/>
  <p:tag name="KSO_WM_DIAGRAM_GROUP_CODE" val="p1-1"/>
  <p:tag name="KSO_WM_UNIT_PRESET_TEXT" val="LOREM IPSUM DOLOR LOREM"/>
</p:tagLst>
</file>

<file path=ppt/tags/tag21.xml><?xml version="1.0" encoding="utf-8"?>
<p:tagLst xmlns:p="http://schemas.openxmlformats.org/presentationml/2006/main">
  <p:tag name="KSO_WM_DIAGRAM_VIRTUALLY_FRAME" val="{&quot;height&quot;:278.68,&quot;left&quot;:168.16527559055118,&quot;top&quot;:155.5188188976378,&quot;width&quot;:671.8348031496064}"/>
</p:tagLst>
</file>

<file path=ppt/tags/tag22.xml><?xml version="1.0" encoding="utf-8"?>
<p:tagLst xmlns:p="http://schemas.openxmlformats.org/presentationml/2006/main">
  <p:tag name="KSO_WM_DIAGRAM_VIRTUALLY_FRAME" val="{&quot;height&quot;:278.68,&quot;left&quot;:168.16527559055118,&quot;top&quot;:155.5188188976378,&quot;width&quot;:671.8348031496064}"/>
</p:tagLst>
</file>

<file path=ppt/tags/tag23.xml><?xml version="1.0" encoding="utf-8"?>
<p:tagLst xmlns:p="http://schemas.openxmlformats.org/presentationml/2006/main">
  <p:tag name="KSO_WM_DIAGRAM_VIRTUALLY_FRAME" val="{&quot;height&quot;:278.68,&quot;left&quot;:168.16527559055118,&quot;top&quot;:155.5188188976378,&quot;width&quot;:671.8348031496064}"/>
</p:tagLst>
</file>

<file path=ppt/tags/tag24.xml><?xml version="1.0" encoding="utf-8"?>
<p:tagLst xmlns:p="http://schemas.openxmlformats.org/presentationml/2006/main">
  <p:tag name="KSO_WM_DIAGRAM_VIRTUALLY_FRAME" val="{&quot;height&quot;:278.68,&quot;left&quot;:168.16527559055118,&quot;top&quot;:155.5188188976378,&quot;width&quot;:671.8348031496064}"/>
</p:tagLst>
</file>

<file path=ppt/tags/tag25.xml><?xml version="1.0" encoding="utf-8"?>
<p:tagLst xmlns:p="http://schemas.openxmlformats.org/presentationml/2006/main">
  <p:tag name="KSO_WM_DIAGRAM_VIRTUALLY_FRAME" val="{&quot;height&quot;:278.68,&quot;left&quot;:168.16527559055118,&quot;top&quot;:155.5188188976378,&quot;width&quot;:671.8348031496064}"/>
</p:tagLst>
</file>

<file path=ppt/tags/tag26.xml><?xml version="1.0" encoding="utf-8"?>
<p:tagLst xmlns:p="http://schemas.openxmlformats.org/presentationml/2006/main">
  <p:tag name="KSO_WM_DIAGRAM_VIRTUALLY_FRAME" val="{&quot;height&quot;:278.68,&quot;left&quot;:168.16527559055118,&quot;top&quot;:155.5188188976378,&quot;width&quot;:671.8348031496064}"/>
</p:tagLst>
</file>

<file path=ppt/tags/tag27.xml><?xml version="1.0" encoding="utf-8"?>
<p:tagLst xmlns:p="http://schemas.openxmlformats.org/presentationml/2006/main">
  <p:tag name="KSO_WM_DIAGRAM_VIRTUALLY_FRAME" val="{&quot;height&quot;:278.68,&quot;left&quot;:168.16527559055118,&quot;top&quot;:155.5188188976378,&quot;width&quot;:671.8348031496064}"/>
</p:tagLst>
</file>

<file path=ppt/tags/tag28.xml><?xml version="1.0" encoding="utf-8"?>
<p:tagLst xmlns:p="http://schemas.openxmlformats.org/presentationml/2006/main">
  <p:tag name="KSO_WM_DIAGRAM_VIRTUALLY_FRAME" val="{&quot;height&quot;:278.68,&quot;left&quot;:168.16527559055118,&quot;top&quot;:155.5188188976378,&quot;width&quot;:671.8348031496064}"/>
</p:tagLst>
</file>

<file path=ppt/tags/tag29.xml><?xml version="1.0" encoding="utf-8"?>
<p:tagLst xmlns:p="http://schemas.openxmlformats.org/presentationml/2006/main">
  <p:tag name="KSO_WM_DIAGRAM_VIRTUALLY_FRAME" val="{&quot;height&quot;:278.68,&quot;left&quot;:168.16527559055118,&quot;top&quot;:155.5188188976378,&quot;width&quot;:671.8348031496064}"/>
</p:tagLst>
</file>

<file path=ppt/tags/tag30.xml><?xml version="1.0" encoding="utf-8"?>
<p:tagLst xmlns:p="http://schemas.openxmlformats.org/presentationml/2006/main">
  <p:tag name="KSO_WM_DIAGRAM_VIRTUALLY_FRAME" val="{&quot;height&quot;:278.68,&quot;left&quot;:168.16527559055118,&quot;top&quot;:155.5188188976378,&quot;width&quot;:671.8348031496064}"/>
</p:tagLst>
</file>

<file path=ppt/tags/tag31.xml><?xml version="1.0" encoding="utf-8"?>
<p:tagLst xmlns:p="http://schemas.openxmlformats.org/presentationml/2006/main">
  <p:tag name="KSO_WM_DIAGRAM_VIRTUALLY_FRAME" val="{&quot;height&quot;:278.68,&quot;left&quot;:168.16527559055118,&quot;top&quot;:155.5188188976378,&quot;width&quot;:671.8348031496064}"/>
</p:tagLst>
</file>

<file path=ppt/tags/tag32.xml><?xml version="1.0" encoding="utf-8"?>
<p:tagLst xmlns:p="http://schemas.openxmlformats.org/presentationml/2006/main">
  <p:tag name="KSO_WM_DIAGRAM_VIRTUALLY_FRAME" val="{&quot;height&quot;:278.68,&quot;left&quot;:168.16527559055118,&quot;top&quot;:155.5188188976378,&quot;width&quot;:671.8348031496064}"/>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第一PPT，www.1ppt.com">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657119C-6982-421D-8BA7-E74DEB70A7D9-1">
      <extobjdata type="E657119C-6982-421D-8BA7-E74DEB70A7D9" data="ewoJIkNhdGVnb3J5IiA6ICJtaW5kX2ZyZWUiLAoJIkRlZmluaXRpb24iIDogIkpUZENKVEl5Ym05MFpTVXlNaVV6UVNVeU1pVXlNaVV5UXlVeU1tTm9hV3hrY21WdUpUSXlKVE5CSlRWQ0pUZENKVEl5Y0dGeVpXNTBKVEl5SlROQkpUSXljbTl2ZENVeU1pVXlReVV5TW1Ob2FXeGtjbVZ1SlRJeUpUTkJKVFZDSlRkQ0pUSXljR0Z5Wlc1MEpUSXlKVE5CSlRJeU1ERXpObU5pTkRabU9USm1KVEl5SlRKREpUSXlZMmhwYkdSeVpXNGxNaklsTTBFbE5VSWxOVVFsTWtNbE1qSnBaQ1V5TWlVelFTVXlNalV3WVRRd05UY3lNRGt6WlNVeU1pVXlReVV5TW5ScGRHeGxKVEl5SlROQkpUSXlKVE5EYzNCaGJpVXlNSE4wZVd4bEpUTkVKVFZESlRJeVptOXVkQzF6YVhwbEpUTkJKVEl3TVRKd2VDVXpRaVUxUXlVeU1pVXpSWFJ5WVc1emJHRjBhVzVuSlRJd2JtOTFibk1sTWpCaWVTVXlNRzV2ZFc1ekpUSkRKVEl3ZG1WeVluTWxNakJpZVNVeU1IWmxjbUp6SlRKREpUSXdaWFJqTGlVelF5VXlSbk53WVc0bE0wVWxNaklsTWtNbE1qSmpZV3hzYjNWMEpUSXlKVE5CSlRWQ0pUVkVKVGRFSlRKREpUZENKVEl5Y0dGeVpXNTBKVEl5SlROQkpUSXlNREV6Tm1OaU5EWm1PVEptSlRJeUpUSkRKVEl5WTJocGJHUnlaVzRsTWpJbE0wRWxOVUlsTlVRbE1rTWxNakpwWkNVeU1pVXpRU1V5TWpZNE5UQm1NalpqWldRNE55VXlNaVV5UXlVeU1uUnBkR3hsSlRJeUpUTkJKVEl5YTJWbGNHbHVaeVV5TUdGc2JDVXlNSEJvY21GelpYTWxNakJoYm1RbE1qQnpaVzUwWlc1alpYTWxNakJwYm5SaFkzUWxNaklsTWtNbE1qSmpZV3hzYjNWMEpUSXlKVE5CSlRWQ0pUVkVKVGRFSlRKREpUZENKVEl5WTJocGJHUnlaVzRsTWpJbE0wRWxOVUlsTlVRbE1rTWxNakpwWkNVeU1pVXpRU1V5TWpjd1lUSTFNbU14TFRRek1EZ3ROR0UxTmkxaE1HTTNMV1kzTkRrNFkyWTFZek5rWVNVeU1pVXlReVV5TW5ScGRHeGxKVEl5SlROQkpUSXljSEpsYzJWeWRtbHVaeVV5TUdGc2JDVXlNR1p2Y20xaGJDVXlNR2x1WkdsallYUnZjbk1sTWpJbE1rTWxNakp3WVhKbGJuUWxNaklsTTBFbE1qSXdNVE0yWTJJME5tWTVNbVlsTWpJbE1rTWxNakpqWVd4c2IzVjBKVEl5SlROQkpUVkNKVFZFSlRkRUpUVkVKVEpESlRJeWMzUjViR1VsTWpJbE0wRWxOMElsTWpKaWIzSmtaWEl0ZDJsa2RHZ2xNaklsTTBFbE1qSXdKVEl5SlRkRUpUSkRKVEl5YVdRbE1qSWxNMEVsTWpJd01UTTJZMkkwTm1ZNU1tWWxNaklsTWtNbE1qSjBhWFJzWlNVeU1pVXpRU1V5TW1keVlXMXRZWFJwWTJGc0pUSXdkVzVwZEhNbE1qSWxNa01sTWpKallXeHNiM1YwSlRJeUpUTkJKVFZDSlRWRUpUZEVKVEpESlRkQ0pUSXljR0Z5Wlc1MEpUSXlKVE5CSlRJeWNtOXZkQ1V5TWlVeVF5VXlNbU5vYVd4a2NtVnVKVEl5SlROQkpUVkNKVFZFSlRKREpUSXlhV1FsTWpJbE0wRWxNakprT0RCaE1tWmlaRFEzWkdZbE1qSWxNa01sTWpKMGFYUnNaU1V5TWlVelFTVXlNbU52Ym5OcGMzUmxibU41SlRJd2FXNGxNakIzYjNKa0pUSXdkWE5oWjJVbE1qSWxNa01sTWpKallXeHNiM1YwSlRJeUpUTkJKVFZDSlRWRUpUZEVKVEpESlRkQ0pUSXljR0Z5Wlc1MEpUSXlKVE5CSlRJeWNtOXZkQ1V5TWlVeVF5VXlNbU5vYVd4a2NtVnVKVEl5SlROQkpUVkNKVFZFSlRKREpUSXlhV1FsTWpJbE0wRWxNakkyT1RnMll6RTRNVEV3WmpBbE1qSWxNa01sTWpKMGFYUnNaU1V5TWlVelFTVXlNbTFsWVc1cGJtZHpKVEl3YVc0bE1qQjBaWEp0Y3lVeU1HOW1KVEl3ZEdobEpUSXdjMjkxY21ObEpUSXdkR1Y0ZENVeU1pVXlReVV5TW1OaGJHeHZkWFFsTWpJbE0wRWxOVUlsTlVRbE4wUWxOVVFsTWtNbE1qSnliMjkwSlRJeUpUTkJkSEoxWlNVeVF5VXlNblJvWlcxbEpUSXlKVE5CSlRJeUpUZENKVFZESlRJeVltRmphMmR5YjNWdVpDVTFReVV5TWlVelFTVTFReVV5TWlVeU0yVmhZMlJrTVNVMVF5VXlNaVV5UXlVMVF5VXlNblJvZFcxaVZYSnNKVFZESlRJeUpUTkJKVFZESlRJeWFIUjBjSE1sTTBFbE1rWWxNa1ozZDNjdWNISnZZMlZ6YzI5dUxtTnZiU1V5Um1GemMyVjBjeVV5Um1sdFlXZGxjeVV5Um0xcGJtUWxNa1p0Y2k1cWNHY2xOVU1sTWpJbE1rTWxOVU1sTWpKMGFHbHVibVZ5SlRWREpUSXlKVE5CWm1Gc2MyVWxNa01sTlVNbE1qSjBhWFJzWlNVMVF5VXlNaVV6UVNVMVF5VXlNaVZGT1NWQ1FpVTVPQ1ZGT0NWQlJTVkJOQ1ZGT1NWQk15VTRSU1ZGTmlWQk1DVkNReVUxUXlVeU1pVXlReVUxUXlVeU1tMWhjbWRwYmtnbE5VTWxNaklsTTBFek1DVXlReVUxUXlVeU1tMWhjbWRwYmxjbE5VTWxNaklsTTBFNE1DVXlReVUxUXlVeU1tTm9hV3hrVFdGeVoybHVTQ1UxUXlVeU1pVXpRVEl3SlRKREpUVkRKVEl5WTJocGJHUk5ZWEpuYVc1WEpUVkRKVEl5SlROQk1USWxNa01sTlVNbE1qSmpiMjF0YjI0bE5VTWxNaklsTTBFbE4wSWxOVU1sTWpKbVlXMXBiSGtsTlVNbE1qSWxNMEVsTlVNbE1qSWxSVFVsUWtVbFFVVWxSVGdsUWtRbFFVWWxSVGtsT1VJbE9EVWxSVGtsUWtJbE9URWxOVU1sTWpJbE1rTWxOVU1sTWpKaWIyeGtKVFZESlRJeUpUTkJkSEoxWlNVeVF5VTFReVV5TW1sMFlXeHBZeVUxUXlVeU1pVXpRV1poYkhObEpUSkRKVFZESlRJeWRHVjRkRUZzYVdkdUpUVkRKVEl5SlROQkpUVkRKVEl5YkdWbWRDVTFReVV5TWlVM1JDVXlReVUxUXlVeU1tTnZibTVsWTNScGIyNVRkSGxzWlNVMVF5VXlNaVV6UVNVM1FpVTFReVV5TW14cGJtVlhhV1IwYUNVMVF5VXlNaVV6UVRJbE1rTWxOVU1sTWpKc2FXNWxRMjlzYjNJbE5VTWxNaklsTTBFbE5VTWxNakp5WjJJb01URXpKVEpESlRJd01qQXpKVEpESlRJd05EVXBKVFZESlRJeUpUSkRKVFZESlRJeVkyOXNiM0lsTlVNbE1qSWxNMEVsTlVNbE1qSWxNak5tWm1abVptWWxOVU1sTWpJbE4wUWxNa01sTlVNbE1qSmpaVzUwWlhKVWIzQnBZeVUxUXlVeU1pVXpRU1UzUWlVMVF5VXlNbUpoWTJ0bmNtOTFibVJEYjJ4dmNpVTFReVV5TWlVelFTVTFReVV5TWlVeU16TmpPR1JoTWlVMVF5VXlNaVV5UXlVMVF5VXlNbU52Ykc5eUpUVkRKVEl5SlROQkpUVkRKVEl5SlRJelptWm1KVFZESlRJeUpUSkRKVFZESlRJeVptOXVkQzF6YVhwbEpUVkRKVEl5SlROQkpUVkRKVEl5TWpSd2VDVTFReVV5TWlVeVF5VTFReVV5TW1KdmNtUmxjaTF5WVdScGRYTWxOVU1sTWpJbE0wRWxOVU1sTWpJek1IQjRKVFZESlRJeUpUSkRKVFZESlRJeWNHRmtaR2x1WnlVMVF5VXlNaVV6UVNVMVF5VXlNakUwY0hnbE1qQXlOSEI0SlRJd01UUndlQ1V5TURJMGNIZ2xOVU1sTWpJbE1rTWxOVU1sTWpKMFpYaDBRV3hwWjI0bE5VTWxNaklsTTBFbE5VTWxNakpzWldaMEpUVkRKVEl5SlRKREpUVkRKVEl5Wm05dWRDMW1ZVzFwYkhrbE5VTWxNaklsTTBFbE5VTWxNaklsUlRVbFFrVWxRVVVsUlRnbFFrUWxRVVlsUlRrbE9VSWxPRFVsUlRrbFFrSWxPVEVsTlVNbE1qSWxNa01sTlVNbE1qSm1iMjUwTFhkbGFXZG9kQ1UxUXlVeU1pVXpRU1UxUXlVeU1tSnZiR1FsTlVNbE1qSWxNa01sTlVNbE1qSm1iMjUwTFhOMGVXeGxKVFZESlRJeUpUTkJKVFZESlRJeWJtOXliV0ZzSlRWREpUSXlKVGRFSlRKREpUVkRKVEl5YzJWalZHOXdhV01sTlVNbE1qSWxNMEVsTjBJbE5VTWxNakppWVdOclozSnZkVzVrUTI5c2IzSWxOVU1sTWpJbE0wRWxOVU1sTWpJbE1qTm1abVptWm1ZbE5VTWxNaklsTWtNbE5VTWxNakppYjNKa1pYSWxOVU1sTWpJbE0wRWxOVU1sTWpJeGNIZ2xNakJ6YjJ4cFpDVXlNSEpuWWlneE9EY2xNa014T0RjbE1rTXhPRGNwSlRWREpUSXlKVEpESlRWREpUSXlZbTl5WkdWeUxYSmhaR2wxY3lVMVF5VXlNaVV6UVNVMVF5VXlNak13Y0hnbE5VTWxNaklsTWtNbE5VTWxNakpqYjJ4dmNpVTFReVV5TWlVelFTVTFReVV5TWlVeU16TmpPR1JoTWlVMVF5VXlNaVV5UXlVMVF5VXlNbVp2Ym5RdGMybDZaU1UxUXlVeU1pVXpRU1UxUXlVeU1qRTJjSGdsTlVNbE1qSWxNa01sTlVNbE1qSndZV1JrYVc1bkpUVkRKVEl5SlROQkpUVkRKVEl5TVRCd2VDVXlNREUyY0hnbE1qQXhNSEI0SlRJd01UWndlQ1UxUXlVeU1pVXlReVUxUXlVeU1teHBibVZUZEhsc1pTVTFReVV5TWlVelFTVTNRaVUxUXlVeU1teHBibVZVZVhCbEpUVkRKVEl5SlROQkpUVkRKVEl5WTNWeWRtVWxOVU1sTWpJbE1rTWxOVU1sTWpKc2FXNWxWMmxrZEdnbE5VTWxNaklsTTBFbE5VTWxNakl6SlRWREpUSXlKVEpESlRWREpUSXliR2x1WlVOdmJHOXlKVFZESlRJeUpUTkJKVFZESlRJeUpUSXpabVptWm1abUpUVkRKVEl5SlRkRUpUSkRKVFZESlRJeWRHVjRkRUZzYVdkdUpUVkRKVEl5SlROQkpUVkRKVEl5YkdWbWRDVTFReVV5TWlVeVF5VTFReVV5TW1admJuUXRabUZ0YVd4NUpUVkRKVEl5SlROQkpUVkRKVEl5SlVVMUpVSkZKVUZGSlVVNEpVSkVKVUZHSlVVNUpUbENKVGcxSlVVNUpVSkNKVGt4SlRWREpUSXlKVEpESlRWREpUSXlabTl1ZEMxM1pXbG5hSFFsTlVNbE1qSWxNMEVsTlVNbE1qSmliMnhrSlRWREpUSXlKVEpESlRWREpUSXlabTl1ZEMxemRIbHNaU1UxUXlVeU1pVXpRU1UxUXlVeU1tNXZjbTFoYkNVMVF5VXlNaVV5UXlVMVF5VXlNbUp2Y21SbGNpMTNhV1IwYUNVMVF5VXlNaVV6UVNVMVF5VXlNakFsTlVNbE1qSWxNa01sTlVNbE1qSmliM0prWlhJdGMzUjViR1VsTlVNbE1qSWxNMEVsTlVNbE1qSnpiMnhwWkNVMVF5VXlNaVUzUkNVeVF5VTFReVV5TW1Ob2FXeGtWRzl3YVdNbE5VTWxNaklsTTBFbE4wSWxOVU1sTWpKbWIyNTBMWE5wZW1VbE5VTWxNaklsTTBFbE5VTWxNakl4TkhCNEpUVkRKVEl5SlRKREpUVkRKVEl5WTI5c2IzSWxOVU1sTWpJbE0wRWxOVU1sTWpJbE1qTXpZemhrWVRJbE5VTWxNaklsTWtNbE5VTWxNakp3WVdSa2FXNW5KVFZESlRJeUpUTkJKVFZESlRJeU5uQjRKVEl3TVRKd2VDVXlNRFp3ZUNVeU1DVTFReVV5TWlVeVF5VTFReVV5TW14cGJtVlRkSGxzWlNVMVF5VXlNaVV6UVNVM1FpVTFReVV5TW14cGJtVlVlWEJsSlRWREpUSXlKVE5CSlRWREpUSXljbTkxYm1SQ2NtOXJaVzRsTlVNbE1qSWxNa01sTlVNbE1qSnNhVzVsVjJsa2RHZ2xOVU1sTWpJbE0wRWxOVU1sTWpJekpUVkRKVEl5SlRKREpUVkRKVEl5YkdsdVpVTnZiRzl5SlRWREpUSXlKVE5CSlRWREpUSXlKVEl6Wm1abVptWm1KVFZESlRJeUpUZEVKVEpESlRWREpUSXlkR1Y0ZEVGc2FXZHVKVFZESlRJeUpUTkJKVFZESlRJeWJHVm1kQ1UxUXlVeU1pVXlReVUxUXlVeU1tWnZiblF0Wm1GdGFXeDVKVFZESlRJeUpUTkJKVFZESlRJeUpVVTFKVUpGSlVGRkpVVTRKVUpFSlVGR0pVVTVKVGxDSlRnMUpVVTVKVUpDSlRreEpUVkRKVEl5SlRKREpUVkRKVEl5Wm05dWRDMTNaV2xuYUhRbE5VTWxNaklsTTBFbE5VTWxNakppYjJ4a0pUVkRKVEl5SlRKREpUVkRKVEl5Wm05dWRDMXpkSGxzWlNVMVF5VXlNaVV6UVNVMVF5VXlNbTV2Y20xaGJDVTFReVV5TWlVeVF5VTFReVV5TW1KaFkydG5jbTkxYm1SRGIyeHZjaVUxUXlVeU1pVXpRU1UxUXlVeU1pVXlNMlkwWkdWbE1pVTFReVV5TWlVeVF5VTFReVV5TW1KdmNtUmxjaTF5WVdScGRYTWxOVU1sTWpJbE0wRWxOVU1sTWpJek1IQjRKVFZESlRJeUpUZEVKVEpESlRWREpUSXlhV1FsTlVNbE1qSWxNMEVsTlVNbE1qSmpkWE4wYjIxcGMyVmZNelppT0RWbFlqVTBaVFl5SlRWREpUSXlKVGRFSlRJeUpUSkRKVEl5YVdRbE1qSWxNMEVsTWpKeWIyOTBKVEl5SlRKREpUSXlkR2wwYkdVbE1qSWxNMEVsTWpKR2IzSnRZV3dsTWpCbGJHVnRaVzUwY3lVeU1pVXlReVV5TW5OMGNuVmpkSFZ5WlNVeU1pVXpRU1V5TW0xcGJtUmZjbWxuYUhRbE1qSWxNa01sTWpKbWNtVmxRMmhwYkdSeVpXNGxNaklsTTBFbE5VSWxOVVFsTWtNbE1qSjBaWGgwUVhWMGIxZHlZWEJYYVdSMGFDVXlNaVV6UVRrd01DVXlReVV5TW1SaGRHRWxNaklsTTBFbE4wSWxNakp5YVdkb2RDMWpiMjUwWlc1MExXbHVaR1Y0SlRJeUpUTkJNeVUzUkNVeVF5VXlNbVZrYVhSdmNsWmxjbk5wYjI0bE1qSWxNMEVsTWpKV01pVXlNaVV5UXlVeU1tTnZiVzFsYm5SekpUSXlKVE5CSlRWQ0pUVkVKVEpESlRJeVkyRnNiRzkxZENVeU1pVXpRU1UxUWlVMVJDVXlReVV5TW5kaGRHVnliV0Z5YXlVeU1pVXpRU1V5TWlVeU1pVXlReVV5TW5Ob2IzZFhZWFJsY20xaGNtc2xNaklsTTBGbVlXeHpaU1V5UXlVeU1tSmhZMnRuY205MWJtUWxNaklsTTBFbE1qSWxNak5GTUVVd1JUQWxNaklsTWtNbE1qSjBiMlJ2VEdsemRDVXlNaVV6UVNVM1FpVTNSQ1UzUkE9PSIsCgkiRmlsZUlkIiA6ICJwb19iaGlqaWFoaGVnZ2hqYSIKfQo="/>
    </extobj>
    <extobj name="E657119C-6982-421D-8BA7-E74DEB70A7D9-2">
      <extobjdata type="E657119C-6982-421D-8BA7-E74DEB70A7D9" data="ewoJIkNhdGVnb3J5IiA6ICJtaW5kX2ZyZWUiLAoJIkRlZmluaXRpb24iIDogIkpUZENKVEl5WTJocGJHUnlaVzRsTWpJbE0wRWxOVUlsTjBJbE1qSmphR2xzWkhKbGJpVXlNaVV6UVNVMVFpVTFSQ1V5UXlVeU1tbGtKVEl5SlROQkpUSXlObVZqTnpsa05HSXROMlEwWlMwME1tTXlMV0UwT1dVdFpqTmtZakpqTW1VeU4yRTFKVEl5SlRKREpUSXlkR2wwYkdVbE1qSWxNMEVsTWpKbGNYVnBkbUZzWlc1MEpUSkRKVEl3ZDJocFkyZ2xNakJ3YjJsdWRITWxNakIwYjNkaGNtUWxNakIwYUdVbE1qQnpiM1Z5WTJVdGJHRnVaM1ZoWjJVbE1qQnRaWE56WVdkbEpUSXlKVEpESlRJeWNHRnlaVzUwSlRJeUpUTkJKVEl5Y205dmRDVXlNaVV5UXlVeU1teHBibVZUZEhsc1pTVXlNaVV6UVNVM1FpVXlNbkpoYm1SdmJVeHBibVZEYjJ4dmNpVXlNaVV6UVNVeU1pVXlNemN5T1VJNFJDVXlNaVUzUkNVeVF5VXlNbU5oYkd4dmRYUWxNaklsTTBFbE5VSWxOVVFsTWtNbE1qSnpkSGxzWlNVeU1pVXpRU1UzUWlVeU1tTnZiRzl5SlRJeUpUTkJKVEl5Y21kaUtETTRKVEpETXpnbE1rTXpPQ2tsTWpJbE4wUWxOMFFsTWtNbE4wSWxNakpqYUdsc1pISmxiaVV5TWlVelFTVTFRaVUzUWlVeU1tTm9hV3hrY21WdUpUSXlKVE5CSlRWQ0pUVkVKVEpESlRJeWFXUWxNaklsTTBFbE1qSTJabVJrTVRJMk5pMWpOR0V3TFRRek5HTXRZbVZqWWkxaFltVmtNMlk1TWpVMVpqQWxNaklsTWtNbE1qSjBhWFJzWlNVeU1pVXpRU1V5TW5Sb1pTVXlNSEpsWTJWd2RHOXlKVEl3YkdGdVozVmhaMlVsTWpCaGJtUWxNakJqZFd4MGRYSmxKVEl3WVhNbE1qQmhKVEl3ZDJodmJHVWxNaklsTWtNbE1qSndZWEpsYm5RbE1qSWxNMEVsTWpKbFpERmlOV0k1TWkxa01XRmtMVFEwTnpBdFltSmtOUzB4TlROak5UZzVaRGc1TTJJbE1qSWxNa01sTWpKallXeHNiM1YwSlRJeUpUTkJKVFZDSlRWRUpUZEVKVEpESlRkQ0pUSXlZMmhwYkdSeVpXNGxNaklsTTBFbE5VSWxOVVFsTWtNbE1qSnBaQ1V5TWlVelFTVXlNakJqTkdFek5UWm1MVFkxWlRRdE5ETTFPUzFpWlRNd0xUTTBaalpoTURRMk16UmlNaVV5TWlVeVF5VXlNblJwZEd4bEpUSXlKVE5CSlRJeWRHaGxKVEl3WTI5dWRHVnVkQ1V5TUc5bUpUSXdkR2hsSlRJd2NHRnlkR2xqZFd4aGNpVXlNRzFsYzNOaFoyVWxNaklsTWtNbE1qSndZWEpsYm5RbE1qSWxNMEVsTWpKbFpERmlOV0k1TWkxa01XRmtMVFEwTnpBdFltSmtOUzB4TlROak5UZzVaRGc1TTJJbE1qSWxNa01sTWpKallXeHNiM1YwSlRJeUpUTkJKVFZDSlRWRUpUZEVKVEpESlRkQ0pUSXlZMmhwYkdSeVpXNGxNaklsTTBFbE5VSWxOVVFsTWtNbE1qSnBaQ1V5TWlVelFTVXlNalZtWWpFMU9HVXpMVGt4WlRJdE5EVXpZUzA0TlRFMExURmpNVEl5TTJRME9USXhPU1V5TWlVeVF5VXlNblJwZEd4bEpUSXlKVE5CSlRJeWRHaGxKVEl3Y21WalpYQjBiM0l0YkdGdVozVmhaMlVsTWpCaGRXUnBaVzVqWlNVeU1pVXlReVV5TW5CaGNtVnVkQ1V5TWlVelFTVXlNbVZrTVdJMVlqa3lMV1F4WVdRdE5EUTNNQzFpWW1RMUxURTFNMk0xT0Rsa09Ea3pZaVV5TWlVeVF5VXlNbU5oYkd4dmRYUWxNaklsTTBFbE5VSWxOVVFsTjBRbE5VUWxNa01sTWpKcFpDVXlNaVV6UVNVeU1tVmtNV0kxWWpreUxXUXhZV1F0TkRRM01DMWlZbVExTFRFMU0yTTFPRGxrT0RrellpVXlNaVV5UXlVeU1uUnBkR3hsSlRJeUpUTkJKVEl5SlRORFlpVXpSVzVoZEhWeVlXd2xNME1sTWtaaUpUTkZKVEpESlRJd2QyaHBZMmdsTWpCd2IybHVkSE1sTWpCMGFHVWxNakIwYjNkaGNtUWxNakIwYUdVbE1qQnlaV05sY0hSdmNpVXlNR3hoYm1kMVlXZGxKVEl5SlRKREpUSXljR0Z5Wlc1MEpUSXlKVE5CSlRJeWNtOXZkQ1V5TWlVeVF5VXlNbXhwYm1WVGRIbHNaU1V5TWlVelFTVTNRaVV5TW5KaGJtUnZiVXhwYm1WRGIyeHZjaVV5TWlVelFTVXlNaVV5TTBWRlJEUTROQ1V5TWlVM1JDVXlReVV5TW1OaGJHeHZkWFFsTWpJbE0wRWxOVUlsTlVRbE4wUWxNa01sTjBJbE1qSmphR2xzWkhKbGJpVXlNaVV6UVNVMVFpVTFSQ1V5UXlVeU1tbGtKVEl5SlROQkpUSXlZakZoWVRsak1HVXRNREJqWlMwME56TTJMVGhrTm1RdE56UXlNakJsTVRobE1qZGxKVEl5SlRKREpUSXlkR2wwYkdVbE1qSWxNMEVsTWpKamJHOXpaWE4wSlRKREpUSXdkMmhwWTJnbE1qQmlhVzVrY3lVeU1IUm9aU1V5TUhSM2J5VXlNRzl5YVdWdWRHRjBhVzl1Y3lVeU1IUnZaMlYwYUdWeUpUSXdiMjRsTWpCMGFHVWxNakJpWVhOcGN5VXlNRzltSlRJd2RHaGxKVEl3YUdsbmFHVnpkQ1V5TUdSbFozSmxaU1V5TUc5bUpUSXdZWEJ3Y205NGFXMWhkR2x2YmlVeU1pVXlReVV5TW5CaGNtVnVkQ1V5TWlVelFTVXlNbkp2YjNRbE1qSWxNa01sTWpKc2FXNWxVM1I1YkdVbE1qSWxNMEVsTjBJbE1qSnlZVzVrYjIxTWFXNWxRMjlzYjNJbE1qSWxNMEVsTWpJbE1qTkZNVGs0TnpNbE1qSWxOMFFsTWtNbE1qSmpZV3hzYjNWMEpUSXlKVE5CSlRWQ0pUVkVKVGRFSlRWRUpUSkRKVEl5Y205dmRDVXlNaVV6UVhSeWRXVWxNa01sTWpKMGFHVnRaU1V5TWlVelFTVXlNaVUzUWlVMVF5VXlNbUpoWTJ0bmNtOTFibVFsTlVNbE1qSWxNMEVsTlVNbE1qSWxNak5tWm1abVptWWxOVU1sTWpJbE1rTWxOVU1sTWpKMlpYSnphVzl1SlRWREpUSXlKVE5CSlRWREpUSXlkall1TVM0eEpUVkRKVEl5SlRKREpUVkRKVEl5WTI5dGJXOXVKVFZESlRJeUpUTkJKVGRDSlRWREpUSXlZbTlzWkNVMVF5VXlNaVV6UVdaaGJITmxKVEpESlRWREpUSXlhWFJoYkdsakpUVkRKVEl5SlROQlptRnNjMlVsTWtNbE5VTWxNakowWlhoMFFXeHBaMjRsTlVNbE1qSWxNMEVsTlVNbE1qSnNaV1owSlRWREpUSXlKVGRFSlRKREpUVkRKVEl5WTI5dWJtVmpkR2x2YmxOMGVXeGxKVFZESlRJeUpUTkJKVGRDSlRWREpUSXliR2x1WlZkcFpIUm9KVFZESlRJeUpUTkJNaVV5UXlVMVF5VXlNbXhwYm1WRGIyeHZjaVUxUXlVeU1pVXpRU1UxUXlVeU1pVXlNME0zTmpVMFJTVTFReVV5TWlVeVF5VTFReVV5TW14cGJtVlVlWEJsSlRWREpUSXlKVE5CSlRWREpUSXlaR0Z6YUdWa0pUVkRKVEl5SlRkRUpUSkRKVFZESlRJeWMzVnRiV0Z5ZVZSdmNHbGpKVFZESlRJeUpUTkJKVGRDSlRWREpUSXlabTl1ZEMxemFYcGxKVFZESlRJeUpUTkJKVFZESlRJeU1UUndlQ1UxUXlVeU1pVXlReVUxUXlVeU1uTjFiVzFoY25sTWFXNWxRMjlzYjNJbE5VTWxNaklsTTBFbE5VTWxNaklsTWpORE56WTFORVVsTlVNbE1qSWxNa01sTlVNbE1qSnpkVzF0WVhKNVRHbHVaVmRwWkhSb0pUVkRKVEl5SlROQk1pVXlReVUxUXlVeU1uTjFiVzFoY25sTWFXNWxWSGx3WlNVMVF5VXlNaVV6UVNVMVF5VXlNbU4xY25abFgyTnZiWEJzWlhnbE5VTWxNaklsTjBRbE1rTWxOVU1sTWpKaWIzVnVaR0Z5ZVZOMGVXeGxKVFZESlRJeUpUTkJKVGRDSlRWREpUSXliR2x1WlVOdmJHOXlKVFZESlRJeUpUTkJKVFZESlRJeUpUSXpRemMyTlRSRkpUVkRKVEl5SlRKREpUVkRKVEl5YkdsdVpWZHBaSFJvSlRWREpUSXlKVE5CTWlVeVF5VTFReVV5TW14cGJtVlVlWEJsSlRWREpUSXlKVE5CTWlVeVF5VTFReVV5TW1SaGMyaGhjbkpoZVNVMVF5VXlNaVV6UVNVMVF5VXlNallsTWtNekpUVkRKVEl5SlRKREpUVkRKVEl5Wm1sc2JDVTFReVV5TWlVelFTVTFReVV5TWlVeU0wTTNOalUwUlNVMVF5VXlNaVV5UXlVMVF5VXlNbTl3WVdOcGRIa2xOVU1sTWpJbE0wRWxOVU1sTWpJd0xqRWxOVU1sTWpJbE4wUWxNa01sTlVNbE1qSmpaVzUwWlhKVWIzQnBZeVUxUXlVeU1pVXpRU1UzUWlVMVF5VXlNbVp2Ym5RdGMybDZaU1UxUXlVeU1pVXpRVE13SlRKREpUVkRKVEl5YkdsdVpWTjBlV3hsSlRWREpUSXlKVE5CSlRkQ0pUVkRKVEl5YkdsdVpWUjVjR1VsTlVNbE1qSWxNMEVsTlVNbE1qSmpkWEoyWlNVMVF5VXlNaVV5UXlVMVF5VXlNbXhwYm1WWGFXUjBhQ1UxUXlVeU1pVXpRVE1sTjBRbE1rTWxOVU1sTWpKemFHRndaU1UxUXlVeU1pVXpRU1UxUXlVeU1uSmhaR2xoYm5OU1pXTjBZVzVuYkdVbE5VTWxNaklsTWtNbE5VTWxNakppWVdOclozSnZkVzVrSlRWREpUSXlKVE5CSlRWREpUSXlKVEl6UXpjMk5UUkZKVFZESlRJeUpUSkRKVFZESlRJeVltOXlaR1Z5TFdOdmJHOXlKVFZESlRJeUpUTkJKVFZESlRJeUpUSXpRemMyTlRSRkpUVkRKVEl5SlRKREpUVkRKVEl5Wm05dWRDMTNaV2xuYUhRbE5VTWxNaklsTTBFbE5VTWxNakppYjJ4a0pUVkRKVEl5SlRkRUpUSkRKVFZESlRJeWMyVmpWRzl3YVdNbE5VTWxNaklsTTBFbE4wSWxOVU1sTWpKbWIyNTBMWE5wZW1VbE5VTWxNaklsTTBFeE9DVXlReVUxUXlVeU1teHBibVZUZEhsc1pTVTFReVV5TWlVelFTVTNRaVUxUXlVeU1teHBibVZVZVhCbEpUVkRKVEl5SlROQkpUVkRKVEl5Y205MWJtUkNjbTlyWlc0bE5VTWxNaklsTWtNbE5VTWxNakpzYVc1bFYybGtkR2dsTlVNbE1qSWxNMEV5SlRkRUpUSkRKVFZESlRJeWMyaGhjR1VsTlVNbE1qSWxNMEVsTlVNbE1qSnlZV1JwWVc1elVtVmpkR0Z1WjJ4bEpUVkRKVEl5SlRKREpUVkRKVEl5WW1GamEyZHliM1Z1WkNVMVF5VXlNaVV6UVNVMVF5VXlNbUYxZEc5RGIyeHZjaVUxUXlVeU1pVXlReVUxUXlVeU1tSnZjbVJsY2kxamIyeHZjaVUxUXlVeU1pVXpRU1UxUXlVeU1tRjFkRzlEYjJ4dmNpVTFReVV5TWlVM1JDVXlReVUxUXlVeU1tTm9hV3hrVkc5d2FXTWxOVU1sTWpJbE0wRWxOMElsTlVNbE1qSm1iMjUwTFhOcGVtVWxOVU1sTWpJbE0wRXhOQ1V5UXlVMVF5VXlNbXhwYm1WVGRIbHNaU1UxUXlVeU1pVXpRU1UzUWlVMVF5VXlNbXhwYm1WVWVYQmxKVFZESlRJeUpUTkJKVFZESlRJeWNtOTFibVJDY205clpXNGxOVU1sTWpJbE1rTWxOVU1sTWpKc2FXNWxWMmxrZEdnbE5VTWxNaklsTTBFeUpUZEVKVEpESlRWREpUSXljMmhoY0dVbE5VTWxNaklsTTBFbE5VTWxNakoxYm1SbGNteHBibVVsTlVNbE1qSWxNa01sTlVNbE1qSmliM0prWlhJdGQybGtkR2dsTlVNbE1qSWxNMEV5SlRKREpUVkRKVEl5WW05eVpHVnlMV052Ykc5eUpUVkRKVEl5SlROQkpUVkRKVEl5WVhWMGIwTnZiRzl5SlRWREpUSXlKVEpESlRWREpUSXlZMmhwYkdSQ1owOXdZV05wZEhrbE5VTWxNaklsTTBFbE5VTWxNakl3TGpFMkpUVkRKVEl5SlRKREpUVkRKVEl5WVc1MGFXTnBjR0YwWlVKaFkydG5jbTkxYm1RbE5VTWxNaklsTTBFbE5VTWxNakpoZFhSdlEyOXNiM0lsTlVNbE1qSWxOMFFsTWtNbE5VTWxNakozTVNVMVF5VXlNaVV6UVRFbE1rTWxOVU1sTWpKM01pVTFReVV5TWlVelFURXlKVEpESlRWREpUSXlZWFYwYjBOdmJHOXlKVFZESlRJeUpUTkJkSEoxWlNVeVF5VTFReVV5TW1OdmJHOXlUR2x6ZENVMVF5VXlNaVV6UVNVMVFpVTFReVV5TWlVeU16Y3lPVUk0UkNVMVF5VXlNaVV5UXlVMVF5VXlNaVV5TTBWRlJEUTROQ1UxUXlVeU1pVXlReVUxUXlVeU1pVXlNMFV4T1RnM015VTFReVV5TWlVeVF5VTFReVV5TWlVeU0wUkdSVGhFTnlVMVF5VXlNaVUxUkNVeVF5VTFReVV5TW5OclpXeGxkRzl1U1dRbE5VTWxNaklsTTBFbE5VTWxNakp0YVc1a2JXRndYMk4xY25abFgyZHlaV1Z1TFdSbFptRjFiSFFsTlVNbE1qSWxNa01sTlVNbE1qSmpiMnh2Y2tOaGNtUkpaQ1UxUXlVeU1pVXpRU1UxUXlVeU1uTjVjM1JsYlNVMVF5VXlNaVV5UXlVMVF5VXlNbU52Ykc5eVRXbHViM0pKWkNVMVF5VXlNaVV6UVNVMVF5VXlNbTFwYm1RdGMzUjViR1V4SlRWREpUSXlKVGRFSlRJeUpUSkRKVEl5YVdRbE1qSWxNMEVsTWpKeWIyOTBKVEl5SlRKREpUSXlkR2wwYkdVbE1qSWxNMEVsTWpKRUxVVWxNakIwY21GdWMyeGhkR2x2YmlVeU1pVXlReVV5TW5OMGNuVmpkSFZ5WlNVeU1pVXpRU1V5TW0xcGJtUmZabkpsWlNVeU1pVXlReVV5TW1aeVpXVkRhR2xzWkhKbGJpVXlNaVV6UVNVMVFpVTFSQ1V5UXlVeU1uUmxlSFJCZFhSdlYzSmhjRmRwWkhSb0pUSXlKVE5CT1RBd0pUSkRKVEl5WkdGMFlTVXlNaVV6UVNVM1FpVXlNbkpwWjJoMExXTnZiblJsYm5RdGFXNWtaWGdsTWpJbE0wRXpKVGRFSlRKREpUSXlaV1JwZEc5eVZtVnljMmx2YmlVeU1pVXpRU1V5TWxZeUpUSXlKVEpESlRJeVkyOXRiV1Z1ZEhNbE1qSWxNMEVsTlVJbE5VUWxNa01sTWpKallXeHNiM1YwSlRJeUpUTkJKVFZDSlRWRUpUSkRKVEl5ZDJGMFpYSnRZWEpySlRJeUpUTkJKVEl5SlRJeUpUSkRKVEl5YzJodmQxZGhkR1Z5YldGeWF5VXlNaVV6UVdaaGJITmxKVEpESlRJeWRHOWtiMHhwYzNRbE1qSWxNMEVsTjBJbE4wUWxNa01sTWpKaVlXTnJaM0p2ZFc1a0pUSXlKVE5CSlRJeUpUSXpSVGRGUWtWRUpUSXlKVEpESlRJeWMzUjViR1VsTWpJbE0wRWxOMElsTWpKamIyeHZjaVV5TWlVelFTVXlNbkpuWWlnek9DVXlRek00SlRKRE16Z3BKVEl5SlRkRUpUSkRKVEl5YkdsdVpWTjBlV3hsSlRJeUpUTkJKVGRDSlRkRUpUZEUiLAoJIkZpbGVJZCIgOiAicG9fYmhpamliZGFqY2FoYWEiCn0K"/>
    </extobj>
    <extobj name="E657119C-6982-421D-8BA7-E74DEB70A7D9-3">
      <extobjdata type="E657119C-6982-421D-8BA7-E74DEB70A7D9" data="ewoJIkNhdGVnb3J5IiA6ICJtaW5kX2ZyZWUiLAoJIkRlZmluaXRpb24iIDogIkpUZENKVEl5Ym05MFpTVXlNaVV6UVNVeU1pVXlNaVV5UXlVeU1tMWhjbWRwYmlVeU1pVXpRU1UzUWlVeU1tTm9hV3hrVFdGeVoybHVWeVV5TWlVelFURXdKVEpESlRJeVkyaHBiR1JOWVhKbmFXNUlKVEl5SlROQk5TVXlReVV5TW0xaGNtZHBia2dsTWpJbE0wRXhNQ1UzUkNVeVF5VXlNbU5vYVd4a2NtVnVKVEl5SlROQkpUVkNKVGRDSlRJeWNHRnlaVzUwSlRJeUpUTkJKVEl5Y205dmRDVXlNaVV5UXlVeU1tTm9hV3hrY21WdUpUSXlKVE5CSlRWQ0pUVkVKVEpESlRJeWFXUWxNaklsTTBFbE1qSmxOVEl3WXpBeFpqbGhOekVsTWpJbE1rTWxNakowYVhSc1pTVXlNaVV6UVNVeU1qRXVabTl5YldGc0pUSXdZVzVrSlRJd0pUTkRZaVV6UlNVelEzVWxNMFZtZFc1amRHbHZibUZzSlRJd1pYRjFhWFpoYkdWdWRITWxNME1sTWtaMUpUTkZKVE5ESlRKR1lpVXpSU1V5TWlVeVF5VXlNbU5oYkd4dmRYUWxNaklsTTBFbE5VSWxOVVFsTjBRbE1rTWxOMElsTWpKd1lYSmxiblFsTWpJbE0wRWxNakp5YjI5MEpUSXlKVEpESlRJeVkyaHBiR1J5Wlc0bE1qSWxNMEVsTlVJbE5VUWxNa01sTWpKcFpDVXlNaVV6UVNVeU1qTXpaV05pWVRoak56ZG1NU1V5TWlVeVF5VXlNblJwZEd4bEpUSXlKVE5CSlRJeU1pNXZjSFJwWTJGc0pUSXdZVzVrSlRJd2IySnNhV2RoZEc5eWVTVXlNR1Z4ZFdsMllXeGxiblJ6SlRJeUpUSkRKVEl5WTJGc2JHOTFkQ1V5TWlVelFTVTFRaVUxUkNVM1JDVXlReVUzUWlVeU1uQmhjbVZ1ZENVeU1pVXpRU1V5TW5KdmIzUWxNaklsTWtNbE1qSmphR2xzWkhKbGJpVXlNaVV6UVNVMVFpVTFSQ1V5UXlVeU1tbGtKVEl5SlROQkpUSXlOemc1T1dKbE4yWmxObVZpSlRJeUpUSkRKVEl5ZEdsMGJHVWxNaklsTTBFbE1qSXpMbkpoZEdVbE1qQnZaaVV5TUdSbFkyOWtZV0pwYkdsMGVTVXlNaVV5UXlVeU1tTmhiR3h2ZFhRbE1qSWxNMEVsTlVJbE5VUWxOMFFsTWtNbE4wSWxNakp3WVhKbGJuUWxNaklsTTBFbE1qSnliMjkwSlRJeUpUSkRKVEl5WTJocGJHUnlaVzRsTWpJbE0wRWxOVUlsTlVRbE1rTWxNakpwWkNVeU1pVXpRU1V5TWpRMVpUTm1Zek5qTm1NeU5DVXlNaVV5UXlVeU1uUnBkR3hsSlRJeUpUTkJKVEl5Um05eWJXRnNMVVZ4ZFdsMllXeGxibU5sSlRJd1ZISmhibk5zWVhScGIyNGxNalp1WW5Od0pUTkNKVEl5SlRKREpUSXlZMkZzYkc5MWRDVXlNaVV6UVNVMVFpVTFSQ1UzUkNVeVF5VTNRaVV5TW5CaGNtVnVkQ1V5TWlVelFTVXlNbkp2YjNRbE1qSWxNa01sTWpKamFHbHNaSEpsYmlVeU1pVXpRU1UxUWlVMVJDVXlReVV5TW1sa0pUSXlKVE5CSlRJeVltSXhNR1V6TXpRM1lqUmpKVEl5SlRKREpUSXlkR2wwYkdVbE1qSWxNMEVsTWpKRWVXNWhiV2xqTFVWeGRXbDJZV3hsYm1ObEpUSXdWSEpoYm5Oc1lYUnBiMjRsTWpJbE1rTWxNakpqWVd4c2IzVjBKVEl5SlROQkpUVkNKVFZFSlRkRUpUVkVKVEpESlRJeWNtOXZkQ1V5TWlVelFYUnlkV1VsTWtNbE1qSnpkSGxzWlNVeU1pVXpRU1UzUWlVeU1tSmhZMnRuY205MWJtUXRZMjlzYjNJbE1qSWxNMEVsTWpJbE1qTXlZemM1WXpFbE1qSWxOMFFsTWtNbE1qSjBhR1Z0WlNVeU1pVXpRU1V5TWlVM1FpVTFReVV5TW1KaFkydG5jbTkxYm1RbE5VTWxNaklsTTBFbE5VTWxNaklsTWpObVptWm1abVlsTlVNbE1qSWxNa01sTlVNbE1qSjBhSFZ0WWxWeWJDVTFReVV5TWlVelFTVTFReVV5TW1oMGRIQnpKVE5CSlRKR0pUSkdkM2QzTG5CeWIyTmxjM052Ymk1amIyMGxNa1poYzNObGRITWxNa1pwYldGblpYTWxNa1p0YVc1a0pUSkdiWEl1YW5CbkpUVkRKVEl5SlRKREpUVkRKVEl5ZEdocGJtNWxjaVUxUXlVeU1pVXpRV1poYkhObEpUSkRKVFZESlRJeWRHbDBiR1VsTlVNbE1qSWxNMEVsTlVNbE1qSWxSVGtsUWtJbE9UZ2xSVGdsUVVVbFFUUWxSVGtsUVRNbE9FVWxSVFlsUVRBbFFrTWxOVU1sTWpJbE1rTWxOVU1sTWpKdFlYSm5hVzVJSlRWREpUSXlKVE5CTXpBbE1rTWxOVU1sTWpKdFlYSm5hVzVYSlRWREpUSXlKVE5CT0RBbE1rTWxOVU1sTWpKamFHbHNaRTFoY21kcGJrZ2xOVU1sTWpJbE0wRXlNQ1V5UXlVMVF5VXlNbU5vYVd4a1RXRnlaMmx1VnlVMVF5VXlNaVV6UVRFeUpUSkRKVFZESlRJeVkyOXRiVzl1SlRWREpUSXlKVE5CSlRkQ0pUVkRKVEl5Wm1GdGFXeDVKVFZESlRJeUpUTkJKVFZESlRJeUpVVTFKVUpGSlVGRkpVVTRKVUpFSlVGR0pVVTVKVGxDSlRnMUpVVTVKVUpDSlRreEpUVkRKVEl5SlRKREpUVkRKVEl5WW05c1pDVTFReVV5TWlVelFYUnlkV1VsTWtNbE5VTWxNakpwZEdGc2FXTWxOVU1sTWpJbE0wRm1ZV3h6WlNVeVF5VTFReVV5TW5SbGVIUkJiR2xuYmlVMVF5VXlNaVV6UVNVMVF5VXlNbXhsWm5RbE5VTWxNaklsTjBRbE1rTWxOVU1sTWpKamIyNXVaV04wYVc5dVUzUjViR1VsTlVNbE1qSWxNMEVsTjBJbE5VTWxNakpzYVc1bFYybGtkR2dsTlVNbE1qSWxNMEV5SlRKREpUVkRKVEl5YkdsdVpVTnZiRzl5SlRWREpUSXlKVE5CSlRWREpUSXljbWRpS0RFeE15VXlReVV5TURJd015VXlReVV5TURRMUtTVTFReVV5TWlVeVF5VTFReVV5TW1OdmJHOXlKVFZESlRJeUpUTkJKVFZESlRJeUpUSXpabVptWm1abUpUVkRKVEl5SlRkRUpUSkRKVFZESlRJeVkyVnVkR1Z5Vkc5d2FXTWxOVU1sTWpJbE0wRWxOMElsTlVNbE1qSmlZV05yWjNKdmRXNWtRMjlzYjNJbE5VTWxNaklsTTBFbE5VTWxNaklsTWpObVpqVXpOV01sTlVNbE1qSWxNa01sTlVNbE1qSmpiMnh2Y2lVMVF5VXlNaVV6UVNVMVF5VXlNaVV5TTJabVppVTFReVV5TWlVeVF5VTFReVV5TW1admJuUXRjMmw2WlNVMVF5VXlNaVV6UVNVMVF5VXlNakkwY0hnbE5VTWxNaklsTWtNbE5VTWxNakppYjNKa1pYSXRjbUZrYVhWekpUVkRKVEl5SlROQkpUVkRKVEl5TlhCNEpUVkRKVEl5SlRKREpUVkRKVEl5Y0dGa1pHbHVaeVUxUXlVeU1pVXpRU1UxUXlVeU1qRTJjSGdsTWpBeU5uQjRKVEl3TVRad2VDVXlNREkyY0hnbE5VTWxNaklsTWtNbE5VTWxNakowWlhoMFFXeHBaMjRsTlVNbE1qSWxNMEVsTlVNbE1qSnNaV1owSlRWREpUSXlKVEpESlRWREpUSXlabTl1ZEMxbVlXMXBiSGtsTlVNbE1qSWxNMEVsTlVNbE1qSWxSVFVsUWtVbFFVVWxSVGdsUWtRbFFVWWxSVGtsT1VJbE9EVWxSVGtsUWtJbE9URWxOVU1sTWpJbE1rTWxOVU1sTWpKbWIyNTBMWGRsYVdkb2RDVTFReVV5TWlVelFTVTFReVV5TW1KdmJHUWxOVU1sTWpJbE1rTWxOVU1sTWpKbWIyNTBMWE4wZVd4bEpUVkRKVEl5SlROQkpUVkRKVEl5Ym05eWJXRnNKVFZESlRJeUpUSkRKVFZESlRJeVltOXlaR1Z5TFdOdmJHOXlKVFZESlRJeUpUTkJKVFZESlRJeUpUSXpabVkxTXpWakpUVkRKVEl5SlRKREpUVkRKVEl5YkdsdVpWTjBlV3hsSlRWREpUSXlKVE5CSlRkQ0pUVkRKVEl5YkdsdVpWUjVjR1VsTlVNbE1qSWxNMEVsTlVNbE1qSmpkWEoyWlNVMVF5VXlNaVUzUkNVM1JDVXlReVUxUXlVeU1uTmxZMVJ2Y0dsakpUVkRKVEl5SlROQkpUZENKVFZESlRJeVltRmphMmR5YjNWdVpFTnZiRzl5SlRWREpUSXlKVE5CSlRWREpUSXlKVEl6WkdKbE1tVXpKVFZESlRJeUpUSkRKVFZESlRJeVltOXlaR1Z5SlRWREpUSXlKVE5CSlRWREpUSXlNWEI0SlRJd2MyOXNhV1FsTWpCeVoySW9NVGczSlRKRE1UZzNKVEpETVRnM0tTVTFReVV5TWlVeVF5VTFReVV5TW1KdmNtUmxjaTF5WVdScGRYTWxOVU1sTWpJbE0wRWxOVU1sTWpJMWNIZ2xOVU1sTWpJbE1rTWxOVU1sTWpKamIyeHZjaVUxUXlVeU1pVXpRU1UxUXlVeU1pVXlNelF6TkdJMU5DVTFReVV5TWlVeVF5VTFReVV5TW1admJuUXRjMmw2WlNVMVF5VXlNaVV6UVNVMVF5VXlNakUzY0hnbE5VTWxNaklsTWtNbE5VTWxNakp3WVdSa2FXNW5KVFZESlRJeUpUTkJKVFZESlRJeU1UQndlQ1V5TURJd2NIZ2xNakF4TUhCNEpUSXdNakJ3ZUNVMVF5VXlNaVV5UXlVMVF5VXlNbXhwYm1WVGRIbHNaU1UxUXlVeU1pVXpRU1UzUWlVMVF5VXlNbXhwYm1WVWVYQmxKVFZESlRJeUpUTkJKVFZESlRJeVkzVnlkbVVsTlVNbE1qSWxNa01sTlVNbE1qSnNhVzVsVjJsa2RHZ2xOVU1sTWpJbE0wRWxOVU1sTWpJeUpUVkRKVEl5SlRKREpUVkRKVEl5YkdsdVpVTnZiRzl5SlRWREpUSXlKVE5CSlRWREpUSXlKVEl6TkRNMFlqVTBKVFZESlRJeUpUZEVKVEpESlRWREpUSXlkR1Y0ZEVGc2FXZHVKVFZESlRJeUpUTkJKVFZESlRJeWJHVm1kQ1UxUXlVeU1pVXlReVUxUXlVeU1tWnZiblF0Wm1GdGFXeDVKVFZESlRJeUpUTkJKVFZESlRJeUpVVTFKVUpGSlVGRkpVVTRKVUpFSlVGR0pVVTVKVGxDSlRnMUpVVTVKVUpDSlRreEpUVkRKVEl5SlRKREpUVkRKVEl5Wm05dWRDMTNaV2xuYUhRbE5VTWxNaklsTTBFbE5VTWxNakp1YjNKdFlXd2xOVU1sTWpJbE1rTWxOVU1sTWpKbWIyNTBMWE4wZVd4bEpUVkRKVEl5SlROQkpUVkRKVEl5Ym05eWJXRnNKVFZESlRJeUpUSkRKVFZESlRJeVltOXlaR1Z5TFdOdmJHOXlKVFZESlRJeUpUTkJKVFZESlRJeUpUSXpaR0psTW1VekpUVkRKVEl5SlRKREpUVkRKVEl5WW05eVpHVnlMWGRwWkhSb0pUVkRKVEl5SlROQkpUVkRKVEl5TUNVMVF5VXlNaVV5UXlVMVF5VXlNbUp2Y21SbGNpMXpkSGxzWlNVMVF5VXlNaVV6UVNVMVF5VXlNbk52Ykdsa0pUVkRKVEl5SlRkRUpUSkRKVFZESlRJeVkyaHBiR1JVYjNCcFl5VTFReVV5TWlVelFTVTNRaVUxUXlVeU1tWnZiblF0YzJsNlpTVTFReVV5TWlVelFTVTFReVV5TWpFemNIZ2xOVU1sTWpJbE1rTWxOVU1sTWpKamIyeHZjaVUxUXlVeU1pVXpRU1UxUXlVeU1pVXlNelF6TkdJMU5DVTFReVV5TWlVeVF5VTFReVV5TW5CaFpHUnBibWNsTlVNbE1qSWxNMEVsTlVNbE1qSXljSGdsTWpBNGNIZ2xNakEwY0hnbE1qQWxOVU1sTWpJbE1rTWxOVU1sTWpKc2FXNWxVM1I1YkdVbE5VTWxNaklsTTBFbE4wSWxOVU1sTWpKc2FXNWxWSGx3WlNVMVF5VXlNaVV6UVNVMVF5VXlNbU4xY25abEpUVkRKVEl5SlRKREpUVkRKVEl5YkdsdVpWZHBaSFJvSlRWREpUSXlKVE5CTVNVeVF5VTFReVV5TW14cGJtVkRiMnh2Y2lVMVF5VXlNaVV6UVNVMVF5VXlNaVV5TXpRek5HSTFOQ1UxUXlVeU1pVTNSQ1V5UXlVMVF5VXlNblJsZUhSQmJHbG5iaVUxUXlVeU1pVXpRU1UxUXlVeU1teGxablFsTlVNbE1qSWxNa01sTlVNbE1qSm1iMjUwTFdaaGJXbHNlU1UxUXlVeU1pVXpRU1UxUXlVeU1pVkZOU1ZDUlNWQlJTVkZPQ1ZDUkNWQlJpVkZPU1U1UWlVNE5TVkZPU1ZDUWlVNU1TVTFReVV5TWlVeVF5VTFReVV5TW1admJuUXRkMlZwWjJoMEpUVkRKVEl5SlROQkpUVkRKVEl5Ym05eWJXRnNKVFZESlRJeUpUSkRKVFZESlRJeVptOXVkQzF6ZEhsc1pTVTFReVV5TWlVelFTVTFReVV5TW01dmNtMWhiQ1UxUXlVeU1pVTNSQ1V5UXlVMVF5VXlNbWxrSlRWREpUSXlKVE5CSlRWREpUSXlZM1Z6ZEc5dGFYTmxYMlF3Tm1ZMVlqVmpNVGhtWVNVMVF5VXlNaVUzUkNVeU1pVXlReVV5TW1sa0pUSXlKVE5CSlRJeWNtOXZkQ1V5TWlVeVF5VXlNblJwZEd4bEpUSXlKVE5CSlRJeVFYSmxZWE1sTWpCdlppVXlNRlJsYm5OcGIyNGxNaklsTWtNbE1qSnpkSEoxWTNSMWNtVWxNaklsTTBFbE1qSnRhVzVrWDJaeVpXVWxNaklsTWtNbE1qSm1jbVZsUTJocGJHUnlaVzRsTWpJbE0wRWxOVUlsTlVRbE1rTWxNakowWlhoMFFYVjBiMWR5WVhCWGFXUjBhQ1V5TWlVelFUa3dNQ1V5UXlVeU1tUmhkR0VsTWpJbE0wRWxOMElsTWpKeWFXZG9kQzFqYjI1MFpXNTBMV2x1WkdWNEpUSXlKVE5CTXlVM1JDVXlReVV5TW1Wa2FYUnZjbFpsY25OcGIyNGxNaklsTTBFbE1qSldNaVV5TWlVeVF5VXlNbU52YlcxbGJuUnpKVEl5SlROQkpUVkNKVFZFSlRKREpUSXlZMkZzYkc5MWRDVXlNaVV6UVNVMVFpVTFSQ1V5UXlVeU1uZGhkR1Z5YldGeWF5VXlNaVV6UVNVeU1pVXlNaVV5UXlVeU1uTm9iM2RYWVhSbGNtMWhjbXNsTWpJbE0wRm1ZV3h6WlNVeVF5VXlNblJ2Wkc5TWFYTjBKVEl5SlROQkpUZENKVGRFSlRkRSIsCgkiRmlsZUlkIiA6ICJwb19iaGlqaWplZmRmaGRmYSIKfQo="/>
    </extobj>
  </extobjs>
</s:customData>
</file>

<file path=customXml/itemProps33.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16429</Words>
  <Application>WPS 演示</Application>
  <PresentationFormat/>
  <Paragraphs>568</Paragraphs>
  <Slides>36</Slides>
  <Notes>0</Notes>
  <HiddenSlides>0</HiddenSlides>
  <MMClips>0</MMClips>
  <ScaleCrop>false</ScaleCrop>
  <HeadingPairs>
    <vt:vector size="6" baseType="variant">
      <vt:variant>
        <vt:lpstr>已用的字体</vt:lpstr>
      </vt:variant>
      <vt:variant>
        <vt:i4>18</vt:i4>
      </vt:variant>
      <vt:variant>
        <vt:lpstr>主题</vt:lpstr>
      </vt:variant>
      <vt:variant>
        <vt:i4>3</vt:i4>
      </vt:variant>
      <vt:variant>
        <vt:lpstr>幻灯片标题</vt:lpstr>
      </vt:variant>
      <vt:variant>
        <vt:i4>36</vt:i4>
      </vt:variant>
    </vt:vector>
  </HeadingPairs>
  <TitlesOfParts>
    <vt:vector size="57" baseType="lpstr">
      <vt:lpstr>Arial</vt:lpstr>
      <vt:lpstr>宋体</vt:lpstr>
      <vt:lpstr>Wingdings</vt:lpstr>
      <vt:lpstr>Noto Sans SC</vt:lpstr>
      <vt:lpstr>Songti SC</vt:lpstr>
      <vt:lpstr>FFont-Family</vt:lpstr>
      <vt:lpstr>Calibri</vt:lpstr>
      <vt:lpstr>Brush Script MT</vt:lpstr>
      <vt:lpstr>华文隶书</vt:lpstr>
      <vt:lpstr>Times New Roman</vt:lpstr>
      <vt:lpstr>Impact</vt:lpstr>
      <vt:lpstr>微软雅黑</vt:lpstr>
      <vt:lpstr>黑体</vt:lpstr>
      <vt:lpstr>Aptos</vt:lpstr>
      <vt:lpstr>Segoe UI</vt:lpstr>
      <vt:lpstr>Arial Unicode MS</vt:lpstr>
      <vt:lpstr>Aptos Display</vt:lpstr>
      <vt:lpstr>Segoe UI Variable Display</vt:lpstr>
      <vt:lpstr>Office 主题​​</vt:lpstr>
      <vt:lpstr>自定义主题</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of</cp:lastModifiedBy>
  <cp:revision>6</cp:revision>
  <dcterms:created xsi:type="dcterms:W3CDTF">2026-09-22T06:00:00Z</dcterms:created>
  <dcterms:modified xsi:type="dcterms:W3CDTF">2026-09-22T13:22:07Z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{"Label":"1","ContentProducer":"001191110102MACQD9K64010000","ProduceID":"7686528761719376858","ReservedCode1":"","ContentPropagator":"","PropagateID":"","ReservedCode2":""}</vt:lpwstr>
  </property>
  <property fmtid="{D5CDD505-2E9C-101B-9397-08002B2CF9AE}" pid="3" name="ICV">
    <vt:lpwstr>DFA83D0058BC4B0CB8BE370337BFC533_13</vt:lpwstr>
  </property>
  <property fmtid="{D5CDD505-2E9C-101B-9397-08002B2CF9AE}" pid="4" name="KSOProductBuildVer">
    <vt:lpwstr>2052-12.1.0.28505</vt:lpwstr>
  </property>
</Properties>
</file>