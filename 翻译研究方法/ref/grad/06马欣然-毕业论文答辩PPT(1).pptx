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256" r:id="rId3"/>
    <p:sldId id="308" r:id="rId5"/>
    <p:sldId id="285" r:id="rId6"/>
    <p:sldId id="281" r:id="rId7"/>
    <p:sldId id="309" r:id="rId8"/>
    <p:sldId id="293" r:id="rId9"/>
    <p:sldId id="311" r:id="rId10"/>
    <p:sldId id="310" r:id="rId11"/>
    <p:sldId id="306" r:id="rId12"/>
    <p:sldId id="312" r:id="rId13"/>
    <p:sldId id="317" r:id="rId14"/>
    <p:sldId id="318" r:id="rId15"/>
    <p:sldId id="319" r:id="rId16"/>
    <p:sldId id="320" r:id="rId17"/>
    <p:sldId id="307" r:id="rId18"/>
    <p:sldId id="314" r:id="rId19"/>
    <p:sldId id="316" r:id="rId20"/>
    <p:sldId id="305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E1"/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380" y="64"/>
      </p:cViewPr>
      <p:guideLst>
        <p:guide orient="horz" pos="2280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38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major research methods of this thesis include the literature review, descriptive approach, contrastive studies and textual analysis.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with the notions of many writer-translator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165" y="99695"/>
            <a:ext cx="3457575" cy="803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75560" y="3315970"/>
            <a:ext cx="7040880" cy="526415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noAutofit/>
          </a:bodyPr>
          <a:lstStyle/>
          <a:p>
            <a:pPr algn="ctr"/>
            <a:r>
              <a:rPr lang="zh-CN" altLang="en-US" sz="2400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翻译即表演：刘宇昆英译《三体</a:t>
            </a:r>
            <a:r>
              <a:rPr lang="en-US" altLang="zh-CN" sz="2400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I</a:t>
            </a:r>
            <a:r>
              <a:rPr lang="zh-CN" altLang="en-US" sz="2400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》研究</a:t>
            </a:r>
            <a:endParaRPr lang="en-US" altLang="zh-CN" sz="24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5055" y="1657350"/>
            <a:ext cx="105606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/>
              <a:t>The Translation as Performance: The Case of </a:t>
            </a:r>
            <a:endParaRPr lang="en-US" altLang="zh-CN" sz="4000" b="1" dirty="0"/>
          </a:p>
          <a:p>
            <a:pPr algn="ctr"/>
            <a:r>
              <a:rPr lang="en-US" altLang="zh-CN" sz="4000" b="1" dirty="0"/>
              <a:t>Ken Liu and </a:t>
            </a:r>
            <a:r>
              <a:rPr lang="en-US" altLang="zh-CN" sz="4000" b="1" i="1" dirty="0"/>
              <a:t>The Three-body Problem</a:t>
            </a:r>
            <a:endParaRPr lang="en-US" altLang="zh-CN" sz="4000" b="1" i="1" dirty="0"/>
          </a:p>
        </p:txBody>
      </p:sp>
      <p:grpSp>
        <p:nvGrpSpPr>
          <p:cNvPr id="66" name="组合 65"/>
          <p:cNvGrpSpPr/>
          <p:nvPr/>
        </p:nvGrpSpPr>
        <p:grpSpPr>
          <a:xfrm>
            <a:off x="3448411" y="4689475"/>
            <a:ext cx="6296933" cy="398907"/>
            <a:chOff x="2811243" y="5907282"/>
            <a:chExt cx="5328695" cy="531972"/>
          </a:xfrm>
        </p:grpSpPr>
        <p:sp>
          <p:nvSpPr>
            <p:cNvPr id="74" name="文本框 73"/>
            <p:cNvSpPr txBox="1"/>
            <p:nvPr/>
          </p:nvSpPr>
          <p:spPr>
            <a:xfrm>
              <a:off x="2811243" y="5907452"/>
              <a:ext cx="2319020" cy="531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rgbClr val="2950AF"/>
                  </a:solidFill>
                  <a:latin typeface="仿宋" panose="02010609060101010101" charset="-122"/>
                  <a:ea typeface="仿宋" panose="02010609060101010101" charset="-122"/>
                  <a:sym typeface="+mn-lt"/>
                </a:rPr>
                <a:t>答辩学生：马欣然</a:t>
              </a:r>
              <a:endParaRPr lang="zh-CN" altLang="en-US" sz="2000" dirty="0">
                <a:solidFill>
                  <a:srgbClr val="2950AF"/>
                </a:solidFill>
                <a:latin typeface="仿宋" panose="02010609060101010101" charset="-122"/>
                <a:ea typeface="仿宋" panose="02010609060101010101" charset="-122"/>
                <a:sym typeface="+mn-lt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130038" y="5907282"/>
              <a:ext cx="3009900" cy="531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000" dirty="0">
                  <a:solidFill>
                    <a:srgbClr val="2950AF"/>
                  </a:solidFill>
                  <a:latin typeface="仿宋" panose="02010609060101010101" charset="-122"/>
                  <a:ea typeface="仿宋" panose="02010609060101010101" charset="-122"/>
                  <a:sym typeface="+mn-lt"/>
                </a:rPr>
                <a:t>专业方向：文学翻译研究</a:t>
              </a:r>
              <a:endParaRPr lang="zh-CN" altLang="en-US" sz="2000" dirty="0">
                <a:solidFill>
                  <a:srgbClr val="2950AF"/>
                </a:solidFill>
                <a:latin typeface="仿宋" panose="02010609060101010101" charset="-122"/>
                <a:ea typeface="仿宋" panose="02010609060101010101" charset="-122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文本框 58"/>
          <p:cNvSpPr txBox="1"/>
          <p:nvPr/>
        </p:nvSpPr>
        <p:spPr>
          <a:xfrm>
            <a:off x="716280" y="2804160"/>
            <a:ext cx="25590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2950AF"/>
                </a:solidFill>
                <a:latin typeface="黑体" panose="02010609060101010101" charset="-122"/>
                <a:ea typeface="黑体" panose="02010609060101010101" charset="-122"/>
                <a:cs typeface="+mn-ea"/>
                <a:sym typeface="+mn-lt"/>
              </a:rPr>
              <a:t>CONTENTS</a:t>
            </a:r>
            <a:endParaRPr lang="en-US" altLang="zh-CN" sz="4400" b="1" dirty="0">
              <a:solidFill>
                <a:srgbClr val="2950AF"/>
              </a:solidFill>
              <a:latin typeface="黑体" panose="02010609060101010101" charset="-122"/>
              <a:ea typeface="黑体" panose="02010609060101010101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1"/>
            </p:custDataLst>
          </p:nvPr>
        </p:nvGrpSpPr>
        <p:grpSpPr>
          <a:xfrm>
            <a:off x="3776980" y="1052830"/>
            <a:ext cx="7054850" cy="1146175"/>
            <a:chOff x="836190" y="2298196"/>
            <a:chExt cx="3438295" cy="1032701"/>
          </a:xfrm>
        </p:grpSpPr>
        <p:sp>
          <p:nvSpPr>
            <p:cNvPr id="16" name="平行四边形 15"/>
            <p:cNvSpPr/>
            <p:nvPr>
              <p:custDataLst>
                <p:tags r:id="rId2"/>
              </p:custDataLst>
            </p:nvPr>
          </p:nvSpPr>
          <p:spPr>
            <a:xfrm>
              <a:off x="836190" y="2303304"/>
              <a:ext cx="2165639" cy="734489"/>
            </a:xfrm>
            <a:prstGeom prst="parallelogram">
              <a:avLst/>
            </a:prstGeom>
            <a:solidFill>
              <a:srgbClr val="2950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009551" y="2298196"/>
              <a:ext cx="3264934" cy="1032701"/>
              <a:chOff x="1571526" y="2298196"/>
              <a:chExt cx="3264934" cy="1032701"/>
            </a:xfrm>
          </p:grpSpPr>
          <p:sp>
            <p:nvSpPr>
              <p:cNvPr id="18" name="平行四边形 17"/>
              <p:cNvSpPr/>
              <p:nvPr>
                <p:custDataLst>
                  <p:tags r:id="rId3"/>
                </p:custDataLst>
              </p:nvPr>
            </p:nvSpPr>
            <p:spPr>
              <a:xfrm>
                <a:off x="2130316" y="2539064"/>
                <a:ext cx="2706144" cy="791833"/>
              </a:xfrm>
              <a:prstGeom prst="parallelogram">
                <a:avLst/>
              </a:prstGeom>
              <a:solidFill>
                <a:srgbClr val="E3ECFC"/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9" name="平行四边形 18"/>
              <p:cNvSpPr/>
              <p:nvPr>
                <p:custDataLst>
                  <p:tags r:id="rId4"/>
                </p:custDataLst>
              </p:nvPr>
            </p:nvSpPr>
            <p:spPr>
              <a:xfrm>
                <a:off x="2206346" y="2298196"/>
                <a:ext cx="2568549" cy="877653"/>
              </a:xfrm>
              <a:prstGeom prst="parallelogram">
                <a:avLst/>
              </a:prstGeom>
              <a:solidFill>
                <a:srgbClr val="346B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413734" y="2359986"/>
                <a:ext cx="2267792" cy="58987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bg1"/>
                    </a:solidFill>
                  </a:defRPr>
                </a:lvl1pPr>
              </a:lstStyle>
              <a:p>
                <a:pPr algn="l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Research Background and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Significance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文本框 21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571526" y="2422500"/>
                <a:ext cx="448124" cy="359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8" name="组合 27"/>
          <p:cNvGrpSpPr/>
          <p:nvPr>
            <p:custDataLst>
              <p:tags r:id="rId7"/>
            </p:custDataLst>
          </p:nvPr>
        </p:nvGrpSpPr>
        <p:grpSpPr>
          <a:xfrm>
            <a:off x="3776980" y="2379345"/>
            <a:ext cx="7052945" cy="1144270"/>
            <a:chOff x="836190" y="2298191"/>
            <a:chExt cx="3438586" cy="1032562"/>
          </a:xfrm>
        </p:grpSpPr>
        <p:sp>
          <p:nvSpPr>
            <p:cNvPr id="29" name="平行四边形 28"/>
            <p:cNvSpPr/>
            <p:nvPr>
              <p:custDataLst>
                <p:tags r:id="rId8"/>
              </p:custDataLst>
            </p:nvPr>
          </p:nvSpPr>
          <p:spPr>
            <a:xfrm>
              <a:off x="836190" y="2303304"/>
              <a:ext cx="2165639" cy="734489"/>
            </a:xfrm>
            <a:prstGeom prst="parallelogram">
              <a:avLst/>
            </a:prstGeom>
            <a:solidFill>
              <a:srgbClr val="2950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1009910" y="2298191"/>
              <a:ext cx="3264866" cy="1032562"/>
              <a:chOff x="1571885" y="2298191"/>
              <a:chExt cx="3264866" cy="1032562"/>
            </a:xfrm>
          </p:grpSpPr>
          <p:sp>
            <p:nvSpPr>
              <p:cNvPr id="31" name="平行四边形 30"/>
              <p:cNvSpPr/>
              <p:nvPr>
                <p:custDataLst>
                  <p:tags r:id="rId9"/>
                </p:custDataLst>
              </p:nvPr>
            </p:nvSpPr>
            <p:spPr>
              <a:xfrm>
                <a:off x="2101614" y="2538855"/>
                <a:ext cx="2735137" cy="791898"/>
              </a:xfrm>
              <a:prstGeom prst="parallelogram">
                <a:avLst/>
              </a:prstGeom>
              <a:solidFill>
                <a:srgbClr val="E3ECFC"/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平行四边形 34"/>
              <p:cNvSpPr/>
              <p:nvPr>
                <p:custDataLst>
                  <p:tags r:id="rId10"/>
                </p:custDataLst>
              </p:nvPr>
            </p:nvSpPr>
            <p:spPr>
              <a:xfrm>
                <a:off x="2206281" y="2298191"/>
                <a:ext cx="2568545" cy="922543"/>
              </a:xfrm>
              <a:prstGeom prst="parallelogram">
                <a:avLst/>
              </a:prstGeom>
              <a:solidFill>
                <a:srgbClr val="346B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414227" y="2421187"/>
                <a:ext cx="2121747" cy="748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bg1"/>
                    </a:solidFill>
                  </a:defRPr>
                </a:lvl1pPr>
              </a:lstStyle>
              <a:p>
                <a:pPr algn="l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Research Questions and Methodology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571885" y="2443589"/>
                <a:ext cx="660400" cy="359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" name="组合 9"/>
          <p:cNvGrpSpPr/>
          <p:nvPr>
            <p:custDataLst>
              <p:tags r:id="rId13"/>
            </p:custDataLst>
          </p:nvPr>
        </p:nvGrpSpPr>
        <p:grpSpPr>
          <a:xfrm>
            <a:off x="3776980" y="3726815"/>
            <a:ext cx="7053029" cy="1306830"/>
            <a:chOff x="836190" y="2281001"/>
            <a:chExt cx="3438627" cy="1179252"/>
          </a:xfrm>
        </p:grpSpPr>
        <p:sp>
          <p:nvSpPr>
            <p:cNvPr id="11" name="平行四边形 10"/>
            <p:cNvSpPr/>
            <p:nvPr>
              <p:custDataLst>
                <p:tags r:id="rId14"/>
              </p:custDataLst>
            </p:nvPr>
          </p:nvSpPr>
          <p:spPr>
            <a:xfrm>
              <a:off x="836190" y="2303304"/>
              <a:ext cx="2165639" cy="734489"/>
            </a:xfrm>
            <a:prstGeom prst="parallelogram">
              <a:avLst/>
            </a:prstGeom>
            <a:solidFill>
              <a:srgbClr val="2950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009910" y="2281001"/>
              <a:ext cx="3264907" cy="1179252"/>
              <a:chOff x="1571885" y="2281001"/>
              <a:chExt cx="3264907" cy="1179252"/>
            </a:xfrm>
          </p:grpSpPr>
          <p:sp>
            <p:nvSpPr>
              <p:cNvPr id="20" name="平行四边形 19"/>
              <p:cNvSpPr/>
              <p:nvPr>
                <p:custDataLst>
                  <p:tags r:id="rId15"/>
                </p:custDataLst>
              </p:nvPr>
            </p:nvSpPr>
            <p:spPr>
              <a:xfrm>
                <a:off x="2130690" y="2538855"/>
                <a:ext cx="2706102" cy="818830"/>
              </a:xfrm>
              <a:prstGeom prst="parallelogram">
                <a:avLst/>
              </a:prstGeom>
              <a:solidFill>
                <a:srgbClr val="E3ECFC"/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平行四边形 33"/>
              <p:cNvSpPr/>
              <p:nvPr>
                <p:custDataLst>
                  <p:tags r:id="rId16"/>
                </p:custDataLst>
              </p:nvPr>
            </p:nvSpPr>
            <p:spPr>
              <a:xfrm>
                <a:off x="2219851" y="2281001"/>
                <a:ext cx="2568646" cy="915095"/>
              </a:xfrm>
              <a:prstGeom prst="parallelogram">
                <a:avLst/>
              </a:prstGeom>
              <a:solidFill>
                <a:srgbClr val="346B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2414129" y="2378412"/>
                <a:ext cx="2410558" cy="1081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bg1"/>
                    </a:solidFill>
                  </a:defRPr>
                </a:lvl1pPr>
              </a:lstStyle>
              <a:p>
                <a:pPr algn="l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Analytical Framework and 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Case Analysis</a:t>
                </a:r>
                <a:endPara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  <a:p>
                <a:pPr algn="l"/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571885" y="2443735"/>
                <a:ext cx="475544" cy="359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8" name="组合 47"/>
          <p:cNvGrpSpPr/>
          <p:nvPr>
            <p:custDataLst>
              <p:tags r:id="rId19"/>
            </p:custDataLst>
          </p:nvPr>
        </p:nvGrpSpPr>
        <p:grpSpPr>
          <a:xfrm>
            <a:off x="3776980" y="5079365"/>
            <a:ext cx="7053037" cy="1255395"/>
            <a:chOff x="836190" y="2298191"/>
            <a:chExt cx="3438570" cy="1132838"/>
          </a:xfrm>
        </p:grpSpPr>
        <p:sp>
          <p:nvSpPr>
            <p:cNvPr id="49" name="平行四边形 48"/>
            <p:cNvSpPr/>
            <p:nvPr>
              <p:custDataLst>
                <p:tags r:id="rId20"/>
              </p:custDataLst>
            </p:nvPr>
          </p:nvSpPr>
          <p:spPr>
            <a:xfrm>
              <a:off x="836190" y="2303304"/>
              <a:ext cx="2165639" cy="734489"/>
            </a:xfrm>
            <a:prstGeom prst="parallelogram">
              <a:avLst/>
            </a:prstGeom>
            <a:solidFill>
              <a:srgbClr val="2950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009910" y="2298191"/>
              <a:ext cx="3264850" cy="1132838"/>
              <a:chOff x="1571885" y="2298191"/>
              <a:chExt cx="3264850" cy="1132838"/>
            </a:xfrm>
          </p:grpSpPr>
          <p:sp>
            <p:nvSpPr>
              <p:cNvPr id="51" name="平行四边形 50"/>
              <p:cNvSpPr/>
              <p:nvPr>
                <p:custDataLst>
                  <p:tags r:id="rId21"/>
                </p:custDataLst>
              </p:nvPr>
            </p:nvSpPr>
            <p:spPr>
              <a:xfrm>
                <a:off x="2130371" y="2538855"/>
                <a:ext cx="2706364" cy="892174"/>
              </a:xfrm>
              <a:prstGeom prst="parallelogram">
                <a:avLst/>
              </a:prstGeom>
              <a:solidFill>
                <a:srgbClr val="E3ECFC"/>
              </a:solidFill>
              <a:ln w="254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平行四边形 51"/>
              <p:cNvSpPr/>
              <p:nvPr>
                <p:custDataLst>
                  <p:tags r:id="rId22"/>
                </p:custDataLst>
              </p:nvPr>
            </p:nvSpPr>
            <p:spPr>
              <a:xfrm>
                <a:off x="2206528" y="2298191"/>
                <a:ext cx="2568600" cy="977552"/>
              </a:xfrm>
              <a:prstGeom prst="parallelogram">
                <a:avLst/>
              </a:prstGeom>
              <a:solidFill>
                <a:srgbClr val="346B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5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2414257" y="2391018"/>
                <a:ext cx="2068935" cy="748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bg1"/>
                    </a:solidFill>
                  </a:defRPr>
                </a:lvl1pPr>
              </a:lstStyle>
              <a:p>
                <a:pPr algn="l"/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Major Findings and Limitations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文本框 53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571885" y="2443735"/>
                <a:ext cx="475544" cy="359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47611" y="2835811"/>
            <a:ext cx="16273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9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43960" y="2254885"/>
            <a:ext cx="6630670" cy="2731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Research Background 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 </a:t>
            </a:r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Significance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222726" y="203835"/>
            <a:ext cx="6456794" cy="859496"/>
            <a:chOff x="836190" y="2996890"/>
            <a:chExt cx="5618663" cy="747702"/>
          </a:xfrm>
        </p:grpSpPr>
        <p:grpSp>
          <p:nvGrpSpPr>
            <p:cNvPr id="33" name="组合 32"/>
            <p:cNvGrpSpPr/>
            <p:nvPr/>
          </p:nvGrpSpPr>
          <p:grpSpPr>
            <a:xfrm>
              <a:off x="836190" y="2996890"/>
              <a:ext cx="5618663" cy="747702"/>
              <a:chOff x="836190" y="2303304"/>
              <a:chExt cx="5618663" cy="747702"/>
            </a:xfrm>
          </p:grpSpPr>
          <p:sp>
            <p:nvSpPr>
              <p:cNvPr id="34" name="平行四边形 33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35" name="组合 34"/>
              <p:cNvGrpSpPr/>
              <p:nvPr/>
            </p:nvGrpSpPr>
            <p:grpSpPr>
              <a:xfrm>
                <a:off x="1568449" y="2304843"/>
                <a:ext cx="4886404" cy="746163"/>
                <a:chOff x="2130424" y="2304843"/>
                <a:chExt cx="4886404" cy="746163"/>
              </a:xfrm>
            </p:grpSpPr>
            <p:sp>
              <p:nvSpPr>
                <p:cNvPr id="36" name="平行四边形 35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平行四边形 36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文本框 38"/>
                <p:cNvSpPr txBox="1"/>
                <p:nvPr/>
              </p:nvSpPr>
              <p:spPr>
                <a:xfrm>
                  <a:off x="2462520" y="2483270"/>
                  <a:ext cx="4554308" cy="400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1.1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Research Background</a:t>
                  </a:r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40" name="组合 39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41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12" name="文本框 11"/>
          <p:cNvSpPr txBox="1"/>
          <p:nvPr/>
        </p:nvSpPr>
        <p:spPr>
          <a:xfrm>
            <a:off x="596900" y="1337310"/>
            <a:ext cx="7630160" cy="5013325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Ken Liu (</a:t>
            </a:r>
            <a:r>
              <a:rPr lang="zh-CN" altLang="en-US" sz="2000" dirty="0">
                <a:uFillTx/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lt"/>
              </a:rPr>
              <a:t>刘宇昆</a:t>
            </a:r>
            <a:r>
              <a:rPr lang="en-US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), the translator of Liu Cixin’s (</a:t>
            </a:r>
            <a:r>
              <a:rPr lang="zh-CN" altLang="en-US" sz="2000" dirty="0">
                <a:uFillTx/>
                <a:latin typeface="仿宋" panose="02010609060101010101" charset="-122"/>
                <a:ea typeface="仿宋" panose="02010609060101010101" charset="-122"/>
                <a:cs typeface="Times New Roman" panose="02020603050405020304" charset="0"/>
                <a:sym typeface="+mn-lt"/>
              </a:rPr>
              <a:t>刘慈欣</a:t>
            </a:r>
            <a:r>
              <a:rPr lang="en-US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)</a:t>
            </a:r>
            <a:r>
              <a:rPr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</a:t>
            </a:r>
            <a:r>
              <a:rPr lang="en-US" sz="2000" i="1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Santi</a:t>
            </a:r>
            <a:r>
              <a:rPr lang="en-US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</a:t>
            </a:r>
            <a:r>
              <a:rPr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series</a:t>
            </a:r>
            <a:r>
              <a:rPr lang="en-US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, </a:t>
            </a:r>
            <a:r>
              <a:rPr lang="en-US" altLang="zh-CN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has played a vital role in making this Chinese science fiction (SF) series accessible to English-speaking audiences and qualified for </a:t>
            </a:r>
            <a:r>
              <a:rPr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Hugo Award</a:t>
            </a:r>
            <a:r>
              <a:rPr lang="en-US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, </a:t>
            </a:r>
            <a:r>
              <a:rPr lang="en-US" altLang="zh-CN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top SF award</a:t>
            </a:r>
            <a:r>
              <a:rPr lang="en-US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.</a:t>
            </a:r>
            <a:endParaRPr lang="en-US" altLang="zh-CN" sz="20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50000"/>
              </a:lnSpc>
              <a:buClrTx/>
              <a:buSzTx/>
              <a:buFont typeface="Wingdings" panose="05000000000000000000" charset="0"/>
              <a:buChar char="u"/>
            </a:pPr>
            <a:endParaRPr lang="en-US" sz="20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While translation studies have focused on the balance between fidelity and readability of this translated novel, </a:t>
            </a:r>
            <a:r>
              <a:rPr lang="en-US" altLang="zh-CN" sz="20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“translation is a performance art”</a:t>
            </a:r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—a perspective frequently highlighted by Ken Liu—remains under-examined.</a:t>
            </a:r>
            <a:endParaRPr lang="en-US" altLang="zh-CN" sz="20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70000"/>
              </a:lnSpc>
              <a:buClrTx/>
              <a:buSzTx/>
              <a:buFont typeface="Wingdings" panose="05000000000000000000" charset="0"/>
              <a:buChar char="u"/>
            </a:pPr>
            <a:endParaRPr sz="20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11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sz="2000" b="1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HarmonyOS Sans SC Light" panose="00000400000000000000" pitchFamily="2" charset="-122"/>
              </a:rPr>
              <a:t>Therefore, it is interesting to study Ken Liu’s analogy between translation and performance art, to obtain a new understanding of the nature of translation. </a:t>
            </a:r>
            <a:endParaRPr lang="en-US" sz="2000" b="1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HarmonyOS Sans SC Light" panose="00000400000000000000" pitchFamily="2" charset="-122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rcRect l="19752" r="17368"/>
          <a:stretch>
            <a:fillRect/>
          </a:stretch>
        </p:blipFill>
        <p:spPr>
          <a:xfrm>
            <a:off x="8516938" y="1647825"/>
            <a:ext cx="3164840" cy="34467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516620" y="5184775"/>
            <a:ext cx="31654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Ken Liu receiving the Hugo award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on behalf of Liu Cixin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222726" y="203835"/>
            <a:ext cx="5873228" cy="859496"/>
            <a:chOff x="836190" y="2996890"/>
            <a:chExt cx="5110848" cy="747702"/>
          </a:xfrm>
        </p:grpSpPr>
        <p:grpSp>
          <p:nvGrpSpPr>
            <p:cNvPr id="33" name="组合 32"/>
            <p:cNvGrpSpPr/>
            <p:nvPr/>
          </p:nvGrpSpPr>
          <p:grpSpPr>
            <a:xfrm>
              <a:off x="836190" y="2996890"/>
              <a:ext cx="5110848" cy="747702"/>
              <a:chOff x="836190" y="2303304"/>
              <a:chExt cx="5110848" cy="747702"/>
            </a:xfrm>
          </p:grpSpPr>
          <p:sp>
            <p:nvSpPr>
              <p:cNvPr id="34" name="平行四边形 33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35" name="组合 34"/>
              <p:cNvGrpSpPr/>
              <p:nvPr/>
            </p:nvGrpSpPr>
            <p:grpSpPr>
              <a:xfrm>
                <a:off x="1568449" y="2304843"/>
                <a:ext cx="4378589" cy="746163"/>
                <a:chOff x="2130424" y="2304843"/>
                <a:chExt cx="4378589" cy="746163"/>
              </a:xfrm>
            </p:grpSpPr>
            <p:sp>
              <p:nvSpPr>
                <p:cNvPr id="36" name="平行四边形 35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平行四边形 36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文本框 38"/>
                <p:cNvSpPr txBox="1"/>
                <p:nvPr/>
              </p:nvSpPr>
              <p:spPr>
                <a:xfrm>
                  <a:off x="2462520" y="2483270"/>
                  <a:ext cx="4046493" cy="400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1.2 Significance</a:t>
                  </a:r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40" name="组合 39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41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42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12" name="文本框 11"/>
          <p:cNvSpPr txBox="1"/>
          <p:nvPr/>
        </p:nvSpPr>
        <p:spPr>
          <a:xfrm>
            <a:off x="955040" y="1614170"/>
            <a:ext cx="10365740" cy="374650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introduction of performance theory to translation studies provide </a:t>
            </a: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a new perspective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to understand the translator’s creativity and subjectivity.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</a:t>
            </a:r>
            <a:endParaRPr lang="en-US" altLang="zh-CN" sz="2400" dirty="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</a:pPr>
            <a:endParaRPr lang="en-US" altLang="zh-CN" sz="24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13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HarmonyOS Sans SC Light" panose="00000400000000000000" pitchFamily="2" charset="-122"/>
              </a:rPr>
              <a:t>The model of four elements of performance, can provide a reference for future research to study </a:t>
            </a: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HarmonyOS Sans SC Light" panose="00000400000000000000" pitchFamily="2" charset="-122"/>
              </a:rPr>
              <a:t>the dynamics between the elements in translation activities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HarmonyOS Sans SC Light" panose="00000400000000000000" pitchFamily="2" charset="-122"/>
              </a:rPr>
              <a:t> and/or introduce more </a:t>
            </a:r>
            <a:r>
              <a:rPr lang="en-US" altLang="zh-CN" sz="24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HarmonyOS Sans SC Light" panose="00000400000000000000" pitchFamily="2" charset="-122"/>
              </a:rPr>
              <a:t>theories of 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HarmonyOS Sans SC Light" panose="00000400000000000000" pitchFamily="2" charset="-122"/>
              </a:rPr>
              <a:t>performance studies to supplement the current models in the translation studies.</a:t>
            </a:r>
            <a:endParaRPr lang="en-US" altLang="zh-CN" sz="24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HarmonyOS Sans SC Light" panose="000004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47611" y="2835811"/>
            <a:ext cx="161290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9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43960" y="2254885"/>
            <a:ext cx="6787515" cy="2731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Research </a:t>
            </a:r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Questions and Methodology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989965" y="1542415"/>
            <a:ext cx="9827260" cy="4011295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In this study, the author strives to answer the following questions:</a:t>
            </a:r>
            <a:endParaRPr lang="en-US" altLang="zh-CN" sz="24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What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is Ken Liu’s </a:t>
            </a:r>
            <a:r>
              <a:rPr lang="en-US" altLang="zh-CN" sz="24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viewpoint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of </a:t>
            </a: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translation as a performance art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?</a:t>
            </a:r>
            <a:endParaRPr lang="en-US" altLang="zh-CN" sz="24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How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does Ken Liu’s notion of the translation as performance </a:t>
            </a: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influence his translation approach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of </a:t>
            </a:r>
            <a:r>
              <a:rPr lang="en-US" altLang="zh-CN" sz="2400" i="1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Three-Body Problem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?</a:t>
            </a:r>
            <a:endParaRPr lang="en-US" altLang="zh-CN" sz="24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What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can be learned about the </a:t>
            </a: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unique features</a:t>
            </a: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of translation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from Ken Liu’s perspectives on the relationship between the arts of </a:t>
            </a:r>
            <a:r>
              <a:rPr lang="en-US" altLang="zh-CN" sz="24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translation and writing</a:t>
            </a:r>
            <a:r>
              <a:rPr lang="en-US" altLang="zh-CN" sz="24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?</a:t>
            </a:r>
            <a:endParaRPr lang="en-US" altLang="zh-CN" sz="24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Wingdings" panose="05000000000000000000" charset="0"/>
              <a:buChar char="u"/>
            </a:pPr>
            <a:endParaRPr lang="en-US" altLang="zh-CN" sz="24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2726" y="203835"/>
            <a:ext cx="5700668" cy="859496"/>
            <a:chOff x="836190" y="2996890"/>
            <a:chExt cx="4960687" cy="747702"/>
          </a:xfrm>
        </p:grpSpPr>
        <p:grpSp>
          <p:nvGrpSpPr>
            <p:cNvPr id="3" name="组合 2"/>
            <p:cNvGrpSpPr/>
            <p:nvPr/>
          </p:nvGrpSpPr>
          <p:grpSpPr>
            <a:xfrm>
              <a:off x="836190" y="2996890"/>
              <a:ext cx="4960687" cy="747702"/>
              <a:chOff x="836190" y="2303304"/>
              <a:chExt cx="4960687" cy="747702"/>
            </a:xfrm>
          </p:grpSpPr>
          <p:sp>
            <p:nvSpPr>
              <p:cNvPr id="4" name="平行四边形 3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1568449" y="2304843"/>
                <a:ext cx="4228428" cy="746163"/>
                <a:chOff x="2130424" y="2304843"/>
                <a:chExt cx="4228428" cy="746163"/>
              </a:xfrm>
            </p:grpSpPr>
            <p:sp>
              <p:nvSpPr>
                <p:cNvPr id="6" name="平行四边形 5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平行四边形 6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2462520" y="2483270"/>
                  <a:ext cx="3896193" cy="400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2.1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Research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Questions </a:t>
                  </a:r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10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19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 flipH="1">
            <a:off x="1553845" y="1322070"/>
            <a:ext cx="9171940" cy="1200785"/>
          </a:xfrm>
          <a:prstGeom prst="rect">
            <a:avLst/>
          </a:prstGeom>
          <a:solidFill>
            <a:srgbClr val="E3ECFC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cs typeface="+mn-ea"/>
            </a:endParaRPr>
          </a:p>
        </p:txBody>
      </p:sp>
      <p:sp>
        <p:nvSpPr>
          <p:cNvPr id="17" name="箭头: 五边形 5"/>
          <p:cNvSpPr/>
          <p:nvPr>
            <p:custDataLst>
              <p:tags r:id="rId2"/>
            </p:custDataLst>
          </p:nvPr>
        </p:nvSpPr>
        <p:spPr>
          <a:xfrm rot="5400000">
            <a:off x="1292225" y="1576070"/>
            <a:ext cx="1296035" cy="781685"/>
          </a:xfrm>
          <a:prstGeom prst="homePlate">
            <a:avLst>
              <a:gd name="adj" fmla="val 19899"/>
            </a:avLst>
          </a:prstGeom>
          <a:solidFill>
            <a:srgbClr val="8FC6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/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 flipH="1">
            <a:off x="1620035" y="1670430"/>
            <a:ext cx="709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ea typeface="汉仪大宋简" panose="02010609000101010101" pitchFamily="49" charset="-122"/>
              </a:rPr>
              <a:t>01</a:t>
            </a:r>
            <a:endParaRPr lang="en-US" altLang="zh-CN" sz="2400" b="1" dirty="0">
              <a:solidFill>
                <a:schemeClr val="bg1"/>
              </a:solidFill>
              <a:ea typeface="汉仪大宋简" panose="02010609000101010101" pitchFamily="49" charset="-122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 flipH="1">
            <a:off x="1619885" y="2702560"/>
            <a:ext cx="9098915" cy="2014220"/>
          </a:xfrm>
          <a:prstGeom prst="rect">
            <a:avLst/>
          </a:prstGeom>
          <a:solidFill>
            <a:srgbClr val="E3ECFC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cs typeface="+mn-ea"/>
            </a:endParaRPr>
          </a:p>
        </p:txBody>
      </p:sp>
      <p:sp>
        <p:nvSpPr>
          <p:cNvPr id="22" name="箭头: V 形 6"/>
          <p:cNvSpPr/>
          <p:nvPr>
            <p:custDataLst>
              <p:tags r:id="rId5"/>
            </p:custDataLst>
          </p:nvPr>
        </p:nvSpPr>
        <p:spPr>
          <a:xfrm rot="5400000">
            <a:off x="847725" y="3321050"/>
            <a:ext cx="2184400" cy="781685"/>
          </a:xfrm>
          <a:prstGeom prst="chevron">
            <a:avLst>
              <a:gd name="adj" fmla="val 14290"/>
            </a:avLst>
          </a:prstGeom>
          <a:solidFill>
            <a:srgbClr val="346B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 flipH="1">
            <a:off x="1585745" y="3461716"/>
            <a:ext cx="709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ea typeface="汉仪大宋简" panose="02010609000101010101" pitchFamily="49" charset="-122"/>
              </a:rPr>
              <a:t>02</a:t>
            </a:r>
            <a:endParaRPr lang="en-US" altLang="zh-CN" sz="2400" b="1" dirty="0">
              <a:solidFill>
                <a:schemeClr val="bg1"/>
              </a:solidFill>
              <a:ea typeface="汉仪大宋简" panose="02010609000101010101" pitchFamily="49" charset="-122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 flipH="1">
            <a:off x="1543050" y="4926330"/>
            <a:ext cx="9184005" cy="1537335"/>
          </a:xfrm>
          <a:prstGeom prst="rect">
            <a:avLst/>
          </a:prstGeom>
          <a:solidFill>
            <a:srgbClr val="E3ECFC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cs typeface="+mn-ea"/>
            </a:endParaRPr>
          </a:p>
        </p:txBody>
      </p:sp>
      <p:sp>
        <p:nvSpPr>
          <p:cNvPr id="27" name="箭头: V 形 7"/>
          <p:cNvSpPr/>
          <p:nvPr>
            <p:custDataLst>
              <p:tags r:id="rId8"/>
            </p:custDataLst>
          </p:nvPr>
        </p:nvSpPr>
        <p:spPr>
          <a:xfrm rot="5400000">
            <a:off x="1070610" y="5320030"/>
            <a:ext cx="1738630" cy="781685"/>
          </a:xfrm>
          <a:prstGeom prst="chevron">
            <a:avLst>
              <a:gd name="adj" fmla="val 14290"/>
            </a:avLst>
          </a:prstGeom>
          <a:solidFill>
            <a:srgbClr val="295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>
            <p:custDataLst>
              <p:tags r:id="rId9"/>
            </p:custDataLst>
          </p:nvPr>
        </p:nvSpPr>
        <p:spPr>
          <a:xfrm flipH="1">
            <a:off x="1585492" y="5425729"/>
            <a:ext cx="709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ea typeface="汉仪大宋简" panose="02010609000101010101" pitchFamily="49" charset="-122"/>
              </a:rPr>
              <a:t>03</a:t>
            </a:r>
            <a:endParaRPr lang="en-US" altLang="zh-CN" sz="2400" b="1" dirty="0">
              <a:solidFill>
                <a:schemeClr val="bg1"/>
              </a:solidFill>
              <a:ea typeface="汉仪大宋简" panose="02010609000101010101" pitchFamily="49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2533650" y="1347470"/>
            <a:ext cx="801497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Ken Liu’s analogies between translation and performance were extracted from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his </a:t>
            </a: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online interviews and comments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 of over 50,000 words. Relevant literature was read and a </a:t>
            </a: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descriptive approach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 was adopted.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HarmonyOS Sans SC Light" panose="00000400000000000000" pitchFamily="2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11"/>
            </p:custDataLst>
          </p:nvPr>
        </p:nvSpPr>
        <p:spPr>
          <a:xfrm>
            <a:off x="2533015" y="2804160"/>
            <a:ext cx="8120380" cy="184086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l">
              <a:lnSpc>
                <a:spcPct val="11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A contrastive study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 was conducted between the source text and the corresponding target text of </a:t>
            </a:r>
            <a:r>
              <a:rPr lang="en-US" altLang="zh-CN" sz="2000" i="1" dirty="0"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The Three-Body Problem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. </a:t>
            </a:r>
            <a:r>
              <a:rPr lang="en-US" sz="2000" dirty="0"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The text was analyzed within 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an analytical framework developed from the </a:t>
            </a: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performance theory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, and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 categorized into t</a:t>
            </a:r>
            <a:r>
              <a:rPr lang="en-US" altLang="zh-CN" sz="2000" dirty="0"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he ones inclined to re-create the voice of the original (the script), and the ones inclined to cater for the target reader (the audience).</a:t>
            </a:r>
            <a:endParaRPr lang="en-US" altLang="zh-CN" sz="2000" dirty="0">
              <a:highlight>
                <a:srgbClr val="FFFF00"/>
              </a:highlight>
              <a:latin typeface="Times New Roman" panose="02020603050405020304" charset="0"/>
              <a:cs typeface="Times New Roman" panose="02020603050405020304" charset="0"/>
              <a:sym typeface="HarmonyOS Sans SC Light" panose="00000400000000000000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22726" y="203835"/>
            <a:ext cx="5700668" cy="859496"/>
            <a:chOff x="836190" y="2996890"/>
            <a:chExt cx="4960687" cy="747702"/>
          </a:xfrm>
        </p:grpSpPr>
        <p:grpSp>
          <p:nvGrpSpPr>
            <p:cNvPr id="33" name="组合 32"/>
            <p:cNvGrpSpPr/>
            <p:nvPr/>
          </p:nvGrpSpPr>
          <p:grpSpPr>
            <a:xfrm>
              <a:off x="836190" y="2996890"/>
              <a:ext cx="4960687" cy="747702"/>
              <a:chOff x="836190" y="2303304"/>
              <a:chExt cx="4960687" cy="747702"/>
            </a:xfrm>
          </p:grpSpPr>
          <p:sp>
            <p:nvSpPr>
              <p:cNvPr id="34" name="平行四边形 33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35" name="组合 34"/>
              <p:cNvGrpSpPr/>
              <p:nvPr/>
            </p:nvGrpSpPr>
            <p:grpSpPr>
              <a:xfrm>
                <a:off x="1568449" y="2304843"/>
                <a:ext cx="4228428" cy="746163"/>
                <a:chOff x="2130424" y="2304843"/>
                <a:chExt cx="4228428" cy="746163"/>
              </a:xfrm>
            </p:grpSpPr>
            <p:sp>
              <p:nvSpPr>
                <p:cNvPr id="36" name="平行四边形 35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平行四边形 36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文本框 38"/>
                <p:cNvSpPr txBox="1"/>
                <p:nvPr/>
              </p:nvSpPr>
              <p:spPr>
                <a:xfrm>
                  <a:off x="2462520" y="2483270"/>
                  <a:ext cx="3812202" cy="400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2.2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Methodology</a:t>
                  </a:r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40" name="组合 39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41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19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29" name="文本框 28"/>
          <p:cNvSpPr txBox="1"/>
          <p:nvPr>
            <p:custDataLst>
              <p:tags r:id="rId12"/>
            </p:custDataLst>
          </p:nvPr>
        </p:nvSpPr>
        <p:spPr>
          <a:xfrm>
            <a:off x="2532380" y="4965065"/>
            <a:ext cx="8186420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To explore unique features of the translation as performance, </a:t>
            </a: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a comparative approach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 was also adopted to explore how Ken Liu, as a writer-translator, views the relationship between the two creative arts of </a:t>
            </a:r>
            <a:r>
              <a:rPr lang="en-US" altLang="zh-CN" sz="2000" b="1" dirty="0">
                <a:solidFill>
                  <a:srgbClr val="0000E1"/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writing and translating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HarmonyOS Sans SC Light" panose="00000400000000000000" pitchFamily="2" charset="-122"/>
              </a:rPr>
              <a:t>.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HarmonyOS Sans SC Light" panose="000004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47611" y="2835811"/>
            <a:ext cx="161290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9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05225" y="2326005"/>
            <a:ext cx="6486525" cy="1927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Analytical Framework and </a:t>
            </a:r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Case Analysis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>
            <p:custDataLst>
              <p:tags r:id="rId1"/>
            </p:custDataLst>
          </p:nvPr>
        </p:nvSpPr>
        <p:spPr>
          <a:xfrm flipH="1">
            <a:off x="596265" y="4993640"/>
            <a:ext cx="11074400" cy="1480820"/>
          </a:xfrm>
          <a:prstGeom prst="roundRect">
            <a:avLst/>
          </a:prstGeom>
          <a:solidFill>
            <a:srgbClr val="E3ECFC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>
              <a:cs typeface="+mn-ea"/>
            </a:endParaRPr>
          </a:p>
        </p:txBody>
      </p:sp>
      <p:pic>
        <p:nvPicPr>
          <p:cNvPr id="16" name="图片 2" descr="C:/Users/12423/Desktop/论文分析框架图2.0.png论文分析框架图2.0"/>
          <p:cNvPicPr>
            <a:picLocks noChangeAspect="1"/>
          </p:cNvPicPr>
          <p:nvPr/>
        </p:nvPicPr>
        <p:blipFill>
          <a:blip r:embed="rId2">
            <a:lum contrast="6000"/>
          </a:blip>
          <a:srcRect t="-400" b="3344"/>
          <a:stretch>
            <a:fillRect/>
          </a:stretch>
        </p:blipFill>
        <p:spPr>
          <a:xfrm>
            <a:off x="6845935" y="1134745"/>
            <a:ext cx="4820285" cy="304419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596900" y="1393825"/>
            <a:ext cx="6604635" cy="357505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marL="171450" indent="-171450" algn="l">
              <a:lnSpc>
                <a:spcPct val="14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According to Schechner (1985), the dynamics between the elements of performance—</a:t>
            </a:r>
            <a:r>
              <a:rPr lang="en-US" altLang="zh-CN" sz="20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script, the performer, the performance and the audience</a:t>
            </a:r>
            <a:r>
              <a:rPr lang="en-US" altLang="zh-CN" sz="20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—can be described by Figure 3-1:</a:t>
            </a:r>
            <a:endParaRPr lang="en-US" altLang="zh-CN" sz="20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40000"/>
              </a:lnSpc>
              <a:buClrTx/>
              <a:buSzTx/>
              <a:buFont typeface="Wingdings" panose="05000000000000000000" charset="0"/>
              <a:buChar char="u"/>
            </a:pPr>
            <a:endParaRPr lang="en-US" altLang="zh-CN" sz="2000" dirty="0">
              <a:solidFill>
                <a:schemeClr val="tx1"/>
              </a:solidFill>
              <a:highlight>
                <a:srgbClr val="FFFF00"/>
              </a:highlight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140000"/>
              </a:lnSpc>
              <a:buClrTx/>
              <a:buSzTx/>
              <a:buFont typeface="Wingdings" panose="05000000000000000000" charset="0"/>
              <a:buChar char="u"/>
            </a:pPr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This network resembles the one of elements around translation—</a:t>
            </a:r>
            <a:r>
              <a:rPr lang="en-US" altLang="zh-CN" sz="20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original work, the translator, the translation, and the target readers</a:t>
            </a:r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.</a:t>
            </a:r>
            <a:endParaRPr lang="en-US" altLang="zh-CN" sz="20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22726" y="203835"/>
            <a:ext cx="6190729" cy="1036819"/>
            <a:chOff x="836190" y="2996890"/>
            <a:chExt cx="5387135" cy="901961"/>
          </a:xfrm>
        </p:grpSpPr>
        <p:grpSp>
          <p:nvGrpSpPr>
            <p:cNvPr id="33" name="组合 32"/>
            <p:cNvGrpSpPr/>
            <p:nvPr/>
          </p:nvGrpSpPr>
          <p:grpSpPr>
            <a:xfrm>
              <a:off x="836190" y="2996890"/>
              <a:ext cx="5387135" cy="901961"/>
              <a:chOff x="836190" y="2303304"/>
              <a:chExt cx="5387135" cy="901961"/>
            </a:xfrm>
          </p:grpSpPr>
          <p:sp>
            <p:nvSpPr>
              <p:cNvPr id="34" name="平行四边形 33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35" name="组合 34"/>
              <p:cNvGrpSpPr/>
              <p:nvPr/>
            </p:nvGrpSpPr>
            <p:grpSpPr>
              <a:xfrm>
                <a:off x="1568449" y="2304843"/>
                <a:ext cx="4654876" cy="900422"/>
                <a:chOff x="2130424" y="2304843"/>
                <a:chExt cx="4654876" cy="900422"/>
              </a:xfrm>
            </p:grpSpPr>
            <p:sp>
              <p:nvSpPr>
                <p:cNvPr id="36" name="平行四边形 35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平行四边形 36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文本框 38"/>
                <p:cNvSpPr txBox="1"/>
                <p:nvPr/>
              </p:nvSpPr>
              <p:spPr>
                <a:xfrm>
                  <a:off x="2462520" y="2483270"/>
                  <a:ext cx="4322780" cy="721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2.2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Analytical Framework</a:t>
                  </a:r>
                  <a:endParaRPr lang="en-US" altLang="zh-CN" sz="2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40" name="组合 39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41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15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17" name="文本框 16"/>
          <p:cNvSpPr txBox="1"/>
          <p:nvPr/>
        </p:nvSpPr>
        <p:spPr>
          <a:xfrm>
            <a:off x="7197725" y="4178935"/>
            <a:ext cx="4117340" cy="6813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Figure 3.1 The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Dynamics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 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between Elements in the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 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Performance</a:t>
            </a:r>
            <a:endParaRPr lang="en-US" altLang="zh-CN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84530" y="5081905"/>
            <a:ext cx="1093597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“restored behavior”: </a:t>
            </a:r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performance consists of fragments of behavior that can be rearranged or rebuilt</a:t>
            </a:r>
            <a:endParaRPr lang="en-US" altLang="zh-CN" sz="2000" b="1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342900" indent="-342900" algn="l">
              <a:lnSpc>
                <a:spcPct val="120000"/>
              </a:lnSpc>
              <a:buClrTx/>
              <a:buSzTx/>
              <a:buFont typeface="Wingdings" panose="05000000000000000000" charset="0"/>
              <a:buChar char="l"/>
            </a:pPr>
            <a:r>
              <a:rPr lang="en-US" altLang="zh-CN" sz="2000" b="1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“rehearsals”: </a:t>
            </a:r>
            <a:r>
              <a:rPr lang="en-US" altLang="zh-CN" sz="20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rehearsals serve as a method for ensuring that actions are comprehensible to both their original context and the intended audience</a:t>
            </a:r>
            <a:endParaRPr lang="en-US" altLang="zh-CN" sz="20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22726" y="203835"/>
            <a:ext cx="5907518" cy="859496"/>
            <a:chOff x="836190" y="2996890"/>
            <a:chExt cx="5140687" cy="747702"/>
          </a:xfrm>
        </p:grpSpPr>
        <p:grpSp>
          <p:nvGrpSpPr>
            <p:cNvPr id="3" name="组合 2"/>
            <p:cNvGrpSpPr/>
            <p:nvPr/>
          </p:nvGrpSpPr>
          <p:grpSpPr>
            <a:xfrm>
              <a:off x="836190" y="2996890"/>
              <a:ext cx="5140687" cy="747702"/>
              <a:chOff x="836190" y="2303304"/>
              <a:chExt cx="5140687" cy="747702"/>
            </a:xfrm>
          </p:grpSpPr>
          <p:sp>
            <p:nvSpPr>
              <p:cNvPr id="4" name="平行四边形 3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1568449" y="2304843"/>
                <a:ext cx="4408428" cy="746163"/>
                <a:chOff x="2130424" y="2304843"/>
                <a:chExt cx="4408428" cy="746163"/>
              </a:xfrm>
            </p:grpSpPr>
            <p:sp>
              <p:nvSpPr>
                <p:cNvPr id="6" name="平行四边形 5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平行四边形 6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2462520" y="2483270"/>
                  <a:ext cx="4076332" cy="400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3.2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Case Analysis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 </a:t>
                  </a:r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10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19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17" name="TextBox 76"/>
          <p:cNvSpPr txBox="1"/>
          <p:nvPr/>
        </p:nvSpPr>
        <p:spPr>
          <a:xfrm>
            <a:off x="629920" y="1194435"/>
            <a:ext cx="8926195" cy="506730"/>
          </a:xfrm>
          <a:prstGeom prst="rect">
            <a:avLst/>
          </a:prstGeom>
          <a:solidFill>
            <a:srgbClr val="346BC8"/>
          </a:solidFill>
          <a:effectLst/>
        </p:spPr>
        <p:txBody>
          <a:bodyPr wrap="square" rtlCol="0" anchor="ctr">
            <a:spAutoFit/>
          </a:bodyPr>
          <a:p>
            <a:pPr algn="ctr">
              <a:lnSpc>
                <a:spcPct val="150000"/>
              </a:lnSpc>
            </a:pP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4850" y="1172845"/>
            <a:ext cx="9702800" cy="506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3.2.1 Restoration through Rehearsals: Re-creating the Voice of the Author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9920" y="2172970"/>
            <a:ext cx="4379595" cy="3741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>
              <a:lnSpc>
                <a:spcPct val="120000"/>
              </a:lnSpc>
            </a:pP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Ken Liu “sticks to the score as a musician”—strives to be faithful to his own understanding of the original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—</a:t>
            </a: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and limits his improvisations only to necessary occasions. His creative 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improvisations</a:t>
            </a: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 can be divided into these categories: </a:t>
            </a:r>
            <a:r>
              <a:rPr lang="en-US" altLang="zh-CN" sz="2000" b="1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</a:rPr>
              <a:t>variations, tone correctives, and error proofreading</a:t>
            </a: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.</a:t>
            </a:r>
            <a:endParaRPr lang="en-US" altLang="zh-CN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lnSpc>
                <a:spcPct val="120000"/>
              </a:lnSpc>
            </a:pPr>
            <a:endParaRPr lang="en-US" altLang="zh-CN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lnSpc>
                <a:spcPct val="120000"/>
              </a:lnSpc>
            </a:pPr>
            <a:r>
              <a:rPr lang="en-US" altLang="zh-CN" sz="2000" b="0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</a:rPr>
              <a:t>Examples for variations on the same ST: Table 4.1</a:t>
            </a:r>
            <a:endParaRPr lang="en-US" altLang="zh-CN" sz="2000" b="0">
              <a:solidFill>
                <a:srgbClr val="0000E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 l="3276" r="7982"/>
          <a:stretch>
            <a:fillRect/>
          </a:stretch>
        </p:blipFill>
        <p:spPr>
          <a:xfrm>
            <a:off x="5466080" y="2559685"/>
            <a:ext cx="6381750" cy="2619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" name="组合 14"/>
          <p:cNvGrpSpPr/>
          <p:nvPr/>
        </p:nvGrpSpPr>
        <p:grpSpPr>
          <a:xfrm>
            <a:off x="222726" y="203835"/>
            <a:ext cx="5700668" cy="859496"/>
            <a:chOff x="836190" y="2996890"/>
            <a:chExt cx="4960687" cy="747702"/>
          </a:xfrm>
        </p:grpSpPr>
        <p:grpSp>
          <p:nvGrpSpPr>
            <p:cNvPr id="16" name="组合 15"/>
            <p:cNvGrpSpPr/>
            <p:nvPr/>
          </p:nvGrpSpPr>
          <p:grpSpPr>
            <a:xfrm>
              <a:off x="836190" y="2996890"/>
              <a:ext cx="4960687" cy="747702"/>
              <a:chOff x="836190" y="2303304"/>
              <a:chExt cx="4960687" cy="747702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>
                <a:off x="1568449" y="2304843"/>
                <a:ext cx="4228428" cy="746163"/>
                <a:chOff x="2130424" y="2304843"/>
                <a:chExt cx="4228428" cy="746163"/>
              </a:xfrm>
            </p:grpSpPr>
            <p:sp>
              <p:nvSpPr>
                <p:cNvPr id="20" name="平行四边形 19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平行四边形 20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2462520" y="2483270"/>
                  <a:ext cx="3812202" cy="400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3.2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Case Analysis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 </a:t>
                  </a:r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23" name="组合 22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24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25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  <p:sp>
        <p:nvSpPr>
          <p:cNvPr id="26" name="TextBox 76"/>
          <p:cNvSpPr txBox="1"/>
          <p:nvPr/>
        </p:nvSpPr>
        <p:spPr>
          <a:xfrm>
            <a:off x="629920" y="1194435"/>
            <a:ext cx="5596890" cy="506730"/>
          </a:xfrm>
          <a:prstGeom prst="rect">
            <a:avLst/>
          </a:prstGeom>
          <a:solidFill>
            <a:srgbClr val="346BC8"/>
          </a:solidFill>
          <a:effectLst/>
        </p:spPr>
        <p:txBody>
          <a:bodyPr wrap="square" rtlCol="0" anchor="ctr">
            <a:spAutoFit/>
          </a:bodyPr>
          <a:p>
            <a:pPr algn="ctr">
              <a:lnSpc>
                <a:spcPct val="150000"/>
              </a:lnSpc>
            </a:pP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4850" y="1172845"/>
            <a:ext cx="5765800" cy="506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The Reader as the Audience to Cater for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l="1799"/>
          <a:stretch>
            <a:fillRect/>
          </a:stretch>
        </p:blipFill>
        <p:spPr>
          <a:xfrm>
            <a:off x="104775" y="2024380"/>
            <a:ext cx="6968490" cy="4086225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7238365" y="1599565"/>
            <a:ext cx="4528820" cy="45110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>
              <a:lnSpc>
                <a:spcPct val="120000"/>
              </a:lnSpc>
            </a:pP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According to Ken Liu, “a translator has some duty to educate” especially while translating from a contemporary culture that is subject to stereotypes or misunderstandings. His educational efforts are significantly shown in his </a:t>
            </a:r>
            <a:r>
              <a:rPr lang="en-US" altLang="zh-CN" sz="2000" b="1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</a:rPr>
              <a:t>footnotes</a:t>
            </a: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 and his </a:t>
            </a:r>
            <a:r>
              <a:rPr lang="en-US" altLang="zh-CN" sz="2000" b="1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</a:rPr>
              <a:t>in-text interventions</a:t>
            </a: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. The footnotes can be divided into linguistic footnotes and cultural footnotes.</a:t>
            </a:r>
            <a:endParaRPr lang="en-US" altLang="zh-CN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lnSpc>
                <a:spcPct val="80000"/>
              </a:lnSpc>
            </a:pPr>
            <a:endParaRPr lang="en-US" altLang="zh-CN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lnSpc>
                <a:spcPct val="120000"/>
              </a:lnSpc>
            </a:pPr>
            <a:r>
              <a:rPr lang="en-US" altLang="zh-CN" sz="2000" b="0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</a:rPr>
              <a:t> Figure 4.1</a:t>
            </a:r>
            <a:r>
              <a:rPr lang="en-US" altLang="zh-CN" sz="2000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 shows the overview of the translator’s footnotes in the translation.</a:t>
            </a:r>
            <a:endParaRPr lang="en-US" altLang="zh-CN" sz="2000" b="0">
              <a:solidFill>
                <a:srgbClr val="0000E1"/>
              </a:solidFill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1918970" y="1448435"/>
            <a:ext cx="8167370" cy="4972685"/>
            <a:chOff x="940" y="861"/>
            <a:chExt cx="11580" cy="727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40" y="861"/>
              <a:ext cx="11580" cy="4455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rcRect t="64664"/>
            <a:stretch>
              <a:fillRect/>
            </a:stretch>
          </p:blipFill>
          <p:spPr>
            <a:xfrm>
              <a:off x="1362" y="5617"/>
              <a:ext cx="10971" cy="251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1054100" y="9880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20000"/>
              </a:lnSpc>
            </a:pPr>
            <a:r>
              <a:rPr lang="en-US" altLang="zh-CN" sz="2000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Examples for </a:t>
            </a:r>
            <a:r>
              <a:rPr lang="en-US" altLang="zh-CN" sz="2000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linguistic footnotes: Table 4.2 (partial)</a:t>
            </a:r>
            <a:endParaRPr lang="en-US" altLang="zh-CN" sz="2000">
              <a:solidFill>
                <a:srgbClr val="0000E1"/>
              </a:solidFill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3375" y="314325"/>
            <a:ext cx="9432290" cy="506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Interaction: the Performer’s Experiences Influence the Performance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extBox 76"/>
          <p:cNvSpPr txBox="1"/>
          <p:nvPr/>
        </p:nvSpPr>
        <p:spPr>
          <a:xfrm>
            <a:off x="499110" y="447040"/>
            <a:ext cx="5596890" cy="506730"/>
          </a:xfrm>
          <a:prstGeom prst="rect">
            <a:avLst/>
          </a:prstGeom>
          <a:solidFill>
            <a:srgbClr val="346BC8"/>
          </a:solidFill>
          <a:effectLst/>
        </p:spPr>
        <p:txBody>
          <a:bodyPr wrap="square" rtlCol="0" anchor="ctr">
            <a:spAutoFit/>
          </a:bodyPr>
          <a:p>
            <a:pPr algn="ctr">
              <a:lnSpc>
                <a:spcPct val="150000"/>
              </a:lnSpc>
            </a:pP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4040" y="425450"/>
            <a:ext cx="5715000" cy="506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3.2.2 The Reader as the Audience to Cater for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76"/>
          <p:cNvSpPr txBox="1"/>
          <p:nvPr/>
        </p:nvSpPr>
        <p:spPr>
          <a:xfrm>
            <a:off x="511175" y="407670"/>
            <a:ext cx="7519670" cy="981710"/>
          </a:xfrm>
          <a:prstGeom prst="rect">
            <a:avLst/>
          </a:prstGeom>
          <a:solidFill>
            <a:srgbClr val="346BC8"/>
          </a:solidFill>
          <a:effectLst/>
        </p:spPr>
        <p:txBody>
          <a:bodyPr wrap="square" rtlCol="0" anchor="ctr">
            <a:noAutofit/>
          </a:bodyPr>
          <a:p>
            <a:pPr algn="ctr">
              <a:lnSpc>
                <a:spcPct val="150000"/>
              </a:lnSpc>
            </a:pP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6105" y="493395"/>
            <a:ext cx="7743190" cy="81026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30000"/>
              </a:lnSpc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3.3 Ken Liu’s Viewpoints of the Relationship between Translating and Writing in the Light of Performance Theory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9920" y="1552575"/>
            <a:ext cx="10959465" cy="1351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Many features of performance are </a:t>
            </a:r>
            <a:r>
              <a:rPr lang="en-US" altLang="zh-CN" sz="2000" b="1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</a:rPr>
              <a:t>shared</a:t>
            </a: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 with numerous forms of creative writings, including translating and authoring. From 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sym typeface="+mn-lt"/>
              </a:rPr>
              <a:t>Ken Liu’s viewpoints of the relationship between translating and writing</a:t>
            </a: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, the author explored the </a:t>
            </a:r>
            <a:r>
              <a:rPr lang="en-US" altLang="zh-CN" sz="2000" b="1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</a:rPr>
              <a:t>special features</a:t>
            </a:r>
            <a:r>
              <a:rPr lang="en-US" altLang="zh-CN" sz="2000" b="0">
                <a:latin typeface="Times New Roman" panose="02020603050405020304" charset="0"/>
                <a:ea typeface="宋体" panose="02010600030101010101" pitchFamily="2" charset="-122"/>
              </a:rPr>
              <a:t> of  the translation as performance.</a:t>
            </a:r>
            <a:endParaRPr lang="en-US" altLang="zh-CN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lnSpc>
                <a:spcPct val="100000"/>
              </a:lnSpc>
            </a:pPr>
            <a:endParaRPr lang="en-US" altLang="zh-CN" sz="20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lnSpc>
                <a:spcPct val="120000"/>
              </a:lnSpc>
            </a:pPr>
            <a:endParaRPr lang="en-US" altLang="zh-CN" sz="2000" b="0">
              <a:solidFill>
                <a:srgbClr val="0000E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1175" y="4133215"/>
            <a:ext cx="2743200" cy="567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Ken Liu’s viewpoints</a:t>
            </a:r>
            <a:endParaRPr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左大括号 14"/>
          <p:cNvSpPr/>
          <p:nvPr/>
        </p:nvSpPr>
        <p:spPr>
          <a:xfrm>
            <a:off x="3334385" y="3459480"/>
            <a:ext cx="481965" cy="1804035"/>
          </a:xfrm>
          <a:prstGeom prst="leftBrac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874135" y="3254375"/>
            <a:ext cx="761301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20000"/>
              </a:lnSpc>
              <a:buClrTx/>
              <a:buSzTx/>
              <a:buFont typeface="+mj-ea"/>
              <a:buAutoNum type="circleNumDbPlain"/>
            </a:pPr>
            <a:r>
              <a:rPr lang="en-US" altLang="zh-CN" sz="2000" b="1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Arts of Different Natures: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 Translation, as a performance, involves 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different 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creativity and judgment from that required for writing.</a:t>
            </a:r>
            <a:endParaRPr lang="en-US" altLang="zh-CN" sz="2000"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879850" y="4554220"/>
            <a:ext cx="76130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20000"/>
              </a:lnSpc>
              <a:buClrTx/>
              <a:buSzTx/>
              <a:buFont typeface="+mj-ea"/>
              <a:buAutoNum type="circleNumDbPlain" startAt="2"/>
            </a:pPr>
            <a:r>
              <a:rPr lang="en-US" altLang="zh-CN" sz="2000" b="1">
                <a:solidFill>
                  <a:srgbClr val="0000E1"/>
                </a:solidFill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Interaction:</a:t>
            </a:r>
            <a:r>
              <a:rPr lang="en-US" altLang="zh-CN" sz="20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 Since a translation is a performance that cannot be isolated from the performer’s life, his translations are prone to be influenced by his own explorations in fiction-making.</a:t>
            </a:r>
            <a:endParaRPr lang="zh-CN" altLang="en-US" sz="2000">
              <a:latin typeface="Times New Roman" panose="0202060305040502030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47611" y="2835811"/>
            <a:ext cx="161290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9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43960" y="2631440"/>
            <a:ext cx="6160135" cy="27311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Major Findings 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and Limitations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  <p:timing>
    <p:tnLst>
      <p:par>
        <p:cTn id="1" dur="indefinite" restart="never" nodeType="tmRoot"/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25120" y="1242060"/>
            <a:ext cx="11123930" cy="5097145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marL="914400" lvl="1" indent="-457200" algn="l">
              <a:lnSpc>
                <a:spcPct val="120000"/>
              </a:lnSpc>
              <a:buClrTx/>
              <a:buSzTx/>
              <a:buFont typeface="+mj-ea"/>
              <a:buAutoNum type="circleNumDbPlain"/>
            </a:pP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Ken Liu’s metaphor between translation and performance likens the original text to a musical score and the translator to a musician. It emphasizes the translator’s role in re-creating with </a:t>
            </a:r>
            <a:r>
              <a:rPr lang="en-US" altLang="zh-CN" sz="22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fidelity 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author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’s voice for a new 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audience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.</a:t>
            </a: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70000"/>
              </a:lnSpc>
              <a:buClrTx/>
              <a:buSzTx/>
              <a:buFont typeface="+mj-ea"/>
              <a:buAutoNum type="circleNumDbPlain"/>
            </a:pP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20000"/>
              </a:lnSpc>
              <a:buClrTx/>
              <a:buSzTx/>
              <a:buFont typeface="+mj-ea"/>
              <a:buAutoNum type="circleNumDbPlain"/>
            </a:pP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</a:t>
            </a:r>
            <a:r>
              <a:rPr lang="en-US" altLang="zh-CN" sz="2200" i="1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Three-Body Problem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displays Ken Liu’s philosophy of the translation as performance. His reflections as the performer’s “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rehearsals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,” can be divided into two categories: for re-creating the author’s voice and for the reception of the target reader. </a:t>
            </a: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80000"/>
              </a:lnSpc>
              <a:buClrTx/>
              <a:buSzTx/>
              <a:buFont typeface="+mj-ea"/>
              <a:buAutoNum type="circleNumDbPlain"/>
            </a:pP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20000"/>
              </a:lnSpc>
              <a:buClrTx/>
              <a:buSzTx/>
              <a:buFont typeface="+mj-ea"/>
              <a:buAutoNum type="circleNumDbPlain"/>
            </a:pP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Liu’s dual identity as a writer-translator offers the chance to examine </a:t>
            </a:r>
            <a:r>
              <a:rPr lang="en-US" altLang="zh-CN" sz="22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through the 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comparison with the art of writing 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unique nature of the translation as performance. While writing allows for greater spontaneity, translation requires 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an extra layer of consciousness and reflexivity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. Despite the difference, these two performance arts also 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interact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in writer-translators’ practice. </a:t>
            </a: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171450" indent="-171450" algn="l">
              <a:lnSpc>
                <a:spcPct val="120000"/>
              </a:lnSpc>
              <a:buClrTx/>
              <a:buSzTx/>
              <a:buFont typeface="Wingdings" panose="05000000000000000000" charset="0"/>
              <a:buChar char="u"/>
            </a:pP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2726" y="203835"/>
            <a:ext cx="5700668" cy="859496"/>
            <a:chOff x="836190" y="2996890"/>
            <a:chExt cx="4960687" cy="747702"/>
          </a:xfrm>
        </p:grpSpPr>
        <p:grpSp>
          <p:nvGrpSpPr>
            <p:cNvPr id="3" name="组合 2"/>
            <p:cNvGrpSpPr/>
            <p:nvPr/>
          </p:nvGrpSpPr>
          <p:grpSpPr>
            <a:xfrm>
              <a:off x="836190" y="2996890"/>
              <a:ext cx="4960687" cy="747702"/>
              <a:chOff x="836190" y="2303304"/>
              <a:chExt cx="4960687" cy="747702"/>
            </a:xfrm>
          </p:grpSpPr>
          <p:sp>
            <p:nvSpPr>
              <p:cNvPr id="4" name="平行四边形 3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1568449" y="2304843"/>
                <a:ext cx="4228428" cy="746163"/>
                <a:chOff x="2130424" y="2304843"/>
                <a:chExt cx="4228428" cy="746163"/>
              </a:xfrm>
            </p:grpSpPr>
            <p:sp>
              <p:nvSpPr>
                <p:cNvPr id="6" name="平行四边形 5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平行四边形 6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2462520" y="2483270"/>
                  <a:ext cx="3812202" cy="400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4.1 Major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Findings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 </a:t>
                  </a:r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10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19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25120" y="1330960"/>
            <a:ext cx="11123930" cy="5180330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pPr marL="914400" lvl="1" indent="-457200" algn="l">
              <a:lnSpc>
                <a:spcPct val="120000"/>
              </a:lnSpc>
              <a:buClrTx/>
              <a:buSzTx/>
              <a:buFont typeface="+mj-ea"/>
              <a:buAutoNum type="circleNumDbPlain"/>
            </a:pPr>
            <a:r>
              <a:rPr lang="en-US" altLang="zh-CN" sz="22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Although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</a:t>
            </a:r>
            <a:r>
              <a:rPr lang="en-US" altLang="zh-CN" sz="2200" i="1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Three-Body Problem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is an excellent text to study in terms of the richness of translation challenges encountered, it is the first SF novel Ken Liu has translated. </a:t>
            </a:r>
            <a:r>
              <a:rPr lang="en-US" altLang="zh-CN" sz="2200" dirty="0"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This early work 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may fail to capture possible transformations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in his translation philosophy. </a:t>
            </a: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00000"/>
              </a:lnSpc>
              <a:buClrTx/>
              <a:buSzTx/>
              <a:buFont typeface="+mj-ea"/>
              <a:buAutoNum type="circleNumDbPlain"/>
            </a:pP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20000"/>
              </a:lnSpc>
              <a:buClrTx/>
              <a:buSzTx/>
              <a:buFont typeface="+mj-ea"/>
              <a:buAutoNum type="circleNumDbPlain"/>
            </a:pP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Due to the nature of textual analysis, the case study 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cannot cover many valuable examples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 of Ken Liu’s efforts in </a:t>
            </a:r>
            <a:r>
              <a:rPr lang="en-US" altLang="zh-CN" sz="2200" i="1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The Three-Body Problem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. More specific instances can be found in other specific studies, such as the studies of paratexts in the novel. </a:t>
            </a: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00000"/>
              </a:lnSpc>
              <a:buClrTx/>
              <a:buSzTx/>
              <a:buFont typeface="+mj-ea"/>
              <a:buAutoNum type="circleNumDbPlain"/>
            </a:pP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  <a:p>
            <a:pPr marL="914400" lvl="1" indent="-457200" algn="l">
              <a:lnSpc>
                <a:spcPct val="120000"/>
              </a:lnSpc>
              <a:buClrTx/>
              <a:buSzTx/>
              <a:buFont typeface="+mj-ea"/>
              <a:buAutoNum type="circleNumDbPlain"/>
            </a:pP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While performance theory is central to the analysis, the thesis </a:t>
            </a:r>
            <a:r>
              <a:rPr lang="en-US" altLang="zh-CN" sz="2200" b="1" dirty="0">
                <a:solidFill>
                  <a:srgbClr val="0000E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only adopts some of the basic ideas of the theory</a:t>
            </a:r>
            <a:r>
              <a:rPr lang="en-US" altLang="zh-CN" sz="2200" dirty="0">
                <a:solidFill>
                  <a:schemeClr val="tx1"/>
                </a:solidFill>
                <a:uFillTx/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lt"/>
              </a:rPr>
              <a:t>, which does not fully explore the theory’s potential applications to other areas of translation studies.</a:t>
            </a:r>
            <a:endParaRPr lang="en-US" altLang="zh-CN" sz="2200" dirty="0">
              <a:solidFill>
                <a:schemeClr val="tx1"/>
              </a:solidFill>
              <a:uFillTx/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2726" y="203835"/>
            <a:ext cx="5700668" cy="859496"/>
            <a:chOff x="836190" y="2996890"/>
            <a:chExt cx="4960687" cy="747702"/>
          </a:xfrm>
        </p:grpSpPr>
        <p:grpSp>
          <p:nvGrpSpPr>
            <p:cNvPr id="3" name="组合 2"/>
            <p:cNvGrpSpPr/>
            <p:nvPr/>
          </p:nvGrpSpPr>
          <p:grpSpPr>
            <a:xfrm>
              <a:off x="836190" y="2996890"/>
              <a:ext cx="4960687" cy="747702"/>
              <a:chOff x="836190" y="2303304"/>
              <a:chExt cx="4960687" cy="747702"/>
            </a:xfrm>
          </p:grpSpPr>
          <p:sp>
            <p:nvSpPr>
              <p:cNvPr id="4" name="平行四边形 3"/>
              <p:cNvSpPr/>
              <p:nvPr/>
            </p:nvSpPr>
            <p:spPr>
              <a:xfrm>
                <a:off x="836190" y="2303304"/>
                <a:ext cx="2165639" cy="734489"/>
              </a:xfrm>
              <a:prstGeom prst="parallelogram">
                <a:avLst/>
              </a:prstGeom>
              <a:solidFill>
                <a:srgbClr val="2950A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50">
                  <a:cs typeface="+mn-ea"/>
                  <a:sym typeface="+mn-lt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1568449" y="2304843"/>
                <a:ext cx="4228428" cy="746163"/>
                <a:chOff x="2130424" y="2304843"/>
                <a:chExt cx="4228428" cy="746163"/>
              </a:xfrm>
            </p:grpSpPr>
            <p:sp>
              <p:nvSpPr>
                <p:cNvPr id="6" name="平行四边形 5"/>
                <p:cNvSpPr/>
                <p:nvPr/>
              </p:nvSpPr>
              <p:spPr>
                <a:xfrm>
                  <a:off x="2130424" y="2538925"/>
                  <a:ext cx="4228428" cy="512081"/>
                </a:xfrm>
                <a:prstGeom prst="parallelogram">
                  <a:avLst/>
                </a:prstGeom>
                <a:solidFill>
                  <a:srgbClr val="E3ECF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平行四边形 6"/>
                <p:cNvSpPr/>
                <p:nvPr/>
              </p:nvSpPr>
              <p:spPr>
                <a:xfrm>
                  <a:off x="2206679" y="2304843"/>
                  <a:ext cx="4097883" cy="661645"/>
                </a:xfrm>
                <a:prstGeom prst="parallelogram">
                  <a:avLst/>
                </a:prstGeom>
                <a:solidFill>
                  <a:srgbClr val="346BC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50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文本框 7"/>
                <p:cNvSpPr txBox="1"/>
                <p:nvPr/>
              </p:nvSpPr>
              <p:spPr>
                <a:xfrm>
                  <a:off x="2462520" y="2483270"/>
                  <a:ext cx="3812202" cy="4004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b="1">
                      <a:solidFill>
                        <a:schemeClr val="bg1"/>
                      </a:solidFill>
                    </a:defRPr>
                  </a:lvl1pPr>
                </a:lstStyle>
                <a:p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4.2 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Limitations</a:t>
                  </a:r>
                  <a:r>
                    <a:rPr lang="en-US" altLang="zh-CN" sz="2400" dirty="0">
                      <a:latin typeface="微软雅黑" panose="020B0503020204020204" pitchFamily="34" charset="-122"/>
                      <a:ea typeface="微软雅黑" panose="020B0503020204020204" pitchFamily="34" charset="-122"/>
                      <a:sym typeface="+mn-ea"/>
                    </a:rPr>
                    <a:t> </a:t>
                  </a:r>
                  <a:endPara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endParaRPr>
                </a:p>
              </p:txBody>
            </p:sp>
          </p:grpSp>
        </p:grpSp>
        <p:grpSp>
          <p:nvGrpSpPr>
            <p:cNvPr id="9" name="组合 8"/>
            <p:cNvGrpSpPr/>
            <p:nvPr/>
          </p:nvGrpSpPr>
          <p:grpSpPr>
            <a:xfrm>
              <a:off x="1074724" y="3237240"/>
              <a:ext cx="485267" cy="267119"/>
              <a:chOff x="1058695" y="2843231"/>
              <a:chExt cx="485267" cy="267119"/>
            </a:xfrm>
            <a:solidFill>
              <a:schemeClr val="bg1"/>
            </a:solidFill>
          </p:grpSpPr>
          <p:sp>
            <p:nvSpPr>
              <p:cNvPr id="10" name="任意多边形: 形状 40"/>
              <p:cNvSpPr/>
              <p:nvPr/>
            </p:nvSpPr>
            <p:spPr>
              <a:xfrm>
                <a:off x="1145509" y="2984025"/>
                <a:ext cx="311639" cy="126325"/>
              </a:xfrm>
              <a:custGeom>
                <a:avLst/>
                <a:gdLst>
                  <a:gd name="connsiteX0" fmla="*/ 0 w 311639"/>
                  <a:gd name="connsiteY0" fmla="*/ 0 h 126325"/>
                  <a:gd name="connsiteX1" fmla="*/ 0 w 311639"/>
                  <a:gd name="connsiteY1" fmla="*/ 65110 h 126325"/>
                  <a:gd name="connsiteX2" fmla="*/ 155820 w 311639"/>
                  <a:gd name="connsiteY2" fmla="*/ 126325 h 126325"/>
                  <a:gd name="connsiteX3" fmla="*/ 311639 w 311639"/>
                  <a:gd name="connsiteY3" fmla="*/ 65110 h 126325"/>
                  <a:gd name="connsiteX4" fmla="*/ 311639 w 311639"/>
                  <a:gd name="connsiteY4" fmla="*/ 0 h 126325"/>
                  <a:gd name="connsiteX5" fmla="*/ 155820 w 311639"/>
                  <a:gd name="connsiteY5" fmla="*/ 55093 h 126325"/>
                  <a:gd name="connsiteX6" fmla="*/ 0 w 311639"/>
                  <a:gd name="connsiteY6" fmla="*/ 0 h 12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639" h="126325">
                    <a:moveTo>
                      <a:pt x="0" y="0"/>
                    </a:moveTo>
                    <a:lnTo>
                      <a:pt x="0" y="65110"/>
                    </a:lnTo>
                    <a:cubicBezTo>
                      <a:pt x="0" y="95718"/>
                      <a:pt x="69562" y="126325"/>
                      <a:pt x="155820" y="126325"/>
                    </a:cubicBezTo>
                    <a:cubicBezTo>
                      <a:pt x="242077" y="126325"/>
                      <a:pt x="311639" y="95718"/>
                      <a:pt x="311639" y="65110"/>
                    </a:cubicBezTo>
                    <a:lnTo>
                      <a:pt x="311639" y="0"/>
                    </a:lnTo>
                    <a:lnTo>
                      <a:pt x="155820" y="5509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  <p:sp>
            <p:nvSpPr>
              <p:cNvPr id="19" name="任意多边形: 形状 41"/>
              <p:cNvSpPr/>
              <p:nvPr/>
            </p:nvSpPr>
            <p:spPr>
              <a:xfrm>
                <a:off x="1058695" y="2843231"/>
                <a:ext cx="485267" cy="211469"/>
              </a:xfrm>
              <a:custGeom>
                <a:avLst/>
                <a:gdLst>
                  <a:gd name="connsiteX0" fmla="*/ 242634 w 485267"/>
                  <a:gd name="connsiteY0" fmla="*/ 171958 h 211469"/>
                  <a:gd name="connsiteX1" fmla="*/ 485267 w 485267"/>
                  <a:gd name="connsiteY1" fmla="*/ 86814 h 211469"/>
                  <a:gd name="connsiteX2" fmla="*/ 242634 w 485267"/>
                  <a:gd name="connsiteY2" fmla="*/ 0 h 211469"/>
                  <a:gd name="connsiteX3" fmla="*/ 0 w 485267"/>
                  <a:gd name="connsiteY3" fmla="*/ 86814 h 211469"/>
                  <a:gd name="connsiteX4" fmla="*/ 31164 w 485267"/>
                  <a:gd name="connsiteY4" fmla="*/ 97944 h 211469"/>
                  <a:gd name="connsiteX5" fmla="*/ 31164 w 485267"/>
                  <a:gd name="connsiteY5" fmla="*/ 200340 h 211469"/>
                  <a:gd name="connsiteX6" fmla="*/ 42294 w 485267"/>
                  <a:gd name="connsiteY6" fmla="*/ 211470 h 211469"/>
                  <a:gd name="connsiteX7" fmla="*/ 53424 w 485267"/>
                  <a:gd name="connsiteY7" fmla="*/ 200340 h 211469"/>
                  <a:gd name="connsiteX8" fmla="*/ 53424 w 485267"/>
                  <a:gd name="connsiteY8" fmla="*/ 105735 h 211469"/>
                  <a:gd name="connsiteX9" fmla="*/ 242634 w 485267"/>
                  <a:gd name="connsiteY9" fmla="*/ 171958 h 21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85267" h="211469">
                    <a:moveTo>
                      <a:pt x="242634" y="171958"/>
                    </a:moveTo>
                    <a:lnTo>
                      <a:pt x="485267" y="86814"/>
                    </a:lnTo>
                    <a:lnTo>
                      <a:pt x="242634" y="0"/>
                    </a:lnTo>
                    <a:lnTo>
                      <a:pt x="0" y="86814"/>
                    </a:lnTo>
                    <a:lnTo>
                      <a:pt x="31164" y="97944"/>
                    </a:lnTo>
                    <a:lnTo>
                      <a:pt x="31164" y="200340"/>
                    </a:lnTo>
                    <a:cubicBezTo>
                      <a:pt x="31164" y="206461"/>
                      <a:pt x="36172" y="211470"/>
                      <a:pt x="42294" y="211470"/>
                    </a:cubicBezTo>
                    <a:cubicBezTo>
                      <a:pt x="48415" y="211470"/>
                      <a:pt x="53424" y="206461"/>
                      <a:pt x="53424" y="200340"/>
                    </a:cubicBezTo>
                    <a:lnTo>
                      <a:pt x="53424" y="105735"/>
                    </a:lnTo>
                    <a:lnTo>
                      <a:pt x="242634" y="171958"/>
                    </a:lnTo>
                    <a:close/>
                  </a:path>
                </a:pathLst>
              </a:custGeom>
              <a:grpFill/>
              <a:ln w="55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sz="135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98257" y="2165985"/>
            <a:ext cx="9595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charset="0"/>
              </a:rPr>
              <a:t>THANK YOU FOR LISTENING!</a:t>
            </a:r>
            <a:endParaRPr lang="en-US" altLang="zh-CN" sz="4800" b="1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75560" y="3315970"/>
            <a:ext cx="7040880" cy="526415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noAutofit/>
          </a:bodyPr>
          <a:lstStyle/>
          <a:p>
            <a:pPr algn="ctr"/>
            <a:r>
              <a:rPr lang="zh-CN" altLang="en-US" sz="2400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翻译即表演：刘宇昆英译《三体</a:t>
            </a:r>
            <a:r>
              <a:rPr lang="en-US" altLang="zh-CN" sz="2400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I</a:t>
            </a:r>
            <a:r>
              <a:rPr lang="zh-CN" altLang="en-US" sz="2400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》研究</a:t>
            </a:r>
            <a:endParaRPr lang="en-US" altLang="zh-CN" sz="2400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3448411" y="4689475"/>
            <a:ext cx="6296933" cy="398907"/>
            <a:chOff x="2811243" y="5907282"/>
            <a:chExt cx="5328695" cy="531972"/>
          </a:xfrm>
        </p:grpSpPr>
        <p:sp>
          <p:nvSpPr>
            <p:cNvPr id="74" name="文本框 73"/>
            <p:cNvSpPr txBox="1"/>
            <p:nvPr/>
          </p:nvSpPr>
          <p:spPr>
            <a:xfrm>
              <a:off x="2811243" y="5907452"/>
              <a:ext cx="2319020" cy="531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000" dirty="0">
                  <a:solidFill>
                    <a:srgbClr val="2950AF"/>
                  </a:solidFill>
                  <a:latin typeface="仿宋" panose="02010609060101010101" charset="-122"/>
                  <a:ea typeface="仿宋" panose="02010609060101010101" charset="-122"/>
                  <a:sym typeface="+mn-lt"/>
                </a:rPr>
                <a:t>答辩学生：马欣然</a:t>
              </a:r>
              <a:endParaRPr lang="zh-CN" altLang="en-US" sz="2000" dirty="0">
                <a:solidFill>
                  <a:srgbClr val="2950AF"/>
                </a:solidFill>
                <a:latin typeface="仿宋" panose="02010609060101010101" charset="-122"/>
                <a:ea typeface="仿宋" panose="02010609060101010101" charset="-122"/>
                <a:sym typeface="+mn-lt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5130038" y="5907282"/>
              <a:ext cx="3009900" cy="531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000" dirty="0">
                  <a:solidFill>
                    <a:srgbClr val="2950AF"/>
                  </a:solidFill>
                  <a:latin typeface="仿宋" panose="02010609060101010101" charset="-122"/>
                  <a:ea typeface="仿宋" panose="02010609060101010101" charset="-122"/>
                  <a:sym typeface="+mn-lt"/>
                </a:rPr>
                <a:t>专业方向：文学翻译研究</a:t>
              </a:r>
              <a:endParaRPr lang="zh-CN" altLang="en-US" sz="2000" dirty="0">
                <a:solidFill>
                  <a:srgbClr val="2950AF"/>
                </a:solidFill>
                <a:latin typeface="仿宋" panose="02010609060101010101" charset="-122"/>
                <a:ea typeface="仿宋" panose="02010609060101010101" charset="-122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2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3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4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5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6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7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8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9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0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1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2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3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4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5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6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7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8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19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20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21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22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23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24.xml><?xml version="1.0" encoding="utf-8"?>
<p:tagLst xmlns:p="http://schemas.openxmlformats.org/presentationml/2006/main">
  <p:tag name="KSO_WM_DIAGRAM_VIRTUALLY_FRAME" val="{&quot;height&quot;:522.7499874328518,&quot;left&quot;:49.38133858267717,&quot;top&quot;:82.9,&quot;width&quot;:825.7686614173228}"/>
</p:tagLst>
</file>

<file path=ppt/tags/tag25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26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27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28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29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0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1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2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3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4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5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6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7.xml><?xml version="1.0" encoding="utf-8"?>
<p:tagLst xmlns:p="http://schemas.openxmlformats.org/presentationml/2006/main">
  <p:tag name="KSO_WM_DIAGRAM_VIRTUALLY_FRAME" val="{&quot;height&quot;:414.275,&quot;left&quot;:121.5,&quot;top&quot;:103.85,&quot;width&quot;:723.15}"/>
</p:tagLst>
</file>

<file path=ppt/tags/tag38.xml><?xml version="1.0" encoding="utf-8"?>
<p:tagLst xmlns:p="http://schemas.openxmlformats.org/presentationml/2006/main">
  <p:tag name="ISPRING_PRESENTATION_TITLE" val="PowerPoint 演示文稿"/>
  <p:tag name="KSO_WM_DOC_GUID" val="{7646b040-3551-49a0-9609-8286eb574aa4}"/>
  <p:tag name="KSO_WPP_MARK_KEY" val="03fbf88a-abab-4491-806c-3f706e865ce2"/>
  <p:tag name="COMMONDATA" val="eyJoZGlkIjoiYjM0Y2E1YjVjOWJmNDRmNzlmYmI3Mjk1YmZmODBjYTU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6937</Words>
  <Application>WPS 演示</Application>
  <PresentationFormat>宽屏</PresentationFormat>
  <Paragraphs>156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8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微软雅黑</vt:lpstr>
      <vt:lpstr>Times New Roman</vt:lpstr>
      <vt:lpstr>Arial Unicode MS</vt:lpstr>
      <vt:lpstr>Calibri Light</vt:lpstr>
      <vt:lpstr>HanWangLiSuMedium</vt:lpstr>
      <vt:lpstr>阿里巴巴普惠体 2.0 55 Regular</vt:lpstr>
      <vt:lpstr>Times New Roman</vt:lpstr>
      <vt:lpstr>听风诉说</vt:lpstr>
      <vt:lpstr>优设标题黑</vt:lpstr>
      <vt:lpstr>Wingdings</vt:lpstr>
      <vt:lpstr>HarmonyOS Sans SC Light</vt:lpstr>
      <vt:lpstr>仿宋</vt:lpstr>
      <vt:lpstr>汉仪大宋简</vt:lpstr>
      <vt:lpstr>字魂268号-秋叶宋</vt:lpstr>
      <vt:lpstr>思源黑体 CN Regular</vt:lpstr>
      <vt:lpstr>新愚公拼搏体</vt:lpstr>
      <vt:lpstr>字魂清水体</vt:lpstr>
      <vt:lpstr>微软雅黑 Light</vt:lpstr>
      <vt:lpstr>字魂34号-少年和风体</vt:lpstr>
      <vt:lpstr>华文楷体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MaggieM</cp:lastModifiedBy>
  <cp:revision>220</cp:revision>
  <dcterms:created xsi:type="dcterms:W3CDTF">2022-10-23T14:57:00Z</dcterms:created>
  <dcterms:modified xsi:type="dcterms:W3CDTF">2025-05-21T13:09:27Z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F3093ED3F5EE44B5A79D0263D0E01B7E_13</vt:lpwstr>
  </property>
</Properties>
</file>