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360" r:id="rId6"/>
    <p:sldId id="410" r:id="rId7"/>
    <p:sldId id="294" r:id="rId8"/>
    <p:sldId id="308" r:id="rId9"/>
    <p:sldId id="274" r:id="rId10"/>
    <p:sldId id="275" r:id="rId11"/>
    <p:sldId id="276" r:id="rId12"/>
    <p:sldId id="269" r:id="rId13"/>
    <p:sldId id="385" r:id="rId14"/>
    <p:sldId id="412" r:id="rId15"/>
    <p:sldId id="347" r:id="rId16"/>
    <p:sldId id="413" r:id="rId17"/>
    <p:sldId id="358" r:id="rId18"/>
    <p:sldId id="411" r:id="rId19"/>
    <p:sldId id="278" r:id="rId20"/>
    <p:sldId id="279" r:id="rId21"/>
    <p:sldId id="280" r:id="rId22"/>
    <p:sldId id="281" r:id="rId23"/>
    <p:sldId id="325" r:id="rId24"/>
    <p:sldId id="382" r:id="rId25"/>
    <p:sldId id="277" r:id="rId26"/>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33" userDrawn="1">
          <p15:clr>
            <a:srgbClr val="A4A3A4"/>
          </p15:clr>
        </p15:guide>
        <p15:guide id="2" pos="38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295091"/>
    <a:srgbClr val="FFFFFF"/>
    <a:srgbClr val="638BD3"/>
    <a:srgbClr val="D0D8FD"/>
    <a:srgbClr val="E6E6E6"/>
    <a:srgbClr val="DCDCDC"/>
    <a:srgbClr val="F0F0F0"/>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1933"/>
        <p:guide pos="384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154.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58.xml"/><Relationship Id="rId18" Type="http://schemas.openxmlformats.org/officeDocument/2006/relationships/image" Target="../media/image1.png"/><Relationship Id="rId17" Type="http://schemas.openxmlformats.org/officeDocument/2006/relationships/tags" Target="../tags/tag57.xml"/><Relationship Id="rId16" Type="http://schemas.openxmlformats.org/officeDocument/2006/relationships/tags" Target="../tags/tag56.xml"/><Relationship Id="rId15" Type="http://schemas.openxmlformats.org/officeDocument/2006/relationships/tags" Target="../tags/tag55.xml"/><Relationship Id="rId14" Type="http://schemas.openxmlformats.org/officeDocument/2006/relationships/tags" Target="../tags/tag54.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pic>
        <p:nvPicPr>
          <p:cNvPr id="26" name="图片 25"/>
          <p:cNvPicPr>
            <a:picLocks noChangeAspect="1"/>
          </p:cNvPicPr>
          <p:nvPr userDrawn="1">
            <p:custDataLst>
              <p:tags r:id="rId17"/>
            </p:custDataLst>
          </p:nvPr>
        </p:nvPicPr>
        <p:blipFill>
          <a:blip r:embed="rId18">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ustDataLst>
      <p:tags r:id="rId1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s>
</file>

<file path=ppt/slides/_rels/slide2.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3" Type="http://schemas.openxmlformats.org/officeDocument/2006/relationships/slideLayout" Target="../slideLayouts/slideLayout1.xml"/><Relationship Id="rId32" Type="http://schemas.openxmlformats.org/officeDocument/2006/relationships/tags" Target="../tags/tag94.xml"/><Relationship Id="rId31" Type="http://schemas.openxmlformats.org/officeDocument/2006/relationships/tags" Target="../tags/tag93.xml"/><Relationship Id="rId30" Type="http://schemas.openxmlformats.org/officeDocument/2006/relationships/tags" Target="../tags/tag92.xml"/><Relationship Id="rId3" Type="http://schemas.openxmlformats.org/officeDocument/2006/relationships/tags" Target="../tags/tag65.xml"/><Relationship Id="rId29" Type="http://schemas.openxmlformats.org/officeDocument/2006/relationships/tags" Target="../tags/tag91.xml"/><Relationship Id="rId28" Type="http://schemas.openxmlformats.org/officeDocument/2006/relationships/tags" Target="../tags/tag90.xml"/><Relationship Id="rId27" Type="http://schemas.openxmlformats.org/officeDocument/2006/relationships/tags" Target="../tags/tag89.xml"/><Relationship Id="rId26" Type="http://schemas.openxmlformats.org/officeDocument/2006/relationships/tags" Target="../tags/tag88.xml"/><Relationship Id="rId25" Type="http://schemas.openxmlformats.org/officeDocument/2006/relationships/tags" Target="../tags/tag87.xml"/><Relationship Id="rId24" Type="http://schemas.openxmlformats.org/officeDocument/2006/relationships/tags" Target="../tags/tag86.xml"/><Relationship Id="rId23" Type="http://schemas.openxmlformats.org/officeDocument/2006/relationships/tags" Target="../tags/tag85.xml"/><Relationship Id="rId22" Type="http://schemas.openxmlformats.org/officeDocument/2006/relationships/tags" Target="../tags/tag84.xml"/><Relationship Id="rId21" Type="http://schemas.openxmlformats.org/officeDocument/2006/relationships/tags" Target="../tags/tag83.xml"/><Relationship Id="rId20" Type="http://schemas.openxmlformats.org/officeDocument/2006/relationships/tags" Target="../tags/tag82.xml"/><Relationship Id="rId2" Type="http://schemas.openxmlformats.org/officeDocument/2006/relationships/tags" Target="../tags/tag64.xml"/><Relationship Id="rId19" Type="http://schemas.openxmlformats.org/officeDocument/2006/relationships/tags" Target="../tags/tag81.xml"/><Relationship Id="rId18" Type="http://schemas.openxmlformats.org/officeDocument/2006/relationships/tags" Target="../tags/tag80.xml"/><Relationship Id="rId17" Type="http://schemas.openxmlformats.org/officeDocument/2006/relationships/tags" Target="../tags/tag79.xml"/><Relationship Id="rId16" Type="http://schemas.openxmlformats.org/officeDocument/2006/relationships/tags" Target="../tags/tag78.xml"/><Relationship Id="rId15" Type="http://schemas.openxmlformats.org/officeDocument/2006/relationships/tags" Target="../tags/tag77.xml"/><Relationship Id="rId14" Type="http://schemas.openxmlformats.org/officeDocument/2006/relationships/tags" Target="../tags/tag76.xml"/><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9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96.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tags" Target="../tags/tag107.xml"/><Relationship Id="rId1" Type="http://schemas.openxmlformats.org/officeDocument/2006/relationships/tags" Target="../tags/tag106.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tags" Target="../tags/tag108.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tags" Target="../tags/tag111.xml"/><Relationship Id="rId3" Type="http://schemas.openxmlformats.org/officeDocument/2006/relationships/image" Target="../media/image3.png"/><Relationship Id="rId2" Type="http://schemas.openxmlformats.org/officeDocument/2006/relationships/tags" Target="../tags/tag110.xml"/><Relationship Id="rId1" Type="http://schemas.openxmlformats.org/officeDocument/2006/relationships/tags" Target="../tags/tag109.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tags" Target="../tags/tag114.xml"/><Relationship Id="rId3" Type="http://schemas.openxmlformats.org/officeDocument/2006/relationships/image" Target="../media/image4.png"/><Relationship Id="rId2" Type="http://schemas.openxmlformats.org/officeDocument/2006/relationships/tags" Target="../tags/tag113.xml"/><Relationship Id="rId1" Type="http://schemas.openxmlformats.org/officeDocument/2006/relationships/tags" Target="../tags/tag112.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tags" Target="../tags/tag117.xml"/><Relationship Id="rId3" Type="http://schemas.openxmlformats.org/officeDocument/2006/relationships/image" Target="../media/image5.png"/><Relationship Id="rId2" Type="http://schemas.openxmlformats.org/officeDocument/2006/relationships/tags" Target="../tags/tag116.xml"/><Relationship Id="rId1" Type="http://schemas.openxmlformats.org/officeDocument/2006/relationships/tags" Target="../tags/tag115.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xml"/><Relationship Id="rId4" Type="http://schemas.openxmlformats.org/officeDocument/2006/relationships/tags" Target="../tags/tag120.xml"/><Relationship Id="rId3" Type="http://schemas.openxmlformats.org/officeDocument/2006/relationships/image" Target="../media/image6.png"/><Relationship Id="rId2" Type="http://schemas.openxmlformats.org/officeDocument/2006/relationships/tags" Target="../tags/tag119.xml"/><Relationship Id="rId1" Type="http://schemas.openxmlformats.org/officeDocument/2006/relationships/tags" Target="../tags/tag118.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tags" Target="../tags/tag123.xml"/><Relationship Id="rId3" Type="http://schemas.openxmlformats.org/officeDocument/2006/relationships/image" Target="../media/image7.png"/><Relationship Id="rId2" Type="http://schemas.openxmlformats.org/officeDocument/2006/relationships/tags" Target="../tags/tag122.xml"/><Relationship Id="rId1" Type="http://schemas.openxmlformats.org/officeDocument/2006/relationships/tags" Target="../tags/tag121.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tags" Target="../tags/tag125.xml"/><Relationship Id="rId1" Type="http://schemas.openxmlformats.org/officeDocument/2006/relationships/tags" Target="../tags/tag124.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tags" Target="../tags/tag127.xml"/><Relationship Id="rId1" Type="http://schemas.openxmlformats.org/officeDocument/2006/relationships/tags" Target="../tags/tag126.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xml"/><Relationship Id="rId4" Type="http://schemas.openxmlformats.org/officeDocument/2006/relationships/tags" Target="../tags/tag139.xml"/><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tags" Target="../tags/tag153.xml"/><Relationship Id="rId1" Type="http://schemas.openxmlformats.org/officeDocument/2006/relationships/tags" Target="../tags/tag1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4368528" y="4343762"/>
            <a:ext cx="3767455" cy="460375"/>
          </a:xfrm>
          <a:prstGeom prst="rect">
            <a:avLst/>
          </a:prstGeom>
          <a:solidFill>
            <a:schemeClr val="tx1">
              <a:lumMod val="75000"/>
              <a:lumOff val="25000"/>
            </a:schemeClr>
          </a:solidFill>
        </p:spPr>
        <p:txBody>
          <a:bodyPr wrap="none" rtlCol="0">
            <a:spAutoFit/>
          </a:bodyPr>
          <a:p>
            <a:r>
              <a:rPr lang="zh-CN" altLang="en-US" sz="2400" b="1" dirty="0">
                <a:solidFill>
                  <a:prstClr val="white"/>
                </a:solidFill>
                <a:latin typeface="宋体" pitchFamily="2" charset="-122"/>
                <a:ea typeface="宋体" pitchFamily="2" charset="-122"/>
                <a:cs typeface="宋体" pitchFamily="2" charset="-122"/>
              </a:rPr>
              <a:t>汇报人：林妮</a:t>
            </a:r>
            <a:r>
              <a:rPr lang="en-US" altLang="zh-CN" sz="2400" b="1" dirty="0">
                <a:solidFill>
                  <a:prstClr val="white"/>
                </a:solidFill>
                <a:latin typeface="宋体" pitchFamily="2" charset="-122"/>
                <a:ea typeface="宋体" pitchFamily="2" charset="-122"/>
                <a:cs typeface="宋体" pitchFamily="2" charset="-122"/>
              </a:rPr>
              <a:t> </a:t>
            </a:r>
            <a:r>
              <a:rPr lang="en-US" altLang="zh-CN" sz="2400" dirty="0">
                <a:solidFill>
                  <a:prstClr val="white"/>
                </a:solidFill>
                <a:latin typeface="Times New Roman Regular" panose="02020603050405020304" charset="0"/>
                <a:ea typeface="宋体" pitchFamily="2" charset="-122"/>
                <a:cs typeface="Times New Roman Regular" panose="02020603050405020304" charset="0"/>
              </a:rPr>
              <a:t>20221210020</a:t>
            </a:r>
            <a:endParaRPr lang="en-US" altLang="zh-CN" sz="2400" dirty="0">
              <a:solidFill>
                <a:prstClr val="white"/>
              </a:solidFill>
              <a:latin typeface="Times New Roman Regular" panose="02020603050405020304" charset="0"/>
              <a:ea typeface="宋体" pitchFamily="2" charset="-122"/>
              <a:cs typeface="Times New Roman Regular" panose="02020603050405020304" charset="0"/>
            </a:endParaRPr>
          </a:p>
        </p:txBody>
      </p:sp>
      <p:sp>
        <p:nvSpPr>
          <p:cNvPr id="7" name="文本框 6"/>
          <p:cNvSpPr txBox="1"/>
          <p:nvPr>
            <p:custDataLst>
              <p:tags r:id="rId2"/>
            </p:custDataLst>
          </p:nvPr>
        </p:nvSpPr>
        <p:spPr>
          <a:xfrm>
            <a:off x="1428750" y="1387475"/>
            <a:ext cx="9743440" cy="1929765"/>
          </a:xfrm>
          <a:prstGeom prst="rect">
            <a:avLst/>
          </a:prstGeom>
          <a:noFill/>
        </p:spPr>
        <p:txBody>
          <a:bodyPr wrap="square" rtlCol="0">
            <a:noAutofit/>
          </a:bodyPr>
          <a:p>
            <a:pPr algn="ctr"/>
            <a:r>
              <a:rPr sz="4000" b="1" dirty="0">
                <a:latin typeface="Times New Roman" panose="02020603050405020304" charset="0"/>
                <a:cs typeface="Times New Roman" panose="02020603050405020304" charset="0"/>
              </a:rPr>
              <a:t>A Comparative Study on Aesthetic Representation of </a:t>
            </a:r>
            <a:r>
              <a:rPr sz="4000" b="1" i="1" dirty="0">
                <a:latin typeface="Times New Roman Bold Italic" panose="02020603050405020304" charset="0"/>
                <a:cs typeface="Times New Roman Bold Italic" panose="02020603050405020304" charset="0"/>
              </a:rPr>
              <a:t>The Picture of Dorian Gray</a:t>
            </a:r>
            <a:r>
              <a:rPr sz="4000" b="1" dirty="0">
                <a:latin typeface="Times New Roman" panose="02020603050405020304" charset="0"/>
                <a:cs typeface="Times New Roman" panose="02020603050405020304" charset="0"/>
              </a:rPr>
              <a:t>: Based on Rong Rude’s and Huang Yuanshen’s </a:t>
            </a:r>
            <a:r>
              <a:rPr lang="en-US" sz="4000" b="1" dirty="0">
                <a:latin typeface="Times New Roman" panose="02020603050405020304" charset="0"/>
                <a:cs typeface="Times New Roman" panose="02020603050405020304" charset="0"/>
              </a:rPr>
              <a:t>Translations</a:t>
            </a:r>
            <a:endParaRPr lang="en-US" sz="4000" b="1" dirty="0">
              <a:latin typeface="Times New Roman" panose="02020603050405020304" charset="0"/>
              <a:cs typeface="Times New Roman" panose="02020603050405020304" charset="0"/>
            </a:endParaRPr>
          </a:p>
        </p:txBody>
      </p:sp>
      <p:sp>
        <p:nvSpPr>
          <p:cNvPr id="8" name="文本框 7"/>
          <p:cNvSpPr txBox="1"/>
          <p:nvPr userDrawn="1">
            <p:custDataLst>
              <p:tags r:id="rId3"/>
            </p:custDataLst>
          </p:nvPr>
        </p:nvSpPr>
        <p:spPr>
          <a:xfrm>
            <a:off x="1" y="6004875"/>
            <a:ext cx="12191999" cy="707886"/>
          </a:xfrm>
          <a:prstGeom prst="rect">
            <a:avLst/>
          </a:prstGeom>
          <a:noFill/>
        </p:spPr>
        <p:txBody>
          <a:bodyPr wrap="square" rtlCol="0">
            <a:spAutoFit/>
          </a:bodyPr>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Tree>
    <p:custDataLst>
      <p:tags r:id="rId4"/>
    </p:custDataLst>
  </p:cSld>
  <p:clrMapOvr>
    <a:masterClrMapping/>
  </p:clrMapOvr>
  <p:transition advTm="22136"/>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6" name="组合 45"/>
          <p:cNvGrpSpPr/>
          <p:nvPr>
            <p:custDataLst>
              <p:tags r:id="rId1"/>
            </p:custDataLst>
          </p:nvPr>
        </p:nvGrpSpPr>
        <p:grpSpPr>
          <a:xfrm>
            <a:off x="3017295" y="1489486"/>
            <a:ext cx="1192345" cy="768350"/>
            <a:chOff x="2215144" y="927951"/>
            <a:chExt cx="1244730" cy="1056500"/>
          </a:xfrm>
        </p:grpSpPr>
        <p:sp>
          <p:nvSpPr>
            <p:cNvPr id="47" name="平行四边形 46"/>
            <p:cNvSpPr/>
            <p:nvPr>
              <p:custDataLst>
                <p:tags r:id="rId2"/>
              </p:custDataLst>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latin typeface="Times New Roman" panose="02020603050405020304" charset="0"/>
                <a:cs typeface="Times New Roman" panose="02020603050405020304" charset="0"/>
              </a:endParaRPr>
            </a:p>
          </p:txBody>
        </p:sp>
        <p:sp>
          <p:nvSpPr>
            <p:cNvPr id="48" name="文本框 9"/>
            <p:cNvSpPr txBox="1"/>
            <p:nvPr>
              <p:custDataLst>
                <p:tags r:id="rId3"/>
              </p:custDataLst>
            </p:nvPr>
          </p:nvSpPr>
          <p:spPr>
            <a:xfrm>
              <a:off x="2393075" y="927951"/>
              <a:ext cx="1066799" cy="1056500"/>
            </a:xfrm>
            <a:prstGeom prst="rect">
              <a:avLst/>
            </a:prstGeom>
            <a:noFill/>
          </p:spPr>
          <p:txBody>
            <a:bodyPr wrap="square" rtlCol="0">
              <a:spAutoFit/>
            </a:bodyPr>
            <a:p>
              <a:r>
                <a:rPr lang="en-US" altLang="zh-CN" sz="4400" dirty="0">
                  <a:solidFill>
                    <a:schemeClr val="bg1"/>
                  </a:solidFill>
                  <a:latin typeface="Times New Roman" panose="02020603050405020304" charset="0"/>
                  <a:cs typeface="Times New Roman" panose="02020603050405020304" charset="0"/>
                </a:rPr>
                <a:t>01</a:t>
              </a:r>
              <a:endParaRPr lang="en-US" altLang="zh-CN" sz="4400" dirty="0">
                <a:solidFill>
                  <a:schemeClr val="bg1"/>
                </a:solidFill>
                <a:latin typeface="Times New Roman" panose="02020603050405020304" charset="0"/>
                <a:cs typeface="Times New Roman" panose="02020603050405020304" charset="0"/>
              </a:endParaRPr>
            </a:p>
          </p:txBody>
        </p:sp>
      </p:grpSp>
      <p:grpSp>
        <p:nvGrpSpPr>
          <p:cNvPr id="49" name="组合 48"/>
          <p:cNvGrpSpPr/>
          <p:nvPr>
            <p:custDataLst>
              <p:tags r:id="rId4"/>
            </p:custDataLst>
          </p:nvPr>
        </p:nvGrpSpPr>
        <p:grpSpPr>
          <a:xfrm>
            <a:off x="3017295" y="2395639"/>
            <a:ext cx="1192345" cy="768350"/>
            <a:chOff x="2215144" y="1952311"/>
            <a:chExt cx="1244730" cy="1056502"/>
          </a:xfrm>
        </p:grpSpPr>
        <p:sp>
          <p:nvSpPr>
            <p:cNvPr id="50" name="平行四边形 49"/>
            <p:cNvSpPr/>
            <p:nvPr>
              <p:custDataLst>
                <p:tags r:id="rId5"/>
              </p:custDataLst>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latin typeface="Times New Roman" panose="02020603050405020304" charset="0"/>
                <a:cs typeface="Times New Roman" panose="02020603050405020304" charset="0"/>
              </a:endParaRPr>
            </a:p>
          </p:txBody>
        </p:sp>
        <p:sp>
          <p:nvSpPr>
            <p:cNvPr id="51" name="文本框 10"/>
            <p:cNvSpPr txBox="1"/>
            <p:nvPr>
              <p:custDataLst>
                <p:tags r:id="rId6"/>
              </p:custDataLst>
            </p:nvPr>
          </p:nvSpPr>
          <p:spPr>
            <a:xfrm>
              <a:off x="2393075" y="1952311"/>
              <a:ext cx="1066799" cy="1056502"/>
            </a:xfrm>
            <a:prstGeom prst="rect">
              <a:avLst/>
            </a:prstGeom>
            <a:noFill/>
          </p:spPr>
          <p:txBody>
            <a:bodyPr wrap="square" rtlCol="0">
              <a:spAutoFit/>
            </a:bodyPr>
            <a:p>
              <a:r>
                <a:rPr lang="en-US" altLang="zh-CN" sz="4400" dirty="0">
                  <a:solidFill>
                    <a:schemeClr val="bg1"/>
                  </a:solidFill>
                  <a:latin typeface="Times New Roman" panose="02020603050405020304" charset="0"/>
                  <a:cs typeface="Times New Roman" panose="02020603050405020304" charset="0"/>
                </a:rPr>
                <a:t>02</a:t>
              </a:r>
              <a:endParaRPr lang="en-US" altLang="zh-CN" sz="4400" dirty="0">
                <a:solidFill>
                  <a:schemeClr val="bg1"/>
                </a:solidFill>
                <a:latin typeface="Times New Roman" panose="02020603050405020304" charset="0"/>
                <a:cs typeface="Times New Roman" panose="02020603050405020304" charset="0"/>
              </a:endParaRPr>
            </a:p>
          </p:txBody>
        </p:sp>
      </p:grpSp>
      <p:grpSp>
        <p:nvGrpSpPr>
          <p:cNvPr id="52" name="组合 51"/>
          <p:cNvGrpSpPr/>
          <p:nvPr>
            <p:custDataLst>
              <p:tags r:id="rId7"/>
            </p:custDataLst>
          </p:nvPr>
        </p:nvGrpSpPr>
        <p:grpSpPr>
          <a:xfrm>
            <a:off x="3017295" y="3331436"/>
            <a:ext cx="1192345" cy="768350"/>
            <a:chOff x="2215144" y="3018134"/>
            <a:chExt cx="1244730" cy="1056501"/>
          </a:xfrm>
        </p:grpSpPr>
        <p:sp>
          <p:nvSpPr>
            <p:cNvPr id="53" name="平行四边形 52"/>
            <p:cNvSpPr/>
            <p:nvPr>
              <p:custDataLst>
                <p:tags r:id="rId8"/>
              </p:custDataLst>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latin typeface="Times New Roman" panose="02020603050405020304" charset="0"/>
                <a:cs typeface="Times New Roman" panose="02020603050405020304" charset="0"/>
              </a:endParaRPr>
            </a:p>
          </p:txBody>
        </p:sp>
        <p:sp>
          <p:nvSpPr>
            <p:cNvPr id="54" name="文本框 11"/>
            <p:cNvSpPr txBox="1"/>
            <p:nvPr>
              <p:custDataLst>
                <p:tags r:id="rId9"/>
              </p:custDataLst>
            </p:nvPr>
          </p:nvSpPr>
          <p:spPr>
            <a:xfrm>
              <a:off x="2393075" y="3018134"/>
              <a:ext cx="1066799" cy="1056501"/>
            </a:xfrm>
            <a:prstGeom prst="rect">
              <a:avLst/>
            </a:prstGeom>
            <a:noFill/>
          </p:spPr>
          <p:txBody>
            <a:bodyPr wrap="square" rtlCol="0">
              <a:spAutoFit/>
            </a:bodyPr>
            <a:p>
              <a:r>
                <a:rPr lang="en-US" altLang="zh-CN" sz="4400" dirty="0">
                  <a:solidFill>
                    <a:schemeClr val="bg1"/>
                  </a:solidFill>
                  <a:latin typeface="Times New Roman" panose="02020603050405020304" charset="0"/>
                  <a:cs typeface="Times New Roman" panose="02020603050405020304" charset="0"/>
                </a:rPr>
                <a:t>03</a:t>
              </a:r>
              <a:endParaRPr lang="en-US" altLang="zh-CN" sz="4400" dirty="0">
                <a:solidFill>
                  <a:schemeClr val="bg1"/>
                </a:solidFill>
                <a:latin typeface="Times New Roman" panose="02020603050405020304" charset="0"/>
                <a:cs typeface="Times New Roman" panose="02020603050405020304" charset="0"/>
              </a:endParaRPr>
            </a:p>
          </p:txBody>
        </p:sp>
      </p:grpSp>
      <p:grpSp>
        <p:nvGrpSpPr>
          <p:cNvPr id="55" name="组合 54"/>
          <p:cNvGrpSpPr/>
          <p:nvPr>
            <p:custDataLst>
              <p:tags r:id="rId10"/>
            </p:custDataLst>
          </p:nvPr>
        </p:nvGrpSpPr>
        <p:grpSpPr>
          <a:xfrm>
            <a:off x="3017295" y="4241422"/>
            <a:ext cx="1192345" cy="768350"/>
            <a:chOff x="2215144" y="4047039"/>
            <a:chExt cx="1244730" cy="1056503"/>
          </a:xfrm>
        </p:grpSpPr>
        <p:sp>
          <p:nvSpPr>
            <p:cNvPr id="56" name="平行四边形 55"/>
            <p:cNvSpPr/>
            <p:nvPr>
              <p:custDataLst>
                <p:tags r:id="rId11"/>
              </p:custDataLst>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latin typeface="Times New Roman" panose="02020603050405020304" charset="0"/>
                <a:cs typeface="Times New Roman" panose="02020603050405020304" charset="0"/>
              </a:endParaRPr>
            </a:p>
          </p:txBody>
        </p:sp>
        <p:sp>
          <p:nvSpPr>
            <p:cNvPr id="57" name="文本框 12"/>
            <p:cNvSpPr txBox="1"/>
            <p:nvPr>
              <p:custDataLst>
                <p:tags r:id="rId12"/>
              </p:custDataLst>
            </p:nvPr>
          </p:nvSpPr>
          <p:spPr>
            <a:xfrm>
              <a:off x="2393075" y="4047039"/>
              <a:ext cx="1066799" cy="1056503"/>
            </a:xfrm>
            <a:prstGeom prst="rect">
              <a:avLst/>
            </a:prstGeom>
            <a:noFill/>
          </p:spPr>
          <p:txBody>
            <a:bodyPr wrap="square" rtlCol="0">
              <a:spAutoFit/>
            </a:bodyPr>
            <a:p>
              <a:r>
                <a:rPr lang="en-US" altLang="zh-CN" sz="4400" dirty="0">
                  <a:solidFill>
                    <a:schemeClr val="bg1"/>
                  </a:solidFill>
                  <a:latin typeface="Times New Roman" panose="02020603050405020304" charset="0"/>
                  <a:cs typeface="Times New Roman" panose="02020603050405020304" charset="0"/>
                </a:rPr>
                <a:t>04</a:t>
              </a:r>
              <a:endParaRPr lang="en-US" altLang="zh-CN" sz="4400" dirty="0">
                <a:solidFill>
                  <a:schemeClr val="bg1"/>
                </a:solidFill>
                <a:latin typeface="Times New Roman" panose="02020603050405020304" charset="0"/>
                <a:cs typeface="Times New Roman" panose="02020603050405020304" charset="0"/>
              </a:endParaRPr>
            </a:p>
          </p:txBody>
        </p:sp>
      </p:grpSp>
      <p:grpSp>
        <p:nvGrpSpPr>
          <p:cNvPr id="58" name="组合 57"/>
          <p:cNvGrpSpPr/>
          <p:nvPr>
            <p:custDataLst>
              <p:tags r:id="rId13"/>
            </p:custDataLst>
          </p:nvPr>
        </p:nvGrpSpPr>
        <p:grpSpPr>
          <a:xfrm>
            <a:off x="3017292" y="5174142"/>
            <a:ext cx="1179315" cy="768350"/>
            <a:chOff x="2215144" y="5107938"/>
            <a:chExt cx="1231128" cy="1056506"/>
          </a:xfrm>
        </p:grpSpPr>
        <p:sp>
          <p:nvSpPr>
            <p:cNvPr id="59" name="平行四边形 58"/>
            <p:cNvSpPr/>
            <p:nvPr>
              <p:custDataLst>
                <p:tags r:id="rId14"/>
              </p:custDataLst>
            </p:nvPr>
          </p:nvSpPr>
          <p:spPr>
            <a:xfrm>
              <a:off x="2215144" y="5186859"/>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latin typeface="Times New Roman" panose="02020603050405020304" charset="0"/>
                <a:cs typeface="Times New Roman" panose="02020603050405020304" charset="0"/>
              </a:endParaRPr>
            </a:p>
          </p:txBody>
        </p:sp>
        <p:sp>
          <p:nvSpPr>
            <p:cNvPr id="60" name="文本框 13"/>
            <p:cNvSpPr txBox="1"/>
            <p:nvPr>
              <p:custDataLst>
                <p:tags r:id="rId15"/>
              </p:custDataLst>
            </p:nvPr>
          </p:nvSpPr>
          <p:spPr>
            <a:xfrm>
              <a:off x="2379473" y="5107938"/>
              <a:ext cx="1066799" cy="1056506"/>
            </a:xfrm>
            <a:prstGeom prst="rect">
              <a:avLst/>
            </a:prstGeom>
            <a:noFill/>
          </p:spPr>
          <p:txBody>
            <a:bodyPr wrap="square" rtlCol="0">
              <a:spAutoFit/>
            </a:bodyPr>
            <a:p>
              <a:r>
                <a:rPr lang="en-US" altLang="zh-CN" sz="4400" dirty="0">
                  <a:solidFill>
                    <a:schemeClr val="bg1"/>
                  </a:solidFill>
                  <a:latin typeface="Times New Roman" panose="02020603050405020304" charset="0"/>
                  <a:cs typeface="Times New Roman" panose="02020603050405020304" charset="0"/>
                </a:rPr>
                <a:t>05</a:t>
              </a:r>
              <a:endParaRPr lang="en-US" altLang="zh-CN" sz="4400" dirty="0">
                <a:solidFill>
                  <a:schemeClr val="bg1"/>
                </a:solidFill>
                <a:latin typeface="Times New Roman" panose="02020603050405020304" charset="0"/>
                <a:cs typeface="Times New Roman" panose="02020603050405020304" charset="0"/>
              </a:endParaRPr>
            </a:p>
          </p:txBody>
        </p:sp>
      </p:grpSp>
      <p:grpSp>
        <p:nvGrpSpPr>
          <p:cNvPr id="61" name="组合 60"/>
          <p:cNvGrpSpPr/>
          <p:nvPr>
            <p:custDataLst>
              <p:tags r:id="rId16"/>
            </p:custDataLst>
          </p:nvPr>
        </p:nvGrpSpPr>
        <p:grpSpPr>
          <a:xfrm>
            <a:off x="3922964" y="1507235"/>
            <a:ext cx="5143000" cy="613247"/>
            <a:chOff x="4315150" y="953426"/>
            <a:chExt cx="3857250" cy="540345"/>
          </a:xfrm>
        </p:grpSpPr>
        <p:sp>
          <p:nvSpPr>
            <p:cNvPr id="62" name="矩形 61"/>
            <p:cNvSpPr/>
            <p:nvPr>
              <p:custDataLst>
                <p:tags r:id="rId17"/>
              </p:custDataLst>
            </p:nvPr>
          </p:nvSpPr>
          <p:spPr>
            <a:xfrm>
              <a:off x="4734516" y="979579"/>
              <a:ext cx="2827147" cy="514192"/>
            </a:xfrm>
            <a:prstGeom prst="rect">
              <a:avLst/>
            </a:prstGeom>
            <a:ln w="15875">
              <a:noFill/>
            </a:ln>
          </p:spPr>
          <p:txBody>
            <a:bodyPr wrap="square" lIns="91440" tIns="45720" rIns="91440" bIns="45720">
              <a:spAutoFit/>
            </a:bodyPr>
            <a:p>
              <a:r>
                <a:rPr lang="zh-CN" altLang="en-US" sz="3200" b="1" dirty="0">
                  <a:solidFill>
                    <a:schemeClr val="tx1">
                      <a:lumMod val="75000"/>
                      <a:lumOff val="25000"/>
                    </a:schemeClr>
                  </a:solidFill>
                  <a:latin typeface="Times New Roman" panose="02020603050405020304" charset="0"/>
                  <a:ea typeface="微软雅黑" panose="020B0503020204020204" charset="-122"/>
                  <a:cs typeface="Times New Roman" panose="02020603050405020304" charset="0"/>
                </a:rPr>
                <a:t>Introduction</a:t>
              </a:r>
              <a:endParaRPr lang="zh-CN" altLang="en-US" sz="3200" b="1" dirty="0">
                <a:solidFill>
                  <a:schemeClr val="tx1">
                    <a:lumMod val="75000"/>
                    <a:lumOff val="25000"/>
                  </a:schemeClr>
                </a:solidFill>
                <a:latin typeface="Times New Roman" panose="02020603050405020304" charset="0"/>
                <a:ea typeface="微软雅黑" panose="020B0503020204020204" charset="-122"/>
                <a:cs typeface="Times New Roman" panose="02020603050405020304" charset="0"/>
              </a:endParaRPr>
            </a:p>
          </p:txBody>
        </p:sp>
        <p:sp>
          <p:nvSpPr>
            <p:cNvPr id="63" name="平行四边形 62"/>
            <p:cNvSpPr/>
            <p:nvPr>
              <p:custDataLst>
                <p:tags r:id="rId18"/>
              </p:custDataLst>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800" b="1">
                <a:solidFill>
                  <a:schemeClr val="tx1">
                    <a:lumMod val="75000"/>
                    <a:lumOff val="25000"/>
                  </a:schemeClr>
                </a:solidFill>
                <a:latin typeface="Times New Roman" panose="02020603050405020304" charset="0"/>
                <a:cs typeface="Times New Roman" panose="02020603050405020304" charset="0"/>
              </a:endParaRPr>
            </a:p>
          </p:txBody>
        </p:sp>
      </p:grpSp>
      <p:grpSp>
        <p:nvGrpSpPr>
          <p:cNvPr id="64" name="组合 63"/>
          <p:cNvGrpSpPr/>
          <p:nvPr>
            <p:custDataLst>
              <p:tags r:id="rId19"/>
            </p:custDataLst>
          </p:nvPr>
        </p:nvGrpSpPr>
        <p:grpSpPr>
          <a:xfrm>
            <a:off x="3922964" y="2432773"/>
            <a:ext cx="5143000" cy="655792"/>
            <a:chOff x="4315150" y="1647579"/>
            <a:chExt cx="3857250" cy="577832"/>
          </a:xfrm>
        </p:grpSpPr>
        <p:sp>
          <p:nvSpPr>
            <p:cNvPr id="65" name="矩形 64"/>
            <p:cNvSpPr/>
            <p:nvPr>
              <p:custDataLst>
                <p:tags r:id="rId20"/>
              </p:custDataLst>
            </p:nvPr>
          </p:nvSpPr>
          <p:spPr>
            <a:xfrm>
              <a:off x="4734992" y="1711219"/>
              <a:ext cx="2827147" cy="514192"/>
            </a:xfrm>
            <a:prstGeom prst="rect">
              <a:avLst/>
            </a:prstGeom>
            <a:ln w="15875">
              <a:noFill/>
            </a:ln>
          </p:spPr>
          <p:txBody>
            <a:bodyPr wrap="square" lIns="91440" tIns="45720" rIns="91440" bIns="45720">
              <a:spAutoFit/>
            </a:bodyPr>
            <a:p>
              <a:r>
                <a:rPr lang="zh-CN" altLang="en-US" sz="3200" b="1" dirty="0">
                  <a:solidFill>
                    <a:schemeClr val="tx1">
                      <a:lumMod val="75000"/>
                      <a:lumOff val="25000"/>
                    </a:schemeClr>
                  </a:solidFill>
                  <a:latin typeface="Times New Roman" panose="02020603050405020304" charset="0"/>
                  <a:ea typeface="微软雅黑" panose="020B0503020204020204" charset="-122"/>
                  <a:cs typeface="Times New Roman" panose="02020603050405020304" charset="0"/>
                </a:rPr>
                <a:t>Literature Review</a:t>
              </a:r>
              <a:endParaRPr lang="zh-CN" altLang="en-US" sz="3200" b="1" dirty="0">
                <a:solidFill>
                  <a:schemeClr val="tx1">
                    <a:lumMod val="75000"/>
                    <a:lumOff val="25000"/>
                  </a:schemeClr>
                </a:solidFill>
                <a:latin typeface="Times New Roman" panose="02020603050405020304" charset="0"/>
                <a:ea typeface="微软雅黑" panose="020B0503020204020204" charset="-122"/>
                <a:cs typeface="Times New Roman" panose="02020603050405020304" charset="0"/>
              </a:endParaRPr>
            </a:p>
          </p:txBody>
        </p:sp>
        <p:sp>
          <p:nvSpPr>
            <p:cNvPr id="66" name="平行四边形 65"/>
            <p:cNvSpPr/>
            <p:nvPr>
              <p:custDataLst>
                <p:tags r:id="rId21"/>
              </p:custDataLst>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800" b="1">
                <a:solidFill>
                  <a:schemeClr val="tx1">
                    <a:lumMod val="75000"/>
                    <a:lumOff val="25000"/>
                  </a:schemeClr>
                </a:solidFill>
                <a:latin typeface="Times New Roman" panose="02020603050405020304" charset="0"/>
                <a:cs typeface="Times New Roman" panose="02020603050405020304" charset="0"/>
              </a:endParaRPr>
            </a:p>
          </p:txBody>
        </p:sp>
      </p:grpSp>
      <p:grpSp>
        <p:nvGrpSpPr>
          <p:cNvPr id="67" name="组合 66"/>
          <p:cNvGrpSpPr/>
          <p:nvPr>
            <p:custDataLst>
              <p:tags r:id="rId22"/>
            </p:custDataLst>
          </p:nvPr>
        </p:nvGrpSpPr>
        <p:grpSpPr>
          <a:xfrm>
            <a:off x="3922964" y="3358310"/>
            <a:ext cx="5457189" cy="612920"/>
            <a:chOff x="4315150" y="2341731"/>
            <a:chExt cx="4092892" cy="540057"/>
          </a:xfrm>
        </p:grpSpPr>
        <p:sp>
          <p:nvSpPr>
            <p:cNvPr id="68" name="矩形 67"/>
            <p:cNvSpPr/>
            <p:nvPr>
              <p:custDataLst>
                <p:tags r:id="rId23"/>
              </p:custDataLst>
            </p:nvPr>
          </p:nvSpPr>
          <p:spPr>
            <a:xfrm>
              <a:off x="4734726" y="2359076"/>
              <a:ext cx="3673316" cy="437539"/>
            </a:xfrm>
            <a:prstGeom prst="rect">
              <a:avLst/>
            </a:prstGeom>
            <a:ln w="15875">
              <a:noFill/>
            </a:ln>
          </p:spPr>
          <p:txBody>
            <a:bodyPr wrap="square" lIns="91440" tIns="45720" rIns="91440" bIns="45720">
              <a:noAutofit/>
            </a:bodyPr>
            <a:p>
              <a:r>
                <a:rPr lang="zh-CN" altLang="en-US" sz="3200" b="1" dirty="0">
                  <a:solidFill>
                    <a:schemeClr val="tx1">
                      <a:lumMod val="75000"/>
                      <a:lumOff val="25000"/>
                    </a:schemeClr>
                  </a:solidFill>
                  <a:latin typeface="Times New Roman" panose="02020603050405020304" charset="0"/>
                  <a:ea typeface="微软雅黑" panose="020B0503020204020204" charset="-122"/>
                  <a:cs typeface="Times New Roman" panose="02020603050405020304" charset="0"/>
                </a:rPr>
                <a:t>Theoretical Framework</a:t>
              </a:r>
              <a:endParaRPr lang="zh-CN" altLang="en-US" sz="3200" b="1" dirty="0">
                <a:solidFill>
                  <a:schemeClr val="tx1">
                    <a:lumMod val="75000"/>
                    <a:lumOff val="25000"/>
                  </a:schemeClr>
                </a:solidFill>
                <a:latin typeface="Times New Roman" panose="02020603050405020304" charset="0"/>
                <a:ea typeface="微软雅黑" panose="020B0503020204020204" charset="-122"/>
                <a:cs typeface="Times New Roman" panose="02020603050405020304" charset="0"/>
              </a:endParaRPr>
            </a:p>
          </p:txBody>
        </p:sp>
        <p:sp>
          <p:nvSpPr>
            <p:cNvPr id="69" name="平行四边形 68"/>
            <p:cNvSpPr/>
            <p:nvPr>
              <p:custDataLst>
                <p:tags r:id="rId24"/>
              </p:custDataLst>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800" b="1">
                <a:solidFill>
                  <a:schemeClr val="tx1">
                    <a:lumMod val="75000"/>
                    <a:lumOff val="25000"/>
                  </a:schemeClr>
                </a:solidFill>
                <a:latin typeface="Times New Roman" panose="02020603050405020304" charset="0"/>
                <a:cs typeface="Times New Roman" panose="02020603050405020304" charset="0"/>
              </a:endParaRPr>
            </a:p>
          </p:txBody>
        </p:sp>
      </p:grpSp>
      <p:grpSp>
        <p:nvGrpSpPr>
          <p:cNvPr id="70" name="组合 69"/>
          <p:cNvGrpSpPr/>
          <p:nvPr>
            <p:custDataLst>
              <p:tags r:id="rId25"/>
            </p:custDataLst>
          </p:nvPr>
        </p:nvGrpSpPr>
        <p:grpSpPr>
          <a:xfrm>
            <a:off x="3922964" y="4283848"/>
            <a:ext cx="5143000" cy="630391"/>
            <a:chOff x="4315150" y="3035884"/>
            <a:chExt cx="3857250" cy="555451"/>
          </a:xfrm>
        </p:grpSpPr>
        <p:sp>
          <p:nvSpPr>
            <p:cNvPr id="71" name="矩形 70"/>
            <p:cNvSpPr/>
            <p:nvPr>
              <p:custDataLst>
                <p:tags r:id="rId26"/>
              </p:custDataLst>
            </p:nvPr>
          </p:nvSpPr>
          <p:spPr>
            <a:xfrm>
              <a:off x="4735469" y="3077144"/>
              <a:ext cx="2827147" cy="514191"/>
            </a:xfrm>
            <a:prstGeom prst="rect">
              <a:avLst/>
            </a:prstGeom>
            <a:ln w="15875">
              <a:noFill/>
            </a:ln>
          </p:spPr>
          <p:txBody>
            <a:bodyPr wrap="square" lIns="91440" tIns="45720" rIns="91440" bIns="45720">
              <a:spAutoFit/>
            </a:bodyPr>
            <a:p>
              <a:r>
                <a:rPr lang="en-US" altLang="zh-CN" sz="3200" b="1" dirty="0">
                  <a:solidFill>
                    <a:schemeClr val="tx1">
                      <a:lumMod val="75000"/>
                      <a:lumOff val="25000"/>
                    </a:schemeClr>
                  </a:solidFill>
                  <a:latin typeface="Times New Roman" panose="02020603050405020304" charset="0"/>
                  <a:ea typeface="微软雅黑" panose="020B0503020204020204" charset="-122"/>
                  <a:cs typeface="Times New Roman" panose="02020603050405020304" charset="0"/>
                </a:rPr>
                <a:t>Case Analyses</a:t>
              </a:r>
              <a:endParaRPr lang="en-US" altLang="zh-CN" sz="3200" b="1" dirty="0">
                <a:solidFill>
                  <a:schemeClr val="tx1">
                    <a:lumMod val="75000"/>
                    <a:lumOff val="25000"/>
                  </a:schemeClr>
                </a:solidFill>
                <a:latin typeface="Times New Roman" panose="02020603050405020304" charset="0"/>
                <a:ea typeface="微软雅黑" panose="020B0503020204020204" charset="-122"/>
                <a:cs typeface="Times New Roman" panose="02020603050405020304" charset="0"/>
              </a:endParaRPr>
            </a:p>
          </p:txBody>
        </p:sp>
        <p:sp>
          <p:nvSpPr>
            <p:cNvPr id="72" name="平行四边形 71"/>
            <p:cNvSpPr/>
            <p:nvPr>
              <p:custDataLst>
                <p:tags r:id="rId27"/>
              </p:custDataLst>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800" b="1">
                <a:solidFill>
                  <a:schemeClr val="tx1">
                    <a:lumMod val="75000"/>
                    <a:lumOff val="25000"/>
                  </a:schemeClr>
                </a:solidFill>
                <a:latin typeface="Times New Roman" panose="02020603050405020304" charset="0"/>
                <a:cs typeface="Times New Roman" panose="02020603050405020304" charset="0"/>
              </a:endParaRPr>
            </a:p>
          </p:txBody>
        </p:sp>
      </p:grpSp>
      <p:grpSp>
        <p:nvGrpSpPr>
          <p:cNvPr id="73" name="组合 72"/>
          <p:cNvGrpSpPr/>
          <p:nvPr>
            <p:custDataLst>
              <p:tags r:id="rId28"/>
            </p:custDataLst>
          </p:nvPr>
        </p:nvGrpSpPr>
        <p:grpSpPr>
          <a:xfrm>
            <a:off x="3922964" y="5209387"/>
            <a:ext cx="5143000" cy="612920"/>
            <a:chOff x="4315150" y="3730038"/>
            <a:chExt cx="3857250" cy="540057"/>
          </a:xfrm>
        </p:grpSpPr>
        <p:sp>
          <p:nvSpPr>
            <p:cNvPr id="74" name="矩形 73"/>
            <p:cNvSpPr/>
            <p:nvPr>
              <p:custDataLst>
                <p:tags r:id="rId29"/>
              </p:custDataLst>
            </p:nvPr>
          </p:nvSpPr>
          <p:spPr>
            <a:xfrm>
              <a:off x="4735202" y="3746823"/>
              <a:ext cx="3330893" cy="480621"/>
            </a:xfrm>
            <a:prstGeom prst="rect">
              <a:avLst/>
            </a:prstGeom>
            <a:ln w="15875">
              <a:noFill/>
            </a:ln>
          </p:spPr>
          <p:txBody>
            <a:bodyPr wrap="square" lIns="91440" tIns="45720" rIns="91440" bIns="45720">
              <a:noAutofit/>
            </a:bodyPr>
            <a:p>
              <a:r>
                <a:rPr lang="en-US" sz="3200" b="1" dirty="0">
                  <a:solidFill>
                    <a:schemeClr val="tx1">
                      <a:lumMod val="75000"/>
                      <a:lumOff val="25000"/>
                    </a:schemeClr>
                  </a:solidFill>
                  <a:latin typeface="Times New Roman" panose="02020603050405020304" charset="0"/>
                  <a:ea typeface="微软雅黑" panose="020B0503020204020204" charset="-122"/>
                  <a:cs typeface="Times New Roman" panose="02020603050405020304" charset="0"/>
                </a:rPr>
                <a:t>Key Findings</a:t>
              </a:r>
              <a:endParaRPr lang="en-US" sz="3200" b="1" dirty="0">
                <a:solidFill>
                  <a:schemeClr val="tx1">
                    <a:lumMod val="75000"/>
                    <a:lumOff val="25000"/>
                  </a:schemeClr>
                </a:solidFill>
                <a:latin typeface="Times New Roman" panose="02020603050405020304" charset="0"/>
                <a:ea typeface="微软雅黑" panose="020B0503020204020204" charset="-122"/>
                <a:cs typeface="Times New Roman" panose="02020603050405020304" charset="0"/>
              </a:endParaRPr>
            </a:p>
          </p:txBody>
        </p:sp>
        <p:sp>
          <p:nvSpPr>
            <p:cNvPr id="75" name="平行四边形 74"/>
            <p:cNvSpPr/>
            <p:nvPr>
              <p:custDataLst>
                <p:tags r:id="rId30"/>
              </p:custDataLst>
            </p:nvPr>
          </p:nvSpPr>
          <p:spPr>
            <a:xfrm>
              <a:off x="4315150" y="3730038"/>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800" b="1">
                <a:solidFill>
                  <a:schemeClr val="tx1">
                    <a:lumMod val="75000"/>
                    <a:lumOff val="25000"/>
                  </a:schemeClr>
                </a:solidFill>
                <a:latin typeface="Times New Roman" panose="02020603050405020304" charset="0"/>
                <a:cs typeface="Times New Roman" panose="02020603050405020304" charset="0"/>
              </a:endParaRPr>
            </a:p>
          </p:txBody>
        </p:sp>
      </p:grpSp>
      <p:sp>
        <p:nvSpPr>
          <p:cNvPr id="7" name="矩形 6"/>
          <p:cNvSpPr/>
          <p:nvPr>
            <p:custDataLst>
              <p:tags r:id="rId31"/>
            </p:custDataLst>
          </p:nvPr>
        </p:nvSpPr>
        <p:spPr>
          <a:xfrm>
            <a:off x="593725" y="916940"/>
            <a:ext cx="2179320" cy="794385"/>
          </a:xfrm>
          <a:prstGeom prst="rect">
            <a:avLst/>
          </a:prstGeom>
          <a:noFill/>
        </p:spPr>
        <p:txBody>
          <a:bodyPr wrap="none" lIns="91440" tIns="45720" rIns="91440" bIns="45720" anchor="t" anchorCtr="0">
            <a:noAutofit/>
          </a:bodyPr>
          <a:p>
            <a:pPr lvl="1" algn="ctr">
              <a:lnSpc>
                <a:spcPct val="90000"/>
              </a:lnSpc>
            </a:pPr>
            <a:r>
              <a:rPr lang="en-US" sz="4800" b="1" dirty="0">
                <a:ln w="0"/>
                <a:solidFill>
                  <a:schemeClr val="accent1"/>
                </a:solidFill>
                <a:effectLst>
                  <a:outerShdw blurRad="38100" dist="25400" dir="5400000" algn="ctr" rotWithShape="0">
                    <a:srgbClr val="6E747A">
                      <a:alpha val="43000"/>
                    </a:srgbClr>
                  </a:outerShdw>
                </a:effectLst>
                <a:latin typeface="Times New Roman" panose="02020603050405020304" charset="0"/>
                <a:ea typeface="黑体" panose="02010609060101010101" charset="-122"/>
                <a:cs typeface="Times New Roman" panose="02020603050405020304" charset="0"/>
              </a:rPr>
              <a:t>Contents</a:t>
            </a:r>
            <a:endParaRPr lang="en-US" sz="4800" b="1" cap="none" spc="0" dirty="0">
              <a:ln w="0"/>
              <a:solidFill>
                <a:schemeClr val="accent1"/>
              </a:solidFill>
              <a:effectLst>
                <a:outerShdw blurRad="38100" dist="25400" dir="5400000" algn="ctr" rotWithShape="0">
                  <a:srgbClr val="6E747A">
                    <a:alpha val="43000"/>
                  </a:srgbClr>
                </a:outerShdw>
              </a:effectLst>
              <a:latin typeface="Times New Roman" panose="02020603050405020304" charset="0"/>
              <a:ea typeface="黑体" panose="02010609060101010101" charset="-122"/>
              <a:cs typeface="Times New Roman" panose="02020603050405020304" charset="0"/>
            </a:endParaRPr>
          </a:p>
        </p:txBody>
      </p:sp>
    </p:spTree>
    <p:custDataLst>
      <p:tags r:id="rId32"/>
    </p:custDataLst>
  </p:cSld>
  <p:clrMapOvr>
    <a:masterClrMapping/>
  </p:clrMapOvr>
  <p:transition advTm="3833"/>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文本框 11"/>
          <p:cNvSpPr txBox="1"/>
          <p:nvPr/>
        </p:nvSpPr>
        <p:spPr>
          <a:xfrm>
            <a:off x="732155" y="950595"/>
            <a:ext cx="4369435" cy="598170"/>
          </a:xfrm>
          <a:prstGeom prst="rect">
            <a:avLst/>
          </a:prstGeom>
          <a:ln w="19050">
            <a:solidFill>
              <a:schemeClr val="accent1"/>
            </a:solidFill>
          </a:ln>
        </p:spPr>
        <p:txBody>
          <a:bodyPr anchor="ctr" anchorCtr="0">
            <a:noAutofit/>
            <a:extLst>
              <a:ext uri="{4A0BC546-FE56-4ADE-93B0-CB8AF2F6F144}">
                <wpsdc:textFrameExt xmlns:wpsdc="http://www.wps.cn/officeDocument/2022/drawingmlCustomData" type="sub-title"/>
              </a:ext>
            </a:extLst>
          </a:bodyPr>
          <a:p>
            <a:pPr algn="l"/>
            <a:r>
              <a:rPr lang="zh-CN" altLang="en-US" sz="2400" b="1" spc="200">
                <a:latin typeface="Times New Roman" panose="02020603050405020304" charset="0"/>
                <a:ea typeface="微软雅黑" panose="020B0503020204020204" charset="-122"/>
                <a:cs typeface="Times New Roman" panose="02020603050405020304" charset="0"/>
              </a:rPr>
              <a:t>1.</a:t>
            </a:r>
            <a:r>
              <a:rPr lang="en-US" altLang="zh-CN" sz="2400" b="1" spc="200">
                <a:latin typeface="Times New Roman" panose="02020603050405020304" charset="0"/>
                <a:ea typeface="微软雅黑" panose="020B0503020204020204" charset="-122"/>
                <a:cs typeface="Times New Roman" panose="02020603050405020304" charset="0"/>
              </a:rPr>
              <a:t>1</a:t>
            </a:r>
            <a:r>
              <a:rPr lang="zh-CN" altLang="en-US" sz="2400" b="1" spc="200">
                <a:latin typeface="Times New Roman" panose="02020603050405020304" charset="0"/>
                <a:ea typeface="微软雅黑" panose="020B0503020204020204" charset="-122"/>
                <a:cs typeface="Times New Roman" panose="02020603050405020304" charset="0"/>
              </a:rPr>
              <a:t> Research </a:t>
            </a:r>
            <a:r>
              <a:rPr lang="en-US" altLang="zh-CN" sz="2400" b="1" spc="200">
                <a:latin typeface="Times New Roman" panose="02020603050405020304" charset="0"/>
                <a:ea typeface="微软雅黑" panose="020B0503020204020204" charset="-122"/>
                <a:cs typeface="Times New Roman" panose="02020603050405020304" charset="0"/>
              </a:rPr>
              <a:t>background</a:t>
            </a:r>
            <a:endParaRPr lang="en-US" altLang="zh-CN" sz="2400" b="1" spc="200">
              <a:solidFill>
                <a:srgbClr val="FF0000"/>
              </a:solidFill>
              <a:latin typeface="Times New Roman" panose="02020603050405020304" charset="0"/>
              <a:ea typeface="微软雅黑" panose="020B0503020204020204" charset="-122"/>
              <a:cs typeface="Times New Roman" panose="02020603050405020304" charset="0"/>
            </a:endParaRPr>
          </a:p>
        </p:txBody>
      </p:sp>
      <p:sp>
        <p:nvSpPr>
          <p:cNvPr id="13" name="文本框 12"/>
          <p:cNvSpPr txBox="1"/>
          <p:nvPr/>
        </p:nvSpPr>
        <p:spPr>
          <a:xfrm>
            <a:off x="732155" y="1673225"/>
            <a:ext cx="10682605" cy="2087880"/>
          </a:xfrm>
          <a:prstGeom prst="rect">
            <a:avLst/>
          </a:prstGeom>
        </p:spPr>
        <p:txBody>
          <a:bodyPr wrap="square">
            <a:noAutofit/>
            <a:extLst>
              <a:ext uri="{4A0BC546-FE56-4ADE-93B0-CB8AF2F6F144}">
                <wpsdc:textFrameExt xmlns:wpsdc="http://www.wps.cn/officeDocument/2022/drawingmlCustomData" type="text"/>
              </a:ext>
            </a:extLst>
          </a:bodyPr>
          <a:p>
            <a:pPr marL="342900" indent="-342900" algn="just">
              <a:lnSpc>
                <a:spcPct val="130000"/>
              </a:lnSpc>
              <a:buFont typeface="Arial" panose="020B0604020202090204" pitchFamily="34" charset="0"/>
              <a:buChar char="•"/>
            </a:pPr>
            <a:r>
              <a:rPr lang="en-US" sz="2400">
                <a:latin typeface="Times New Roman" panose="02020603050405020304" charset="0"/>
                <a:ea typeface="微软雅黑" panose="020B0503020204020204" charset="-122"/>
                <a:cs typeface="Times New Roman" panose="02020603050405020304" charset="0"/>
              </a:rPr>
              <a:t>Oscar Wilde’s </a:t>
            </a:r>
            <a:r>
              <a:rPr lang="en-US" sz="2400" i="1">
                <a:latin typeface="Times New Roman Italic" panose="02020603050405020304" charset="0"/>
                <a:ea typeface="微软雅黑" panose="020B0503020204020204" charset="-122"/>
                <a:cs typeface="Times New Roman Italic" panose="02020603050405020304" charset="0"/>
              </a:rPr>
              <a:t>The Picture of Dorian Gray</a:t>
            </a:r>
            <a:r>
              <a:rPr lang="en-US" sz="2400">
                <a:latin typeface="Times New Roman" panose="02020603050405020304" charset="0"/>
                <a:ea typeface="微软雅黑" panose="020B0503020204020204" charset="-122"/>
                <a:cs typeface="Times New Roman" panose="02020603050405020304" charset="0"/>
              </a:rPr>
              <a:t> is a classic work of Aestheticism (</a:t>
            </a:r>
            <a:r>
              <a:rPr lang="en-US" sz="2400">
                <a:latin typeface="宋体" charset="0"/>
                <a:ea typeface="宋体" charset="0"/>
                <a:cs typeface="Times New Roman" panose="02020603050405020304" charset="0"/>
              </a:rPr>
              <a:t>乔国强，</a:t>
            </a:r>
            <a:r>
              <a:rPr lang="en-US" sz="2400">
                <a:latin typeface="Times New Roman" panose="02020603050405020304" charset="0"/>
                <a:ea typeface="微软雅黑" panose="020B0503020204020204" charset="-122"/>
                <a:cs typeface="Times New Roman" panose="02020603050405020304" charset="0"/>
              </a:rPr>
              <a:t>2020) and it fully reflects Wilde’s unique artistic philosophy. </a:t>
            </a:r>
            <a:endParaRPr lang="en-US" sz="2400">
              <a:latin typeface="Times New Roman" panose="02020603050405020304" charset="0"/>
              <a:ea typeface="微软雅黑" panose="020B0503020204020204" charset="-122"/>
              <a:cs typeface="Times New Roman" panose="02020603050405020304" charset="0"/>
            </a:endParaRPr>
          </a:p>
          <a:p>
            <a:pPr marL="342900" indent="-342900" algn="just">
              <a:lnSpc>
                <a:spcPct val="130000"/>
              </a:lnSpc>
              <a:buFont typeface="Arial" panose="020B0604020202090204" pitchFamily="34" charset="0"/>
              <a:buChar char="•"/>
            </a:pPr>
            <a:r>
              <a:rPr lang="en-US" sz="2400">
                <a:latin typeface="Times New Roman" panose="02020603050405020304" charset="0"/>
                <a:ea typeface="微软雅黑" panose="020B0503020204020204" charset="-122"/>
                <a:cs typeface="Times New Roman" panose="02020603050405020304" charset="0"/>
              </a:rPr>
              <a:t>The translation of this novel into Chinese holds significant value for cross-cultural communication. </a:t>
            </a:r>
            <a:endParaRPr lang="en-US" sz="2400">
              <a:latin typeface="Times New Roman" panose="02020603050405020304" charset="0"/>
              <a:ea typeface="微软雅黑" panose="020B0503020204020204" charset="-122"/>
              <a:cs typeface="Times New Roman" panose="02020603050405020304" charset="0"/>
            </a:endParaRPr>
          </a:p>
          <a:p>
            <a:pPr indent="0" algn="just">
              <a:lnSpc>
                <a:spcPct val="130000"/>
              </a:lnSpc>
              <a:buFont typeface="Arial" panose="020B0604020202090204" pitchFamily="34" charset="0"/>
              <a:buNone/>
            </a:pPr>
            <a:endParaRPr sz="2400">
              <a:latin typeface="Times New Roman" panose="02020603050405020304" charset="0"/>
              <a:ea typeface="微软雅黑" panose="020B0503020204020204" charset="-122"/>
              <a:cs typeface="Times New Roman" panose="02020603050405020304" charset="0"/>
            </a:endParaRPr>
          </a:p>
        </p:txBody>
      </p:sp>
      <p:sp>
        <p:nvSpPr>
          <p:cNvPr id="2" name="圆角矩形 1"/>
          <p:cNvSpPr/>
          <p:nvPr/>
        </p:nvSpPr>
        <p:spPr>
          <a:xfrm>
            <a:off x="8375015" y="259080"/>
            <a:ext cx="3039110" cy="91503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b="1" spc="200">
                <a:latin typeface="Times New Roman Bold" panose="02020603050405020304" charset="0"/>
                <a:ea typeface="微软雅黑" panose="020B0503020204020204" charset="-122"/>
                <a:cs typeface="Times New Roman Bold" panose="02020603050405020304" charset="0"/>
                <a:sym typeface="+mn-ea"/>
              </a:rPr>
              <a:t>Introduction</a:t>
            </a:r>
            <a:endParaRPr lang="zh-CN" altLang="en-US" sz="3200" b="1" spc="200">
              <a:latin typeface="Times New Roman Bold" panose="02020603050405020304" charset="0"/>
              <a:ea typeface="微软雅黑" panose="020B0503020204020204" charset="-122"/>
              <a:cs typeface="Times New Roman Bold" panose="02020603050405020304" charset="0"/>
              <a:sym typeface="+mn-ea"/>
            </a:endParaRPr>
          </a:p>
        </p:txBody>
      </p:sp>
      <p:sp>
        <p:nvSpPr>
          <p:cNvPr id="3" name="文本框 2"/>
          <p:cNvSpPr txBox="1"/>
          <p:nvPr/>
        </p:nvSpPr>
        <p:spPr>
          <a:xfrm>
            <a:off x="732155" y="3766185"/>
            <a:ext cx="4369435" cy="598170"/>
          </a:xfrm>
          <a:prstGeom prst="rect">
            <a:avLst/>
          </a:prstGeom>
          <a:ln w="19050">
            <a:solidFill>
              <a:schemeClr val="accent1"/>
            </a:solidFill>
          </a:ln>
        </p:spPr>
        <p:txBody>
          <a:bodyPr anchor="ctr" anchorCtr="0">
            <a:noAutofit/>
            <a:extLst>
              <a:ext uri="{4A0BC546-FE56-4ADE-93B0-CB8AF2F6F144}">
                <wpsdc:textFrameExt xmlns:wpsdc="http://www.wps.cn/officeDocument/2022/drawingmlCustomData" type="sub-title"/>
              </a:ext>
            </a:extLst>
          </a:bodyPr>
          <a:p>
            <a:pPr algn="l"/>
            <a:r>
              <a:rPr lang="en-US" altLang="zh-CN" sz="2400" b="1" spc="200">
                <a:latin typeface="Times New Roman" panose="02020603050405020304" charset="0"/>
                <a:ea typeface="微软雅黑" panose="020B0503020204020204" charset="-122"/>
                <a:cs typeface="Times New Roman" panose="02020603050405020304" charset="0"/>
              </a:rPr>
              <a:t>1.2</a:t>
            </a:r>
            <a:r>
              <a:rPr lang="zh-CN" altLang="en-US" sz="2400" b="1" spc="200">
                <a:latin typeface="Times New Roman" panose="02020603050405020304" charset="0"/>
                <a:ea typeface="微软雅黑" panose="020B0503020204020204" charset="-122"/>
                <a:cs typeface="Times New Roman" panose="02020603050405020304" charset="0"/>
              </a:rPr>
              <a:t> Research </a:t>
            </a:r>
            <a:r>
              <a:rPr lang="en-US" altLang="zh-CN" sz="2400" b="1" spc="200">
                <a:latin typeface="Times New Roman" panose="02020603050405020304" charset="0"/>
                <a:ea typeface="微软雅黑" panose="020B0503020204020204" charset="-122"/>
                <a:cs typeface="Times New Roman" panose="02020603050405020304" charset="0"/>
              </a:rPr>
              <a:t>q</a:t>
            </a:r>
            <a:r>
              <a:rPr lang="en-US" altLang="zh-CN" sz="2400" b="1" spc="200">
                <a:latin typeface="Times New Roman" panose="02020603050405020304" charset="0"/>
                <a:ea typeface="微软雅黑" panose="020B0503020204020204" charset="-122"/>
                <a:cs typeface="Times New Roman" panose="02020603050405020304" charset="0"/>
                <a:sym typeface="+mn-ea"/>
              </a:rPr>
              <a:t>uestions</a:t>
            </a:r>
            <a:endParaRPr lang="en-US" altLang="zh-CN" sz="2400" b="1" spc="200">
              <a:solidFill>
                <a:srgbClr val="FF0000"/>
              </a:solidFill>
              <a:latin typeface="Times New Roman" panose="02020603050405020304" charset="0"/>
              <a:ea typeface="微软雅黑" panose="020B0503020204020204" charset="-122"/>
              <a:cs typeface="Times New Roman" panose="02020603050405020304" charset="0"/>
            </a:endParaRPr>
          </a:p>
        </p:txBody>
      </p:sp>
      <p:sp>
        <p:nvSpPr>
          <p:cNvPr id="4" name="文本框 3"/>
          <p:cNvSpPr txBox="1"/>
          <p:nvPr/>
        </p:nvSpPr>
        <p:spPr>
          <a:xfrm>
            <a:off x="732155" y="4364355"/>
            <a:ext cx="10746105" cy="1493520"/>
          </a:xfrm>
          <a:prstGeom prst="rect">
            <a:avLst/>
          </a:prstGeom>
        </p:spPr>
        <p:txBody>
          <a:bodyPr wrap="square">
            <a:noAutofit/>
            <a:extLst>
              <a:ext uri="{4A0BC546-FE56-4ADE-93B0-CB8AF2F6F144}">
                <wpsdc:textFrameExt xmlns:wpsdc="http://www.wps.cn/officeDocument/2022/drawingmlCustomData" type="text"/>
              </a:ext>
            </a:extLst>
          </a:bodyPr>
          <a:p>
            <a:pPr marL="342900" indent="-342900" algn="just">
              <a:lnSpc>
                <a:spcPct val="150000"/>
              </a:lnSpc>
              <a:buFont typeface="Wingdings" panose="05000000000000000000" charset="0"/>
              <a:buChar char=""/>
            </a:pPr>
            <a:r>
              <a:rPr lang="en-US" sz="2400">
                <a:latin typeface="Times New Roman" panose="02020603050405020304" charset="0"/>
                <a:ea typeface="微软雅黑" panose="020B0503020204020204" charset="-122"/>
                <a:cs typeface="Times New Roman" panose="02020603050405020304" charset="0"/>
              </a:rPr>
              <a:t>(1) How do the two Chinese translations represent the aesthetic features of the original novel?</a:t>
            </a:r>
            <a:endParaRPr lang="en-US" sz="2400">
              <a:latin typeface="Times New Roman" panose="02020603050405020304" charset="0"/>
              <a:ea typeface="微软雅黑" panose="020B0503020204020204" charset="-122"/>
              <a:cs typeface="Times New Roman" panose="02020603050405020304" charset="0"/>
            </a:endParaRPr>
          </a:p>
          <a:p>
            <a:pPr marL="342900" indent="-342900" algn="just">
              <a:lnSpc>
                <a:spcPct val="150000"/>
              </a:lnSpc>
              <a:buFont typeface="Wingdings" panose="05000000000000000000" charset="0"/>
              <a:buChar char=""/>
            </a:pPr>
            <a:r>
              <a:rPr lang="en-US" sz="2400">
                <a:latin typeface="Times New Roman" panose="02020603050405020304" charset="0"/>
                <a:ea typeface="微软雅黑" panose="020B0503020204020204" charset="-122"/>
                <a:cs typeface="Times New Roman" panose="02020603050405020304" charset="0"/>
              </a:rPr>
              <a:t>(2) How do readers perceive and evaluate the aesthetic features of these two Chinese translations?</a:t>
            </a:r>
            <a:endParaRPr lang="en-US" sz="2400">
              <a:latin typeface="Times New Roman" panose="02020603050405020304" charset="0"/>
              <a:ea typeface="微软雅黑" panose="020B0503020204020204" charset="-122"/>
              <a:cs typeface="Times New Roman" panose="02020603050405020304" charset="0"/>
            </a:endParaRPr>
          </a:p>
        </p:txBody>
      </p:sp>
    </p:spTree>
    <p:custDataLst>
      <p:tags r:id="rId1"/>
    </p:custDataLst>
  </p:cSld>
  <p:clrMapOvr>
    <a:masterClrMapping/>
  </p:clrMapOvr>
  <p:transition advTm="120642"/>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文本框 11"/>
          <p:cNvSpPr txBox="1"/>
          <p:nvPr/>
        </p:nvSpPr>
        <p:spPr>
          <a:xfrm>
            <a:off x="732155" y="950595"/>
            <a:ext cx="4369435" cy="598170"/>
          </a:xfrm>
          <a:prstGeom prst="rect">
            <a:avLst/>
          </a:prstGeom>
          <a:ln w="19050">
            <a:solidFill>
              <a:schemeClr val="accent1"/>
            </a:solidFill>
          </a:ln>
        </p:spPr>
        <p:txBody>
          <a:bodyPr anchor="ctr" anchorCtr="0">
            <a:noAutofit/>
            <a:extLst>
              <a:ext uri="{4A0BC546-FE56-4ADE-93B0-CB8AF2F6F144}">
                <wpsdc:textFrameExt xmlns:wpsdc="http://www.wps.cn/officeDocument/2022/drawingmlCustomData" type="sub-title"/>
              </a:ext>
            </a:extLst>
          </a:bodyPr>
          <a:p>
            <a:pPr algn="l"/>
            <a:r>
              <a:rPr lang="en-US" altLang="zh-CN" sz="2400" b="1" spc="200">
                <a:latin typeface="Times New Roman" panose="02020603050405020304" charset="0"/>
                <a:ea typeface="微软雅黑" panose="020B0503020204020204" charset="-122"/>
                <a:cs typeface="Times New Roman" panose="02020603050405020304" charset="0"/>
              </a:rPr>
              <a:t>1.3</a:t>
            </a:r>
            <a:r>
              <a:rPr lang="zh-CN" altLang="en-US" sz="2400" b="1" spc="200">
                <a:latin typeface="Times New Roman" panose="02020603050405020304" charset="0"/>
                <a:ea typeface="微软雅黑" panose="020B0503020204020204" charset="-122"/>
                <a:cs typeface="Times New Roman" panose="02020603050405020304" charset="0"/>
              </a:rPr>
              <a:t> Research </a:t>
            </a:r>
            <a:r>
              <a:rPr lang="en-US" altLang="zh-CN" sz="2400" b="1" spc="200">
                <a:latin typeface="Times New Roman" panose="02020603050405020304" charset="0"/>
                <a:ea typeface="微软雅黑" panose="020B0503020204020204" charset="-122"/>
                <a:cs typeface="Times New Roman" panose="02020603050405020304" charset="0"/>
              </a:rPr>
              <a:t>Significance</a:t>
            </a:r>
            <a:endParaRPr lang="en-US" altLang="zh-CN" sz="2400" b="1" spc="200">
              <a:solidFill>
                <a:srgbClr val="FF0000"/>
              </a:solidFill>
              <a:latin typeface="Times New Roman" panose="02020603050405020304" charset="0"/>
              <a:ea typeface="微软雅黑" panose="020B0503020204020204" charset="-122"/>
              <a:cs typeface="Times New Roman" panose="02020603050405020304" charset="0"/>
            </a:endParaRPr>
          </a:p>
        </p:txBody>
      </p:sp>
      <p:sp>
        <p:nvSpPr>
          <p:cNvPr id="13" name="文本框 12"/>
          <p:cNvSpPr txBox="1"/>
          <p:nvPr/>
        </p:nvSpPr>
        <p:spPr>
          <a:xfrm>
            <a:off x="732155" y="1673225"/>
            <a:ext cx="10232390" cy="4953635"/>
          </a:xfrm>
          <a:prstGeom prst="rect">
            <a:avLst/>
          </a:prstGeom>
        </p:spPr>
        <p:txBody>
          <a:bodyPr wrap="square">
            <a:noAutofit/>
            <a:extLst>
              <a:ext uri="{4A0BC546-FE56-4ADE-93B0-CB8AF2F6F144}">
                <wpsdc:textFrameExt xmlns:wpsdc="http://www.wps.cn/officeDocument/2022/drawingmlCustomData" type="text"/>
              </a:ext>
            </a:extLst>
          </a:bodyPr>
          <a:p>
            <a:pPr indent="0" algn="just">
              <a:lnSpc>
                <a:spcPct val="130000"/>
              </a:lnSpc>
              <a:buNone/>
            </a:pPr>
            <a:r>
              <a:rPr lang="en-US" altLang="zh-CN" sz="2400" u="sng">
                <a:latin typeface="Times New Roman" panose="02020603050405020304" charset="0"/>
                <a:ea typeface="微软雅黑" panose="020B0503020204020204" charset="-122"/>
                <a:cs typeface="Times New Roman" panose="02020603050405020304" charset="0"/>
                <a:sym typeface="+mn-ea"/>
              </a:rPr>
              <a:t>Theoretical Significance</a:t>
            </a:r>
            <a:r>
              <a:rPr lang="en-US" altLang="zh-CN" sz="2400">
                <a:latin typeface="Times New Roman" panose="02020603050405020304" charset="0"/>
                <a:ea typeface="微软雅黑" panose="020B0503020204020204" charset="-122"/>
                <a:cs typeface="Times New Roman" panose="02020603050405020304" charset="0"/>
                <a:sym typeface="+mn-ea"/>
              </a:rPr>
              <a:t>: </a:t>
            </a:r>
            <a:endParaRPr lang="en-US" altLang="zh-CN" sz="2400">
              <a:latin typeface="Times New Roman" panose="02020603050405020304" charset="0"/>
              <a:ea typeface="微软雅黑" panose="020B0503020204020204" charset="-122"/>
              <a:cs typeface="Times New Roman" panose="02020603050405020304" charset="0"/>
            </a:endParaRPr>
          </a:p>
          <a:p>
            <a:pPr marL="342900" lvl="0" indent="-342900" algn="just">
              <a:lnSpc>
                <a:spcPct val="130000"/>
              </a:lnSpc>
              <a:buFont typeface="Arial" panose="020B0604020202090204" pitchFamily="34" charset="0"/>
              <a:buChar char="•"/>
            </a:pPr>
            <a:r>
              <a:rPr lang="en-US" sz="2400">
                <a:latin typeface="Times New Roman" panose="02020603050405020304" charset="0"/>
                <a:ea typeface="微软雅黑" panose="020B0503020204020204" charset="-122"/>
                <a:cs typeface="Times New Roman" panose="02020603050405020304" charset="0"/>
                <a:sym typeface="+mn-ea"/>
              </a:rPr>
              <a:t>This thesis can e</a:t>
            </a:r>
            <a:r>
              <a:rPr sz="2400">
                <a:latin typeface="Times New Roman" panose="02020603050405020304" charset="0"/>
                <a:ea typeface="微软雅黑" panose="020B0503020204020204" charset="-122"/>
                <a:cs typeface="Times New Roman" panose="02020603050405020304" charset="0"/>
                <a:sym typeface="+mn-ea"/>
              </a:rPr>
              <a:t>nrich research on the translation of </a:t>
            </a:r>
            <a:r>
              <a:rPr sz="2400" i="1">
                <a:latin typeface="Times New Roman Italic" panose="02020603050405020304" charset="0"/>
                <a:ea typeface="微软雅黑" panose="020B0503020204020204" charset="-122"/>
                <a:cs typeface="Times New Roman Italic" panose="02020603050405020304" charset="0"/>
                <a:sym typeface="+mn-ea"/>
              </a:rPr>
              <a:t>The Picture of Dorian Gray</a:t>
            </a:r>
            <a:r>
              <a:rPr sz="2400">
                <a:latin typeface="Times New Roman" panose="02020603050405020304" charset="0"/>
                <a:ea typeface="微软雅黑" panose="020B0503020204020204" charset="-122"/>
                <a:cs typeface="Times New Roman" panose="02020603050405020304" charset="0"/>
                <a:sym typeface="+mn-ea"/>
              </a:rPr>
              <a:t> in terms of the aesthetic representation at the phonetic and lexical level, and the aesthetic representation of emotions and symbols</a:t>
            </a:r>
            <a:r>
              <a:rPr lang="en-US" sz="2400">
                <a:latin typeface="Times New Roman" panose="02020603050405020304" charset="0"/>
                <a:ea typeface="微软雅黑" panose="020B0503020204020204" charset="-122"/>
                <a:cs typeface="Times New Roman" panose="02020603050405020304" charset="0"/>
                <a:sym typeface="+mn-ea"/>
              </a:rPr>
              <a:t>. </a:t>
            </a:r>
            <a:endParaRPr lang="en-US" sz="2400">
              <a:latin typeface="Times New Roman" panose="02020603050405020304" charset="0"/>
              <a:ea typeface="微软雅黑" panose="020B0503020204020204" charset="-122"/>
              <a:cs typeface="Times New Roman" panose="02020603050405020304" charset="0"/>
              <a:sym typeface="+mn-ea"/>
            </a:endParaRPr>
          </a:p>
          <a:p>
            <a:pPr marL="342900" lvl="0" indent="-342900" algn="just">
              <a:lnSpc>
                <a:spcPct val="130000"/>
              </a:lnSpc>
              <a:buFont typeface="Arial" panose="020B0604020202090204" pitchFamily="34" charset="0"/>
              <a:buChar char="•"/>
            </a:pPr>
            <a:r>
              <a:rPr lang="en-US" sz="2400">
                <a:latin typeface="Times New Roman" panose="02020603050405020304" charset="0"/>
                <a:ea typeface="微软雅黑" panose="020B0503020204020204" charset="-122"/>
                <a:cs typeface="Times New Roman" panose="02020603050405020304" charset="0"/>
                <a:sym typeface="+mn-ea"/>
              </a:rPr>
              <a:t>This thesis</a:t>
            </a:r>
            <a:r>
              <a:rPr lang="en-US" sz="2400">
                <a:latin typeface="Times New Roman" panose="02020603050405020304" charset="0"/>
                <a:ea typeface="微软雅黑" panose="020B0503020204020204" charset="-122"/>
                <a:cs typeface="Times New Roman" panose="02020603050405020304" charset="0"/>
                <a:sym typeface="+mn-ea"/>
              </a:rPr>
              <a:t> can s</a:t>
            </a:r>
            <a:r>
              <a:rPr lang="en-US" sz="2400">
                <a:latin typeface="Times New Roman" panose="02020603050405020304" charset="0"/>
                <a:ea typeface="微软雅黑" panose="020B0503020204020204" charset="-122"/>
                <a:cs typeface="Times New Roman" panose="02020603050405020304" charset="0"/>
                <a:sym typeface="+mn-ea"/>
              </a:rPr>
              <a:t>hed light on the reader’s reception and perception of </a:t>
            </a:r>
            <a:r>
              <a:rPr sz="2400">
                <a:latin typeface="Times New Roman" panose="02020603050405020304" charset="0"/>
                <a:ea typeface="微软雅黑" panose="020B0503020204020204" charset="-122"/>
                <a:cs typeface="Times New Roman" panose="02020603050405020304" charset="0"/>
                <a:sym typeface="+mn-ea"/>
              </a:rPr>
              <a:t>Rong Rude’s and Huang Yuanshen’s translations</a:t>
            </a:r>
            <a:r>
              <a:rPr lang="en-US" sz="2400">
                <a:latin typeface="Times New Roman" panose="02020603050405020304" charset="0"/>
                <a:ea typeface="微软雅黑" panose="020B0503020204020204" charset="-122"/>
                <a:cs typeface="Times New Roman" panose="02020603050405020304" charset="0"/>
                <a:sym typeface="+mn-ea"/>
              </a:rPr>
              <a:t>.</a:t>
            </a:r>
            <a:endParaRPr lang="en-US" sz="2400">
              <a:latin typeface="Times New Roman" panose="02020603050405020304" charset="0"/>
              <a:ea typeface="微软雅黑" panose="020B0503020204020204" charset="-122"/>
              <a:cs typeface="Times New Roman" panose="02020603050405020304" charset="0"/>
              <a:sym typeface="+mn-ea"/>
            </a:endParaRPr>
          </a:p>
          <a:p>
            <a:pPr indent="0" algn="just">
              <a:lnSpc>
                <a:spcPct val="130000"/>
              </a:lnSpc>
              <a:buNone/>
            </a:pPr>
            <a:endParaRPr lang="en-US" altLang="zh-CN" sz="2400" u="sng">
              <a:latin typeface="Times New Roman" panose="02020603050405020304" charset="0"/>
              <a:ea typeface="微软雅黑" panose="020B0503020204020204" charset="-122"/>
              <a:cs typeface="Times New Roman" panose="02020603050405020304" charset="0"/>
              <a:sym typeface="+mn-ea"/>
            </a:endParaRPr>
          </a:p>
          <a:p>
            <a:pPr indent="0" algn="just">
              <a:lnSpc>
                <a:spcPct val="130000"/>
              </a:lnSpc>
              <a:buNone/>
            </a:pPr>
            <a:r>
              <a:rPr lang="en-US" altLang="zh-CN" sz="2400" u="sng">
                <a:latin typeface="Times New Roman" panose="02020603050405020304" charset="0"/>
                <a:ea typeface="微软雅黑" panose="020B0503020204020204" charset="-122"/>
                <a:cs typeface="Times New Roman" panose="02020603050405020304" charset="0"/>
                <a:sym typeface="+mn-ea"/>
              </a:rPr>
              <a:t>Practical Significance</a:t>
            </a:r>
            <a:r>
              <a:rPr lang="en-US" altLang="zh-CN" sz="2400">
                <a:latin typeface="Times New Roman" panose="02020603050405020304" charset="0"/>
                <a:ea typeface="微软雅黑" panose="020B0503020204020204" charset="-122"/>
                <a:cs typeface="Times New Roman" panose="02020603050405020304" charset="0"/>
                <a:sym typeface="+mn-ea"/>
              </a:rPr>
              <a:t>: </a:t>
            </a:r>
            <a:endParaRPr lang="en-US" altLang="zh-CN" sz="2400">
              <a:latin typeface="Times New Roman" panose="02020603050405020304" charset="0"/>
              <a:ea typeface="微软雅黑" panose="020B0503020204020204" charset="-122"/>
              <a:cs typeface="Times New Roman" panose="02020603050405020304" charset="0"/>
            </a:endParaRPr>
          </a:p>
          <a:p>
            <a:pPr marL="342900" indent="-342900" algn="just">
              <a:lnSpc>
                <a:spcPct val="130000"/>
              </a:lnSpc>
              <a:buFont typeface="Arial" panose="020B0604020202090204" pitchFamily="34" charset="0"/>
              <a:buChar char="•"/>
            </a:pPr>
            <a:r>
              <a:rPr lang="en-US" sz="2400">
                <a:latin typeface="Times New Roman" panose="02020603050405020304" charset="0"/>
                <a:ea typeface="微软雅黑" panose="020B0503020204020204" charset="-122"/>
                <a:cs typeface="Times New Roman" panose="02020603050405020304" charset="0"/>
                <a:sym typeface="+mn-ea"/>
              </a:rPr>
              <a:t>This research can rovide translators with practical reference</a:t>
            </a:r>
            <a:r>
              <a:rPr sz="2400">
                <a:latin typeface="Times New Roman" panose="02020603050405020304" charset="0"/>
                <a:ea typeface="微软雅黑" panose="020B0503020204020204" charset="-122"/>
                <a:cs typeface="Times New Roman" panose="02020603050405020304" charset="0"/>
                <a:sym typeface="+mn-ea"/>
              </a:rPr>
              <a:t> </a:t>
            </a:r>
            <a:r>
              <a:rPr lang="en-US" sz="2400">
                <a:latin typeface="Times New Roman" panose="02020603050405020304" charset="0"/>
                <a:ea typeface="微软雅黑" panose="020B0503020204020204" charset="-122"/>
                <a:cs typeface="Times New Roman" panose="02020603050405020304" charset="0"/>
                <a:sym typeface="+mn-ea"/>
              </a:rPr>
              <a:t>regarding aesthetic representation methods in literary translation.</a:t>
            </a:r>
            <a:endParaRPr sz="2400">
              <a:latin typeface="Times New Roman" panose="02020603050405020304" charset="0"/>
              <a:ea typeface="微软雅黑" panose="020B0503020204020204" charset="-122"/>
              <a:cs typeface="Times New Roman" panose="02020603050405020304" charset="0"/>
            </a:endParaRPr>
          </a:p>
          <a:p>
            <a:pPr lvl="0" algn="just">
              <a:lnSpc>
                <a:spcPct val="130000"/>
              </a:lnSpc>
            </a:pPr>
            <a:endParaRPr lang="en-US" sz="2400">
              <a:latin typeface="Times New Roman" panose="02020603050405020304" charset="0"/>
              <a:ea typeface="微软雅黑" panose="020B0503020204020204" charset="-122"/>
              <a:cs typeface="Times New Roman" panose="02020603050405020304" charset="0"/>
              <a:sym typeface="+mn-ea"/>
            </a:endParaRPr>
          </a:p>
          <a:p>
            <a:pPr lvl="0" algn="just">
              <a:lnSpc>
                <a:spcPct val="130000"/>
              </a:lnSpc>
            </a:pPr>
            <a:endParaRPr lang="en-US" sz="2400">
              <a:latin typeface="Times New Roman" panose="02020603050405020304" charset="0"/>
              <a:ea typeface="微软雅黑" panose="020B0503020204020204" charset="-122"/>
              <a:cs typeface="Times New Roman" panose="02020603050405020304" charset="0"/>
              <a:sym typeface="+mn-ea"/>
            </a:endParaRPr>
          </a:p>
          <a:p>
            <a:pPr lvl="0" algn="just">
              <a:lnSpc>
                <a:spcPct val="130000"/>
              </a:lnSpc>
            </a:pPr>
            <a:endParaRPr lang="en-US" sz="2400">
              <a:latin typeface="Times New Roman" panose="02020603050405020304" charset="0"/>
              <a:ea typeface="微软雅黑" panose="020B0503020204020204" charset="-122"/>
              <a:cs typeface="Times New Roman" panose="02020603050405020304" charset="0"/>
              <a:sym typeface="+mn-ea"/>
            </a:endParaRPr>
          </a:p>
          <a:p>
            <a:pPr lvl="0" algn="just">
              <a:lnSpc>
                <a:spcPct val="130000"/>
              </a:lnSpc>
            </a:pPr>
            <a:endParaRPr lang="en-US" sz="2400">
              <a:latin typeface="Times New Roman" panose="02020603050405020304" charset="0"/>
              <a:ea typeface="微软雅黑" panose="020B0503020204020204" charset="-122"/>
              <a:cs typeface="Times New Roman" panose="02020603050405020304" charset="0"/>
              <a:sym typeface="+mn-ea"/>
            </a:endParaRPr>
          </a:p>
          <a:p>
            <a:pPr indent="0" algn="just">
              <a:lnSpc>
                <a:spcPct val="130000"/>
              </a:lnSpc>
              <a:buFont typeface="Arial" panose="020B0604020202090204" pitchFamily="34" charset="0"/>
              <a:buNone/>
            </a:pPr>
            <a:endParaRPr sz="2400">
              <a:latin typeface="Times New Roman" panose="02020603050405020304" charset="0"/>
              <a:ea typeface="微软雅黑" panose="020B0503020204020204" charset="-122"/>
              <a:cs typeface="Times New Roman" panose="02020603050405020304" charset="0"/>
            </a:endParaRPr>
          </a:p>
        </p:txBody>
      </p:sp>
      <p:sp>
        <p:nvSpPr>
          <p:cNvPr id="2" name="圆角矩形 1"/>
          <p:cNvSpPr/>
          <p:nvPr/>
        </p:nvSpPr>
        <p:spPr>
          <a:xfrm>
            <a:off x="8375015" y="259080"/>
            <a:ext cx="3039110" cy="91503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b="1" spc="200">
                <a:latin typeface="Times New Roman Bold" panose="02020603050405020304" charset="0"/>
                <a:ea typeface="微软雅黑" panose="020B0503020204020204" charset="-122"/>
                <a:cs typeface="Times New Roman Bold" panose="02020603050405020304" charset="0"/>
                <a:sym typeface="+mn-ea"/>
              </a:rPr>
              <a:t>Introduction</a:t>
            </a:r>
            <a:endParaRPr lang="zh-CN" altLang="en-US" sz="3200" b="1" spc="200">
              <a:latin typeface="Times New Roman Bold" panose="02020603050405020304" charset="0"/>
              <a:ea typeface="微软雅黑" panose="020B0503020204020204" charset="-122"/>
              <a:cs typeface="Times New Roman Bold" panose="02020603050405020304" charset="0"/>
              <a:sym typeface="+mn-ea"/>
            </a:endParaRPr>
          </a:p>
        </p:txBody>
      </p:sp>
    </p:spTree>
    <p:custDataLst>
      <p:tags r:id="rId1"/>
    </p:custDataLst>
  </p:cSld>
  <p:clrMapOvr>
    <a:masterClrMapping/>
  </p:clrMapOvr>
  <p:transition advTm="17743"/>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文本框 11"/>
          <p:cNvSpPr txBox="1"/>
          <p:nvPr>
            <p:custDataLst>
              <p:tags r:id="rId1"/>
            </p:custDataLst>
          </p:nvPr>
        </p:nvSpPr>
        <p:spPr>
          <a:xfrm>
            <a:off x="497205" y="1184910"/>
            <a:ext cx="10422255" cy="564515"/>
          </a:xfrm>
          <a:prstGeom prst="rect">
            <a:avLst/>
          </a:prstGeom>
        </p:spPr>
        <p:txBody>
          <a:bodyPr wrap="square">
            <a:noAutofit/>
            <a:extLst>
              <a:ext uri="{4A0BC546-FE56-4ADE-93B0-CB8AF2F6F144}">
                <wpsdc:textFrameExt xmlns:wpsdc="http://www.wps.cn/officeDocument/2022/drawingmlCustomData" type="sub-title"/>
              </a:ext>
            </a:extLst>
          </a:bodyPr>
          <a:p>
            <a:pPr algn="l"/>
            <a:r>
              <a:rPr lang="zh-CN" altLang="en-US" sz="2400" b="1" spc="200">
                <a:latin typeface="Times New Roman" panose="02020603050405020304" charset="0"/>
                <a:ea typeface="微软雅黑" panose="020B0503020204020204" charset="-122"/>
                <a:cs typeface="Times New Roman" panose="02020603050405020304" charset="0"/>
                <a:sym typeface="+mn-ea"/>
              </a:rPr>
              <a:t>2.</a:t>
            </a:r>
            <a:r>
              <a:rPr lang="en-US" altLang="zh-CN" sz="2400" b="1" spc="200">
                <a:latin typeface="Times New Roman" panose="02020603050405020304" charset="0"/>
                <a:ea typeface="微软雅黑" panose="020B0503020204020204" charset="-122"/>
                <a:cs typeface="Times New Roman" panose="02020603050405020304" charset="0"/>
                <a:sym typeface="+mn-ea"/>
              </a:rPr>
              <a:t>1</a:t>
            </a:r>
            <a:r>
              <a:rPr lang="zh-CN" altLang="en-US" sz="2400" b="1" spc="200">
                <a:latin typeface="Times New Roman" panose="02020603050405020304" charset="0"/>
                <a:ea typeface="微软雅黑" panose="020B0503020204020204" charset="-122"/>
                <a:cs typeface="Times New Roman" panose="02020603050405020304" charset="0"/>
                <a:sym typeface="+mn-ea"/>
              </a:rPr>
              <a:t> Previous Studies on Translation Aesthetics</a:t>
            </a:r>
            <a:endParaRPr lang="en-US" altLang="zh-CN" sz="2400" b="1" spc="200">
              <a:latin typeface="Times New Roman" panose="02020603050405020304" charset="0"/>
              <a:ea typeface="微软雅黑" panose="020B0503020204020204" charset="-122"/>
              <a:cs typeface="Times New Roman" panose="02020603050405020304" charset="0"/>
            </a:endParaRPr>
          </a:p>
          <a:p>
            <a:pPr algn="l"/>
            <a:endParaRPr lang="en-US" altLang="zh-CN" sz="2400" b="1" spc="200">
              <a:latin typeface="Times New Roman" panose="02020603050405020304" charset="0"/>
              <a:ea typeface="微软雅黑" panose="020B0503020204020204" charset="-122"/>
              <a:cs typeface="Times New Roman" panose="02020603050405020304" charset="0"/>
            </a:endParaRPr>
          </a:p>
        </p:txBody>
      </p:sp>
      <p:sp>
        <p:nvSpPr>
          <p:cNvPr id="2" name="文本框 1"/>
          <p:cNvSpPr txBox="1"/>
          <p:nvPr>
            <p:custDataLst>
              <p:tags r:id="rId2"/>
            </p:custDataLst>
          </p:nvPr>
        </p:nvSpPr>
        <p:spPr>
          <a:xfrm>
            <a:off x="497205" y="1798320"/>
            <a:ext cx="11509375" cy="3969385"/>
          </a:xfrm>
          <a:prstGeom prst="rect">
            <a:avLst/>
          </a:prstGeom>
        </p:spPr>
        <p:txBody>
          <a:bodyPr wrap="square">
            <a:spAutoFit/>
            <a:extLst>
              <a:ext uri="{4A0BC546-FE56-4ADE-93B0-CB8AF2F6F144}">
                <wpsdc:textFrameExt xmlns:wpsdc="http://www.wps.cn/officeDocument/2022/drawingmlCustomData" type="text"/>
              </a:ext>
            </a:extLst>
          </a:bodyPr>
          <a:p>
            <a:pPr marL="342900" indent="-342900" algn="just" fontAlgn="auto">
              <a:lnSpc>
                <a:spcPct val="150000"/>
              </a:lnSpc>
              <a:buFont typeface="Arial" panose="020B0604020202090204" pitchFamily="34" charset="0"/>
              <a:buChar char="•"/>
            </a:pPr>
            <a:r>
              <a:rPr lang="en-US" sz="2400" u="sng">
                <a:latin typeface="Times New Roman" panose="02020603050405020304" charset="0"/>
                <a:ea typeface="微软雅黑" panose="020B0503020204020204" charset="-122"/>
                <a:cs typeface="Times New Roman" panose="02020603050405020304" charset="0"/>
                <a:sym typeface="+mn-ea"/>
              </a:rPr>
              <a:t>Rersearch focus</a:t>
            </a:r>
            <a:r>
              <a:rPr lang="en-US" sz="2400">
                <a:latin typeface="Times New Roman" panose="02020603050405020304" charset="0"/>
                <a:ea typeface="微软雅黑" panose="020B0503020204020204" charset="-122"/>
                <a:cs typeface="Times New Roman" panose="02020603050405020304" charset="0"/>
                <a:sym typeface="+mn-ea"/>
              </a:rPr>
              <a:t>: </a:t>
            </a:r>
            <a:endParaRPr lang="en-US" sz="2400">
              <a:latin typeface="Times New Roman" panose="02020603050405020304" charset="0"/>
              <a:ea typeface="微软雅黑" panose="020B0503020204020204" charset="-122"/>
              <a:cs typeface="Times New Roman" panose="02020603050405020304" charset="0"/>
              <a:sym typeface="+mn-ea"/>
            </a:endParaRPr>
          </a:p>
          <a:p>
            <a:pPr marL="342900" indent="-342900" algn="just" fontAlgn="auto">
              <a:lnSpc>
                <a:spcPct val="150000"/>
              </a:lnSpc>
              <a:buFont typeface="Wingdings" panose="05000000000000000000" charset="0"/>
              <a:buChar char="Ø"/>
            </a:pPr>
            <a:r>
              <a:rPr lang="en-US" sz="2400">
                <a:latin typeface="Times New Roman" panose="02020603050405020304" charset="0"/>
                <a:ea typeface="微软雅黑" panose="020B0503020204020204" charset="-122"/>
                <a:cs typeface="Times New Roman" panose="02020603050405020304" charset="0"/>
                <a:sym typeface="+mn-ea"/>
              </a:rPr>
              <a:t>aesthetic translation theories</a:t>
            </a:r>
            <a:r>
              <a:rPr lang="en-US" sz="2400">
                <a:solidFill>
                  <a:schemeClr val="tx1"/>
                </a:solidFill>
                <a:latin typeface="Times New Roman" panose="02020603050405020304" charset="0"/>
                <a:ea typeface="微软雅黑" panose="020B0503020204020204" charset="-122"/>
                <a:cs typeface="Times New Roman" panose="02020603050405020304" charset="0"/>
                <a:sym typeface="+mn-ea"/>
              </a:rPr>
              <a:t> (</a:t>
            </a:r>
            <a:r>
              <a:rPr lang="en-US" sz="2400">
                <a:solidFill>
                  <a:schemeClr val="tx1"/>
                </a:solidFill>
                <a:latin typeface="宋体" charset="0"/>
                <a:ea typeface="宋体" charset="0"/>
                <a:cs typeface="宋体" charset="0"/>
                <a:sym typeface="+mn-ea"/>
              </a:rPr>
              <a:t>雷祎，</a:t>
            </a:r>
            <a:r>
              <a:rPr lang="en-US" sz="2400">
                <a:solidFill>
                  <a:schemeClr val="tx1"/>
                </a:solidFill>
                <a:latin typeface="Times New Roman Regular" panose="02020603050405020304" charset="0"/>
                <a:ea typeface="宋体" charset="0"/>
                <a:cs typeface="Times New Roman Regular" panose="02020603050405020304" charset="0"/>
                <a:sym typeface="+mn-ea"/>
              </a:rPr>
              <a:t>1993</a:t>
            </a:r>
            <a:r>
              <a:rPr lang="zh-CN" altLang="en-US" sz="2400">
                <a:solidFill>
                  <a:schemeClr val="tx1"/>
                </a:solidFill>
                <a:latin typeface="宋体" charset="0"/>
                <a:ea typeface="宋体" charset="0"/>
                <a:cs typeface="宋体" charset="0"/>
                <a:sym typeface="+mn-ea"/>
              </a:rPr>
              <a:t>；曾利沙，</a:t>
            </a:r>
            <a:r>
              <a:rPr lang="zh-CN" altLang="en-US" sz="2400">
                <a:solidFill>
                  <a:schemeClr val="tx1"/>
                </a:solidFill>
                <a:latin typeface="Times New Roman Regular" panose="02020603050405020304" charset="0"/>
                <a:ea typeface="宋体" charset="0"/>
                <a:cs typeface="Times New Roman Regular" panose="02020603050405020304" charset="0"/>
                <a:sym typeface="+mn-ea"/>
              </a:rPr>
              <a:t>2006</a:t>
            </a:r>
            <a:r>
              <a:rPr lang="en-US" sz="2400">
                <a:solidFill>
                  <a:schemeClr val="tx1"/>
                </a:solidFill>
                <a:latin typeface="Times New Roman" panose="02020603050405020304" charset="0"/>
                <a:ea typeface="微软雅黑" panose="020B0503020204020204" charset="-122"/>
                <a:cs typeface="Times New Roman" panose="02020603050405020304" charset="0"/>
                <a:sym typeface="+mn-ea"/>
              </a:rPr>
              <a:t>)</a:t>
            </a:r>
            <a:endParaRPr lang="en-US" sz="2400">
              <a:latin typeface="Times New Roman" panose="02020603050405020304" charset="0"/>
              <a:ea typeface="微软雅黑" panose="020B0503020204020204" charset="-122"/>
              <a:cs typeface="Times New Roman" panose="02020603050405020304" charset="0"/>
              <a:sym typeface="+mn-ea"/>
            </a:endParaRPr>
          </a:p>
          <a:p>
            <a:pPr marL="342900" indent="-342900" algn="just" fontAlgn="auto">
              <a:lnSpc>
                <a:spcPct val="150000"/>
              </a:lnSpc>
              <a:buFont typeface="Wingdings" panose="05000000000000000000" charset="0"/>
              <a:buChar char="Ø"/>
            </a:pPr>
            <a:r>
              <a:rPr lang="en-US" sz="2400">
                <a:latin typeface="Times New Roman" panose="02020603050405020304" charset="0"/>
                <a:ea typeface="微软雅黑" panose="020B0503020204020204" charset="-122"/>
                <a:cs typeface="Times New Roman" panose="02020603050405020304" charset="0"/>
                <a:sym typeface="+mn-ea"/>
              </a:rPr>
              <a:t>aesthetic thoughts of certain translators (</a:t>
            </a:r>
            <a:r>
              <a:rPr lang="en-US" sz="2400">
                <a:ea typeface="宋体" charset="0"/>
                <a:sym typeface="+mn-ea"/>
              </a:rPr>
              <a:t>汪璧辉、辛红娟，</a:t>
            </a:r>
            <a:r>
              <a:rPr lang="en-US" sz="2400">
                <a:latin typeface="Times New Roman Regular" panose="02020603050405020304" charset="0"/>
                <a:ea typeface="宋体" charset="0"/>
                <a:cs typeface="Times New Roman Regular" panose="02020603050405020304" charset="0"/>
                <a:sym typeface="+mn-ea"/>
              </a:rPr>
              <a:t>2023</a:t>
            </a:r>
            <a:r>
              <a:rPr lang="en-US" sz="2400">
                <a:latin typeface="Times New Roman" panose="02020603050405020304" charset="0"/>
                <a:ea typeface="微软雅黑" panose="020B0503020204020204" charset="-122"/>
                <a:cs typeface="Times New Roman" panose="02020603050405020304" charset="0"/>
                <a:sym typeface="+mn-ea"/>
              </a:rPr>
              <a:t>)</a:t>
            </a:r>
            <a:endParaRPr lang="en-US" sz="2400">
              <a:latin typeface="Times New Roman" panose="02020603050405020304" charset="0"/>
              <a:ea typeface="微软雅黑" panose="020B0503020204020204" charset="-122"/>
              <a:cs typeface="Times New Roman" panose="02020603050405020304" charset="0"/>
              <a:sym typeface="+mn-ea"/>
            </a:endParaRPr>
          </a:p>
          <a:p>
            <a:pPr marL="342900" indent="-342900" algn="just" fontAlgn="auto">
              <a:lnSpc>
                <a:spcPct val="150000"/>
              </a:lnSpc>
              <a:buFont typeface="Wingdings" panose="05000000000000000000" charset="0"/>
              <a:buChar char="Ø"/>
            </a:pPr>
            <a:r>
              <a:rPr lang="en-US" sz="2400">
                <a:latin typeface="Times New Roman" panose="02020603050405020304" charset="0"/>
                <a:ea typeface="微软雅黑" panose="020B0503020204020204" charset="-122"/>
                <a:cs typeface="Times New Roman" panose="02020603050405020304" charset="0"/>
                <a:sym typeface="+mn-ea"/>
              </a:rPr>
              <a:t>discussion of aesthetic features or beauty of the translation works (Woods &amp; Wyman, 2014; Keinänen, 2018; Zhou, 2022)</a:t>
            </a:r>
            <a:endParaRPr lang="en-US" sz="2400">
              <a:latin typeface="Times New Roman" panose="02020603050405020304" charset="0"/>
              <a:ea typeface="微软雅黑" panose="020B0503020204020204" charset="-122"/>
              <a:cs typeface="Times New Roman" panose="02020603050405020304" charset="0"/>
              <a:sym typeface="+mn-ea"/>
            </a:endParaRPr>
          </a:p>
          <a:p>
            <a:pPr marL="342900" indent="-342900" algn="just" fontAlgn="auto">
              <a:lnSpc>
                <a:spcPct val="150000"/>
              </a:lnSpc>
              <a:buFont typeface="Arial" panose="020B0604020202090204" pitchFamily="34" charset="0"/>
              <a:buChar char="•"/>
            </a:pPr>
            <a:r>
              <a:rPr lang="en-US" sz="2400" u="sng">
                <a:latin typeface="Times New Roman" panose="02020603050405020304" charset="0"/>
                <a:ea typeface="微软雅黑" panose="020B0503020204020204" charset="-122"/>
                <a:cs typeface="Times New Roman" panose="02020603050405020304" charset="0"/>
                <a:sym typeface="+mn-ea"/>
              </a:rPr>
              <a:t>Research methods</a:t>
            </a:r>
            <a:r>
              <a:rPr lang="en-US" sz="2400">
                <a:latin typeface="Times New Roman" panose="02020603050405020304" charset="0"/>
                <a:ea typeface="微软雅黑" panose="020B0503020204020204" charset="-122"/>
                <a:cs typeface="Times New Roman" panose="02020603050405020304" charset="0"/>
                <a:sym typeface="+mn-ea"/>
              </a:rPr>
              <a:t>: mainly qualitative methods (</a:t>
            </a:r>
            <a:r>
              <a:rPr lang="zh-CN" altLang="en-US" sz="2400">
                <a:latin typeface="宋体" charset="0"/>
                <a:ea typeface="宋体" charset="0"/>
                <a:cs typeface="宋体" charset="0"/>
                <a:sym typeface="+mn-ea"/>
              </a:rPr>
              <a:t>文佳等，</a:t>
            </a:r>
            <a:r>
              <a:rPr lang="zh-CN" altLang="en-US" sz="2400">
                <a:solidFill>
                  <a:schemeClr val="tx1"/>
                </a:solidFill>
                <a:latin typeface="Times New Roman Regular" panose="02020603050405020304" charset="0"/>
                <a:ea typeface="宋体" charset="0"/>
                <a:cs typeface="Times New Roman Regular" panose="02020603050405020304" charset="0"/>
                <a:sym typeface="+mn-ea"/>
              </a:rPr>
              <a:t>2018</a:t>
            </a:r>
            <a:r>
              <a:rPr lang="en-US" altLang="zh-CN" sz="2400">
                <a:solidFill>
                  <a:schemeClr val="tx1"/>
                </a:solidFill>
                <a:latin typeface="Times New Roman Regular" panose="02020603050405020304" charset="0"/>
                <a:ea typeface="宋体" charset="0"/>
                <a:cs typeface="Times New Roman Regular" panose="02020603050405020304" charset="0"/>
                <a:sym typeface="+mn-ea"/>
              </a:rPr>
              <a:t>)</a:t>
            </a:r>
            <a:r>
              <a:rPr lang="en-US" altLang="zh-CN" sz="2400">
                <a:latin typeface="Times New Roman Regular" panose="02020603050405020304" charset="0"/>
                <a:ea typeface="宋体" charset="0"/>
                <a:cs typeface="Times New Roman Regular" panose="02020603050405020304" charset="0"/>
                <a:sym typeface="+mn-ea"/>
              </a:rPr>
              <a:t>;</a:t>
            </a:r>
            <a:r>
              <a:rPr lang="en-US" sz="2400">
                <a:latin typeface="Times New Roman" panose="02020603050405020304" charset="0"/>
                <a:ea typeface="微软雅黑" panose="020B0503020204020204" charset="-122"/>
                <a:cs typeface="Times New Roman" panose="02020603050405020304" charset="0"/>
                <a:sym typeface="+mn-ea"/>
              </a:rPr>
              <a:t> a small number of studies have applied quantitative data (Keinänen, 2018; </a:t>
            </a:r>
            <a:r>
              <a:rPr lang="en-US" sz="2400">
                <a:latin typeface="宋体" charset="0"/>
                <a:ea typeface="宋体" charset="0"/>
                <a:cs typeface="Times New Roman" panose="02020603050405020304" charset="0"/>
                <a:sym typeface="+mn-ea"/>
              </a:rPr>
              <a:t>胡艳红、李文慧，</a:t>
            </a:r>
            <a:r>
              <a:rPr lang="en-US" sz="2400">
                <a:latin typeface="Times New Roman" panose="02020603050405020304" charset="0"/>
                <a:ea typeface="微软雅黑" panose="020B0503020204020204" charset="-122"/>
                <a:cs typeface="Times New Roman" panose="02020603050405020304" charset="0"/>
                <a:sym typeface="+mn-ea"/>
              </a:rPr>
              <a:t>2022). </a:t>
            </a:r>
            <a:endParaRPr lang="zh-CN" altLang="en-US" sz="2400">
              <a:solidFill>
                <a:srgbClr val="FF0000"/>
              </a:solidFill>
              <a:latin typeface="Times New Roman" panose="02020603050405020304" charset="0"/>
              <a:ea typeface="微软雅黑" panose="020B0503020204020204" charset="-122"/>
              <a:cs typeface="Times New Roman" panose="02020603050405020304" charset="0"/>
            </a:endParaRPr>
          </a:p>
        </p:txBody>
      </p:sp>
      <p:sp>
        <p:nvSpPr>
          <p:cNvPr id="4" name="圆角矩形 3"/>
          <p:cNvSpPr/>
          <p:nvPr/>
        </p:nvSpPr>
        <p:spPr>
          <a:xfrm>
            <a:off x="7858125" y="259080"/>
            <a:ext cx="3971925" cy="8763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b="1" spc="200">
                <a:latin typeface="Times New Roman Bold" panose="02020603050405020304" charset="0"/>
                <a:ea typeface="微软雅黑" panose="020B0503020204020204" charset="-122"/>
                <a:cs typeface="Times New Roman Bold" panose="02020603050405020304" charset="0"/>
                <a:sym typeface="+mn-ea"/>
              </a:rPr>
              <a:t>Literature Review</a:t>
            </a:r>
            <a:endParaRPr lang="zh-CN" altLang="en-US" sz="3200" b="1" spc="200">
              <a:latin typeface="Times New Roman Bold" panose="02020603050405020304" charset="0"/>
              <a:ea typeface="微软雅黑" panose="020B0503020204020204" charset="-122"/>
              <a:cs typeface="Times New Roman Bold" panose="02020603050405020304" charset="0"/>
              <a:sym typeface="+mn-ea"/>
            </a:endParaRPr>
          </a:p>
        </p:txBody>
      </p:sp>
    </p:spTree>
    <p:custDataLst>
      <p:tags r:id="rId3"/>
    </p:custDataLst>
  </p:cSld>
  <p:clrMapOvr>
    <a:masterClrMapping/>
  </p:clrMapOvr>
  <p:transition advTm="767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custDataLst>
              <p:tags r:id="rId1"/>
            </p:custDataLst>
          </p:nvPr>
        </p:nvSpPr>
        <p:spPr>
          <a:xfrm>
            <a:off x="746125" y="1196340"/>
            <a:ext cx="11083925" cy="759460"/>
          </a:xfrm>
          <a:prstGeom prst="rect">
            <a:avLst/>
          </a:prstGeom>
        </p:spPr>
        <p:txBody>
          <a:bodyPr wrap="square" anchor="ctr" anchorCtr="0">
            <a:noAutofit/>
            <a:extLst>
              <a:ext uri="{4A0BC546-FE56-4ADE-93B0-CB8AF2F6F144}">
                <wpsdc:textFrameExt xmlns:wpsdc="http://www.wps.cn/officeDocument/2022/drawingmlCustomData" type="sub-title"/>
              </a:ext>
            </a:extLst>
          </a:bodyPr>
          <a:p>
            <a:pPr algn="l"/>
            <a:r>
              <a:rPr lang="zh-CN" altLang="en-US" sz="2400" b="1" spc="200">
                <a:latin typeface="Times New Roman" panose="02020603050405020304" charset="0"/>
                <a:ea typeface="微软雅黑" panose="020B0503020204020204" charset="-122"/>
                <a:cs typeface="Times New Roman" panose="02020603050405020304" charset="0"/>
              </a:rPr>
              <a:t>2.</a:t>
            </a:r>
            <a:r>
              <a:rPr lang="en-US" altLang="zh-CN" sz="2400" b="1" spc="200">
                <a:latin typeface="Times New Roman" panose="02020603050405020304" charset="0"/>
                <a:ea typeface="微软雅黑" panose="020B0503020204020204" charset="-122"/>
                <a:cs typeface="Times New Roman" panose="02020603050405020304" charset="0"/>
              </a:rPr>
              <a:t>2</a:t>
            </a:r>
            <a:r>
              <a:rPr lang="zh-CN" altLang="en-US" sz="2400" b="1" spc="200">
                <a:latin typeface="Times New Roman" panose="02020603050405020304" charset="0"/>
                <a:ea typeface="微软雅黑" panose="020B0503020204020204" charset="-122"/>
                <a:cs typeface="Times New Roman" panose="02020603050405020304" charset="0"/>
              </a:rPr>
              <a:t> </a:t>
            </a:r>
            <a:r>
              <a:rPr lang="zh-CN" altLang="en-US" sz="2400" b="1" spc="200">
                <a:latin typeface="Times New Roman" panose="02020603050405020304" charset="0"/>
                <a:ea typeface="微软雅黑" panose="020B0503020204020204" charset="-122"/>
                <a:cs typeface="Times New Roman" panose="02020603050405020304" charset="0"/>
                <a:sym typeface="+mn-ea"/>
              </a:rPr>
              <a:t>Previous Studies on the </a:t>
            </a:r>
            <a:r>
              <a:rPr lang="en-US" altLang="zh-CN" sz="2400" b="1" spc="200">
                <a:latin typeface="Times New Roman" panose="02020603050405020304" charset="0"/>
                <a:ea typeface="微软雅黑" panose="020B0503020204020204" charset="-122"/>
                <a:cs typeface="Times New Roman" panose="02020603050405020304" charset="0"/>
                <a:sym typeface="+mn-ea"/>
              </a:rPr>
              <a:t>Translation</a:t>
            </a:r>
            <a:r>
              <a:rPr lang="zh-CN" altLang="en-US" sz="2400" b="1" spc="200">
                <a:latin typeface="Times New Roman" panose="02020603050405020304" charset="0"/>
                <a:ea typeface="微软雅黑" panose="020B0503020204020204" charset="-122"/>
                <a:cs typeface="Times New Roman" panose="02020603050405020304" charset="0"/>
                <a:sym typeface="+mn-ea"/>
              </a:rPr>
              <a:t> of </a:t>
            </a:r>
            <a:r>
              <a:rPr lang="zh-CN" altLang="en-US" sz="2400" b="1" i="1" spc="200">
                <a:latin typeface="Times New Roman" panose="02020603050405020304" charset="0"/>
                <a:ea typeface="微软雅黑" panose="020B0503020204020204" charset="-122"/>
                <a:cs typeface="Times New Roman" panose="02020603050405020304" charset="0"/>
                <a:sym typeface="+mn-ea"/>
              </a:rPr>
              <a:t>The Picture of Dorian Gray</a:t>
            </a:r>
            <a:endParaRPr lang="en-US" altLang="zh-CN" sz="2400" b="1" spc="200">
              <a:latin typeface="Times New Roman" panose="02020603050405020304" charset="0"/>
              <a:ea typeface="微软雅黑" panose="020B0503020204020204" charset="-122"/>
              <a:cs typeface="Times New Roman" panose="02020603050405020304" charset="0"/>
            </a:endParaRPr>
          </a:p>
        </p:txBody>
      </p:sp>
      <p:sp>
        <p:nvSpPr>
          <p:cNvPr id="9" name="文本框 8"/>
          <p:cNvSpPr txBox="1"/>
          <p:nvPr>
            <p:custDataLst>
              <p:tags r:id="rId2"/>
            </p:custDataLst>
          </p:nvPr>
        </p:nvSpPr>
        <p:spPr>
          <a:xfrm>
            <a:off x="732155" y="1955800"/>
            <a:ext cx="10746105" cy="4729480"/>
          </a:xfrm>
          <a:prstGeom prst="rect">
            <a:avLst/>
          </a:prstGeom>
        </p:spPr>
        <p:txBody>
          <a:bodyPr wrap="square">
            <a:noAutofit/>
            <a:extLst>
              <a:ext uri="{4A0BC546-FE56-4ADE-93B0-CB8AF2F6F144}">
                <wpsdc:textFrameExt xmlns:wpsdc="http://www.wps.cn/officeDocument/2022/drawingmlCustomData" type="text"/>
              </a:ext>
            </a:extLst>
          </a:bodyPr>
          <a:p>
            <a:pPr marL="342900" indent="-342900" algn="just">
              <a:lnSpc>
                <a:spcPct val="130000"/>
              </a:lnSpc>
              <a:buFont typeface="Arial" panose="020B0604020202090204" pitchFamily="34" charset="0"/>
              <a:buChar char="•"/>
            </a:pPr>
            <a:r>
              <a:rPr lang="en-US" sz="2400" u="sng">
                <a:latin typeface="Times New Roman" panose="02020603050405020304" charset="0"/>
                <a:ea typeface="微软雅黑" panose="020B0503020204020204" charset="-122"/>
                <a:cs typeface="Times New Roman" panose="02020603050405020304" charset="0"/>
              </a:rPr>
              <a:t>Theoretical perspectives</a:t>
            </a:r>
            <a:r>
              <a:rPr lang="en-US" sz="2400">
                <a:latin typeface="Times New Roman" panose="02020603050405020304" charset="0"/>
                <a:ea typeface="微软雅黑" panose="020B0503020204020204" charset="-122"/>
                <a:cs typeface="Times New Roman" panose="02020603050405020304" charset="0"/>
              </a:rPr>
              <a:t>: literary stylistics (</a:t>
            </a:r>
            <a:r>
              <a:rPr lang="en-US" sz="2400">
                <a:latin typeface="宋体" charset="0"/>
                <a:ea typeface="宋体" charset="0"/>
                <a:cs typeface="Times New Roman" panose="02020603050405020304" charset="0"/>
              </a:rPr>
              <a:t>李玉辉，</a:t>
            </a:r>
            <a:r>
              <a:rPr lang="en-US" sz="2400">
                <a:latin typeface="Times New Roman" panose="02020603050405020304" charset="0"/>
                <a:ea typeface="微软雅黑" panose="020B0503020204020204" charset="-122"/>
                <a:cs typeface="Times New Roman" panose="02020603050405020304" charset="0"/>
              </a:rPr>
              <a:t>2009); translation aesthetics (</a:t>
            </a:r>
            <a:r>
              <a:rPr lang="en-US" sz="2400">
                <a:latin typeface="宋体" charset="0"/>
                <a:ea typeface="宋体" charset="0"/>
                <a:cs typeface="Times New Roman" panose="02020603050405020304" charset="0"/>
              </a:rPr>
              <a:t>曹欢，</a:t>
            </a:r>
            <a:r>
              <a:rPr lang="en-US" sz="2400">
                <a:latin typeface="Times New Roman" panose="02020603050405020304" charset="0"/>
                <a:ea typeface="微软雅黑" panose="020B0503020204020204" charset="-122"/>
                <a:cs typeface="Times New Roman" panose="02020603050405020304" charset="0"/>
              </a:rPr>
              <a:t>2011); </a:t>
            </a:r>
            <a:r>
              <a:rPr lang="en-US" sz="2400">
                <a:latin typeface="Times New Roman Regular" panose="02020603050405020304" charset="0"/>
                <a:cs typeface="Times New Roman Regular" panose="02020603050405020304" charset="0"/>
              </a:rPr>
              <a:t>cognitive narratology (</a:t>
            </a:r>
            <a:r>
              <a:rPr lang="en-US" sz="2400">
                <a:latin typeface="宋体" charset="0"/>
                <a:ea typeface="宋体" charset="0"/>
                <a:cs typeface="Times New Roman Regular" panose="02020603050405020304" charset="0"/>
              </a:rPr>
              <a:t>曾妍，</a:t>
            </a:r>
            <a:r>
              <a:rPr lang="en-US" sz="2400">
                <a:latin typeface="Times New Roman Regular" panose="02020603050405020304" charset="0"/>
                <a:cs typeface="Times New Roman Regular" panose="02020603050405020304" charset="0"/>
              </a:rPr>
              <a:t>2022),</a:t>
            </a:r>
            <a:r>
              <a:rPr lang="en-US" sz="2400">
                <a:latin typeface="Times New Roman Regular" panose="02020603050405020304" charset="0"/>
                <a:ea typeface="微软雅黑" panose="020B0503020204020204" charset="-122"/>
                <a:cs typeface="Times New Roman Regular" panose="02020603050405020304" charset="0"/>
              </a:rPr>
              <a:t> </a:t>
            </a:r>
            <a:r>
              <a:rPr lang="en-US" sz="2400">
                <a:latin typeface="Times New Roman" panose="02020603050405020304" charset="0"/>
                <a:ea typeface="微软雅黑" panose="020B0503020204020204" charset="-122"/>
                <a:cs typeface="Times New Roman" panose="02020603050405020304" charset="0"/>
              </a:rPr>
              <a:t>etc.</a:t>
            </a:r>
            <a:endParaRPr lang="en-US" sz="2400">
              <a:latin typeface="Times New Roman" panose="02020603050405020304" charset="0"/>
              <a:ea typeface="微软雅黑" panose="020B0503020204020204" charset="-122"/>
              <a:cs typeface="Times New Roman" panose="02020603050405020304" charset="0"/>
            </a:endParaRPr>
          </a:p>
          <a:p>
            <a:pPr marL="342900" indent="-342900" algn="just">
              <a:lnSpc>
                <a:spcPct val="130000"/>
              </a:lnSpc>
              <a:buFont typeface="Arial" panose="020B0604020202090204" pitchFamily="34" charset="0"/>
              <a:buChar char="•"/>
            </a:pPr>
            <a:r>
              <a:rPr lang="en-US" sz="2400" u="sng">
                <a:latin typeface="Times New Roman" panose="02020603050405020304" charset="0"/>
                <a:ea typeface="微软雅黑" panose="020B0503020204020204" charset="-122"/>
                <a:cs typeface="Times New Roman" panose="02020603050405020304" charset="0"/>
              </a:rPr>
              <a:t>Research focus</a:t>
            </a:r>
            <a:r>
              <a:rPr lang="en-US" sz="2400">
                <a:latin typeface="Times New Roman" panose="02020603050405020304" charset="0"/>
                <a:ea typeface="微软雅黑" panose="020B0503020204020204" charset="-122"/>
                <a:cs typeface="Times New Roman" panose="02020603050405020304" charset="0"/>
              </a:rPr>
              <a:t>: </a:t>
            </a:r>
            <a:endParaRPr lang="en-US" sz="2400">
              <a:latin typeface="Times New Roman" panose="02020603050405020304" charset="0"/>
              <a:ea typeface="微软雅黑" panose="020B0503020204020204" charset="-122"/>
              <a:cs typeface="Times New Roman" panose="02020603050405020304" charset="0"/>
            </a:endParaRPr>
          </a:p>
          <a:p>
            <a:pPr marL="342900" indent="-342900" algn="just">
              <a:lnSpc>
                <a:spcPct val="130000"/>
              </a:lnSpc>
              <a:buFont typeface="Wingdings" panose="05000000000000000000" charset="0"/>
              <a:buChar char="Ø"/>
            </a:pPr>
            <a:r>
              <a:rPr lang="en-US" sz="2400">
                <a:latin typeface="Times New Roman" panose="02020603050405020304" charset="0"/>
                <a:ea typeface="微软雅黑" panose="020B0503020204020204" charset="-122"/>
                <a:cs typeface="Times New Roman" panose="02020603050405020304" charset="0"/>
              </a:rPr>
              <a:t>specific translation details, e.g. the translation of environmental descriptions (</a:t>
            </a:r>
            <a:r>
              <a:rPr lang="en-US" sz="2400">
                <a:latin typeface="宋体" charset="0"/>
                <a:ea typeface="宋体" charset="0"/>
                <a:cs typeface="Times New Roman" panose="02020603050405020304" charset="0"/>
              </a:rPr>
              <a:t>张露，</a:t>
            </a:r>
            <a:r>
              <a:rPr lang="en-US" sz="2400">
                <a:latin typeface="Times New Roman" panose="02020603050405020304" charset="0"/>
                <a:ea typeface="微软雅黑" panose="020B0503020204020204" charset="-122"/>
                <a:cs typeface="Times New Roman" panose="02020603050405020304" charset="0"/>
              </a:rPr>
              <a:t>2019)</a:t>
            </a:r>
            <a:endParaRPr lang="en-US" sz="2400">
              <a:latin typeface="Times New Roman" panose="02020603050405020304" charset="0"/>
              <a:ea typeface="微软雅黑" panose="020B0503020204020204" charset="-122"/>
              <a:cs typeface="Times New Roman" panose="02020603050405020304" charset="0"/>
            </a:endParaRPr>
          </a:p>
          <a:p>
            <a:pPr marL="342900" indent="-342900" algn="just">
              <a:lnSpc>
                <a:spcPct val="130000"/>
              </a:lnSpc>
              <a:buFont typeface="Wingdings" panose="05000000000000000000" charset="0"/>
              <a:buChar char="Ø"/>
            </a:pPr>
            <a:r>
              <a:rPr lang="en-US" sz="2400">
                <a:latin typeface="Times New Roman" panose="02020603050405020304" charset="0"/>
                <a:ea typeface="微软雅黑" panose="020B0503020204020204" charset="-122"/>
                <a:cs typeface="Times New Roman" panose="02020603050405020304" charset="0"/>
              </a:rPr>
              <a:t> translators, such as  translator’s identity (</a:t>
            </a:r>
            <a:r>
              <a:rPr lang="en-US" sz="2400">
                <a:latin typeface="宋体" charset="0"/>
                <a:ea typeface="宋体" charset="0"/>
                <a:cs typeface="Times New Roman" panose="02020603050405020304" charset="0"/>
              </a:rPr>
              <a:t>戴如梦，</a:t>
            </a:r>
            <a:r>
              <a:rPr lang="en-US" sz="2400">
                <a:latin typeface="Times New Roman" panose="02020603050405020304" charset="0"/>
                <a:ea typeface="微软雅黑" panose="020B0503020204020204" charset="-122"/>
                <a:cs typeface="Times New Roman" panose="02020603050405020304" charset="0"/>
              </a:rPr>
              <a:t>2021) and translation thoughts (</a:t>
            </a:r>
            <a:r>
              <a:rPr lang="en-US" sz="2400">
                <a:latin typeface="宋体" charset="0"/>
                <a:ea typeface="宋体" charset="0"/>
                <a:cs typeface="Times New Roman" panose="02020603050405020304" charset="0"/>
              </a:rPr>
              <a:t>张顺生、丁后银，</a:t>
            </a:r>
            <a:r>
              <a:rPr lang="en-US" sz="2400">
                <a:latin typeface="Times New Roman" panose="02020603050405020304" charset="0"/>
                <a:ea typeface="微软雅黑" panose="020B0503020204020204" charset="-122"/>
                <a:cs typeface="Times New Roman" panose="02020603050405020304" charset="0"/>
              </a:rPr>
              <a:t>2023)</a:t>
            </a:r>
            <a:endParaRPr lang="en-US" sz="2400">
              <a:latin typeface="Times New Roman" panose="02020603050405020304" charset="0"/>
              <a:ea typeface="微软雅黑" panose="020B0503020204020204" charset="-122"/>
              <a:cs typeface="Times New Roman" panose="02020603050405020304" charset="0"/>
            </a:endParaRPr>
          </a:p>
          <a:p>
            <a:pPr marL="342900" indent="-342900" algn="just">
              <a:lnSpc>
                <a:spcPct val="130000"/>
              </a:lnSpc>
              <a:buFont typeface="Wingdings" panose="05000000000000000000" charset="0"/>
              <a:buChar char="Ø"/>
            </a:pPr>
            <a:r>
              <a:rPr lang="zh-CN" altLang="en-US" sz="2400">
                <a:latin typeface="Times New Roman" panose="02020603050405020304" charset="0"/>
                <a:ea typeface="微软雅黑" panose="020B0503020204020204" charset="-122"/>
                <a:cs typeface="Times New Roman" panose="02020603050405020304" charset="0"/>
              </a:rPr>
              <a:t> </a:t>
            </a:r>
            <a:r>
              <a:rPr sz="2400">
                <a:latin typeface="Times New Roman" panose="02020603050405020304" charset="0"/>
                <a:ea typeface="微软雅黑" panose="020B0503020204020204" charset="-122"/>
                <a:cs typeface="Times New Roman" panose="02020603050405020304" charset="0"/>
              </a:rPr>
              <a:t>translation strategies and methods (</a:t>
            </a:r>
            <a:r>
              <a:rPr sz="2400">
                <a:latin typeface="宋体" charset="0"/>
                <a:ea typeface="宋体" charset="0"/>
                <a:cs typeface="Times New Roman" panose="02020603050405020304" charset="0"/>
              </a:rPr>
              <a:t>张丽，</a:t>
            </a:r>
            <a:r>
              <a:rPr sz="2400">
                <a:latin typeface="Times New Roman" panose="02020603050405020304" charset="0"/>
                <a:ea typeface="微软雅黑" panose="020B0503020204020204" charset="-122"/>
                <a:cs typeface="Times New Roman" panose="02020603050405020304" charset="0"/>
              </a:rPr>
              <a:t>2009)</a:t>
            </a:r>
            <a:endParaRPr sz="2400">
              <a:latin typeface="Times New Roman" panose="02020603050405020304" charset="0"/>
              <a:ea typeface="微软雅黑" panose="020B0503020204020204" charset="-122"/>
              <a:cs typeface="Times New Roman" panose="02020603050405020304" charset="0"/>
            </a:endParaRPr>
          </a:p>
          <a:p>
            <a:pPr marL="457200" indent="-457200" algn="just">
              <a:lnSpc>
                <a:spcPct val="130000"/>
              </a:lnSpc>
              <a:buFont typeface="Arial" panose="020B0604020202090204" pitchFamily="34" charset="0"/>
              <a:buChar char="•"/>
            </a:pPr>
            <a:r>
              <a:rPr lang="en-US" sz="2400" u="sng">
                <a:latin typeface="Times New Roman" panose="02020603050405020304" charset="0"/>
                <a:ea typeface="微软雅黑" panose="020B0503020204020204" charset="-122"/>
                <a:cs typeface="Times New Roman" panose="02020603050405020304" charset="0"/>
                <a:sym typeface="+mn-ea"/>
              </a:rPr>
              <a:t>Research methods</a:t>
            </a:r>
            <a:r>
              <a:rPr lang="en-US" sz="2400">
                <a:latin typeface="Times New Roman" panose="02020603050405020304" charset="0"/>
                <a:ea typeface="微软雅黑" panose="020B0503020204020204" charset="-122"/>
                <a:cs typeface="Times New Roman" panose="02020603050405020304" charset="0"/>
                <a:sym typeface="+mn-ea"/>
              </a:rPr>
              <a:t>: mainly descriptive and qualitative (</a:t>
            </a:r>
            <a:r>
              <a:rPr lang="zh-CN" altLang="en-US" sz="2400">
                <a:latin typeface="宋体" charset="0"/>
                <a:ea typeface="宋体" charset="0"/>
                <a:cs typeface="Times New Roman" panose="02020603050405020304" charset="0"/>
                <a:sym typeface="+mn-ea"/>
              </a:rPr>
              <a:t>曾妍，</a:t>
            </a:r>
            <a:r>
              <a:rPr lang="zh-CN" altLang="en-US" sz="2400">
                <a:latin typeface="Times New Roman" panose="02020603050405020304" charset="0"/>
                <a:ea typeface="微软雅黑" panose="020B0503020204020204" charset="-122"/>
                <a:cs typeface="Times New Roman" panose="02020603050405020304" charset="0"/>
                <a:sym typeface="+mn-ea"/>
              </a:rPr>
              <a:t>2022</a:t>
            </a:r>
            <a:r>
              <a:rPr lang="en-US" sz="2400">
                <a:latin typeface="Times New Roman" panose="02020603050405020304" charset="0"/>
                <a:ea typeface="微软雅黑" panose="020B0503020204020204" charset="-122"/>
                <a:cs typeface="Times New Roman" panose="02020603050405020304" charset="0"/>
                <a:sym typeface="+mn-ea"/>
              </a:rPr>
              <a:t>) </a:t>
            </a:r>
            <a:endParaRPr lang="en-US" sz="2400">
              <a:latin typeface="Times New Roman" panose="02020603050405020304" charset="0"/>
              <a:ea typeface="微软雅黑" panose="020B0503020204020204" charset="-122"/>
              <a:cs typeface="Times New Roman" panose="02020603050405020304" charset="0"/>
              <a:sym typeface="+mn-ea"/>
            </a:endParaRPr>
          </a:p>
        </p:txBody>
      </p:sp>
      <p:sp>
        <p:nvSpPr>
          <p:cNvPr id="2" name="圆角矩形 1"/>
          <p:cNvSpPr/>
          <p:nvPr/>
        </p:nvSpPr>
        <p:spPr>
          <a:xfrm>
            <a:off x="7858125" y="259080"/>
            <a:ext cx="3971925" cy="8763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b="1" spc="200">
                <a:latin typeface="Times New Roman Bold" panose="02020603050405020304" charset="0"/>
                <a:ea typeface="微软雅黑" panose="020B0503020204020204" charset="-122"/>
                <a:cs typeface="Times New Roman Bold" panose="02020603050405020304" charset="0"/>
                <a:sym typeface="+mn-ea"/>
              </a:rPr>
              <a:t>Literature Review</a:t>
            </a:r>
            <a:endParaRPr lang="zh-CN" altLang="en-US" sz="3200" b="1" spc="200">
              <a:latin typeface="Times New Roman Bold" panose="02020603050405020304" charset="0"/>
              <a:ea typeface="微软雅黑" panose="020B0503020204020204" charset="-122"/>
              <a:cs typeface="Times New Roman Bold" panose="02020603050405020304" charset="0"/>
              <a:sym typeface="+mn-ea"/>
            </a:endParaRPr>
          </a:p>
        </p:txBody>
      </p:sp>
    </p:spTree>
    <p:custDataLst>
      <p:tags r:id="rId3"/>
    </p:custDataLst>
  </p:cSld>
  <p:clrMapOvr>
    <a:masterClrMapping/>
  </p:clrMapOvr>
  <p:transition advTm="472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文本框 11"/>
          <p:cNvSpPr txBox="1"/>
          <p:nvPr>
            <p:custDataLst>
              <p:tags r:id="rId1"/>
            </p:custDataLst>
          </p:nvPr>
        </p:nvSpPr>
        <p:spPr>
          <a:xfrm>
            <a:off x="732155" y="1289685"/>
            <a:ext cx="9627235" cy="460375"/>
          </a:xfrm>
          <a:prstGeom prst="rect">
            <a:avLst/>
          </a:prstGeom>
        </p:spPr>
        <p:txBody>
          <a:bodyPr wrap="square">
            <a:spAutoFit/>
            <a:extLst>
              <a:ext uri="{4A0BC546-FE56-4ADE-93B0-CB8AF2F6F144}">
                <wpsdc:textFrameExt xmlns:wpsdc="http://www.wps.cn/officeDocument/2022/drawingmlCustomData" type="sub-title"/>
              </a:ext>
            </a:extLst>
          </a:bodyPr>
          <a:p>
            <a:pPr algn="l"/>
            <a:r>
              <a:rPr lang="zh-CN" altLang="en-US" sz="2400" b="1" spc="200">
                <a:latin typeface="Times New Roman" panose="02020603050405020304" charset="0"/>
                <a:ea typeface="微软雅黑" panose="020B0503020204020204" charset="-122"/>
                <a:cs typeface="Times New Roman" panose="02020603050405020304" charset="0"/>
              </a:rPr>
              <a:t>2.</a:t>
            </a:r>
            <a:r>
              <a:rPr lang="en-US" altLang="zh-CN" sz="2400" b="1" spc="200">
                <a:latin typeface="Times New Roman" panose="02020603050405020304" charset="0"/>
                <a:ea typeface="微软雅黑" panose="020B0503020204020204" charset="-122"/>
                <a:cs typeface="Times New Roman" panose="02020603050405020304" charset="0"/>
              </a:rPr>
              <a:t>3</a:t>
            </a:r>
            <a:r>
              <a:rPr lang="zh-CN" altLang="en-US" sz="2400" b="1" spc="200">
                <a:latin typeface="Times New Roman" panose="02020603050405020304" charset="0"/>
                <a:ea typeface="微软雅黑" panose="020B0503020204020204" charset="-122"/>
                <a:cs typeface="Times New Roman" panose="02020603050405020304" charset="0"/>
              </a:rPr>
              <a:t> Summary</a:t>
            </a:r>
            <a:endParaRPr lang="zh-CN" altLang="en-US" sz="2400" b="1" spc="200">
              <a:latin typeface="Times New Roman" panose="02020603050405020304" charset="0"/>
              <a:ea typeface="微软雅黑" panose="020B0503020204020204" charset="-122"/>
              <a:cs typeface="Times New Roman" panose="02020603050405020304" charset="0"/>
            </a:endParaRPr>
          </a:p>
        </p:txBody>
      </p:sp>
      <p:sp>
        <p:nvSpPr>
          <p:cNvPr id="13" name="文本框 12"/>
          <p:cNvSpPr txBox="1"/>
          <p:nvPr>
            <p:custDataLst>
              <p:tags r:id="rId2"/>
            </p:custDataLst>
          </p:nvPr>
        </p:nvSpPr>
        <p:spPr>
          <a:xfrm>
            <a:off x="732155" y="1904365"/>
            <a:ext cx="10377805" cy="4556760"/>
          </a:xfrm>
          <a:prstGeom prst="rect">
            <a:avLst/>
          </a:prstGeom>
        </p:spPr>
        <p:txBody>
          <a:bodyPr wrap="square">
            <a:spAutoFit/>
            <a:extLst>
              <a:ext uri="{4A0BC546-FE56-4ADE-93B0-CB8AF2F6F144}">
                <wpsdc:textFrameExt xmlns:wpsdc="http://www.wps.cn/officeDocument/2022/drawingmlCustomData" type="text"/>
              </a:ext>
            </a:extLst>
          </a:bodyPr>
          <a:p>
            <a:pPr marL="342900" indent="-342900" algn="just" fontAlgn="auto">
              <a:lnSpc>
                <a:spcPct val="130000"/>
              </a:lnSpc>
              <a:buFont typeface="Arial" panose="020B0604020202090204" pitchFamily="34" charset="0"/>
              <a:buChar char="•"/>
            </a:pPr>
            <a:r>
              <a:rPr lang="en-US" sz="2400">
                <a:latin typeface="Times New Roman" panose="02020603050405020304" charset="0"/>
                <a:ea typeface="微软雅黑" panose="020B0503020204020204" charset="-122"/>
                <a:cs typeface="Times New Roman" panose="02020603050405020304" charset="0"/>
              </a:rPr>
              <a:t>P</a:t>
            </a:r>
            <a:r>
              <a:rPr sz="2400">
                <a:latin typeface="Times New Roman" panose="02020603050405020304" charset="0"/>
                <a:ea typeface="微软雅黑" panose="020B0503020204020204" charset="-122"/>
                <a:cs typeface="Times New Roman" panose="02020603050405020304" charset="0"/>
              </a:rPr>
              <a:t>revious researchers (</a:t>
            </a:r>
            <a:r>
              <a:rPr sz="2400">
                <a:latin typeface="宋体" charset="0"/>
                <a:ea typeface="宋体" charset="0"/>
                <a:cs typeface="Times New Roman" panose="02020603050405020304" charset="0"/>
              </a:rPr>
              <a:t>张丽，</a:t>
            </a:r>
            <a:r>
              <a:rPr sz="2400">
                <a:latin typeface="Times New Roman" panose="02020603050405020304" charset="0"/>
                <a:ea typeface="微软雅黑" panose="020B0503020204020204" charset="-122"/>
                <a:cs typeface="Times New Roman" panose="02020603050405020304" charset="0"/>
              </a:rPr>
              <a:t>2009</a:t>
            </a:r>
            <a:r>
              <a:rPr lang="zh-CN" sz="2400">
                <a:latin typeface="宋体" charset="0"/>
                <a:ea typeface="宋体" charset="0"/>
                <a:cs typeface="Times New Roman" panose="02020603050405020304" charset="0"/>
              </a:rPr>
              <a:t>；</a:t>
            </a:r>
            <a:r>
              <a:rPr sz="2400">
                <a:latin typeface="宋体" charset="0"/>
                <a:ea typeface="宋体" charset="0"/>
                <a:cs typeface="Times New Roman" panose="02020603050405020304" charset="0"/>
              </a:rPr>
              <a:t>曹欢，</a:t>
            </a:r>
            <a:r>
              <a:rPr sz="2400">
                <a:latin typeface="Times New Roman" panose="02020603050405020304" charset="0"/>
                <a:ea typeface="微软雅黑" panose="020B0503020204020204" charset="-122"/>
                <a:cs typeface="Times New Roman" panose="02020603050405020304" charset="0"/>
              </a:rPr>
              <a:t>2011</a:t>
            </a:r>
            <a:r>
              <a:rPr lang="zh-CN" sz="2400">
                <a:latin typeface="宋体" charset="0"/>
                <a:ea typeface="宋体" charset="0"/>
                <a:cs typeface="Times New Roman" panose="02020603050405020304" charset="0"/>
              </a:rPr>
              <a:t>；</a:t>
            </a:r>
            <a:r>
              <a:rPr sz="2400">
                <a:latin typeface="宋体" charset="0"/>
                <a:ea typeface="宋体" charset="0"/>
                <a:cs typeface="Times New Roman" panose="02020603050405020304" charset="0"/>
              </a:rPr>
              <a:t>张顺生、丁后银，</a:t>
            </a:r>
            <a:r>
              <a:rPr sz="2400">
                <a:latin typeface="Times New Roman" panose="02020603050405020304" charset="0"/>
                <a:ea typeface="微软雅黑" panose="020B0503020204020204" charset="-122"/>
                <a:cs typeface="Times New Roman" panose="02020603050405020304" charset="0"/>
              </a:rPr>
              <a:t>2023) have studied the beauty of rhyme, diction, rhetorical devices, sentence pattern and images</a:t>
            </a:r>
            <a:r>
              <a:rPr lang="en-US" sz="2400">
                <a:latin typeface="Times New Roman" panose="02020603050405020304" charset="0"/>
                <a:ea typeface="微软雅黑" panose="020B0503020204020204" charset="-122"/>
                <a:cs typeface="Times New Roman" panose="02020603050405020304" charset="0"/>
              </a:rPr>
              <a:t> of the original novel</a:t>
            </a:r>
            <a:r>
              <a:rPr sz="2400">
                <a:latin typeface="Times New Roman" panose="02020603050405020304" charset="0"/>
                <a:ea typeface="微软雅黑" panose="020B0503020204020204" charset="-122"/>
                <a:cs typeface="Times New Roman" panose="02020603050405020304" charset="0"/>
              </a:rPr>
              <a:t>. However,</a:t>
            </a:r>
            <a:r>
              <a:rPr lang="en-US" sz="2400">
                <a:latin typeface="Times New Roman" panose="02020603050405020304" charset="0"/>
                <a:ea typeface="微软雅黑" panose="020B0503020204020204" charset="-122"/>
                <a:cs typeface="Times New Roman" panose="02020603050405020304" charset="0"/>
              </a:rPr>
              <a:t> </a:t>
            </a:r>
            <a:r>
              <a:rPr sz="2400">
                <a:latin typeface="Times New Roman" panose="02020603050405020304" charset="0"/>
                <a:ea typeface="微软雅黑" panose="020B0503020204020204" charset="-122"/>
                <a:cs typeface="Times New Roman" panose="02020603050405020304" charset="0"/>
              </a:rPr>
              <a:t>there is a lack of research in terms of the representation of </a:t>
            </a:r>
            <a:r>
              <a:rPr lang="en-US" sz="2400">
                <a:latin typeface="Times New Roman" panose="02020603050405020304" charset="0"/>
                <a:ea typeface="微软雅黑" panose="020B0503020204020204" charset="-122"/>
                <a:cs typeface="Times New Roman" panose="02020603050405020304" charset="0"/>
              </a:rPr>
              <a:t>aesthetic information such as </a:t>
            </a:r>
            <a:r>
              <a:rPr sz="2400">
                <a:latin typeface="Times New Roman" panose="02020603050405020304" charset="0"/>
                <a:ea typeface="微软雅黑" panose="020B0503020204020204" charset="-122"/>
                <a:cs typeface="Times New Roman" panose="02020603050405020304" charset="0"/>
              </a:rPr>
              <a:t>rhythm</a:t>
            </a:r>
            <a:r>
              <a:rPr lang="en-US" sz="2400">
                <a:latin typeface="Times New Roman" panose="02020603050405020304" charset="0"/>
                <a:ea typeface="微软雅黑" panose="020B0503020204020204" charset="-122"/>
                <a:cs typeface="Times New Roman" panose="02020603050405020304" charset="0"/>
              </a:rPr>
              <a:t>, </a:t>
            </a:r>
            <a:r>
              <a:rPr sz="2400">
                <a:latin typeface="Times New Roman" panose="02020603050405020304" charset="0"/>
                <a:ea typeface="微软雅黑" panose="020B0503020204020204" charset="-122"/>
                <a:cs typeface="Times New Roman" panose="02020603050405020304" charset="0"/>
              </a:rPr>
              <a:t>emotions and symbols in the translation</a:t>
            </a:r>
            <a:r>
              <a:rPr lang="en-US" sz="2400">
                <a:latin typeface="Times New Roman" panose="02020603050405020304" charset="0"/>
                <a:ea typeface="微软雅黑" panose="020B0503020204020204" charset="-122"/>
                <a:cs typeface="Times New Roman" panose="02020603050405020304" charset="0"/>
              </a:rPr>
              <a:t> of</a:t>
            </a:r>
            <a:r>
              <a:rPr sz="2400">
                <a:latin typeface="Times New Roman" panose="02020603050405020304" charset="0"/>
                <a:ea typeface="微软雅黑" panose="020B0503020204020204" charset="-122"/>
                <a:cs typeface="Times New Roman" panose="02020603050405020304" charset="0"/>
              </a:rPr>
              <a:t> </a:t>
            </a:r>
            <a:r>
              <a:rPr sz="2400" i="1">
                <a:latin typeface="Times New Roman Italic" panose="02020603050405020304" charset="0"/>
                <a:ea typeface="微软雅黑" panose="020B0503020204020204" charset="-122"/>
                <a:cs typeface="Times New Roman Italic" panose="02020603050405020304" charset="0"/>
              </a:rPr>
              <a:t>The Picture of Dorian Gray</a:t>
            </a:r>
            <a:r>
              <a:rPr lang="en-US" sz="2400" i="1">
                <a:latin typeface="Times New Roman Italic" panose="02020603050405020304" charset="0"/>
                <a:ea typeface="微软雅黑" panose="020B0503020204020204" charset="-122"/>
                <a:cs typeface="Times New Roman Italic" panose="02020603050405020304" charset="0"/>
              </a:rPr>
              <a:t>.</a:t>
            </a:r>
            <a:endParaRPr sz="2400">
              <a:latin typeface="Times New Roman" panose="02020603050405020304" charset="0"/>
              <a:ea typeface="微软雅黑" panose="020B0503020204020204" charset="-122"/>
              <a:cs typeface="Times New Roman" panose="02020603050405020304" charset="0"/>
            </a:endParaRPr>
          </a:p>
          <a:p>
            <a:pPr marL="342900" indent="-342900" algn="just" fontAlgn="auto">
              <a:lnSpc>
                <a:spcPct val="140000"/>
              </a:lnSpc>
              <a:buFont typeface="Arial" panose="020B0604020202090204" pitchFamily="34" charset="0"/>
              <a:buChar char="•"/>
            </a:pPr>
            <a:r>
              <a:rPr lang="en-US" sz="2400">
                <a:latin typeface="Times New Roman" panose="02020603050405020304" charset="0"/>
                <a:ea typeface="微软雅黑" panose="020B0503020204020204" charset="-122"/>
                <a:cs typeface="Times New Roman" panose="02020603050405020304" charset="0"/>
              </a:rPr>
              <a:t>Studies that consider readers’ reception are scarce, and most existing research relies heavily on textual analysis, lacking empirical data based on actual readers’ responses. Therefore, it is necessary to incorporate empirical methods to enrich this dimension.</a:t>
            </a:r>
            <a:endParaRPr lang="en-US" sz="2400">
              <a:latin typeface="Times New Roman" panose="02020603050405020304" charset="0"/>
              <a:ea typeface="微软雅黑" panose="020B0503020204020204" charset="-122"/>
              <a:cs typeface="Times New Roman" panose="02020603050405020304" charset="0"/>
            </a:endParaRPr>
          </a:p>
        </p:txBody>
      </p:sp>
      <p:sp>
        <p:nvSpPr>
          <p:cNvPr id="2" name="圆角矩形 1"/>
          <p:cNvSpPr/>
          <p:nvPr/>
        </p:nvSpPr>
        <p:spPr>
          <a:xfrm>
            <a:off x="7858125" y="259080"/>
            <a:ext cx="3971925" cy="8763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b="1" spc="200">
                <a:latin typeface="Times New Roman Bold" panose="02020603050405020304" charset="0"/>
                <a:ea typeface="微软雅黑" panose="020B0503020204020204" charset="-122"/>
                <a:cs typeface="Times New Roman Bold" panose="02020603050405020304" charset="0"/>
                <a:sym typeface="+mn-ea"/>
              </a:rPr>
              <a:t>Literature Review</a:t>
            </a:r>
            <a:endParaRPr lang="zh-CN" altLang="en-US" sz="3200" b="1" spc="200">
              <a:latin typeface="Times New Roman Bold" panose="02020603050405020304" charset="0"/>
              <a:ea typeface="微软雅黑" panose="020B0503020204020204" charset="-122"/>
              <a:cs typeface="Times New Roman Bold" panose="02020603050405020304" charset="0"/>
              <a:sym typeface="+mn-ea"/>
            </a:endParaRPr>
          </a:p>
        </p:txBody>
      </p:sp>
    </p:spTree>
    <p:custDataLst>
      <p:tags r:id="rId3"/>
    </p:custDataLst>
  </p:cSld>
  <p:clrMapOvr>
    <a:masterClrMapping/>
  </p:clrMapOvr>
  <p:transition advTm="76688"/>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文本框 12"/>
          <p:cNvSpPr txBox="1"/>
          <p:nvPr>
            <p:custDataLst>
              <p:tags r:id="rId1"/>
            </p:custDataLst>
          </p:nvPr>
        </p:nvSpPr>
        <p:spPr>
          <a:xfrm>
            <a:off x="732155" y="1410970"/>
            <a:ext cx="10425430" cy="4225925"/>
          </a:xfrm>
          <a:prstGeom prst="rect">
            <a:avLst/>
          </a:prstGeom>
        </p:spPr>
        <p:txBody>
          <a:bodyPr wrap="square">
            <a:spAutoFit/>
            <a:extLst>
              <a:ext uri="{4A0BC546-FE56-4ADE-93B0-CB8AF2F6F144}">
                <wpsdc:textFrameExt xmlns:wpsdc="http://www.wps.cn/officeDocument/2022/drawingmlCustomData" type="text"/>
              </a:ext>
            </a:extLst>
          </a:bodyPr>
          <a:p>
            <a:pPr indent="0" algn="just">
              <a:lnSpc>
                <a:spcPct val="140000"/>
              </a:lnSpc>
              <a:buNone/>
            </a:pPr>
            <a:r>
              <a:rPr lang="en-US" sz="2400">
                <a:latin typeface="Times New Roman" panose="02020603050405020304" charset="0"/>
                <a:ea typeface="微软雅黑" panose="020B0503020204020204" charset="-122"/>
                <a:cs typeface="Times New Roman" panose="02020603050405020304" charset="0"/>
              </a:rPr>
              <a:t>According to Liu (</a:t>
            </a:r>
            <a:r>
              <a:rPr lang="en-US" sz="2400">
                <a:latin typeface="宋体" charset="0"/>
                <a:ea typeface="宋体" charset="0"/>
                <a:cs typeface="Times New Roman" panose="02020603050405020304" charset="0"/>
              </a:rPr>
              <a:t>刘宓庆，</a:t>
            </a:r>
            <a:r>
              <a:rPr lang="en-US" sz="2400">
                <a:latin typeface="Times New Roman" panose="02020603050405020304" charset="0"/>
                <a:ea typeface="微软雅黑" panose="020B0503020204020204" charset="-122"/>
                <a:cs typeface="Times New Roman" panose="02020603050405020304" charset="0"/>
              </a:rPr>
              <a:t>2020), aesthetic constituents of aesthetic object  of translation (TAO) contain all the beauty of the ST, which can be analysed from the following two aspects: formal system and non-formal system.</a:t>
            </a:r>
            <a:endParaRPr lang="en-US" sz="2400">
              <a:latin typeface="Times New Roman" panose="02020603050405020304" charset="0"/>
              <a:ea typeface="微软雅黑" panose="020B0503020204020204" charset="-122"/>
              <a:cs typeface="Times New Roman" panose="02020603050405020304" charset="0"/>
            </a:endParaRPr>
          </a:p>
          <a:p>
            <a:pPr indent="0" algn="just">
              <a:lnSpc>
                <a:spcPct val="140000"/>
              </a:lnSpc>
              <a:buNone/>
            </a:pPr>
            <a:endParaRPr lang="en-US" sz="2400">
              <a:solidFill>
                <a:srgbClr val="FF0000"/>
              </a:solidFill>
              <a:latin typeface="Times New Roman" panose="02020603050405020304" charset="0"/>
              <a:ea typeface="微软雅黑" panose="020B0503020204020204" charset="-122"/>
              <a:cs typeface="Times New Roman" panose="02020603050405020304" charset="0"/>
            </a:endParaRPr>
          </a:p>
          <a:p>
            <a:pPr marL="342900" indent="-342900" algn="just">
              <a:lnSpc>
                <a:spcPct val="140000"/>
              </a:lnSpc>
              <a:buFont typeface="Arial" panose="020B0604020202090204" pitchFamily="34" charset="0"/>
              <a:buChar char="•"/>
            </a:pPr>
            <a:r>
              <a:rPr lang="en-US" sz="2400" b="1">
                <a:solidFill>
                  <a:schemeClr val="tx1"/>
                </a:solidFill>
                <a:latin typeface="Times New Roman" panose="02020603050405020304" charset="0"/>
                <a:ea typeface="微软雅黑" panose="020B0503020204020204" charset="-122"/>
                <a:cs typeface="Times New Roman" panose="02020603050405020304" charset="0"/>
              </a:rPr>
              <a:t>The formal system</a:t>
            </a:r>
            <a:r>
              <a:rPr lang="en-US" sz="2400">
                <a:latin typeface="Times New Roman" panose="02020603050405020304" charset="0"/>
                <a:ea typeface="微软雅黑" panose="020B0503020204020204" charset="-122"/>
                <a:cs typeface="Times New Roman" panose="02020603050405020304" charset="0"/>
              </a:rPr>
              <a:t> includes aesthetic features at t</a:t>
            </a:r>
            <a:r>
              <a:rPr lang="en-US" sz="2400">
                <a:solidFill>
                  <a:schemeClr val="tx1"/>
                </a:solidFill>
                <a:latin typeface="Times New Roman" panose="02020603050405020304" charset="0"/>
                <a:ea typeface="微软雅黑" panose="020B0503020204020204" charset="-122"/>
                <a:cs typeface="Times New Roman" panose="02020603050405020304" charset="0"/>
              </a:rPr>
              <a:t>he phonetic level, character level, lexical level, and syntactic and paragraph level.</a:t>
            </a:r>
            <a:endParaRPr lang="en-US" sz="2400">
              <a:latin typeface="Times New Roman" panose="02020603050405020304" charset="0"/>
              <a:ea typeface="微软雅黑" panose="020B0503020204020204" charset="-122"/>
              <a:cs typeface="Times New Roman" panose="02020603050405020304" charset="0"/>
            </a:endParaRPr>
          </a:p>
          <a:p>
            <a:pPr marL="342900" indent="-342900" algn="just">
              <a:lnSpc>
                <a:spcPct val="140000"/>
              </a:lnSpc>
              <a:buFont typeface="Arial" panose="020B0604020202090204" pitchFamily="34" charset="0"/>
              <a:buChar char="•"/>
            </a:pPr>
            <a:r>
              <a:rPr lang="en-US" sz="2400" b="1">
                <a:solidFill>
                  <a:schemeClr val="tx1"/>
                </a:solidFill>
                <a:latin typeface="Times New Roman" panose="02020603050405020304" charset="0"/>
                <a:ea typeface="微软雅黑" panose="020B0503020204020204" charset="-122"/>
                <a:cs typeface="Times New Roman" panose="02020603050405020304" charset="0"/>
              </a:rPr>
              <a:t>The non-formal system</a:t>
            </a:r>
            <a:r>
              <a:rPr lang="en-US" sz="2400">
                <a:latin typeface="Times New Roman" panose="02020603050405020304" charset="0"/>
                <a:ea typeface="微软雅黑" panose="020B0503020204020204" charset="-122"/>
                <a:cs typeface="Times New Roman" panose="02020603050405020304" charset="0"/>
              </a:rPr>
              <a:t> includes aesthetic features of emotion, aspiration, images and symbol. </a:t>
            </a:r>
            <a:endParaRPr lang="en-US" sz="2400">
              <a:latin typeface="Times New Roman" panose="02020603050405020304" charset="0"/>
              <a:ea typeface="微软雅黑" panose="020B0503020204020204" charset="-122"/>
              <a:cs typeface="Times New Roman" panose="02020603050405020304" charset="0"/>
            </a:endParaRPr>
          </a:p>
        </p:txBody>
      </p:sp>
      <p:sp>
        <p:nvSpPr>
          <p:cNvPr id="6" name="文本框 5"/>
          <p:cNvSpPr txBox="1"/>
          <p:nvPr/>
        </p:nvSpPr>
        <p:spPr>
          <a:xfrm>
            <a:off x="3578860" y="6151880"/>
            <a:ext cx="5033645" cy="306705"/>
          </a:xfrm>
          <a:prstGeom prst="rect">
            <a:avLst/>
          </a:prstGeom>
          <a:noFill/>
        </p:spPr>
        <p:txBody>
          <a:bodyPr wrap="square" rtlCol="0" anchor="t">
            <a:spAutoFit/>
          </a:bodyPr>
          <a:p>
            <a:pPr algn="just"/>
            <a:r>
              <a:rPr sz="1400">
                <a:latin typeface="宋体" pitchFamily="2" charset="-122"/>
                <a:ea typeface="宋体" pitchFamily="2" charset="-122"/>
                <a:cs typeface="宋体" pitchFamily="2" charset="-122"/>
                <a:sym typeface="+mn-ea"/>
              </a:rPr>
              <a:t>刘宓庆. 翻译美学导论[M]. 北京：中译出版社，20</a:t>
            </a:r>
            <a:r>
              <a:rPr lang="en-US" sz="1400">
                <a:latin typeface="宋体" pitchFamily="2" charset="-122"/>
                <a:ea typeface="宋体" pitchFamily="2" charset="-122"/>
                <a:cs typeface="宋体" pitchFamily="2" charset="-122"/>
                <a:sym typeface="+mn-ea"/>
              </a:rPr>
              <a:t>20.</a:t>
            </a:r>
            <a:endParaRPr lang="en-US" sz="1400">
              <a:latin typeface="宋体" pitchFamily="2" charset="-122"/>
              <a:ea typeface="宋体" pitchFamily="2" charset="-122"/>
              <a:cs typeface="宋体" pitchFamily="2" charset="-122"/>
              <a:sym typeface="+mn-ea"/>
            </a:endParaRPr>
          </a:p>
        </p:txBody>
      </p:sp>
      <p:sp>
        <p:nvSpPr>
          <p:cNvPr id="2" name="圆角矩形 1"/>
          <p:cNvSpPr/>
          <p:nvPr/>
        </p:nvSpPr>
        <p:spPr>
          <a:xfrm>
            <a:off x="6795770" y="259080"/>
            <a:ext cx="5034280" cy="8763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b="1" spc="200">
                <a:latin typeface="Times New Roman Bold" panose="02020603050405020304" charset="0"/>
                <a:ea typeface="微软雅黑" panose="020B0503020204020204" charset="-122"/>
                <a:cs typeface="Times New Roman Bold" panose="02020603050405020304" charset="0"/>
                <a:sym typeface="+mn-ea"/>
              </a:rPr>
              <a:t>Theoretical Framework</a:t>
            </a:r>
            <a:endParaRPr lang="zh-CN" altLang="en-US" sz="3200" b="1" spc="200">
              <a:latin typeface="Times New Roman Bold" panose="02020603050405020304" charset="0"/>
              <a:ea typeface="微软雅黑" panose="020B0503020204020204" charset="-122"/>
              <a:cs typeface="Times New Roman Bold" panose="02020603050405020304" charset="0"/>
              <a:sym typeface="+mn-ea"/>
            </a:endParaRPr>
          </a:p>
        </p:txBody>
      </p:sp>
    </p:spTree>
    <p:custDataLst>
      <p:tags r:id="rId2"/>
    </p:custDataLst>
  </p:cSld>
  <p:clrMapOvr>
    <a:masterClrMapping/>
  </p:clrMapOvr>
  <p:transition advTm="15735"/>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8100060" y="175895"/>
            <a:ext cx="3402330" cy="619125"/>
          </a:xfrm>
          <a:prstGeom prst="rect">
            <a:avLst/>
          </a:prstGeom>
          <a:noFill/>
          <a:ln w="19050">
            <a:solidFill>
              <a:schemeClr val="accent1"/>
            </a:solidFill>
          </a:ln>
        </p:spPr>
        <p:txBody>
          <a:bodyPr anchor="ctr" anchorCtr="0">
            <a:noAutofit/>
          </a:bodyPr>
          <a:p>
            <a:pPr indent="0" algn="ctr"/>
            <a:r>
              <a:rPr lang="en-US" sz="2400" b="1">
                <a:latin typeface="Times New Roman" panose="02020603050405020304" charset="0"/>
                <a:ea typeface="宋体" pitchFamily="2" charset="-122"/>
                <a:cs typeface="Times New Roman" panose="02020603050405020304" charset="0"/>
              </a:rPr>
              <a:t>Analytical </a:t>
            </a:r>
            <a:r>
              <a:rPr lang="en-US" sz="2400" b="1">
                <a:latin typeface="Times New Roman Bold" panose="02020603050405020304" charset="0"/>
                <a:ea typeface="宋体" pitchFamily="2" charset="-122"/>
                <a:cs typeface="Times New Roman Bold" panose="02020603050405020304" charset="0"/>
              </a:rPr>
              <a:t>Framework </a:t>
            </a:r>
            <a:endParaRPr lang="en-US" altLang="en-US" sz="2400" b="1">
              <a:latin typeface="Times New Roman Bold" panose="02020603050405020304" charset="0"/>
              <a:ea typeface="宋体" pitchFamily="2" charset="-122"/>
              <a:cs typeface="Times New Roman Bold" panose="02020603050405020304" charset="0"/>
            </a:endParaRPr>
          </a:p>
        </p:txBody>
      </p:sp>
      <p:pic>
        <p:nvPicPr>
          <p:cNvPr id="2" name="图片 1" descr="WechatIMG2268"/>
          <p:cNvPicPr>
            <a:picLocks noChangeAspect="1"/>
          </p:cNvPicPr>
          <p:nvPr/>
        </p:nvPicPr>
        <p:blipFill>
          <a:blip r:embed="rId1"/>
          <a:srcRect t="3491" b="3308"/>
          <a:stretch>
            <a:fillRect/>
          </a:stretch>
        </p:blipFill>
        <p:spPr>
          <a:xfrm>
            <a:off x="1139190" y="936625"/>
            <a:ext cx="8394065" cy="5922645"/>
          </a:xfrm>
          <a:prstGeom prst="rect">
            <a:avLst/>
          </a:prstGeom>
        </p:spPr>
      </p:pic>
    </p:spTree>
    <p:custDataLst>
      <p:tags r:id="rId2"/>
    </p:custDataLst>
  </p:cSld>
  <p:clrMapOvr>
    <a:masterClrMapping/>
  </p:clrMapOvr>
  <p:transition advTm="28523"/>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custDataLst>
              <p:tags r:id="rId1"/>
            </p:custDataLst>
          </p:nvPr>
        </p:nvSpPr>
        <p:spPr>
          <a:xfrm>
            <a:off x="6207125" y="177800"/>
            <a:ext cx="5214620" cy="707390"/>
          </a:xfrm>
          <a:prstGeom prst="rect">
            <a:avLst/>
          </a:prstGeom>
          <a:ln w="19050">
            <a:solidFill>
              <a:schemeClr val="accent1"/>
            </a:solidFill>
          </a:ln>
        </p:spPr>
        <p:txBody>
          <a:bodyPr anchor="ctr" anchorCtr="0">
            <a:noAutofit/>
            <a:extLst>
              <a:ext uri="{4A0BC546-FE56-4ADE-93B0-CB8AF2F6F144}">
                <wpsdc:textFrameExt xmlns:wpsdc="http://www.wps.cn/officeDocument/2022/drawingmlCustomData" type="sub-title"/>
              </a:ext>
            </a:extLst>
          </a:bodyPr>
          <a:p>
            <a:pPr algn="ctr"/>
            <a:r>
              <a:rPr lang="en-US" sz="2800" b="1">
                <a:latin typeface="Times New Roman Bold" panose="02020603050405020304" charset="0"/>
                <a:ea typeface="微软雅黑" panose="020B0503020204020204" charset="-122"/>
                <a:cs typeface="Times New Roman Bold" panose="02020603050405020304" charset="0"/>
                <a:sym typeface="+mn-ea"/>
              </a:rPr>
              <a:t>Phonetic level</a:t>
            </a:r>
            <a:r>
              <a:rPr lang="en-US" altLang="zh-CN" sz="2800" b="1" spc="200">
                <a:latin typeface="Times New Roman" panose="02020603050405020304" charset="0"/>
                <a:ea typeface="微软雅黑" panose="020B0503020204020204" charset="-122"/>
                <a:cs typeface="Times New Roman" panose="02020603050405020304" charset="0"/>
              </a:rPr>
              <a:t> </a:t>
            </a:r>
            <a:r>
              <a:rPr lang="en-US" altLang="zh-CN" sz="2400" b="1" spc="200">
                <a:latin typeface="Times New Roman" panose="02020603050405020304" charset="0"/>
                <a:ea typeface="微软雅黑" panose="020B0503020204020204" charset="-122"/>
                <a:cs typeface="Times New Roman" panose="02020603050405020304" charset="0"/>
              </a:rPr>
              <a:t>(formal system)</a:t>
            </a:r>
            <a:endParaRPr lang="en-US" altLang="zh-CN" sz="2400" b="1" spc="200">
              <a:latin typeface="Times New Roman" panose="02020603050405020304" charset="0"/>
              <a:ea typeface="微软雅黑" panose="020B0503020204020204" charset="-122"/>
              <a:cs typeface="Times New Roman" panose="02020603050405020304" charset="0"/>
            </a:endParaRPr>
          </a:p>
        </p:txBody>
      </p:sp>
      <p:sp>
        <p:nvSpPr>
          <p:cNvPr id="15" name="文本框 14"/>
          <p:cNvSpPr txBox="1"/>
          <p:nvPr>
            <p:custDataLst>
              <p:tags r:id="rId2"/>
            </p:custDataLst>
          </p:nvPr>
        </p:nvSpPr>
        <p:spPr>
          <a:xfrm>
            <a:off x="429260" y="884555"/>
            <a:ext cx="11094085" cy="3256280"/>
          </a:xfrm>
          <a:prstGeom prst="rect">
            <a:avLst/>
          </a:prstGeom>
        </p:spPr>
        <p:txBody>
          <a:bodyPr wrap="square">
            <a:noAutofit/>
            <a:extLst>
              <a:ext uri="{4A0BC546-FE56-4ADE-93B0-CB8AF2F6F144}">
                <wpsdc:textFrameExt xmlns:wpsdc="http://www.wps.cn/officeDocument/2022/drawingmlCustomData" type="text"/>
              </a:ext>
            </a:extLst>
          </a:bodyPr>
          <a:p>
            <a:pPr indent="0" algn="just" fontAlgn="auto">
              <a:lnSpc>
                <a:spcPct val="110000"/>
              </a:lnSpc>
              <a:buFont typeface="Arial" panose="020B0604020202090204" pitchFamily="34" charset="0"/>
              <a:buNone/>
            </a:pPr>
            <a:r>
              <a:rPr lang="en-US" sz="2000" b="1">
                <a:latin typeface="Times New Roman Bold" panose="02020603050405020304" charset="0"/>
                <a:ea typeface="微软雅黑" panose="020B0503020204020204" charset="-122"/>
                <a:cs typeface="Times New Roman Bold" panose="02020603050405020304" charset="0"/>
              </a:rPr>
              <a:t>ST</a:t>
            </a:r>
            <a:r>
              <a:rPr lang="en-US" sz="2000">
                <a:latin typeface="Times New Roman" panose="02020603050405020304" charset="0"/>
                <a:ea typeface="微软雅黑" panose="020B0503020204020204" charset="-122"/>
                <a:cs typeface="Times New Roman" panose="02020603050405020304" charset="0"/>
              </a:rPr>
              <a:t>: Henry Wotton could just catch the gleam of the honey-sweet and honey-coloured blossoms of a laburnum, whose </a:t>
            </a:r>
            <a:r>
              <a:rPr lang="en-US" sz="2000">
                <a:latin typeface="Times New Roman" panose="02020603050405020304" charset="0"/>
                <a:ea typeface="微软雅黑" panose="020B0503020204020204" charset="-122"/>
                <a:cs typeface="Times New Roman" panose="02020603050405020304" charset="0"/>
              </a:rPr>
              <a:t>tremulous branches seemed hardly able to bear the burden of a beauty so</a:t>
            </a:r>
            <a:r>
              <a:rPr lang="en-US" sz="2000">
                <a:latin typeface="Times New Roman" panose="02020603050405020304" charset="0"/>
                <a:ea typeface="微软雅黑" panose="020B0503020204020204" charset="-122"/>
                <a:cs typeface="Times New Roman" panose="02020603050405020304" charset="0"/>
              </a:rPr>
              <a:t> flame-like as theirs.	</a:t>
            </a:r>
            <a:endParaRPr lang="en-US" sz="2000">
              <a:latin typeface="Times New Roman" panose="02020603050405020304" charset="0"/>
              <a:ea typeface="微软雅黑" panose="020B0503020204020204" charset="-122"/>
              <a:cs typeface="Times New Roman" panose="02020603050405020304" charset="0"/>
            </a:endParaRPr>
          </a:p>
          <a:p>
            <a:pPr indent="0" algn="just" fontAlgn="auto">
              <a:lnSpc>
                <a:spcPct val="120000"/>
              </a:lnSpc>
              <a:buFont typeface="Arial" panose="020B0604020202090204" pitchFamily="34" charset="0"/>
              <a:buNone/>
            </a:pPr>
            <a:r>
              <a:rPr lang="en-US" sz="2000" b="1">
                <a:latin typeface="Times New Roman Bold" panose="02020603050405020304" charset="0"/>
                <a:ea typeface="宋体" charset="0"/>
                <a:cs typeface="Times New Roman Bold" panose="02020603050405020304" charset="0"/>
              </a:rPr>
              <a:t>TT1</a:t>
            </a:r>
            <a:r>
              <a:rPr lang="en-US" sz="2000">
                <a:latin typeface="Times New Roman Regular" panose="02020603050405020304" charset="0"/>
                <a:ea typeface="宋体" charset="0"/>
                <a:cs typeface="Times New Roman Regular" panose="02020603050405020304" charset="0"/>
              </a:rPr>
              <a:t>: </a:t>
            </a:r>
            <a:r>
              <a:rPr lang="en-US" sz="2000">
                <a:latin typeface="宋体" charset="0"/>
                <a:ea typeface="宋体" charset="0"/>
                <a:cs typeface="宋体" charset="0"/>
              </a:rPr>
              <a:t>他从放沙发的那个角落只能望见一丛</a:t>
            </a:r>
            <a:r>
              <a:rPr lang="en-US" sz="2000" u="sng">
                <a:solidFill>
                  <a:srgbClr val="FF0000"/>
                </a:solidFill>
                <a:latin typeface="宋体" charset="0"/>
                <a:ea typeface="宋体" charset="0"/>
                <a:cs typeface="宋体" charset="0"/>
              </a:rPr>
              <a:t>芳甜如蜜、色也如蜜</a:t>
            </a:r>
            <a:r>
              <a:rPr lang="en-US" sz="2000">
                <a:latin typeface="宋体" charset="0"/>
                <a:ea typeface="宋体" charset="0"/>
                <a:cs typeface="宋体" charset="0"/>
              </a:rPr>
              <a:t>的金链花的疏影，它那</a:t>
            </a:r>
            <a:r>
              <a:rPr lang="en-US" sz="2000" u="sng">
                <a:solidFill>
                  <a:srgbClr val="FF0000"/>
                </a:solidFill>
                <a:latin typeface="宋体" charset="0"/>
                <a:ea typeface="宋体" charset="0"/>
                <a:cs typeface="宋体" charset="0"/>
              </a:rPr>
              <a:t>颤巍巍</a:t>
            </a:r>
            <a:r>
              <a:rPr lang="en-US" sz="2000">
                <a:latin typeface="宋体" charset="0"/>
                <a:ea typeface="宋体" charset="0"/>
                <a:cs typeface="宋体" charset="0"/>
              </a:rPr>
              <a:t>的枝条看起来载不动这般</a:t>
            </a:r>
            <a:r>
              <a:rPr lang="en-US" sz="2000" u="sng">
                <a:solidFill>
                  <a:srgbClr val="FF0000"/>
                </a:solidFill>
                <a:latin typeface="宋体" charset="0"/>
                <a:ea typeface="宋体" charset="0"/>
                <a:cs typeface="宋体" charset="0"/>
              </a:rPr>
              <a:t>绚丽灿烂</a:t>
            </a:r>
            <a:r>
              <a:rPr lang="en-US" sz="2000">
                <a:latin typeface="宋体" charset="0"/>
                <a:ea typeface="宋体" charset="0"/>
                <a:cs typeface="宋体" charset="0"/>
              </a:rPr>
              <a:t>的花朵；		</a:t>
            </a:r>
            <a:endParaRPr lang="en-US" sz="2000">
              <a:latin typeface="宋体" charset="0"/>
              <a:ea typeface="宋体" charset="0"/>
              <a:cs typeface="宋体" charset="0"/>
            </a:endParaRPr>
          </a:p>
          <a:p>
            <a:pPr indent="0" algn="just" fontAlgn="auto">
              <a:lnSpc>
                <a:spcPct val="120000"/>
              </a:lnSpc>
              <a:buFont typeface="Arial" panose="020B0604020202090204" pitchFamily="34" charset="0"/>
              <a:buNone/>
            </a:pPr>
            <a:r>
              <a:rPr lang="en-US" sz="2000" b="1">
                <a:latin typeface="Times New Roman Bold" panose="02020603050405020304" charset="0"/>
                <a:ea typeface="宋体" charset="0"/>
                <a:cs typeface="Times New Roman Bold" panose="02020603050405020304" charset="0"/>
              </a:rPr>
              <a:t>TT2</a:t>
            </a:r>
            <a:r>
              <a:rPr lang="en-US" sz="2000">
                <a:latin typeface="Times New Roman Regular" panose="02020603050405020304" charset="0"/>
                <a:ea typeface="宋体" charset="0"/>
                <a:cs typeface="Times New Roman Regular" panose="02020603050405020304" charset="0"/>
              </a:rPr>
              <a:t>: </a:t>
            </a:r>
            <a:r>
              <a:rPr lang="en-US" sz="2000">
                <a:latin typeface="宋体" charset="0"/>
                <a:ea typeface="宋体" charset="0"/>
                <a:cs typeface="宋体" charset="0"/>
              </a:rPr>
              <a:t>从沙发的角落望出去，正好看得见</a:t>
            </a:r>
            <a:r>
              <a:rPr lang="en-US" sz="2000" u="sng">
                <a:latin typeface="宋体" charset="0"/>
                <a:ea typeface="宋体" charset="0"/>
                <a:cs typeface="宋体" charset="0"/>
              </a:rPr>
              <a:t>蜜黄色甜甜的</a:t>
            </a:r>
            <a:r>
              <a:rPr lang="en-US" sz="2000">
                <a:latin typeface="宋体" charset="0"/>
                <a:ea typeface="宋体" charset="0"/>
                <a:cs typeface="宋体" charset="0"/>
              </a:rPr>
              <a:t>金莲花在闪烁。</a:t>
            </a:r>
            <a:r>
              <a:rPr lang="en-US" sz="2000" u="sng">
                <a:latin typeface="宋体" charset="0"/>
                <a:ea typeface="宋体" charset="0"/>
                <a:cs typeface="宋体" charset="0"/>
              </a:rPr>
              <a:t>抖动着</a:t>
            </a:r>
            <a:r>
              <a:rPr lang="en-US" sz="2000">
                <a:latin typeface="宋体" charset="0"/>
                <a:ea typeface="宋体" charset="0"/>
                <a:cs typeface="宋体" charset="0"/>
              </a:rPr>
              <a:t>的树枝，似乎很难承载花儿</a:t>
            </a:r>
            <a:r>
              <a:rPr lang="en-US" sz="2000" u="sng">
                <a:latin typeface="宋体" charset="0"/>
                <a:ea typeface="宋体" charset="0"/>
                <a:cs typeface="宋体" charset="0"/>
              </a:rPr>
              <a:t>火焰一般的美</a:t>
            </a:r>
            <a:r>
              <a:rPr lang="en-US" sz="2000">
                <a:latin typeface="宋体" charset="0"/>
                <a:ea typeface="宋体" charset="0"/>
                <a:cs typeface="宋体" charset="0"/>
              </a:rPr>
              <a:t>。</a:t>
            </a:r>
            <a:r>
              <a:rPr lang="en-US" sz="2400">
                <a:latin typeface="宋体" charset="0"/>
                <a:ea typeface="宋体" charset="0"/>
                <a:cs typeface="宋体" charset="0"/>
              </a:rPr>
              <a:t>	</a:t>
            </a:r>
            <a:endParaRPr lang="en-US" sz="2400">
              <a:latin typeface="宋体" charset="0"/>
              <a:ea typeface="宋体" charset="0"/>
              <a:cs typeface="宋体" charset="0"/>
            </a:endParaRPr>
          </a:p>
        </p:txBody>
      </p:sp>
      <p:sp>
        <p:nvSpPr>
          <p:cNvPr id="4" name="文本框 3"/>
          <p:cNvSpPr txBox="1"/>
          <p:nvPr/>
        </p:nvSpPr>
        <p:spPr>
          <a:xfrm>
            <a:off x="429260" y="3836670"/>
            <a:ext cx="3126105" cy="2429510"/>
          </a:xfrm>
          <a:prstGeom prst="rect">
            <a:avLst/>
          </a:prstGeom>
          <a:noFill/>
        </p:spPr>
        <p:txBody>
          <a:bodyPr wrap="square" rtlCol="0" anchor="t">
            <a:noAutofit/>
          </a:bodyPr>
          <a:p>
            <a:pPr indent="0" algn="l">
              <a:lnSpc>
                <a:spcPct val="140000"/>
              </a:lnSpc>
              <a:buFont typeface="Arial" panose="020B0604020202090204" pitchFamily="34" charset="0"/>
              <a:buNone/>
            </a:pPr>
            <a:r>
              <a:rPr lang="en-US">
                <a:solidFill>
                  <a:schemeClr val="tx1"/>
                </a:solidFill>
                <a:latin typeface="Times New Roman" panose="02020603050405020304" charset="0"/>
                <a:ea typeface="微软雅黑" panose="020B0503020204020204" charset="-122"/>
                <a:cs typeface="Times New Roman" panose="02020603050405020304" charset="0"/>
                <a:sym typeface="+mn-ea"/>
              </a:rPr>
              <a:t>ST: alliteration, assonance and repetition </a:t>
            </a:r>
            <a:endParaRPr lang="en-US">
              <a:solidFill>
                <a:schemeClr val="tx1"/>
              </a:solidFill>
              <a:latin typeface="Times New Roman" panose="02020603050405020304" charset="0"/>
              <a:ea typeface="微软雅黑" panose="020B0503020204020204" charset="-122"/>
              <a:cs typeface="Times New Roman" panose="02020603050405020304" charset="0"/>
              <a:sym typeface="+mn-ea"/>
            </a:endParaRPr>
          </a:p>
          <a:p>
            <a:pPr indent="0" algn="l">
              <a:lnSpc>
                <a:spcPct val="140000"/>
              </a:lnSpc>
              <a:buFont typeface="Arial" panose="020B0604020202090204" pitchFamily="34" charset="0"/>
              <a:buNone/>
            </a:pPr>
            <a:r>
              <a:rPr lang="en-US">
                <a:solidFill>
                  <a:schemeClr val="tx1"/>
                </a:solidFill>
                <a:latin typeface="Times New Roman" panose="02020603050405020304" charset="0"/>
                <a:ea typeface="微软雅黑" panose="020B0503020204020204" charset="-122"/>
                <a:cs typeface="Times New Roman" panose="02020603050405020304" charset="0"/>
                <a:sym typeface="+mn-ea"/>
              </a:rPr>
              <a:t>TT1: four-Chinese-character structures, reduplication and end-rhyme </a:t>
            </a:r>
            <a:endParaRPr lang="en-US">
              <a:solidFill>
                <a:schemeClr val="tx1"/>
              </a:solidFill>
              <a:latin typeface="Times New Roman" panose="02020603050405020304" charset="0"/>
              <a:ea typeface="微软雅黑" panose="020B0503020204020204" charset="-122"/>
              <a:cs typeface="Times New Roman" panose="02020603050405020304" charset="0"/>
              <a:sym typeface="+mn-ea"/>
            </a:endParaRPr>
          </a:p>
          <a:p>
            <a:pPr indent="0" algn="l">
              <a:lnSpc>
                <a:spcPct val="140000"/>
              </a:lnSpc>
              <a:buFont typeface="Arial" panose="020B0604020202090204" pitchFamily="34" charset="0"/>
              <a:buNone/>
            </a:pPr>
            <a:r>
              <a:rPr lang="en-US">
                <a:solidFill>
                  <a:schemeClr val="tx1"/>
                </a:solidFill>
                <a:latin typeface="Times New Roman" panose="02020603050405020304" charset="0"/>
                <a:ea typeface="微软雅黑" panose="020B0503020204020204" charset="-122"/>
                <a:cs typeface="Times New Roman" panose="02020603050405020304" charset="0"/>
                <a:sym typeface="+mn-ea"/>
              </a:rPr>
              <a:t>TT2: reduplication</a:t>
            </a:r>
            <a:endParaRPr lang="en-US">
              <a:solidFill>
                <a:schemeClr val="tx1"/>
              </a:solidFill>
              <a:latin typeface="Times New Roman" panose="02020603050405020304" charset="0"/>
              <a:ea typeface="微软雅黑" panose="020B0503020204020204" charset="-122"/>
              <a:cs typeface="Times New Roman" panose="02020603050405020304" charset="0"/>
              <a:sym typeface="+mn-ea"/>
            </a:endParaRPr>
          </a:p>
        </p:txBody>
      </p:sp>
      <p:pic>
        <p:nvPicPr>
          <p:cNvPr id="5" name="图片 4" descr="截屏2025-05-21 15.36.40"/>
          <p:cNvPicPr>
            <a:picLocks noChangeAspect="1"/>
          </p:cNvPicPr>
          <p:nvPr/>
        </p:nvPicPr>
        <p:blipFill>
          <a:blip r:embed="rId3"/>
          <a:stretch>
            <a:fillRect/>
          </a:stretch>
        </p:blipFill>
        <p:spPr>
          <a:xfrm>
            <a:off x="3555365" y="3225800"/>
            <a:ext cx="8366760" cy="3632200"/>
          </a:xfrm>
          <a:prstGeom prst="rect">
            <a:avLst/>
          </a:prstGeom>
        </p:spPr>
      </p:pic>
      <p:sp>
        <p:nvSpPr>
          <p:cNvPr id="2" name="文本框 1"/>
          <p:cNvSpPr txBox="1"/>
          <p:nvPr/>
        </p:nvSpPr>
        <p:spPr>
          <a:xfrm>
            <a:off x="9855200" y="3170555"/>
            <a:ext cx="2067560" cy="516890"/>
          </a:xfrm>
          <a:prstGeom prst="rect">
            <a:avLst/>
          </a:prstGeom>
          <a:noFill/>
        </p:spPr>
        <p:txBody>
          <a:bodyPr wrap="square" rtlCol="0" anchor="t">
            <a:noAutofit/>
          </a:bodyPr>
          <a:p>
            <a:pPr indent="0" algn="l">
              <a:lnSpc>
                <a:spcPct val="140000"/>
              </a:lnSpc>
              <a:buFont typeface="Arial" panose="020B0604020202090204" pitchFamily="34" charset="0"/>
              <a:buNone/>
            </a:pPr>
            <a:r>
              <a:rPr lang="en-US" sz="2000" b="1">
                <a:solidFill>
                  <a:schemeClr val="tx1"/>
                </a:solidFill>
                <a:latin typeface="Times New Roman Bold" panose="02020603050405020304" charset="0"/>
                <a:ea typeface="微软雅黑" panose="020B0503020204020204" charset="-122"/>
                <a:cs typeface="Times New Roman Bold" panose="02020603050405020304" charset="0"/>
                <a:sym typeface="+mn-ea"/>
              </a:rPr>
              <a:t>(42 respondents)</a:t>
            </a:r>
            <a:endParaRPr lang="en-US" sz="2000" b="1">
              <a:solidFill>
                <a:schemeClr val="tx1"/>
              </a:solidFill>
              <a:latin typeface="Times New Roman Bold" panose="02020603050405020304" charset="0"/>
              <a:ea typeface="微软雅黑" panose="020B0503020204020204" charset="-122"/>
              <a:cs typeface="Times New Roman Bold" panose="02020603050405020304" charset="0"/>
              <a:sym typeface="+mn-ea"/>
            </a:endParaRPr>
          </a:p>
        </p:txBody>
      </p:sp>
    </p:spTree>
    <p:custDataLst>
      <p:tags r:id="rId4"/>
    </p:custDataLst>
  </p:cSld>
  <p:clrMapOvr>
    <a:masterClrMapping/>
  </p:clrMapOvr>
  <p:transition advTm="7097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文本框 14"/>
          <p:cNvSpPr txBox="1"/>
          <p:nvPr>
            <p:custDataLst>
              <p:tags r:id="rId1"/>
            </p:custDataLst>
          </p:nvPr>
        </p:nvSpPr>
        <p:spPr>
          <a:xfrm>
            <a:off x="479425" y="1063625"/>
            <a:ext cx="10664190" cy="2804160"/>
          </a:xfrm>
          <a:prstGeom prst="rect">
            <a:avLst/>
          </a:prstGeom>
        </p:spPr>
        <p:txBody>
          <a:bodyPr wrap="square">
            <a:noAutofit/>
            <a:extLst>
              <a:ext uri="{4A0BC546-FE56-4ADE-93B0-CB8AF2F6F144}">
                <wpsdc:textFrameExt xmlns:wpsdc="http://www.wps.cn/officeDocument/2022/drawingmlCustomData" type="text"/>
              </a:ext>
            </a:extLst>
          </a:bodyPr>
          <a:p>
            <a:pPr indent="0" algn="just" fontAlgn="auto">
              <a:lnSpc>
                <a:spcPct val="120000"/>
              </a:lnSpc>
              <a:buFont typeface="Arial" panose="020B0604020202090204" pitchFamily="34" charset="0"/>
              <a:buNone/>
            </a:pPr>
            <a:r>
              <a:rPr lang="en-US" sz="2000" b="1">
                <a:latin typeface="Times New Roman Bold" panose="02020603050405020304" charset="0"/>
                <a:ea typeface="微软雅黑" panose="020B0503020204020204" charset="-122"/>
                <a:cs typeface="Times New Roman Bold" panose="02020603050405020304" charset="0"/>
              </a:rPr>
              <a:t>ST</a:t>
            </a:r>
            <a:r>
              <a:rPr lang="en-US" sz="2000">
                <a:latin typeface="Times New Roman" panose="02020603050405020304" charset="0"/>
                <a:ea typeface="微软雅黑" panose="020B0503020204020204" charset="-122"/>
                <a:cs typeface="Times New Roman" panose="02020603050405020304" charset="0"/>
              </a:rPr>
              <a:t>: Her body swayed, while she danced, as a plant sways in the water. The curves of her throat were the curves of a white lily. Her hands seemed to be made of cool ivory.			</a:t>
            </a:r>
            <a:endParaRPr lang="en-US" sz="2000">
              <a:latin typeface="Times New Roman" panose="02020603050405020304" charset="0"/>
              <a:ea typeface="微软雅黑" panose="020B0503020204020204" charset="-122"/>
              <a:cs typeface="Times New Roman" panose="02020603050405020304" charset="0"/>
            </a:endParaRPr>
          </a:p>
          <a:p>
            <a:pPr indent="0" algn="just" fontAlgn="auto">
              <a:lnSpc>
                <a:spcPct val="140000"/>
              </a:lnSpc>
              <a:buFont typeface="Arial" panose="020B0604020202090204" pitchFamily="34" charset="0"/>
              <a:buNone/>
            </a:pPr>
            <a:r>
              <a:rPr lang="en-US" sz="2000" b="1">
                <a:latin typeface="Times New Roman Bold" panose="02020603050405020304" charset="0"/>
                <a:ea typeface="宋体" charset="0"/>
                <a:cs typeface="Times New Roman Bold" panose="02020603050405020304" charset="0"/>
              </a:rPr>
              <a:t>TT1</a:t>
            </a:r>
            <a:r>
              <a:rPr lang="en-US" sz="2000">
                <a:latin typeface="Times New Roman Regular" panose="02020603050405020304" charset="0"/>
                <a:ea typeface="宋体" charset="0"/>
                <a:cs typeface="Times New Roman Regular" panose="02020603050405020304" charset="0"/>
              </a:rPr>
              <a:t>: </a:t>
            </a:r>
            <a:r>
              <a:rPr lang="en-US" sz="2000">
                <a:latin typeface="宋体" charset="0"/>
                <a:ea typeface="宋体" charset="0"/>
                <a:cs typeface="宋体" charset="0"/>
              </a:rPr>
              <a:t>她跳舞的时候</a:t>
            </a:r>
            <a:r>
              <a:rPr lang="en-US" sz="2000">
                <a:solidFill>
                  <a:srgbClr val="FF0000"/>
                </a:solidFill>
                <a:latin typeface="宋体" charset="0"/>
                <a:ea typeface="宋体" charset="0"/>
                <a:cs typeface="宋体" charset="0"/>
              </a:rPr>
              <a:t>身姿摇曳</a:t>
            </a:r>
            <a:r>
              <a:rPr lang="en-US" sz="2000">
                <a:latin typeface="宋体" charset="0"/>
                <a:ea typeface="宋体" charset="0"/>
                <a:cs typeface="宋体" charset="0"/>
              </a:rPr>
              <a:t>，</a:t>
            </a:r>
            <a:r>
              <a:rPr lang="en-US" sz="2000">
                <a:solidFill>
                  <a:srgbClr val="FF0000"/>
                </a:solidFill>
                <a:latin typeface="宋体" charset="0"/>
                <a:ea typeface="宋体" charset="0"/>
                <a:cs typeface="宋体" charset="0"/>
              </a:rPr>
              <a:t>犹如一茎芦苇在水中荡漾</a:t>
            </a:r>
            <a:r>
              <a:rPr lang="en-US" sz="2000">
                <a:latin typeface="宋体" charset="0"/>
                <a:ea typeface="宋体" charset="0"/>
                <a:cs typeface="宋体" charset="0"/>
              </a:rPr>
              <a:t>。她颈脖的曲线</a:t>
            </a:r>
            <a:r>
              <a:rPr lang="en-US" sz="2000">
                <a:solidFill>
                  <a:srgbClr val="FF0000"/>
                </a:solidFill>
                <a:latin typeface="宋体" charset="0"/>
                <a:ea typeface="宋体" charset="0"/>
                <a:cs typeface="宋体" charset="0"/>
              </a:rPr>
              <a:t>酷似</a:t>
            </a:r>
            <a:r>
              <a:rPr lang="en-US" sz="2000">
                <a:latin typeface="宋体" charset="0"/>
                <a:ea typeface="宋体" charset="0"/>
                <a:cs typeface="宋体" charset="0"/>
              </a:rPr>
              <a:t>洁白的百合花，两条胳臂简直是用象牙雕成的。		</a:t>
            </a:r>
            <a:endParaRPr lang="en-US" sz="2000">
              <a:latin typeface="宋体" charset="0"/>
              <a:ea typeface="宋体" charset="0"/>
              <a:cs typeface="宋体" charset="0"/>
            </a:endParaRPr>
          </a:p>
          <a:p>
            <a:pPr indent="0" algn="just" fontAlgn="auto">
              <a:lnSpc>
                <a:spcPct val="140000"/>
              </a:lnSpc>
              <a:buFont typeface="Arial" panose="020B0604020202090204" pitchFamily="34" charset="0"/>
              <a:buNone/>
            </a:pPr>
            <a:r>
              <a:rPr lang="en-US" sz="2000" b="1">
                <a:latin typeface="Times New Roman Bold" panose="02020603050405020304" charset="0"/>
                <a:ea typeface="宋体" charset="0"/>
                <a:cs typeface="Times New Roman Bold" panose="02020603050405020304" charset="0"/>
              </a:rPr>
              <a:t>TT2</a:t>
            </a:r>
            <a:r>
              <a:rPr lang="en-US" sz="2000">
                <a:latin typeface="Times New Roman Regular" panose="02020603050405020304" charset="0"/>
                <a:ea typeface="宋体" charset="0"/>
                <a:cs typeface="Times New Roman Regular" panose="02020603050405020304" charset="0"/>
              </a:rPr>
              <a:t>: </a:t>
            </a:r>
            <a:r>
              <a:rPr lang="en-US" sz="2000">
                <a:latin typeface="宋体" charset="0"/>
                <a:ea typeface="宋体" charset="0"/>
                <a:cs typeface="宋体" charset="0"/>
              </a:rPr>
              <a:t>她跳舞时</a:t>
            </a:r>
            <a:r>
              <a:rPr lang="en-US" sz="2000" u="sng">
                <a:latin typeface="宋体" charset="0"/>
                <a:ea typeface="宋体" charset="0"/>
                <a:cs typeface="宋体" charset="0"/>
              </a:rPr>
              <a:t>摆动着身子</a:t>
            </a:r>
            <a:r>
              <a:rPr lang="en-US" sz="2000">
                <a:latin typeface="宋体" charset="0"/>
                <a:ea typeface="宋体" charset="0"/>
                <a:cs typeface="宋体" charset="0"/>
              </a:rPr>
              <a:t>，好像</a:t>
            </a:r>
            <a:r>
              <a:rPr lang="en-US" sz="2000" u="sng">
                <a:latin typeface="宋体" charset="0"/>
                <a:ea typeface="宋体" charset="0"/>
                <a:cs typeface="宋体" charset="0"/>
              </a:rPr>
              <a:t>一棵植物</a:t>
            </a:r>
            <a:r>
              <a:rPr lang="en-US" sz="2000">
                <a:latin typeface="宋体" charset="0"/>
                <a:ea typeface="宋体" charset="0"/>
                <a:cs typeface="宋体" charset="0"/>
              </a:rPr>
              <a:t>在水中</a:t>
            </a:r>
            <a:r>
              <a:rPr lang="en-US" sz="2000" u="sng">
                <a:latin typeface="宋体" charset="0"/>
                <a:ea typeface="宋体" charset="0"/>
                <a:cs typeface="宋体" charset="0"/>
              </a:rPr>
              <a:t>摇曳</a:t>
            </a:r>
            <a:r>
              <a:rPr lang="en-US" sz="2000">
                <a:latin typeface="宋体" charset="0"/>
                <a:ea typeface="宋体" charset="0"/>
                <a:cs typeface="宋体" charset="0"/>
              </a:rPr>
              <a:t>一样，喉部的曲线</a:t>
            </a:r>
            <a:r>
              <a:rPr lang="en-US" sz="2000" u="sng">
                <a:latin typeface="宋体" charset="0"/>
                <a:ea typeface="宋体" charset="0"/>
                <a:cs typeface="宋体" charset="0"/>
              </a:rPr>
              <a:t>是</a:t>
            </a:r>
            <a:r>
              <a:rPr lang="en-US" sz="2000">
                <a:latin typeface="宋体" charset="0"/>
                <a:ea typeface="宋体" charset="0"/>
                <a:cs typeface="宋体" charset="0"/>
              </a:rPr>
              <a:t>洁白的百合花的曲线，手似乎是冷色的象牙做的。	</a:t>
            </a:r>
            <a:endParaRPr lang="en-US" sz="2000">
              <a:latin typeface="宋体" charset="0"/>
              <a:ea typeface="宋体" charset="0"/>
              <a:cs typeface="宋体" charset="0"/>
            </a:endParaRPr>
          </a:p>
        </p:txBody>
      </p:sp>
      <p:sp>
        <p:nvSpPr>
          <p:cNvPr id="6" name="文本框 5"/>
          <p:cNvSpPr txBox="1"/>
          <p:nvPr>
            <p:custDataLst>
              <p:tags r:id="rId2"/>
            </p:custDataLst>
          </p:nvPr>
        </p:nvSpPr>
        <p:spPr>
          <a:xfrm>
            <a:off x="6463030" y="177800"/>
            <a:ext cx="5128895" cy="706755"/>
          </a:xfrm>
          <a:prstGeom prst="rect">
            <a:avLst/>
          </a:prstGeom>
          <a:ln w="19050">
            <a:solidFill>
              <a:schemeClr val="accent1"/>
            </a:solidFill>
          </a:ln>
        </p:spPr>
        <p:txBody>
          <a:bodyPr anchor="ctr" anchorCtr="0">
            <a:noAutofit/>
            <a:extLst>
              <a:ext uri="{4A0BC546-FE56-4ADE-93B0-CB8AF2F6F144}">
                <wpsdc:textFrameExt xmlns:wpsdc="http://www.wps.cn/officeDocument/2022/drawingmlCustomData" type="sub-title"/>
              </a:ext>
            </a:extLst>
          </a:bodyPr>
          <a:p>
            <a:pPr algn="ctr"/>
            <a:r>
              <a:rPr lang="en-US" sz="2800" b="1">
                <a:latin typeface="Times New Roman Bold" panose="02020603050405020304" charset="0"/>
                <a:ea typeface="微软雅黑" panose="020B0503020204020204" charset="-122"/>
                <a:cs typeface="Times New Roman Bold" panose="02020603050405020304" charset="0"/>
                <a:sym typeface="+mn-ea"/>
              </a:rPr>
              <a:t>Lexical level</a:t>
            </a:r>
            <a:r>
              <a:rPr lang="en-US" altLang="zh-CN" sz="3200" b="1" spc="200">
                <a:latin typeface="Times New Roman" panose="02020603050405020304" charset="0"/>
                <a:ea typeface="微软雅黑" panose="020B0503020204020204" charset="-122"/>
                <a:cs typeface="Times New Roman" panose="02020603050405020304" charset="0"/>
              </a:rPr>
              <a:t> </a:t>
            </a:r>
            <a:r>
              <a:rPr lang="en-US" altLang="zh-CN" sz="2400" b="1" spc="200">
                <a:latin typeface="Times New Roman" panose="02020603050405020304" charset="0"/>
                <a:ea typeface="微软雅黑" panose="020B0503020204020204" charset="-122"/>
                <a:cs typeface="Times New Roman" panose="02020603050405020304" charset="0"/>
              </a:rPr>
              <a:t>(formal system)</a:t>
            </a:r>
            <a:endParaRPr lang="en-US" altLang="zh-CN" sz="2400" b="1" spc="200">
              <a:latin typeface="Times New Roman" panose="02020603050405020304" charset="0"/>
              <a:ea typeface="微软雅黑" panose="020B0503020204020204" charset="-122"/>
              <a:cs typeface="Times New Roman" panose="02020603050405020304" charset="0"/>
            </a:endParaRPr>
          </a:p>
        </p:txBody>
      </p:sp>
      <p:pic>
        <p:nvPicPr>
          <p:cNvPr id="3" name="图片 2" descr="截屏2025-05-21 15.40.07"/>
          <p:cNvPicPr>
            <a:picLocks noChangeAspect="1"/>
          </p:cNvPicPr>
          <p:nvPr/>
        </p:nvPicPr>
        <p:blipFill>
          <a:blip r:embed="rId3"/>
          <a:stretch>
            <a:fillRect/>
          </a:stretch>
        </p:blipFill>
        <p:spPr>
          <a:xfrm>
            <a:off x="2911475" y="3903345"/>
            <a:ext cx="8680450" cy="2224405"/>
          </a:xfrm>
          <a:prstGeom prst="rect">
            <a:avLst/>
          </a:prstGeom>
        </p:spPr>
      </p:pic>
      <p:sp>
        <p:nvSpPr>
          <p:cNvPr id="5" name="文本框 4"/>
          <p:cNvSpPr txBox="1"/>
          <p:nvPr/>
        </p:nvSpPr>
        <p:spPr>
          <a:xfrm>
            <a:off x="9855200" y="3565525"/>
            <a:ext cx="2067560" cy="516890"/>
          </a:xfrm>
          <a:prstGeom prst="rect">
            <a:avLst/>
          </a:prstGeom>
          <a:noFill/>
        </p:spPr>
        <p:txBody>
          <a:bodyPr wrap="square" rtlCol="0" anchor="t">
            <a:noAutofit/>
          </a:bodyPr>
          <a:p>
            <a:pPr indent="0" algn="l">
              <a:lnSpc>
                <a:spcPct val="140000"/>
              </a:lnSpc>
              <a:buFont typeface="Arial" panose="020B0604020202090204" pitchFamily="34" charset="0"/>
              <a:buNone/>
            </a:pPr>
            <a:r>
              <a:rPr lang="en-US" sz="2000" b="1">
                <a:solidFill>
                  <a:schemeClr val="tx1"/>
                </a:solidFill>
                <a:latin typeface="Times New Roman Bold" panose="02020603050405020304" charset="0"/>
                <a:ea typeface="微软雅黑" panose="020B0503020204020204" charset="-122"/>
                <a:cs typeface="Times New Roman Bold" panose="02020603050405020304" charset="0"/>
                <a:sym typeface="+mn-ea"/>
              </a:rPr>
              <a:t>(42 respondents)</a:t>
            </a:r>
            <a:endParaRPr lang="en-US" sz="2000" b="1">
              <a:solidFill>
                <a:schemeClr val="tx1"/>
              </a:solidFill>
              <a:latin typeface="Times New Roman Bold" panose="02020603050405020304" charset="0"/>
              <a:ea typeface="微软雅黑" panose="020B0503020204020204" charset="-122"/>
              <a:cs typeface="Times New Roman Bold" panose="02020603050405020304" charset="0"/>
              <a:sym typeface="+mn-ea"/>
            </a:endParaRPr>
          </a:p>
        </p:txBody>
      </p:sp>
      <p:sp>
        <p:nvSpPr>
          <p:cNvPr id="7" name="文本框 6"/>
          <p:cNvSpPr txBox="1"/>
          <p:nvPr/>
        </p:nvSpPr>
        <p:spPr>
          <a:xfrm>
            <a:off x="479425" y="4079875"/>
            <a:ext cx="2432050" cy="2224405"/>
          </a:xfrm>
          <a:prstGeom prst="rect">
            <a:avLst/>
          </a:prstGeom>
          <a:noFill/>
        </p:spPr>
        <p:txBody>
          <a:bodyPr wrap="square" rtlCol="0" anchor="t">
            <a:noAutofit/>
          </a:bodyPr>
          <a:p>
            <a:pPr indent="0" algn="l">
              <a:lnSpc>
                <a:spcPct val="140000"/>
              </a:lnSpc>
              <a:buFont typeface="Arial" panose="020B0604020202090204" pitchFamily="34" charset="0"/>
              <a:buNone/>
            </a:pPr>
            <a:r>
              <a:rPr lang="en-US" sz="2000">
                <a:solidFill>
                  <a:schemeClr val="tx1"/>
                </a:solidFill>
                <a:latin typeface="Times New Roman" panose="02020603050405020304" charset="0"/>
                <a:ea typeface="微软雅黑" panose="020B0503020204020204" charset="-122"/>
                <a:cs typeface="Times New Roman" panose="02020603050405020304" charset="0"/>
                <a:sym typeface="+mn-ea"/>
              </a:rPr>
              <a:t>Diction:</a:t>
            </a:r>
            <a:endParaRPr lang="en-US" sz="2000">
              <a:solidFill>
                <a:schemeClr val="tx1"/>
              </a:solidFill>
              <a:latin typeface="Times New Roman" panose="02020603050405020304" charset="0"/>
              <a:ea typeface="微软雅黑" panose="020B0503020204020204" charset="-122"/>
              <a:cs typeface="Times New Roman" panose="02020603050405020304" charset="0"/>
              <a:sym typeface="+mn-ea"/>
            </a:endParaRPr>
          </a:p>
          <a:p>
            <a:pPr indent="0" algn="l">
              <a:lnSpc>
                <a:spcPct val="140000"/>
              </a:lnSpc>
              <a:buFont typeface="Arial" panose="020B0604020202090204" pitchFamily="34" charset="0"/>
              <a:buNone/>
            </a:pPr>
            <a:r>
              <a:rPr lang="en-US" sz="2000">
                <a:solidFill>
                  <a:schemeClr val="tx1"/>
                </a:solidFill>
                <a:latin typeface="Times New Roman" panose="02020603050405020304" charset="0"/>
                <a:ea typeface="微软雅黑" panose="020B0503020204020204" charset="-122"/>
                <a:cs typeface="Times New Roman" panose="02020603050405020304" charset="0"/>
                <a:sym typeface="+mn-ea"/>
              </a:rPr>
              <a:t>TT1: literary and refined</a:t>
            </a:r>
            <a:endParaRPr lang="en-US" sz="2000">
              <a:solidFill>
                <a:schemeClr val="tx1"/>
              </a:solidFill>
              <a:latin typeface="Times New Roman" panose="02020603050405020304" charset="0"/>
              <a:ea typeface="微软雅黑" panose="020B0503020204020204" charset="-122"/>
              <a:cs typeface="Times New Roman" panose="02020603050405020304" charset="0"/>
              <a:sym typeface="+mn-ea"/>
            </a:endParaRPr>
          </a:p>
          <a:p>
            <a:pPr indent="0" algn="l">
              <a:lnSpc>
                <a:spcPct val="140000"/>
              </a:lnSpc>
              <a:buFont typeface="Arial" panose="020B0604020202090204" pitchFamily="34" charset="0"/>
              <a:buNone/>
            </a:pPr>
            <a:r>
              <a:rPr lang="en-US" sz="2000">
                <a:solidFill>
                  <a:schemeClr val="tx1"/>
                </a:solidFill>
                <a:latin typeface="Times New Roman" panose="02020603050405020304" charset="0"/>
                <a:ea typeface="微软雅黑" panose="020B0503020204020204" charset="-122"/>
                <a:cs typeface="Times New Roman" panose="02020603050405020304" charset="0"/>
                <a:sym typeface="+mn-ea"/>
              </a:rPr>
              <a:t>TT2: direct and literal</a:t>
            </a:r>
            <a:endParaRPr lang="en-US" sz="2000">
              <a:solidFill>
                <a:schemeClr val="tx1"/>
              </a:solidFill>
              <a:latin typeface="Times New Roman" panose="02020603050405020304" charset="0"/>
              <a:ea typeface="微软雅黑" panose="020B0503020204020204" charset="-122"/>
              <a:cs typeface="Times New Roman" panose="02020603050405020304" charset="0"/>
              <a:sym typeface="+mn-ea"/>
            </a:endParaRPr>
          </a:p>
        </p:txBody>
      </p:sp>
    </p:spTree>
    <p:custDataLst>
      <p:tags r:id="rId4"/>
    </p:custDataLst>
  </p:cSld>
  <p:clrMapOvr>
    <a:masterClrMapping/>
  </p:clrMapOvr>
  <p:transition advTm="71002"/>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文本框 14"/>
          <p:cNvSpPr txBox="1"/>
          <p:nvPr>
            <p:custDataLst>
              <p:tags r:id="rId1"/>
            </p:custDataLst>
          </p:nvPr>
        </p:nvSpPr>
        <p:spPr>
          <a:xfrm>
            <a:off x="479425" y="920115"/>
            <a:ext cx="10664190" cy="2947670"/>
          </a:xfrm>
          <a:prstGeom prst="rect">
            <a:avLst/>
          </a:prstGeom>
        </p:spPr>
        <p:txBody>
          <a:bodyPr wrap="square">
            <a:noAutofit/>
            <a:extLst>
              <a:ext uri="{4A0BC546-FE56-4ADE-93B0-CB8AF2F6F144}">
                <wpsdc:textFrameExt xmlns:wpsdc="http://www.wps.cn/officeDocument/2022/drawingmlCustomData" type="text"/>
              </a:ext>
            </a:extLst>
          </a:bodyPr>
          <a:p>
            <a:pPr indent="0" algn="just" fontAlgn="auto">
              <a:lnSpc>
                <a:spcPct val="130000"/>
              </a:lnSpc>
              <a:buFont typeface="Arial" panose="020B0604020202090204" pitchFamily="34" charset="0"/>
              <a:buNone/>
            </a:pPr>
            <a:r>
              <a:rPr lang="en-US" sz="2000" b="1">
                <a:latin typeface="Times New Roman Bold" panose="02020603050405020304" charset="0"/>
                <a:ea typeface="宋体" charset="0"/>
                <a:cs typeface="Times New Roman Bold" panose="02020603050405020304" charset="0"/>
              </a:rPr>
              <a:t>TT1</a:t>
            </a:r>
            <a:r>
              <a:rPr lang="en-US" sz="2000">
                <a:latin typeface="Times New Roman Regular" panose="02020603050405020304" charset="0"/>
                <a:ea typeface="宋体" charset="0"/>
                <a:cs typeface="Times New Roman Regular" panose="02020603050405020304" charset="0"/>
              </a:rPr>
              <a:t>: </a:t>
            </a:r>
            <a:r>
              <a:rPr lang="en-US" sz="2000">
                <a:latin typeface="宋体" charset="0"/>
                <a:ea typeface="宋体" charset="0"/>
                <a:cs typeface="宋体" charset="0"/>
              </a:rPr>
              <a:t>她跳舞的时候</a:t>
            </a:r>
            <a:r>
              <a:rPr lang="en-US" sz="2000">
                <a:solidFill>
                  <a:srgbClr val="FF0000"/>
                </a:solidFill>
                <a:latin typeface="宋体" charset="0"/>
                <a:ea typeface="宋体" charset="0"/>
                <a:cs typeface="宋体" charset="0"/>
              </a:rPr>
              <a:t>身姿摇曳</a:t>
            </a:r>
            <a:r>
              <a:rPr lang="en-US" sz="2000">
                <a:latin typeface="宋体" charset="0"/>
                <a:ea typeface="宋体" charset="0"/>
                <a:cs typeface="宋体" charset="0"/>
              </a:rPr>
              <a:t>，</a:t>
            </a:r>
            <a:r>
              <a:rPr lang="en-US" sz="2000">
                <a:solidFill>
                  <a:srgbClr val="FF0000"/>
                </a:solidFill>
                <a:latin typeface="宋体" charset="0"/>
                <a:ea typeface="宋体" charset="0"/>
                <a:cs typeface="宋体" charset="0"/>
              </a:rPr>
              <a:t>犹如一茎芦苇在水中荡漾</a:t>
            </a:r>
            <a:r>
              <a:rPr lang="en-US" sz="2000">
                <a:latin typeface="宋体" charset="0"/>
                <a:ea typeface="宋体" charset="0"/>
                <a:cs typeface="宋体" charset="0"/>
              </a:rPr>
              <a:t>。她颈脖的曲线</a:t>
            </a:r>
            <a:r>
              <a:rPr lang="en-US" sz="2000">
                <a:solidFill>
                  <a:srgbClr val="FF0000"/>
                </a:solidFill>
                <a:latin typeface="宋体" charset="0"/>
                <a:ea typeface="宋体" charset="0"/>
                <a:cs typeface="宋体" charset="0"/>
              </a:rPr>
              <a:t>酷似</a:t>
            </a:r>
            <a:r>
              <a:rPr lang="en-US" sz="2000">
                <a:latin typeface="宋体" charset="0"/>
                <a:ea typeface="宋体" charset="0"/>
                <a:cs typeface="宋体" charset="0"/>
              </a:rPr>
              <a:t>洁白的百合花，两条胳臂简直是用象牙雕成的。		</a:t>
            </a:r>
            <a:endParaRPr lang="en-US" sz="2000">
              <a:latin typeface="宋体" charset="0"/>
              <a:ea typeface="宋体" charset="0"/>
              <a:cs typeface="宋体" charset="0"/>
            </a:endParaRPr>
          </a:p>
          <a:p>
            <a:pPr indent="0" algn="just" fontAlgn="auto">
              <a:lnSpc>
                <a:spcPct val="140000"/>
              </a:lnSpc>
              <a:buFont typeface="Arial" panose="020B0604020202090204" pitchFamily="34" charset="0"/>
              <a:buNone/>
            </a:pPr>
            <a:r>
              <a:rPr lang="en-US" sz="2000" b="1">
                <a:latin typeface="Times New Roman Bold" panose="02020603050405020304" charset="0"/>
                <a:ea typeface="宋体" charset="0"/>
                <a:cs typeface="Times New Roman Bold" panose="02020603050405020304" charset="0"/>
              </a:rPr>
              <a:t>TT2</a:t>
            </a:r>
            <a:r>
              <a:rPr lang="en-US" sz="2000">
                <a:latin typeface="Times New Roman Regular" panose="02020603050405020304" charset="0"/>
                <a:ea typeface="宋体" charset="0"/>
                <a:cs typeface="Times New Roman Regular" panose="02020603050405020304" charset="0"/>
              </a:rPr>
              <a:t>: </a:t>
            </a:r>
            <a:r>
              <a:rPr lang="en-US" sz="2000">
                <a:latin typeface="宋体" charset="0"/>
                <a:ea typeface="宋体" charset="0"/>
                <a:cs typeface="宋体" charset="0"/>
              </a:rPr>
              <a:t>她跳舞时</a:t>
            </a:r>
            <a:r>
              <a:rPr lang="en-US" sz="2000" u="sng">
                <a:latin typeface="宋体" charset="0"/>
                <a:ea typeface="宋体" charset="0"/>
                <a:cs typeface="宋体" charset="0"/>
              </a:rPr>
              <a:t>摆动着身子</a:t>
            </a:r>
            <a:r>
              <a:rPr lang="en-US" sz="2000">
                <a:latin typeface="宋体" charset="0"/>
                <a:ea typeface="宋体" charset="0"/>
                <a:cs typeface="宋体" charset="0"/>
              </a:rPr>
              <a:t>，好像</a:t>
            </a:r>
            <a:r>
              <a:rPr lang="en-US" sz="2000" u="sng">
                <a:latin typeface="宋体" charset="0"/>
                <a:ea typeface="宋体" charset="0"/>
                <a:cs typeface="宋体" charset="0"/>
              </a:rPr>
              <a:t>一棵植物</a:t>
            </a:r>
            <a:r>
              <a:rPr lang="en-US" sz="2000">
                <a:latin typeface="宋体" charset="0"/>
                <a:ea typeface="宋体" charset="0"/>
                <a:cs typeface="宋体" charset="0"/>
              </a:rPr>
              <a:t>在水中</a:t>
            </a:r>
            <a:r>
              <a:rPr lang="en-US" sz="2000" u="sng">
                <a:latin typeface="宋体" charset="0"/>
                <a:ea typeface="宋体" charset="0"/>
                <a:cs typeface="宋体" charset="0"/>
              </a:rPr>
              <a:t>摇曳</a:t>
            </a:r>
            <a:r>
              <a:rPr lang="en-US" sz="2000">
                <a:latin typeface="宋体" charset="0"/>
                <a:ea typeface="宋体" charset="0"/>
                <a:cs typeface="宋体" charset="0"/>
              </a:rPr>
              <a:t>一样，喉部的曲线</a:t>
            </a:r>
            <a:r>
              <a:rPr lang="en-US" sz="2000" u="sng">
                <a:latin typeface="宋体" charset="0"/>
                <a:ea typeface="宋体" charset="0"/>
                <a:cs typeface="宋体" charset="0"/>
              </a:rPr>
              <a:t>是</a:t>
            </a:r>
            <a:r>
              <a:rPr lang="en-US" sz="2000">
                <a:latin typeface="宋体" charset="0"/>
                <a:ea typeface="宋体" charset="0"/>
                <a:cs typeface="宋体" charset="0"/>
              </a:rPr>
              <a:t>洁白的百合花的曲线，手似乎是冷色的象牙做的。	</a:t>
            </a:r>
            <a:endParaRPr lang="en-US" sz="2000">
              <a:latin typeface="宋体" charset="0"/>
              <a:ea typeface="宋体" charset="0"/>
              <a:cs typeface="宋体" charset="0"/>
            </a:endParaRPr>
          </a:p>
        </p:txBody>
      </p:sp>
      <p:sp>
        <p:nvSpPr>
          <p:cNvPr id="6" name="文本框 5"/>
          <p:cNvSpPr txBox="1"/>
          <p:nvPr>
            <p:custDataLst>
              <p:tags r:id="rId2"/>
            </p:custDataLst>
          </p:nvPr>
        </p:nvSpPr>
        <p:spPr>
          <a:xfrm>
            <a:off x="6463030" y="177800"/>
            <a:ext cx="5128895" cy="706755"/>
          </a:xfrm>
          <a:prstGeom prst="rect">
            <a:avLst/>
          </a:prstGeom>
          <a:ln w="19050">
            <a:solidFill>
              <a:schemeClr val="accent1"/>
            </a:solidFill>
          </a:ln>
        </p:spPr>
        <p:txBody>
          <a:bodyPr anchor="ctr" anchorCtr="0">
            <a:noAutofit/>
            <a:extLst>
              <a:ext uri="{4A0BC546-FE56-4ADE-93B0-CB8AF2F6F144}">
                <wpsdc:textFrameExt xmlns:wpsdc="http://www.wps.cn/officeDocument/2022/drawingmlCustomData" type="sub-title"/>
              </a:ext>
            </a:extLst>
          </a:bodyPr>
          <a:p>
            <a:pPr algn="ctr"/>
            <a:r>
              <a:rPr lang="en-US" sz="2800" b="1">
                <a:latin typeface="Times New Roman Bold" panose="02020603050405020304" charset="0"/>
                <a:ea typeface="微软雅黑" panose="020B0503020204020204" charset="-122"/>
                <a:cs typeface="Times New Roman Bold" panose="02020603050405020304" charset="0"/>
                <a:sym typeface="+mn-ea"/>
              </a:rPr>
              <a:t>Lexical level</a:t>
            </a:r>
            <a:r>
              <a:rPr lang="en-US" altLang="zh-CN" sz="3200" b="1" spc="200">
                <a:latin typeface="Times New Roman" panose="02020603050405020304" charset="0"/>
                <a:ea typeface="微软雅黑" panose="020B0503020204020204" charset="-122"/>
                <a:cs typeface="Times New Roman" panose="02020603050405020304" charset="0"/>
              </a:rPr>
              <a:t> </a:t>
            </a:r>
            <a:r>
              <a:rPr lang="en-US" altLang="zh-CN" sz="2400" b="1" spc="200">
                <a:latin typeface="Times New Roman" panose="02020603050405020304" charset="0"/>
                <a:ea typeface="微软雅黑" panose="020B0503020204020204" charset="-122"/>
                <a:cs typeface="Times New Roman" panose="02020603050405020304" charset="0"/>
              </a:rPr>
              <a:t>(formal system)</a:t>
            </a:r>
            <a:endParaRPr lang="en-US" altLang="zh-CN" sz="2400" b="1" spc="200">
              <a:latin typeface="Times New Roman" panose="02020603050405020304" charset="0"/>
              <a:ea typeface="微软雅黑" panose="020B0503020204020204" charset="-122"/>
              <a:cs typeface="Times New Roman" panose="02020603050405020304" charset="0"/>
            </a:endParaRPr>
          </a:p>
        </p:txBody>
      </p:sp>
      <p:sp>
        <p:nvSpPr>
          <p:cNvPr id="5" name="文本框 4"/>
          <p:cNvSpPr txBox="1"/>
          <p:nvPr/>
        </p:nvSpPr>
        <p:spPr>
          <a:xfrm>
            <a:off x="9568180" y="2733040"/>
            <a:ext cx="2623820" cy="2402205"/>
          </a:xfrm>
          <a:prstGeom prst="rect">
            <a:avLst/>
          </a:prstGeom>
          <a:noFill/>
        </p:spPr>
        <p:txBody>
          <a:bodyPr wrap="square" rtlCol="0" anchor="t">
            <a:noAutofit/>
          </a:bodyPr>
          <a:p>
            <a:pPr indent="0" algn="l">
              <a:lnSpc>
                <a:spcPct val="140000"/>
              </a:lnSpc>
              <a:buFont typeface="Arial" panose="020B0604020202090204" pitchFamily="34" charset="0"/>
              <a:buNone/>
            </a:pPr>
            <a:endParaRPr lang="en-US" sz="2400" b="1">
              <a:solidFill>
                <a:schemeClr val="tx1"/>
              </a:solidFill>
              <a:latin typeface="Times New Roman Bold" panose="02020603050405020304" charset="0"/>
              <a:ea typeface="微软雅黑" panose="020B0503020204020204" charset="-122"/>
              <a:cs typeface="Times New Roman Bold" panose="02020603050405020304" charset="0"/>
              <a:sym typeface="+mn-ea"/>
            </a:endParaRPr>
          </a:p>
          <a:p>
            <a:pPr indent="0" algn="l">
              <a:lnSpc>
                <a:spcPct val="140000"/>
              </a:lnSpc>
              <a:buFont typeface="Arial" panose="020B0604020202090204" pitchFamily="34" charset="0"/>
              <a:buNone/>
            </a:pPr>
            <a:r>
              <a:rPr lang="en-US" sz="2400" b="1">
                <a:solidFill>
                  <a:schemeClr val="tx1"/>
                </a:solidFill>
                <a:latin typeface="Times New Roman Bold" panose="02020603050405020304" charset="0"/>
                <a:ea typeface="微软雅黑" panose="020B0503020204020204" charset="-122"/>
                <a:cs typeface="Times New Roman Bold" panose="02020603050405020304" charset="0"/>
                <a:sym typeface="+mn-ea"/>
              </a:rPr>
              <a:t>(42 respondents)</a:t>
            </a:r>
            <a:endParaRPr lang="en-US" sz="2400" b="1">
              <a:solidFill>
                <a:schemeClr val="tx1"/>
              </a:solidFill>
              <a:latin typeface="Times New Roman Bold" panose="02020603050405020304" charset="0"/>
              <a:ea typeface="微软雅黑" panose="020B0503020204020204" charset="-122"/>
              <a:cs typeface="Times New Roman Bold" panose="02020603050405020304" charset="0"/>
              <a:sym typeface="+mn-ea"/>
            </a:endParaRPr>
          </a:p>
          <a:p>
            <a:pPr indent="0" algn="l">
              <a:lnSpc>
                <a:spcPct val="140000"/>
              </a:lnSpc>
              <a:buFont typeface="Arial" panose="020B0604020202090204" pitchFamily="34" charset="0"/>
              <a:buNone/>
            </a:pPr>
            <a:endParaRPr lang="en-US" sz="2400" b="1">
              <a:solidFill>
                <a:schemeClr val="tx1"/>
              </a:solidFill>
              <a:latin typeface="Times New Roman Bold" panose="02020603050405020304" charset="0"/>
              <a:ea typeface="微软雅黑" panose="020B0503020204020204" charset="-122"/>
              <a:cs typeface="Times New Roman Bold" panose="02020603050405020304" charset="0"/>
              <a:sym typeface="+mn-ea"/>
            </a:endParaRPr>
          </a:p>
          <a:p>
            <a:pPr indent="0" algn="l">
              <a:lnSpc>
                <a:spcPct val="140000"/>
              </a:lnSpc>
              <a:buFont typeface="Arial" panose="020B0604020202090204" pitchFamily="34" charset="0"/>
              <a:buNone/>
            </a:pPr>
            <a:r>
              <a:rPr lang="en-US" sz="2400">
                <a:solidFill>
                  <a:srgbClr val="FF0000"/>
                </a:solidFill>
                <a:latin typeface="Times New Roman" panose="02020603050405020304" charset="0"/>
                <a:ea typeface="微软雅黑" panose="020B0503020204020204" charset="-122"/>
                <a:cs typeface="Times New Roman" panose="02020603050405020304" charset="0"/>
                <a:sym typeface="+mn-ea"/>
              </a:rPr>
              <a:t>95.24% </a:t>
            </a:r>
            <a:r>
              <a:rPr lang="en-US" sz="2400">
                <a:solidFill>
                  <a:schemeClr val="tx1"/>
                </a:solidFill>
                <a:latin typeface="Times New Roman" panose="02020603050405020304" charset="0"/>
                <a:ea typeface="微软雅黑" panose="020B0503020204020204" charset="-122"/>
                <a:cs typeface="Times New Roman" panose="02020603050405020304" charset="0"/>
                <a:sym typeface="+mn-ea"/>
              </a:rPr>
              <a:t>prefer TT1</a:t>
            </a:r>
            <a:endParaRPr lang="en-US" sz="2400">
              <a:solidFill>
                <a:schemeClr val="tx1"/>
              </a:solidFill>
              <a:latin typeface="Times New Roman" panose="02020603050405020304" charset="0"/>
              <a:ea typeface="微软雅黑" panose="020B0503020204020204" charset="-122"/>
              <a:cs typeface="Times New Roman" panose="02020603050405020304" charset="0"/>
              <a:sym typeface="+mn-ea"/>
            </a:endParaRPr>
          </a:p>
          <a:p>
            <a:pPr indent="0" algn="l">
              <a:lnSpc>
                <a:spcPct val="140000"/>
              </a:lnSpc>
              <a:buFont typeface="Arial" panose="020B0604020202090204" pitchFamily="34" charset="0"/>
              <a:buNone/>
            </a:pPr>
            <a:r>
              <a:rPr lang="en-US" sz="2400">
                <a:solidFill>
                  <a:schemeClr val="tx1"/>
                </a:solidFill>
                <a:latin typeface="Times New Roman" panose="02020603050405020304" charset="0"/>
                <a:ea typeface="微软雅黑" panose="020B0503020204020204" charset="-122"/>
                <a:cs typeface="Times New Roman" panose="02020603050405020304" charset="0"/>
                <a:sym typeface="+mn-ea"/>
              </a:rPr>
              <a:t>2.38% prefer TT2</a:t>
            </a:r>
            <a:endParaRPr lang="en-US" sz="2400">
              <a:solidFill>
                <a:schemeClr val="tx1"/>
              </a:solidFill>
              <a:latin typeface="Times New Roman" panose="02020603050405020304" charset="0"/>
              <a:ea typeface="微软雅黑" panose="020B0503020204020204" charset="-122"/>
              <a:cs typeface="Times New Roman" panose="02020603050405020304" charset="0"/>
              <a:sym typeface="+mn-ea"/>
            </a:endParaRPr>
          </a:p>
        </p:txBody>
      </p:sp>
      <p:pic>
        <p:nvPicPr>
          <p:cNvPr id="2" name="图片 1" descr="截屏2025-05-21 15.44.09"/>
          <p:cNvPicPr>
            <a:picLocks noChangeAspect="1"/>
          </p:cNvPicPr>
          <p:nvPr/>
        </p:nvPicPr>
        <p:blipFill>
          <a:blip r:embed="rId3"/>
          <a:stretch>
            <a:fillRect/>
          </a:stretch>
        </p:blipFill>
        <p:spPr>
          <a:xfrm>
            <a:off x="1202055" y="2733040"/>
            <a:ext cx="8131810" cy="4124960"/>
          </a:xfrm>
          <a:prstGeom prst="rect">
            <a:avLst/>
          </a:prstGeom>
        </p:spPr>
      </p:pic>
    </p:spTree>
    <p:custDataLst>
      <p:tags r:id="rId4"/>
    </p:custDataLst>
  </p:cSld>
  <p:clrMapOvr>
    <a:masterClrMapping/>
  </p:clrMapOvr>
  <p:transition advTm="48435"/>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文本框 14"/>
          <p:cNvSpPr txBox="1"/>
          <p:nvPr>
            <p:custDataLst>
              <p:tags r:id="rId1"/>
            </p:custDataLst>
          </p:nvPr>
        </p:nvSpPr>
        <p:spPr>
          <a:xfrm>
            <a:off x="803275" y="1028065"/>
            <a:ext cx="10633075" cy="2834640"/>
          </a:xfrm>
          <a:prstGeom prst="rect">
            <a:avLst/>
          </a:prstGeom>
        </p:spPr>
        <p:txBody>
          <a:bodyPr wrap="square">
            <a:noAutofit/>
            <a:extLst>
              <a:ext uri="{4A0BC546-FE56-4ADE-93B0-CB8AF2F6F144}">
                <wpsdc:textFrameExt xmlns:wpsdc="http://www.wps.cn/officeDocument/2022/drawingmlCustomData" type="text"/>
              </a:ext>
            </a:extLst>
          </a:bodyPr>
          <a:p>
            <a:pPr indent="0" algn="just" fontAlgn="auto">
              <a:lnSpc>
                <a:spcPct val="130000"/>
              </a:lnSpc>
              <a:buFont typeface="Arial" panose="020B0604020202090204" pitchFamily="34" charset="0"/>
              <a:buNone/>
            </a:pPr>
            <a:r>
              <a:rPr lang="en-US" sz="2000" b="1">
                <a:latin typeface="Times New Roman Bold" panose="02020603050405020304" charset="0"/>
                <a:ea typeface="微软雅黑" panose="020B0503020204020204" charset="-122"/>
                <a:cs typeface="Times New Roman Bold" panose="02020603050405020304" charset="0"/>
              </a:rPr>
              <a:t>ST</a:t>
            </a:r>
            <a:r>
              <a:rPr lang="en-US" sz="2000">
                <a:latin typeface="Times New Roman" panose="02020603050405020304" charset="0"/>
                <a:ea typeface="微软雅黑" panose="020B0503020204020204" charset="-122"/>
                <a:cs typeface="Times New Roman" panose="02020603050405020304" charset="0"/>
              </a:rPr>
              <a:t>: </a:t>
            </a:r>
            <a:r>
              <a:rPr lang="en-US" sz="2000" u="sng">
                <a:latin typeface="Times New Roman" panose="02020603050405020304" charset="0"/>
                <a:ea typeface="微软雅黑" panose="020B0503020204020204" charset="-122"/>
                <a:cs typeface="Times New Roman" panose="02020603050405020304" charset="0"/>
              </a:rPr>
              <a:t>Time is jealous of you, and wars against </a:t>
            </a:r>
            <a:r>
              <a:rPr lang="en-US" sz="2000" b="1" u="sng">
                <a:latin typeface="Times New Roman Bold" panose="02020603050405020304" charset="0"/>
                <a:ea typeface="微软雅黑" panose="020B0503020204020204" charset="-122"/>
                <a:cs typeface="Times New Roman Bold" panose="02020603050405020304" charset="0"/>
              </a:rPr>
              <a:t>your lilies and your roses</a:t>
            </a:r>
            <a:r>
              <a:rPr lang="en-US" sz="2000" b="1">
                <a:latin typeface="Times New Roman Bold" panose="02020603050405020304" charset="0"/>
                <a:ea typeface="微软雅黑" panose="020B0503020204020204" charset="-122"/>
                <a:cs typeface="Times New Roman Bold" panose="02020603050405020304" charset="0"/>
              </a:rPr>
              <a:t>.</a:t>
            </a:r>
            <a:r>
              <a:rPr lang="en-US" sz="2000">
                <a:latin typeface="Times New Roman" panose="02020603050405020304" charset="0"/>
                <a:ea typeface="微软雅黑" panose="020B0503020204020204" charset="-122"/>
                <a:cs typeface="Times New Roman" panose="02020603050405020304" charset="0"/>
              </a:rPr>
              <a:t> You will become sallow, and hollow-cheeked, and dull-eyed. You will suffer horribly. . .					</a:t>
            </a:r>
            <a:endParaRPr lang="en-US" sz="2000">
              <a:latin typeface="Times New Roman" panose="02020603050405020304" charset="0"/>
              <a:ea typeface="微软雅黑" panose="020B0503020204020204" charset="-122"/>
              <a:cs typeface="Times New Roman" panose="02020603050405020304" charset="0"/>
            </a:endParaRPr>
          </a:p>
          <a:p>
            <a:pPr indent="0" algn="just" fontAlgn="auto">
              <a:lnSpc>
                <a:spcPct val="140000"/>
              </a:lnSpc>
              <a:buFont typeface="Arial" panose="020B0604020202090204" pitchFamily="34" charset="0"/>
              <a:buNone/>
            </a:pPr>
            <a:r>
              <a:rPr lang="en-US" sz="2000" b="1">
                <a:latin typeface="Times New Roman Bold" panose="02020603050405020304" charset="0"/>
                <a:ea typeface="宋体" charset="0"/>
                <a:cs typeface="Times New Roman Bold" panose="02020603050405020304" charset="0"/>
              </a:rPr>
              <a:t>TT1</a:t>
            </a:r>
            <a:r>
              <a:rPr lang="en-US" sz="2000">
                <a:latin typeface="Times New Roman Regular" panose="02020603050405020304" charset="0"/>
                <a:ea typeface="宋体" charset="0"/>
                <a:cs typeface="Times New Roman Regular" panose="02020603050405020304" charset="0"/>
              </a:rPr>
              <a:t>: </a:t>
            </a:r>
            <a:r>
              <a:rPr lang="en-US" sz="2000" u="sng">
                <a:ea typeface="宋体" charset="0"/>
              </a:rPr>
              <a:t>时光妒忌你，向</a:t>
            </a:r>
            <a:r>
              <a:rPr lang="en-US" sz="2000" u="sng">
                <a:solidFill>
                  <a:srgbClr val="FF0000"/>
                </a:solidFill>
                <a:ea typeface="宋体" charset="0"/>
              </a:rPr>
              <a:t>你脸上的百合花和玫瑰花</a:t>
            </a:r>
            <a:r>
              <a:rPr lang="en-US" sz="2000" u="sng">
                <a:ea typeface="宋体" charset="0"/>
              </a:rPr>
              <a:t>不断进攻</a:t>
            </a:r>
            <a:r>
              <a:rPr lang="en-US" sz="2000">
                <a:ea typeface="宋体" charset="0"/>
              </a:rPr>
              <a:t>。你的面色会发黄，两颊会凹陷，眼神会变暗。你会痛苦不堪…… </a:t>
            </a:r>
            <a:r>
              <a:rPr lang="en-US" sz="2000">
                <a:latin typeface="宋体" charset="0"/>
                <a:ea typeface="宋体" charset="0"/>
                <a:cs typeface="宋体" charset="0"/>
              </a:rPr>
              <a:t>	</a:t>
            </a:r>
            <a:endParaRPr lang="en-US" sz="2000">
              <a:latin typeface="宋体" charset="0"/>
              <a:ea typeface="宋体" charset="0"/>
              <a:cs typeface="宋体" charset="0"/>
            </a:endParaRPr>
          </a:p>
          <a:p>
            <a:pPr indent="0" algn="just" fontAlgn="auto">
              <a:lnSpc>
                <a:spcPct val="140000"/>
              </a:lnSpc>
              <a:buFont typeface="Arial" panose="020B0604020202090204" pitchFamily="34" charset="0"/>
              <a:buNone/>
            </a:pPr>
            <a:r>
              <a:rPr lang="en-US" sz="2000" b="1">
                <a:latin typeface="Times New Roman Bold" panose="02020603050405020304" charset="0"/>
                <a:ea typeface="宋体" charset="0"/>
                <a:cs typeface="Times New Roman Bold" panose="02020603050405020304" charset="0"/>
              </a:rPr>
              <a:t>TT2</a:t>
            </a:r>
            <a:r>
              <a:rPr lang="en-US" sz="2000">
                <a:latin typeface="Times New Roman Regular" panose="02020603050405020304" charset="0"/>
                <a:ea typeface="宋体" charset="0"/>
                <a:cs typeface="Times New Roman Regular" panose="02020603050405020304" charset="0"/>
              </a:rPr>
              <a:t>: </a:t>
            </a:r>
            <a:r>
              <a:rPr lang="en-US" sz="2000" u="sng">
                <a:latin typeface="宋体" charset="0"/>
                <a:ea typeface="宋体" charset="0"/>
                <a:cs typeface="宋体" charset="0"/>
              </a:rPr>
              <a:t>时间妒忌你，跟你的</a:t>
            </a:r>
            <a:r>
              <a:rPr lang="en-US" sz="2000" u="sng">
                <a:solidFill>
                  <a:srgbClr val="FF0000"/>
                </a:solidFill>
                <a:latin typeface="宋体" charset="0"/>
                <a:ea typeface="宋体" charset="0"/>
                <a:cs typeface="宋体" charset="0"/>
              </a:rPr>
              <a:t>美貌</a:t>
            </a:r>
            <a:r>
              <a:rPr lang="en-US" sz="2000" u="sng">
                <a:latin typeface="宋体" charset="0"/>
                <a:ea typeface="宋体" charset="0"/>
                <a:cs typeface="宋体" charset="0"/>
              </a:rPr>
              <a:t>作对</a:t>
            </a:r>
            <a:r>
              <a:rPr lang="en-US" sz="2000">
                <a:latin typeface="宋体" charset="0"/>
                <a:ea typeface="宋体" charset="0"/>
                <a:cs typeface="宋体" charset="0"/>
              </a:rPr>
              <a:t>。你会脸色灰黄，两颊下陷，目光迟钝。你会感到无限痛苦……		</a:t>
            </a:r>
            <a:endParaRPr lang="en-US" sz="2000">
              <a:latin typeface="宋体" charset="0"/>
              <a:ea typeface="宋体" charset="0"/>
              <a:cs typeface="宋体" charset="0"/>
            </a:endParaRPr>
          </a:p>
        </p:txBody>
      </p:sp>
      <p:sp>
        <p:nvSpPr>
          <p:cNvPr id="5" name="文本框 4"/>
          <p:cNvSpPr txBox="1"/>
          <p:nvPr/>
        </p:nvSpPr>
        <p:spPr>
          <a:xfrm>
            <a:off x="803275" y="3862705"/>
            <a:ext cx="2780665" cy="1398270"/>
          </a:xfrm>
          <a:prstGeom prst="rect">
            <a:avLst/>
          </a:prstGeom>
          <a:noFill/>
        </p:spPr>
        <p:txBody>
          <a:bodyPr wrap="square" rtlCol="0" anchor="t">
            <a:noAutofit/>
          </a:bodyPr>
          <a:p>
            <a:pPr indent="0" algn="l">
              <a:lnSpc>
                <a:spcPct val="140000"/>
              </a:lnSpc>
              <a:buFont typeface="Arial" panose="020B0604020202090204" pitchFamily="34" charset="0"/>
              <a:buNone/>
            </a:pPr>
            <a:r>
              <a:rPr lang="en-US" sz="2000">
                <a:solidFill>
                  <a:schemeClr val="tx1"/>
                </a:solidFill>
                <a:latin typeface="Times New Roman" panose="02020603050405020304" charset="0"/>
                <a:ea typeface="微软雅黑" panose="020B0503020204020204" charset="-122"/>
                <a:cs typeface="Times New Roman" panose="02020603050405020304" charset="0"/>
                <a:sym typeface="+mn-ea"/>
              </a:rPr>
              <a:t>Flower symbols</a:t>
            </a:r>
            <a:endParaRPr lang="en-US" sz="2000">
              <a:solidFill>
                <a:schemeClr val="tx1"/>
              </a:solidFill>
              <a:latin typeface="Times New Roman" panose="02020603050405020304" charset="0"/>
              <a:ea typeface="微软雅黑" panose="020B0503020204020204" charset="-122"/>
              <a:cs typeface="Times New Roman" panose="02020603050405020304" charset="0"/>
              <a:sym typeface="+mn-ea"/>
            </a:endParaRPr>
          </a:p>
          <a:p>
            <a:pPr indent="0" algn="l">
              <a:lnSpc>
                <a:spcPct val="140000"/>
              </a:lnSpc>
              <a:buFont typeface="Arial" panose="020B0604020202090204" pitchFamily="34" charset="0"/>
              <a:buNone/>
            </a:pPr>
            <a:endParaRPr lang="en-US" sz="2000">
              <a:solidFill>
                <a:schemeClr val="tx1"/>
              </a:solidFill>
              <a:latin typeface="Times New Roman" panose="02020603050405020304" charset="0"/>
              <a:ea typeface="微软雅黑" panose="020B0503020204020204" charset="-122"/>
              <a:cs typeface="Times New Roman" panose="02020603050405020304" charset="0"/>
              <a:sym typeface="+mn-ea"/>
            </a:endParaRPr>
          </a:p>
          <a:p>
            <a:pPr indent="0" algn="l">
              <a:lnSpc>
                <a:spcPct val="140000"/>
              </a:lnSpc>
              <a:buFont typeface="Arial" panose="020B0604020202090204" pitchFamily="34" charset="0"/>
              <a:buNone/>
            </a:pPr>
            <a:r>
              <a:rPr lang="en-US" sz="2000">
                <a:solidFill>
                  <a:schemeClr val="tx1"/>
                </a:solidFill>
                <a:latin typeface="Times New Roman" panose="02020603050405020304" charset="0"/>
                <a:ea typeface="微软雅黑" panose="020B0503020204020204" charset="-122"/>
                <a:cs typeface="Times New Roman" panose="02020603050405020304" charset="0"/>
                <a:sym typeface="+mn-ea"/>
              </a:rPr>
              <a:t>TT1: literal translation</a:t>
            </a:r>
            <a:endParaRPr lang="en-US" sz="2000">
              <a:solidFill>
                <a:schemeClr val="tx1"/>
              </a:solidFill>
              <a:latin typeface="Times New Roman" panose="02020603050405020304" charset="0"/>
              <a:ea typeface="微软雅黑" panose="020B0503020204020204" charset="-122"/>
              <a:cs typeface="Times New Roman" panose="02020603050405020304" charset="0"/>
              <a:sym typeface="+mn-ea"/>
            </a:endParaRPr>
          </a:p>
          <a:p>
            <a:pPr indent="0" algn="l">
              <a:lnSpc>
                <a:spcPct val="140000"/>
              </a:lnSpc>
              <a:buFont typeface="Arial" panose="020B0604020202090204" pitchFamily="34" charset="0"/>
              <a:buNone/>
            </a:pPr>
            <a:r>
              <a:rPr lang="en-US" sz="2000">
                <a:solidFill>
                  <a:schemeClr val="tx1"/>
                </a:solidFill>
                <a:latin typeface="Times New Roman" panose="02020603050405020304" charset="0"/>
                <a:ea typeface="微软雅黑" panose="020B0503020204020204" charset="-122"/>
                <a:cs typeface="Times New Roman" panose="02020603050405020304" charset="0"/>
                <a:sym typeface="+mn-ea"/>
              </a:rPr>
              <a:t>TT2: free translation</a:t>
            </a:r>
            <a:endParaRPr lang="en-US" sz="2000">
              <a:solidFill>
                <a:schemeClr val="tx1"/>
              </a:solidFill>
              <a:latin typeface="Times New Roman" panose="02020603050405020304" charset="0"/>
              <a:ea typeface="微软雅黑" panose="020B0503020204020204" charset="-122"/>
              <a:cs typeface="Times New Roman" panose="02020603050405020304" charset="0"/>
              <a:sym typeface="+mn-ea"/>
            </a:endParaRPr>
          </a:p>
        </p:txBody>
      </p:sp>
      <p:sp>
        <p:nvSpPr>
          <p:cNvPr id="6" name="文本框 5"/>
          <p:cNvSpPr txBox="1"/>
          <p:nvPr>
            <p:custDataLst>
              <p:tags r:id="rId2"/>
            </p:custDataLst>
          </p:nvPr>
        </p:nvSpPr>
        <p:spPr>
          <a:xfrm>
            <a:off x="5251450" y="177800"/>
            <a:ext cx="6339840" cy="707390"/>
          </a:xfrm>
          <a:prstGeom prst="rect">
            <a:avLst/>
          </a:prstGeom>
          <a:ln w="19050">
            <a:solidFill>
              <a:schemeClr val="accent1"/>
            </a:solidFill>
          </a:ln>
        </p:spPr>
        <p:txBody>
          <a:bodyPr anchor="ctr" anchorCtr="0">
            <a:noAutofit/>
            <a:extLst>
              <a:ext uri="{4A0BC546-FE56-4ADE-93B0-CB8AF2F6F144}">
                <wpsdc:textFrameExt xmlns:wpsdc="http://www.wps.cn/officeDocument/2022/drawingmlCustomData" type="sub-title"/>
              </a:ext>
            </a:extLst>
          </a:bodyPr>
          <a:p>
            <a:pPr algn="ctr"/>
            <a:r>
              <a:rPr lang="en-US" sz="2800" b="1">
                <a:latin typeface="Times New Roman Bold" panose="02020603050405020304" charset="0"/>
                <a:ea typeface="微软雅黑" panose="020B0503020204020204" charset="-122"/>
                <a:cs typeface="Times New Roman Bold" panose="02020603050405020304" charset="0"/>
                <a:sym typeface="+mn-ea"/>
              </a:rPr>
              <a:t>Image and Symbol</a:t>
            </a:r>
            <a:r>
              <a:rPr lang="en-US" altLang="zh-CN" sz="3200" b="1" spc="200">
                <a:latin typeface="Times New Roman" panose="02020603050405020304" charset="0"/>
                <a:ea typeface="微软雅黑" panose="020B0503020204020204" charset="-122"/>
                <a:cs typeface="Times New Roman" panose="02020603050405020304" charset="0"/>
              </a:rPr>
              <a:t> </a:t>
            </a:r>
            <a:r>
              <a:rPr lang="en-US" altLang="zh-CN" sz="2400" b="1" spc="200">
                <a:latin typeface="Times New Roman" panose="02020603050405020304" charset="0"/>
                <a:ea typeface="微软雅黑" panose="020B0503020204020204" charset="-122"/>
                <a:cs typeface="Times New Roman" panose="02020603050405020304" charset="0"/>
              </a:rPr>
              <a:t>(non-formal system)</a:t>
            </a:r>
            <a:endParaRPr lang="en-US" altLang="zh-CN" sz="2400" b="1" spc="200">
              <a:latin typeface="Times New Roman" panose="02020603050405020304" charset="0"/>
              <a:ea typeface="微软雅黑" panose="020B0503020204020204" charset="-122"/>
              <a:cs typeface="Times New Roman" panose="02020603050405020304" charset="0"/>
            </a:endParaRPr>
          </a:p>
        </p:txBody>
      </p:sp>
      <p:pic>
        <p:nvPicPr>
          <p:cNvPr id="3" name="图片 2" descr="截屏2025-05-21 15.48.45"/>
          <p:cNvPicPr>
            <a:picLocks noChangeAspect="1"/>
          </p:cNvPicPr>
          <p:nvPr/>
        </p:nvPicPr>
        <p:blipFill>
          <a:blip r:embed="rId3"/>
          <a:stretch>
            <a:fillRect/>
          </a:stretch>
        </p:blipFill>
        <p:spPr>
          <a:xfrm>
            <a:off x="3315970" y="3651885"/>
            <a:ext cx="8436610" cy="2091055"/>
          </a:xfrm>
          <a:prstGeom prst="rect">
            <a:avLst/>
          </a:prstGeom>
        </p:spPr>
      </p:pic>
      <p:sp>
        <p:nvSpPr>
          <p:cNvPr id="4" name="文本框 3"/>
          <p:cNvSpPr txBox="1"/>
          <p:nvPr/>
        </p:nvSpPr>
        <p:spPr>
          <a:xfrm>
            <a:off x="9855200" y="3481070"/>
            <a:ext cx="2067560" cy="516890"/>
          </a:xfrm>
          <a:prstGeom prst="rect">
            <a:avLst/>
          </a:prstGeom>
          <a:noFill/>
        </p:spPr>
        <p:txBody>
          <a:bodyPr wrap="square" rtlCol="0" anchor="t">
            <a:noAutofit/>
          </a:bodyPr>
          <a:p>
            <a:pPr indent="0" algn="l">
              <a:lnSpc>
                <a:spcPct val="140000"/>
              </a:lnSpc>
              <a:buFont typeface="Arial" panose="020B0604020202090204" pitchFamily="34" charset="0"/>
              <a:buNone/>
            </a:pPr>
            <a:r>
              <a:rPr lang="en-US" sz="2000" b="1">
                <a:solidFill>
                  <a:schemeClr val="tx1"/>
                </a:solidFill>
                <a:latin typeface="Times New Roman Bold" panose="02020603050405020304" charset="0"/>
                <a:ea typeface="微软雅黑" panose="020B0503020204020204" charset="-122"/>
                <a:cs typeface="Times New Roman Bold" panose="02020603050405020304" charset="0"/>
                <a:sym typeface="+mn-ea"/>
              </a:rPr>
              <a:t>(42 respondents)</a:t>
            </a:r>
            <a:endParaRPr lang="en-US" sz="2000" b="1">
              <a:solidFill>
                <a:schemeClr val="tx1"/>
              </a:solidFill>
              <a:latin typeface="Times New Roman Bold" panose="02020603050405020304" charset="0"/>
              <a:ea typeface="微软雅黑" panose="020B0503020204020204" charset="-122"/>
              <a:cs typeface="Times New Roman Bold" panose="02020603050405020304" charset="0"/>
              <a:sym typeface="+mn-ea"/>
            </a:endParaRPr>
          </a:p>
        </p:txBody>
      </p:sp>
    </p:spTree>
    <p:custDataLst>
      <p:tags r:id="rId4"/>
    </p:custDataLst>
  </p:cSld>
  <p:clrMapOvr>
    <a:masterClrMapping/>
  </p:clrMapOvr>
  <p:transition advTm="58985"/>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文本框 14"/>
          <p:cNvSpPr txBox="1"/>
          <p:nvPr>
            <p:custDataLst>
              <p:tags r:id="rId1"/>
            </p:custDataLst>
          </p:nvPr>
        </p:nvSpPr>
        <p:spPr>
          <a:xfrm>
            <a:off x="803275" y="1048385"/>
            <a:ext cx="10633075" cy="2814320"/>
          </a:xfrm>
          <a:prstGeom prst="rect">
            <a:avLst/>
          </a:prstGeom>
        </p:spPr>
        <p:txBody>
          <a:bodyPr wrap="square">
            <a:noAutofit/>
            <a:extLst>
              <a:ext uri="{4A0BC546-FE56-4ADE-93B0-CB8AF2F6F144}">
                <wpsdc:textFrameExt xmlns:wpsdc="http://www.wps.cn/officeDocument/2022/drawingmlCustomData" type="text"/>
              </a:ext>
            </a:extLst>
          </a:bodyPr>
          <a:p>
            <a:pPr indent="0" algn="just" fontAlgn="auto">
              <a:lnSpc>
                <a:spcPct val="130000"/>
              </a:lnSpc>
              <a:buFont typeface="Arial" panose="020B0604020202090204" pitchFamily="34" charset="0"/>
              <a:buNone/>
            </a:pPr>
            <a:r>
              <a:rPr lang="en-US" sz="2000" b="1">
                <a:latin typeface="Times New Roman Bold" panose="02020603050405020304" charset="0"/>
                <a:ea typeface="宋体" charset="0"/>
                <a:cs typeface="Times New Roman Bold" panose="02020603050405020304" charset="0"/>
              </a:rPr>
              <a:t>TT1</a:t>
            </a:r>
            <a:r>
              <a:rPr lang="en-US" sz="2000">
                <a:latin typeface="Times New Roman Regular" panose="02020603050405020304" charset="0"/>
                <a:ea typeface="宋体" charset="0"/>
                <a:cs typeface="Times New Roman Regular" panose="02020603050405020304" charset="0"/>
              </a:rPr>
              <a:t>: </a:t>
            </a:r>
            <a:r>
              <a:rPr lang="en-US" sz="2000" u="sng">
                <a:ea typeface="宋体" charset="0"/>
              </a:rPr>
              <a:t>时光妒忌你，向</a:t>
            </a:r>
            <a:r>
              <a:rPr lang="en-US" sz="2000" u="sng">
                <a:solidFill>
                  <a:srgbClr val="FF0000"/>
                </a:solidFill>
                <a:ea typeface="宋体" charset="0"/>
              </a:rPr>
              <a:t>你脸上的百合花和玫瑰花</a:t>
            </a:r>
            <a:r>
              <a:rPr lang="en-US" sz="2000" u="sng">
                <a:ea typeface="宋体" charset="0"/>
              </a:rPr>
              <a:t>不断进攻</a:t>
            </a:r>
            <a:r>
              <a:rPr lang="en-US" sz="2000">
                <a:ea typeface="宋体" charset="0"/>
              </a:rPr>
              <a:t>。你的面色会发黄，两颊会凹陷，眼神会变暗。你会痛苦不堪…… </a:t>
            </a:r>
            <a:r>
              <a:rPr lang="en-US" sz="2000">
                <a:latin typeface="宋体" charset="0"/>
                <a:ea typeface="宋体" charset="0"/>
                <a:cs typeface="宋体" charset="0"/>
              </a:rPr>
              <a:t>	</a:t>
            </a:r>
            <a:endParaRPr lang="en-US" sz="2000">
              <a:latin typeface="宋体" charset="0"/>
              <a:ea typeface="宋体" charset="0"/>
              <a:cs typeface="宋体" charset="0"/>
            </a:endParaRPr>
          </a:p>
          <a:p>
            <a:pPr indent="0" algn="just" fontAlgn="auto">
              <a:lnSpc>
                <a:spcPct val="140000"/>
              </a:lnSpc>
              <a:buFont typeface="Arial" panose="020B0604020202090204" pitchFamily="34" charset="0"/>
              <a:buNone/>
            </a:pPr>
            <a:r>
              <a:rPr lang="en-US" sz="2000" b="1">
                <a:latin typeface="Times New Roman Bold" panose="02020603050405020304" charset="0"/>
                <a:ea typeface="宋体" charset="0"/>
                <a:cs typeface="Times New Roman Bold" panose="02020603050405020304" charset="0"/>
              </a:rPr>
              <a:t>TT2</a:t>
            </a:r>
            <a:r>
              <a:rPr lang="en-US" sz="2000">
                <a:latin typeface="Times New Roman Regular" panose="02020603050405020304" charset="0"/>
                <a:ea typeface="宋体" charset="0"/>
                <a:cs typeface="Times New Roman Regular" panose="02020603050405020304" charset="0"/>
              </a:rPr>
              <a:t>: </a:t>
            </a:r>
            <a:r>
              <a:rPr lang="en-US" sz="2000" u="sng">
                <a:latin typeface="宋体" charset="0"/>
                <a:ea typeface="宋体" charset="0"/>
                <a:cs typeface="宋体" charset="0"/>
              </a:rPr>
              <a:t>时间妒忌你，跟你的</a:t>
            </a:r>
            <a:r>
              <a:rPr lang="en-US" sz="2000" u="sng">
                <a:solidFill>
                  <a:srgbClr val="FF0000"/>
                </a:solidFill>
                <a:latin typeface="宋体" charset="0"/>
                <a:ea typeface="宋体" charset="0"/>
                <a:cs typeface="宋体" charset="0"/>
              </a:rPr>
              <a:t>美貌</a:t>
            </a:r>
            <a:r>
              <a:rPr lang="en-US" sz="2000" u="sng">
                <a:latin typeface="宋体" charset="0"/>
                <a:ea typeface="宋体" charset="0"/>
                <a:cs typeface="宋体" charset="0"/>
              </a:rPr>
              <a:t>作对</a:t>
            </a:r>
            <a:r>
              <a:rPr lang="en-US" sz="2000">
                <a:latin typeface="宋体" charset="0"/>
                <a:ea typeface="宋体" charset="0"/>
                <a:cs typeface="宋体" charset="0"/>
              </a:rPr>
              <a:t>。你会脸色灰黄，两颊下陷，目光迟钝。你会感到无限痛苦……		</a:t>
            </a:r>
            <a:endParaRPr lang="en-US" sz="2000">
              <a:latin typeface="宋体" charset="0"/>
              <a:ea typeface="宋体" charset="0"/>
              <a:cs typeface="宋体" charset="0"/>
            </a:endParaRPr>
          </a:p>
        </p:txBody>
      </p:sp>
      <p:sp>
        <p:nvSpPr>
          <p:cNvPr id="6" name="文本框 5"/>
          <p:cNvSpPr txBox="1"/>
          <p:nvPr>
            <p:custDataLst>
              <p:tags r:id="rId2"/>
            </p:custDataLst>
          </p:nvPr>
        </p:nvSpPr>
        <p:spPr>
          <a:xfrm>
            <a:off x="5251450" y="177800"/>
            <a:ext cx="6339840" cy="707390"/>
          </a:xfrm>
          <a:prstGeom prst="rect">
            <a:avLst/>
          </a:prstGeom>
          <a:ln w="19050">
            <a:solidFill>
              <a:schemeClr val="accent1"/>
            </a:solidFill>
          </a:ln>
        </p:spPr>
        <p:txBody>
          <a:bodyPr anchor="ctr" anchorCtr="0">
            <a:noAutofit/>
            <a:extLst>
              <a:ext uri="{4A0BC546-FE56-4ADE-93B0-CB8AF2F6F144}">
                <wpsdc:textFrameExt xmlns:wpsdc="http://www.wps.cn/officeDocument/2022/drawingmlCustomData" type="sub-title"/>
              </a:ext>
            </a:extLst>
          </a:bodyPr>
          <a:p>
            <a:pPr algn="ctr"/>
            <a:r>
              <a:rPr lang="en-US" sz="2800" b="1">
                <a:latin typeface="Times New Roman Bold" panose="02020603050405020304" charset="0"/>
                <a:ea typeface="微软雅黑" panose="020B0503020204020204" charset="-122"/>
                <a:cs typeface="Times New Roman Bold" panose="02020603050405020304" charset="0"/>
                <a:sym typeface="+mn-ea"/>
              </a:rPr>
              <a:t>Image and Symbol</a:t>
            </a:r>
            <a:r>
              <a:rPr lang="en-US" altLang="zh-CN" sz="3200" b="1" spc="200">
                <a:latin typeface="Times New Roman" panose="02020603050405020304" charset="0"/>
                <a:ea typeface="微软雅黑" panose="020B0503020204020204" charset="-122"/>
                <a:cs typeface="Times New Roman" panose="02020603050405020304" charset="0"/>
              </a:rPr>
              <a:t> </a:t>
            </a:r>
            <a:r>
              <a:rPr lang="en-US" altLang="zh-CN" sz="2400" b="1" spc="200">
                <a:latin typeface="Times New Roman" panose="02020603050405020304" charset="0"/>
                <a:ea typeface="微软雅黑" panose="020B0503020204020204" charset="-122"/>
                <a:cs typeface="Times New Roman" panose="02020603050405020304" charset="0"/>
              </a:rPr>
              <a:t>(non-formal system)</a:t>
            </a:r>
            <a:endParaRPr lang="en-US" altLang="zh-CN" sz="2400" b="1" spc="200">
              <a:latin typeface="Times New Roman" panose="02020603050405020304" charset="0"/>
              <a:ea typeface="微软雅黑" panose="020B0503020204020204" charset="-122"/>
              <a:cs typeface="Times New Roman" panose="02020603050405020304" charset="0"/>
            </a:endParaRPr>
          </a:p>
        </p:txBody>
      </p:sp>
      <p:pic>
        <p:nvPicPr>
          <p:cNvPr id="2" name="图片 1" descr="截屏2025-05-21 15.50.09"/>
          <p:cNvPicPr>
            <a:picLocks noChangeAspect="1"/>
          </p:cNvPicPr>
          <p:nvPr/>
        </p:nvPicPr>
        <p:blipFill>
          <a:blip r:embed="rId3"/>
          <a:stretch>
            <a:fillRect/>
          </a:stretch>
        </p:blipFill>
        <p:spPr>
          <a:xfrm>
            <a:off x="803275" y="2768600"/>
            <a:ext cx="8788400" cy="4089400"/>
          </a:xfrm>
          <a:prstGeom prst="rect">
            <a:avLst/>
          </a:prstGeom>
        </p:spPr>
      </p:pic>
      <p:sp>
        <p:nvSpPr>
          <p:cNvPr id="7" name="文本框 6"/>
          <p:cNvSpPr txBox="1"/>
          <p:nvPr/>
        </p:nvSpPr>
        <p:spPr>
          <a:xfrm>
            <a:off x="9591675" y="2768600"/>
            <a:ext cx="2600325" cy="2814955"/>
          </a:xfrm>
          <a:prstGeom prst="rect">
            <a:avLst/>
          </a:prstGeom>
          <a:noFill/>
        </p:spPr>
        <p:txBody>
          <a:bodyPr wrap="square" rtlCol="0" anchor="t">
            <a:noAutofit/>
          </a:bodyPr>
          <a:p>
            <a:pPr indent="0" algn="l">
              <a:lnSpc>
                <a:spcPct val="140000"/>
              </a:lnSpc>
              <a:buFont typeface="Arial" panose="020B0604020202090204" pitchFamily="34" charset="0"/>
              <a:buNone/>
            </a:pPr>
            <a:endParaRPr lang="en-US" sz="2400" b="1">
              <a:solidFill>
                <a:schemeClr val="tx1"/>
              </a:solidFill>
              <a:latin typeface="Times New Roman Bold" panose="02020603050405020304" charset="0"/>
              <a:ea typeface="微软雅黑" panose="020B0503020204020204" charset="-122"/>
              <a:cs typeface="Times New Roman Bold" panose="02020603050405020304" charset="0"/>
              <a:sym typeface="+mn-ea"/>
            </a:endParaRPr>
          </a:p>
          <a:p>
            <a:pPr indent="0" algn="l">
              <a:lnSpc>
                <a:spcPct val="140000"/>
              </a:lnSpc>
              <a:buFont typeface="Arial" panose="020B0604020202090204" pitchFamily="34" charset="0"/>
              <a:buNone/>
            </a:pPr>
            <a:r>
              <a:rPr lang="en-US" sz="2400" b="1">
                <a:solidFill>
                  <a:schemeClr val="tx1"/>
                </a:solidFill>
                <a:latin typeface="Times New Roman Bold" panose="02020603050405020304" charset="0"/>
                <a:ea typeface="微软雅黑" panose="020B0503020204020204" charset="-122"/>
                <a:cs typeface="Times New Roman Bold" panose="02020603050405020304" charset="0"/>
                <a:sym typeface="+mn-ea"/>
              </a:rPr>
              <a:t>(42 respondents)</a:t>
            </a:r>
            <a:endParaRPr lang="en-US" sz="2400" b="1">
              <a:solidFill>
                <a:schemeClr val="tx1"/>
              </a:solidFill>
              <a:latin typeface="Times New Roman Bold" panose="02020603050405020304" charset="0"/>
              <a:ea typeface="微软雅黑" panose="020B0503020204020204" charset="-122"/>
              <a:cs typeface="Times New Roman Bold" panose="02020603050405020304" charset="0"/>
              <a:sym typeface="+mn-ea"/>
            </a:endParaRPr>
          </a:p>
          <a:p>
            <a:pPr indent="0" algn="l">
              <a:lnSpc>
                <a:spcPct val="140000"/>
              </a:lnSpc>
              <a:buFont typeface="Arial" panose="020B0604020202090204" pitchFamily="34" charset="0"/>
              <a:buNone/>
            </a:pPr>
            <a:endParaRPr lang="en-US" sz="2400" b="1">
              <a:solidFill>
                <a:schemeClr val="tx1"/>
              </a:solidFill>
              <a:latin typeface="Times New Roman Bold" panose="02020603050405020304" charset="0"/>
              <a:ea typeface="微软雅黑" panose="020B0503020204020204" charset="-122"/>
              <a:cs typeface="Times New Roman Bold" panose="02020603050405020304" charset="0"/>
              <a:sym typeface="+mn-ea"/>
            </a:endParaRPr>
          </a:p>
          <a:p>
            <a:pPr indent="0" algn="l">
              <a:lnSpc>
                <a:spcPct val="140000"/>
              </a:lnSpc>
              <a:buFont typeface="Arial" panose="020B0604020202090204" pitchFamily="34" charset="0"/>
              <a:buNone/>
            </a:pPr>
            <a:r>
              <a:rPr lang="en-US" sz="2400">
                <a:solidFill>
                  <a:schemeClr val="tx1"/>
                </a:solidFill>
                <a:latin typeface="Times New Roman" panose="02020603050405020304" charset="0"/>
                <a:ea typeface="微软雅黑" panose="020B0503020204020204" charset="-122"/>
                <a:cs typeface="Times New Roman" panose="02020603050405020304" charset="0"/>
                <a:sym typeface="+mn-ea"/>
              </a:rPr>
              <a:t>35.72% prefer TT1</a:t>
            </a:r>
            <a:endParaRPr lang="en-US" sz="2400">
              <a:solidFill>
                <a:schemeClr val="tx1"/>
              </a:solidFill>
              <a:latin typeface="Times New Roman" panose="02020603050405020304" charset="0"/>
              <a:ea typeface="微软雅黑" panose="020B0503020204020204" charset="-122"/>
              <a:cs typeface="Times New Roman" panose="02020603050405020304" charset="0"/>
              <a:sym typeface="+mn-ea"/>
            </a:endParaRPr>
          </a:p>
          <a:p>
            <a:pPr indent="0" algn="l">
              <a:lnSpc>
                <a:spcPct val="140000"/>
              </a:lnSpc>
              <a:buFont typeface="Arial" panose="020B0604020202090204" pitchFamily="34" charset="0"/>
              <a:buNone/>
            </a:pPr>
            <a:r>
              <a:rPr lang="en-US" sz="2400">
                <a:solidFill>
                  <a:srgbClr val="FF0000"/>
                </a:solidFill>
                <a:latin typeface="Times New Roman" panose="02020603050405020304" charset="0"/>
                <a:ea typeface="微软雅黑" panose="020B0503020204020204" charset="-122"/>
                <a:cs typeface="Times New Roman" panose="02020603050405020304" charset="0"/>
                <a:sym typeface="+mn-ea"/>
              </a:rPr>
              <a:t>64.28% </a:t>
            </a:r>
            <a:r>
              <a:rPr lang="en-US" sz="2400">
                <a:solidFill>
                  <a:schemeClr val="tx1"/>
                </a:solidFill>
                <a:latin typeface="Times New Roman" panose="02020603050405020304" charset="0"/>
                <a:ea typeface="微软雅黑" panose="020B0503020204020204" charset="-122"/>
                <a:cs typeface="Times New Roman" panose="02020603050405020304" charset="0"/>
                <a:sym typeface="+mn-ea"/>
              </a:rPr>
              <a:t>prefer TT2</a:t>
            </a:r>
            <a:endParaRPr lang="en-US" sz="2400">
              <a:solidFill>
                <a:schemeClr val="tx1"/>
              </a:solidFill>
              <a:latin typeface="Times New Roman" panose="02020603050405020304" charset="0"/>
              <a:ea typeface="微软雅黑" panose="020B0503020204020204" charset="-122"/>
              <a:cs typeface="Times New Roman" panose="02020603050405020304" charset="0"/>
              <a:sym typeface="+mn-ea"/>
            </a:endParaRPr>
          </a:p>
        </p:txBody>
      </p:sp>
    </p:spTree>
    <p:custDataLst>
      <p:tags r:id="rId4"/>
    </p:custDataLst>
  </p:cSld>
  <p:clrMapOvr>
    <a:masterClrMapping/>
  </p:clrMapOvr>
  <p:transition advTm="48556"/>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custDataLst>
              <p:tags r:id="rId1"/>
            </p:custDataLst>
          </p:nvPr>
        </p:nvSpPr>
        <p:spPr>
          <a:xfrm>
            <a:off x="668020" y="760095"/>
            <a:ext cx="10746105" cy="5846445"/>
          </a:xfrm>
          <a:prstGeom prst="rect">
            <a:avLst/>
          </a:prstGeom>
        </p:spPr>
        <p:txBody>
          <a:bodyPr wrap="square">
            <a:spAutoFit/>
            <a:extLst>
              <a:ext uri="{4A0BC546-FE56-4ADE-93B0-CB8AF2F6F144}">
                <wpsdc:textFrameExt xmlns:wpsdc="http://www.wps.cn/officeDocument/2022/drawingmlCustomData" type="text"/>
              </a:ext>
            </a:extLst>
          </a:bodyPr>
          <a:p>
            <a:pPr indent="0" algn="just" fontAlgn="auto">
              <a:lnSpc>
                <a:spcPct val="130000"/>
              </a:lnSpc>
              <a:buFont typeface="Arial" panose="020B0604020202090204" pitchFamily="34" charset="0"/>
              <a:buNone/>
            </a:pPr>
            <a:r>
              <a:rPr lang="en-US" sz="2400" b="1">
                <a:latin typeface="Times New Roman Bold" panose="02020603050405020304" charset="0"/>
                <a:ea typeface="微软雅黑" panose="020B0503020204020204" charset="-122"/>
                <a:cs typeface="Times New Roman Bold" panose="02020603050405020304" charset="0"/>
                <a:sym typeface="+mn-ea"/>
              </a:rPr>
              <a:t>In the formal system:</a:t>
            </a:r>
            <a:endParaRPr lang="en-US" sz="2400" b="1">
              <a:latin typeface="Times New Roman Bold" panose="02020603050405020304" charset="0"/>
              <a:ea typeface="微软雅黑" panose="020B0503020204020204" charset="-122"/>
              <a:cs typeface="Times New Roman Bold" panose="02020603050405020304" charset="0"/>
              <a:sym typeface="+mn-ea"/>
            </a:endParaRPr>
          </a:p>
          <a:p>
            <a:pPr marL="342900" indent="-342900" algn="just" fontAlgn="auto">
              <a:lnSpc>
                <a:spcPct val="130000"/>
              </a:lnSpc>
              <a:buFont typeface="Arial" panose="020B0604020202090204" pitchFamily="34" charset="0"/>
              <a:buChar char="•"/>
            </a:pPr>
            <a:r>
              <a:rPr lang="en-US" sz="2400">
                <a:latin typeface="Times New Roman" panose="02020603050405020304" charset="0"/>
                <a:ea typeface="微软雅黑" panose="020B0503020204020204" charset="-122"/>
                <a:cs typeface="Times New Roman" panose="02020603050405020304" charset="0"/>
                <a:sym typeface="+mn-ea"/>
              </a:rPr>
              <a:t>At the phonetic level, Huang Yuanshen’s translation uses short clauses to effectively reproduce the fast rhythm of the ST, whereas Rong Rude’s use of four-Chinese-character structures, reduplication, and end-rhyme better reproduces the ST’s beauty of sound. Survey results indicate that Rong’s version is perceived as more beautiful in rhyme and rhythm.</a:t>
            </a:r>
            <a:endParaRPr lang="en-US" sz="2400">
              <a:latin typeface="Times New Roman" panose="02020603050405020304" charset="0"/>
              <a:ea typeface="微软雅黑" panose="020B0503020204020204" charset="-122"/>
              <a:cs typeface="Times New Roman" panose="02020603050405020304" charset="0"/>
              <a:sym typeface="+mn-ea"/>
            </a:endParaRPr>
          </a:p>
          <a:p>
            <a:pPr marL="342900" indent="-342900" algn="just" fontAlgn="auto">
              <a:lnSpc>
                <a:spcPct val="130000"/>
              </a:lnSpc>
              <a:buFont typeface="Arial" panose="020B0604020202090204" pitchFamily="34" charset="0"/>
              <a:buChar char="•"/>
            </a:pPr>
            <a:r>
              <a:rPr lang="en-US" sz="2400">
                <a:latin typeface="Times New Roman" panose="02020603050405020304" charset="0"/>
                <a:ea typeface="微软雅黑" panose="020B0503020204020204" charset="-122"/>
                <a:cs typeface="Times New Roman" panose="02020603050405020304" charset="0"/>
                <a:sym typeface="+mn-ea"/>
              </a:rPr>
              <a:t>At the lexical level, Rong’s translation better reproduces the ST’s refined diction and colloquial dialogue. Huang’s concise language and balanced phrasing more effectively reproduce the humour of the ST, making his version more popular among the respondents. </a:t>
            </a:r>
            <a:endParaRPr lang="en-US" sz="2400">
              <a:latin typeface="Times New Roman" panose="02020603050405020304" charset="0"/>
              <a:ea typeface="微软雅黑" panose="020B0503020204020204" charset="-122"/>
              <a:cs typeface="Times New Roman" panose="02020603050405020304" charset="0"/>
              <a:sym typeface="+mn-ea"/>
            </a:endParaRPr>
          </a:p>
          <a:p>
            <a:pPr marL="342900" indent="-342900" algn="just" fontAlgn="auto">
              <a:lnSpc>
                <a:spcPct val="130000"/>
              </a:lnSpc>
              <a:buFont typeface="Arial" panose="020B0604020202090204" pitchFamily="34" charset="0"/>
              <a:buChar char="•"/>
            </a:pPr>
            <a:r>
              <a:rPr lang="en-US" sz="2400">
                <a:latin typeface="Times New Roman" panose="02020603050405020304" charset="0"/>
                <a:ea typeface="微软雅黑" panose="020B0503020204020204" charset="-122"/>
                <a:cs typeface="Times New Roman" panose="02020603050405020304" charset="0"/>
                <a:sym typeface="+mn-ea"/>
              </a:rPr>
              <a:t>At the syntactic and paragraph level, Huang’s structured and balanced syntax more effectively reproduces the beauty of the ST, and is preferred by the respondents.</a:t>
            </a:r>
            <a:endParaRPr lang="en-US" sz="2400">
              <a:latin typeface="Times New Roman" panose="02020603050405020304" charset="0"/>
              <a:ea typeface="微软雅黑" panose="020B0503020204020204" charset="-122"/>
              <a:cs typeface="Times New Roman" panose="02020603050405020304" charset="0"/>
              <a:sym typeface="+mn-ea"/>
            </a:endParaRPr>
          </a:p>
        </p:txBody>
      </p:sp>
      <p:sp>
        <p:nvSpPr>
          <p:cNvPr id="2" name="圆角矩形 1"/>
          <p:cNvSpPr/>
          <p:nvPr/>
        </p:nvSpPr>
        <p:spPr>
          <a:xfrm>
            <a:off x="8375015" y="259080"/>
            <a:ext cx="3039110" cy="91503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200" b="1" spc="200">
                <a:latin typeface="Times New Roman Bold" panose="02020603050405020304" charset="0"/>
                <a:ea typeface="微软雅黑" panose="020B0503020204020204" charset="-122"/>
                <a:cs typeface="Times New Roman Bold" panose="02020603050405020304" charset="0"/>
                <a:sym typeface="+mn-ea"/>
              </a:rPr>
              <a:t>K</a:t>
            </a:r>
            <a:r>
              <a:rPr lang="zh-CN" altLang="en-US" sz="3200" b="1" spc="200">
                <a:latin typeface="Times New Roman Bold" panose="02020603050405020304" charset="0"/>
                <a:ea typeface="微软雅黑" panose="020B0503020204020204" charset="-122"/>
                <a:cs typeface="Times New Roman Bold" panose="02020603050405020304" charset="0"/>
                <a:sym typeface="+mn-ea"/>
              </a:rPr>
              <a:t>ey </a:t>
            </a:r>
            <a:r>
              <a:rPr lang="en-US" altLang="zh-CN" sz="3200" b="1" spc="200">
                <a:latin typeface="Times New Roman Bold" panose="02020603050405020304" charset="0"/>
                <a:ea typeface="微软雅黑" panose="020B0503020204020204" charset="-122"/>
                <a:cs typeface="Times New Roman Bold" panose="02020603050405020304" charset="0"/>
                <a:sym typeface="+mn-ea"/>
              </a:rPr>
              <a:t>F</a:t>
            </a:r>
            <a:r>
              <a:rPr lang="zh-CN" altLang="en-US" sz="3200" b="1" spc="200">
                <a:latin typeface="Times New Roman Bold" panose="02020603050405020304" charset="0"/>
                <a:ea typeface="微软雅黑" panose="020B0503020204020204" charset="-122"/>
                <a:cs typeface="Times New Roman Bold" panose="02020603050405020304" charset="0"/>
                <a:sym typeface="+mn-ea"/>
              </a:rPr>
              <a:t>indings</a:t>
            </a:r>
            <a:endParaRPr lang="zh-CN" altLang="en-US" sz="3200" b="1" spc="200">
              <a:latin typeface="Times New Roman Bold" panose="02020603050405020304" charset="0"/>
              <a:ea typeface="微软雅黑" panose="020B0503020204020204" charset="-122"/>
              <a:cs typeface="Times New Roman Bold" panose="02020603050405020304" charset="0"/>
              <a:sym typeface="+mn-ea"/>
            </a:endParaRPr>
          </a:p>
        </p:txBody>
      </p:sp>
    </p:spTree>
    <p:custDataLst>
      <p:tags r:id="rId2"/>
    </p:custDataLst>
  </p:cSld>
  <p:clrMapOvr>
    <a:masterClrMapping/>
  </p:clrMapOvr>
  <p:transition advTm="41235"/>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custDataLst>
              <p:tags r:id="rId1"/>
            </p:custDataLst>
          </p:nvPr>
        </p:nvSpPr>
        <p:spPr>
          <a:xfrm>
            <a:off x="732155" y="967105"/>
            <a:ext cx="10746105" cy="4523105"/>
          </a:xfrm>
          <a:prstGeom prst="rect">
            <a:avLst/>
          </a:prstGeom>
        </p:spPr>
        <p:txBody>
          <a:bodyPr wrap="square">
            <a:spAutoFit/>
            <a:extLst>
              <a:ext uri="{4A0BC546-FE56-4ADE-93B0-CB8AF2F6F144}">
                <wpsdc:textFrameExt xmlns:wpsdc="http://www.wps.cn/officeDocument/2022/drawingmlCustomData" type="text"/>
              </a:ext>
            </a:extLst>
          </a:bodyPr>
          <a:p>
            <a:pPr indent="0" algn="just" fontAlgn="auto">
              <a:lnSpc>
                <a:spcPct val="150000"/>
              </a:lnSpc>
              <a:buFont typeface="Arial" panose="020B0604020202090204" pitchFamily="34" charset="0"/>
              <a:buNone/>
            </a:pPr>
            <a:r>
              <a:rPr lang="en-US" sz="2400" b="1">
                <a:latin typeface="Times New Roman Bold" panose="02020603050405020304" charset="0"/>
                <a:ea typeface="微软雅黑" panose="020B0503020204020204" charset="-122"/>
                <a:cs typeface="Times New Roman Bold" panose="02020603050405020304" charset="0"/>
                <a:sym typeface="+mn-ea"/>
              </a:rPr>
              <a:t>In the non-formal system:</a:t>
            </a:r>
            <a:endParaRPr lang="en-US" sz="2400" b="1">
              <a:latin typeface="Times New Roman Bold" panose="02020603050405020304" charset="0"/>
              <a:ea typeface="微软雅黑" panose="020B0503020204020204" charset="-122"/>
              <a:cs typeface="Times New Roman Bold" panose="02020603050405020304" charset="0"/>
              <a:sym typeface="+mn-ea"/>
            </a:endParaRPr>
          </a:p>
          <a:p>
            <a:pPr marL="342900" indent="-342900" algn="just" fontAlgn="auto">
              <a:lnSpc>
                <a:spcPct val="150000"/>
              </a:lnSpc>
              <a:buFont typeface="Arial" panose="020B0604020202090204" pitchFamily="34" charset="0"/>
              <a:buChar char="•"/>
            </a:pPr>
            <a:r>
              <a:rPr lang="en-US" sz="2400">
                <a:latin typeface="Times New Roman" panose="02020603050405020304" charset="0"/>
                <a:ea typeface="微软雅黑" panose="020B0503020204020204" charset="-122"/>
                <a:cs typeface="Times New Roman" panose="02020603050405020304" charset="0"/>
                <a:sym typeface="+mn-ea"/>
              </a:rPr>
              <a:t>The excessive length of certain expressions in Rong’s translation impairs readability and weakens emotional expression. Regarding the aesthetic representation of the ST’s images and symbols, literal translations may result in a loss of their symbolic beauty and even cause misunderstanding. The survey result indicates that the respondents prefer translations that employ vivid, refined language or adopt a free translation method to represent the original symbolism, rather than those that use a literal translation method.</a:t>
            </a:r>
            <a:endParaRPr lang="en-US" sz="2400">
              <a:latin typeface="Times New Roman" panose="02020603050405020304" charset="0"/>
              <a:ea typeface="微软雅黑" panose="020B0503020204020204" charset="-122"/>
              <a:cs typeface="Times New Roman" panose="02020603050405020304" charset="0"/>
              <a:sym typeface="+mn-ea"/>
            </a:endParaRPr>
          </a:p>
        </p:txBody>
      </p:sp>
      <p:sp>
        <p:nvSpPr>
          <p:cNvPr id="2" name="圆角矩形 1"/>
          <p:cNvSpPr/>
          <p:nvPr/>
        </p:nvSpPr>
        <p:spPr>
          <a:xfrm>
            <a:off x="8375015" y="259080"/>
            <a:ext cx="3039110" cy="91503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3200" b="1" spc="200">
                <a:latin typeface="Times New Roman Bold" panose="02020603050405020304" charset="0"/>
                <a:ea typeface="微软雅黑" panose="020B0503020204020204" charset="-122"/>
                <a:cs typeface="Times New Roman Bold" panose="02020603050405020304" charset="0"/>
                <a:sym typeface="+mn-ea"/>
              </a:rPr>
              <a:t>K</a:t>
            </a:r>
            <a:r>
              <a:rPr lang="zh-CN" altLang="en-US" sz="3200" b="1" spc="200">
                <a:latin typeface="Times New Roman Bold" panose="02020603050405020304" charset="0"/>
                <a:ea typeface="微软雅黑" panose="020B0503020204020204" charset="-122"/>
                <a:cs typeface="Times New Roman Bold" panose="02020603050405020304" charset="0"/>
                <a:sym typeface="+mn-ea"/>
              </a:rPr>
              <a:t>ey </a:t>
            </a:r>
            <a:r>
              <a:rPr lang="en-US" altLang="zh-CN" sz="3200" b="1" spc="200">
                <a:latin typeface="Times New Roman Bold" panose="02020603050405020304" charset="0"/>
                <a:ea typeface="微软雅黑" panose="020B0503020204020204" charset="-122"/>
                <a:cs typeface="Times New Roman Bold" panose="02020603050405020304" charset="0"/>
                <a:sym typeface="+mn-ea"/>
              </a:rPr>
              <a:t>F</a:t>
            </a:r>
            <a:r>
              <a:rPr lang="zh-CN" altLang="en-US" sz="3200" b="1" spc="200">
                <a:latin typeface="Times New Roman Bold" panose="02020603050405020304" charset="0"/>
                <a:ea typeface="微软雅黑" panose="020B0503020204020204" charset="-122"/>
                <a:cs typeface="Times New Roman Bold" panose="02020603050405020304" charset="0"/>
                <a:sym typeface="+mn-ea"/>
              </a:rPr>
              <a:t>indings</a:t>
            </a:r>
            <a:endParaRPr lang="zh-CN" altLang="en-US" sz="3200" b="1" spc="200">
              <a:latin typeface="Times New Roman Bold" panose="02020603050405020304" charset="0"/>
              <a:ea typeface="微软雅黑" panose="020B0503020204020204" charset="-122"/>
              <a:cs typeface="Times New Roman Bold" panose="02020603050405020304" charset="0"/>
              <a:sym typeface="+mn-ea"/>
            </a:endParaRPr>
          </a:p>
        </p:txBody>
      </p:sp>
    </p:spTree>
    <p:custDataLst>
      <p:tags r:id="rId2"/>
    </p:custDataLst>
  </p:cSld>
  <p:clrMapOvr>
    <a:masterClrMapping/>
  </p:clrMapOvr>
  <p:transition advTm="32315"/>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userDrawn="1">
            <p:custDataLst>
              <p:tags r:id="rId1"/>
            </p:custDataLst>
          </p:nvPr>
        </p:nvSpPr>
        <p:spPr>
          <a:xfrm>
            <a:off x="1" y="6004875"/>
            <a:ext cx="12191999" cy="707886"/>
          </a:xfrm>
          <a:prstGeom prst="rect">
            <a:avLst/>
          </a:prstGeom>
          <a:noFill/>
        </p:spPr>
        <p:txBody>
          <a:bodyPr wrap="square" rtlCol="0">
            <a:spAutoFit/>
          </a:bodyPr>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
        <p:nvSpPr>
          <p:cNvPr id="2" name="文本框 1"/>
          <p:cNvSpPr txBox="1"/>
          <p:nvPr>
            <p:custDataLst>
              <p:tags r:id="rId2"/>
            </p:custDataLst>
          </p:nvPr>
        </p:nvSpPr>
        <p:spPr>
          <a:xfrm>
            <a:off x="732075" y="860380"/>
            <a:ext cx="6096000" cy="583565"/>
          </a:xfrm>
          <a:prstGeom prst="rect">
            <a:avLst/>
          </a:prstGeom>
        </p:spPr>
        <p:txBody>
          <a:bodyPr>
            <a:spAutoFit/>
            <a:extLst>
              <a:ext uri="{4A0BC546-FE56-4ADE-93B0-CB8AF2F6F144}">
                <wpsdc:textFrameExt xmlns:wpsdc="http://www.wps.cn/officeDocument/2022/drawingmlCustomData" type="sub-title"/>
              </a:ext>
            </a:extLst>
          </a:bodyPr>
          <a:p>
            <a:pPr algn="l"/>
            <a:r>
              <a:rPr lang="en-US" sz="3200" b="1" spc="200">
                <a:latin typeface="Times New Roman" panose="02020603050405020304" charset="0"/>
                <a:ea typeface="微软雅黑" panose="020B0503020204020204" charset="-122"/>
                <a:cs typeface="Times New Roman" panose="02020603050405020304" charset="0"/>
              </a:rPr>
              <a:t>References</a:t>
            </a:r>
            <a:endParaRPr lang="en-US" sz="3200" b="1" spc="200">
              <a:latin typeface="Times New Roman" panose="02020603050405020304" charset="0"/>
              <a:ea typeface="微软雅黑" panose="020B0503020204020204" charset="-122"/>
              <a:cs typeface="Times New Roman" panose="02020603050405020304" charset="0"/>
            </a:endParaRPr>
          </a:p>
        </p:txBody>
      </p:sp>
      <p:sp>
        <p:nvSpPr>
          <p:cNvPr id="11" name="文本框 10"/>
          <p:cNvSpPr txBox="1"/>
          <p:nvPr>
            <p:custDataLst>
              <p:tags r:id="rId3"/>
            </p:custDataLst>
          </p:nvPr>
        </p:nvSpPr>
        <p:spPr>
          <a:xfrm>
            <a:off x="732155" y="1443990"/>
            <a:ext cx="10746105" cy="4707890"/>
          </a:xfrm>
          <a:prstGeom prst="rect">
            <a:avLst/>
          </a:prstGeom>
        </p:spPr>
        <p:txBody>
          <a:bodyPr wrap="square">
            <a:spAutoFit/>
            <a:extLst>
              <a:ext uri="{4A0BC546-FE56-4ADE-93B0-CB8AF2F6F144}">
                <wpsdc:textFrameExt xmlns:wpsdc="http://www.wps.cn/officeDocument/2022/drawingmlCustomData" type="text"/>
              </a:ext>
            </a:extLst>
          </a:bodyPr>
          <a:p>
            <a:pPr algn="just"/>
            <a:r>
              <a:rPr sz="2000">
                <a:latin typeface="Times New Roman" panose="02020603050405020304" charset="0"/>
                <a:ea typeface="微软雅黑" panose="020B0503020204020204" charset="-122"/>
                <a:cs typeface="Times New Roman" panose="02020603050405020304" charset="0"/>
              </a:rPr>
              <a:t>[1]Huang, F. R. Translation aesthetics in children’s literature [J]. T</a:t>
            </a:r>
            <a:r>
              <a:rPr sz="2000" i="1">
                <a:latin typeface="Times New Roman Italic" panose="02020603050405020304" charset="0"/>
                <a:ea typeface="微软雅黑" panose="020B0503020204020204" charset="-122"/>
                <a:cs typeface="Times New Roman Italic" panose="02020603050405020304" charset="0"/>
              </a:rPr>
              <a:t>heory and Practice in Language Studies</a:t>
            </a:r>
            <a:r>
              <a:rPr sz="2000">
                <a:latin typeface="Times New Roman" panose="02020603050405020304" charset="0"/>
                <a:ea typeface="微软雅黑" panose="020B0503020204020204" charset="-122"/>
                <a:cs typeface="Times New Roman" panose="02020603050405020304" charset="0"/>
              </a:rPr>
              <a:t>, 2017, (7): 1327-1332.</a:t>
            </a:r>
            <a:endParaRPr sz="2000">
              <a:latin typeface="Times New Roman" panose="02020603050405020304" charset="0"/>
              <a:ea typeface="微软雅黑" panose="020B0503020204020204" charset="-122"/>
              <a:cs typeface="Times New Roman" panose="02020603050405020304" charset="0"/>
            </a:endParaRPr>
          </a:p>
          <a:p>
            <a:pPr algn="just"/>
            <a:r>
              <a:rPr sz="2000">
                <a:latin typeface="Times New Roman" panose="02020603050405020304" charset="0"/>
                <a:ea typeface="微软雅黑" panose="020B0503020204020204" charset="-122"/>
                <a:cs typeface="Times New Roman" panose="02020603050405020304" charset="0"/>
              </a:rPr>
              <a:t>[2]Jawad, H. A. Sound symbolism, schemes &amp; literary translation [J]. </a:t>
            </a:r>
            <a:r>
              <a:rPr sz="2000" i="1">
                <a:latin typeface="Times New Roman Italic" panose="02020603050405020304" charset="0"/>
                <a:ea typeface="微软雅黑" panose="020B0503020204020204" charset="-122"/>
                <a:cs typeface="Times New Roman Italic" panose="02020603050405020304" charset="0"/>
              </a:rPr>
              <a:t>Babel</a:t>
            </a:r>
            <a:r>
              <a:rPr sz="2000">
                <a:latin typeface="Times New Roman" panose="02020603050405020304" charset="0"/>
                <a:ea typeface="微软雅黑" panose="020B0503020204020204" charset="-122"/>
                <a:cs typeface="Times New Roman" panose="02020603050405020304" charset="0"/>
              </a:rPr>
              <a:t>, 2010, (1): 47-63.</a:t>
            </a:r>
            <a:endParaRPr sz="2000">
              <a:latin typeface="Times New Roman" panose="02020603050405020304" charset="0"/>
              <a:ea typeface="微软雅黑" panose="020B0503020204020204" charset="-122"/>
              <a:cs typeface="Times New Roman" panose="02020603050405020304" charset="0"/>
            </a:endParaRPr>
          </a:p>
          <a:p>
            <a:pPr algn="just"/>
            <a:r>
              <a:rPr sz="2000">
                <a:latin typeface="Times New Roman" panose="02020603050405020304" charset="0"/>
                <a:ea typeface="微软雅黑" panose="020B0503020204020204" charset="-122"/>
                <a:cs typeface="Times New Roman" panose="02020603050405020304" charset="0"/>
              </a:rPr>
              <a:t>[3]Keinänen, N. M. Receptive aesthetic criteria: Reader comparisons of two Finnish translations of Hamlet [J]. </a:t>
            </a:r>
            <a:r>
              <a:rPr sz="2000" i="1">
                <a:latin typeface="Times New Roman Italic" panose="02020603050405020304" charset="0"/>
                <a:ea typeface="微软雅黑" panose="020B0503020204020204" charset="-122"/>
                <a:cs typeface="Times New Roman Italic" panose="02020603050405020304" charset="0"/>
              </a:rPr>
              <a:t>Multicultural Shakespeare: Translation, Appropriation and Performance,</a:t>
            </a:r>
            <a:r>
              <a:rPr sz="2000">
                <a:latin typeface="Times New Roman" panose="02020603050405020304" charset="0"/>
                <a:ea typeface="微软雅黑" panose="020B0503020204020204" charset="-122"/>
                <a:cs typeface="Times New Roman" panose="02020603050405020304" charset="0"/>
              </a:rPr>
              <a:t> 2018, (1): 23-42.</a:t>
            </a:r>
            <a:endParaRPr sz="2000">
              <a:latin typeface="Times New Roman" panose="02020603050405020304" charset="0"/>
              <a:ea typeface="微软雅黑" panose="020B0503020204020204" charset="-122"/>
              <a:cs typeface="Times New Roman" panose="02020603050405020304" charset="0"/>
            </a:endParaRPr>
          </a:p>
          <a:p>
            <a:pPr algn="just"/>
            <a:r>
              <a:rPr sz="2000">
                <a:latin typeface="Times New Roman" panose="02020603050405020304" charset="0"/>
                <a:ea typeface="微软雅黑" panose="020B0503020204020204" charset="-122"/>
                <a:cs typeface="Times New Roman" panose="02020603050405020304" charset="0"/>
              </a:rPr>
              <a:t>[4]Kwok, V. Ethics and aesthetics are one Creative literary translation in the post-modern world [J]. </a:t>
            </a:r>
            <a:r>
              <a:rPr sz="2000" i="1">
                <a:latin typeface="Times New Roman Italic" panose="02020603050405020304" charset="0"/>
                <a:ea typeface="微软雅黑" panose="020B0503020204020204" charset="-122"/>
                <a:cs typeface="Times New Roman Italic" panose="02020603050405020304" charset="0"/>
              </a:rPr>
              <a:t>Babel</a:t>
            </a:r>
            <a:r>
              <a:rPr sz="2000">
                <a:latin typeface="Times New Roman" panose="02020603050405020304" charset="0"/>
                <a:ea typeface="微软雅黑" panose="020B0503020204020204" charset="-122"/>
                <a:cs typeface="Times New Roman" panose="02020603050405020304" charset="0"/>
              </a:rPr>
              <a:t>, 2019, (2): 249-263.</a:t>
            </a:r>
            <a:endParaRPr sz="2000">
              <a:latin typeface="Times New Roman" panose="02020603050405020304" charset="0"/>
              <a:ea typeface="微软雅黑" panose="020B0503020204020204" charset="-122"/>
              <a:cs typeface="Times New Roman" panose="02020603050405020304" charset="0"/>
            </a:endParaRPr>
          </a:p>
          <a:p>
            <a:pPr algn="just"/>
            <a:r>
              <a:rPr sz="2000">
                <a:latin typeface="Times New Roman" panose="02020603050405020304" charset="0"/>
                <a:ea typeface="微软雅黑" panose="020B0503020204020204" charset="-122"/>
                <a:cs typeface="Times New Roman" panose="02020603050405020304" charset="0"/>
              </a:rPr>
              <a:t>[5]Peters, K. Examining form and meaning: A prosodie analysis of three poems by Delmira Agustini in English translation [J]. </a:t>
            </a:r>
            <a:r>
              <a:rPr sz="2000" i="1">
                <a:latin typeface="Times New Roman Italic" panose="02020603050405020304" charset="0"/>
                <a:ea typeface="微软雅黑" panose="020B0503020204020204" charset="-122"/>
                <a:cs typeface="Times New Roman Italic" panose="02020603050405020304" charset="0"/>
              </a:rPr>
              <a:t>Babel</a:t>
            </a:r>
            <a:r>
              <a:rPr sz="2000">
                <a:latin typeface="Times New Roman" panose="02020603050405020304" charset="0"/>
                <a:ea typeface="微软雅黑" panose="020B0503020204020204" charset="-122"/>
                <a:cs typeface="Times New Roman" panose="02020603050405020304" charset="0"/>
              </a:rPr>
              <a:t>, 1997, (3): 206-232.</a:t>
            </a:r>
            <a:endParaRPr sz="2000">
              <a:latin typeface="Times New Roman" panose="02020603050405020304" charset="0"/>
              <a:ea typeface="微软雅黑" panose="020B0503020204020204" charset="-122"/>
              <a:cs typeface="Times New Roman" panose="02020603050405020304" charset="0"/>
            </a:endParaRPr>
          </a:p>
          <a:p>
            <a:pPr algn="just"/>
            <a:r>
              <a:rPr sz="2000">
                <a:latin typeface="Times New Roman" panose="02020603050405020304" charset="0"/>
                <a:ea typeface="微软雅黑" panose="020B0503020204020204" charset="-122"/>
                <a:cs typeface="Times New Roman" panose="02020603050405020304" charset="0"/>
              </a:rPr>
              <a:t>[6]Saldanha, G. &amp; O’Brien, S. </a:t>
            </a:r>
            <a:r>
              <a:rPr sz="2000" i="1">
                <a:latin typeface="Times New Roman Italic" panose="02020603050405020304" charset="0"/>
                <a:ea typeface="微软雅黑" panose="020B0503020204020204" charset="-122"/>
                <a:cs typeface="Times New Roman Italic" panose="02020603050405020304" charset="0"/>
              </a:rPr>
              <a:t>Research Methodologies in Translation Studies</a:t>
            </a:r>
            <a:r>
              <a:rPr sz="2000">
                <a:latin typeface="Times New Roman" panose="02020603050405020304" charset="0"/>
                <a:ea typeface="微软雅黑" panose="020B0503020204020204" charset="-122"/>
                <a:cs typeface="Times New Roman" panose="02020603050405020304" charset="0"/>
              </a:rPr>
              <a:t> [M]. New York: Routledge, 2014. </a:t>
            </a:r>
            <a:endParaRPr sz="2000">
              <a:latin typeface="Times New Roman" panose="02020603050405020304" charset="0"/>
              <a:ea typeface="微软雅黑" panose="020B0503020204020204" charset="-122"/>
              <a:cs typeface="Times New Roman" panose="02020603050405020304" charset="0"/>
            </a:endParaRPr>
          </a:p>
          <a:p>
            <a:pPr algn="just"/>
            <a:r>
              <a:rPr sz="2000">
                <a:latin typeface="Times New Roman" panose="02020603050405020304" charset="0"/>
                <a:ea typeface="微软雅黑" panose="020B0503020204020204" charset="-122"/>
                <a:cs typeface="Times New Roman" panose="02020603050405020304" charset="0"/>
              </a:rPr>
              <a:t>[7]Wales, K. </a:t>
            </a:r>
            <a:r>
              <a:rPr sz="2000" i="1">
                <a:latin typeface="Times New Roman Italic" panose="02020603050405020304" charset="0"/>
                <a:ea typeface="微软雅黑" panose="020B0503020204020204" charset="-122"/>
                <a:cs typeface="Times New Roman Italic" panose="02020603050405020304" charset="0"/>
              </a:rPr>
              <a:t>A Dictionary of Stylistics</a:t>
            </a:r>
            <a:r>
              <a:rPr sz="2000">
                <a:latin typeface="Times New Roman" panose="02020603050405020304" charset="0"/>
                <a:ea typeface="微软雅黑" panose="020B0503020204020204" charset="-122"/>
                <a:cs typeface="Times New Roman" panose="02020603050405020304" charset="0"/>
              </a:rPr>
              <a:t> [M]. New York: Routledge, 2011. </a:t>
            </a:r>
            <a:endParaRPr sz="2000">
              <a:latin typeface="Times New Roman" panose="02020603050405020304" charset="0"/>
              <a:ea typeface="微软雅黑" panose="020B0503020204020204" charset="-122"/>
              <a:cs typeface="Times New Roman" panose="02020603050405020304" charset="0"/>
            </a:endParaRPr>
          </a:p>
          <a:p>
            <a:pPr algn="just"/>
            <a:r>
              <a:rPr sz="2000">
                <a:latin typeface="Times New Roman" panose="02020603050405020304" charset="0"/>
                <a:ea typeface="微软雅黑" panose="020B0503020204020204" charset="-122"/>
                <a:cs typeface="Times New Roman" panose="02020603050405020304" charset="0"/>
              </a:rPr>
              <a:t>[8]Wilde, O. </a:t>
            </a:r>
            <a:r>
              <a:rPr sz="2000" i="1">
                <a:latin typeface="Times New Roman Italic" panose="02020603050405020304" charset="0"/>
                <a:ea typeface="微软雅黑" panose="020B0503020204020204" charset="-122"/>
                <a:cs typeface="Times New Roman Italic" panose="02020603050405020304" charset="0"/>
              </a:rPr>
              <a:t>The Picture of Dorian Gray</a:t>
            </a:r>
            <a:r>
              <a:rPr sz="2000">
                <a:latin typeface="Times New Roman" panose="02020603050405020304" charset="0"/>
                <a:ea typeface="微软雅黑" panose="020B0503020204020204" charset="-122"/>
                <a:cs typeface="Times New Roman" panose="02020603050405020304" charset="0"/>
              </a:rPr>
              <a:t> [M]. London: Alma Classics, 2014.</a:t>
            </a:r>
            <a:endParaRPr sz="2000">
              <a:latin typeface="Times New Roman" panose="02020603050405020304" charset="0"/>
              <a:ea typeface="微软雅黑" panose="020B0503020204020204" charset="-122"/>
              <a:cs typeface="Times New Roman" panose="02020603050405020304" charset="0"/>
            </a:endParaRPr>
          </a:p>
          <a:p>
            <a:pPr algn="just"/>
            <a:r>
              <a:rPr sz="2000">
                <a:latin typeface="Times New Roman" panose="02020603050405020304" charset="0"/>
                <a:ea typeface="微软雅黑" panose="020B0503020204020204" charset="-122"/>
                <a:cs typeface="Times New Roman" panose="02020603050405020304" charset="0"/>
              </a:rPr>
              <a:t>[9]Woods, M. &amp; Wyman, S. Aesthetic radicalism: Langston Hughes’s lost translation of Federico García Lorca’s Bodas de sangre/Blood Wedding [J]. </a:t>
            </a:r>
            <a:r>
              <a:rPr sz="2000" i="1">
                <a:latin typeface="Times New Roman Italic" panose="02020603050405020304" charset="0"/>
                <a:ea typeface="微软雅黑" panose="020B0503020204020204" charset="-122"/>
                <a:cs typeface="Times New Roman Italic" panose="02020603050405020304" charset="0"/>
              </a:rPr>
              <a:t>Modern Drama</a:t>
            </a:r>
            <a:r>
              <a:rPr sz="2000">
                <a:latin typeface="Times New Roman" panose="02020603050405020304" charset="0"/>
                <a:ea typeface="微软雅黑" panose="020B0503020204020204" charset="-122"/>
                <a:cs typeface="Times New Roman" panose="02020603050405020304" charset="0"/>
              </a:rPr>
              <a:t>, 2014, (4): 469-492.</a:t>
            </a:r>
            <a:endParaRPr sz="2000">
              <a:latin typeface="Times New Roman" panose="02020603050405020304" charset="0"/>
              <a:ea typeface="微软雅黑" panose="020B0503020204020204" charset="-122"/>
              <a:cs typeface="Times New Roman" panose="02020603050405020304" charset="0"/>
            </a:endParaRPr>
          </a:p>
        </p:txBody>
      </p:sp>
    </p:spTree>
    <p:custDataLst>
      <p:tags r:id="rId4"/>
    </p:custDataLst>
  </p:cSld>
  <p:clrMapOvr>
    <a:masterClrMapping/>
  </p:clrMapOvr>
  <p:transition advTm="3198"/>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userDrawn="1">
            <p:custDataLst>
              <p:tags r:id="rId1"/>
            </p:custDataLst>
          </p:nvPr>
        </p:nvSpPr>
        <p:spPr>
          <a:xfrm>
            <a:off x="1" y="6004875"/>
            <a:ext cx="12191999" cy="707886"/>
          </a:xfrm>
          <a:prstGeom prst="rect">
            <a:avLst/>
          </a:prstGeom>
          <a:noFill/>
        </p:spPr>
        <p:txBody>
          <a:bodyPr wrap="square" rtlCol="0">
            <a:spAutoFit/>
          </a:bodyPr>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
        <p:nvSpPr>
          <p:cNvPr id="2" name="文本框 1"/>
          <p:cNvSpPr txBox="1"/>
          <p:nvPr>
            <p:custDataLst>
              <p:tags r:id="rId2"/>
            </p:custDataLst>
          </p:nvPr>
        </p:nvSpPr>
        <p:spPr>
          <a:xfrm>
            <a:off x="732075" y="860380"/>
            <a:ext cx="6096000" cy="583565"/>
          </a:xfrm>
          <a:prstGeom prst="rect">
            <a:avLst/>
          </a:prstGeom>
        </p:spPr>
        <p:txBody>
          <a:bodyPr>
            <a:spAutoFit/>
            <a:extLst>
              <a:ext uri="{4A0BC546-FE56-4ADE-93B0-CB8AF2F6F144}">
                <wpsdc:textFrameExt xmlns:wpsdc="http://www.wps.cn/officeDocument/2022/drawingmlCustomData" type="sub-title"/>
              </a:ext>
            </a:extLst>
          </a:bodyPr>
          <a:p>
            <a:pPr algn="l"/>
            <a:r>
              <a:rPr lang="en-US" sz="3200" b="1" spc="200">
                <a:latin typeface="Times New Roman" panose="02020603050405020304" charset="0"/>
                <a:ea typeface="微软雅黑" panose="020B0503020204020204" charset="-122"/>
                <a:cs typeface="Times New Roman" panose="02020603050405020304" charset="0"/>
              </a:rPr>
              <a:t>References</a:t>
            </a:r>
            <a:endParaRPr lang="en-US" sz="3200" b="1" spc="200">
              <a:latin typeface="Times New Roman" panose="02020603050405020304" charset="0"/>
              <a:ea typeface="微软雅黑" panose="020B0503020204020204" charset="-122"/>
              <a:cs typeface="Times New Roman" panose="02020603050405020304" charset="0"/>
            </a:endParaRPr>
          </a:p>
        </p:txBody>
      </p:sp>
      <p:sp>
        <p:nvSpPr>
          <p:cNvPr id="11" name="文本框 10"/>
          <p:cNvSpPr txBox="1"/>
          <p:nvPr>
            <p:custDataLst>
              <p:tags r:id="rId3"/>
            </p:custDataLst>
          </p:nvPr>
        </p:nvSpPr>
        <p:spPr>
          <a:xfrm>
            <a:off x="732155" y="1490980"/>
            <a:ext cx="10746105" cy="4399915"/>
          </a:xfrm>
          <a:prstGeom prst="rect">
            <a:avLst/>
          </a:prstGeom>
        </p:spPr>
        <p:txBody>
          <a:bodyPr wrap="square">
            <a:spAutoFit/>
            <a:extLst>
              <a:ext uri="{4A0BC546-FE56-4ADE-93B0-CB8AF2F6F144}">
                <wpsdc:textFrameExt xmlns:wpsdc="http://www.wps.cn/officeDocument/2022/drawingmlCustomData" type="text"/>
              </a:ext>
            </a:extLst>
          </a:bodyPr>
          <a:p>
            <a:pPr algn="just"/>
            <a:r>
              <a:rPr sz="2000">
                <a:latin typeface="Times New Roman" panose="02020603050405020304" charset="0"/>
                <a:ea typeface="微软雅黑" panose="020B0503020204020204" charset="-122"/>
                <a:cs typeface="Times New Roman" panose="02020603050405020304" charset="0"/>
                <a:sym typeface="+mn-ea"/>
              </a:rPr>
              <a:t>[10]Yu, Y., et al. A critical exploration of cultural and aesthetic representation of Shandong dialect translation in red sorghum [J]. </a:t>
            </a:r>
            <a:r>
              <a:rPr sz="2000" i="1">
                <a:latin typeface="Times New Roman Italic" panose="02020603050405020304" charset="0"/>
                <a:ea typeface="微软雅黑" panose="020B0503020204020204" charset="-122"/>
                <a:cs typeface="Times New Roman Italic" panose="02020603050405020304" charset="0"/>
                <a:sym typeface="+mn-ea"/>
              </a:rPr>
              <a:t>Theory and Practice in Language Studies</a:t>
            </a:r>
            <a:r>
              <a:rPr sz="2000">
                <a:latin typeface="Times New Roman" panose="02020603050405020304" charset="0"/>
                <a:ea typeface="微软雅黑" panose="020B0503020204020204" charset="-122"/>
                <a:cs typeface="Times New Roman" panose="02020603050405020304" charset="0"/>
                <a:sym typeface="+mn-ea"/>
              </a:rPr>
              <a:t>, 2024, (10): 3247-3256.</a:t>
            </a:r>
            <a:endParaRPr sz="2000">
              <a:latin typeface="Times New Roman" panose="02020603050405020304" charset="0"/>
              <a:ea typeface="微软雅黑" panose="020B0503020204020204" charset="-122"/>
              <a:cs typeface="Times New Roman" panose="02020603050405020304" charset="0"/>
              <a:sym typeface="+mn-ea"/>
            </a:endParaRPr>
          </a:p>
          <a:p>
            <a:pPr algn="just"/>
            <a:r>
              <a:rPr sz="2000">
                <a:latin typeface="Times New Roman" panose="02020603050405020304" charset="0"/>
                <a:ea typeface="微软雅黑" panose="020B0503020204020204" charset="-122"/>
                <a:cs typeface="Times New Roman" panose="02020603050405020304" charset="0"/>
                <a:sym typeface="+mn-ea"/>
              </a:rPr>
              <a:t>[11]Zhou, M. Towards a poetics of immersion in lyric translation: Aesthetic illusion and the translator as immersive reader in English translations of classical Chinese ci poetry [J]. </a:t>
            </a:r>
            <a:r>
              <a:rPr sz="2000" i="1">
                <a:latin typeface="Times New Roman Italic" panose="02020603050405020304" charset="0"/>
                <a:ea typeface="微软雅黑" panose="020B0503020204020204" charset="-122"/>
                <a:cs typeface="Times New Roman Italic" panose="02020603050405020304" charset="0"/>
                <a:sym typeface="+mn-ea"/>
              </a:rPr>
              <a:t>Target</a:t>
            </a:r>
            <a:r>
              <a:rPr sz="2000">
                <a:latin typeface="Times New Roman" panose="02020603050405020304" charset="0"/>
                <a:ea typeface="微软雅黑" panose="020B0503020204020204" charset="-122"/>
                <a:cs typeface="Times New Roman" panose="02020603050405020304" charset="0"/>
                <a:sym typeface="+mn-ea"/>
              </a:rPr>
              <a:t>, 2018, (3): 383-407.</a:t>
            </a:r>
            <a:endParaRPr sz="2000">
              <a:latin typeface="Times New Roman" panose="02020603050405020304" charset="0"/>
              <a:ea typeface="微软雅黑" panose="020B0503020204020204" charset="-122"/>
              <a:cs typeface="Times New Roman" panose="02020603050405020304" charset="0"/>
              <a:sym typeface="+mn-ea"/>
            </a:endParaRPr>
          </a:p>
          <a:p>
            <a:pPr algn="just"/>
            <a:r>
              <a:rPr sz="2000">
                <a:latin typeface="Times New Roman" panose="02020603050405020304" charset="0"/>
                <a:ea typeface="微软雅黑" panose="020B0503020204020204" charset="-122"/>
                <a:cs typeface="Times New Roman" panose="02020603050405020304" charset="0"/>
                <a:sym typeface="+mn-ea"/>
              </a:rPr>
              <a:t>[12]Zhou, R. A study on functional equivalence in translation of lyric prose — A case of autumn in Peiping by Zhang Peiji [J]. </a:t>
            </a:r>
            <a:r>
              <a:rPr sz="2000" i="1">
                <a:latin typeface="Times New Roman Italic" panose="02020603050405020304" charset="0"/>
                <a:ea typeface="微软雅黑" panose="020B0503020204020204" charset="-122"/>
                <a:cs typeface="Times New Roman Italic" panose="02020603050405020304" charset="0"/>
                <a:sym typeface="+mn-ea"/>
              </a:rPr>
              <a:t>Theory and Practice in Language Studies</a:t>
            </a:r>
            <a:r>
              <a:rPr sz="2000">
                <a:latin typeface="Times New Roman" panose="02020603050405020304" charset="0"/>
                <a:ea typeface="微软雅黑" panose="020B0503020204020204" charset="-122"/>
                <a:cs typeface="Times New Roman" panose="02020603050405020304" charset="0"/>
                <a:sym typeface="+mn-ea"/>
              </a:rPr>
              <a:t>, 2022, (2): 348-355.</a:t>
            </a:r>
            <a:endParaRPr sz="2000">
              <a:latin typeface="Times New Roman" panose="02020603050405020304" charset="0"/>
              <a:ea typeface="微软雅黑" panose="020B0503020204020204" charset="-122"/>
              <a:cs typeface="Times New Roman" panose="02020603050405020304" charset="0"/>
              <a:sym typeface="+mn-ea"/>
            </a:endParaRPr>
          </a:p>
          <a:p>
            <a:pPr algn="just"/>
            <a:r>
              <a:rPr sz="2000">
                <a:latin typeface="Times New Roman" panose="02020603050405020304" charset="0"/>
                <a:ea typeface="微软雅黑" panose="020B0503020204020204" charset="-122"/>
                <a:cs typeface="Times New Roman" panose="02020603050405020304" charset="0"/>
                <a:sym typeface="+mn-ea"/>
              </a:rPr>
              <a:t>[13]Zuhron et al. The strategy of translating Indonesian texts with cultural nuances into English [J]. </a:t>
            </a:r>
            <a:r>
              <a:rPr sz="2000" i="1">
                <a:latin typeface="Times New Roman Italic" panose="02020603050405020304" charset="0"/>
                <a:ea typeface="微软雅黑" panose="020B0503020204020204" charset="-122"/>
                <a:cs typeface="Times New Roman Italic" panose="02020603050405020304" charset="0"/>
                <a:sym typeface="+mn-ea"/>
              </a:rPr>
              <a:t>Theory and Practice in Language Studies</a:t>
            </a:r>
            <a:r>
              <a:rPr sz="2000">
                <a:latin typeface="Times New Roman" panose="02020603050405020304" charset="0"/>
                <a:ea typeface="微软雅黑" panose="020B0503020204020204" charset="-122"/>
                <a:cs typeface="Times New Roman" panose="02020603050405020304" charset="0"/>
                <a:sym typeface="+mn-ea"/>
              </a:rPr>
              <a:t>, 2023, (10): 2482-2489.</a:t>
            </a:r>
            <a:endParaRPr sz="2000">
              <a:latin typeface="Times New Roman" panose="02020603050405020304" charset="0"/>
              <a:ea typeface="微软雅黑" panose="020B0503020204020204" charset="-122"/>
              <a:cs typeface="Times New Roman" panose="02020603050405020304" charset="0"/>
              <a:sym typeface="+mn-ea"/>
            </a:endParaRPr>
          </a:p>
          <a:p>
            <a:pPr algn="just"/>
            <a:r>
              <a:rPr sz="2000">
                <a:latin typeface="Times New Roman Regular" panose="02020603050405020304" charset="0"/>
                <a:ea typeface="宋体" charset="0"/>
                <a:cs typeface="Times New Roman Regular" panose="02020603050405020304" charset="0"/>
                <a:sym typeface="+mn-ea"/>
              </a:rPr>
              <a:t>[14]</a:t>
            </a:r>
            <a:r>
              <a:rPr sz="2000">
                <a:latin typeface="Times New Roman Regular" panose="02020603050405020304" charset="0"/>
                <a:ea typeface="宋体" charset="0"/>
                <a:cs typeface="Times New Roman Regular" panose="02020603050405020304" charset="0"/>
                <a:sym typeface="+mn-ea"/>
              </a:rPr>
              <a:t>奥斯卡·王尔德. 《道连·格雷的画像》[M]. 黄源深译. 南京: 译林出版社，2022.</a:t>
            </a:r>
            <a:endParaRPr sz="2000">
              <a:latin typeface="Times New Roman Regular" panose="02020603050405020304" charset="0"/>
              <a:ea typeface="宋体" charset="0"/>
              <a:cs typeface="Times New Roman Regular" panose="02020603050405020304" charset="0"/>
              <a:sym typeface="+mn-ea"/>
            </a:endParaRPr>
          </a:p>
          <a:p>
            <a:pPr algn="just"/>
            <a:r>
              <a:rPr sz="2000">
                <a:latin typeface="Times New Roman Regular" panose="02020603050405020304" charset="0"/>
                <a:ea typeface="宋体" charset="0"/>
                <a:cs typeface="Times New Roman Regular" panose="02020603050405020304" charset="0"/>
                <a:sym typeface="+mn-ea"/>
              </a:rPr>
              <a:t>[15]奥</a:t>
            </a:r>
            <a:r>
              <a:rPr sz="2000">
                <a:latin typeface="Times New Roman Regular" panose="02020603050405020304" charset="0"/>
                <a:ea typeface="宋体" charset="0"/>
                <a:cs typeface="Times New Roman Regular" panose="02020603050405020304" charset="0"/>
                <a:sym typeface="+mn-ea"/>
              </a:rPr>
              <a:t>斯卡·王尔德. 《道连·葛雷的画像》[M]. 荣如德译. 上海: 上海译文出版社，2011.</a:t>
            </a:r>
            <a:endParaRPr sz="2000">
              <a:latin typeface="Times New Roman Regular" panose="02020603050405020304" charset="0"/>
              <a:ea typeface="宋体" charset="0"/>
              <a:cs typeface="Times New Roman Regular" panose="02020603050405020304" charset="0"/>
              <a:sym typeface="+mn-ea"/>
            </a:endParaRPr>
          </a:p>
          <a:p>
            <a:pPr algn="just"/>
            <a:r>
              <a:rPr sz="2000">
                <a:latin typeface="Times New Roman Regular" panose="02020603050405020304" charset="0"/>
                <a:ea typeface="宋体" charset="0"/>
                <a:cs typeface="Times New Roman Regular" panose="02020603050405020304" charset="0"/>
                <a:sym typeface="+mn-ea"/>
              </a:rPr>
              <a:t>[16]</a:t>
            </a:r>
            <a:r>
              <a:rPr sz="2000">
                <a:latin typeface="Times New Roman Regular" panose="02020603050405020304" charset="0"/>
                <a:ea typeface="宋体" charset="0"/>
                <a:cs typeface="Times New Roman Regular" panose="02020603050405020304" charset="0"/>
                <a:sym typeface="+mn-ea"/>
              </a:rPr>
              <a:t>曹欢. 从翻译美学角度看小说翻译的审美再现[D]. 湖南师范大学，2011. </a:t>
            </a:r>
            <a:endParaRPr sz="2000">
              <a:latin typeface="Times New Roman Regular" panose="02020603050405020304" charset="0"/>
              <a:ea typeface="宋体" charset="0"/>
              <a:cs typeface="Times New Roman Regular" panose="02020603050405020304" charset="0"/>
              <a:sym typeface="+mn-ea"/>
            </a:endParaRPr>
          </a:p>
          <a:p>
            <a:pPr algn="just"/>
            <a:r>
              <a:rPr sz="2000">
                <a:latin typeface="Times New Roman Regular" panose="02020603050405020304" charset="0"/>
                <a:ea typeface="宋体" charset="0"/>
                <a:cs typeface="Times New Roman Regular" panose="02020603050405020304" charset="0"/>
                <a:sym typeface="+mn-ea"/>
              </a:rPr>
              <a:t>[17]</a:t>
            </a:r>
            <a:r>
              <a:rPr sz="2000">
                <a:latin typeface="Times New Roman Regular" panose="02020603050405020304" charset="0"/>
                <a:ea typeface="宋体" charset="0"/>
                <a:cs typeface="Times New Roman Regular" panose="02020603050405020304" charset="0"/>
                <a:sym typeface="+mn-ea"/>
              </a:rPr>
              <a:t>杜建慧. 再论“翻译学”的界定[J]. 解放军外语学院学报，1998，（4）：95-98+109.</a:t>
            </a:r>
            <a:endParaRPr sz="2000">
              <a:latin typeface="Times New Roman Regular" panose="02020603050405020304" charset="0"/>
              <a:ea typeface="宋体" charset="0"/>
              <a:cs typeface="Times New Roman Regular" panose="02020603050405020304" charset="0"/>
              <a:sym typeface="+mn-ea"/>
            </a:endParaRPr>
          </a:p>
          <a:p>
            <a:pPr algn="just"/>
            <a:r>
              <a:rPr sz="2000">
                <a:latin typeface="Times New Roman Regular" panose="02020603050405020304" charset="0"/>
                <a:ea typeface="宋体" charset="0"/>
                <a:cs typeface="Times New Roman Regular" panose="02020603050405020304" charset="0"/>
                <a:sym typeface="+mn-ea"/>
              </a:rPr>
              <a:t>戴如梦. 翻译适应选择论视角下的译者身份研究[D]. 河南工业大学，2021. </a:t>
            </a:r>
            <a:endParaRPr sz="2000">
              <a:latin typeface="Times New Roman Regular" panose="02020603050405020304" charset="0"/>
              <a:ea typeface="宋体" charset="0"/>
              <a:cs typeface="Times New Roman Regular" panose="02020603050405020304" charset="0"/>
              <a:sym typeface="+mn-ea"/>
            </a:endParaRPr>
          </a:p>
        </p:txBody>
      </p:sp>
    </p:spTree>
    <p:custDataLst>
      <p:tags r:id="rId4"/>
    </p:custDataLst>
  </p:cSld>
  <p:clrMapOvr>
    <a:masterClrMapping/>
  </p:clrMapOvr>
  <p:transition advTm="857"/>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userDrawn="1">
            <p:custDataLst>
              <p:tags r:id="rId1"/>
            </p:custDataLst>
          </p:nvPr>
        </p:nvSpPr>
        <p:spPr>
          <a:xfrm>
            <a:off x="1" y="6004875"/>
            <a:ext cx="12191999" cy="707886"/>
          </a:xfrm>
          <a:prstGeom prst="rect">
            <a:avLst/>
          </a:prstGeom>
          <a:noFill/>
        </p:spPr>
        <p:txBody>
          <a:bodyPr wrap="square" rtlCol="0">
            <a:spAutoFit/>
          </a:bodyPr>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
        <p:nvSpPr>
          <p:cNvPr id="2" name="文本框 1"/>
          <p:cNvSpPr txBox="1"/>
          <p:nvPr>
            <p:custDataLst>
              <p:tags r:id="rId2"/>
            </p:custDataLst>
          </p:nvPr>
        </p:nvSpPr>
        <p:spPr>
          <a:xfrm>
            <a:off x="732075" y="860380"/>
            <a:ext cx="6096000" cy="583565"/>
          </a:xfrm>
          <a:prstGeom prst="rect">
            <a:avLst/>
          </a:prstGeom>
        </p:spPr>
        <p:txBody>
          <a:bodyPr>
            <a:spAutoFit/>
            <a:extLst>
              <a:ext uri="{4A0BC546-FE56-4ADE-93B0-CB8AF2F6F144}">
                <wpsdc:textFrameExt xmlns:wpsdc="http://www.wps.cn/officeDocument/2022/drawingmlCustomData" type="sub-title"/>
              </a:ext>
            </a:extLst>
          </a:bodyPr>
          <a:p>
            <a:pPr algn="l"/>
            <a:r>
              <a:rPr lang="en-US" sz="3200" b="1" spc="200">
                <a:latin typeface="Times New Roman" panose="02020603050405020304" charset="0"/>
                <a:ea typeface="微软雅黑" panose="020B0503020204020204" charset="-122"/>
                <a:cs typeface="Times New Roman" panose="02020603050405020304" charset="0"/>
              </a:rPr>
              <a:t>References</a:t>
            </a:r>
            <a:endParaRPr lang="en-US" sz="3200" b="1" spc="200">
              <a:latin typeface="Times New Roman" panose="02020603050405020304" charset="0"/>
              <a:ea typeface="微软雅黑" panose="020B0503020204020204" charset="-122"/>
              <a:cs typeface="Times New Roman" panose="02020603050405020304" charset="0"/>
            </a:endParaRPr>
          </a:p>
        </p:txBody>
      </p:sp>
      <p:sp>
        <p:nvSpPr>
          <p:cNvPr id="11" name="文本框 10"/>
          <p:cNvSpPr txBox="1"/>
          <p:nvPr>
            <p:custDataLst>
              <p:tags r:id="rId3"/>
            </p:custDataLst>
          </p:nvPr>
        </p:nvSpPr>
        <p:spPr>
          <a:xfrm>
            <a:off x="732155" y="1490980"/>
            <a:ext cx="10746105" cy="4399915"/>
          </a:xfrm>
          <a:prstGeom prst="rect">
            <a:avLst/>
          </a:prstGeom>
        </p:spPr>
        <p:txBody>
          <a:bodyPr wrap="square">
            <a:spAutoFit/>
            <a:extLst>
              <a:ext uri="{4A0BC546-FE56-4ADE-93B0-CB8AF2F6F144}">
                <wpsdc:textFrameExt xmlns:wpsdc="http://www.wps.cn/officeDocument/2022/drawingmlCustomData" type="text"/>
              </a:ext>
            </a:extLst>
          </a:bodyPr>
          <a:p>
            <a:pPr algn="just"/>
            <a:r>
              <a:rPr sz="2000">
                <a:latin typeface="Times New Roman Regular" panose="02020603050405020304" charset="0"/>
                <a:ea typeface="宋体" pitchFamily="2" charset="-122"/>
                <a:cs typeface="Times New Roman Regular" panose="02020603050405020304" charset="0"/>
                <a:sym typeface="+mn-ea"/>
              </a:rPr>
              <a:t>[18]戴如梦. 翻译适应选择论视角下的译者身份研究[D]. 河南工业大学，2021. </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[19]范岳. 试谈文学翻译中的人物形象与美感[J]. 中国翻译，1985，（3）：5-8.</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[20]顾延龄. 试论文学翻译与语言艺术[J]. 中国翻译，1989，（2）：14-18.</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[21]胡东平、欧阳晴雯. 难与美：《水浒传》赛珍珠译本美学阐释[J]. 外语学刊，2022，（4）：67-71.</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[22]洪明. 论接受美学与旅游外宣广告翻译中的读者关照[J]. 外语与外语教学，2006，（8）：56-59+65.</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[23]胡永华. 唯美主义[J]. 外国文学，2013，（6）：94-102+159.</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[24]胡艳红、李文慧. 《冰与火之歌：权力的游戏》汉译本之翻译美学视角研究[J]. 上海翻译，2022，（6）：85-89.</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[25]刘宓庆. 翻译美学导论[M]. 北京：中译出版社，2020. </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[26]刘宓庆. 翻译美学教程[M]. 北京：中译出版社，2016. </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[27]刘宓庆. 翻译美学概述[J]. 外国语(上海外国语学院学报)，1986，（2）：48-53.</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[28]刘宓庆. 翻译美学基本理论构想[J]. 中国翻译，1986，（4）：19-4.</a:t>
            </a:r>
            <a:endParaRPr sz="2000">
              <a:latin typeface="Times New Roman Regular" panose="02020603050405020304" charset="0"/>
              <a:ea typeface="宋体" pitchFamily="2" charset="-122"/>
              <a:cs typeface="Times New Roman Regular" panose="02020603050405020304" charset="0"/>
              <a:sym typeface="+mn-ea"/>
            </a:endParaRPr>
          </a:p>
        </p:txBody>
      </p:sp>
    </p:spTree>
    <p:custDataLst>
      <p:tags r:id="rId4"/>
    </p:custDataLst>
  </p:cSld>
  <p:clrMapOvr>
    <a:masterClrMapping/>
  </p:clrMapOvr>
  <p:transition advTm="89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userDrawn="1">
            <p:custDataLst>
              <p:tags r:id="rId1"/>
            </p:custDataLst>
          </p:nvPr>
        </p:nvSpPr>
        <p:spPr>
          <a:xfrm>
            <a:off x="1" y="6004875"/>
            <a:ext cx="12191999" cy="707886"/>
          </a:xfrm>
          <a:prstGeom prst="rect">
            <a:avLst/>
          </a:prstGeom>
          <a:noFill/>
        </p:spPr>
        <p:txBody>
          <a:bodyPr wrap="square" rtlCol="0">
            <a:spAutoFit/>
          </a:bodyPr>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
        <p:nvSpPr>
          <p:cNvPr id="2" name="文本框 1"/>
          <p:cNvSpPr txBox="1"/>
          <p:nvPr>
            <p:custDataLst>
              <p:tags r:id="rId2"/>
            </p:custDataLst>
          </p:nvPr>
        </p:nvSpPr>
        <p:spPr>
          <a:xfrm>
            <a:off x="732075" y="860380"/>
            <a:ext cx="6096000" cy="583565"/>
          </a:xfrm>
          <a:prstGeom prst="rect">
            <a:avLst/>
          </a:prstGeom>
        </p:spPr>
        <p:txBody>
          <a:bodyPr>
            <a:spAutoFit/>
            <a:extLst>
              <a:ext uri="{4A0BC546-FE56-4ADE-93B0-CB8AF2F6F144}">
                <wpsdc:textFrameExt xmlns:wpsdc="http://www.wps.cn/officeDocument/2022/drawingmlCustomData" type="sub-title"/>
              </a:ext>
            </a:extLst>
          </a:bodyPr>
          <a:p>
            <a:pPr algn="l"/>
            <a:r>
              <a:rPr lang="en-US" sz="3200" b="1" spc="200">
                <a:latin typeface="Times New Roman" panose="02020603050405020304" charset="0"/>
                <a:ea typeface="微软雅黑" panose="020B0503020204020204" charset="-122"/>
                <a:cs typeface="Times New Roman" panose="02020603050405020304" charset="0"/>
              </a:rPr>
              <a:t>References</a:t>
            </a:r>
            <a:endParaRPr lang="en-US" sz="3200" b="1" spc="200">
              <a:latin typeface="Times New Roman" panose="02020603050405020304" charset="0"/>
              <a:ea typeface="微软雅黑" panose="020B0503020204020204" charset="-122"/>
              <a:cs typeface="Times New Roman" panose="02020603050405020304" charset="0"/>
            </a:endParaRPr>
          </a:p>
        </p:txBody>
      </p:sp>
      <p:sp>
        <p:nvSpPr>
          <p:cNvPr id="11" name="文本框 10"/>
          <p:cNvSpPr txBox="1"/>
          <p:nvPr>
            <p:custDataLst>
              <p:tags r:id="rId3"/>
            </p:custDataLst>
          </p:nvPr>
        </p:nvSpPr>
        <p:spPr>
          <a:xfrm>
            <a:off x="732155" y="1490980"/>
            <a:ext cx="10746105" cy="4707890"/>
          </a:xfrm>
          <a:prstGeom prst="rect">
            <a:avLst/>
          </a:prstGeom>
        </p:spPr>
        <p:txBody>
          <a:bodyPr wrap="square">
            <a:spAutoFit/>
            <a:extLst>
              <a:ext uri="{4A0BC546-FE56-4ADE-93B0-CB8AF2F6F144}">
                <wpsdc:textFrameExt xmlns:wpsdc="http://www.wps.cn/officeDocument/2022/drawingmlCustomData" type="text"/>
              </a:ext>
            </a:extLst>
          </a:bodyPr>
          <a:p>
            <a:pPr algn="just"/>
            <a:r>
              <a:rPr sz="2000">
                <a:latin typeface="Times New Roman Regular" panose="02020603050405020304" charset="0"/>
                <a:ea typeface="宋体" pitchFamily="2" charset="-122"/>
                <a:cs typeface="Times New Roman Regular" panose="02020603050405020304" charset="0"/>
                <a:sym typeface="+mn-ea"/>
              </a:rPr>
              <a:t>[29]连淑能. 英汉对比研究[M]. 北京：高等教育出版社，2010. </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[30]刘世生、朱瑞青. 文体学概论[M]. 北京：北京大学出版社，2006.</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[31]雷祎. 开拓与创新——刘宓庆的翻译理论研究述评[J]. 中国翻译，1993，（3）46-50.</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[32]刘雯. 《道连·格雷的画像》语言戏剧性特色的翻译研究[D]. 华东师范大学，2008. </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[33]李玉辉. 从文学文体学角度谈小说翻译[D]. 复旦大学，2009. </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穆雷. 翻译研究方法概论[M]. 北京：外语教学与研究出版社，2010. </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[34]穆雷. 翻译研究方法概论[M]. 北京：外语教学与研究出版社，2010. </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[35]毛荣贵. 翻译美学[M]. 上海：上海交通大学出版社，2005. </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[36]孟伟根. 戏剧翻译研究[M]. 杭州：浙江大学出版社，2012.</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[37]乔国强. 论王尔德的唯美主义思想[J]. 上海大学学报(社会科学版)，2015，（6）：52-61.</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[38]乔国强. 从唯美到现代：王尔德唯美主义思想的再认识[J]. 东北师大学报(哲学社会科学版)，2020，（6）：1-9.</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[39]孙建成、温秀颖. 翻译美学思想与译作的审美重构——简评刘士聪文学翻译美学思想[J]. 中国翻译，2007，（3）：45-48+94.</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[40]汪璧辉、辛红娟. 张柏然翻译美学实践及其思想[J]. 外语研究，2023，（6）：98-102.</a:t>
            </a:r>
            <a:endParaRPr sz="2000">
              <a:latin typeface="Times New Roman Regular" panose="02020603050405020304" charset="0"/>
              <a:ea typeface="宋体" pitchFamily="2" charset="-122"/>
              <a:cs typeface="Times New Roman Regular" panose="02020603050405020304" charset="0"/>
              <a:sym typeface="+mn-ea"/>
            </a:endParaRPr>
          </a:p>
        </p:txBody>
      </p:sp>
    </p:spTree>
    <p:custDataLst>
      <p:tags r:id="rId4"/>
    </p:custDataLst>
  </p:cSld>
  <p:clrMapOvr>
    <a:masterClrMapping/>
  </p:clrMapOvr>
  <p:transition advTm="17198"/>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userDrawn="1">
            <p:custDataLst>
              <p:tags r:id="rId1"/>
            </p:custDataLst>
          </p:nvPr>
        </p:nvSpPr>
        <p:spPr>
          <a:xfrm>
            <a:off x="1" y="6004875"/>
            <a:ext cx="12191999" cy="707886"/>
          </a:xfrm>
          <a:prstGeom prst="rect">
            <a:avLst/>
          </a:prstGeom>
          <a:noFill/>
        </p:spPr>
        <p:txBody>
          <a:bodyPr wrap="square" rtlCol="0">
            <a:spAutoFit/>
          </a:bodyPr>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
        <p:nvSpPr>
          <p:cNvPr id="2" name="文本框 1"/>
          <p:cNvSpPr txBox="1"/>
          <p:nvPr>
            <p:custDataLst>
              <p:tags r:id="rId2"/>
            </p:custDataLst>
          </p:nvPr>
        </p:nvSpPr>
        <p:spPr>
          <a:xfrm>
            <a:off x="732075" y="860380"/>
            <a:ext cx="6096000" cy="583565"/>
          </a:xfrm>
          <a:prstGeom prst="rect">
            <a:avLst/>
          </a:prstGeom>
        </p:spPr>
        <p:txBody>
          <a:bodyPr>
            <a:spAutoFit/>
            <a:extLst>
              <a:ext uri="{4A0BC546-FE56-4ADE-93B0-CB8AF2F6F144}">
                <wpsdc:textFrameExt xmlns:wpsdc="http://www.wps.cn/officeDocument/2022/drawingmlCustomData" type="sub-title"/>
              </a:ext>
            </a:extLst>
          </a:bodyPr>
          <a:p>
            <a:pPr algn="l"/>
            <a:r>
              <a:rPr lang="en-US" sz="3200" b="1" spc="200">
                <a:latin typeface="Times New Roman" panose="02020603050405020304" charset="0"/>
                <a:ea typeface="微软雅黑" panose="020B0503020204020204" charset="-122"/>
                <a:cs typeface="Times New Roman" panose="02020603050405020304" charset="0"/>
              </a:rPr>
              <a:t>References</a:t>
            </a:r>
            <a:endParaRPr lang="en-US" sz="3200" b="1" spc="200">
              <a:latin typeface="Times New Roman" panose="02020603050405020304" charset="0"/>
              <a:ea typeface="微软雅黑" panose="020B0503020204020204" charset="-122"/>
              <a:cs typeface="Times New Roman" panose="02020603050405020304" charset="0"/>
            </a:endParaRPr>
          </a:p>
        </p:txBody>
      </p:sp>
      <p:sp>
        <p:nvSpPr>
          <p:cNvPr id="11" name="文本框 10"/>
          <p:cNvSpPr txBox="1"/>
          <p:nvPr>
            <p:custDataLst>
              <p:tags r:id="rId3"/>
            </p:custDataLst>
          </p:nvPr>
        </p:nvSpPr>
        <p:spPr>
          <a:xfrm>
            <a:off x="732155" y="1490980"/>
            <a:ext cx="10746105" cy="4707890"/>
          </a:xfrm>
          <a:prstGeom prst="rect">
            <a:avLst/>
          </a:prstGeom>
        </p:spPr>
        <p:txBody>
          <a:bodyPr wrap="square">
            <a:spAutoFit/>
            <a:extLst>
              <a:ext uri="{4A0BC546-FE56-4ADE-93B0-CB8AF2F6F144}">
                <wpsdc:textFrameExt xmlns:wpsdc="http://www.wps.cn/officeDocument/2022/drawingmlCustomData" type="text"/>
              </a:ext>
            </a:extLst>
          </a:bodyPr>
          <a:p>
            <a:pPr algn="just"/>
            <a:r>
              <a:rPr sz="2000">
                <a:latin typeface="Times New Roman Regular" panose="02020603050405020304" charset="0"/>
                <a:ea typeface="宋体" pitchFamily="2" charset="-122"/>
                <a:cs typeface="Times New Roman Regular" panose="02020603050405020304" charset="0"/>
                <a:sym typeface="+mn-ea"/>
              </a:rPr>
              <a:t>[41]魏姣. 操纵理论视角下对《道连格雷的画像》黄源深译本的思考[D]. 西安外国语大学，2012. </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[42]文佳、牛海燕、姚欣. 翻译美学视域下《黄帝内经》回环辞格英译研究[J]. 中国中医基础医学杂志，2018，（11）：1628-1630+1645.</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[43]伍小君. 诗歌翻译的接受美学观——兼评王维诗《送元二使安西》的四种英译文[J]. 外语与外语教学，2007，（10）：56-58.</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[44]杨国强、吕世生. 典籍翻译中译者审美意识与译者行为关系探颐——以华兹生的典籍翻译为例[J]. 外语学刊，2023，（2）：62-70.</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[45]余继英、郭建中. 美学理念——翻译理论与实践的桥梁——简评《翻译美学》[J]. 中国翻译，2006，（4）：53-56.</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[46]杨明星、郑润宇. 马克思恩格斯翻译美学思想原典考论[J]. 中国翻译，2024，（6）：29-37+191-192.</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[47]张保红. 文学翻译[M]. 北京：外语教学与研究出版社，202</a:t>
            </a:r>
            <a:r>
              <a:rPr lang="en-US" sz="2000">
                <a:latin typeface="Times New Roman Regular" panose="02020603050405020304" charset="0"/>
                <a:ea typeface="宋体" pitchFamily="2" charset="-122"/>
                <a:cs typeface="Times New Roman Regular" panose="02020603050405020304" charset="0"/>
                <a:sym typeface="+mn-ea"/>
              </a:rPr>
              <a:t>0</a:t>
            </a:r>
            <a:r>
              <a:rPr sz="2000">
                <a:latin typeface="Times New Roman Regular" panose="02020603050405020304" charset="0"/>
                <a:ea typeface="宋体" pitchFamily="2" charset="-122"/>
                <a:cs typeface="Times New Roman Regular" panose="02020603050405020304" charset="0"/>
                <a:sym typeface="+mn-ea"/>
              </a:rPr>
              <a:t>.</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[48]张成柱. 文学翻译中的美学问题[J]. 外语教学，1984，（2）：46-52.</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[49]张丽. 文学翻译审美再现手段研究[D]. 广西师范大学，2009. </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[50]张露. 识解理论视阈下《道林·格雷的画像》环境描写汉译研究[D]. 四川外国语大学，2019. </a:t>
            </a:r>
            <a:endParaRPr sz="2000">
              <a:latin typeface="Times New Roman Regular" panose="02020603050405020304" charset="0"/>
              <a:ea typeface="宋体" pitchFamily="2" charset="-122"/>
              <a:cs typeface="Times New Roman Regular" panose="02020603050405020304" charset="0"/>
              <a:sym typeface="+mn-ea"/>
            </a:endParaRPr>
          </a:p>
        </p:txBody>
      </p:sp>
    </p:spTree>
    <p:custDataLst>
      <p:tags r:id="rId4"/>
    </p:custData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userDrawn="1">
            <p:custDataLst>
              <p:tags r:id="rId1"/>
            </p:custDataLst>
          </p:nvPr>
        </p:nvSpPr>
        <p:spPr>
          <a:xfrm>
            <a:off x="1" y="6004875"/>
            <a:ext cx="12191999" cy="707886"/>
          </a:xfrm>
          <a:prstGeom prst="rect">
            <a:avLst/>
          </a:prstGeom>
          <a:noFill/>
        </p:spPr>
        <p:txBody>
          <a:bodyPr wrap="square" rtlCol="0">
            <a:spAutoFit/>
          </a:bodyPr>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
        <p:nvSpPr>
          <p:cNvPr id="2" name="文本框 1"/>
          <p:cNvSpPr txBox="1"/>
          <p:nvPr>
            <p:custDataLst>
              <p:tags r:id="rId2"/>
            </p:custDataLst>
          </p:nvPr>
        </p:nvSpPr>
        <p:spPr>
          <a:xfrm>
            <a:off x="732075" y="860380"/>
            <a:ext cx="6096000" cy="583565"/>
          </a:xfrm>
          <a:prstGeom prst="rect">
            <a:avLst/>
          </a:prstGeom>
        </p:spPr>
        <p:txBody>
          <a:bodyPr>
            <a:spAutoFit/>
            <a:extLst>
              <a:ext uri="{4A0BC546-FE56-4ADE-93B0-CB8AF2F6F144}">
                <wpsdc:textFrameExt xmlns:wpsdc="http://www.wps.cn/officeDocument/2022/drawingmlCustomData" type="sub-title"/>
              </a:ext>
            </a:extLst>
          </a:bodyPr>
          <a:p>
            <a:pPr algn="l"/>
            <a:r>
              <a:rPr lang="en-US" sz="3200" b="1" spc="200">
                <a:latin typeface="Times New Roman" panose="02020603050405020304" charset="0"/>
                <a:ea typeface="微软雅黑" panose="020B0503020204020204" charset="-122"/>
                <a:cs typeface="Times New Roman" panose="02020603050405020304" charset="0"/>
              </a:rPr>
              <a:t>References</a:t>
            </a:r>
            <a:endParaRPr lang="en-US" sz="3200" b="1" spc="200">
              <a:latin typeface="Times New Roman" panose="02020603050405020304" charset="0"/>
              <a:ea typeface="微软雅黑" panose="020B0503020204020204" charset="-122"/>
              <a:cs typeface="Times New Roman" panose="02020603050405020304" charset="0"/>
            </a:endParaRPr>
          </a:p>
        </p:txBody>
      </p:sp>
      <p:sp>
        <p:nvSpPr>
          <p:cNvPr id="11" name="文本框 10"/>
          <p:cNvSpPr txBox="1"/>
          <p:nvPr>
            <p:custDataLst>
              <p:tags r:id="rId3"/>
            </p:custDataLst>
          </p:nvPr>
        </p:nvSpPr>
        <p:spPr>
          <a:xfrm>
            <a:off x="732155" y="1490980"/>
            <a:ext cx="10746105" cy="2553335"/>
          </a:xfrm>
          <a:prstGeom prst="rect">
            <a:avLst/>
          </a:prstGeom>
        </p:spPr>
        <p:txBody>
          <a:bodyPr wrap="square">
            <a:spAutoFit/>
            <a:extLst>
              <a:ext uri="{4A0BC546-FE56-4ADE-93B0-CB8AF2F6F144}">
                <wpsdc:textFrameExt xmlns:wpsdc="http://www.wps.cn/officeDocument/2022/drawingmlCustomData" type="text"/>
              </a:ext>
            </a:extLst>
          </a:bodyPr>
          <a:p>
            <a:pPr algn="just"/>
            <a:r>
              <a:rPr sz="2000">
                <a:latin typeface="Times New Roman Regular" panose="02020603050405020304" charset="0"/>
                <a:ea typeface="宋体" pitchFamily="2" charset="-122"/>
                <a:cs typeface="Times New Roman Regular" panose="02020603050405020304" charset="0"/>
                <a:sym typeface="+mn-ea"/>
              </a:rPr>
              <a:t>[51]曾利沙. 论《翻译美学》的理论与方法论特征——从审美意识看文学翻译的译者主体性[J]. 上海翻译，2006，（3）：7-11.</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[52]张顺生、丁后银. 黄源深的翻译美学艺术——以《道连·格雷的画像》的翻译为例[J]. 当代外语研究，2023，（4）：97-105.</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[53]曾妍. 认知叙事学视角下《道林·格雷的画像》汉译对比研究[D]. 天津商业大学，2022. </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[54]郑玉琪、郭艳红. 浅谈英文化妆品说明书之美学翻译[J]. 中国翻译，2005，（2）：72-74.</a:t>
            </a:r>
            <a:endParaRPr sz="2000">
              <a:latin typeface="Times New Roman Regular" panose="02020603050405020304" charset="0"/>
              <a:ea typeface="宋体" pitchFamily="2" charset="-122"/>
              <a:cs typeface="Times New Roman Regular" panose="02020603050405020304" charset="0"/>
              <a:sym typeface="+mn-ea"/>
            </a:endParaRPr>
          </a:p>
          <a:p>
            <a:pPr algn="just"/>
            <a:r>
              <a:rPr sz="2000">
                <a:latin typeface="Times New Roman Regular" panose="02020603050405020304" charset="0"/>
                <a:ea typeface="宋体" pitchFamily="2" charset="-122"/>
                <a:cs typeface="Times New Roman Regular" panose="02020603050405020304" charset="0"/>
                <a:sym typeface="+mn-ea"/>
              </a:rPr>
              <a:t>[55]祝一舒. 翻译艺术与求美之道——兼析许渊冲文学翻译“三美”论[J]. 外语与外语教学，2023，（1）：96-104+147.</a:t>
            </a:r>
            <a:endParaRPr sz="2000">
              <a:latin typeface="Times New Roman Regular" panose="02020603050405020304" charset="0"/>
              <a:ea typeface="宋体" pitchFamily="2" charset="-122"/>
              <a:cs typeface="Times New Roman Regular" panose="02020603050405020304" charset="0"/>
              <a:sym typeface="+mn-ea"/>
            </a:endParaRPr>
          </a:p>
        </p:txBody>
      </p:sp>
    </p:spTree>
    <p:custDataLst>
      <p:tags r:id="rId4"/>
    </p:custData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userDrawn="1">
            <p:custDataLst>
              <p:tags r:id="rId1"/>
            </p:custDataLst>
          </p:nvPr>
        </p:nvSpPr>
        <p:spPr>
          <a:xfrm>
            <a:off x="1" y="6004875"/>
            <a:ext cx="12191999" cy="707886"/>
          </a:xfrm>
          <a:prstGeom prst="rect">
            <a:avLst/>
          </a:prstGeom>
          <a:noFill/>
        </p:spPr>
        <p:txBody>
          <a:bodyPr wrap="square" rtlCol="0">
            <a:spAutoFit/>
          </a:bodyPr>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
        <p:nvSpPr>
          <p:cNvPr id="9" name="文本框 8"/>
          <p:cNvSpPr txBox="1"/>
          <p:nvPr/>
        </p:nvSpPr>
        <p:spPr>
          <a:xfrm>
            <a:off x="1501140" y="2740660"/>
            <a:ext cx="8943340" cy="1376680"/>
          </a:xfrm>
          <a:prstGeom prst="rect">
            <a:avLst/>
          </a:prstGeom>
        </p:spPr>
        <p:txBody>
          <a:bodyPr>
            <a:noAutofit/>
            <a:scene3d>
              <a:camera prst="orthographicFront"/>
              <a:lightRig rig="threePt" dir="t"/>
            </a:scene3d>
            <a:extLst>
              <a:ext uri="{4A0BC546-FE56-4ADE-93B0-CB8AF2F6F144}">
                <wpsdc:textFrameExt xmlns:wpsdc="http://www.wps.cn/officeDocument/2022/drawingmlCustomData" type="title"/>
              </a:ext>
            </a:extLst>
          </a:bodyPr>
          <a:p>
            <a:pPr algn="ctr"/>
            <a:r>
              <a:rPr lang="en-US" altLang="zh-CN" sz="6600" b="1" spc="400">
                <a:ln>
                  <a:solidFill>
                    <a:schemeClr val="tx2">
                      <a:lumMod val="50000"/>
                      <a:lumOff val="50000"/>
                    </a:schemeClr>
                  </a:solidFill>
                </a:ln>
                <a:solidFill>
                  <a:schemeClr val="accent1"/>
                </a:solidFill>
                <a:effectLst>
                  <a:outerShdw blurRad="38100" dist="25400" dir="5400000" algn="ctr" rotWithShape="0">
                    <a:srgbClr val="6E747A">
                      <a:alpha val="43000"/>
                    </a:srgbClr>
                  </a:outerShdw>
                </a:effectLst>
                <a:latin typeface="Times New Roman" panose="02020603050405020304" charset="0"/>
                <a:ea typeface="微软雅黑" panose="020B0503020204020204" charset="-122"/>
                <a:cs typeface="Times New Roman" panose="02020603050405020304" charset="0"/>
              </a:rPr>
              <a:t>Thanks for watching!</a:t>
            </a:r>
            <a:endParaRPr lang="en-US" altLang="zh-CN" sz="6600" b="1" spc="400">
              <a:ln>
                <a:solidFill>
                  <a:schemeClr val="tx2">
                    <a:lumMod val="50000"/>
                    <a:lumOff val="50000"/>
                  </a:schemeClr>
                </a:solidFill>
              </a:ln>
              <a:solidFill>
                <a:schemeClr val="accent1"/>
              </a:solidFill>
              <a:effectLst>
                <a:outerShdw blurRad="38100" dist="25400" dir="5400000" algn="ctr" rotWithShape="0">
                  <a:srgbClr val="6E747A">
                    <a:alpha val="43000"/>
                  </a:srgbClr>
                </a:outerShdw>
              </a:effectLst>
              <a:latin typeface="Times New Roman" panose="02020603050405020304" charset="0"/>
              <a:ea typeface="微软雅黑" panose="020B0503020204020204" charset="-122"/>
              <a:cs typeface="Times New Roman" panose="02020603050405020304" charset="0"/>
            </a:endParaRPr>
          </a:p>
        </p:txBody>
      </p:sp>
    </p:spTree>
    <p:custDataLst>
      <p:tags r:id="rId2"/>
    </p:custDataLst>
  </p:cSld>
  <p:clrMapOvr>
    <a:masterClrMapping/>
  </p:clrMapOvr>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3.xml><?xml version="1.0" encoding="utf-8"?>
<p:tagLst xmlns:p="http://schemas.openxmlformats.org/presentationml/2006/main">
  <p:tag name="KSO_WM_DIAGRAM_VIRTUALLY_FRAME" val="{&quot;height&quot;:350.63039370078735,&quot;left&quot;:237.58204724409447,&quot;top&quot;:117.28236220472441,&quot;width&quot;:501.0126771653544}"/>
</p:tagLst>
</file>

<file path=ppt/tags/tag64.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65.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66.xml><?xml version="1.0" encoding="utf-8"?>
<p:tagLst xmlns:p="http://schemas.openxmlformats.org/presentationml/2006/main">
  <p:tag name="KSO_WM_DIAGRAM_VIRTUALLY_FRAME" val="{&quot;height&quot;:350.63039370078735,&quot;left&quot;:237.58204724409447,&quot;top&quot;:117.28236220472441,&quot;width&quot;:501.0126771653544}"/>
</p:tagLst>
</file>

<file path=ppt/tags/tag67.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68.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69.xml><?xml version="1.0" encoding="utf-8"?>
<p:tagLst xmlns:p="http://schemas.openxmlformats.org/presentationml/2006/main">
  <p:tag name="KSO_WM_DIAGRAM_VIRTUALLY_FRAME" val="{&quot;height&quot;:350.63039370078735,&quot;left&quot;:237.58204724409447,&quot;top&quot;:117.28236220472441,&quot;width&quot;:501.0126771653544}"/>
</p:tagLst>
</file>

<file path=ppt/tags/tag70.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71.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72.xml><?xml version="1.0" encoding="utf-8"?>
<p:tagLst xmlns:p="http://schemas.openxmlformats.org/presentationml/2006/main">
  <p:tag name="KSO_WM_DIAGRAM_VIRTUALLY_FRAME" val="{&quot;height&quot;:350.63039370078735,&quot;left&quot;:237.58204724409447,&quot;top&quot;:117.28236220472441,&quot;width&quot;:501.0126771653544}"/>
</p:tagLst>
</file>

<file path=ppt/tags/tag73.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74.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75.xml><?xml version="1.0" encoding="utf-8"?>
<p:tagLst xmlns:p="http://schemas.openxmlformats.org/presentationml/2006/main">
  <p:tag name="KSO_WM_DIAGRAM_VIRTUALLY_FRAME" val="{&quot;height&quot;:350.63039370078735,&quot;left&quot;:237.58204724409447,&quot;top&quot;:117.28236220472441,&quot;width&quot;:501.0126771653544}"/>
</p:tagLst>
</file>

<file path=ppt/tags/tag76.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77.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78.xml><?xml version="1.0" encoding="utf-8"?>
<p:tagLst xmlns:p="http://schemas.openxmlformats.org/presentationml/2006/main">
  <p:tag name="KSO_WM_DIAGRAM_VIRTUALLY_FRAME" val="{&quot;height&quot;:350.63039370078735,&quot;left&quot;:237.58204724409447,&quot;top&quot;:117.28236220472441,&quot;width&quot;:501.0126771653544}"/>
</p:tagLst>
</file>

<file path=ppt/tags/tag79.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80.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81.xml><?xml version="1.0" encoding="utf-8"?>
<p:tagLst xmlns:p="http://schemas.openxmlformats.org/presentationml/2006/main">
  <p:tag name="KSO_WM_DIAGRAM_VIRTUALLY_FRAME" val="{&quot;height&quot;:350.63039370078735,&quot;left&quot;:237.58204724409447,&quot;top&quot;:117.28236220472441,&quot;width&quot;:501.0126771653544}"/>
</p:tagLst>
</file>

<file path=ppt/tags/tag82.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83.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84.xml><?xml version="1.0" encoding="utf-8"?>
<p:tagLst xmlns:p="http://schemas.openxmlformats.org/presentationml/2006/main">
  <p:tag name="KSO_WM_DIAGRAM_VIRTUALLY_FRAME" val="{&quot;height&quot;:350.63039370078735,&quot;left&quot;:237.58204724409447,&quot;top&quot;:117.28236220472441,&quot;width&quot;:501.0126771653544}"/>
</p:tagLst>
</file>

<file path=ppt/tags/tag85.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86.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87.xml><?xml version="1.0" encoding="utf-8"?>
<p:tagLst xmlns:p="http://schemas.openxmlformats.org/presentationml/2006/main">
  <p:tag name="KSO_WM_DIAGRAM_VIRTUALLY_FRAME" val="{&quot;height&quot;:350.63039370078735,&quot;left&quot;:237.58204724409447,&quot;top&quot;:117.28236220472441,&quot;width&quot;:501.0126771653544}"/>
</p:tagLst>
</file>

<file path=ppt/tags/tag88.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89.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90.xml><?xml version="1.0" encoding="utf-8"?>
<p:tagLst xmlns:p="http://schemas.openxmlformats.org/presentationml/2006/main">
  <p:tag name="KSO_WM_DIAGRAM_VIRTUALLY_FRAME" val="{&quot;height&quot;:350.63039370078735,&quot;left&quot;:237.58204724409447,&quot;top&quot;:117.28236220472441,&quot;width&quot;:501.0126771653544}"/>
</p:tagLst>
</file>

<file path=ppt/tags/tag91.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92.xml><?xml version="1.0" encoding="utf-8"?>
<p:tagLst xmlns:p="http://schemas.openxmlformats.org/presentationml/2006/main">
  <p:tag name="KSO_WM_BEAUTIFY_FLAG" val=""/>
  <p:tag name="KSO_WM_DIAGRAM_VIRTUALLY_FRAME" val="{&quot;height&quot;:350.63039370078735,&quot;left&quot;:237.58204724409447,&quot;top&quot;:117.28236220472441,&quot;width&quot;:501.0126771653544}"/>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wm#"/>
  <p:tag name="KSO_WM_TEMPLATE_CATEGORY" val="custom"/>
  <p:tag name="KSO_WM_TEMPLATE_INDEX" val="20205081"/>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BEAUTIFY_FLAG" val="#wm#"/>
  <p:tag name="KSO_WM_TEMPLATE_CATEGORY" val="custom"/>
  <p:tag name="KSO_WM_TEMPLATE_INDEX" val="20205081"/>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wm#"/>
  <p:tag name="KSO_WM_TEMPLATE_CATEGORY" val="custom"/>
  <p:tag name="KSO_WM_TEMPLATE_INDEX" val="20205081"/>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wm#"/>
  <p:tag name="KSO_WM_TEMPLATE_CATEGORY" val="custom"/>
  <p:tag name="KSO_WM_TEMPLATE_INDEX" val="20205081"/>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wm#"/>
  <p:tag name="KSO_WM_TEMPLATE_CATEGORY" val="custom"/>
  <p:tag name="KSO_WM_TEMPLATE_INDEX" val="20205081"/>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wm#"/>
  <p:tag name="KSO_WM_TEMPLATE_CATEGORY" val="custom"/>
  <p:tag name="KSO_WM_TEMPLATE_INDEX" val="20205081"/>
</p:tagLst>
</file>

<file path=ppt/tags/tag108.xml><?xml version="1.0" encoding="utf-8"?>
<p:tagLst xmlns:p="http://schemas.openxmlformats.org/presentationml/2006/main">
  <p:tag name="KSO_WM_BEAUTIFY_FLAG" val="#wm#"/>
  <p:tag name="KSO_WM_TEMPLATE_CATEGORY" val="custom"/>
  <p:tag name="KSO_WM_TEMPLATE_INDEX" val="20205081"/>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wm#"/>
  <p:tag name="KSO_WM_TEMPLATE_CATEGORY" val="custom"/>
  <p:tag name="KSO_WM_TEMPLATE_INDEX" val="20205081"/>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wm#"/>
  <p:tag name="KSO_WM_TEMPLATE_CATEGORY" val="custom"/>
  <p:tag name="KSO_WM_TEMPLATE_INDEX" val="20205081"/>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wm#"/>
  <p:tag name="KSO_WM_TEMPLATE_CATEGORY" val="custom"/>
  <p:tag name="KSO_WM_TEMPLATE_INDEX" val="20205081"/>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wm#"/>
  <p:tag name="KSO_WM_TEMPLATE_CATEGORY" val="custom"/>
  <p:tag name="KSO_WM_TEMPLATE_INDEX" val="20205081"/>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wm#"/>
  <p:tag name="KSO_WM_TEMPLATE_CATEGORY" val="custom"/>
  <p:tag name="KSO_WM_TEMPLATE_INDEX" val="20205081"/>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wm#"/>
  <p:tag name="KSO_WM_TEMPLATE_CATEGORY" val="custom"/>
  <p:tag name="KSO_WM_TEMPLATE_INDEX" val="20205081"/>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wm#"/>
  <p:tag name="KSO_WM_TEMPLATE_CATEGORY" val="custom"/>
  <p:tag name="KSO_WM_TEMPLATE_INDEX" val="20205081"/>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wm#"/>
  <p:tag name="KSO_WM_TEMPLATE_CATEGORY" val="custom"/>
  <p:tag name="KSO_WM_TEMPLATE_INDEX" val="20205081"/>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wm#"/>
  <p:tag name="KSO_WM_TEMPLATE_CATEGORY" val="custom"/>
  <p:tag name="KSO_WM_TEMPLATE_INDEX" val="20205081"/>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wm#"/>
  <p:tag name="KSO_WM_TEMPLATE_CATEGORY" val="custom"/>
  <p:tag name="KSO_WM_TEMPLATE_INDEX" val="20205081"/>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wm#"/>
  <p:tag name="KSO_WM_TEMPLATE_CATEGORY" val="custom"/>
  <p:tag name="KSO_WM_TEMPLATE_INDEX" val="20205081"/>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wm#"/>
  <p:tag name="KSO_WM_TEMPLATE_CATEGORY" val="custom"/>
  <p:tag name="KSO_WM_TEMPLATE_INDEX" val="20205081"/>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wm#"/>
  <p:tag name="KSO_WM_TEMPLATE_CATEGORY" val="custom"/>
  <p:tag name="KSO_WM_TEMPLATE_INDEX" val="20205081"/>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wm#"/>
  <p:tag name="KSO_WM_TEMPLATE_CATEGORY" val="custom"/>
  <p:tag name="KSO_WM_TEMPLATE_INDEX" val="20205081"/>
</p:tagLst>
</file>

<file path=ppt/tags/tag154.xml><?xml version="1.0" encoding="utf-8"?>
<p:tagLst xmlns:p="http://schemas.openxmlformats.org/presentationml/2006/main">
  <p:tag name="commondata" val="eyJoZGlkIjoiYjY2ODhkNjc1NzYwYjNhZmJiZDI2ZGMwYTcxZGI4YjUifQ=="/>
  <p:tag name="COMMONDATA" val="eyJoZGlkIjoiYjA4MjJiOTQyZmY0NDhlYWIzYzY2ZmY4YWJiMzJmNTAifQ=="/>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11169</Words>
  <Application>WPS 文字</Application>
  <PresentationFormat>宽屏</PresentationFormat>
  <Paragraphs>265</Paragraphs>
  <Slides>23</Slides>
  <Notes>4</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23</vt:i4>
      </vt:variant>
    </vt:vector>
  </HeadingPairs>
  <TitlesOfParts>
    <vt:vector size="45" baseType="lpstr">
      <vt:lpstr>Arial</vt:lpstr>
      <vt:lpstr>宋体</vt:lpstr>
      <vt:lpstr>Wingdings</vt:lpstr>
      <vt:lpstr>Wingdings</vt:lpstr>
      <vt:lpstr>汉仪书宋二KW</vt:lpstr>
      <vt:lpstr>Times New Roman Regular</vt:lpstr>
      <vt:lpstr>Times New Roman</vt:lpstr>
      <vt:lpstr>Times New Roman Bold Italic</vt:lpstr>
      <vt:lpstr>Brush Script MT</vt:lpstr>
      <vt:lpstr>华文隶书</vt:lpstr>
      <vt:lpstr>微软雅黑</vt:lpstr>
      <vt:lpstr>汉仪旗黑</vt:lpstr>
      <vt:lpstr>黑体</vt:lpstr>
      <vt:lpstr>Times New Roman Italic</vt:lpstr>
      <vt:lpstr>宋体</vt:lpstr>
      <vt:lpstr>Times New Roman Bold</vt:lpstr>
      <vt:lpstr>报隶-简</vt:lpstr>
      <vt:lpstr>Arial Unicode MS</vt:lpstr>
      <vt:lpstr>Calibri</vt:lpstr>
      <vt:lpstr>Helvetica Neue</vt:lpstr>
      <vt:lpstr>汉仪中黑KW</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明了</cp:lastModifiedBy>
  <cp:revision>297</cp:revision>
  <dcterms:created xsi:type="dcterms:W3CDTF">2025-05-21T12:40:46Z</dcterms:created>
  <dcterms:modified xsi:type="dcterms:W3CDTF">2025-05-21T12:40:46Z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2052-6.12.0.8899</vt:lpwstr>
  </property>
  <property fmtid="{D5CDD505-2E9C-101B-9397-08002B2CF9AE}" pid="3" name="ICV">
    <vt:lpwstr>D4523BAED4A728B4ABC12D68FEFAE55D_43</vt:lpwstr>
  </property>
</Properties>
</file>