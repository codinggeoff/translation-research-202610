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8"/>
  </p:handoutMasterIdLst>
  <p:sldIdLst>
    <p:sldId id="343" r:id="rId3"/>
    <p:sldId id="258" r:id="rId5"/>
    <p:sldId id="285" r:id="rId6"/>
    <p:sldId id="300" r:id="rId7"/>
    <p:sldId id="320" r:id="rId8"/>
    <p:sldId id="298" r:id="rId9"/>
    <p:sldId id="327" r:id="rId10"/>
    <p:sldId id="338" r:id="rId11"/>
    <p:sldId id="342" r:id="rId12"/>
    <p:sldId id="340" r:id="rId13"/>
    <p:sldId id="299" r:id="rId14"/>
    <p:sldId id="326" r:id="rId15"/>
    <p:sldId id="322" r:id="rId16"/>
    <p:sldId id="324" r:id="rId17"/>
    <p:sldId id="313" r:id="rId18"/>
    <p:sldId id="334" r:id="rId19"/>
    <p:sldId id="335" r:id="rId20"/>
    <p:sldId id="337" r:id="rId21"/>
    <p:sldId id="314" r:id="rId22"/>
    <p:sldId id="331" r:id="rId23"/>
    <p:sldId id="332" r:id="rId24"/>
    <p:sldId id="333" r:id="rId25"/>
    <p:sldId id="309" r:id="rId26"/>
    <p:sldId id="284" r:id="rId27"/>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9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5456"/>
    <a:srgbClr val="03A9F0"/>
    <a:srgbClr val="5B9BD5"/>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showGuides="1">
      <p:cViewPr varScale="1">
        <p:scale>
          <a:sx n="67" d="100"/>
          <a:sy n="67" d="100"/>
        </p:scale>
        <p:origin x="564" y="56"/>
      </p:cViewPr>
      <p:guideLst>
        <p:guide orient="horz" pos="2160"/>
        <p:guide pos="3915"/>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70" d="100"/>
          <a:sy n="70" d="100"/>
        </p:scale>
        <p:origin x="2520"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gs" Target="tags/tag20.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96566E-A135-47C5-B666-D77ED219465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A0E1E66-0EA3-46B4-8216-B1B8BE711FF1}"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00BAA7-22A5-49C2-BA97-E6B0C9CFDA3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D9F56C-685E-485A-BF04-BF7465453AF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D9F56C-685E-485A-BF04-BF7465453AF0}" type="slidenum">
              <a:rPr lang="zh-CN" altLang="en-US" smtClean="0">
                <a:solidFill>
                  <a:prstClr val="black"/>
                </a:solidFill>
              </a:rPr>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
        <p:nvSpPr>
          <p:cNvPr id="2" name="文本框 1"/>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
        <p:nvSpPr>
          <p:cNvPr id="5" name="文本框 4"/>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963683-69C5-4225-8B2B-0C82CECB9400}" type="slidenum">
              <a:rPr lang="zh-CN" altLang="en-US" smtClean="0"/>
            </a:fld>
            <a:endParaRPr lang="zh-CN" altLang="en-US"/>
          </a:p>
        </p:txBody>
      </p:sp>
      <p:sp>
        <p:nvSpPr>
          <p:cNvPr id="6" name="矩形 5"/>
          <p:cNvSpPr/>
          <p:nvPr userDrawn="1"/>
        </p:nvSpPr>
        <p:spPr>
          <a:xfrm>
            <a:off x="0" y="2276872"/>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矩形 8"/>
          <p:cNvSpPr/>
          <p:nvPr userDrawn="1"/>
        </p:nvSpPr>
        <p:spPr>
          <a:xfrm>
            <a:off x="8975543" y="2276871"/>
            <a:ext cx="3264363" cy="268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nvGrpSpPr>
          <p:cNvPr id="10" name="组合 9"/>
          <p:cNvGrpSpPr/>
          <p:nvPr userDrawn="1"/>
        </p:nvGrpSpPr>
        <p:grpSpPr>
          <a:xfrm>
            <a:off x="7596491" y="2468893"/>
            <a:ext cx="576064" cy="577112"/>
            <a:chOff x="6084168" y="1274820"/>
            <a:chExt cx="432048" cy="432834"/>
          </a:xfrm>
        </p:grpSpPr>
        <p:sp>
          <p:nvSpPr>
            <p:cNvPr id="11"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12"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13" name="组合 12"/>
          <p:cNvGrpSpPr/>
          <p:nvPr userDrawn="1"/>
        </p:nvGrpSpPr>
        <p:grpSpPr>
          <a:xfrm>
            <a:off x="5868299" y="2469417"/>
            <a:ext cx="576064" cy="576064"/>
            <a:chOff x="4788024" y="1275213"/>
            <a:chExt cx="432048" cy="432048"/>
          </a:xfrm>
        </p:grpSpPr>
        <p:sp>
          <p:nvSpPr>
            <p:cNvPr id="14"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15"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16" name="组合 15"/>
          <p:cNvGrpSpPr/>
          <p:nvPr userDrawn="1"/>
        </p:nvGrpSpPr>
        <p:grpSpPr>
          <a:xfrm>
            <a:off x="6732395" y="2468893"/>
            <a:ext cx="577111" cy="577112"/>
            <a:chOff x="5436096" y="1274820"/>
            <a:chExt cx="432833" cy="432834"/>
          </a:xfrm>
        </p:grpSpPr>
        <p:sp>
          <p:nvSpPr>
            <p:cNvPr id="17"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18"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19" name="组合 18"/>
          <p:cNvGrpSpPr/>
          <p:nvPr userDrawn="1"/>
        </p:nvGrpSpPr>
        <p:grpSpPr>
          <a:xfrm>
            <a:off x="4140107" y="2468893"/>
            <a:ext cx="577111" cy="577112"/>
            <a:chOff x="3491880" y="1274820"/>
            <a:chExt cx="432833" cy="432834"/>
          </a:xfrm>
        </p:grpSpPr>
        <p:sp>
          <p:nvSpPr>
            <p:cNvPr id="20"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21"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grpSp>
        <p:nvGrpSpPr>
          <p:cNvPr id="22" name="组合 21"/>
          <p:cNvGrpSpPr/>
          <p:nvPr userDrawn="1"/>
        </p:nvGrpSpPr>
        <p:grpSpPr>
          <a:xfrm>
            <a:off x="5004203" y="2468893"/>
            <a:ext cx="577111" cy="577112"/>
            <a:chOff x="4139952" y="1274820"/>
            <a:chExt cx="432833" cy="432834"/>
          </a:xfrm>
        </p:grpSpPr>
        <p:sp>
          <p:nvSpPr>
            <p:cNvPr id="23"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sz="2400">
                <a:solidFill>
                  <a:srgbClr val="FFFFFF"/>
                </a:solidFill>
                <a:latin typeface="Calibri" pitchFamily="34" charset="0"/>
              </a:endParaRPr>
            </a:p>
          </p:txBody>
        </p:sp>
        <p:sp>
          <p:nvSpPr>
            <p:cNvPr id="24"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45720" tIns="22860" rIns="45720" bIns="22860" anchor="ctr"/>
            <a:lstStyle/>
            <a:p>
              <a:endParaRPr lang="en-US" sz="2400">
                <a:latin typeface="Roboto Light"/>
              </a:endParaRPr>
            </a:p>
          </p:txBody>
        </p:sp>
      </p:grpSp>
      <p:sp>
        <p:nvSpPr>
          <p:cNvPr id="25" name="文本框 24"/>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pic>
        <p:nvPicPr>
          <p:cNvPr id="26" name="图片 2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ppt_w</p:attrName>
                                        </p:attrNameLst>
                                      </p:cBhvr>
                                      <p:tavLst>
                                        <p:tav tm="0">
                                          <p:val>
                                            <p:fltVal val="0"/>
                                          </p:val>
                                        </p:tav>
                                        <p:tav tm="100000">
                                          <p:val>
                                            <p:strVal val="#ppt_w"/>
                                          </p:val>
                                        </p:tav>
                                      </p:tavLst>
                                    </p:anim>
                                    <p:anim calcmode="lin" valueType="num">
                                      <p:cBhvr>
                                        <p:cTn id="17" dur="500" fill="hold"/>
                                        <p:tgtEl>
                                          <p:spTgt spid="19"/>
                                        </p:tgtEl>
                                        <p:attrNameLst>
                                          <p:attrName>ppt_h</p:attrName>
                                        </p:attrNameLst>
                                      </p:cBhvr>
                                      <p:tavLst>
                                        <p:tav tm="0">
                                          <p:val>
                                            <p:fltVal val="0"/>
                                          </p:val>
                                        </p:tav>
                                        <p:tav tm="100000">
                                          <p:val>
                                            <p:strVal val="#ppt_h"/>
                                          </p:val>
                                        </p:tav>
                                      </p:tavLst>
                                    </p:anim>
                                    <p:animEffect transition="in" filter="fade">
                                      <p:cBhvr>
                                        <p:cTn id="18" dur="500"/>
                                        <p:tgtEl>
                                          <p:spTgt spid="19"/>
                                        </p:tgtEl>
                                      </p:cBhvr>
                                    </p:animEffect>
                                  </p:childTnLst>
                                </p:cTn>
                              </p:par>
                              <p:par>
                                <p:cTn id="19" presetID="53" presetClass="entr" presetSubtype="16" fill="hold" nodeType="withEffect">
                                  <p:stCondLst>
                                    <p:cond delay="20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animEffect transition="in" filter="fade">
                                      <p:cBhvr>
                                        <p:cTn id="23" dur="500"/>
                                        <p:tgtEl>
                                          <p:spTgt spid="22"/>
                                        </p:tgtEl>
                                      </p:cBhvr>
                                    </p:animEffect>
                                  </p:childTnLst>
                                </p:cTn>
                              </p:par>
                              <p:par>
                                <p:cTn id="24" presetID="53" presetClass="entr" presetSubtype="16" fill="hold" nodeType="withEffect">
                                  <p:stCondLst>
                                    <p:cond delay="40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ppt_w</p:attrName>
                                        </p:attrNameLst>
                                      </p:cBhvr>
                                      <p:tavLst>
                                        <p:tav tm="0">
                                          <p:val>
                                            <p:fltVal val="0"/>
                                          </p:val>
                                        </p:tav>
                                        <p:tav tm="100000">
                                          <p:val>
                                            <p:strVal val="#ppt_w"/>
                                          </p:val>
                                        </p:tav>
                                      </p:tavLst>
                                    </p:anim>
                                    <p:anim calcmode="lin" valueType="num">
                                      <p:cBhvr>
                                        <p:cTn id="27" dur="500" fill="hold"/>
                                        <p:tgtEl>
                                          <p:spTgt spid="13"/>
                                        </p:tgtEl>
                                        <p:attrNameLst>
                                          <p:attrName>ppt_h</p:attrName>
                                        </p:attrNameLst>
                                      </p:cBhvr>
                                      <p:tavLst>
                                        <p:tav tm="0">
                                          <p:val>
                                            <p:fltVal val="0"/>
                                          </p:val>
                                        </p:tav>
                                        <p:tav tm="100000">
                                          <p:val>
                                            <p:strVal val="#ppt_h"/>
                                          </p:val>
                                        </p:tav>
                                      </p:tavLst>
                                    </p:anim>
                                    <p:animEffect transition="in" filter="fade">
                                      <p:cBhvr>
                                        <p:cTn id="28" dur="500"/>
                                        <p:tgtEl>
                                          <p:spTgt spid="13"/>
                                        </p:tgtEl>
                                      </p:cBhvr>
                                    </p:animEffect>
                                  </p:childTnLst>
                                </p:cTn>
                              </p:par>
                              <p:par>
                                <p:cTn id="29" presetID="53" presetClass="entr" presetSubtype="16" fill="hold" nodeType="withEffect">
                                  <p:stCondLst>
                                    <p:cond delay="60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par>
                                <p:cTn id="34" presetID="53" presetClass="entr" presetSubtype="16" fill="hold" nodeType="withEffect">
                                  <p:stCondLst>
                                    <p:cond delay="800"/>
                                  </p:stCondLst>
                                  <p:childTnLst>
                                    <p:set>
                                      <p:cBhvr>
                                        <p:cTn id="35" dur="1" fill="hold">
                                          <p:stCondLst>
                                            <p:cond delay="0"/>
                                          </p:stCondLst>
                                        </p:cTn>
                                        <p:tgtEl>
                                          <p:spTgt spid="10"/>
                                        </p:tgtEl>
                                        <p:attrNameLst>
                                          <p:attrName>style.visibility</p:attrName>
                                        </p:attrNameLst>
                                      </p:cBhvr>
                                      <p:to>
                                        <p:strVal val="visible"/>
                                      </p:to>
                                    </p:set>
                                    <p:anim calcmode="lin" valueType="num">
                                      <p:cBhvr>
                                        <p:cTn id="36" dur="500" fill="hold"/>
                                        <p:tgtEl>
                                          <p:spTgt spid="10"/>
                                        </p:tgtEl>
                                        <p:attrNameLst>
                                          <p:attrName>ppt_w</p:attrName>
                                        </p:attrNameLst>
                                      </p:cBhvr>
                                      <p:tavLst>
                                        <p:tav tm="0">
                                          <p:val>
                                            <p:fltVal val="0"/>
                                          </p:val>
                                        </p:tav>
                                        <p:tav tm="100000">
                                          <p:val>
                                            <p:strVal val="#ppt_w"/>
                                          </p:val>
                                        </p:tav>
                                      </p:tavLst>
                                    </p:anim>
                                    <p:anim calcmode="lin" valueType="num">
                                      <p:cBhvr>
                                        <p:cTn id="37" dur="500" fill="hold"/>
                                        <p:tgtEl>
                                          <p:spTgt spid="10"/>
                                        </p:tgtEl>
                                        <p:attrNameLst>
                                          <p:attrName>ppt_h</p:attrName>
                                        </p:attrNameLst>
                                      </p:cBhvr>
                                      <p:tavLst>
                                        <p:tav tm="0">
                                          <p:val>
                                            <p:fltVal val="0"/>
                                          </p:val>
                                        </p:tav>
                                        <p:tav tm="100000">
                                          <p:val>
                                            <p:strVal val="#ppt_h"/>
                                          </p:val>
                                        </p:tav>
                                      </p:tavLst>
                                    </p:anim>
                                    <p:animEffect transition="in" filter="fade">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963683-69C5-4225-8B2B-0C82CECB9400}" type="slidenum">
              <a:rPr lang="zh-CN" altLang="en-US" smtClean="0"/>
            </a:fld>
            <a:endParaRPr lang="zh-CN" altLang="en-US"/>
          </a:p>
        </p:txBody>
      </p:sp>
      <p:sp>
        <p:nvSpPr>
          <p:cNvPr id="9" name="矩形 8"/>
          <p:cNvSpPr/>
          <p:nvPr userDrawn="1"/>
        </p:nvSpPr>
        <p:spPr>
          <a:xfrm>
            <a:off x="8725278" y="6450175"/>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4"/>
            <a:ext cx="3441871" cy="79957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65AC512-946F-491C-A78E-B874D25DDF2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F963683-69C5-4225-8B2B-0C82CECB9400}"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9529" y="99423"/>
            <a:ext cx="3708572" cy="86153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5AC512-946F-491C-A78E-B874D25DDF2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963683-69C5-4225-8B2B-0C82CECB9400}" type="slidenum">
              <a:rPr lang="zh-CN" altLang="en-US" smtClean="0"/>
            </a:fld>
            <a:endParaRPr lang="zh-CN" altLang="en-US"/>
          </a:p>
        </p:txBody>
      </p:sp>
      <p:sp>
        <p:nvSpPr>
          <p:cNvPr id="7" name="文本框 6"/>
          <p:cNvSpPr txBox="1"/>
          <p:nvPr userDrawn="1"/>
        </p:nvSpPr>
        <p:spPr>
          <a:xfrm>
            <a:off x="1" y="6004875"/>
            <a:ext cx="12191999" cy="707886"/>
          </a:xfrm>
          <a:prstGeom prst="rect">
            <a:avLst/>
          </a:prstGeom>
          <a:noFill/>
        </p:spPr>
        <p:txBody>
          <a:bodyPr wrap="square" rtlCol="0">
            <a:spAutoFit/>
          </a:bodyPr>
          <a:lstStyle/>
          <a:p>
            <a:pPr algn="ctr"/>
            <a:r>
              <a:rPr lang="en-US" altLang="zh-CN" sz="2000" dirty="0">
                <a:solidFill>
                  <a:schemeClr val="bg1">
                    <a:lumMod val="50000"/>
                  </a:schemeClr>
                </a:solidFill>
                <a:latin typeface="Brush Script MT" panose="03060802040406070304" pitchFamily="66" charset="-122"/>
                <a:ea typeface="华文隶书" panose="02010800040101010101" pitchFamily="2" charset="-122"/>
              </a:rPr>
              <a:t>In Pursuit of Excellence in Interpreting and Translation</a:t>
            </a:r>
            <a:endParaRPr lang="en-US" altLang="zh-CN" sz="2000" dirty="0">
              <a:solidFill>
                <a:schemeClr val="bg1">
                  <a:lumMod val="50000"/>
                </a:schemeClr>
              </a:solidFill>
              <a:latin typeface="Brush Script MT" panose="03060802040406070304" pitchFamily="66" charset="-122"/>
              <a:ea typeface="华文隶书" panose="02010800040101010101" pitchFamily="2" charset="-122"/>
            </a:endParaRPr>
          </a:p>
          <a:p>
            <a:pPr algn="ctr"/>
            <a:r>
              <a:rPr lang="zh-CN" altLang="en-US" sz="2000" dirty="0">
                <a:solidFill>
                  <a:schemeClr val="bg1">
                    <a:lumMod val="50000"/>
                  </a:schemeClr>
                </a:solidFill>
                <a:latin typeface="华文隶书" panose="02010800040101010101" pitchFamily="2" charset="-122"/>
                <a:ea typeface="华文隶书" panose="02010800040101010101" pitchFamily="2" charset="-122"/>
              </a:rPr>
              <a:t>译无止境，臻于至善</a:t>
            </a:r>
            <a:endParaRPr lang="zh-CN" altLang="en-US" sz="2000" dirty="0">
              <a:solidFill>
                <a:schemeClr val="bg1">
                  <a:lumMod val="50000"/>
                </a:schemeClr>
              </a:solidFill>
              <a:latin typeface="华文隶书" panose="02010800040101010101" pitchFamily="2" charset="-122"/>
              <a:ea typeface="华文隶书" panose="0201080004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03A9F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5.xml"/><Relationship Id="rId1" Type="http://schemas.openxmlformats.org/officeDocument/2006/relationships/tags" Target="../tags/tag14.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7.xml"/><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70230" y="3030220"/>
            <a:ext cx="11289665" cy="399415"/>
          </a:xfrm>
          <a:prstGeom prst="rect">
            <a:avLst/>
          </a:prstGeom>
          <a:noFill/>
        </p:spPr>
        <p:txBody>
          <a:bodyPr wrap="square" rtlCol="0">
            <a:noAutofit/>
          </a:bodyPr>
          <a:lstStyle/>
          <a:p>
            <a:pPr algn="l"/>
            <a:r>
              <a:rPr lang="en-US" altLang="zh-CN" sz="2400" dirty="0"/>
              <a:t> 接受美学视角下《一句顶一万句》英译本</a:t>
            </a:r>
            <a:r>
              <a:rPr lang="zh-CN" altLang="en-US" sz="2400" dirty="0"/>
              <a:t>研究</a:t>
            </a:r>
            <a:r>
              <a:rPr lang="en-US" altLang="zh-CN" sz="2400" dirty="0"/>
              <a:t>——</a:t>
            </a:r>
            <a:r>
              <a:rPr lang="zh-CN" altLang="en-US" sz="2400" dirty="0"/>
              <a:t>以</a:t>
            </a:r>
            <a:r>
              <a:rPr lang="en-US" altLang="zh-CN" sz="2400" dirty="0"/>
              <a:t>“不是……而是……”结构为例</a:t>
            </a:r>
            <a:endParaRPr lang="en-US" altLang="zh-CN" sz="2400" dirty="0"/>
          </a:p>
        </p:txBody>
      </p:sp>
      <p:sp>
        <p:nvSpPr>
          <p:cNvPr id="4" name="文本框 3"/>
          <p:cNvSpPr txBox="1"/>
          <p:nvPr/>
        </p:nvSpPr>
        <p:spPr>
          <a:xfrm>
            <a:off x="7795895" y="4259580"/>
            <a:ext cx="4064000" cy="368300"/>
          </a:xfrm>
          <a:prstGeom prst="rect">
            <a:avLst/>
          </a:prstGeom>
          <a:noFill/>
        </p:spPr>
        <p:txBody>
          <a:bodyPr wrap="square" rtlCol="0">
            <a:spAutoFit/>
          </a:bodyPr>
          <a:p>
            <a:r>
              <a:rPr lang="en-US" altLang="zh-CN"/>
              <a:t>2022</a:t>
            </a:r>
            <a:r>
              <a:rPr lang="zh-CN" altLang="en-US"/>
              <a:t>级翻译学</a:t>
            </a:r>
            <a:r>
              <a:rPr lang="en-US" altLang="zh-CN"/>
              <a:t> </a:t>
            </a:r>
            <a:r>
              <a:rPr lang="zh-CN" altLang="en-US"/>
              <a:t>刘淼</a:t>
            </a:r>
            <a:endParaRPr lang="zh-CN" altLang="en-US"/>
          </a:p>
        </p:txBody>
      </p:sp>
      <p:sp>
        <p:nvSpPr>
          <p:cNvPr id="5" name="文本框 4"/>
          <p:cNvSpPr txBox="1"/>
          <p:nvPr/>
        </p:nvSpPr>
        <p:spPr>
          <a:xfrm>
            <a:off x="793115" y="1699260"/>
            <a:ext cx="10407650" cy="1198880"/>
          </a:xfrm>
          <a:prstGeom prst="rect">
            <a:avLst/>
          </a:prstGeom>
          <a:noFill/>
        </p:spPr>
        <p:txBody>
          <a:bodyPr wrap="square" rtlCol="0">
            <a:spAutoFit/>
          </a:bodyPr>
          <a:p>
            <a:pPr algn="r">
              <a:buClrTx/>
              <a:buSzTx/>
              <a:buNone/>
            </a:pPr>
            <a:r>
              <a:rPr lang="en-US" altLang="zh-CN" sz="2400">
                <a:solidFill>
                  <a:schemeClr val="tx1"/>
                </a:solidFill>
                <a:latin typeface="Times New Roman Regular" panose="02020603050405020304"/>
                <a:ea typeface="Times New Roman Regular" panose="02020603050405020304"/>
                <a:cs typeface="+mj-cs"/>
                <a:sym typeface="+mn-ea"/>
              </a:rPr>
              <a:t>A Reception Aesthetic Study of the English Translation of </a:t>
            </a:r>
            <a:r>
              <a:rPr lang="en-US" altLang="zh-CN" sz="2400" b="1" i="1">
                <a:solidFill>
                  <a:schemeClr val="tx1"/>
                </a:solidFill>
                <a:latin typeface="Times New Roman Italic" panose="02020603050405020304" charset="0"/>
                <a:ea typeface="Times New Roman Regular" panose="02020603050405020304"/>
                <a:cs typeface="Times New Roman Italic" panose="02020603050405020304" charset="0"/>
                <a:sym typeface="+mn-ea"/>
              </a:rPr>
              <a:t>Yiju Ding Yiwanju</a:t>
            </a:r>
            <a:r>
              <a:rPr lang="en-US" altLang="zh-CN" sz="2400" b="1">
                <a:solidFill>
                  <a:schemeClr val="tx1"/>
                </a:solidFill>
                <a:latin typeface="Times New Roman Regular" panose="02020603050405020304"/>
                <a:ea typeface="Times New Roman Regular" panose="02020603050405020304"/>
                <a:cs typeface="+mj-cs"/>
                <a:sym typeface="+mn-ea"/>
              </a:rPr>
              <a:t>:               </a:t>
            </a:r>
            <a:r>
              <a:rPr lang="en-US" altLang="zh-CN" sz="2400">
                <a:solidFill>
                  <a:schemeClr val="tx1"/>
                </a:solidFill>
                <a:latin typeface="Times New Roman Regular" panose="02020603050405020304"/>
                <a:ea typeface="Times New Roman Regular" panose="02020603050405020304"/>
                <a:cs typeface="+mj-cs"/>
                <a:sym typeface="+mn-ea"/>
              </a:rPr>
              <a:t>Exemplified by the Translation of “</a:t>
            </a:r>
            <a:r>
              <a:rPr lang="en-US" altLang="zh-CN" sz="2400" i="1">
                <a:solidFill>
                  <a:schemeClr val="tx1"/>
                </a:solidFill>
                <a:latin typeface="Times New Roman Italic" panose="02020603050405020304" charset="0"/>
                <a:ea typeface="Times New Roman Regular" panose="02020603050405020304"/>
                <a:cs typeface="Times New Roman Italic" panose="02020603050405020304" charset="0"/>
                <a:sym typeface="+mn-ea"/>
              </a:rPr>
              <a:t>bushi…ershi…</a:t>
            </a:r>
            <a:r>
              <a:rPr lang="en-US" altLang="zh-CN" sz="2400">
                <a:solidFill>
                  <a:schemeClr val="tx1"/>
                </a:solidFill>
                <a:latin typeface="Times New Roman Regular" panose="02020603050405020304"/>
                <a:ea typeface="Times New Roman Regular" panose="02020603050405020304"/>
                <a:cs typeface="+mj-cs"/>
                <a:sym typeface="+mn-ea"/>
              </a:rPr>
              <a:t>” Contrast Structure </a:t>
            </a:r>
            <a:endParaRPr lang="en-US" altLang="zh-CN" sz="2400" b="1">
              <a:solidFill>
                <a:schemeClr val="tx1"/>
              </a:solidFill>
              <a:latin typeface="Times New Roman Regular" panose="02020603050405020304"/>
              <a:ea typeface="Times New Roman Regular" panose="02020603050405020304"/>
              <a:cs typeface="+mj-cs"/>
            </a:endParaRPr>
          </a:p>
          <a:p>
            <a:pPr algn="l">
              <a:buClrTx/>
              <a:buSzTx/>
              <a:buNone/>
            </a:pPr>
            <a:endParaRPr lang="en-US" altLang="zh-CN" sz="2400" b="1">
              <a:solidFill>
                <a:schemeClr val="tx1"/>
              </a:solidFill>
              <a:latin typeface="Times New Roman Regular" panose="02020603050405020304"/>
              <a:ea typeface="Times New Roman Regular" panose="02020603050405020304"/>
              <a:cs typeface="+mj-c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4249830" y="1281841"/>
            <a:ext cx="1192345" cy="666786"/>
            <a:chOff x="2215144" y="927951"/>
            <a:chExt cx="1244730" cy="916847"/>
          </a:xfrm>
        </p:grpSpPr>
        <p:sp>
          <p:nvSpPr>
            <p:cNvPr id="47" name="平行四边形 46"/>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48" name="文本框 9"/>
            <p:cNvSpPr txBox="1"/>
            <p:nvPr/>
          </p:nvSpPr>
          <p:spPr>
            <a:xfrm>
              <a:off x="2393075" y="927951"/>
              <a:ext cx="1066799" cy="916847"/>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rPr>
                <a:t>01</a:t>
              </a:r>
              <a:endParaRPr lang="zh-CN" altLang="en-US" sz="3735" dirty="0">
                <a:solidFill>
                  <a:schemeClr val="bg1"/>
                </a:solidFill>
                <a:latin typeface="Impact" panose="020B0806030902050204" pitchFamily="34" charset="0"/>
              </a:endParaRPr>
            </a:p>
          </p:txBody>
        </p:sp>
      </p:grpSp>
      <p:grpSp>
        <p:nvGrpSpPr>
          <p:cNvPr id="49" name="组合 48"/>
          <p:cNvGrpSpPr/>
          <p:nvPr/>
        </p:nvGrpSpPr>
        <p:grpSpPr>
          <a:xfrm>
            <a:off x="4249830" y="2187994"/>
            <a:ext cx="1192345" cy="672218"/>
            <a:chOff x="2215144" y="1952311"/>
            <a:chExt cx="1244730" cy="924318"/>
          </a:xfrm>
        </p:grpSpPr>
        <p:sp>
          <p:nvSpPr>
            <p:cNvPr id="50" name="平行四边形 49"/>
            <p:cNvSpPr/>
            <p:nvPr/>
          </p:nvSpPr>
          <p:spPr>
            <a:xfrm>
              <a:off x="2215144" y="2033848"/>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1" name="文本框 10"/>
            <p:cNvSpPr txBox="1"/>
            <p:nvPr/>
          </p:nvSpPr>
          <p:spPr>
            <a:xfrm>
              <a:off x="2393075" y="1952311"/>
              <a:ext cx="1066799" cy="916850"/>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rPr>
                <a:t>02</a:t>
              </a:r>
              <a:endParaRPr lang="zh-CN" altLang="en-US" sz="3735" dirty="0">
                <a:solidFill>
                  <a:schemeClr val="bg1"/>
                </a:solidFill>
                <a:latin typeface="Impact" panose="020B0806030902050204" pitchFamily="34" charset="0"/>
              </a:endParaRPr>
            </a:p>
          </p:txBody>
        </p:sp>
      </p:grpSp>
      <p:grpSp>
        <p:nvGrpSpPr>
          <p:cNvPr id="52" name="组合 51"/>
          <p:cNvGrpSpPr/>
          <p:nvPr/>
        </p:nvGrpSpPr>
        <p:grpSpPr>
          <a:xfrm>
            <a:off x="4249830" y="3123791"/>
            <a:ext cx="1192345" cy="666786"/>
            <a:chOff x="2215144" y="3018134"/>
            <a:chExt cx="1244730" cy="916848"/>
          </a:xfrm>
        </p:grpSpPr>
        <p:sp>
          <p:nvSpPr>
            <p:cNvPr id="53" name="平行四边形 52"/>
            <p:cNvSpPr/>
            <p:nvPr/>
          </p:nvSpPr>
          <p:spPr>
            <a:xfrm>
              <a:off x="2215144" y="3084852"/>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4" name="文本框 11"/>
            <p:cNvSpPr txBox="1"/>
            <p:nvPr/>
          </p:nvSpPr>
          <p:spPr>
            <a:xfrm>
              <a:off x="2393075" y="3018134"/>
              <a:ext cx="1066799" cy="916848"/>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rPr>
                <a:t>03</a:t>
              </a:r>
              <a:endParaRPr lang="zh-CN" altLang="en-US" sz="3735" dirty="0">
                <a:solidFill>
                  <a:schemeClr val="bg1"/>
                </a:solidFill>
                <a:latin typeface="Impact" panose="020B0806030902050204" pitchFamily="34" charset="0"/>
              </a:endParaRPr>
            </a:p>
          </p:txBody>
        </p:sp>
      </p:grpSp>
      <p:grpSp>
        <p:nvGrpSpPr>
          <p:cNvPr id="55" name="组合 54"/>
          <p:cNvGrpSpPr/>
          <p:nvPr/>
        </p:nvGrpSpPr>
        <p:grpSpPr>
          <a:xfrm>
            <a:off x="4249830" y="4033777"/>
            <a:ext cx="1192345" cy="677512"/>
            <a:chOff x="2215144" y="4047039"/>
            <a:chExt cx="1244730" cy="931598"/>
          </a:xfrm>
        </p:grpSpPr>
        <p:sp>
          <p:nvSpPr>
            <p:cNvPr id="56" name="平行四边形 55"/>
            <p:cNvSpPr/>
            <p:nvPr/>
          </p:nvSpPr>
          <p:spPr>
            <a:xfrm>
              <a:off x="2215144" y="4135856"/>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7" name="文本框 12"/>
            <p:cNvSpPr txBox="1"/>
            <p:nvPr/>
          </p:nvSpPr>
          <p:spPr>
            <a:xfrm>
              <a:off x="2393075" y="4047039"/>
              <a:ext cx="1066799" cy="916850"/>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rPr>
                <a:t>04</a:t>
              </a:r>
              <a:endParaRPr lang="zh-CN" altLang="en-US" sz="3735" dirty="0">
                <a:solidFill>
                  <a:schemeClr val="bg1"/>
                </a:solidFill>
                <a:latin typeface="Impact" panose="020B0806030902050204" pitchFamily="34" charset="0"/>
              </a:endParaRPr>
            </a:p>
          </p:txBody>
        </p:sp>
      </p:grpSp>
      <p:grpSp>
        <p:nvGrpSpPr>
          <p:cNvPr id="58" name="组合 57"/>
          <p:cNvGrpSpPr/>
          <p:nvPr/>
        </p:nvGrpSpPr>
        <p:grpSpPr>
          <a:xfrm>
            <a:off x="4249827" y="4966497"/>
            <a:ext cx="1179315" cy="670313"/>
            <a:chOff x="2215144" y="5107938"/>
            <a:chExt cx="1231128" cy="921702"/>
          </a:xfrm>
        </p:grpSpPr>
        <p:sp>
          <p:nvSpPr>
            <p:cNvPr id="59" name="平行四边形 58"/>
            <p:cNvSpPr/>
            <p:nvPr/>
          </p:nvSpPr>
          <p:spPr>
            <a:xfrm>
              <a:off x="2215144" y="5186859"/>
              <a:ext cx="1120898" cy="842781"/>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60" name="文本框 13"/>
            <p:cNvSpPr txBox="1"/>
            <p:nvPr/>
          </p:nvSpPr>
          <p:spPr>
            <a:xfrm>
              <a:off x="2379473" y="5107938"/>
              <a:ext cx="1066799" cy="916852"/>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rPr>
                <a:t>05</a:t>
              </a:r>
              <a:endParaRPr lang="zh-CN" altLang="en-US" sz="3735" dirty="0">
                <a:solidFill>
                  <a:schemeClr val="bg1"/>
                </a:solidFill>
                <a:latin typeface="Impact" panose="020B0806030902050204" pitchFamily="34" charset="0"/>
              </a:endParaRPr>
            </a:p>
          </p:txBody>
        </p:sp>
      </p:grpSp>
      <p:grpSp>
        <p:nvGrpSpPr>
          <p:cNvPr id="61" name="组合 60"/>
          <p:cNvGrpSpPr/>
          <p:nvPr/>
        </p:nvGrpSpPr>
        <p:grpSpPr>
          <a:xfrm>
            <a:off x="5155499" y="1299590"/>
            <a:ext cx="5143000" cy="612920"/>
            <a:chOff x="4315150" y="953426"/>
            <a:chExt cx="3857250" cy="540057"/>
          </a:xfrm>
        </p:grpSpPr>
        <p:sp>
          <p:nvSpPr>
            <p:cNvPr id="62" name="矩形 61"/>
            <p:cNvSpPr/>
            <p:nvPr/>
          </p:nvSpPr>
          <p:spPr>
            <a:xfrm>
              <a:off x="4841196" y="1036090"/>
              <a:ext cx="2827147" cy="405646"/>
            </a:xfrm>
            <a:prstGeom prst="rect">
              <a:avLst/>
            </a:prstGeom>
            <a:ln w="15875">
              <a:noFill/>
            </a:ln>
          </p:spPr>
          <p:txBody>
            <a:bodyPr wrap="square" lIns="91440" tIns="45720" rIns="91440" bIns="45720">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I</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ntroduction</a:t>
              </a:r>
              <a:endPar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3" name="平行四边形 62"/>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endParaRPr>
            </a:p>
          </p:txBody>
        </p:sp>
      </p:grpSp>
      <p:grpSp>
        <p:nvGrpSpPr>
          <p:cNvPr id="64" name="组合 63"/>
          <p:cNvGrpSpPr/>
          <p:nvPr/>
        </p:nvGrpSpPr>
        <p:grpSpPr>
          <a:xfrm>
            <a:off x="5155499" y="2225128"/>
            <a:ext cx="5143000" cy="612920"/>
            <a:chOff x="4315150" y="1647579"/>
            <a:chExt cx="3857250" cy="540057"/>
          </a:xfrm>
        </p:grpSpPr>
        <p:sp>
          <p:nvSpPr>
            <p:cNvPr id="65" name="矩形 64"/>
            <p:cNvSpPr/>
            <p:nvPr/>
          </p:nvSpPr>
          <p:spPr>
            <a:xfrm>
              <a:off x="4841196" y="1730243"/>
              <a:ext cx="2827147" cy="405646"/>
            </a:xfrm>
            <a:prstGeom prst="rect">
              <a:avLst/>
            </a:prstGeom>
            <a:ln w="15875">
              <a:noFill/>
            </a:ln>
          </p:spPr>
          <p:txBody>
            <a:bodyPr wrap="square" lIns="91440" tIns="45720" rIns="91440" bIns="45720">
              <a:spAutoFit/>
            </a:bodyPr>
            <a:lstStyle/>
            <a:p>
              <a:pPr algn="l"/>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L</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iterature</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 R</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eview</a:t>
              </a:r>
              <a:endPar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66" name="平行四边形 65"/>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endParaRPr>
            </a:p>
          </p:txBody>
        </p:sp>
      </p:grpSp>
      <p:grpSp>
        <p:nvGrpSpPr>
          <p:cNvPr id="67" name="组合 66"/>
          <p:cNvGrpSpPr/>
          <p:nvPr/>
        </p:nvGrpSpPr>
        <p:grpSpPr>
          <a:xfrm>
            <a:off x="5155499" y="3150665"/>
            <a:ext cx="5143000" cy="612920"/>
            <a:chOff x="4315150" y="2341731"/>
            <a:chExt cx="3857250" cy="540057"/>
          </a:xfrm>
        </p:grpSpPr>
        <p:sp>
          <p:nvSpPr>
            <p:cNvPr id="68" name="矩形 67"/>
            <p:cNvSpPr/>
            <p:nvPr/>
          </p:nvSpPr>
          <p:spPr>
            <a:xfrm>
              <a:off x="4841197" y="2424395"/>
              <a:ext cx="2827146" cy="405646"/>
            </a:xfrm>
            <a:prstGeom prst="rect">
              <a:avLst/>
            </a:prstGeom>
            <a:ln w="15875">
              <a:noFill/>
            </a:ln>
          </p:spPr>
          <p:txBody>
            <a:bodyPr wrap="square" lIns="91440" tIns="45720" rIns="91440" bIns="45720">
              <a:spAutoFit/>
            </a:bodyPr>
            <a:lstStyle/>
            <a:p>
              <a:r>
                <a:rPr lang="en-GB" altLang="zh-CN" sz="2400" b="1" dirty="0">
                  <a:solidFill>
                    <a:schemeClr val="tx1">
                      <a:lumMod val="75000"/>
                      <a:lumOff val="25000"/>
                    </a:schemeClr>
                  </a:solidFill>
                  <a:latin typeface="微软雅黑" panose="020B0503020204020204" pitchFamily="34" charset="-122"/>
                  <a:ea typeface="微软雅黑" panose="020B0503020204020204" pitchFamily="34" charset="-122"/>
                </a:rPr>
                <a:t>Research Methodology</a:t>
              </a:r>
              <a:endParaRPr lang="en-GB" altLang="zh-CN"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9" name="平行四边形 68"/>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endParaRPr>
            </a:p>
          </p:txBody>
        </p:sp>
      </p:grpSp>
      <p:grpSp>
        <p:nvGrpSpPr>
          <p:cNvPr id="70" name="组合 69"/>
          <p:cNvGrpSpPr/>
          <p:nvPr/>
        </p:nvGrpSpPr>
        <p:grpSpPr>
          <a:xfrm>
            <a:off x="5155499" y="4076203"/>
            <a:ext cx="5143000" cy="612920"/>
            <a:chOff x="4315150" y="3035884"/>
            <a:chExt cx="3857250" cy="540057"/>
          </a:xfrm>
        </p:grpSpPr>
        <p:sp>
          <p:nvSpPr>
            <p:cNvPr id="71" name="矩形 70"/>
            <p:cNvSpPr/>
            <p:nvPr/>
          </p:nvSpPr>
          <p:spPr>
            <a:xfrm>
              <a:off x="4841196" y="3118548"/>
              <a:ext cx="2827147" cy="405646"/>
            </a:xfrm>
            <a:prstGeom prst="rect">
              <a:avLst/>
            </a:prstGeom>
            <a:ln w="15875">
              <a:noFill/>
            </a:ln>
          </p:spPr>
          <p:txBody>
            <a:bodyPr wrap="square" lIns="91440" tIns="45720" rIns="91440" bIns="45720">
              <a:spAutoFit/>
            </a:bodyPr>
            <a:lstStyle/>
            <a:p>
              <a:r>
                <a:rPr lang="en-US" altLang="en-GB"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C</a:t>
              </a:r>
              <a:r>
                <a:rPr lang="en-US" altLang="en-GB"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ase Analysis</a:t>
              </a:r>
              <a:endParaRPr lang="en-US" altLang="en-GB" sz="24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72" name="平行四边形 71"/>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endParaRPr>
            </a:p>
          </p:txBody>
        </p:sp>
      </p:grpSp>
      <p:grpSp>
        <p:nvGrpSpPr>
          <p:cNvPr id="73" name="组合 72"/>
          <p:cNvGrpSpPr/>
          <p:nvPr/>
        </p:nvGrpSpPr>
        <p:grpSpPr>
          <a:xfrm>
            <a:off x="5155499" y="5001742"/>
            <a:ext cx="5143000" cy="612920"/>
            <a:chOff x="4315150" y="3730038"/>
            <a:chExt cx="3857250" cy="540057"/>
          </a:xfrm>
        </p:grpSpPr>
        <p:sp>
          <p:nvSpPr>
            <p:cNvPr id="74" name="矩形 73"/>
            <p:cNvSpPr/>
            <p:nvPr/>
          </p:nvSpPr>
          <p:spPr>
            <a:xfrm>
              <a:off x="4841197" y="3812702"/>
              <a:ext cx="2827146" cy="405646"/>
            </a:xfrm>
            <a:prstGeom prst="rect">
              <a:avLst/>
            </a:prstGeom>
            <a:ln w="15875">
              <a:noFill/>
            </a:ln>
          </p:spPr>
          <p:txBody>
            <a:bodyPr wrap="square" lIns="91440" tIns="45720" rIns="91440" bIns="45720">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Conclusion</a:t>
              </a:r>
              <a:endPar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5" name="平行四边形 74"/>
            <p:cNvSpPr/>
            <p:nvPr/>
          </p:nvSpPr>
          <p:spPr>
            <a:xfrm>
              <a:off x="4315150" y="3730038"/>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endParaRPr>
            </a:p>
          </p:txBody>
        </p:sp>
      </p:grpSp>
      <p:sp>
        <p:nvSpPr>
          <p:cNvPr id="7" name="矩形 6"/>
          <p:cNvSpPr/>
          <p:nvPr/>
        </p:nvSpPr>
        <p:spPr>
          <a:xfrm>
            <a:off x="1893501" y="2058711"/>
            <a:ext cx="877163" cy="2390591"/>
          </a:xfrm>
          <a:prstGeom prst="rect">
            <a:avLst/>
          </a:prstGeom>
          <a:noFill/>
        </p:spPr>
        <p:txBody>
          <a:bodyPr wrap="none" lIns="91440" tIns="45720" rIns="91440" bIns="45720">
            <a:spAutoFit/>
          </a:bodyPr>
          <a:lstStyle/>
          <a:p>
            <a:pPr algn="ctr">
              <a:lnSpc>
                <a:spcPct val="150000"/>
              </a:lnSpc>
            </a:pPr>
            <a:r>
              <a:rPr lang="zh-CN" altLang="en-US" sz="5400" b="1" dirty="0">
                <a:ln w="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rPr>
              <a:t>目</a:t>
            </a:r>
            <a:endParaRPr lang="en-US" altLang="zh-CN" sz="5400" b="1" dirty="0">
              <a:ln w="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endParaRPr>
          </a:p>
          <a:p>
            <a:pPr algn="ctr">
              <a:lnSpc>
                <a:spcPct val="150000"/>
              </a:lnSpc>
            </a:pPr>
            <a:r>
              <a:rPr lang="zh-CN" altLang="en-US" sz="5400" b="1" dirty="0">
                <a:ln w="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rPr>
              <a:t>录</a:t>
            </a:r>
            <a:endParaRPr lang="zh-CN" altLang="en-US" sz="5400" b="1" cap="none" spc="0" dirty="0">
              <a:ln w="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endParaRPr>
          </a:p>
        </p:txBody>
      </p:sp>
    </p:spTree>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7611" y="2835811"/>
            <a:ext cx="1627369" cy="156966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01</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604557" y="3297475"/>
            <a:ext cx="2765425" cy="645160"/>
          </a:xfrm>
          <a:prstGeom prst="rect">
            <a:avLst/>
          </a:prstGeom>
          <a:noFill/>
        </p:spPr>
        <p:txBody>
          <a:bodyPr wrap="none" rtlCol="0">
            <a:spAutoFit/>
          </a:bodyPr>
          <a:lstStyle/>
          <a:p>
            <a:pPr algn="l"/>
            <a:r>
              <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rPr>
              <a:t>Introduction</a:t>
            </a:r>
            <a:endPar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7611" y="2835811"/>
            <a:ext cx="170434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02</a:t>
            </a:r>
            <a:endParaRPr lang="zh-CN" altLang="en-US" sz="9600" dirty="0">
              <a:solidFill>
                <a:schemeClr val="bg1"/>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1"/>
          <a:srcRect t="23000" r="-3085"/>
          <a:stretch>
            <a:fillRect/>
          </a:stretch>
        </p:blipFill>
        <p:spPr>
          <a:xfrm>
            <a:off x="2540" y="1577340"/>
            <a:ext cx="12562205" cy="5280660"/>
          </a:xfrm>
          <a:prstGeom prst="rect">
            <a:avLst/>
          </a:prstGeom>
        </p:spPr>
      </p:pic>
      <p:sp>
        <p:nvSpPr>
          <p:cNvPr id="4" name="标题 3"/>
          <p:cNvSpPr>
            <a:spLocks noGrp="1"/>
          </p:cNvSpPr>
          <p:nvPr>
            <p:ph type="title"/>
          </p:nvPr>
        </p:nvSpPr>
        <p:spPr>
          <a:xfrm>
            <a:off x="847725" y="698500"/>
            <a:ext cx="8967470" cy="1029970"/>
          </a:xfrm>
        </p:spPr>
        <p:txBody>
          <a:bodyPr/>
          <a:p>
            <a:pPr algn="l">
              <a:buClrTx/>
              <a:buSzTx/>
              <a:buFontTx/>
            </a:pPr>
            <a:r>
              <a:rPr lang="en-US" altLang="zh-CN" sz="2000" b="1" kern="1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cs typeface="+mn-cs"/>
                <a:sym typeface="+mn-ea"/>
              </a:rPr>
              <a:t>1.1 Research Background</a:t>
            </a:r>
            <a:endParaRPr lang="en-US" altLang="zh-CN" sz="2000" b="1" kern="1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cs typeface="+mn-cs"/>
              <a:sym typeface="+mn-ea"/>
            </a:endParaRPr>
          </a:p>
        </p:txBody>
      </p:sp>
      <p:graphicFrame>
        <p:nvGraphicFramePr>
          <p:cNvPr id="3" name="表格 2"/>
          <p:cNvGraphicFramePr/>
          <p:nvPr>
            <p:custDataLst>
              <p:tags r:id="rId2"/>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75000"/>
                      </a:schemeClr>
                    </a:solidFill>
                  </a:tcPr>
                </a:tc>
                <a:tc>
                  <a:txBody>
                    <a:bodyPr/>
                    <a:p>
                      <a:pPr>
                        <a:buNone/>
                      </a:pPr>
                      <a:r>
                        <a:rPr lang="en-US" altLang="zh-CN" sz="1400"/>
                        <a:t>Literature Review</a:t>
                      </a:r>
                      <a:endParaRPr lang="en-US" altLang="zh-CN" sz="1400"/>
                    </a:p>
                  </a:txBody>
                  <a:tcPr>
                    <a:solidFill>
                      <a:schemeClr val="accent1">
                        <a:lumMod val="60000"/>
                        <a:lumOff val="40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60000"/>
                        <a:lumOff val="40000"/>
                      </a:schemeClr>
                    </a:solidFill>
                  </a:tcPr>
                </a:tc>
                <a:tc>
                  <a:txBody>
                    <a:bodyPr/>
                    <a:p>
                      <a:pPr>
                        <a:buNone/>
                      </a:pPr>
                      <a:r>
                        <a:rPr lang="en-US" altLang="zh-CN" sz="1400"/>
                        <a:t>Conclusion</a:t>
                      </a:r>
                      <a:endParaRPr lang="en-US" altLang="zh-CN" sz="1400"/>
                    </a:p>
                  </a:txBody>
                  <a:tcPr>
                    <a:solidFill>
                      <a:schemeClr val="accent1">
                        <a:lumMod val="60000"/>
                        <a:lumOff val="40000"/>
                      </a:schemeClr>
                    </a:solidFill>
                  </a:tcPr>
                </a:tc>
              </a:tr>
            </a:tbl>
          </a:graphicData>
        </a:graphic>
      </p:graphicFrame>
    </p:spTree>
  </p:cSld>
  <p:clrMapOvr>
    <a:masterClrMapping/>
  </p:clrMapOvr>
  <p:timing>
    <p:tnLst>
      <p:par>
        <p:cTn id="1" dur="indefinite" restart="never" nodeType="tmRoot"/>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7611" y="2835811"/>
            <a:ext cx="170434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02</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
        <p:nvSpPr>
          <p:cNvPr id="4" name="标题 3"/>
          <p:cNvSpPr>
            <a:spLocks noGrp="1"/>
          </p:cNvSpPr>
          <p:nvPr>
            <p:ph type="title"/>
          </p:nvPr>
        </p:nvSpPr>
        <p:spPr>
          <a:xfrm>
            <a:off x="847725" y="832485"/>
            <a:ext cx="8967470" cy="1029970"/>
          </a:xfrm>
        </p:spPr>
        <p:txBody>
          <a:bodyPr/>
          <a:p>
            <a:pPr algn="l">
              <a:buClrTx/>
              <a:buSzTx/>
              <a:buFontTx/>
            </a:pPr>
            <a:r>
              <a:rPr lang="en-US" altLang="zh-CN" sz="2000" b="1" kern="1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cs typeface="+mn-cs"/>
                <a:sym typeface="+mn-ea"/>
              </a:rPr>
              <a:t>1.2 Research Questions</a:t>
            </a:r>
            <a:endParaRPr lang="en-US" altLang="zh-CN" sz="2000" b="1" kern="1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cs typeface="+mn-cs"/>
              <a:sym typeface="+mn-ea"/>
            </a:endParaRPr>
          </a:p>
        </p:txBody>
      </p:sp>
      <p:sp>
        <p:nvSpPr>
          <p:cNvPr id="3" name="文本框 2"/>
          <p:cNvSpPr txBox="1"/>
          <p:nvPr/>
        </p:nvSpPr>
        <p:spPr>
          <a:xfrm>
            <a:off x="955040" y="1967230"/>
            <a:ext cx="9323070" cy="2922905"/>
          </a:xfrm>
          <a:prstGeom prst="rect">
            <a:avLst/>
          </a:prstGeom>
          <a:noFill/>
        </p:spPr>
        <p:txBody>
          <a:bodyPr wrap="square" rtlCol="0">
            <a:spAutoFit/>
          </a:bodyPr>
          <a:p>
            <a:r>
              <a:rPr lang="en-US" altLang="zh-CN" sz="2300">
                <a:solidFill>
                  <a:schemeClr val="tx1"/>
                </a:solidFill>
                <a:latin typeface="Times New Roman Regular" panose="02020603050405020304"/>
                <a:ea typeface="Times New Roman Regular" panose="02020603050405020304"/>
                <a:cs typeface="+mj-cs"/>
              </a:rPr>
              <a:t>(1)	What are</a:t>
            </a:r>
            <a:r>
              <a:rPr lang="en-US" altLang="zh-CN" sz="2300">
                <a:solidFill>
                  <a:srgbClr val="FF0000"/>
                </a:solidFill>
                <a:latin typeface="Times New Roman Regular" panose="02020603050405020304"/>
                <a:ea typeface="Times New Roman Regular" panose="02020603050405020304"/>
                <a:cs typeface="+mj-cs"/>
              </a:rPr>
              <a:t> the linguistic factors that might hinder the comprehension</a:t>
            </a:r>
            <a:r>
              <a:rPr lang="en-US" altLang="zh-CN" sz="2300">
                <a:solidFill>
                  <a:schemeClr val="tx1"/>
                </a:solidFill>
                <a:latin typeface="Times New Roman Regular" panose="02020603050405020304"/>
                <a:ea typeface="Times New Roman Regular" panose="02020603050405020304"/>
                <a:cs typeface="+mj-cs"/>
              </a:rPr>
              <a:t> of the Goldblatts’ English translation of </a:t>
            </a:r>
            <a:r>
              <a:rPr lang="en-US" altLang="zh-CN" sz="2300" i="1">
                <a:solidFill>
                  <a:schemeClr val="tx1"/>
                </a:solidFill>
                <a:latin typeface="Times New Roman Italic" panose="02020603050405020304" charset="0"/>
                <a:ea typeface="Times New Roman Regular" panose="02020603050405020304"/>
                <a:cs typeface="Times New Roman Italic" panose="02020603050405020304" charset="0"/>
              </a:rPr>
              <a:t>Yiju Ding Yiwanju?</a:t>
            </a:r>
            <a:endParaRPr lang="en-US" altLang="zh-CN" sz="2300" i="1">
              <a:solidFill>
                <a:schemeClr val="tx1"/>
              </a:solidFill>
              <a:latin typeface="Times New Roman Italic" panose="02020603050405020304" charset="0"/>
              <a:ea typeface="Times New Roman Regular" panose="02020603050405020304"/>
              <a:cs typeface="Times New Roman Italic" panose="02020603050405020304" charset="0"/>
            </a:endParaRPr>
          </a:p>
          <a:p>
            <a:endParaRPr lang="en-US" altLang="zh-CN" sz="2300">
              <a:solidFill>
                <a:schemeClr val="tx1"/>
              </a:solidFill>
              <a:latin typeface="Times New Roman Regular" panose="02020603050405020304"/>
              <a:ea typeface="Times New Roman Regular" panose="02020603050405020304"/>
              <a:cs typeface="+mj-cs"/>
            </a:endParaRPr>
          </a:p>
          <a:p>
            <a:r>
              <a:rPr lang="en-US" altLang="zh-CN" sz="2300">
                <a:solidFill>
                  <a:schemeClr val="tx1"/>
                </a:solidFill>
                <a:latin typeface="Times New Roman Regular" panose="02020603050405020304"/>
                <a:ea typeface="Times New Roman Regular" panose="02020603050405020304"/>
                <a:cs typeface="+mj-cs"/>
              </a:rPr>
              <a:t>(2)	How do the Goldblatts’ </a:t>
            </a:r>
            <a:r>
              <a:rPr lang="en-US" altLang="zh-CN" sz="2300">
                <a:solidFill>
                  <a:srgbClr val="FF0000"/>
                </a:solidFill>
                <a:latin typeface="Times New Roman Regular" panose="02020603050405020304"/>
                <a:ea typeface="Times New Roman Regular" panose="02020603050405020304"/>
                <a:cs typeface="+mj-cs"/>
              </a:rPr>
              <a:t>translation strategies</a:t>
            </a:r>
            <a:r>
              <a:rPr lang="en-US" altLang="zh-CN" sz="2300">
                <a:solidFill>
                  <a:schemeClr val="tx1"/>
                </a:solidFill>
                <a:latin typeface="Times New Roman Regular" panose="02020603050405020304"/>
                <a:ea typeface="Times New Roman Regular" panose="02020603050405020304"/>
                <a:cs typeface="+mj-cs"/>
              </a:rPr>
              <a:t> facilitate the novel’s </a:t>
            </a:r>
            <a:r>
              <a:rPr lang="en-US" altLang="zh-CN" sz="2300">
                <a:solidFill>
                  <a:srgbClr val="FF0000"/>
                </a:solidFill>
                <a:latin typeface="Times New Roman Regular" panose="02020603050405020304"/>
                <a:ea typeface="Times New Roman Regular" panose="02020603050405020304"/>
                <a:cs typeface="+mj-cs"/>
              </a:rPr>
              <a:t>reader acceptance</a:t>
            </a:r>
            <a:r>
              <a:rPr lang="en-US" altLang="zh-CN" sz="2300">
                <a:solidFill>
                  <a:schemeClr val="tx1"/>
                </a:solidFill>
                <a:latin typeface="Times New Roman Regular" panose="02020603050405020304"/>
                <a:ea typeface="Times New Roman Regular" panose="02020603050405020304"/>
                <a:cs typeface="+mj-cs"/>
              </a:rPr>
              <a:t> by English readers?</a:t>
            </a:r>
            <a:endParaRPr lang="en-US" altLang="zh-CN" sz="2300">
              <a:solidFill>
                <a:schemeClr val="tx1"/>
              </a:solidFill>
              <a:latin typeface="Times New Roman Regular" panose="02020603050405020304"/>
              <a:ea typeface="Times New Roman Regular" panose="02020603050405020304"/>
              <a:cs typeface="+mj-cs"/>
            </a:endParaRPr>
          </a:p>
          <a:p>
            <a:endParaRPr lang="en-US" altLang="zh-CN" sz="2300">
              <a:solidFill>
                <a:schemeClr val="tx1"/>
              </a:solidFill>
              <a:latin typeface="Times New Roman Regular" panose="02020603050405020304"/>
              <a:ea typeface="Times New Roman Regular" panose="02020603050405020304"/>
              <a:cs typeface="+mj-cs"/>
            </a:endParaRPr>
          </a:p>
          <a:p>
            <a:r>
              <a:rPr lang="en-US" altLang="zh-CN" sz="2300">
                <a:solidFill>
                  <a:schemeClr val="tx1"/>
                </a:solidFill>
                <a:latin typeface="Times New Roman Regular" panose="02020603050405020304"/>
                <a:ea typeface="Times New Roman Regular" panose="02020603050405020304"/>
                <a:cs typeface="+mj-cs"/>
              </a:rPr>
              <a:t>(3)	What </a:t>
            </a:r>
            <a:r>
              <a:rPr lang="en-US" altLang="zh-CN" sz="2300">
                <a:solidFill>
                  <a:srgbClr val="FF0000"/>
                </a:solidFill>
                <a:latin typeface="Times New Roman Regular" panose="02020603050405020304"/>
                <a:ea typeface="Times New Roman Regular" panose="02020603050405020304"/>
                <a:cs typeface="+mj-cs"/>
              </a:rPr>
              <a:t>implication</a:t>
            </a:r>
            <a:r>
              <a:rPr lang="en-US" altLang="zh-CN" sz="2300">
                <a:solidFill>
                  <a:schemeClr val="tx1"/>
                </a:solidFill>
                <a:latin typeface="Times New Roman Regular" panose="02020603050405020304"/>
                <a:ea typeface="Times New Roman Regular" panose="02020603050405020304"/>
                <a:cs typeface="+mj-cs"/>
              </a:rPr>
              <a:t> does Goldblatt and Lin’s rendition of </a:t>
            </a:r>
            <a:r>
              <a:rPr lang="en-US" altLang="zh-CN" sz="2300" i="1">
                <a:solidFill>
                  <a:schemeClr val="tx1"/>
                </a:solidFill>
                <a:latin typeface="Times New Roman Italic" panose="02020603050405020304" charset="0"/>
                <a:ea typeface="Times New Roman Regular" panose="02020603050405020304"/>
                <a:cs typeface="Times New Roman Italic" panose="02020603050405020304" charset="0"/>
              </a:rPr>
              <a:t>Yiju Ding Yiwanju</a:t>
            </a:r>
            <a:r>
              <a:rPr lang="en-US" altLang="zh-CN" sz="2300">
                <a:solidFill>
                  <a:schemeClr val="tx1"/>
                </a:solidFill>
                <a:latin typeface="Times New Roman Regular" panose="02020603050405020304"/>
                <a:ea typeface="Times New Roman Regular" panose="02020603050405020304"/>
                <a:cs typeface="+mj-cs"/>
              </a:rPr>
              <a:t> have for English translation of Chinese literature?</a:t>
            </a:r>
            <a:endParaRPr lang="en-US" altLang="zh-CN" sz="2300">
              <a:solidFill>
                <a:schemeClr val="tx1"/>
              </a:solidFill>
              <a:latin typeface="Times New Roman Regular" panose="02020603050405020304"/>
              <a:ea typeface="Times New Roman Regular" panose="02020603050405020304"/>
              <a:cs typeface="+mj-cs"/>
            </a:endParaRPr>
          </a:p>
        </p:txBody>
      </p:sp>
      <p:graphicFrame>
        <p:nvGraphicFramePr>
          <p:cNvPr id="5" name="表格 4"/>
          <p:cNvGraphicFramePr/>
          <p:nvPr>
            <p:custDataLst>
              <p:tags r:id="rId1"/>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75000"/>
                      </a:schemeClr>
                    </a:solidFill>
                  </a:tcPr>
                </a:tc>
                <a:tc>
                  <a:txBody>
                    <a:bodyPr/>
                    <a:p>
                      <a:pPr>
                        <a:buNone/>
                      </a:pPr>
                      <a:r>
                        <a:rPr lang="en-US" altLang="zh-CN" sz="1400"/>
                        <a:t>Literature Review</a:t>
                      </a:r>
                      <a:endParaRPr lang="en-US" altLang="zh-CN" sz="1400"/>
                    </a:p>
                  </a:txBody>
                  <a:tcPr>
                    <a:solidFill>
                      <a:schemeClr val="accent1">
                        <a:lumMod val="60000"/>
                        <a:lumOff val="40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60000"/>
                        <a:lumOff val="40000"/>
                      </a:schemeClr>
                    </a:solidFill>
                  </a:tcPr>
                </a:tc>
                <a:tc>
                  <a:txBody>
                    <a:bodyPr/>
                    <a:p>
                      <a:pPr>
                        <a:buNone/>
                      </a:pPr>
                      <a:r>
                        <a:rPr lang="en-US" altLang="zh-CN" sz="1400"/>
                        <a:t>Conclusion</a:t>
                      </a:r>
                      <a:endParaRPr lang="en-US" altLang="zh-CN" sz="1400"/>
                    </a:p>
                  </a:txBody>
                  <a:tcPr>
                    <a:solidFill>
                      <a:schemeClr val="accent1">
                        <a:lumMod val="60000"/>
                        <a:lumOff val="40000"/>
                      </a:schemeClr>
                    </a:solidFill>
                  </a:tcPr>
                </a:tc>
              </a:tr>
            </a:tbl>
          </a:graphicData>
        </a:graphic>
      </p:graphicFrame>
    </p:spTree>
  </p:cSld>
  <p:clrMapOvr>
    <a:masterClrMapping/>
  </p:clrMapOvr>
  <p:timing>
    <p:tnLst>
      <p:par>
        <p:cTn id="1" dur="indefinite" restart="never" nodeType="tmRoot"/>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7611" y="2835811"/>
            <a:ext cx="170434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02</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604557" y="3297475"/>
            <a:ext cx="3971290" cy="645160"/>
          </a:xfrm>
          <a:prstGeom prst="rect">
            <a:avLst/>
          </a:prstGeom>
          <a:noFill/>
        </p:spPr>
        <p:txBody>
          <a:bodyPr wrap="none" rtlCol="0">
            <a:spAutoFit/>
          </a:bodyPr>
          <a:lstStyle/>
          <a:p>
            <a:r>
              <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rPr>
              <a:t>L</a:t>
            </a:r>
            <a:r>
              <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rPr>
              <a:t>iterature Review</a:t>
            </a:r>
            <a:endPar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bldLst>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49285" y="1223212"/>
            <a:ext cx="9444990" cy="824230"/>
          </a:xfrm>
          <a:prstGeom prst="rect">
            <a:avLst/>
          </a:prstGeom>
          <a:noFill/>
        </p:spPr>
        <p:txBody>
          <a:bodyPr wrap="none" rtlCol="0">
            <a:spAutoFit/>
          </a:bodyPr>
          <a:lstStyle/>
          <a:p>
            <a:pPr marL="226695" indent="-226695" algn="l" defTabSz="266700">
              <a:lnSpc>
                <a:spcPts val="2000"/>
              </a:lnSpc>
              <a:spcAft>
                <a:spcPct val="60000"/>
              </a:spcAft>
              <a:buClrTx/>
              <a:buSzTx/>
              <a:buFontTx/>
            </a:pPr>
            <a:r>
              <a:rPr lang="en-US" altLang="zh-CN" sz="2000" b="1" kern="100" dirty="0">
                <a:ln/>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rPr>
              <a:t> </a:t>
            </a:r>
            <a:r>
              <a:rPr lang="en-US" altLang="zh-CN" sz="2000" b="1">
                <a:solidFill>
                  <a:schemeClr val="accent1"/>
                </a:solidFill>
                <a:effectLst>
                  <a:outerShdw blurRad="38100" dist="25400" dir="5400000" algn="ctr" rotWithShape="0">
                    <a:srgbClr val="6E747A">
                      <a:alpha val="43000"/>
                      <a:alpha val="43000"/>
                    </a:srgbClr>
                  </a:outerShdw>
                </a:effectLst>
              </a:rPr>
              <a:t>2.1 Previous Studies on Reception Aesthetics Applied to Translation Studies</a:t>
            </a:r>
            <a:endParaRPr lang="en-US" altLang="zh-CN" sz="2000" b="1">
              <a:solidFill>
                <a:schemeClr val="accent1"/>
              </a:solidFill>
              <a:effectLst>
                <a:outerShdw blurRad="38100" dist="25400" dir="5400000" algn="ctr" rotWithShape="0">
                  <a:srgbClr val="6E747A">
                    <a:alpha val="43000"/>
                    <a:alpha val="43000"/>
                  </a:srgbClr>
                </a:outerShdw>
              </a:effectLst>
            </a:endParaRPr>
          </a:p>
          <a:p>
            <a:pPr marL="226695" indent="-226695" algn="l" defTabSz="266700">
              <a:lnSpc>
                <a:spcPts val="2000"/>
              </a:lnSpc>
              <a:spcAft>
                <a:spcPct val="60000"/>
              </a:spcAft>
              <a:buClrTx/>
              <a:buSzTx/>
              <a:buFontTx/>
            </a:pPr>
            <a:endParaRPr lang="en-US" altLang="zh-CN" sz="2000" b="1">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1264719" y="2047147"/>
            <a:ext cx="10097430" cy="2399665"/>
          </a:xfrm>
          <a:prstGeom prst="rect">
            <a:avLst/>
          </a:prstGeom>
          <a:noFill/>
        </p:spPr>
        <p:txBody>
          <a:bodyPr wrap="square">
            <a:spAutoFit/>
          </a:bodyPr>
          <a:lstStyle/>
          <a:p>
            <a:pPr marL="342900" indent="-342900" algn="just" fontAlgn="auto">
              <a:lnSpc>
                <a:spcPct val="150000"/>
              </a:lnSpc>
              <a:buFont typeface="+mj-ea"/>
              <a:buAutoNum type="circleNumDbPlain"/>
            </a:pPr>
            <a:r>
              <a:rPr lang="en-US" altLang="zh-CN" sz="2000" kern="100" dirty="0">
                <a:effectLst/>
                <a:latin typeface="Times New Roman" panose="02020603050405020304" pitchFamily="18" charset="0"/>
                <a:ea typeface="宋体" pitchFamily="2" charset="-122"/>
                <a:cs typeface="Times New Roman" panose="02020603050405020304" pitchFamily="18" charset="0"/>
              </a:rPr>
              <a:t>research on translator subjectivity;</a:t>
            </a:r>
            <a:endParaRPr lang="en-US" altLang="zh-CN" sz="2000" kern="100" dirty="0">
              <a:effectLst/>
              <a:latin typeface="Times New Roman" panose="02020603050405020304" pitchFamily="18" charset="0"/>
              <a:ea typeface="宋体" pitchFamily="2" charset="-122"/>
              <a:cs typeface="Times New Roman" panose="02020603050405020304" pitchFamily="18" charset="0"/>
            </a:endParaRPr>
          </a:p>
          <a:p>
            <a:pPr marL="342900" indent="-342900" algn="just" fontAlgn="auto">
              <a:lnSpc>
                <a:spcPct val="150000"/>
              </a:lnSpc>
              <a:buFont typeface="+mj-ea"/>
              <a:buAutoNum type="circleNumDbPlain"/>
            </a:pPr>
            <a:r>
              <a:rPr lang="en-US" altLang="zh-CN" sz="2000" kern="100" dirty="0">
                <a:effectLst/>
                <a:latin typeface="Times New Roman" panose="02020603050405020304" pitchFamily="18" charset="0"/>
                <a:ea typeface="宋体" pitchFamily="2" charset="-122"/>
                <a:cs typeface="Times New Roman" panose="02020603050405020304" pitchFamily="18" charset="0"/>
              </a:rPr>
              <a:t>research on the reception of literary translation; </a:t>
            </a:r>
            <a:endParaRPr lang="en-US" altLang="zh-CN" sz="2000" kern="100" dirty="0">
              <a:effectLst/>
              <a:latin typeface="Times New Roman" panose="02020603050405020304" pitchFamily="18" charset="0"/>
              <a:ea typeface="宋体" pitchFamily="2" charset="-122"/>
              <a:cs typeface="Times New Roman" panose="02020603050405020304" pitchFamily="18" charset="0"/>
            </a:endParaRPr>
          </a:p>
          <a:p>
            <a:pPr marL="342900" indent="-342900" algn="just" fontAlgn="auto">
              <a:lnSpc>
                <a:spcPct val="150000"/>
              </a:lnSpc>
              <a:buFont typeface="+mj-ea"/>
              <a:buAutoNum type="circleNumDbPlain"/>
            </a:pPr>
            <a:r>
              <a:rPr lang="en-US" altLang="zh-CN" sz="2000" kern="100" dirty="0">
                <a:effectLst/>
                <a:latin typeface="Times New Roman" panose="02020603050405020304" pitchFamily="18" charset="0"/>
                <a:ea typeface="宋体" pitchFamily="2" charset="-122"/>
                <a:cs typeface="Times New Roman" panose="02020603050405020304" pitchFamily="18" charset="0"/>
              </a:rPr>
              <a:t>research on the dissemination effects of non-literary texts; </a:t>
            </a:r>
            <a:endParaRPr lang="en-US" altLang="zh-CN" sz="2000" kern="100" dirty="0">
              <a:effectLst/>
              <a:latin typeface="Times New Roman" panose="02020603050405020304" pitchFamily="18" charset="0"/>
              <a:ea typeface="宋体" pitchFamily="2" charset="-122"/>
              <a:cs typeface="Times New Roman" panose="02020603050405020304" pitchFamily="18" charset="0"/>
            </a:endParaRPr>
          </a:p>
          <a:p>
            <a:pPr marL="342900" indent="-342900" algn="just" fontAlgn="auto">
              <a:lnSpc>
                <a:spcPct val="150000"/>
              </a:lnSpc>
              <a:buFont typeface="+mj-ea"/>
              <a:buAutoNum type="circleNumDbPlain"/>
            </a:pPr>
            <a:r>
              <a:rPr lang="en-US" altLang="zh-CN" sz="2000" kern="100" dirty="0">
                <a:effectLst/>
                <a:latin typeface="Times New Roman" panose="02020603050405020304" pitchFamily="18" charset="0"/>
                <a:ea typeface="宋体" pitchFamily="2" charset="-122"/>
                <a:cs typeface="Times New Roman" panose="02020603050405020304" pitchFamily="18" charset="0"/>
              </a:rPr>
              <a:t>research on the connotations of literary texts; </a:t>
            </a:r>
            <a:endParaRPr lang="en-US" altLang="zh-CN" sz="2000" kern="100" dirty="0">
              <a:effectLst/>
              <a:latin typeface="Times New Roman" panose="02020603050405020304" pitchFamily="18" charset="0"/>
              <a:ea typeface="宋体" pitchFamily="2" charset="-122"/>
              <a:cs typeface="Times New Roman" panose="02020603050405020304" pitchFamily="18" charset="0"/>
            </a:endParaRPr>
          </a:p>
          <a:p>
            <a:pPr marL="342900" indent="-342900" algn="just" fontAlgn="auto">
              <a:lnSpc>
                <a:spcPct val="150000"/>
              </a:lnSpc>
              <a:buFont typeface="+mj-ea"/>
              <a:buAutoNum type="circleNumDbPlain"/>
            </a:pPr>
            <a:r>
              <a:rPr lang="en-US" altLang="zh-CN" sz="2000" kern="100" dirty="0">
                <a:effectLst/>
                <a:latin typeface="Times New Roman" panose="02020603050405020304" pitchFamily="18" charset="0"/>
                <a:ea typeface="宋体" pitchFamily="2" charset="-122"/>
                <a:cs typeface="Times New Roman" panose="02020603050405020304" pitchFamily="18" charset="0"/>
              </a:rPr>
              <a:t>practical translation studies.</a:t>
            </a:r>
            <a:endParaRPr lang="en-US" altLang="zh-CN" sz="2000" kern="100" dirty="0">
              <a:effectLst/>
              <a:latin typeface="Times New Roman" panose="02020603050405020304" pitchFamily="18" charset="0"/>
              <a:ea typeface="宋体" pitchFamily="2" charset="-122"/>
              <a:cs typeface="Times New Roman" panose="02020603050405020304" pitchFamily="18" charset="0"/>
            </a:endParaRPr>
          </a:p>
        </p:txBody>
      </p:sp>
      <p:graphicFrame>
        <p:nvGraphicFramePr>
          <p:cNvPr id="5" name="表格 4"/>
          <p:cNvGraphicFramePr/>
          <p:nvPr>
            <p:custDataLst>
              <p:tags r:id="rId1"/>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75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60000"/>
                        <a:lumOff val="40000"/>
                      </a:schemeClr>
                    </a:solidFill>
                  </a:tcPr>
                </a:tc>
                <a:tc>
                  <a:txBody>
                    <a:bodyPr/>
                    <a:p>
                      <a:pPr>
                        <a:buNone/>
                      </a:pPr>
                      <a:r>
                        <a:rPr lang="en-US" altLang="zh-CN" sz="1400"/>
                        <a:t>Conclusion</a:t>
                      </a:r>
                      <a:endParaRPr lang="en-US" altLang="zh-CN" sz="1400"/>
                    </a:p>
                  </a:txBody>
                  <a:tcPr>
                    <a:solidFill>
                      <a:schemeClr val="accent1">
                        <a:lumMod val="60000"/>
                        <a:lumOff val="40000"/>
                      </a:schemeClr>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9825" y="1037203"/>
            <a:ext cx="9394825" cy="807720"/>
          </a:xfrm>
          <a:prstGeom prst="rect">
            <a:avLst/>
          </a:prstGeom>
          <a:noFill/>
        </p:spPr>
        <p:txBody>
          <a:bodyPr wrap="none" rtlCol="0">
            <a:spAutoFit/>
          </a:bodyPr>
          <a:lstStyle/>
          <a:p>
            <a:pPr marL="226695" indent="-226695" algn="l" defTabSz="266700">
              <a:lnSpc>
                <a:spcPts val="2000"/>
              </a:lnSpc>
              <a:spcAft>
                <a:spcPct val="60000"/>
              </a:spcAft>
              <a:buClrTx/>
              <a:buSzTx/>
              <a:buNone/>
            </a:pPr>
            <a:r>
              <a:rPr lang="en-US" altLang="zh-CN" sz="2000" b="1" kern="1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rPr>
              <a:t>2.2 Previous Studies on the Translation of Howard Goldblatt and Sylvia Li-chun Lin </a:t>
            </a:r>
            <a:endParaRPr lang="en-US" altLang="zh-CN" sz="2000" b="1" kern="1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endParaRPr>
          </a:p>
          <a:p>
            <a:pPr marL="226695" indent="-226695" algn="l" defTabSz="266700">
              <a:lnSpc>
                <a:spcPts val="2000"/>
              </a:lnSpc>
              <a:spcAft>
                <a:spcPct val="60000"/>
              </a:spcAft>
              <a:buClrTx/>
              <a:buSzTx/>
              <a:buNone/>
            </a:pPr>
            <a:endParaRPr lang="en-US" altLang="zh-CN" sz="2000" b="1" kern="1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endParaRPr>
          </a:p>
        </p:txBody>
      </p:sp>
      <p:sp>
        <p:nvSpPr>
          <p:cNvPr id="4" name="文本框 3"/>
          <p:cNvSpPr txBox="1"/>
          <p:nvPr/>
        </p:nvSpPr>
        <p:spPr>
          <a:xfrm>
            <a:off x="1668162" y="2384854"/>
            <a:ext cx="184731" cy="369332"/>
          </a:xfrm>
          <a:prstGeom prst="rect">
            <a:avLst/>
          </a:prstGeom>
          <a:noFill/>
        </p:spPr>
        <p:txBody>
          <a:bodyPr wrap="none" rtlCol="0">
            <a:spAutoFit/>
          </a:bodyPr>
          <a:lstStyle/>
          <a:p>
            <a:endParaRPr kumimoji="1" lang="zh-CN" altLang="en-US" dirty="0"/>
          </a:p>
        </p:txBody>
      </p:sp>
      <p:sp>
        <p:nvSpPr>
          <p:cNvPr id="10" name="文本框 9"/>
          <p:cNvSpPr txBox="1"/>
          <p:nvPr/>
        </p:nvSpPr>
        <p:spPr>
          <a:xfrm>
            <a:off x="1124106" y="1618398"/>
            <a:ext cx="10246841" cy="368300"/>
          </a:xfrm>
          <a:prstGeom prst="rect">
            <a:avLst/>
          </a:prstGeom>
          <a:noFill/>
        </p:spPr>
        <p:txBody>
          <a:bodyPr wrap="square">
            <a:spAutoFit/>
          </a:bodyPr>
          <a:lstStyle/>
          <a:p>
            <a:r>
              <a:rPr lang="en-US" altLang="zh-CN" b="1" dirty="0">
                <a:latin typeface="Times New Roman" panose="02020603050405020304" pitchFamily="18" charset="0"/>
                <a:ea typeface="DengXian" panose="02010600030101010101" pitchFamily="2" charset="-122"/>
              </a:rPr>
              <a:t> The dispute over </a:t>
            </a:r>
            <a:r>
              <a:rPr lang="en-US" altLang="zh-CN" sz="1800" b="1" dirty="0">
                <a:effectLst/>
                <a:latin typeface="Times New Roman" panose="02020603050405020304" pitchFamily="18" charset="0"/>
                <a:ea typeface="DengXian" panose="02010600030101010101" pitchFamily="2" charset="-122"/>
              </a:rPr>
              <a:t>the translation strategy of Howard Goldblatt </a:t>
            </a:r>
            <a:r>
              <a:rPr lang="en-US" altLang="zh-CN" sz="1800" dirty="0">
                <a:effectLst/>
                <a:latin typeface="Times New Roman" panose="02020603050405020304" pitchFamily="18" charset="0"/>
                <a:ea typeface="DengXian" panose="02010600030101010101" pitchFamily="2" charset="-122"/>
              </a:rPr>
              <a:t>:</a:t>
            </a:r>
            <a:endParaRPr lang="zh-CN" altLang="en-US" dirty="0"/>
          </a:p>
        </p:txBody>
      </p:sp>
      <p:graphicFrame>
        <p:nvGraphicFramePr>
          <p:cNvPr id="23" name="表格 23"/>
          <p:cNvGraphicFramePr>
            <a:graphicFrameLocks noGrp="1"/>
          </p:cNvGraphicFramePr>
          <p:nvPr/>
        </p:nvGraphicFramePr>
        <p:xfrm>
          <a:off x="1257299" y="2163995"/>
          <a:ext cx="9468364" cy="3754120"/>
        </p:xfrm>
        <a:graphic>
          <a:graphicData uri="http://schemas.openxmlformats.org/drawingml/2006/table">
            <a:tbl>
              <a:tblPr firstRow="1" bandRow="1">
                <a:tableStyleId>{5C22544A-7EE6-4342-B048-85BDC9FD1C3A}</a:tableStyleId>
              </a:tblPr>
              <a:tblGrid>
                <a:gridCol w="4734182"/>
                <a:gridCol w="4734182"/>
              </a:tblGrid>
              <a:tr h="370840">
                <a:tc>
                  <a:txBody>
                    <a:bodyPr/>
                    <a:lstStyle/>
                    <a:p>
                      <a:pPr algn="ctr"/>
                      <a:r>
                        <a:rPr lang="en-US" altLang="zh-CN" dirty="0">
                          <a:latin typeface="Times New Roman" panose="02020603050405020304" pitchFamily="18" charset="0"/>
                          <a:cs typeface="Times New Roman" panose="02020603050405020304" pitchFamily="18" charset="0"/>
                        </a:rPr>
                        <a:t>domestication</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sz="1800" dirty="0">
                          <a:solidFill>
                            <a:schemeClr val="bg1"/>
                          </a:solidFill>
                          <a:effectLst/>
                          <a:latin typeface="Times New Roman" panose="02020603050405020304" pitchFamily="18" charset="0"/>
                          <a:ea typeface="DengXian" panose="02010600030101010101" pitchFamily="2" charset="-122"/>
                          <a:cs typeface="Times New Roman" panose="02020603050405020304" pitchFamily="18" charset="0"/>
                        </a:rPr>
                        <a:t>domestication and foreignization</a:t>
                      </a:r>
                      <a:endParaRPr lang="zh-CN" altLang="en-US" dirty="0">
                        <a:solidFill>
                          <a:schemeClr val="bg1"/>
                        </a:solidFill>
                        <a:latin typeface="Times New Roman" panose="02020603050405020304" pitchFamily="18" charset="0"/>
                        <a:cs typeface="Times New Roman" panose="02020603050405020304" pitchFamily="18" charset="0"/>
                      </a:endParaRPr>
                    </a:p>
                  </a:txBody>
                  <a:tcPr/>
                </a:tc>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lang="en-US" altLang="zh-CN" sz="1800" dirty="0">
                          <a:effectLst/>
                          <a:latin typeface="Times New Roman" panose="02020603050405020304" pitchFamily="18" charset="0"/>
                          <a:ea typeface="DengXian" panose="02010600030101010101" pitchFamily="2" charset="-122"/>
                        </a:rPr>
                        <a:t>Many scholars believe that Goldblatt most commonly employs </a:t>
                      </a:r>
                      <a:r>
                        <a:rPr lang="en-US" altLang="zh-CN" sz="1800" dirty="0">
                          <a:solidFill>
                            <a:srgbClr val="FF0000"/>
                          </a:solidFill>
                          <a:effectLst/>
                          <a:latin typeface="Times New Roman" panose="02020603050405020304" pitchFamily="18" charset="0"/>
                          <a:ea typeface="DengXian" panose="02010600030101010101" pitchFamily="2" charset="-122"/>
                        </a:rPr>
                        <a:t>domestication</a:t>
                      </a:r>
                      <a:r>
                        <a:rPr lang="en-US" altLang="zh-CN" sz="1800" dirty="0">
                          <a:effectLst/>
                          <a:latin typeface="Times New Roman" panose="02020603050405020304" pitchFamily="18" charset="0"/>
                          <a:ea typeface="DengXian" panose="02010600030101010101" pitchFamily="2" charset="-122"/>
                        </a:rPr>
                        <a:t>. (Benjamin, 1992:81).</a:t>
                      </a:r>
                      <a:r>
                        <a:rPr lang="zh-CN" altLang="zh-CN" dirty="0">
                          <a:effectLst/>
                        </a:rPr>
                        <a:t> </a:t>
                      </a:r>
                      <a:endParaRPr lang="zh-CN" altLang="en-US" dirty="0"/>
                    </a:p>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lang="en-US" altLang="zh-CN" sz="1800" dirty="0">
                          <a:effectLst/>
                          <a:latin typeface="Times New Roman" panose="02020603050405020304" pitchFamily="18" charset="0"/>
                          <a:ea typeface="DengXian" panose="02010600030101010101" pitchFamily="2" charset="-122"/>
                        </a:rPr>
                        <a:t>Song </a:t>
                      </a:r>
                      <a:r>
                        <a:rPr lang="en-US" altLang="zh-CN" sz="1800" dirty="0" err="1">
                          <a:effectLst/>
                          <a:latin typeface="Times New Roman" panose="02020603050405020304" pitchFamily="18" charset="0"/>
                          <a:ea typeface="DengXian" panose="02010600030101010101" pitchFamily="2" charset="-122"/>
                        </a:rPr>
                        <a:t>Qingwei</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DengXian" panose="02010600030101010101" pitchFamily="2" charset="-122"/>
                        </a:rPr>
                        <a:t>2015</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DengXian" panose="02010600030101010101" pitchFamily="2" charset="-122"/>
                        </a:rPr>
                        <a:t> points out that Goldblatt primarily adopts </a:t>
                      </a:r>
                      <a:r>
                        <a:rPr lang="en-US" altLang="zh-CN" sz="1800" dirty="0">
                          <a:solidFill>
                            <a:srgbClr val="FF0000"/>
                          </a:solidFill>
                          <a:effectLst/>
                          <a:latin typeface="Times New Roman" panose="02020603050405020304" pitchFamily="18" charset="0"/>
                          <a:ea typeface="DengXian" panose="02010600030101010101" pitchFamily="2" charset="-122"/>
                        </a:rPr>
                        <a:t>domestication</a:t>
                      </a:r>
                      <a:r>
                        <a:rPr lang="en-US" altLang="zh-CN" sz="1800" dirty="0">
                          <a:effectLst/>
                          <a:latin typeface="Times New Roman" panose="02020603050405020304" pitchFamily="18" charset="0"/>
                          <a:ea typeface="DengXian" panose="02010600030101010101" pitchFamily="2" charset="-122"/>
                        </a:rPr>
                        <a:t> translation strategy. He thinks Goldblatt caters to the reading needs of target language readers, demonstrating a strong market awareness.</a:t>
                      </a:r>
                      <a:r>
                        <a:rPr lang="zh-CN" altLang="zh-CN" dirty="0">
                          <a:effectLst/>
                        </a:rPr>
                        <a:t> </a:t>
                      </a:r>
                      <a:endParaRPr lang="zh-CN" altLang="en-US" dirty="0"/>
                    </a:p>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Hu </a:t>
                      </a:r>
                      <a:r>
                        <a:rPr lang="en-US" altLang="zh-CN" sz="1800" kern="100" dirty="0" err="1">
                          <a:effectLst/>
                          <a:latin typeface="Times New Roman" panose="02020603050405020304" pitchFamily="18" charset="0"/>
                          <a:ea typeface="DengXian" panose="02010600030101010101" pitchFamily="2" charset="-122"/>
                          <a:cs typeface="Times New Roman" panose="02020603050405020304" pitchFamily="18" charset="0"/>
                        </a:rPr>
                        <a:t>Anjiang</a:t>
                      </a:r>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 (2010) believes that </a:t>
                      </a:r>
                      <a:r>
                        <a:rPr lang="en-US" altLang="zh-CN" sz="1800" kern="100" dirty="0">
                          <a:solidFill>
                            <a:srgbClr val="FF0000"/>
                          </a:solidFill>
                          <a:effectLst/>
                          <a:latin typeface="Times New Roman" panose="02020603050405020304" pitchFamily="18" charset="0"/>
                          <a:ea typeface="DengXian" panose="02010600030101010101" pitchFamily="2" charset="-122"/>
                          <a:cs typeface="Times New Roman" panose="02020603050405020304" pitchFamily="18" charset="0"/>
                        </a:rPr>
                        <a:t>domestication</a:t>
                      </a:r>
                      <a:r>
                        <a:rPr lang="en-US" altLang="zh-CN" sz="1800" kern="100" dirty="0">
                          <a:effectLst/>
                          <a:latin typeface="Times New Roman" panose="02020603050405020304" pitchFamily="18" charset="0"/>
                          <a:ea typeface="DengXian" panose="02010600030101010101" pitchFamily="2" charset="-122"/>
                          <a:cs typeface="Times New Roman" panose="02020603050405020304" pitchFamily="18" charset="0"/>
                        </a:rPr>
                        <a:t> is evident in almost every translation work by Howard Goldblatt. </a:t>
                      </a:r>
                      <a:endParaRPr lang="zh-CN" altLang="en-US" dirty="0"/>
                    </a:p>
                    <a:p>
                      <a:endParaRPr lang="zh-CN" altLang="en-US"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lang="en-US" altLang="zh-CN" sz="1800" dirty="0">
                          <a:effectLst/>
                          <a:latin typeface="Times New Roman" panose="02020603050405020304" pitchFamily="18" charset="0"/>
                          <a:ea typeface="DengXian" panose="02010600030101010101" pitchFamily="2" charset="-122"/>
                        </a:rPr>
                        <a:t>Feng (2017) believes that Hu </a:t>
                      </a:r>
                      <a:r>
                        <a:rPr lang="en-US" altLang="zh-CN" sz="1800" dirty="0" err="1">
                          <a:effectLst/>
                          <a:latin typeface="Times New Roman" panose="02020603050405020304" pitchFamily="18" charset="0"/>
                          <a:ea typeface="DengXian" panose="02010600030101010101" pitchFamily="2" charset="-122"/>
                        </a:rPr>
                        <a:t>Anjiang’s</a:t>
                      </a:r>
                      <a:r>
                        <a:rPr lang="en-US" altLang="zh-CN" sz="1800" dirty="0">
                          <a:effectLst/>
                          <a:latin typeface="Times New Roman" panose="02020603050405020304" pitchFamily="18" charset="0"/>
                          <a:ea typeface="DengXian" panose="02010600030101010101" pitchFamily="2" charset="-122"/>
                        </a:rPr>
                        <a:t> statement is somewhat ambiguous because any translation work is </a:t>
                      </a:r>
                      <a:r>
                        <a:rPr lang="en-US" altLang="zh-CN" sz="1800" dirty="0">
                          <a:solidFill>
                            <a:srgbClr val="FF0000"/>
                          </a:solidFill>
                          <a:effectLst/>
                          <a:latin typeface="Times New Roman" panose="02020603050405020304" pitchFamily="18" charset="0"/>
                          <a:ea typeface="DengXian" panose="02010600030101010101" pitchFamily="2" charset="-122"/>
                        </a:rPr>
                        <a:t>a hybrid of domestication and foreignization</a:t>
                      </a:r>
                      <a:r>
                        <a:rPr lang="en-US" altLang="zh-CN" sz="1800" dirty="0">
                          <a:effectLst/>
                          <a:latin typeface="Times New Roman" panose="02020603050405020304" pitchFamily="18" charset="0"/>
                          <a:ea typeface="DengXian" panose="02010600030101010101" pitchFamily="2" charset="-122"/>
                        </a:rPr>
                        <a:t>. </a:t>
                      </a:r>
                      <a:endParaRPr lang="zh-CN" altLang="en-US" dirty="0"/>
                    </a:p>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lang="en-US" altLang="zh-CN" sz="1800" dirty="0">
                          <a:effectLst/>
                          <a:latin typeface="Times New Roman" panose="02020603050405020304" pitchFamily="18" charset="0"/>
                          <a:ea typeface="DengXian" panose="02010600030101010101" pitchFamily="2" charset="-122"/>
                        </a:rPr>
                        <a:t>Based on the analysis of the English translation of </a:t>
                      </a:r>
                      <a:r>
                        <a:rPr lang="en-US" altLang="zh-CN" sz="1800" dirty="0" err="1">
                          <a:effectLst/>
                          <a:latin typeface="Times New Roman" panose="02020603050405020304" pitchFamily="18" charset="0"/>
                          <a:ea typeface="DengXian" panose="02010600030101010101" pitchFamily="2" charset="-122"/>
                        </a:rPr>
                        <a:t>Fengru</a:t>
                      </a:r>
                      <a:r>
                        <a:rPr lang="en-US" altLang="zh-CN" sz="1800" dirty="0">
                          <a:effectLst/>
                          <a:latin typeface="Times New Roman" panose="02020603050405020304" pitchFamily="18" charset="0"/>
                          <a:ea typeface="DengXian" panose="02010600030101010101" pitchFamily="2" charset="-122"/>
                        </a:rPr>
                        <a:t> </a:t>
                      </a:r>
                      <a:r>
                        <a:rPr lang="en-US" altLang="zh-CN" sz="1800" dirty="0" err="1">
                          <a:effectLst/>
                          <a:latin typeface="Times New Roman" panose="02020603050405020304" pitchFamily="18" charset="0"/>
                          <a:ea typeface="DengXian" panose="02010600030101010101" pitchFamily="2" charset="-122"/>
                        </a:rPr>
                        <a:t>Feitun</a:t>
                      </a:r>
                      <a:r>
                        <a:rPr lang="en-US" altLang="zh-CN" sz="1800" dirty="0">
                          <a:effectLst/>
                          <a:latin typeface="Times New Roman" panose="02020603050405020304" pitchFamily="18" charset="0"/>
                          <a:ea typeface="DengXian" panose="02010600030101010101" pitchFamily="2" charset="-122"/>
                        </a:rPr>
                        <a:t>, Shi (2013) has also refuted Hu </a:t>
                      </a:r>
                      <a:r>
                        <a:rPr lang="en-US" altLang="zh-CN" sz="1800" dirty="0" err="1">
                          <a:effectLst/>
                          <a:latin typeface="Times New Roman" panose="02020603050405020304" pitchFamily="18" charset="0"/>
                          <a:ea typeface="DengXian" panose="02010600030101010101" pitchFamily="2" charset="-122"/>
                        </a:rPr>
                        <a:t>Anjiang’s</a:t>
                      </a:r>
                      <a:r>
                        <a:rPr lang="en-US" altLang="zh-CN" sz="1800" dirty="0">
                          <a:effectLst/>
                          <a:latin typeface="Times New Roman" panose="02020603050405020304" pitchFamily="18" charset="0"/>
                          <a:ea typeface="DengXian" panose="02010600030101010101" pitchFamily="2" charset="-122"/>
                        </a:rPr>
                        <a:t> viewpoint, pointing out that </a:t>
                      </a:r>
                      <a:r>
                        <a:rPr lang="en-US" altLang="zh-CN" sz="1800" dirty="0">
                          <a:solidFill>
                            <a:srgbClr val="FF0000"/>
                          </a:solidFill>
                          <a:effectLst/>
                          <a:latin typeface="Times New Roman" panose="02020603050405020304" pitchFamily="18" charset="0"/>
                          <a:ea typeface="DengXian" panose="02010600030101010101" pitchFamily="2" charset="-122"/>
                        </a:rPr>
                        <a:t>foreignization methods are used more frequently</a:t>
                      </a:r>
                      <a:r>
                        <a:rPr lang="en-US" altLang="zh-CN" sz="1800" dirty="0">
                          <a:effectLst/>
                          <a:latin typeface="Times New Roman" panose="02020603050405020304" pitchFamily="18" charset="0"/>
                          <a:ea typeface="DengXian" panose="02010600030101010101" pitchFamily="2" charset="-122"/>
                        </a:rPr>
                        <a:t>. </a:t>
                      </a:r>
                      <a:endParaRPr lang="zh-CN" altLang="en-US" dirty="0"/>
                    </a:p>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lang="en-US" altLang="zh-CN" sz="1800" dirty="0">
                          <a:effectLst/>
                          <a:latin typeface="Times New Roman" panose="02020603050405020304" pitchFamily="18" charset="0"/>
                          <a:ea typeface="DengXian" panose="02010600030101010101" pitchFamily="2" charset="-122"/>
                        </a:rPr>
                        <a:t>Lu (2015) summarizes Goldblatt’s cultural translation philosophy as “preserving differences while seeking common ground”.</a:t>
                      </a:r>
                      <a:endParaRPr lang="zh-CN" altLang="en-US" dirty="0"/>
                    </a:p>
                  </a:txBody>
                  <a:tcPr/>
                </a:tc>
              </a:tr>
            </a:tbl>
          </a:graphicData>
        </a:graphic>
      </p:graphicFrame>
      <p:graphicFrame>
        <p:nvGraphicFramePr>
          <p:cNvPr id="5" name="表格 4"/>
          <p:cNvGraphicFramePr/>
          <p:nvPr>
            <p:custDataLst>
              <p:tags r:id="rId1"/>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75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60000"/>
                        <a:lumOff val="40000"/>
                      </a:schemeClr>
                    </a:solidFill>
                  </a:tcPr>
                </a:tc>
                <a:tc>
                  <a:txBody>
                    <a:bodyPr/>
                    <a:p>
                      <a:pPr>
                        <a:buNone/>
                      </a:pPr>
                      <a:r>
                        <a:rPr lang="en-US" altLang="zh-CN" sz="1400"/>
                        <a:t>Conclusion</a:t>
                      </a:r>
                      <a:endParaRPr lang="en-US" altLang="zh-CN" sz="1400"/>
                    </a:p>
                  </a:txBody>
                  <a:tcPr>
                    <a:solidFill>
                      <a:schemeClr val="accent1">
                        <a:lumMod val="60000"/>
                        <a:lumOff val="40000"/>
                      </a:schemeClr>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850265" y="949960"/>
            <a:ext cx="9100185" cy="347345"/>
          </a:xfrm>
          <a:prstGeom prst="rect">
            <a:avLst/>
          </a:prstGeom>
          <a:noFill/>
        </p:spPr>
        <p:txBody>
          <a:bodyPr wrap="square" rtlCol="0">
            <a:spAutoFit/>
          </a:bodyPr>
          <a:lstStyle/>
          <a:p>
            <a:pPr marL="226695" indent="-226695" algn="l" defTabSz="266700">
              <a:lnSpc>
                <a:spcPts val="2000"/>
              </a:lnSpc>
              <a:spcAft>
                <a:spcPct val="60000"/>
              </a:spcAft>
              <a:buClrTx/>
              <a:buSzTx/>
              <a:buNone/>
            </a:pPr>
            <a:r>
              <a:rPr lang="en-US" altLang="zh-CN" sz="2000" b="1" kern="1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rPr>
              <a:t>2.3 Previous Studies on the English translation of </a:t>
            </a:r>
            <a:r>
              <a:rPr lang="en-US" altLang="zh-CN" sz="2000" b="1" i="1" kern="100" dirty="0">
                <a:solidFill>
                  <a:schemeClr val="accent1"/>
                </a:solidFill>
                <a:effectLst>
                  <a:outerShdw blurRad="38100" dist="25400" dir="5400000" algn="ctr" rotWithShape="0">
                    <a:srgbClr val="6E747A">
                      <a:alpha val="43000"/>
                      <a:alpha val="43000"/>
                    </a:srgbClr>
                  </a:outerShdw>
                </a:effectLst>
                <a:latin typeface="Times New Roman Bold Italic" panose="02020603050405020304" charset="0"/>
                <a:ea typeface="宋体" pitchFamily="2" charset="-122"/>
                <a:cs typeface="Times New Roman Bold Italic" panose="02020603050405020304" charset="0"/>
              </a:rPr>
              <a:t>Yiju Ding Yiwanju</a:t>
            </a:r>
            <a:endParaRPr lang="en-US" altLang="zh-CN" sz="2000" b="1" i="1" kern="100" dirty="0">
              <a:solidFill>
                <a:schemeClr val="accent1"/>
              </a:solidFill>
              <a:effectLst>
                <a:outerShdw blurRad="38100" dist="25400" dir="5400000" algn="ctr" rotWithShape="0">
                  <a:srgbClr val="6E747A">
                    <a:alpha val="43000"/>
                    <a:alpha val="43000"/>
                  </a:srgbClr>
                </a:outerShdw>
              </a:effectLst>
              <a:latin typeface="Times New Roman Bold Italic" panose="02020603050405020304" charset="0"/>
              <a:ea typeface="宋体" pitchFamily="2" charset="-122"/>
              <a:cs typeface="Times New Roman Bold Italic" panose="02020603050405020304" charset="0"/>
            </a:endParaRPr>
          </a:p>
        </p:txBody>
      </p:sp>
      <p:pic>
        <p:nvPicPr>
          <p:cNvPr id="6" name="图片 5"/>
          <p:cNvPicPr>
            <a:picLocks noChangeAspect="1"/>
          </p:cNvPicPr>
          <p:nvPr/>
        </p:nvPicPr>
        <p:blipFill>
          <a:blip r:embed="rId1"/>
          <a:stretch>
            <a:fillRect/>
          </a:stretch>
        </p:blipFill>
        <p:spPr>
          <a:xfrm>
            <a:off x="2426970" y="1565910"/>
            <a:ext cx="7522845" cy="4367530"/>
          </a:xfrm>
          <a:prstGeom prst="rect">
            <a:avLst/>
          </a:prstGeom>
        </p:spPr>
      </p:pic>
      <p:graphicFrame>
        <p:nvGraphicFramePr>
          <p:cNvPr id="3" name="表格 2"/>
          <p:cNvGraphicFramePr/>
          <p:nvPr>
            <p:custDataLst>
              <p:tags r:id="rId2"/>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75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60000"/>
                        <a:lumOff val="40000"/>
                      </a:schemeClr>
                    </a:solidFill>
                  </a:tcPr>
                </a:tc>
                <a:tc>
                  <a:txBody>
                    <a:bodyPr/>
                    <a:p>
                      <a:pPr>
                        <a:buNone/>
                      </a:pPr>
                      <a:r>
                        <a:rPr lang="en-US" altLang="zh-CN" sz="1400"/>
                        <a:t>Conclusion</a:t>
                      </a:r>
                      <a:endParaRPr lang="en-US" altLang="zh-CN" sz="1400"/>
                    </a:p>
                  </a:txBody>
                  <a:tcPr>
                    <a:solidFill>
                      <a:schemeClr val="accent1">
                        <a:lumMod val="60000"/>
                        <a:lumOff val="40000"/>
                      </a:schemeClr>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p:cNvGraphicFramePr>
            <a:graphicFrameLocks noGrp="1"/>
          </p:cNvGraphicFramePr>
          <p:nvPr>
            <p:custDataLst>
              <p:tags r:id="rId1"/>
            </p:custDataLst>
          </p:nvPr>
        </p:nvGraphicFramePr>
        <p:xfrm>
          <a:off x="838835" y="1387475"/>
          <a:ext cx="10493375" cy="4724400"/>
        </p:xfrm>
        <a:graphic>
          <a:graphicData uri="http://schemas.openxmlformats.org/drawingml/2006/table">
            <a:tbl>
              <a:tblPr firstRow="1" bandRow="1">
                <a:tableStyleId>{5C22544A-7EE6-4342-B048-85BDC9FD1C3A}</a:tableStyleId>
              </a:tblPr>
              <a:tblGrid>
                <a:gridCol w="1780540"/>
                <a:gridCol w="1567180"/>
                <a:gridCol w="7145655"/>
              </a:tblGrid>
              <a:tr h="365760">
                <a:tc>
                  <a:txBody>
                    <a:bodyPr/>
                    <a:lstStyle/>
                    <a:p>
                      <a:pPr algn="ctr"/>
                      <a:r>
                        <a:rPr lang="en-US" altLang="zh-CN" dirty="0">
                          <a:latin typeface="Times New Roman" panose="02020603050405020304" pitchFamily="18" charset="0"/>
                          <a:cs typeface="Times New Roman" panose="02020603050405020304" pitchFamily="18" charset="0"/>
                        </a:rPr>
                        <a:t>title</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theory</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method</a:t>
                      </a:r>
                      <a:endParaRPr lang="zh-CN" altLang="en-US" dirty="0">
                        <a:latin typeface="Times New Roman" panose="02020603050405020304" pitchFamily="18" charset="0"/>
                        <a:cs typeface="Times New Roman" panose="02020603050405020304" pitchFamily="18" charset="0"/>
                      </a:endParaRPr>
                    </a:p>
                  </a:txBody>
                  <a:tcPr/>
                </a:tc>
              </a:tr>
              <a:tr h="944880">
                <a:tc>
                  <a:txBody>
                    <a:bodyPr/>
                    <a:lstStyle/>
                    <a:p>
                      <a:pPr lvl="0"/>
                      <a:r>
                        <a:rPr lang="zh-CN" altLang="zh-CN" sz="1400" kern="1200" dirty="0">
                          <a:solidFill>
                            <a:schemeClr val="dk1"/>
                          </a:solidFill>
                          <a:effectLst/>
                          <a:latin typeface="Times New Roman" panose="02020603050405020304" pitchFamily="18" charset="0"/>
                          <a:ea typeface="+mn-ea"/>
                          <a:cs typeface="Times New Roman" panose="02020603050405020304" pitchFamily="18" charset="0"/>
                        </a:rPr>
                        <a:t>韩子钰</a:t>
                      </a:r>
                      <a:r>
                        <a:rPr lang="en-US" altLang="zh-CN" sz="1400" kern="1200" dirty="0">
                          <a:solidFill>
                            <a:schemeClr val="dk1"/>
                          </a:solidFill>
                          <a:effectLst/>
                          <a:latin typeface="Times New Roman" panose="02020603050405020304" pitchFamily="18" charset="0"/>
                          <a:ea typeface="+mn-ea"/>
                          <a:cs typeface="Times New Roman" panose="02020603050405020304" pitchFamily="18" charset="0"/>
                        </a:rPr>
                        <a:t>.</a:t>
                      </a:r>
                      <a:r>
                        <a:rPr lang="zh-CN" altLang="zh-CN" sz="1400" kern="1200" dirty="0">
                          <a:solidFill>
                            <a:schemeClr val="dk1"/>
                          </a:solidFill>
                          <a:effectLst/>
                          <a:latin typeface="Times New Roman" panose="02020603050405020304" pitchFamily="18" charset="0"/>
                          <a:ea typeface="+mn-ea"/>
                          <a:cs typeface="Times New Roman" panose="02020603050405020304" pitchFamily="18" charset="0"/>
                        </a:rPr>
                        <a:t>顺应论视域下《一句顶一万句》的英译研究</a:t>
                      </a:r>
                      <a:r>
                        <a:rPr lang="en-US" altLang="zh-CN" sz="1400" kern="1200" dirty="0">
                          <a:solidFill>
                            <a:schemeClr val="dk1"/>
                          </a:solidFill>
                          <a:effectLst/>
                          <a:latin typeface="Times New Roman" panose="02020603050405020304" pitchFamily="18" charset="0"/>
                          <a:ea typeface="+mn-ea"/>
                          <a:cs typeface="Times New Roman" panose="02020603050405020304" pitchFamily="18" charset="0"/>
                        </a:rPr>
                        <a:t>[D].</a:t>
                      </a:r>
                      <a:r>
                        <a:rPr lang="zh-CN" altLang="zh-CN" sz="1400" kern="1200" dirty="0">
                          <a:solidFill>
                            <a:schemeClr val="dk1"/>
                          </a:solidFill>
                          <a:effectLst/>
                          <a:latin typeface="Times New Roman" panose="02020603050405020304" pitchFamily="18" charset="0"/>
                          <a:ea typeface="+mn-ea"/>
                          <a:cs typeface="Times New Roman" panose="02020603050405020304" pitchFamily="18" charset="0"/>
                        </a:rPr>
                        <a:t>电子科技大学</a:t>
                      </a:r>
                      <a:r>
                        <a:rPr lang="en-US" altLang="zh-CN" sz="1400" kern="1200" dirty="0">
                          <a:solidFill>
                            <a:schemeClr val="dk1"/>
                          </a:solidFill>
                          <a:effectLst/>
                          <a:latin typeface="Times New Roman" panose="02020603050405020304" pitchFamily="18" charset="0"/>
                          <a:ea typeface="+mn-ea"/>
                          <a:cs typeface="Times New Roman" panose="02020603050405020304" pitchFamily="18" charset="0"/>
                        </a:rPr>
                        <a:t>,2022.</a:t>
                      </a:r>
                      <a:endParaRPr lang="zh-CN" altLang="zh-CN" sz="1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altLang="zh-CN" sz="16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Accommodation Theory</a:t>
                      </a:r>
                      <a:endParaRPr lang="zh-CN" altLang="en-US" sz="1600" dirty="0"/>
                    </a:p>
                  </a:txBody>
                  <a:tcPr/>
                </a:tc>
                <a:tc>
                  <a:txBody>
                    <a:bodyPr/>
                    <a:lstStyle/>
                    <a:p>
                      <a:r>
                        <a:rPr lang="en-US" altLang="zh-CN" sz="16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By analyzing Western readers’ reviews and the linguistic features of the original novel, the study examined whether translators dynamically adapted to the original text and the target language readers.</a:t>
                      </a:r>
                      <a:endParaRPr lang="zh-CN" altLang="en-US" sz="1600" dirty="0"/>
                    </a:p>
                  </a:txBody>
                  <a:tcPr/>
                </a:tc>
              </a:tr>
              <a:tr h="944880">
                <a:tc>
                  <a:txBody>
                    <a:bodyPr/>
                    <a:lstStyle/>
                    <a:p>
                      <a:pPr lvl="0"/>
                      <a:r>
                        <a:rPr lang="zh-CN" altLang="zh-CN" sz="1400" kern="1200" dirty="0">
                          <a:solidFill>
                            <a:schemeClr val="dk1"/>
                          </a:solidFill>
                          <a:effectLst/>
                          <a:latin typeface="Times New Roman" panose="02020603050405020304" pitchFamily="18" charset="0"/>
                          <a:ea typeface="+mn-ea"/>
                          <a:cs typeface="Times New Roman" panose="02020603050405020304" pitchFamily="18" charset="0"/>
                        </a:rPr>
                        <a:t>赵瑞炎</a:t>
                      </a:r>
                      <a:r>
                        <a:rPr lang="en-US" altLang="zh-CN" sz="1400" kern="1200" dirty="0">
                          <a:solidFill>
                            <a:schemeClr val="dk1"/>
                          </a:solidFill>
                          <a:effectLst/>
                          <a:latin typeface="Times New Roman" panose="02020603050405020304" pitchFamily="18" charset="0"/>
                          <a:ea typeface="+mn-ea"/>
                          <a:cs typeface="Times New Roman" panose="02020603050405020304" pitchFamily="18" charset="0"/>
                        </a:rPr>
                        <a:t>. </a:t>
                      </a:r>
                      <a:r>
                        <a:rPr lang="zh-CN" altLang="zh-CN" sz="1400" kern="1200" dirty="0">
                          <a:solidFill>
                            <a:schemeClr val="dk1"/>
                          </a:solidFill>
                          <a:effectLst/>
                          <a:latin typeface="Times New Roman" panose="02020603050405020304" pitchFamily="18" charset="0"/>
                          <a:ea typeface="+mn-ea"/>
                          <a:cs typeface="Times New Roman" panose="02020603050405020304" pitchFamily="18" charset="0"/>
                        </a:rPr>
                        <a:t>基于脚本理论的文化专有项英译考释</a:t>
                      </a:r>
                      <a:r>
                        <a:rPr lang="en-US" altLang="zh-CN" sz="1400" kern="1200" dirty="0">
                          <a:solidFill>
                            <a:schemeClr val="dk1"/>
                          </a:solidFill>
                          <a:effectLst/>
                          <a:latin typeface="Times New Roman" panose="02020603050405020304" pitchFamily="18" charset="0"/>
                          <a:ea typeface="+mn-ea"/>
                          <a:cs typeface="Times New Roman" panose="02020603050405020304" pitchFamily="18" charset="0"/>
                        </a:rPr>
                        <a:t>[D].</a:t>
                      </a:r>
                      <a:r>
                        <a:rPr lang="zh-CN" altLang="zh-CN" sz="1400" kern="1200" dirty="0">
                          <a:solidFill>
                            <a:schemeClr val="dk1"/>
                          </a:solidFill>
                          <a:effectLst/>
                          <a:latin typeface="Times New Roman" panose="02020603050405020304" pitchFamily="18" charset="0"/>
                          <a:ea typeface="+mn-ea"/>
                          <a:cs typeface="Times New Roman" panose="02020603050405020304" pitchFamily="18" charset="0"/>
                        </a:rPr>
                        <a:t>四川外国语大学</a:t>
                      </a:r>
                      <a:r>
                        <a:rPr lang="en-US" altLang="zh-CN" sz="1400" kern="1200" dirty="0">
                          <a:solidFill>
                            <a:schemeClr val="dk1"/>
                          </a:solidFill>
                          <a:effectLst/>
                          <a:latin typeface="Times New Roman" panose="02020603050405020304" pitchFamily="18" charset="0"/>
                          <a:ea typeface="+mn-ea"/>
                          <a:cs typeface="Times New Roman" panose="02020603050405020304" pitchFamily="18" charset="0"/>
                        </a:rPr>
                        <a:t>,2022.</a:t>
                      </a:r>
                      <a:endParaRPr lang="zh-CN" altLang="zh-CN" sz="1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altLang="zh-CN" sz="16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Script Theory</a:t>
                      </a:r>
                      <a:endParaRPr lang="zh-CN" altLang="en-US" sz="1600" dirty="0"/>
                    </a:p>
                  </a:txBody>
                  <a:tcPr/>
                </a:tc>
                <a:tc>
                  <a:txBody>
                    <a:bodyPr/>
                    <a:lstStyle/>
                    <a:p>
                      <a:r>
                        <a:rPr lang="en-US" altLang="zh-CN" sz="16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Utilizing qualitative analysis, cultural-specific items in the text were categorized into five types, and the translation methods employed by translators were analyzed along with the reasons behind them. </a:t>
                      </a:r>
                      <a:endParaRPr lang="zh-CN" altLang="en-US" sz="1600" dirty="0"/>
                    </a:p>
                  </a:txBody>
                  <a:tcPr/>
                </a:tc>
              </a:tr>
              <a:tr h="11582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400" kern="1200" dirty="0">
                          <a:solidFill>
                            <a:schemeClr val="dk1"/>
                          </a:solidFill>
                          <a:effectLst/>
                          <a:latin typeface="Times New Roman" panose="02020603050405020304" pitchFamily="18" charset="0"/>
                          <a:ea typeface="+mn-ea"/>
                          <a:cs typeface="Times New Roman" panose="02020603050405020304" pitchFamily="18" charset="0"/>
                        </a:rPr>
                        <a:t>黄嘉乐</a:t>
                      </a:r>
                      <a:r>
                        <a:rPr lang="en-US" altLang="zh-CN" sz="1400" kern="1200" dirty="0">
                          <a:solidFill>
                            <a:schemeClr val="dk1"/>
                          </a:solidFill>
                          <a:effectLst/>
                          <a:latin typeface="Times New Roman" panose="02020603050405020304" pitchFamily="18" charset="0"/>
                          <a:ea typeface="+mn-ea"/>
                          <a:cs typeface="Times New Roman" panose="02020603050405020304" pitchFamily="18" charset="0"/>
                        </a:rPr>
                        <a:t>. </a:t>
                      </a:r>
                      <a:r>
                        <a:rPr lang="zh-CN" altLang="zh-CN" sz="1400" kern="1200" dirty="0">
                          <a:solidFill>
                            <a:schemeClr val="dk1"/>
                          </a:solidFill>
                          <a:effectLst/>
                          <a:latin typeface="Times New Roman" panose="02020603050405020304" pitchFamily="18" charset="0"/>
                          <a:ea typeface="+mn-ea"/>
                          <a:cs typeface="Times New Roman" panose="02020603050405020304" pitchFamily="18" charset="0"/>
                        </a:rPr>
                        <a:t>《一句顶一万句》乡土语言英译的变异研究</a:t>
                      </a:r>
                      <a:r>
                        <a:rPr lang="en-US" altLang="zh-CN" sz="1400" kern="1200" dirty="0">
                          <a:solidFill>
                            <a:schemeClr val="dk1"/>
                          </a:solidFill>
                          <a:effectLst/>
                          <a:latin typeface="Times New Roman" panose="02020603050405020304" pitchFamily="18" charset="0"/>
                          <a:ea typeface="+mn-ea"/>
                          <a:cs typeface="Times New Roman" panose="02020603050405020304" pitchFamily="18" charset="0"/>
                        </a:rPr>
                        <a:t>[D].</a:t>
                      </a:r>
                      <a:r>
                        <a:rPr lang="zh-CN" altLang="zh-CN" sz="1400" kern="1200" dirty="0">
                          <a:solidFill>
                            <a:schemeClr val="dk1"/>
                          </a:solidFill>
                          <a:effectLst/>
                          <a:latin typeface="Times New Roman" panose="02020603050405020304" pitchFamily="18" charset="0"/>
                          <a:ea typeface="+mn-ea"/>
                          <a:cs typeface="Times New Roman" panose="02020603050405020304" pitchFamily="18" charset="0"/>
                        </a:rPr>
                        <a:t>广东财经大学</a:t>
                      </a:r>
                      <a:r>
                        <a:rPr lang="en-US" altLang="zh-CN" sz="1400" kern="1200" dirty="0">
                          <a:solidFill>
                            <a:schemeClr val="dk1"/>
                          </a:solidFill>
                          <a:effectLst/>
                          <a:latin typeface="Times New Roman" panose="02020603050405020304" pitchFamily="18" charset="0"/>
                          <a:ea typeface="+mn-ea"/>
                          <a:cs typeface="Times New Roman" panose="02020603050405020304" pitchFamily="18" charset="0"/>
                        </a:rPr>
                        <a:t>,2023.</a:t>
                      </a:r>
                      <a:endParaRPr lang="zh-CN" altLang="zh-CN" sz="1400" kern="1200" dirty="0">
                        <a:solidFill>
                          <a:schemeClr val="dk1"/>
                        </a:solidFill>
                        <a:effectLst/>
                        <a:latin typeface="Times New Roman" panose="02020603050405020304" pitchFamily="18" charset="0"/>
                        <a:ea typeface="+mn-ea"/>
                        <a:cs typeface="Times New Roman" panose="02020603050405020304" pitchFamily="18" charset="0"/>
                      </a:endParaRPr>
                    </a:p>
                    <a:p>
                      <a:r>
                        <a:rPr lang="en-US" altLang="zh-CN" sz="1400" kern="1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endParaRPr lang="zh-CN" altLang="en-US" sz="1400" dirty="0">
                        <a:latin typeface="Times New Roman" panose="02020603050405020304" pitchFamily="18" charset="0"/>
                        <a:cs typeface="Times New Roman" panose="02020603050405020304" pitchFamily="18" charset="0"/>
                      </a:endParaRPr>
                    </a:p>
                  </a:txBody>
                  <a:tcPr/>
                </a:tc>
                <a:tc>
                  <a:txBody>
                    <a:bodyPr/>
                    <a:lstStyle/>
                    <a:p>
                      <a:r>
                        <a:rPr lang="en-US" altLang="zh-CN" sz="1600" kern="1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Variation Theory </a:t>
                      </a:r>
                      <a:endParaRPr lang="zh-CN" altLang="en-US" sz="1600" dirty="0"/>
                    </a:p>
                  </a:txBody>
                  <a:tcPr/>
                </a:tc>
                <a:tc>
                  <a:txBody>
                    <a:bodyPr/>
                    <a:lstStyle/>
                    <a:p>
                      <a:r>
                        <a:rPr lang="en-US" altLang="zh-CN" sz="1600" kern="1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study utilized the Chinese-English texts of </a:t>
                      </a:r>
                      <a:r>
                        <a:rPr lang="en-US" altLang="zh-CN" sz="16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folk language</a:t>
                      </a:r>
                      <a:r>
                        <a:rPr lang="en-US" altLang="zh-CN" sz="1600" kern="1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as research materials and employed the qualitative research method of “seeking diversity” from the variation theory. It explored the positive significance of variation in translation studies and investigated the mechanism of variation. </a:t>
                      </a:r>
                      <a:endParaRPr lang="zh-CN" altLang="en-US" sz="1600" dirty="0"/>
                    </a:p>
                  </a:txBody>
                  <a:tcPr/>
                </a:tc>
              </a:tr>
              <a:tr h="13106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400" kern="1200" dirty="0">
                          <a:solidFill>
                            <a:schemeClr val="dk1"/>
                          </a:solidFill>
                          <a:effectLst/>
                          <a:latin typeface="Times New Roman" panose="02020603050405020304" pitchFamily="18" charset="0"/>
                          <a:ea typeface="+mn-ea"/>
                          <a:cs typeface="Times New Roman" panose="02020603050405020304" pitchFamily="18" charset="0"/>
                        </a:rPr>
                        <a:t>邵璐</a:t>
                      </a:r>
                      <a:r>
                        <a:rPr lang="en-US" altLang="zh-CN" sz="1400" kern="1200" dirty="0">
                          <a:solidFill>
                            <a:schemeClr val="dk1"/>
                          </a:solidFill>
                          <a:effectLst/>
                          <a:latin typeface="Times New Roman" panose="02020603050405020304" pitchFamily="18" charset="0"/>
                          <a:ea typeface="+mn-ea"/>
                          <a:cs typeface="Times New Roman" panose="02020603050405020304" pitchFamily="18" charset="0"/>
                        </a:rPr>
                        <a:t>,</a:t>
                      </a:r>
                      <a:r>
                        <a:rPr lang="zh-CN" altLang="zh-CN" sz="1400" kern="1200" dirty="0">
                          <a:solidFill>
                            <a:schemeClr val="dk1"/>
                          </a:solidFill>
                          <a:effectLst/>
                          <a:latin typeface="Times New Roman" panose="02020603050405020304" pitchFamily="18" charset="0"/>
                          <a:ea typeface="+mn-ea"/>
                          <a:cs typeface="Times New Roman" panose="02020603050405020304" pitchFamily="18" charset="0"/>
                        </a:rPr>
                        <a:t>李伟</a:t>
                      </a:r>
                      <a:r>
                        <a:rPr lang="en-US" altLang="zh-CN" sz="1400" kern="1200" dirty="0">
                          <a:solidFill>
                            <a:schemeClr val="dk1"/>
                          </a:solidFill>
                          <a:effectLst/>
                          <a:latin typeface="Times New Roman" panose="02020603050405020304" pitchFamily="18" charset="0"/>
                          <a:ea typeface="+mn-ea"/>
                          <a:cs typeface="Times New Roman" panose="02020603050405020304" pitchFamily="18" charset="0"/>
                        </a:rPr>
                        <a:t>.</a:t>
                      </a:r>
                      <a:r>
                        <a:rPr lang="zh-CN" altLang="zh-CN" sz="1400" kern="1200" dirty="0">
                          <a:solidFill>
                            <a:schemeClr val="dk1"/>
                          </a:solidFill>
                          <a:effectLst/>
                          <a:latin typeface="Times New Roman" panose="02020603050405020304" pitchFamily="18" charset="0"/>
                          <a:ea typeface="+mn-ea"/>
                          <a:cs typeface="Times New Roman" panose="02020603050405020304" pitchFamily="18" charset="0"/>
                        </a:rPr>
                        <a:t>刘震云小说在英语世界的翻译与接受</a:t>
                      </a:r>
                      <a:r>
                        <a:rPr lang="en-US" altLang="zh-CN" sz="1400" kern="1200" dirty="0">
                          <a:solidFill>
                            <a:schemeClr val="dk1"/>
                          </a:solidFill>
                          <a:effectLst/>
                          <a:latin typeface="Times New Roman" panose="02020603050405020304" pitchFamily="18" charset="0"/>
                          <a:ea typeface="+mn-ea"/>
                          <a:cs typeface="Times New Roman" panose="02020603050405020304" pitchFamily="18" charset="0"/>
                        </a:rPr>
                        <a:t>[J].</a:t>
                      </a:r>
                      <a:r>
                        <a:rPr lang="zh-CN" altLang="zh-CN" sz="1400" kern="1200" dirty="0">
                          <a:solidFill>
                            <a:schemeClr val="dk1"/>
                          </a:solidFill>
                          <a:effectLst/>
                          <a:latin typeface="Times New Roman" panose="02020603050405020304" pitchFamily="18" charset="0"/>
                          <a:ea typeface="+mn-ea"/>
                          <a:cs typeface="Times New Roman" panose="02020603050405020304" pitchFamily="18" charset="0"/>
                        </a:rPr>
                        <a:t>南方文坛</a:t>
                      </a:r>
                      <a:r>
                        <a:rPr lang="en-US" altLang="zh-CN" sz="1400" kern="1200" dirty="0">
                          <a:solidFill>
                            <a:schemeClr val="dk1"/>
                          </a:solidFill>
                          <a:effectLst/>
                          <a:latin typeface="Times New Roman" panose="02020603050405020304" pitchFamily="18" charset="0"/>
                          <a:ea typeface="+mn-ea"/>
                          <a:cs typeface="Times New Roman" panose="02020603050405020304" pitchFamily="18" charset="0"/>
                        </a:rPr>
                        <a:t>,2020(06):98-105.</a:t>
                      </a:r>
                      <a:endParaRPr lang="zh-CN" altLang="zh-CN" sz="14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endParaRPr lang="zh-CN" altLang="en-US" dirty="0"/>
                    </a:p>
                  </a:txBody>
                  <a:tcPr/>
                </a:tc>
                <a:tc>
                  <a:txBody>
                    <a:bodyPr/>
                    <a:lstStyle/>
                    <a:p>
                      <a:r>
                        <a:rPr lang="en-US" altLang="zh-CN" sz="1600" kern="1200" dirty="0">
                          <a:solidFill>
                            <a:schemeClr val="dk1"/>
                          </a:solidFill>
                          <a:effectLst/>
                          <a:latin typeface="Times New Roman" panose="02020603050405020304" pitchFamily="18" charset="0"/>
                          <a:ea typeface="+mn-ea"/>
                          <a:cs typeface="Times New Roman" panose="02020603050405020304" pitchFamily="18" charset="0"/>
                        </a:rPr>
                        <a:t>Integrating the comprehensive ratings of Liu </a:t>
                      </a:r>
                      <a:r>
                        <a:rPr lang="en-US" altLang="zh-CN" sz="1600" kern="1200" dirty="0" err="1">
                          <a:solidFill>
                            <a:schemeClr val="dk1"/>
                          </a:solidFill>
                          <a:effectLst/>
                          <a:latin typeface="Times New Roman" panose="02020603050405020304" pitchFamily="18" charset="0"/>
                          <a:ea typeface="+mn-ea"/>
                          <a:cs typeface="Times New Roman" panose="02020603050405020304" pitchFamily="18" charset="0"/>
                        </a:rPr>
                        <a:t>Zhenyun’s</a:t>
                      </a:r>
                      <a:r>
                        <a:rPr lang="en-US" altLang="zh-CN" sz="1600" kern="1200" dirty="0">
                          <a:solidFill>
                            <a:schemeClr val="dk1"/>
                          </a:solidFill>
                          <a:effectLst/>
                          <a:latin typeface="Times New Roman" panose="02020603050405020304" pitchFamily="18" charset="0"/>
                          <a:ea typeface="+mn-ea"/>
                          <a:cs typeface="Times New Roman" panose="02020603050405020304" pitchFamily="18" charset="0"/>
                        </a:rPr>
                        <a:t> five novels on Goodreads. Shao and Li believe that although the literary value of Liu </a:t>
                      </a:r>
                      <a:r>
                        <a:rPr lang="en-US" altLang="zh-CN" sz="1600" kern="1200" dirty="0" err="1">
                          <a:solidFill>
                            <a:schemeClr val="dk1"/>
                          </a:solidFill>
                          <a:effectLst/>
                          <a:latin typeface="Times New Roman" panose="02020603050405020304" pitchFamily="18" charset="0"/>
                          <a:ea typeface="+mn-ea"/>
                          <a:cs typeface="Times New Roman" panose="02020603050405020304" pitchFamily="18" charset="0"/>
                        </a:rPr>
                        <a:t>Zhenyun’s</a:t>
                      </a:r>
                      <a:r>
                        <a:rPr lang="en-US" altLang="zh-CN" sz="1600" kern="1200" dirty="0">
                          <a:solidFill>
                            <a:schemeClr val="dk1"/>
                          </a:solidFill>
                          <a:effectLst/>
                          <a:latin typeface="Times New Roman" panose="02020603050405020304" pitchFamily="18" charset="0"/>
                          <a:ea typeface="+mn-ea"/>
                          <a:cs typeface="Times New Roman" panose="02020603050405020304" pitchFamily="18" charset="0"/>
                        </a:rPr>
                        <a:t> novels is undeniable, their dissemination and presentation in the English-speaking world are relatively monotonous, leaving significant room for improvement in translation and dissemination.</a:t>
                      </a:r>
                      <a:r>
                        <a:rPr lang="zh-CN" altLang="zh-CN" sz="1600" dirty="0">
                          <a:effectLst/>
                          <a:latin typeface="Times New Roman" panose="02020603050405020304" pitchFamily="18" charset="0"/>
                          <a:cs typeface="Times New Roman" panose="02020603050405020304" pitchFamily="18" charset="0"/>
                        </a:rPr>
                        <a:t> </a:t>
                      </a:r>
                      <a:endParaRPr lang="zh-CN" altLang="en-US" sz="1600" dirty="0">
                        <a:latin typeface="Times New Roman" panose="02020603050405020304" pitchFamily="18" charset="0"/>
                        <a:cs typeface="Times New Roman" panose="02020603050405020304" pitchFamily="18" charset="0"/>
                      </a:endParaRPr>
                    </a:p>
                  </a:txBody>
                  <a:tcPr/>
                </a:tc>
              </a:tr>
            </a:tbl>
          </a:graphicData>
        </a:graphic>
      </p:graphicFrame>
      <p:sp>
        <p:nvSpPr>
          <p:cNvPr id="2" name="文本框 1"/>
          <p:cNvSpPr txBox="1"/>
          <p:nvPr/>
        </p:nvSpPr>
        <p:spPr>
          <a:xfrm>
            <a:off x="850265" y="949960"/>
            <a:ext cx="9100185" cy="347345"/>
          </a:xfrm>
          <a:prstGeom prst="rect">
            <a:avLst/>
          </a:prstGeom>
          <a:noFill/>
        </p:spPr>
        <p:txBody>
          <a:bodyPr wrap="square" rtlCol="0">
            <a:spAutoFit/>
          </a:bodyPr>
          <a:p>
            <a:pPr marL="226695" indent="-226695" algn="l" defTabSz="266700">
              <a:lnSpc>
                <a:spcPts val="2000"/>
              </a:lnSpc>
              <a:spcAft>
                <a:spcPct val="60000"/>
              </a:spcAft>
              <a:buClrTx/>
              <a:buSzTx/>
              <a:buNone/>
            </a:pPr>
            <a:r>
              <a:rPr lang="en-US" altLang="zh-CN" sz="2000" b="1" kern="1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rPr>
              <a:t>2.3 Previous Studies on the English translation of </a:t>
            </a:r>
            <a:r>
              <a:rPr lang="en-US" altLang="zh-CN" sz="2000" b="1" i="1" kern="100" dirty="0">
                <a:solidFill>
                  <a:schemeClr val="accent1"/>
                </a:solidFill>
                <a:effectLst>
                  <a:outerShdw blurRad="38100" dist="25400" dir="5400000" algn="ctr" rotWithShape="0">
                    <a:srgbClr val="6E747A">
                      <a:alpha val="43000"/>
                      <a:alpha val="43000"/>
                    </a:srgbClr>
                  </a:outerShdw>
                </a:effectLst>
                <a:latin typeface="Times New Roman Bold Italic" panose="02020603050405020304" charset="0"/>
                <a:ea typeface="宋体" pitchFamily="2" charset="-122"/>
                <a:cs typeface="Times New Roman Bold Italic" panose="02020603050405020304" charset="0"/>
              </a:rPr>
              <a:t>Yiju Ding Yiwanju</a:t>
            </a:r>
            <a:endParaRPr lang="en-US" altLang="zh-CN" sz="2000" b="1" i="1" kern="100" dirty="0">
              <a:solidFill>
                <a:schemeClr val="accent1"/>
              </a:solidFill>
              <a:effectLst>
                <a:outerShdw blurRad="38100" dist="25400" dir="5400000" algn="ctr" rotWithShape="0">
                  <a:srgbClr val="6E747A">
                    <a:alpha val="43000"/>
                    <a:alpha val="43000"/>
                  </a:srgbClr>
                </a:outerShdw>
              </a:effectLst>
              <a:latin typeface="Times New Roman Bold Italic" panose="02020603050405020304" charset="0"/>
              <a:ea typeface="宋体" pitchFamily="2" charset="-122"/>
              <a:cs typeface="Times New Roman Bold Italic" panose="02020603050405020304" charset="0"/>
            </a:endParaRPr>
          </a:p>
        </p:txBody>
      </p:sp>
      <p:graphicFrame>
        <p:nvGraphicFramePr>
          <p:cNvPr id="3" name="表格 2"/>
          <p:cNvGraphicFramePr/>
          <p:nvPr>
            <p:custDataLst>
              <p:tags r:id="rId2"/>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75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60000"/>
                        <a:lumOff val="40000"/>
                      </a:schemeClr>
                    </a:solidFill>
                  </a:tcPr>
                </a:tc>
                <a:tc>
                  <a:txBody>
                    <a:bodyPr/>
                    <a:p>
                      <a:pPr>
                        <a:buNone/>
                      </a:pPr>
                      <a:r>
                        <a:rPr lang="en-US" altLang="zh-CN" sz="1400"/>
                        <a:t>Conclusion</a:t>
                      </a:r>
                      <a:endParaRPr lang="en-US" altLang="zh-CN" sz="1400"/>
                    </a:p>
                  </a:txBody>
                  <a:tcPr>
                    <a:solidFill>
                      <a:schemeClr val="accent1">
                        <a:lumMod val="60000"/>
                        <a:lumOff val="40000"/>
                      </a:schemeClr>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7611" y="2835811"/>
            <a:ext cx="170434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03</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604557" y="3297475"/>
            <a:ext cx="5233670" cy="645160"/>
          </a:xfrm>
          <a:prstGeom prst="rect">
            <a:avLst/>
          </a:prstGeom>
          <a:noFill/>
        </p:spPr>
        <p:txBody>
          <a:bodyPr wrap="none" rtlCol="0">
            <a:spAutoFit/>
          </a:bodyPr>
          <a:lstStyle/>
          <a:p>
            <a:r>
              <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rPr>
              <a:t>R</a:t>
            </a:r>
            <a:r>
              <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rPr>
              <a:t>esearch Metho</a:t>
            </a:r>
            <a:r>
              <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rPr>
              <a:t>dology</a:t>
            </a:r>
            <a:endPar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bldLst>
      <p:bldP spid="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41755" y="2155190"/>
            <a:ext cx="8771255" cy="3733165"/>
          </a:xfrm>
          <a:prstGeom prst="rect">
            <a:avLst/>
          </a:prstGeom>
        </p:spPr>
        <p:txBody>
          <a:bodyPr wrap="square">
            <a:spAutoFit/>
          </a:bodyPr>
          <a:p>
            <a:pPr marL="0" indent="0" algn="ctr" defTabSz="266700">
              <a:lnSpc>
                <a:spcPts val="2000"/>
              </a:lnSpc>
              <a:spcBef>
                <a:spcPct val="0"/>
              </a:spcBef>
              <a:spcAft>
                <a:spcPct val="0"/>
              </a:spcAft>
            </a:pPr>
            <a:endParaRPr lang="en-US" altLang="zh-CN" sz="2000">
              <a:latin typeface="Times New Roman" panose="02020603050405020304"/>
              <a:ea typeface="宋体"/>
            </a:endParaRPr>
          </a:p>
          <a:p>
            <a:pPr indent="0" algn="ctr" defTabSz="266700" fontAlgn="auto">
              <a:lnSpc>
                <a:spcPct val="150000"/>
              </a:lnSpc>
              <a:spcBef>
                <a:spcPct val="0"/>
              </a:spcBef>
              <a:spcAft>
                <a:spcPct val="0"/>
              </a:spcAft>
            </a:pPr>
            <a:endParaRPr lang="en-US" altLang="zh-CN" sz="2000" b="1">
              <a:latin typeface="Times New Roman" panose="02020603050405020304"/>
              <a:ea typeface="宋体"/>
            </a:endParaRPr>
          </a:p>
          <a:p>
            <a:pPr indent="0" algn="ctr" defTabSz="266700" fontAlgn="auto">
              <a:lnSpc>
                <a:spcPct val="150000"/>
              </a:lnSpc>
              <a:spcBef>
                <a:spcPct val="0"/>
              </a:spcBef>
              <a:spcAft>
                <a:spcPct val="0"/>
              </a:spcAft>
            </a:pPr>
            <a:r>
              <a:rPr lang="en-US" altLang="zh-CN" sz="2000" b="1">
                <a:latin typeface="Times New Roman" panose="02020603050405020304"/>
                <a:ea typeface="宋体"/>
              </a:rPr>
              <a:t>（1）Defining the </a:t>
            </a:r>
            <a:r>
              <a:rPr lang="en-US" altLang="zh-CN" sz="2000" b="1">
                <a:latin typeface="Times New Roman Bold" panose="02020603050405020304" charset="0"/>
                <a:ea typeface="宋体"/>
                <a:cs typeface="Times New Roman Bold" panose="02020603050405020304" charset="0"/>
              </a:rPr>
              <a:t>Key Translation Challenge</a:t>
            </a:r>
            <a:endParaRPr lang="en-US" altLang="zh-CN" sz="2000" b="1">
              <a:latin typeface="Times New Roman Bold" panose="02020603050405020304" charset="0"/>
              <a:ea typeface="宋体"/>
              <a:cs typeface="Times New Roman Bold" panose="02020603050405020304" charset="0"/>
            </a:endParaRPr>
          </a:p>
          <a:p>
            <a:pPr indent="0" algn="ctr" defTabSz="266700" fontAlgn="auto">
              <a:lnSpc>
                <a:spcPct val="150000"/>
              </a:lnSpc>
              <a:spcBef>
                <a:spcPct val="0"/>
              </a:spcBef>
              <a:spcAft>
                <a:spcPct val="0"/>
              </a:spcAft>
            </a:pPr>
            <a:endParaRPr lang="en-US" altLang="zh-CN" sz="2000" b="1">
              <a:latin typeface="Times New Roman Bold" panose="02020603050405020304" charset="0"/>
              <a:ea typeface="宋体"/>
              <a:cs typeface="Times New Roman Bold" panose="02020603050405020304" charset="0"/>
            </a:endParaRPr>
          </a:p>
          <a:p>
            <a:pPr indent="0" algn="ctr" defTabSz="266700" fontAlgn="auto">
              <a:lnSpc>
                <a:spcPct val="150000"/>
              </a:lnSpc>
              <a:spcBef>
                <a:spcPct val="0"/>
              </a:spcBef>
              <a:spcAft>
                <a:spcPct val="0"/>
              </a:spcAft>
            </a:pPr>
            <a:endParaRPr lang="en-US" altLang="zh-CN" sz="2000">
              <a:latin typeface="Times New Roman" panose="02020603050405020304"/>
              <a:ea typeface="宋体"/>
            </a:endParaRPr>
          </a:p>
          <a:p>
            <a:pPr marL="0" indent="0" algn="ctr" defTabSz="266700">
              <a:lnSpc>
                <a:spcPts val="2000"/>
              </a:lnSpc>
              <a:spcBef>
                <a:spcPct val="0"/>
              </a:spcBef>
              <a:spcAft>
                <a:spcPct val="0"/>
              </a:spcAft>
            </a:pPr>
            <a:r>
              <a:rPr lang="en-US" altLang="zh-CN" sz="2000" b="1">
                <a:latin typeface="Times New Roman" panose="02020603050405020304"/>
                <a:ea typeface="宋体"/>
              </a:rPr>
              <a:t>（2）</a:t>
            </a:r>
            <a:r>
              <a:rPr lang="en-US" altLang="zh-CN" sz="2000" b="1">
                <a:latin typeface="Times New Roman Bold" panose="02020603050405020304" charset="0"/>
                <a:ea typeface="宋体"/>
                <a:cs typeface="Times New Roman Bold" panose="02020603050405020304" charset="0"/>
              </a:rPr>
              <a:t>Case Analysis</a:t>
            </a:r>
            <a:endParaRPr lang="en-US" altLang="zh-CN" sz="2000" b="1">
              <a:latin typeface="Times New Roman Bold" panose="02020603050405020304" charset="0"/>
              <a:ea typeface="宋体"/>
              <a:cs typeface="Times New Roman Bold" panose="02020603050405020304" charset="0"/>
            </a:endParaRPr>
          </a:p>
          <a:p>
            <a:pPr marL="0" indent="0" algn="ctr" defTabSz="266700">
              <a:lnSpc>
                <a:spcPts val="2000"/>
              </a:lnSpc>
              <a:spcBef>
                <a:spcPct val="0"/>
              </a:spcBef>
              <a:spcAft>
                <a:spcPct val="0"/>
              </a:spcAft>
            </a:pPr>
            <a:endParaRPr lang="en-US" altLang="zh-CN" sz="2000" b="1">
              <a:latin typeface="Times New Roman Bold" panose="02020603050405020304" charset="0"/>
              <a:ea typeface="宋体"/>
              <a:cs typeface="Times New Roman Bold" panose="02020603050405020304" charset="0"/>
            </a:endParaRPr>
          </a:p>
          <a:p>
            <a:pPr marL="0" indent="0" algn="ctr" defTabSz="266700">
              <a:lnSpc>
                <a:spcPts val="2000"/>
              </a:lnSpc>
              <a:spcBef>
                <a:spcPct val="0"/>
              </a:spcBef>
              <a:spcAft>
                <a:spcPct val="0"/>
              </a:spcAft>
            </a:pPr>
            <a:endParaRPr lang="en-US" altLang="zh-CN" sz="2000" b="1">
              <a:latin typeface="Times New Roman" panose="02020603050405020304"/>
              <a:ea typeface="宋体"/>
              <a:cs typeface="Times New Roman Bold" panose="02020603050405020304" charset="0"/>
            </a:endParaRPr>
          </a:p>
          <a:p>
            <a:pPr marL="0" indent="0" algn="ctr" defTabSz="266700">
              <a:lnSpc>
                <a:spcPts val="2000"/>
              </a:lnSpc>
              <a:spcBef>
                <a:spcPct val="0"/>
              </a:spcBef>
              <a:spcAft>
                <a:spcPct val="0"/>
              </a:spcAft>
            </a:pPr>
            <a:endParaRPr lang="en-US" altLang="zh-CN" sz="2000" b="1">
              <a:latin typeface="Times New Roman" panose="02020603050405020304"/>
              <a:ea typeface="宋体"/>
              <a:cs typeface="Times New Roman Bold" panose="02020603050405020304" charset="0"/>
            </a:endParaRPr>
          </a:p>
          <a:p>
            <a:pPr marL="0" indent="0" algn="ctr" defTabSz="266700">
              <a:lnSpc>
                <a:spcPts val="2000"/>
              </a:lnSpc>
              <a:spcBef>
                <a:spcPct val="0"/>
              </a:spcBef>
              <a:spcAft>
                <a:spcPct val="0"/>
              </a:spcAft>
            </a:pPr>
            <a:r>
              <a:rPr lang="en-US" altLang="zh-CN" sz="2000" b="1">
                <a:latin typeface="Times New Roman" panose="02020603050405020304"/>
                <a:ea typeface="宋体"/>
              </a:rPr>
              <a:t>（3）</a:t>
            </a:r>
            <a:r>
              <a:rPr lang="en-US" altLang="zh-CN" sz="2000" b="1">
                <a:latin typeface="Times New Roman Bold" panose="02020603050405020304" charset="0"/>
                <a:ea typeface="宋体"/>
                <a:cs typeface="Times New Roman Bold" panose="02020603050405020304" charset="0"/>
                <a:sym typeface="+mn-ea"/>
              </a:rPr>
              <a:t>Summary of Reader-Oriented Translation Strategies</a:t>
            </a:r>
            <a:endParaRPr lang="en-US" altLang="zh-CN" sz="2000" b="1">
              <a:latin typeface="Times New Roman Bold" panose="02020603050405020304" charset="0"/>
              <a:ea typeface="宋体"/>
              <a:cs typeface="Times New Roman Bold" panose="02020603050405020304" charset="0"/>
            </a:endParaRPr>
          </a:p>
          <a:p>
            <a:pPr marL="0" indent="0" algn="ctr" defTabSz="266700">
              <a:lnSpc>
                <a:spcPts val="2000"/>
              </a:lnSpc>
              <a:spcBef>
                <a:spcPct val="0"/>
              </a:spcBef>
              <a:spcAft>
                <a:spcPct val="0"/>
              </a:spcAft>
            </a:pPr>
            <a:endParaRPr lang="en-US" altLang="zh-CN" sz="2000" b="1">
              <a:latin typeface="Times New Roman Bold" panose="02020603050405020304" charset="0"/>
              <a:ea typeface="宋体"/>
              <a:cs typeface="Times New Roman Bold" panose="02020603050405020304" charset="0"/>
            </a:endParaRPr>
          </a:p>
        </p:txBody>
      </p:sp>
      <p:sp>
        <p:nvSpPr>
          <p:cNvPr id="4" name="标题 3"/>
          <p:cNvSpPr>
            <a:spLocks noGrp="1"/>
          </p:cNvSpPr>
          <p:nvPr>
            <p:ph type="title"/>
          </p:nvPr>
        </p:nvSpPr>
        <p:spPr>
          <a:xfrm>
            <a:off x="913765" y="756920"/>
            <a:ext cx="8967470" cy="1029970"/>
          </a:xfrm>
        </p:spPr>
        <p:txBody>
          <a:bodyPr/>
          <a:p>
            <a:r>
              <a:rPr lang="en-US" altLang="zh-CN" sz="2000" b="1" kern="1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cs typeface="+mn-cs"/>
                <a:sym typeface="+mn-ea"/>
              </a:rPr>
              <a:t>3.1Research Method</a:t>
            </a:r>
            <a:endParaRPr lang="en-US" altLang="zh-CN" sz="2000" b="1" kern="1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cs typeface="+mn-cs"/>
              <a:sym typeface="+mn-ea"/>
            </a:endParaRPr>
          </a:p>
        </p:txBody>
      </p:sp>
      <p:sp>
        <p:nvSpPr>
          <p:cNvPr id="6" name="文本框 5"/>
          <p:cNvSpPr txBox="1"/>
          <p:nvPr/>
        </p:nvSpPr>
        <p:spPr>
          <a:xfrm>
            <a:off x="1243965" y="1551305"/>
            <a:ext cx="8967470" cy="603885"/>
          </a:xfrm>
          <a:prstGeom prst="rect">
            <a:avLst/>
          </a:prstGeom>
          <a:noFill/>
        </p:spPr>
        <p:txBody>
          <a:bodyPr wrap="square" rtlCol="0" anchor="t">
            <a:spAutoFit/>
          </a:bodyPr>
          <a:p>
            <a:pPr marL="0" indent="0" algn="just" defTabSz="266700">
              <a:lnSpc>
                <a:spcPts val="2000"/>
              </a:lnSpc>
              <a:spcBef>
                <a:spcPct val="0"/>
              </a:spcBef>
              <a:spcAft>
                <a:spcPct val="0"/>
              </a:spcAft>
            </a:pPr>
            <a:r>
              <a:rPr lang="en-US" altLang="zh-CN">
                <a:latin typeface="Times New Roman" panose="02020603050405020304"/>
                <a:ea typeface="宋体"/>
                <a:sym typeface="+mn-ea"/>
              </a:rPr>
              <a:t>This paper conducts</a:t>
            </a:r>
            <a:r>
              <a:rPr lang="en-US" altLang="zh-CN">
                <a:solidFill>
                  <a:srgbClr val="FF0000"/>
                </a:solidFill>
                <a:latin typeface="Times New Roman" panose="02020603050405020304"/>
                <a:ea typeface="宋体"/>
                <a:sym typeface="+mn-ea"/>
              </a:rPr>
              <a:t> qualitative research,</a:t>
            </a:r>
            <a:r>
              <a:rPr lang="en-US" altLang="zh-CN">
                <a:latin typeface="Times New Roman" panose="02020603050405020304"/>
                <a:ea typeface="宋体"/>
                <a:sym typeface="+mn-ea"/>
              </a:rPr>
              <a:t> primarily engaging in descriptive and analytical textual studies. </a:t>
            </a:r>
            <a:endParaRPr lang="en-US" altLang="zh-CN">
              <a:latin typeface="Times New Roman" panose="02020603050405020304"/>
              <a:ea typeface="宋体"/>
              <a:sym typeface="+mn-ea"/>
            </a:endParaRPr>
          </a:p>
        </p:txBody>
      </p:sp>
      <p:sp>
        <p:nvSpPr>
          <p:cNvPr id="7" name="右箭头 6"/>
          <p:cNvSpPr/>
          <p:nvPr/>
        </p:nvSpPr>
        <p:spPr>
          <a:xfrm rot="5400000">
            <a:off x="5591175" y="3499485"/>
            <a:ext cx="468630" cy="5384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8" name="右箭头 7"/>
          <p:cNvSpPr/>
          <p:nvPr/>
        </p:nvSpPr>
        <p:spPr>
          <a:xfrm rot="5400000">
            <a:off x="5591175" y="4624705"/>
            <a:ext cx="468630" cy="5384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9" name="圆角矩形 8"/>
          <p:cNvSpPr/>
          <p:nvPr/>
        </p:nvSpPr>
        <p:spPr>
          <a:xfrm>
            <a:off x="4264025" y="2270760"/>
            <a:ext cx="2927350" cy="60706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defTabSz="266700" fontAlgn="auto">
              <a:lnSpc>
                <a:spcPct val="150000"/>
              </a:lnSpc>
              <a:spcBef>
                <a:spcPct val="0"/>
              </a:spcBef>
              <a:spcAft>
                <a:spcPct val="0"/>
              </a:spcAft>
            </a:pPr>
            <a:r>
              <a:rPr lang="en-US" altLang="zh-CN" sz="2000" b="1">
                <a:latin typeface="Times New Roman Bold" panose="02020603050405020304" charset="0"/>
                <a:ea typeface="宋体"/>
                <a:cs typeface="Times New Roman Bold" panose="02020603050405020304" charset="0"/>
                <a:sym typeface="+mn-ea"/>
              </a:rPr>
              <a:t>Research </a:t>
            </a:r>
            <a:r>
              <a:rPr lang="en-US" altLang="zh-CN" sz="2000" b="1">
                <a:latin typeface="Times New Roman Bold" panose="02020603050405020304" charset="0"/>
                <a:ea typeface="宋体"/>
                <a:cs typeface="Times New Roman Bold" panose="02020603050405020304" charset="0"/>
                <a:sym typeface="+mn-ea"/>
              </a:rPr>
              <a:t>Process </a:t>
            </a:r>
            <a:endParaRPr lang="en-US" altLang="zh-CN" sz="2000" b="1">
              <a:latin typeface="Times New Roman Bold" panose="02020603050405020304" charset="0"/>
              <a:ea typeface="宋体"/>
              <a:cs typeface="Times New Roman Bold" panose="02020603050405020304" charset="0"/>
              <a:sym typeface="+mn-ea"/>
            </a:endParaRPr>
          </a:p>
        </p:txBody>
      </p:sp>
      <p:graphicFrame>
        <p:nvGraphicFramePr>
          <p:cNvPr id="10" name="表格 9"/>
          <p:cNvGraphicFramePr/>
          <p:nvPr>
            <p:custDataLst>
              <p:tags r:id="rId1"/>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60000"/>
                        <a:lumOff val="40000"/>
                      </a:schemeClr>
                    </a:solidFill>
                  </a:tcPr>
                </a:tc>
                <a:tc>
                  <a:txBody>
                    <a:bodyPr/>
                    <a:p>
                      <a:pPr>
                        <a:buNone/>
                      </a:pPr>
                      <a:r>
                        <a:rPr lang="en-US" altLang="zh-CN" sz="1400"/>
                        <a:t>Research  Methodology</a:t>
                      </a:r>
                      <a:endParaRPr lang="en-US" altLang="zh-CN" sz="1400"/>
                    </a:p>
                  </a:txBody>
                  <a:tcPr>
                    <a:solidFill>
                      <a:schemeClr val="accent1">
                        <a:lumMod val="75000"/>
                      </a:schemeClr>
                    </a:solidFill>
                  </a:tcPr>
                </a:tc>
                <a:tc>
                  <a:txBody>
                    <a:bodyPr/>
                    <a:p>
                      <a:pPr>
                        <a:buNone/>
                      </a:pPr>
                      <a:r>
                        <a:rPr lang="en-US" altLang="zh-CN" sz="1400"/>
                        <a:t>Case Analysis</a:t>
                      </a:r>
                      <a:endParaRPr lang="en-US" altLang="zh-CN" sz="1400"/>
                    </a:p>
                  </a:txBody>
                  <a:tcPr>
                    <a:solidFill>
                      <a:schemeClr val="accent1">
                        <a:lumMod val="60000"/>
                        <a:lumOff val="40000"/>
                      </a:schemeClr>
                    </a:solidFill>
                  </a:tcPr>
                </a:tc>
                <a:tc>
                  <a:txBody>
                    <a:bodyPr/>
                    <a:p>
                      <a:pPr>
                        <a:buNone/>
                      </a:pPr>
                      <a:r>
                        <a:rPr lang="en-US" altLang="zh-CN" sz="1400"/>
                        <a:t>Conclusion</a:t>
                      </a:r>
                      <a:endParaRPr lang="en-US" altLang="zh-CN" sz="1400"/>
                    </a:p>
                  </a:txBody>
                  <a:tcPr>
                    <a:solidFill>
                      <a:schemeClr val="accent1">
                        <a:lumMod val="60000"/>
                        <a:lumOff val="40000"/>
                      </a:schemeClr>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47725" y="1588770"/>
            <a:ext cx="9707245" cy="4209415"/>
          </a:xfrm>
          <a:prstGeom prst="rect">
            <a:avLst/>
          </a:prstGeom>
          <a:noFill/>
        </p:spPr>
        <p:txBody>
          <a:bodyPr wrap="square" rtlCol="0" anchor="t">
            <a:noAutofit/>
          </a:bodyPr>
          <a:p>
            <a:pPr algn="just">
              <a:lnSpc>
                <a:spcPct val="150000"/>
              </a:lnSpc>
            </a:pPr>
            <a:r>
              <a:rPr lang="en-US" altLang="zh-CN" sz="1600" kern="100" dirty="0">
                <a:latin typeface="Times New Roman" panose="02020603050405020304" pitchFamily="18" charset="0"/>
                <a:ea typeface="DengXian" panose="02010600030101010101" pitchFamily="2" charset="-122"/>
                <a:cs typeface="Times New Roman" panose="02020603050405020304" pitchFamily="18" charset="0"/>
                <a:sym typeface="+mn-ea"/>
              </a:rPr>
              <a:t>Appeal structure:</a:t>
            </a:r>
            <a:endParaRPr lang="en-US" altLang="zh-CN" sz="1600" kern="100" dirty="0">
              <a:latin typeface="Times New Roman" panose="02020603050405020304" pitchFamily="18" charset="0"/>
              <a:ea typeface="DengXian" panose="0201060003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Ø"/>
            </a:pPr>
            <a:r>
              <a:rPr lang="en-US" altLang="zh-CN" sz="1600" b="1" dirty="0">
                <a:solidFill>
                  <a:srgbClr val="000000"/>
                </a:solidFill>
                <a:effectLst/>
                <a:latin typeface="Times New Roman" panose="02020603050405020304" pitchFamily="18" charset="0"/>
                <a:ea typeface="宋体" pitchFamily="2" charset="-122"/>
                <a:sym typeface="+mn-ea"/>
              </a:rPr>
              <a:t>Blank:  </a:t>
            </a:r>
            <a:r>
              <a:rPr lang="en-US" altLang="zh-CN" sz="1600" dirty="0">
                <a:solidFill>
                  <a:srgbClr val="000000"/>
                </a:solidFill>
                <a:effectLst/>
                <a:latin typeface="Times New Roman" panose="02020603050405020304" pitchFamily="18" charset="0"/>
                <a:ea typeface="宋体" pitchFamily="2" charset="-122"/>
                <a:sym typeface="+mn-ea"/>
              </a:rPr>
              <a:t>unwritten or unspecified parts of a text that are implied or hinted at by the written words.</a:t>
            </a:r>
            <a:endParaRPr lang="en-US" altLang="zh-CN" sz="1600" dirty="0">
              <a:solidFill>
                <a:srgbClr val="000000"/>
              </a:solidFill>
              <a:effectLst/>
              <a:latin typeface="Times New Roman" panose="02020603050405020304" pitchFamily="18" charset="0"/>
              <a:ea typeface="宋体" pitchFamily="2" charset="-122"/>
            </a:endParaRPr>
          </a:p>
          <a:p>
            <a:pPr marL="285750" indent="-285750" algn="just">
              <a:lnSpc>
                <a:spcPct val="150000"/>
              </a:lnSpc>
              <a:buFont typeface="Wingdings" panose="05000000000000000000" pitchFamily="2" charset="2"/>
              <a:buChar char="Ø"/>
            </a:pPr>
            <a:r>
              <a:rPr lang="en-US" altLang="zh-CN" sz="1600" b="1" dirty="0">
                <a:solidFill>
                  <a:srgbClr val="000000"/>
                </a:solidFill>
                <a:effectLst/>
                <a:latin typeface="Times New Roman" panose="02020603050405020304" pitchFamily="18" charset="0"/>
                <a:ea typeface="宋体" pitchFamily="2" charset="-122"/>
                <a:sym typeface="+mn-ea"/>
              </a:rPr>
              <a:t>Indeterminacy: </a:t>
            </a:r>
            <a:r>
              <a:rPr lang="en-US" altLang="zh-CN" sz="1600" dirty="0">
                <a:solidFill>
                  <a:srgbClr val="000000"/>
                </a:solidFill>
                <a:effectLst/>
                <a:latin typeface="Times New Roman" panose="02020603050405020304" pitchFamily="18" charset="0"/>
                <a:ea typeface="宋体" pitchFamily="2" charset="-122"/>
                <a:sym typeface="+mn-ea"/>
              </a:rPr>
              <a:t>the aspect or part of an object that is not specifically determined. Indeterminacy refers to uncertainty or ambiguity in language, structure, imagery, and theme</a:t>
            </a:r>
            <a:r>
              <a:rPr lang="zh-CN" altLang="zh-CN" sz="1200" dirty="0">
                <a:effectLst/>
                <a:sym typeface="+mn-ea"/>
              </a:rPr>
              <a:t> </a:t>
            </a:r>
            <a:r>
              <a:rPr lang="en-US" altLang="zh-CN" sz="1600" dirty="0">
                <a:solidFill>
                  <a:srgbClr val="000000"/>
                </a:solidFill>
                <a:latin typeface="Times New Roman" panose="02020603050405020304" pitchFamily="18" charset="0"/>
                <a:ea typeface="宋体" pitchFamily="2" charset="-122"/>
                <a:sym typeface="+mn-ea"/>
              </a:rPr>
              <a:t>.</a:t>
            </a:r>
            <a:r>
              <a:rPr lang="zh-CN" altLang="zh-CN" sz="1200" dirty="0">
                <a:effectLst/>
                <a:sym typeface="+mn-ea"/>
              </a:rPr>
              <a:t> </a:t>
            </a:r>
            <a:endParaRPr lang="en-US" altLang="zh-CN" sz="1200" dirty="0">
              <a:effectLst/>
            </a:endParaRPr>
          </a:p>
          <a:p>
            <a:pPr marL="285750" indent="-285750" algn="just">
              <a:lnSpc>
                <a:spcPct val="150000"/>
              </a:lnSpc>
              <a:buFont typeface="Wingdings" panose="05000000000000000000" pitchFamily="2" charset="2"/>
              <a:buChar char="Ø"/>
            </a:pPr>
            <a:r>
              <a:rPr lang="en-US" altLang="zh-CN" sz="1600" b="1" dirty="0">
                <a:solidFill>
                  <a:srgbClr val="000000"/>
                </a:solidFill>
                <a:effectLst/>
                <a:latin typeface="Times New Roman" panose="02020603050405020304" pitchFamily="18" charset="0"/>
                <a:ea typeface="宋体" pitchFamily="2" charset="-122"/>
                <a:sym typeface="+mn-ea"/>
              </a:rPr>
              <a:t>Negation: </a:t>
            </a:r>
            <a:r>
              <a:rPr lang="en-US" altLang="zh-CN" sz="1600" dirty="0">
                <a:solidFill>
                  <a:srgbClr val="000000"/>
                </a:solidFill>
                <a:effectLst/>
                <a:latin typeface="Times New Roman" panose="02020603050405020304" pitchFamily="18" charset="0"/>
                <a:ea typeface="宋体" pitchFamily="2" charset="-122"/>
                <a:sym typeface="+mn-ea"/>
              </a:rPr>
              <a:t>a good text should break the reader’s familiar expectations while arousing them, that is, it should negate them rather than confirm them or realize them. </a:t>
            </a:r>
            <a:endParaRPr lang="en-US" altLang="zh-CN" sz="1600" dirty="0">
              <a:solidFill>
                <a:srgbClr val="000000"/>
              </a:solidFill>
              <a:effectLst/>
              <a:latin typeface="Times New Roman" panose="02020603050405020304" pitchFamily="18" charset="0"/>
              <a:ea typeface="宋体" pitchFamily="2" charset="-122"/>
            </a:endParaRPr>
          </a:p>
          <a:p>
            <a:pPr marL="285750" indent="-285750" algn="just">
              <a:lnSpc>
                <a:spcPct val="150000"/>
              </a:lnSpc>
              <a:buFont typeface="Wingdings" panose="05000000000000000000" pitchFamily="2" charset="2"/>
              <a:buChar char="Ø"/>
            </a:pPr>
            <a:endParaRPr lang="en-US" altLang="zh-CN" sz="1600" kern="100" dirty="0">
              <a:solidFill>
                <a:srgbClr val="000000"/>
              </a:solidFill>
              <a:latin typeface="Times New Roman" panose="02020603050405020304" pitchFamily="18" charset="0"/>
              <a:ea typeface="宋体" pitchFamily="2" charset="-122"/>
              <a:cs typeface="Times New Roman" panose="02020603050405020304" pitchFamily="18" charset="0"/>
            </a:endParaRPr>
          </a:p>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lang="en-US" altLang="zh-CN" sz="1600" b="1" kern="100" noProof="0" dirty="0">
                <a:ln>
                  <a:noFill/>
                </a:ln>
                <a:solidFill>
                  <a:prstClr val="black"/>
                </a:solidFill>
                <a:effectLst/>
                <a:uLnTx/>
                <a:uFillTx/>
                <a:latin typeface="Times New Roman" panose="02020603050405020304" pitchFamily="18" charset="0"/>
                <a:ea typeface="宋体" pitchFamily="2" charset="-122"/>
                <a:cs typeface="Times New Roman" panose="02020603050405020304" pitchFamily="18" charset="0"/>
                <a:sym typeface="+mn-ea"/>
              </a:rPr>
              <a:t>Horizon of Expectations:   </a:t>
            </a:r>
            <a:r>
              <a:rPr lang="en-US" altLang="zh-CN" sz="1600" kern="0" noProof="0" dirty="0">
                <a:ln>
                  <a:noFill/>
                </a:ln>
                <a:solidFill>
                  <a:srgbClr val="000000"/>
                </a:solidFill>
                <a:effectLst/>
                <a:uLnTx/>
                <a:uFillTx/>
                <a:latin typeface="Times New Roman" panose="02020603050405020304" pitchFamily="18" charset="0"/>
                <a:ea typeface="DengXian" panose="02010600030101010101" pitchFamily="2" charset="-122"/>
                <a:sym typeface="+mn-ea"/>
              </a:rPr>
              <a:t>thinking orientations and innate structure formed by the reader’s previous literary reading experience when he reads a piece of work. </a:t>
            </a:r>
            <a:endPar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ea typeface="DengXian" panose="02010600030101010101" pitchFamily="2" charset="-122"/>
              <a:cs typeface="+mn-cs"/>
            </a:endParaRPr>
          </a:p>
          <a:p>
            <a:pPr marL="285750" marR="0" lvl="0" indent="-285750" algn="just"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lang="en-US" altLang="zh-CN" sz="1600" b="1" kern="100" noProof="0" dirty="0">
                <a:ln>
                  <a:noFill/>
                </a:ln>
                <a:solidFill>
                  <a:prstClr val="black"/>
                </a:solidFill>
                <a:effectLst/>
                <a:uLnTx/>
                <a:uFillTx/>
                <a:latin typeface="Times New Roman" panose="02020603050405020304" pitchFamily="18" charset="0"/>
                <a:ea typeface="DengXian" panose="02010600030101010101" pitchFamily="2" charset="-122"/>
                <a:cs typeface="Times New Roman" panose="02020603050405020304" pitchFamily="18" charset="0"/>
                <a:sym typeface="+mn-ea"/>
              </a:rPr>
              <a:t>Fusion of horizons:  </a:t>
            </a:r>
            <a:r>
              <a:rPr lang="en-US" altLang="zh-CN" sz="1600" kern="100" noProof="0" dirty="0">
                <a:ln>
                  <a:noFill/>
                </a:ln>
                <a:solidFill>
                  <a:prstClr val="black"/>
                </a:solidFill>
                <a:effectLst/>
                <a:uLnTx/>
                <a:uFillTx/>
                <a:latin typeface="Times New Roman" panose="02020603050405020304" pitchFamily="18" charset="0"/>
                <a:ea typeface="DengXian" panose="02010600030101010101" pitchFamily="2" charset="-122"/>
                <a:cs typeface="Times New Roman" panose="02020603050405020304" pitchFamily="18" charset="0"/>
                <a:sym typeface="+mn-ea"/>
              </a:rPr>
              <a:t>a fundamental principle in reception aesthetics which means </a:t>
            </a:r>
            <a:r>
              <a:rPr lang="en-US" altLang="zh-CN" sz="1600" kern="100" noProof="0" dirty="0">
                <a:ln>
                  <a:noFill/>
                </a:ln>
                <a:solidFill>
                  <a:srgbClr val="FF0000"/>
                </a:solidFill>
                <a:effectLst/>
                <a:uLnTx/>
                <a:uFillTx/>
                <a:latin typeface="Times New Roman" panose="02020603050405020304" pitchFamily="18" charset="0"/>
                <a:ea typeface="DengXian" panose="02010600030101010101" pitchFamily="2" charset="-122"/>
                <a:cs typeface="Times New Roman" panose="02020603050405020304" pitchFamily="18" charset="0"/>
                <a:sym typeface="+mn-ea"/>
              </a:rPr>
              <a:t>the merging of the horizon of the literary text and that of the reader</a:t>
            </a:r>
            <a:r>
              <a:rPr lang="en-US" altLang="zh-CN" sz="1600" kern="100" noProof="0" dirty="0">
                <a:ln>
                  <a:noFill/>
                </a:ln>
                <a:solidFill>
                  <a:prstClr val="black"/>
                </a:solidFill>
                <a:effectLst/>
                <a:uLnTx/>
                <a:uFillTx/>
                <a:latin typeface="Times New Roman" panose="02020603050405020304" pitchFamily="18" charset="0"/>
                <a:ea typeface="DengXian" panose="02010600030101010101" pitchFamily="2" charset="-122"/>
                <a:cs typeface="Times New Roman" panose="02020603050405020304" pitchFamily="18" charset="0"/>
                <a:sym typeface="+mn-ea"/>
              </a:rPr>
              <a:t>.</a:t>
            </a:r>
            <a:endParaRPr lang="en-US" altLang="zh-CN" sz="1600" kern="100" noProof="0" dirty="0">
              <a:ln>
                <a:noFill/>
              </a:ln>
              <a:solidFill>
                <a:prstClr val="black"/>
              </a:solidFill>
              <a:effectLst/>
              <a:uLnTx/>
              <a:uFillTx/>
              <a:latin typeface="Times New Roman" panose="02020603050405020304" pitchFamily="18" charset="0"/>
              <a:ea typeface="DengXian" panose="02010600030101010101" pitchFamily="2" charset="-122"/>
              <a:cs typeface="Times New Roman" panose="02020603050405020304" pitchFamily="18" charset="0"/>
              <a:sym typeface="+mn-ea"/>
            </a:endParaRPr>
          </a:p>
        </p:txBody>
      </p:sp>
      <p:sp>
        <p:nvSpPr>
          <p:cNvPr id="4" name="标题 3"/>
          <p:cNvSpPr>
            <a:spLocks noGrp="1"/>
          </p:cNvSpPr>
          <p:nvPr>
            <p:ph type="title"/>
          </p:nvPr>
        </p:nvSpPr>
        <p:spPr>
          <a:xfrm>
            <a:off x="847725" y="790575"/>
            <a:ext cx="8967470" cy="1029970"/>
          </a:xfrm>
        </p:spPr>
        <p:txBody>
          <a:bodyPr/>
          <a:p>
            <a:pPr marL="226695" indent="-226695" algn="l" defTabSz="266700">
              <a:lnSpc>
                <a:spcPts val="2000"/>
              </a:lnSpc>
              <a:spcAft>
                <a:spcPct val="60000"/>
              </a:spcAft>
              <a:buClrTx/>
              <a:buSzTx/>
              <a:buNone/>
            </a:pPr>
            <a:r>
              <a:rPr lang="en-US" altLang="zh-CN" sz="2000" b="1" kern="1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cs typeface="+mn-cs"/>
                <a:sym typeface="+mn-ea"/>
              </a:rPr>
              <a:t>3.2 Key notions</a:t>
            </a:r>
            <a:endParaRPr lang="en-US" altLang="zh-CN" sz="2000" b="1" kern="100" dirty="0">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ea typeface="宋体" pitchFamily="2" charset="-122"/>
              <a:cs typeface="+mn-cs"/>
              <a:sym typeface="+mn-ea"/>
            </a:endParaRPr>
          </a:p>
        </p:txBody>
      </p:sp>
      <p:graphicFrame>
        <p:nvGraphicFramePr>
          <p:cNvPr id="10" name="表格 9"/>
          <p:cNvGraphicFramePr/>
          <p:nvPr>
            <p:custDataLst>
              <p:tags r:id="rId1"/>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60000"/>
                        <a:lumOff val="40000"/>
                      </a:schemeClr>
                    </a:solidFill>
                  </a:tcPr>
                </a:tc>
                <a:tc>
                  <a:txBody>
                    <a:bodyPr/>
                    <a:p>
                      <a:pPr>
                        <a:buNone/>
                      </a:pPr>
                      <a:r>
                        <a:rPr lang="en-US" altLang="zh-CN" sz="1400"/>
                        <a:t>Research  Methodology</a:t>
                      </a:r>
                      <a:endParaRPr lang="en-US" altLang="zh-CN" sz="1400"/>
                    </a:p>
                  </a:txBody>
                  <a:tcPr>
                    <a:solidFill>
                      <a:schemeClr val="accent1">
                        <a:lumMod val="75000"/>
                      </a:schemeClr>
                    </a:solidFill>
                  </a:tcPr>
                </a:tc>
                <a:tc>
                  <a:txBody>
                    <a:bodyPr/>
                    <a:p>
                      <a:pPr>
                        <a:buNone/>
                      </a:pPr>
                      <a:r>
                        <a:rPr lang="en-US" altLang="zh-CN" sz="1400"/>
                        <a:t>Case Analysis</a:t>
                      </a:r>
                      <a:endParaRPr lang="en-US" altLang="zh-CN" sz="1400"/>
                    </a:p>
                  </a:txBody>
                  <a:tcPr>
                    <a:solidFill>
                      <a:schemeClr val="accent1">
                        <a:lumMod val="60000"/>
                        <a:lumOff val="40000"/>
                      </a:schemeClr>
                    </a:solidFill>
                  </a:tcPr>
                </a:tc>
                <a:tc>
                  <a:txBody>
                    <a:bodyPr/>
                    <a:p>
                      <a:pPr>
                        <a:buNone/>
                      </a:pPr>
                      <a:r>
                        <a:rPr lang="en-US" altLang="zh-CN" sz="1400"/>
                        <a:t>Conclusion</a:t>
                      </a:r>
                      <a:endParaRPr lang="en-US" altLang="zh-CN" sz="1400"/>
                    </a:p>
                  </a:txBody>
                  <a:tcPr>
                    <a:solidFill>
                      <a:schemeClr val="accent1">
                        <a:lumMod val="60000"/>
                        <a:lumOff val="40000"/>
                      </a:schemeClr>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7611" y="2835811"/>
            <a:ext cx="170434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04</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604557" y="3297475"/>
            <a:ext cx="3223260" cy="645160"/>
          </a:xfrm>
          <a:prstGeom prst="rect">
            <a:avLst/>
          </a:prstGeom>
          <a:noFill/>
        </p:spPr>
        <p:txBody>
          <a:bodyPr wrap="none" rtlCol="0">
            <a:spAutoFit/>
          </a:bodyPr>
          <a:lstStyle/>
          <a:p>
            <a:r>
              <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rPr>
              <a:t>Case Analysis</a:t>
            </a:r>
            <a:endPar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bldLst>
      <p:bldP spid="2"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016000" y="982980"/>
            <a:ext cx="6377305" cy="347345"/>
          </a:xfrm>
          <a:prstGeom prst="rect">
            <a:avLst/>
          </a:prstGeom>
        </p:spPr>
        <p:txBody>
          <a:bodyPr wrap="square">
            <a:spAutoFit/>
          </a:bodyPr>
          <a:p>
            <a:pPr marL="226695" indent="-226695" algn="l" defTabSz="266700">
              <a:lnSpc>
                <a:spcPts val="2000"/>
              </a:lnSpc>
              <a:spcAft>
                <a:spcPct val="60000"/>
              </a:spcAft>
            </a:pPr>
            <a:r>
              <a:rPr lang="en-US" altLang="zh-CN" sz="2000" b="1">
                <a:solidFill>
                  <a:schemeClr val="accent1"/>
                </a:solidFill>
                <a:effectLst>
                  <a:outerShdw blurRad="38100" dist="25400" dir="5400000" algn="ctr" rotWithShape="0">
                    <a:srgbClr val="6E747A">
                      <a:alpha val="43000"/>
                      <a:alpha val="43000"/>
                    </a:srgbClr>
                  </a:outerShdw>
                </a:effectLst>
              </a:rPr>
              <a:t> 4.1 Overall Modifications to Contrast Structure</a:t>
            </a:r>
            <a:endParaRPr lang="en-US" altLang="zh-CN" sz="2000" b="1">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1388110" y="1417638"/>
            <a:ext cx="5080000" cy="337185"/>
          </a:xfrm>
          <a:prstGeom prst="rect">
            <a:avLst/>
          </a:prstGeom>
        </p:spPr>
        <p:txBody>
          <a:bodyPr>
            <a:spAutoFit/>
          </a:bodyPr>
          <a:p>
            <a:pPr marL="0" indent="0" algn="just" defTabSz="266700">
              <a:spcBef>
                <a:spcPct val="0"/>
              </a:spcBef>
              <a:spcAft>
                <a:spcPct val="0"/>
              </a:spcAft>
            </a:pPr>
            <a:r>
              <a:rPr lang="en-US" altLang="zh-CN" sz="1600">
                <a:highlight>
                  <a:srgbClr val="FFFF00"/>
                </a:highlight>
                <a:latin typeface="Times New Roman" panose="02020603050405020304"/>
                <a:ea typeface="Times New Roman" panose="02020603050405020304"/>
              </a:rPr>
              <a:t>Literal Translation </a:t>
            </a:r>
            <a:endParaRPr lang="en-US" altLang="zh-CN" sz="1600">
              <a:highlight>
                <a:srgbClr val="FFFF00"/>
              </a:highlight>
              <a:latin typeface="Times New Roman" panose="02020603050405020304"/>
              <a:ea typeface="Times New Roman" panose="02020603050405020304"/>
            </a:endParaRPr>
          </a:p>
        </p:txBody>
      </p:sp>
      <p:sp>
        <p:nvSpPr>
          <p:cNvPr id="7" name="文本框 6"/>
          <p:cNvSpPr txBox="1"/>
          <p:nvPr/>
        </p:nvSpPr>
        <p:spPr>
          <a:xfrm>
            <a:off x="1099185" y="1842770"/>
            <a:ext cx="9637395" cy="2143125"/>
          </a:xfrm>
          <a:prstGeom prst="rect">
            <a:avLst/>
          </a:prstGeom>
        </p:spPr>
        <p:txBody>
          <a:bodyPr wrap="square">
            <a:spAutoFit/>
          </a:bodyPr>
          <a:p>
            <a:pPr marL="0" indent="0" algn="l" defTabSz="266700">
              <a:lnSpc>
                <a:spcPts val="2000"/>
              </a:lnSpc>
              <a:spcBef>
                <a:spcPct val="0"/>
              </a:spcBef>
              <a:spcAft>
                <a:spcPct val="0"/>
              </a:spcAft>
            </a:pPr>
            <a:r>
              <a:rPr lang="en-US" altLang="zh-CN" sz="1600" b="1">
                <a:solidFill>
                  <a:srgbClr val="000000"/>
                </a:solidFill>
                <a:latin typeface="Times New Roman" panose="02020603050405020304"/>
                <a:ea typeface="宋体"/>
              </a:rPr>
              <a:t>Example :</a:t>
            </a:r>
            <a:endParaRPr lang="en-US" altLang="zh-CN" sz="1600" b="1">
              <a:solidFill>
                <a:srgbClr val="000000"/>
              </a:solidFill>
              <a:latin typeface="Times New Roman" panose="02020603050405020304"/>
              <a:ea typeface="宋体"/>
            </a:endParaRPr>
          </a:p>
          <a:p>
            <a:pPr marL="0" indent="0" algn="l" defTabSz="266700">
              <a:lnSpc>
                <a:spcPts val="2000"/>
              </a:lnSpc>
              <a:spcBef>
                <a:spcPct val="0"/>
              </a:spcBef>
              <a:spcAft>
                <a:spcPct val="0"/>
              </a:spcAft>
            </a:pPr>
            <a:endParaRPr lang="en-US" altLang="zh-CN" sz="1600" b="1">
              <a:solidFill>
                <a:srgbClr val="000000"/>
              </a:solidFill>
              <a:latin typeface="Times New Roman" panose="02020603050405020304"/>
              <a:ea typeface="宋体"/>
            </a:endParaRPr>
          </a:p>
          <a:p>
            <a:pPr marL="0" indent="304800" algn="just" defTabSz="266700">
              <a:lnSpc>
                <a:spcPts val="2000"/>
              </a:lnSpc>
              <a:spcBef>
                <a:spcPct val="0"/>
              </a:spcBef>
              <a:spcAft>
                <a:spcPct val="0"/>
              </a:spcAft>
            </a:pPr>
            <a:r>
              <a:rPr lang="en-US" altLang="zh-CN" sz="1600" b="1">
                <a:solidFill>
                  <a:srgbClr val="000000"/>
                </a:solidFill>
                <a:latin typeface="Times New Roman" panose="02020603050405020304"/>
                <a:ea typeface="宋体"/>
              </a:rPr>
              <a:t>ST: </a:t>
            </a:r>
            <a:r>
              <a:rPr lang="zh-CN" altLang="en-US" sz="1600" b="1">
                <a:solidFill>
                  <a:srgbClr val="000000"/>
                </a:solidFill>
                <a:latin typeface="宋体"/>
                <a:ea typeface="宋体"/>
              </a:rPr>
              <a:t>老裴也是一时怒从心头起，从床上爬起来，拿起砍刀，就要杀人；但</a:t>
            </a:r>
            <a:r>
              <a:rPr lang="zh-CN" altLang="en-US" sz="1600" b="1" u="sng">
                <a:solidFill>
                  <a:srgbClr val="000000"/>
                </a:solidFill>
                <a:latin typeface="宋体"/>
                <a:ea typeface="宋体"/>
              </a:rPr>
              <a:t>不是</a:t>
            </a:r>
            <a:r>
              <a:rPr lang="zh-CN" altLang="en-US" sz="1600" b="1">
                <a:solidFill>
                  <a:srgbClr val="000000"/>
                </a:solidFill>
                <a:latin typeface="宋体"/>
                <a:ea typeface="宋体"/>
              </a:rPr>
              <a:t>杀老蔡，</a:t>
            </a:r>
            <a:r>
              <a:rPr lang="zh-CN" altLang="en-US" sz="1600" b="1" u="sng">
                <a:solidFill>
                  <a:srgbClr val="000000"/>
                </a:solidFill>
                <a:latin typeface="宋体"/>
                <a:ea typeface="宋体"/>
              </a:rPr>
              <a:t>而是</a:t>
            </a:r>
            <a:r>
              <a:rPr lang="zh-CN" altLang="en-US" sz="1600" b="1">
                <a:solidFill>
                  <a:srgbClr val="000000"/>
                </a:solidFill>
                <a:latin typeface="宋体"/>
                <a:ea typeface="宋体"/>
              </a:rPr>
              <a:t>要到镇上杀她娘家哥。也</a:t>
            </a:r>
            <a:r>
              <a:rPr lang="zh-CN" altLang="en-US" sz="1600" b="1" u="sng">
                <a:solidFill>
                  <a:srgbClr val="000000"/>
                </a:solidFill>
                <a:latin typeface="宋体"/>
                <a:ea typeface="宋体"/>
              </a:rPr>
              <a:t>不是</a:t>
            </a:r>
            <a:r>
              <a:rPr lang="zh-CN" altLang="en-US" sz="1600" b="1">
                <a:solidFill>
                  <a:srgbClr val="000000"/>
                </a:solidFill>
                <a:latin typeface="宋体"/>
                <a:ea typeface="宋体"/>
              </a:rPr>
              <a:t>要杀他这个人，是要杀他讲的这些理；</a:t>
            </a:r>
            <a:r>
              <a:rPr lang="zh-CN" altLang="en-US" sz="1600" b="1" u="sng">
                <a:solidFill>
                  <a:srgbClr val="000000"/>
                </a:solidFill>
                <a:latin typeface="宋体"/>
                <a:ea typeface="宋体"/>
              </a:rPr>
              <a:t>也不是</a:t>
            </a:r>
            <a:r>
              <a:rPr lang="zh-CN" altLang="en-US" sz="1600" b="1">
                <a:solidFill>
                  <a:srgbClr val="000000"/>
                </a:solidFill>
                <a:latin typeface="宋体"/>
                <a:ea typeface="宋体"/>
              </a:rPr>
              <a:t>要杀这些理，是要杀他的绕；绕来绕去，把老裴绕成了另一个人。（刘震云，</a:t>
            </a:r>
            <a:r>
              <a:rPr lang="en-US" altLang="zh-CN" sz="1600" b="1">
                <a:solidFill>
                  <a:srgbClr val="000000"/>
                </a:solidFill>
                <a:latin typeface="Times New Roman" panose="02020603050405020304"/>
                <a:ea typeface="宋体"/>
              </a:rPr>
              <a:t>2009:21</a:t>
            </a:r>
            <a:r>
              <a:rPr lang="zh-CN" altLang="en-US" sz="1600" b="1">
                <a:solidFill>
                  <a:srgbClr val="000000"/>
                </a:solidFill>
                <a:latin typeface="宋体"/>
                <a:ea typeface="宋体"/>
              </a:rPr>
              <a:t>）</a:t>
            </a:r>
            <a:endParaRPr lang="zh-CN" altLang="en-US" sz="1600" b="1">
              <a:solidFill>
                <a:srgbClr val="000000"/>
              </a:solidFill>
              <a:latin typeface="宋体"/>
              <a:ea typeface="宋体"/>
            </a:endParaRPr>
          </a:p>
          <a:p>
            <a:pPr marL="0" indent="304800" algn="just" defTabSz="266700">
              <a:lnSpc>
                <a:spcPts val="2000"/>
              </a:lnSpc>
              <a:spcBef>
                <a:spcPct val="0"/>
              </a:spcBef>
              <a:spcAft>
                <a:spcPct val="0"/>
              </a:spcAft>
            </a:pPr>
            <a:r>
              <a:rPr lang="en-US" altLang="zh-CN" sz="1600" b="1">
                <a:solidFill>
                  <a:srgbClr val="000000"/>
                </a:solidFill>
                <a:latin typeface="Times New Roman" panose="02020603050405020304"/>
                <a:ea typeface="宋体"/>
              </a:rPr>
              <a:t>TT: With rage building inside, he climbed out of bed, picked up his machete to kill someone, </a:t>
            </a:r>
            <a:r>
              <a:rPr lang="en-US" altLang="zh-CN" sz="1600" b="1" u="sng">
                <a:solidFill>
                  <a:srgbClr val="000000"/>
                </a:solidFill>
                <a:latin typeface="Times New Roman" panose="02020603050405020304"/>
                <a:ea typeface="宋体"/>
              </a:rPr>
              <a:t>not </a:t>
            </a:r>
            <a:r>
              <a:rPr lang="en-US" altLang="zh-CN" sz="1600" b="1">
                <a:solidFill>
                  <a:srgbClr val="000000"/>
                </a:solidFill>
                <a:latin typeface="Times New Roman" panose="02020603050405020304"/>
                <a:ea typeface="宋体"/>
              </a:rPr>
              <a:t>his wife, </a:t>
            </a:r>
            <a:r>
              <a:rPr lang="en-US" altLang="zh-CN" sz="1600" b="1" u="sng">
                <a:solidFill>
                  <a:srgbClr val="000000"/>
                </a:solidFill>
                <a:latin typeface="Times New Roman" panose="02020603050405020304"/>
                <a:ea typeface="宋体"/>
              </a:rPr>
              <a:t>but </a:t>
            </a:r>
            <a:r>
              <a:rPr lang="en-US" altLang="zh-CN" sz="1600" b="1">
                <a:solidFill>
                  <a:srgbClr val="000000"/>
                </a:solidFill>
                <a:latin typeface="Times New Roman" panose="02020603050405020304"/>
                <a:ea typeface="宋体"/>
              </a:rPr>
              <a:t>his brother-in-law, and </a:t>
            </a:r>
            <a:r>
              <a:rPr lang="en-US" altLang="zh-CN" sz="1600" b="1" u="sng">
                <a:solidFill>
                  <a:srgbClr val="000000"/>
                </a:solidFill>
                <a:latin typeface="Times New Roman" panose="02020603050405020304"/>
                <a:ea typeface="宋体"/>
              </a:rPr>
              <a:t>not </a:t>
            </a:r>
            <a:r>
              <a:rPr lang="en-US" altLang="zh-CN" sz="1600" b="1">
                <a:solidFill>
                  <a:srgbClr val="000000"/>
                </a:solidFill>
                <a:latin typeface="Times New Roman" panose="02020603050405020304"/>
                <a:ea typeface="宋体"/>
              </a:rPr>
              <a:t>just him, </a:t>
            </a:r>
            <a:r>
              <a:rPr lang="en-US" altLang="zh-CN" sz="1600" b="1" u="sng">
                <a:solidFill>
                  <a:srgbClr val="000000"/>
                </a:solidFill>
                <a:latin typeface="Times New Roman" panose="02020603050405020304"/>
                <a:ea typeface="宋体"/>
              </a:rPr>
              <a:t>but</a:t>
            </a:r>
            <a:r>
              <a:rPr lang="en-US" altLang="zh-CN" sz="1600" b="1">
                <a:solidFill>
                  <a:srgbClr val="000000"/>
                </a:solidFill>
                <a:latin typeface="Times New Roman" panose="02020603050405020304"/>
                <a:ea typeface="宋体"/>
              </a:rPr>
              <a:t> his logic; </a:t>
            </a:r>
            <a:r>
              <a:rPr lang="en-US" altLang="zh-CN" sz="1600" b="1" u="sng">
                <a:solidFill>
                  <a:srgbClr val="000000"/>
                </a:solidFill>
                <a:latin typeface="Times New Roman" panose="02020603050405020304"/>
                <a:ea typeface="宋体"/>
              </a:rPr>
              <a:t>not</a:t>
            </a:r>
            <a:r>
              <a:rPr lang="en-US" altLang="zh-CN" sz="1600" b="1">
                <a:solidFill>
                  <a:srgbClr val="000000"/>
                </a:solidFill>
                <a:latin typeface="Times New Roman" panose="02020603050405020304"/>
                <a:ea typeface="宋体"/>
              </a:rPr>
              <a:t> his logic either, </a:t>
            </a:r>
            <a:r>
              <a:rPr lang="en-US" altLang="zh-CN" sz="1600" b="1" u="sng">
                <a:solidFill>
                  <a:srgbClr val="000000"/>
                </a:solidFill>
                <a:latin typeface="Times New Roman" panose="02020603050405020304"/>
                <a:ea typeface="宋体"/>
              </a:rPr>
              <a:t>but</a:t>
            </a:r>
            <a:r>
              <a:rPr lang="en-US" altLang="zh-CN" sz="1600" b="1">
                <a:solidFill>
                  <a:srgbClr val="000000"/>
                </a:solidFill>
                <a:latin typeface="Times New Roman" panose="02020603050405020304"/>
                <a:ea typeface="宋体"/>
              </a:rPr>
              <a:t> the twisted reasoning that had turned Pei into a different person.  (Glodblatt &amp; Lin, 2018: 22)</a:t>
            </a:r>
            <a:endParaRPr lang="en-US" altLang="zh-CN" sz="1600" b="1">
              <a:solidFill>
                <a:srgbClr val="000000"/>
              </a:solidFill>
              <a:latin typeface="Times New Roman" panose="02020603050405020304"/>
              <a:ea typeface="宋体"/>
            </a:endParaRPr>
          </a:p>
        </p:txBody>
      </p:sp>
      <p:sp>
        <p:nvSpPr>
          <p:cNvPr id="8" name="文本框 7"/>
          <p:cNvSpPr txBox="1"/>
          <p:nvPr/>
        </p:nvSpPr>
        <p:spPr>
          <a:xfrm>
            <a:off x="1164590" y="4196080"/>
            <a:ext cx="8136890" cy="55308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a:rPr>
              <a:t>(1) Commonality of the “not...but” structure in English</a:t>
            </a:r>
            <a:endParaRPr lang="en-US" altLang="zh-CN" sz="1600">
              <a:solidFill>
                <a:srgbClr val="000000"/>
              </a:solidFill>
              <a:latin typeface="Times New Roman" panose="02020603050405020304"/>
              <a:ea typeface="宋体"/>
            </a:endParaRPr>
          </a:p>
          <a:p>
            <a:pPr marL="0" indent="0" algn="just" defTabSz="266700">
              <a:spcBef>
                <a:spcPct val="0"/>
              </a:spcBef>
              <a:spcAft>
                <a:spcPct val="0"/>
              </a:spcAft>
            </a:pPr>
            <a:endParaRPr lang="en-US" altLang="zh-CN" sz="1400">
              <a:solidFill>
                <a:srgbClr val="000000"/>
              </a:solidFill>
              <a:latin typeface="Times New Roman" panose="02020603050405020304"/>
              <a:ea typeface="宋体"/>
            </a:endParaRPr>
          </a:p>
        </p:txBody>
      </p:sp>
      <p:sp>
        <p:nvSpPr>
          <p:cNvPr id="9" name="文本框 8"/>
          <p:cNvSpPr txBox="1"/>
          <p:nvPr/>
        </p:nvSpPr>
        <p:spPr>
          <a:xfrm>
            <a:off x="1164590" y="4749165"/>
            <a:ext cx="8385175" cy="55308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a:rPr>
              <a:t>(2) Maintaining logical contrast</a:t>
            </a:r>
            <a:endParaRPr lang="en-US" altLang="zh-CN" sz="1600">
              <a:solidFill>
                <a:srgbClr val="000000"/>
              </a:solidFill>
              <a:latin typeface="Times New Roman" panose="02020603050405020304"/>
              <a:ea typeface="宋体"/>
            </a:endParaRPr>
          </a:p>
          <a:p>
            <a:pPr marL="0" indent="0" algn="just" defTabSz="266700">
              <a:spcBef>
                <a:spcPct val="0"/>
              </a:spcBef>
              <a:spcAft>
                <a:spcPct val="0"/>
              </a:spcAft>
            </a:pPr>
            <a:endParaRPr lang="en-US" altLang="zh-CN" sz="1400">
              <a:solidFill>
                <a:srgbClr val="000000"/>
              </a:solidFill>
              <a:latin typeface="Times New Roman" panose="02020603050405020304"/>
              <a:ea typeface="宋体"/>
            </a:endParaRPr>
          </a:p>
        </p:txBody>
      </p:sp>
      <p:sp>
        <p:nvSpPr>
          <p:cNvPr id="10" name="文本框 9"/>
          <p:cNvSpPr txBox="1"/>
          <p:nvPr/>
        </p:nvSpPr>
        <p:spPr>
          <a:xfrm>
            <a:off x="1164590" y="5301933"/>
            <a:ext cx="5080000" cy="337185"/>
          </a:xfrm>
          <a:prstGeom prst="rect">
            <a:avLst/>
          </a:prstGeom>
        </p:spPr>
        <p:txBody>
          <a:bodyPr>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a:rPr>
              <a:t>(3) Preserving the progression in emotion and logic</a:t>
            </a:r>
            <a:endParaRPr lang="en-US" altLang="zh-CN" sz="1600">
              <a:solidFill>
                <a:srgbClr val="000000"/>
              </a:solidFill>
              <a:latin typeface="Times New Roman" panose="02020603050405020304"/>
              <a:ea typeface="宋体"/>
            </a:endParaRPr>
          </a:p>
        </p:txBody>
      </p:sp>
      <p:graphicFrame>
        <p:nvGraphicFramePr>
          <p:cNvPr id="12" name="表格 11"/>
          <p:cNvGraphicFramePr/>
          <p:nvPr>
            <p:custDataLst>
              <p:tags r:id="rId1"/>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60000"/>
                        <a:lumOff val="40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75000"/>
                      </a:schemeClr>
                    </a:solidFill>
                  </a:tcPr>
                </a:tc>
                <a:tc>
                  <a:txBody>
                    <a:bodyPr/>
                    <a:p>
                      <a:pPr>
                        <a:buNone/>
                      </a:pPr>
                      <a:r>
                        <a:rPr lang="en-US" altLang="zh-CN" sz="1400"/>
                        <a:t>Conclusion</a:t>
                      </a:r>
                      <a:endParaRPr lang="en-US" altLang="zh-CN" sz="1400"/>
                    </a:p>
                  </a:txBody>
                  <a:tcPr>
                    <a:solidFill>
                      <a:schemeClr val="accent1">
                        <a:lumMod val="60000"/>
                        <a:lumOff val="40000"/>
                      </a:schemeClr>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016000" y="982980"/>
            <a:ext cx="7760335" cy="347345"/>
          </a:xfrm>
          <a:prstGeom prst="rect">
            <a:avLst/>
          </a:prstGeom>
        </p:spPr>
        <p:txBody>
          <a:bodyPr wrap="square">
            <a:spAutoFit/>
          </a:bodyPr>
          <a:p>
            <a:pPr marL="226695" indent="-226695" algn="l" defTabSz="266700">
              <a:lnSpc>
                <a:spcPts val="2000"/>
              </a:lnSpc>
              <a:spcAft>
                <a:spcPct val="60000"/>
              </a:spcAft>
            </a:pPr>
            <a:r>
              <a:rPr lang="en-US" altLang="zh-CN" sz="2000" b="1">
                <a:solidFill>
                  <a:schemeClr val="accent1"/>
                </a:solidFill>
                <a:effectLst>
                  <a:outerShdw blurRad="38100" dist="25400" dir="5400000" algn="ctr" rotWithShape="0">
                    <a:srgbClr val="6E747A">
                      <a:alpha val="43000"/>
                      <a:alpha val="43000"/>
                    </a:srgbClr>
                  </a:outerShdw>
                </a:effectLst>
              </a:rPr>
              <a:t>4.2 Modifications to the Former Half of Contrast Structure</a:t>
            </a:r>
            <a:endParaRPr lang="en-US" altLang="zh-CN" sz="2000" b="1">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1388110" y="1387158"/>
            <a:ext cx="5080000" cy="337185"/>
          </a:xfrm>
          <a:prstGeom prst="rect">
            <a:avLst/>
          </a:prstGeom>
        </p:spPr>
        <p:txBody>
          <a:bodyPr>
            <a:spAutoFit/>
          </a:bodyPr>
          <a:p>
            <a:pPr marL="0" indent="0" algn="just" defTabSz="266700">
              <a:spcBef>
                <a:spcPct val="0"/>
              </a:spcBef>
              <a:spcAft>
                <a:spcPct val="0"/>
              </a:spcAft>
            </a:pPr>
            <a:r>
              <a:rPr lang="en-US" altLang="zh-CN" sz="1600">
                <a:highlight>
                  <a:srgbClr val="FFFF00"/>
                </a:highlight>
                <a:latin typeface="Times New Roman" panose="02020603050405020304"/>
                <a:ea typeface="Times New Roman" panose="02020603050405020304"/>
              </a:rPr>
              <a:t>Adding Insertions to Emphasize Negation</a:t>
            </a:r>
            <a:endParaRPr lang="en-US" altLang="zh-CN" sz="1600">
              <a:highlight>
                <a:srgbClr val="FFFF00"/>
              </a:highlight>
              <a:latin typeface="Times New Roman" panose="02020603050405020304"/>
              <a:ea typeface="Times New Roman" panose="02020603050405020304"/>
            </a:endParaRPr>
          </a:p>
        </p:txBody>
      </p:sp>
      <p:sp>
        <p:nvSpPr>
          <p:cNvPr id="7" name="文本框 6"/>
          <p:cNvSpPr txBox="1"/>
          <p:nvPr/>
        </p:nvSpPr>
        <p:spPr>
          <a:xfrm>
            <a:off x="1099185" y="2009140"/>
            <a:ext cx="10061575" cy="1886585"/>
          </a:xfrm>
          <a:prstGeom prst="rect">
            <a:avLst/>
          </a:prstGeom>
        </p:spPr>
        <p:txBody>
          <a:bodyPr wrap="square">
            <a:spAutoFit/>
          </a:bodyPr>
          <a:p>
            <a:pPr marL="0" indent="0" algn="l" defTabSz="266700">
              <a:lnSpc>
                <a:spcPts val="2000"/>
              </a:lnSpc>
              <a:spcBef>
                <a:spcPct val="0"/>
              </a:spcBef>
              <a:spcAft>
                <a:spcPct val="0"/>
              </a:spcAft>
            </a:pPr>
            <a:r>
              <a:rPr lang="en-US" altLang="zh-CN" sz="1600" b="1">
                <a:solidFill>
                  <a:srgbClr val="000000"/>
                </a:solidFill>
                <a:latin typeface="Times New Roman" panose="02020603050405020304"/>
                <a:ea typeface="宋体"/>
              </a:rPr>
              <a:t>Example :</a:t>
            </a:r>
            <a:endParaRPr lang="en-US" altLang="zh-CN" sz="1600" b="1">
              <a:solidFill>
                <a:srgbClr val="000000"/>
              </a:solidFill>
              <a:latin typeface="Times New Roman" panose="02020603050405020304"/>
              <a:ea typeface="宋体"/>
            </a:endParaRPr>
          </a:p>
          <a:p>
            <a:pPr marL="0" indent="0" algn="l" defTabSz="266700">
              <a:lnSpc>
                <a:spcPts val="2000"/>
              </a:lnSpc>
              <a:spcBef>
                <a:spcPct val="0"/>
              </a:spcBef>
              <a:spcAft>
                <a:spcPct val="0"/>
              </a:spcAft>
            </a:pPr>
            <a:endParaRPr lang="en-US" altLang="zh-CN" sz="1600" b="1">
              <a:solidFill>
                <a:srgbClr val="000000"/>
              </a:solidFill>
              <a:latin typeface="Times New Roman" panose="02020603050405020304"/>
              <a:ea typeface="宋体"/>
            </a:endParaRPr>
          </a:p>
          <a:p>
            <a:pPr marL="0" indent="0" algn="l" defTabSz="266700">
              <a:lnSpc>
                <a:spcPts val="2000"/>
              </a:lnSpc>
              <a:spcBef>
                <a:spcPct val="0"/>
              </a:spcBef>
              <a:spcAft>
                <a:spcPct val="0"/>
              </a:spcAft>
            </a:pPr>
            <a:r>
              <a:rPr lang="en-US" altLang="zh-CN" sz="1600" b="1">
                <a:solidFill>
                  <a:srgbClr val="000000"/>
                </a:solidFill>
                <a:latin typeface="Times New Roman" panose="02020603050405020304"/>
                <a:ea typeface="宋体"/>
              </a:rPr>
              <a:t>ST: 指得上</a:t>
            </a:r>
            <a:r>
              <a:rPr lang="en-US" altLang="zh-CN" sz="1600" b="1" u="sng">
                <a:solidFill>
                  <a:srgbClr val="000000"/>
                </a:solidFill>
                <a:latin typeface="Times New Roman" panose="02020603050405020304"/>
                <a:ea typeface="宋体"/>
              </a:rPr>
              <a:t>不是</a:t>
            </a:r>
            <a:r>
              <a:rPr lang="en-US" altLang="zh-CN" sz="1600" b="1">
                <a:solidFill>
                  <a:srgbClr val="000000"/>
                </a:solidFill>
                <a:latin typeface="Times New Roman" panose="02020603050405020304"/>
                <a:ea typeface="宋体"/>
              </a:rPr>
              <a:t>说缺钱的时候可以找他们借钱，有事的时候可以找他们办事；而是遇到想不开或想不明白的事，或一个事拿不定主意，可以找他们商量。（刘震云，2009:211）</a:t>
            </a:r>
            <a:endParaRPr lang="en-US" altLang="zh-CN" sz="1600" b="1">
              <a:solidFill>
                <a:srgbClr val="000000"/>
              </a:solidFill>
              <a:latin typeface="Times New Roman" panose="02020603050405020304"/>
              <a:ea typeface="宋体"/>
            </a:endParaRPr>
          </a:p>
          <a:p>
            <a:pPr marL="0" indent="0" algn="l" defTabSz="266700">
              <a:lnSpc>
                <a:spcPts val="2000"/>
              </a:lnSpc>
              <a:spcBef>
                <a:spcPct val="0"/>
              </a:spcBef>
              <a:spcAft>
                <a:spcPct val="0"/>
              </a:spcAft>
            </a:pPr>
            <a:r>
              <a:rPr lang="en-US" altLang="zh-CN" sz="1600" b="1">
                <a:solidFill>
                  <a:srgbClr val="000000"/>
                </a:solidFill>
                <a:latin typeface="Times New Roman" panose="02020603050405020304"/>
                <a:ea typeface="宋体"/>
              </a:rPr>
              <a:t>TT: He could rely on them </a:t>
            </a:r>
            <a:r>
              <a:rPr lang="en-US" altLang="zh-CN" sz="1600" b="1" u="sng">
                <a:solidFill>
                  <a:srgbClr val="000000"/>
                </a:solidFill>
                <a:latin typeface="Times New Roman" panose="02020603050405020304"/>
                <a:ea typeface="宋体"/>
              </a:rPr>
              <a:t>not </a:t>
            </a:r>
            <a:r>
              <a:rPr lang="en-US" altLang="zh-CN" sz="1600" b="1">
                <a:solidFill>
                  <a:srgbClr val="000000"/>
                </a:solidFill>
                <a:latin typeface="Times New Roman" panose="02020603050405020304"/>
                <a:ea typeface="宋体"/>
              </a:rPr>
              <a:t>because they would lend him money or help him out of a jam. </a:t>
            </a:r>
            <a:r>
              <a:rPr lang="en-US" altLang="zh-CN" sz="1600" b="1">
                <a:solidFill>
                  <a:srgbClr val="FF0000"/>
                </a:solidFill>
                <a:latin typeface="Times New Roman" panose="02020603050405020304"/>
                <a:ea typeface="宋体"/>
              </a:rPr>
              <a:t>Nothing of the sort. </a:t>
            </a:r>
            <a:r>
              <a:rPr lang="en-US" altLang="zh-CN" sz="1600" b="1">
                <a:solidFill>
                  <a:srgbClr val="000000"/>
                </a:solidFill>
                <a:latin typeface="Times New Roman" panose="02020603050405020304"/>
                <a:ea typeface="宋体"/>
              </a:rPr>
              <a:t>He simply liked the fact that he could run something by them when he could not get over or understand something or make up his mind about what to do. (Glodblatt &amp; Lin, 2018: 227)</a:t>
            </a:r>
            <a:endParaRPr lang="en-US" altLang="zh-CN" sz="1600" b="1">
              <a:solidFill>
                <a:srgbClr val="000000"/>
              </a:solidFill>
              <a:latin typeface="Times New Roman" panose="02020603050405020304"/>
              <a:ea typeface="宋体"/>
            </a:endParaRPr>
          </a:p>
        </p:txBody>
      </p:sp>
      <p:sp>
        <p:nvSpPr>
          <p:cNvPr id="8" name="文本框 7"/>
          <p:cNvSpPr txBox="1"/>
          <p:nvPr/>
        </p:nvSpPr>
        <p:spPr>
          <a:xfrm>
            <a:off x="1099185" y="4264025"/>
            <a:ext cx="8225155" cy="107632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a:rPr>
              <a:t>(1)An emphatic device, echoing the negation of the previous part.</a:t>
            </a:r>
            <a:endParaRPr lang="en-US" altLang="zh-CN" sz="1600">
              <a:solidFill>
                <a:srgbClr val="000000"/>
              </a:solidFill>
              <a:latin typeface="Times New Roman" panose="02020603050405020304"/>
              <a:ea typeface="宋体"/>
            </a:endParaRPr>
          </a:p>
          <a:p>
            <a:pPr marL="0" indent="0" algn="just" defTabSz="266700">
              <a:spcBef>
                <a:spcPct val="0"/>
              </a:spcBef>
              <a:spcAft>
                <a:spcPct val="0"/>
              </a:spcAft>
            </a:pPr>
            <a:endParaRPr lang="en-US" altLang="zh-CN" sz="1600">
              <a:solidFill>
                <a:srgbClr val="000000"/>
              </a:solidFill>
              <a:latin typeface="Times New Roman" panose="02020603050405020304"/>
              <a:ea typeface="宋体"/>
              <a:sym typeface="+mn-ea"/>
            </a:endParaRPr>
          </a:p>
          <a:p>
            <a:pPr marL="0" indent="0" algn="just" defTabSz="266700">
              <a:spcBef>
                <a:spcPct val="0"/>
              </a:spcBef>
              <a:spcAft>
                <a:spcPct val="0"/>
              </a:spcAft>
            </a:pPr>
            <a:r>
              <a:rPr lang="en-US" altLang="zh-CN" sz="1600">
                <a:solidFill>
                  <a:srgbClr val="000000"/>
                </a:solidFill>
                <a:latin typeface="Times New Roman" panose="02020603050405020304"/>
                <a:ea typeface="宋体"/>
                <a:sym typeface="+mn-ea"/>
              </a:rPr>
              <a:t>(2)Preserving a natural flow in English.</a:t>
            </a:r>
            <a:endParaRPr lang="en-US" altLang="zh-CN" sz="1600">
              <a:solidFill>
                <a:srgbClr val="000000"/>
              </a:solidFill>
              <a:latin typeface="Times New Roman" panose="02020603050405020304"/>
              <a:ea typeface="宋体"/>
              <a:sym typeface="+mn-ea"/>
            </a:endParaRPr>
          </a:p>
          <a:p>
            <a:pPr marL="0" indent="0" algn="just" defTabSz="266700">
              <a:spcBef>
                <a:spcPct val="0"/>
              </a:spcBef>
              <a:spcAft>
                <a:spcPct val="0"/>
              </a:spcAft>
            </a:pPr>
            <a:r>
              <a:rPr lang="en-US" altLang="zh-CN" sz="1600">
                <a:solidFill>
                  <a:srgbClr val="000000"/>
                </a:solidFill>
                <a:latin typeface="Times New Roman" panose="02020603050405020304"/>
                <a:ea typeface="宋体"/>
              </a:rPr>
              <a:t> </a:t>
            </a:r>
            <a:endParaRPr lang="en-US" altLang="zh-CN" sz="1600">
              <a:solidFill>
                <a:srgbClr val="000000"/>
              </a:solidFill>
              <a:latin typeface="Times New Roman" panose="02020603050405020304"/>
              <a:ea typeface="宋体"/>
            </a:endParaRPr>
          </a:p>
        </p:txBody>
      </p:sp>
      <p:graphicFrame>
        <p:nvGraphicFramePr>
          <p:cNvPr id="12" name="表格 11"/>
          <p:cNvGraphicFramePr/>
          <p:nvPr>
            <p:custDataLst>
              <p:tags r:id="rId1"/>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60000"/>
                        <a:lumOff val="40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75000"/>
                      </a:schemeClr>
                    </a:solidFill>
                  </a:tcPr>
                </a:tc>
                <a:tc>
                  <a:txBody>
                    <a:bodyPr/>
                    <a:p>
                      <a:pPr>
                        <a:buNone/>
                      </a:pPr>
                      <a:r>
                        <a:rPr lang="en-US" altLang="zh-CN" sz="1400"/>
                        <a:t>Conclusion</a:t>
                      </a:r>
                      <a:endParaRPr lang="en-US" altLang="zh-CN" sz="1400"/>
                    </a:p>
                  </a:txBody>
                  <a:tcPr>
                    <a:solidFill>
                      <a:schemeClr val="accent1">
                        <a:lumMod val="60000"/>
                        <a:lumOff val="40000"/>
                      </a:schemeClr>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016000" y="982980"/>
            <a:ext cx="7473315" cy="347345"/>
          </a:xfrm>
          <a:prstGeom prst="rect">
            <a:avLst/>
          </a:prstGeom>
        </p:spPr>
        <p:txBody>
          <a:bodyPr wrap="square">
            <a:spAutoFit/>
          </a:bodyPr>
          <a:p>
            <a:pPr marL="226695" indent="-226695" algn="l" defTabSz="266700">
              <a:lnSpc>
                <a:spcPts val="2000"/>
              </a:lnSpc>
              <a:spcAft>
                <a:spcPct val="60000"/>
              </a:spcAft>
            </a:pPr>
            <a:r>
              <a:rPr lang="en-US" altLang="zh-CN" sz="2000" b="1">
                <a:solidFill>
                  <a:schemeClr val="accent1"/>
                </a:solidFill>
                <a:effectLst>
                  <a:outerShdw blurRad="38100" dist="25400" dir="5400000" algn="ctr" rotWithShape="0">
                    <a:srgbClr val="6E747A">
                      <a:alpha val="43000"/>
                      <a:alpha val="43000"/>
                    </a:srgbClr>
                  </a:outerShdw>
                </a:effectLst>
              </a:rPr>
              <a:t>4.3 Modifications to the Latter Half of Contrast Structure</a:t>
            </a:r>
            <a:endParaRPr lang="en-US" altLang="zh-CN" sz="2000" b="1">
              <a:solidFill>
                <a:schemeClr val="accent1"/>
              </a:solidFill>
              <a:effectLst>
                <a:outerShdw blurRad="38100" dist="25400" dir="5400000" algn="ctr" rotWithShape="0">
                  <a:srgbClr val="6E747A">
                    <a:alpha val="43000"/>
                    <a:alpha val="43000"/>
                  </a:srgbClr>
                </a:outerShdw>
              </a:effectLst>
            </a:endParaRPr>
          </a:p>
        </p:txBody>
      </p:sp>
      <p:sp>
        <p:nvSpPr>
          <p:cNvPr id="6" name="文本框 5"/>
          <p:cNvSpPr txBox="1"/>
          <p:nvPr/>
        </p:nvSpPr>
        <p:spPr>
          <a:xfrm>
            <a:off x="1388110" y="1330008"/>
            <a:ext cx="5080000" cy="337185"/>
          </a:xfrm>
          <a:prstGeom prst="rect">
            <a:avLst/>
          </a:prstGeom>
        </p:spPr>
        <p:txBody>
          <a:bodyPr>
            <a:spAutoFit/>
          </a:bodyPr>
          <a:p>
            <a:pPr marL="0" indent="0" algn="just" defTabSz="266700">
              <a:spcBef>
                <a:spcPct val="0"/>
              </a:spcBef>
              <a:spcAft>
                <a:spcPct val="0"/>
              </a:spcAft>
            </a:pPr>
            <a:r>
              <a:rPr lang="en-US" altLang="zh-CN" sz="1600">
                <a:highlight>
                  <a:srgbClr val="FFFF00"/>
                </a:highlight>
                <a:latin typeface="Times New Roman" panose="02020603050405020304"/>
                <a:ea typeface="Times New Roman" panose="02020603050405020304"/>
              </a:rPr>
              <a:t> Adding Introductory Phrases for Transition</a:t>
            </a:r>
            <a:endParaRPr lang="en-US" altLang="zh-CN" sz="1600">
              <a:highlight>
                <a:srgbClr val="FFFF00"/>
              </a:highlight>
              <a:latin typeface="Times New Roman" panose="02020603050405020304"/>
              <a:ea typeface="Times New Roman" panose="02020603050405020304"/>
            </a:endParaRPr>
          </a:p>
        </p:txBody>
      </p:sp>
      <p:sp>
        <p:nvSpPr>
          <p:cNvPr id="7" name="文本框 6"/>
          <p:cNvSpPr txBox="1"/>
          <p:nvPr/>
        </p:nvSpPr>
        <p:spPr>
          <a:xfrm>
            <a:off x="1099185" y="1771650"/>
            <a:ext cx="10061575" cy="1630045"/>
          </a:xfrm>
          <a:prstGeom prst="rect">
            <a:avLst/>
          </a:prstGeom>
        </p:spPr>
        <p:txBody>
          <a:bodyPr wrap="square">
            <a:spAutoFit/>
          </a:bodyPr>
          <a:p>
            <a:pPr marL="0" indent="0" algn="l" defTabSz="266700">
              <a:lnSpc>
                <a:spcPts val="2000"/>
              </a:lnSpc>
              <a:spcBef>
                <a:spcPct val="0"/>
              </a:spcBef>
              <a:spcAft>
                <a:spcPct val="0"/>
              </a:spcAft>
            </a:pPr>
            <a:r>
              <a:rPr lang="en-US" altLang="zh-CN" sz="1600" b="1">
                <a:solidFill>
                  <a:srgbClr val="000000"/>
                </a:solidFill>
                <a:latin typeface="Times New Roman" panose="02020603050405020304"/>
                <a:ea typeface="宋体"/>
              </a:rPr>
              <a:t>Example : </a:t>
            </a:r>
            <a:endParaRPr lang="en-US" altLang="zh-CN" sz="1600" b="1">
              <a:solidFill>
                <a:srgbClr val="000000"/>
              </a:solidFill>
              <a:latin typeface="Times New Roman" panose="02020603050405020304"/>
              <a:ea typeface="宋体"/>
            </a:endParaRPr>
          </a:p>
          <a:p>
            <a:pPr marL="0" indent="0" algn="l" defTabSz="266700">
              <a:lnSpc>
                <a:spcPts val="2000"/>
              </a:lnSpc>
              <a:spcBef>
                <a:spcPct val="0"/>
              </a:spcBef>
              <a:spcAft>
                <a:spcPct val="0"/>
              </a:spcAft>
            </a:pPr>
            <a:r>
              <a:rPr lang="en-US" altLang="zh-CN" sz="1600" b="1">
                <a:solidFill>
                  <a:srgbClr val="000000"/>
                </a:solidFill>
                <a:latin typeface="Times New Roman" panose="02020603050405020304"/>
                <a:ea typeface="宋体"/>
              </a:rPr>
              <a:t>ST: 但上个月，牛爱香与小张吹了。两人吹了不是两人谈不下去，而是小张跟牛爱香谈恋爱时，还跟县城广播站一个叫小红的播音员也谈着。 （刘震云，2009:213）</a:t>
            </a:r>
            <a:endParaRPr lang="en-US" altLang="zh-CN" sz="1600" b="1">
              <a:solidFill>
                <a:srgbClr val="000000"/>
              </a:solidFill>
              <a:latin typeface="Times New Roman" panose="02020603050405020304"/>
              <a:ea typeface="宋体"/>
            </a:endParaRPr>
          </a:p>
          <a:p>
            <a:pPr marL="0" indent="0" algn="l" defTabSz="266700">
              <a:lnSpc>
                <a:spcPts val="2000"/>
              </a:lnSpc>
              <a:spcBef>
                <a:spcPct val="0"/>
              </a:spcBef>
              <a:spcAft>
                <a:spcPct val="0"/>
              </a:spcAft>
            </a:pPr>
            <a:r>
              <a:rPr lang="en-US" altLang="zh-CN" sz="1600" b="1">
                <a:solidFill>
                  <a:srgbClr val="000000"/>
                </a:solidFill>
                <a:latin typeface="Times New Roman" panose="02020603050405020304"/>
                <a:ea typeface="宋体"/>
              </a:rPr>
              <a:t>TT: Aixiang had broken up with Zhang the month before, though not because they no longer liked one another. </a:t>
            </a:r>
            <a:r>
              <a:rPr lang="en-US" altLang="zh-CN" sz="1600" b="1">
                <a:solidFill>
                  <a:srgbClr val="FF0000"/>
                </a:solidFill>
                <a:latin typeface="Times New Roman" panose="02020603050405020304"/>
                <a:ea typeface="宋体"/>
              </a:rPr>
              <a:t>It turned out that</a:t>
            </a:r>
            <a:r>
              <a:rPr lang="en-US" altLang="zh-CN" sz="1600" b="1">
                <a:solidFill>
                  <a:srgbClr val="000000"/>
                </a:solidFill>
                <a:latin typeface="Times New Roman" panose="02020603050405020304"/>
                <a:ea typeface="宋体"/>
              </a:rPr>
              <a:t>, while going out with Aixiang, Zhang was also seeing a radio announcer, Xiaohong, at the county radio station. (Glodblatt &amp; Lin, 2018: 230)</a:t>
            </a:r>
            <a:endParaRPr lang="en-US" altLang="zh-CN" sz="1600" b="1">
              <a:solidFill>
                <a:srgbClr val="000000"/>
              </a:solidFill>
              <a:latin typeface="Times New Roman" panose="02020603050405020304"/>
              <a:ea typeface="宋体"/>
            </a:endParaRPr>
          </a:p>
        </p:txBody>
      </p:sp>
      <p:sp>
        <p:nvSpPr>
          <p:cNvPr id="8" name="文本框 7"/>
          <p:cNvSpPr txBox="1"/>
          <p:nvPr/>
        </p:nvSpPr>
        <p:spPr>
          <a:xfrm>
            <a:off x="1099185" y="3598545"/>
            <a:ext cx="10264140" cy="33718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a:rPr>
              <a:t>(1)	Function Over Form: Interpreting Logical Relationships. </a:t>
            </a:r>
            <a:endParaRPr lang="en-US" altLang="zh-CN" sz="1600">
              <a:solidFill>
                <a:srgbClr val="000000"/>
              </a:solidFill>
              <a:latin typeface="Times New Roman" panose="02020603050405020304"/>
              <a:ea typeface="宋体"/>
            </a:endParaRPr>
          </a:p>
        </p:txBody>
      </p:sp>
      <p:sp>
        <p:nvSpPr>
          <p:cNvPr id="9" name="文本框 8"/>
          <p:cNvSpPr txBox="1"/>
          <p:nvPr/>
        </p:nvSpPr>
        <p:spPr>
          <a:xfrm>
            <a:off x="1099185" y="3935730"/>
            <a:ext cx="8225790" cy="337185"/>
          </a:xfrm>
          <a:prstGeom prst="rect">
            <a:avLst/>
          </a:prstGeom>
        </p:spPr>
        <p:txBody>
          <a:bodyPr wrap="square">
            <a:spAutoFit/>
          </a:bodyPr>
          <a:p>
            <a:pPr marL="0" indent="0" algn="just" defTabSz="266700">
              <a:spcBef>
                <a:spcPct val="0"/>
              </a:spcBef>
              <a:spcAft>
                <a:spcPct val="0"/>
              </a:spcAft>
            </a:pPr>
            <a:r>
              <a:rPr lang="en-US" altLang="zh-CN" sz="1600">
                <a:solidFill>
                  <a:srgbClr val="000000"/>
                </a:solidFill>
                <a:latin typeface="Times New Roman" panose="02020603050405020304"/>
                <a:ea typeface="宋体"/>
              </a:rPr>
              <a:t>(2) Stylistic Variation and Avoidance of Repetition.</a:t>
            </a:r>
            <a:endParaRPr lang="en-US" altLang="zh-CN" sz="1600">
              <a:solidFill>
                <a:srgbClr val="000000"/>
              </a:solidFill>
              <a:latin typeface="Times New Roman" panose="02020603050405020304"/>
              <a:ea typeface="宋体"/>
            </a:endParaRPr>
          </a:p>
        </p:txBody>
      </p:sp>
      <p:sp>
        <p:nvSpPr>
          <p:cNvPr id="2" name="文本框 1"/>
          <p:cNvSpPr txBox="1"/>
          <p:nvPr/>
        </p:nvSpPr>
        <p:spPr>
          <a:xfrm>
            <a:off x="1099185" y="4323715"/>
            <a:ext cx="10154920" cy="583565"/>
          </a:xfrm>
          <a:prstGeom prst="rect">
            <a:avLst/>
          </a:prstGeom>
          <a:noFill/>
        </p:spPr>
        <p:txBody>
          <a:bodyPr wrap="square" rtlCol="0">
            <a:spAutoFit/>
          </a:bodyPr>
          <a:p>
            <a:r>
              <a:rPr lang="en-US" altLang="zh-CN" sz="1600">
                <a:solidFill>
                  <a:srgbClr val="000000"/>
                </a:solidFill>
                <a:latin typeface="Times New Roman" panose="02020603050405020304"/>
                <a:ea typeface="宋体"/>
              </a:rPr>
              <a:t>(3) Preservation of Narrative Voice and Tone</a:t>
            </a:r>
            <a:r>
              <a:rPr lang="en-US" altLang="zh-CN" sz="1600">
                <a:solidFill>
                  <a:srgbClr val="000000"/>
                </a:solidFill>
                <a:latin typeface="Times New Roman" panose="02020603050405020304"/>
                <a:ea typeface="宋体"/>
                <a:sym typeface="+mn-ea"/>
              </a:rPr>
              <a:t>.</a:t>
            </a:r>
            <a:endParaRPr lang="en-US" altLang="zh-CN" sz="1600">
              <a:solidFill>
                <a:srgbClr val="000000"/>
              </a:solidFill>
              <a:latin typeface="Times New Roman" panose="02020603050405020304"/>
              <a:ea typeface="宋体"/>
            </a:endParaRPr>
          </a:p>
          <a:p>
            <a:endParaRPr lang="en-US" altLang="zh-CN" sz="1600">
              <a:solidFill>
                <a:srgbClr val="000000"/>
              </a:solidFill>
              <a:latin typeface="Times New Roman" panose="02020603050405020304"/>
              <a:ea typeface="宋体"/>
            </a:endParaRPr>
          </a:p>
        </p:txBody>
      </p:sp>
      <p:sp>
        <p:nvSpPr>
          <p:cNvPr id="3" name="文本框 2"/>
          <p:cNvSpPr txBox="1"/>
          <p:nvPr/>
        </p:nvSpPr>
        <p:spPr>
          <a:xfrm>
            <a:off x="1099185" y="4740275"/>
            <a:ext cx="6096000" cy="337185"/>
          </a:xfrm>
          <a:prstGeom prst="rect">
            <a:avLst/>
          </a:prstGeom>
          <a:noFill/>
        </p:spPr>
        <p:txBody>
          <a:bodyPr wrap="square" rtlCol="0" anchor="t">
            <a:spAutoFit/>
          </a:bodyPr>
          <a:p>
            <a:r>
              <a:rPr lang="en-US" altLang="zh-CN" sz="1600">
                <a:solidFill>
                  <a:srgbClr val="000000"/>
                </a:solidFill>
                <a:latin typeface="Times New Roman" panose="02020603050405020304"/>
                <a:ea typeface="宋体"/>
                <a:sym typeface="+mn-ea"/>
              </a:rPr>
              <a:t>(4) Adaptation to English Rhetorical Expectations.</a:t>
            </a:r>
            <a:endParaRPr lang="en-US" altLang="zh-CN" sz="1600">
              <a:solidFill>
                <a:srgbClr val="000000"/>
              </a:solidFill>
              <a:latin typeface="Times New Roman" panose="02020603050405020304"/>
              <a:ea typeface="宋体"/>
              <a:sym typeface="+mn-ea"/>
            </a:endParaRPr>
          </a:p>
        </p:txBody>
      </p:sp>
      <p:graphicFrame>
        <p:nvGraphicFramePr>
          <p:cNvPr id="12" name="表格 11"/>
          <p:cNvGraphicFramePr/>
          <p:nvPr>
            <p:custDataLst>
              <p:tags r:id="rId1"/>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60000"/>
                        <a:lumOff val="40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75000"/>
                      </a:schemeClr>
                    </a:solidFill>
                  </a:tcPr>
                </a:tc>
                <a:tc>
                  <a:txBody>
                    <a:bodyPr/>
                    <a:p>
                      <a:pPr>
                        <a:buNone/>
                      </a:pPr>
                      <a:r>
                        <a:rPr lang="en-US" altLang="zh-CN" sz="1400"/>
                        <a:t>Conclusion</a:t>
                      </a:r>
                      <a:endParaRPr lang="en-US" altLang="zh-CN" sz="1400"/>
                    </a:p>
                  </a:txBody>
                  <a:tcPr>
                    <a:solidFill>
                      <a:schemeClr val="accent1">
                        <a:lumMod val="60000"/>
                        <a:lumOff val="40000"/>
                      </a:schemeClr>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016000" y="982980"/>
            <a:ext cx="5887085" cy="347345"/>
          </a:xfrm>
          <a:prstGeom prst="rect">
            <a:avLst/>
          </a:prstGeom>
        </p:spPr>
        <p:txBody>
          <a:bodyPr wrap="square">
            <a:spAutoFit/>
          </a:bodyPr>
          <a:p>
            <a:pPr marL="226695" indent="-226695" algn="l" defTabSz="266700">
              <a:lnSpc>
                <a:spcPts val="2000"/>
              </a:lnSpc>
              <a:spcAft>
                <a:spcPct val="60000"/>
              </a:spcAft>
            </a:pPr>
            <a:r>
              <a:rPr lang="en-US" altLang="zh-CN" sz="2000" b="1">
                <a:solidFill>
                  <a:schemeClr val="accent1"/>
                </a:solidFill>
                <a:effectLst>
                  <a:outerShdw blurRad="38100" dist="25400" dir="5400000" algn="ctr" rotWithShape="0">
                    <a:srgbClr val="6E747A">
                      <a:alpha val="43000"/>
                      <a:alpha val="43000"/>
                    </a:srgbClr>
                  </a:outerShdw>
                </a:effectLst>
              </a:rPr>
              <a:t>4.4 Syntactic Adjustments</a:t>
            </a:r>
            <a:endParaRPr lang="en-US" altLang="zh-CN" sz="1600" b="1">
              <a:ln/>
              <a:solidFill>
                <a:schemeClr val="accent1"/>
              </a:solidFill>
              <a:effectLst>
                <a:outerShdw blurRad="38100" dist="25400" dir="5400000" algn="ctr" rotWithShape="0">
                  <a:srgbClr val="6E747A">
                    <a:alpha val="43000"/>
                    <a:alpha val="43000"/>
                  </a:srgbClr>
                </a:outerShdw>
              </a:effectLst>
              <a:latin typeface="Times New Roman" panose="02020603050405020304"/>
            </a:endParaRPr>
          </a:p>
        </p:txBody>
      </p:sp>
      <p:sp>
        <p:nvSpPr>
          <p:cNvPr id="6" name="文本框 5"/>
          <p:cNvSpPr txBox="1"/>
          <p:nvPr/>
        </p:nvSpPr>
        <p:spPr>
          <a:xfrm>
            <a:off x="1388110" y="1330008"/>
            <a:ext cx="5080000" cy="337185"/>
          </a:xfrm>
          <a:prstGeom prst="rect">
            <a:avLst/>
          </a:prstGeom>
        </p:spPr>
        <p:txBody>
          <a:bodyPr>
            <a:spAutoFit/>
          </a:bodyPr>
          <a:p>
            <a:pPr marL="0" indent="0" algn="just" defTabSz="266700">
              <a:spcBef>
                <a:spcPct val="0"/>
              </a:spcBef>
              <a:spcAft>
                <a:spcPct val="0"/>
              </a:spcAft>
            </a:pPr>
            <a:r>
              <a:rPr lang="en-US" altLang="zh-CN" sz="1600">
                <a:highlight>
                  <a:srgbClr val="FFFF00"/>
                </a:highlight>
                <a:latin typeface="Times New Roman" panose="02020603050405020304"/>
                <a:ea typeface="Times New Roman" panose="02020603050405020304"/>
              </a:rPr>
              <a:t> Breaking Run-on Sentences into Separate Sentences</a:t>
            </a:r>
            <a:endParaRPr lang="en-US" altLang="zh-CN" sz="1600">
              <a:highlight>
                <a:srgbClr val="FFFF00"/>
              </a:highlight>
              <a:latin typeface="Times New Roman" panose="02020603050405020304"/>
              <a:ea typeface="Times New Roman" panose="02020603050405020304"/>
            </a:endParaRPr>
          </a:p>
        </p:txBody>
      </p:sp>
      <p:sp>
        <p:nvSpPr>
          <p:cNvPr id="7" name="文本框 6"/>
          <p:cNvSpPr txBox="1"/>
          <p:nvPr/>
        </p:nvSpPr>
        <p:spPr>
          <a:xfrm>
            <a:off x="1099185" y="1771650"/>
            <a:ext cx="10061575" cy="1630045"/>
          </a:xfrm>
          <a:prstGeom prst="rect">
            <a:avLst/>
          </a:prstGeom>
        </p:spPr>
        <p:txBody>
          <a:bodyPr wrap="square">
            <a:spAutoFit/>
          </a:bodyPr>
          <a:p>
            <a:pPr marL="0" indent="0" algn="l" defTabSz="266700">
              <a:lnSpc>
                <a:spcPts val="2000"/>
              </a:lnSpc>
              <a:spcBef>
                <a:spcPct val="0"/>
              </a:spcBef>
              <a:spcAft>
                <a:spcPct val="0"/>
              </a:spcAft>
            </a:pPr>
            <a:r>
              <a:rPr lang="en-US" altLang="zh-CN" sz="1600" b="1">
                <a:solidFill>
                  <a:srgbClr val="000000"/>
                </a:solidFill>
                <a:latin typeface="Times New Roman" panose="02020603050405020304"/>
                <a:ea typeface="宋体"/>
              </a:rPr>
              <a:t>Example :</a:t>
            </a:r>
            <a:endParaRPr lang="en-US" altLang="zh-CN" sz="1600" b="1">
              <a:solidFill>
                <a:srgbClr val="000000"/>
              </a:solidFill>
              <a:latin typeface="Times New Roman" panose="02020603050405020304"/>
              <a:ea typeface="宋体"/>
            </a:endParaRPr>
          </a:p>
          <a:p>
            <a:pPr marL="0" indent="0" algn="l" defTabSz="266700">
              <a:lnSpc>
                <a:spcPts val="2000"/>
              </a:lnSpc>
              <a:spcBef>
                <a:spcPct val="0"/>
              </a:spcBef>
              <a:spcAft>
                <a:spcPct val="0"/>
              </a:spcAft>
            </a:pPr>
            <a:r>
              <a:rPr lang="en-US" altLang="zh-CN" sz="1600" b="1">
                <a:solidFill>
                  <a:srgbClr val="000000"/>
                </a:solidFill>
                <a:latin typeface="Times New Roman" panose="02020603050405020304"/>
                <a:ea typeface="宋体"/>
              </a:rPr>
              <a:t>ST: 不让铺面不是跟老熊家有啥过节，而是老汪他爹处事与人不同，同样一件事情，对自己有利没利他不管，看到对别人有利，他就觉得吃了亏。（刘震云，2009:23）</a:t>
            </a:r>
            <a:endParaRPr lang="en-US" altLang="zh-CN" sz="1600" b="1">
              <a:solidFill>
                <a:srgbClr val="000000"/>
              </a:solidFill>
              <a:latin typeface="Times New Roman" panose="02020603050405020304"/>
              <a:ea typeface="宋体"/>
            </a:endParaRPr>
          </a:p>
          <a:p>
            <a:pPr marL="0" indent="0" algn="l" defTabSz="266700">
              <a:lnSpc>
                <a:spcPts val="2000"/>
              </a:lnSpc>
              <a:spcBef>
                <a:spcPct val="0"/>
              </a:spcBef>
              <a:spcAft>
                <a:spcPct val="0"/>
              </a:spcAft>
            </a:pPr>
            <a:r>
              <a:rPr lang="en-US" altLang="zh-CN" sz="1600" b="1">
                <a:solidFill>
                  <a:srgbClr val="000000"/>
                </a:solidFill>
                <a:latin typeface="Times New Roman" panose="02020603050405020304"/>
                <a:ea typeface="宋体"/>
              </a:rPr>
              <a:t>TT: His objection had nothing to do with the Xiong family; it was just that he had a different way of looking at the world. He did not much care if something was good for him; but if it was good for someone else, he would feel that it must be bad for him.  (Glodblatt &amp; Lin, 2018: 24)</a:t>
            </a:r>
            <a:endParaRPr lang="en-US" altLang="zh-CN" sz="1600" b="1">
              <a:solidFill>
                <a:srgbClr val="000000"/>
              </a:solidFill>
              <a:latin typeface="Times New Roman" panose="02020603050405020304"/>
              <a:ea typeface="宋体"/>
            </a:endParaRPr>
          </a:p>
        </p:txBody>
      </p:sp>
      <p:sp>
        <p:nvSpPr>
          <p:cNvPr id="4" name="圆角矩形 3"/>
          <p:cNvSpPr/>
          <p:nvPr/>
        </p:nvSpPr>
        <p:spPr>
          <a:xfrm>
            <a:off x="1367790" y="3665220"/>
            <a:ext cx="3985895" cy="185229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marL="0" indent="0" algn="just" defTabSz="266700">
              <a:spcBef>
                <a:spcPct val="0"/>
              </a:spcBef>
              <a:spcAft>
                <a:spcPct val="0"/>
              </a:spcAft>
            </a:pPr>
            <a:r>
              <a:rPr lang="en-US" altLang="zh-CN">
                <a:solidFill>
                  <a:schemeClr val="bg1"/>
                </a:solidFill>
                <a:latin typeface="Times New Roman" panose="02020603050405020304"/>
                <a:ea typeface="宋体"/>
                <a:sym typeface="+mn-ea"/>
              </a:rPr>
              <a:t>Source text:</a:t>
            </a:r>
            <a:endParaRPr lang="en-US" altLang="zh-CN">
              <a:solidFill>
                <a:schemeClr val="bg1"/>
              </a:solidFill>
              <a:latin typeface="Times New Roman" panose="02020603050405020304"/>
              <a:ea typeface="宋体"/>
              <a:sym typeface="+mn-ea"/>
            </a:endParaRPr>
          </a:p>
          <a:p>
            <a:pPr marL="0" indent="0" algn="just" defTabSz="266700">
              <a:spcBef>
                <a:spcPct val="0"/>
              </a:spcBef>
              <a:spcAft>
                <a:spcPct val="0"/>
              </a:spcAft>
            </a:pPr>
            <a:r>
              <a:rPr lang="en-US" altLang="zh-CN">
                <a:solidFill>
                  <a:schemeClr val="bg1"/>
                </a:solidFill>
                <a:latin typeface="Times New Roman" panose="02020603050405020304"/>
                <a:ea typeface="宋体"/>
                <a:sym typeface="+mn-ea"/>
              </a:rPr>
              <a:t> typical of the language’s preference for complex, uninterrupted structures, contains multiple clauses and ideas within a single sentence. </a:t>
            </a:r>
            <a:endParaRPr lang="en-US" altLang="zh-CN">
              <a:solidFill>
                <a:schemeClr val="bg1"/>
              </a:solidFill>
              <a:latin typeface="Times New Roman" panose="02020603050405020304"/>
              <a:ea typeface="宋体"/>
            </a:endParaRPr>
          </a:p>
          <a:p>
            <a:pPr marL="0" indent="0" algn="just" defTabSz="266700">
              <a:spcBef>
                <a:spcPct val="0"/>
              </a:spcBef>
              <a:spcAft>
                <a:spcPct val="0"/>
              </a:spcAft>
            </a:pPr>
            <a:endParaRPr lang="en-US" altLang="zh-CN">
              <a:solidFill>
                <a:schemeClr val="bg1"/>
              </a:solidFill>
              <a:latin typeface="Times New Roman" panose="02020603050405020304"/>
              <a:ea typeface="宋体"/>
            </a:endParaRPr>
          </a:p>
        </p:txBody>
      </p:sp>
      <p:sp>
        <p:nvSpPr>
          <p:cNvPr id="11" name="圆角矩形 10"/>
          <p:cNvSpPr/>
          <p:nvPr/>
        </p:nvSpPr>
        <p:spPr>
          <a:xfrm>
            <a:off x="6720840" y="3665220"/>
            <a:ext cx="3985895" cy="185229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marL="0" indent="0" algn="just" defTabSz="266700">
              <a:spcBef>
                <a:spcPct val="0"/>
              </a:spcBef>
              <a:spcAft>
                <a:spcPct val="0"/>
              </a:spcAft>
            </a:pPr>
            <a:r>
              <a:rPr lang="en-US" altLang="zh-CN">
                <a:solidFill>
                  <a:schemeClr val="bg1"/>
                </a:solidFill>
                <a:latin typeface="Times New Roman" panose="02020603050405020304"/>
                <a:ea typeface="宋体"/>
                <a:sym typeface="+mn-ea"/>
              </a:rPr>
              <a:t>Target text:</a:t>
            </a:r>
            <a:endParaRPr lang="en-US" altLang="zh-CN">
              <a:solidFill>
                <a:schemeClr val="bg1"/>
              </a:solidFill>
              <a:latin typeface="Times New Roman" panose="02020603050405020304"/>
              <a:ea typeface="宋体"/>
              <a:sym typeface="+mn-ea"/>
            </a:endParaRPr>
          </a:p>
          <a:p>
            <a:pPr marL="0" indent="0" algn="just" defTabSz="266700">
              <a:spcBef>
                <a:spcPct val="0"/>
              </a:spcBef>
              <a:spcAft>
                <a:spcPct val="0"/>
              </a:spcAft>
            </a:pPr>
            <a:r>
              <a:rPr lang="en-US" altLang="zh-CN">
                <a:solidFill>
                  <a:schemeClr val="bg1"/>
                </a:solidFill>
                <a:latin typeface="Times New Roman" panose="02020603050405020304"/>
                <a:ea typeface="宋体"/>
                <a:sym typeface="+mn-ea"/>
              </a:rPr>
              <a:t> clearer, more digestible sentence structures. By splitting the sentence, the translator ensures grammatical clarity and improves readability for English readers. </a:t>
            </a:r>
            <a:endParaRPr lang="en-US" altLang="zh-CN">
              <a:solidFill>
                <a:schemeClr val="bg1"/>
              </a:solidFill>
              <a:latin typeface="Times New Roman" panose="02020603050405020304"/>
              <a:ea typeface="宋体"/>
              <a:sym typeface="+mn-ea"/>
            </a:endParaRPr>
          </a:p>
        </p:txBody>
      </p:sp>
      <p:sp>
        <p:nvSpPr>
          <p:cNvPr id="12" name="右箭头 11"/>
          <p:cNvSpPr/>
          <p:nvPr/>
        </p:nvSpPr>
        <p:spPr>
          <a:xfrm>
            <a:off x="5713730" y="4152265"/>
            <a:ext cx="652780" cy="3473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graphicFrame>
        <p:nvGraphicFramePr>
          <p:cNvPr id="14" name="表格 13"/>
          <p:cNvGraphicFramePr/>
          <p:nvPr>
            <p:custDataLst>
              <p:tags r:id="rId1"/>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60000"/>
                        <a:lumOff val="40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75000"/>
                      </a:schemeClr>
                    </a:solidFill>
                  </a:tcPr>
                </a:tc>
                <a:tc>
                  <a:txBody>
                    <a:bodyPr/>
                    <a:p>
                      <a:pPr>
                        <a:buNone/>
                      </a:pPr>
                      <a:r>
                        <a:rPr lang="en-US" altLang="zh-CN" sz="1400"/>
                        <a:t>Conclusion</a:t>
                      </a:r>
                      <a:endParaRPr lang="en-US" altLang="zh-CN" sz="1400"/>
                    </a:p>
                  </a:txBody>
                  <a:tcPr>
                    <a:solidFill>
                      <a:schemeClr val="accent1">
                        <a:lumMod val="60000"/>
                        <a:lumOff val="40000"/>
                      </a:schemeClr>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47611" y="2835811"/>
            <a:ext cx="170434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05</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604557" y="3297475"/>
            <a:ext cx="2578735" cy="645160"/>
          </a:xfrm>
          <a:prstGeom prst="rect">
            <a:avLst/>
          </a:prstGeom>
          <a:noFill/>
        </p:spPr>
        <p:txBody>
          <a:bodyPr wrap="none" rtlCol="0">
            <a:spAutoFit/>
          </a:bodyPr>
          <a:lstStyle/>
          <a:p>
            <a:r>
              <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rPr>
              <a:t>Conclusion</a:t>
            </a:r>
            <a:endPar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bldLst>
      <p:bldP spid="2"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43965" y="942340"/>
            <a:ext cx="4064000" cy="398780"/>
          </a:xfrm>
          <a:prstGeom prst="rect">
            <a:avLst/>
          </a:prstGeom>
          <a:noFill/>
        </p:spPr>
        <p:txBody>
          <a:bodyPr wrap="square" rtlCol="0">
            <a:spAutoFit/>
          </a:bodyPr>
          <a:p>
            <a:r>
              <a:rPr lang="en-US" altLang="zh-CN" sz="2000" b="1">
                <a:ln/>
                <a:solidFill>
                  <a:schemeClr val="accent1"/>
                </a:solidFill>
                <a:effectLst>
                  <a:outerShdw blurRad="38100" dist="25400" dir="5400000" algn="ctr" rotWithShape="0">
                    <a:srgbClr val="6E747A">
                      <a:alpha val="43000"/>
                      <a:alpha val="43000"/>
                    </a:srgbClr>
                  </a:outerShdw>
                </a:effectLst>
              </a:rPr>
              <a:t>5.1 Major Findings </a:t>
            </a:r>
            <a:endParaRPr lang="en-US" altLang="zh-CN" sz="2000" b="1">
              <a:ln/>
              <a:solidFill>
                <a:schemeClr val="accent1"/>
              </a:solidFill>
              <a:effectLst>
                <a:outerShdw blurRad="38100" dist="25400" dir="5400000" algn="ctr" rotWithShape="0">
                  <a:srgbClr val="6E747A">
                    <a:alpha val="43000"/>
                    <a:alpha val="43000"/>
                  </a:srgbClr>
                </a:outerShdw>
              </a:effectLst>
            </a:endParaRPr>
          </a:p>
        </p:txBody>
      </p:sp>
      <p:sp>
        <p:nvSpPr>
          <p:cNvPr id="3" name="文本框 2"/>
          <p:cNvSpPr txBox="1"/>
          <p:nvPr/>
        </p:nvSpPr>
        <p:spPr>
          <a:xfrm>
            <a:off x="1243965" y="1310640"/>
            <a:ext cx="4064000" cy="368300"/>
          </a:xfrm>
          <a:prstGeom prst="rect">
            <a:avLst/>
          </a:prstGeom>
          <a:noFill/>
        </p:spPr>
        <p:txBody>
          <a:bodyPr wrap="square" rtlCol="0">
            <a:spAutoFit/>
          </a:bodyPr>
          <a:p>
            <a:r>
              <a:rPr lang="en-US" altLang="zh-CN"/>
              <a:t>5.1.1 Translation Challenges</a:t>
            </a:r>
            <a:endParaRPr lang="en-US" altLang="zh-CN"/>
          </a:p>
        </p:txBody>
      </p:sp>
      <p:graphicFrame>
        <p:nvGraphicFramePr>
          <p:cNvPr id="4" name="表格 3"/>
          <p:cNvGraphicFramePr/>
          <p:nvPr>
            <p:custDataLst>
              <p:tags r:id="rId1"/>
            </p:custDataLst>
          </p:nvPr>
        </p:nvGraphicFramePr>
        <p:xfrm>
          <a:off x="1324610" y="1866900"/>
          <a:ext cx="4678680" cy="5207000"/>
        </p:xfrm>
        <a:graphic>
          <a:graphicData uri="http://schemas.openxmlformats.org/drawingml/2006/table">
            <a:tbl>
              <a:tblPr/>
              <a:tblGrid>
                <a:gridCol w="1012190"/>
                <a:gridCol w="1765935"/>
                <a:gridCol w="1900555"/>
              </a:tblGrid>
              <a:tr h="0">
                <a:tc rowSpan="15">
                  <a:txBody>
                    <a:bodyPr/>
                    <a:p>
                      <a:pPr marL="0" indent="0" algn="ctr">
                        <a:lnSpc>
                          <a:spcPts val="2000"/>
                        </a:lnSpc>
                        <a:spcBef>
                          <a:spcPts val="500"/>
                        </a:spcBef>
                        <a:spcAft>
                          <a:spcPts val="500"/>
                        </a:spcAft>
                      </a:pPr>
                      <a:r>
                        <a:rPr lang="en-US" altLang="zh-CN" sz="1200">
                          <a:latin typeface="Times New Roman Regular" panose="02020603050405020304"/>
                          <a:ea typeface="Times New Roman" panose="02020603050405020304"/>
                        </a:rPr>
                        <a:t>PART I:</a:t>
                      </a:r>
                      <a:endParaRPr lang="en-US" altLang="zh-CN" sz="1200">
                        <a:latin typeface="Times New Roman Regular" panose="02020603050405020304"/>
                        <a:ea typeface="Times New Roman" panose="02020603050405020304"/>
                      </a:endParaRPr>
                    </a:p>
                    <a:p>
                      <a:pPr marL="0" indent="0" algn="ctr">
                        <a:lnSpc>
                          <a:spcPts val="2000"/>
                        </a:lnSpc>
                        <a:spcBef>
                          <a:spcPts val="500"/>
                        </a:spcBef>
                        <a:spcAft>
                          <a:spcPts val="500"/>
                        </a:spcAft>
                      </a:pPr>
                      <a:r>
                        <a:rPr lang="en-US" altLang="zh-CN" sz="1200">
                          <a:latin typeface="Times New Roman Regular" panose="02020603050405020304"/>
                          <a:ea typeface="Times New Roman" panose="02020603050405020304"/>
                        </a:rPr>
                        <a:t>LEAVING YANJIN</a:t>
                      </a:r>
                      <a:endParaRPr lang="en-US" altLang="zh-CN" sz="1200">
                        <a:latin typeface="Times New Roman Regular" panose="02020603050405020304"/>
                        <a:ea typeface="Times New Roman"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38100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C</a:t>
                      </a:r>
                      <a:r>
                        <a:rPr lang="en-US" altLang="zh-CN" sz="1200">
                          <a:latin typeface="Times New Roman Regular" panose="02020603050405020304"/>
                          <a:ea typeface="Times New Roman" panose="02020603050405020304"/>
                        </a:rPr>
                        <a:t>hapter</a:t>
                      </a:r>
                      <a:endParaRPr lang="en-US" altLang="zh-CN" sz="1200">
                        <a:latin typeface="Times New Roman Regular" panose="02020603050405020304"/>
                        <a:ea typeface="Times New Roman"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N</a:t>
                      </a:r>
                      <a:r>
                        <a:rPr lang="en-US" altLang="zh-CN" sz="1200">
                          <a:latin typeface="Times New Roman Regular" panose="02020603050405020304"/>
                          <a:ea typeface="Times New Roman" panose="02020603050405020304"/>
                        </a:rPr>
                        <a:t>umber of Occurrences</a:t>
                      </a:r>
                      <a:endParaRPr lang="en-US" altLang="zh-CN" sz="1200">
                        <a:latin typeface="Times New Roman Regular" panose="02020603050405020304"/>
                        <a:ea typeface="Times New Roman"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5</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2</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8</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3</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7</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1955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4</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6</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5</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4</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6</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5</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7</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6</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8</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14</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9</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9</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a:t>
                      </a:r>
                      <a:r>
                        <a:rPr lang="en-US" altLang="zh-CN" sz="1200">
                          <a:latin typeface="Times New Roman Regular" panose="02020603050405020304"/>
                          <a:ea typeface="Times New Roman" panose="02020603050405020304"/>
                        </a:rPr>
                        <a:t>0</a:t>
                      </a:r>
                      <a:endParaRPr lang="en-US" altLang="zh-CN" sz="1200">
                        <a:latin typeface="Times New Roman Regular" panose="02020603050405020304"/>
                        <a:ea typeface="Times New Roman"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15</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a:t>
                      </a:r>
                      <a:r>
                        <a:rPr lang="en-US" altLang="zh-CN" sz="1200">
                          <a:latin typeface="Times New Roman Regular" panose="02020603050405020304"/>
                          <a:ea typeface="Times New Roman" panose="02020603050405020304"/>
                        </a:rPr>
                        <a:t>1</a:t>
                      </a:r>
                      <a:endParaRPr lang="en-US" altLang="zh-CN" sz="1200">
                        <a:latin typeface="Times New Roman Regular" panose="02020603050405020304"/>
                        <a:ea typeface="Times New Roman"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17</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a:t>
                      </a:r>
                      <a:r>
                        <a:rPr lang="en-US" altLang="zh-CN" sz="1200">
                          <a:latin typeface="Times New Roman Regular" panose="02020603050405020304"/>
                          <a:ea typeface="Times New Roman" panose="02020603050405020304"/>
                        </a:rPr>
                        <a:t>2</a:t>
                      </a:r>
                      <a:endParaRPr lang="en-US" altLang="zh-CN" sz="1200">
                        <a:latin typeface="Times New Roman Regular" panose="02020603050405020304"/>
                        <a:ea typeface="Times New Roman"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9</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a:t>
                      </a:r>
                      <a:r>
                        <a:rPr lang="en-US" altLang="zh-CN" sz="1200">
                          <a:latin typeface="Times New Roman Regular" panose="02020603050405020304"/>
                          <a:ea typeface="Times New Roman" panose="02020603050405020304"/>
                        </a:rPr>
                        <a:t>3</a:t>
                      </a:r>
                      <a:endParaRPr lang="en-US" altLang="zh-CN" sz="1200">
                        <a:latin typeface="Times New Roman Regular" panose="02020603050405020304"/>
                        <a:ea typeface="Times New Roman"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9</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a:t>
                      </a:r>
                      <a:r>
                        <a:rPr lang="en-US" altLang="zh-CN" sz="1200">
                          <a:latin typeface="Times New Roman Regular" panose="02020603050405020304"/>
                          <a:ea typeface="Times New Roman" panose="02020603050405020304"/>
                        </a:rPr>
                        <a:t>4</a:t>
                      </a:r>
                      <a:endParaRPr lang="en-US" altLang="zh-CN" sz="1200">
                        <a:latin typeface="Times New Roman Regular" panose="02020603050405020304"/>
                        <a:ea typeface="Times New Roman"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8</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bl>
          </a:graphicData>
        </a:graphic>
      </p:graphicFrame>
      <p:graphicFrame>
        <p:nvGraphicFramePr>
          <p:cNvPr id="5" name="表格 4"/>
          <p:cNvGraphicFramePr/>
          <p:nvPr/>
        </p:nvGraphicFramePr>
        <p:xfrm>
          <a:off x="6955790" y="1866900"/>
          <a:ext cx="4678680" cy="2336800"/>
        </p:xfrm>
        <a:graphic>
          <a:graphicData uri="http://schemas.openxmlformats.org/drawingml/2006/table">
            <a:tbl>
              <a:tblPr/>
              <a:tblGrid>
                <a:gridCol w="1012190"/>
                <a:gridCol w="1765935"/>
                <a:gridCol w="1900555"/>
              </a:tblGrid>
              <a:tr h="254000">
                <a:tc rowSpan="11">
                  <a:txBody>
                    <a:bodyPr/>
                    <a:p>
                      <a:pPr marL="0" indent="0" algn="ctr">
                        <a:lnSpc>
                          <a:spcPts val="2000"/>
                        </a:lnSpc>
                        <a:spcBef>
                          <a:spcPts val="500"/>
                        </a:spcBef>
                        <a:spcAft>
                          <a:spcPts val="500"/>
                        </a:spcAft>
                        <a:buNone/>
                      </a:pPr>
                      <a:r>
                        <a:rPr lang="en-US" altLang="zh-CN" sz="1200">
                          <a:latin typeface="Times New Roman Regular" panose="02020603050405020304"/>
                          <a:ea typeface="Times New Roman Regular" panose="02020603050405020304"/>
                        </a:rPr>
                        <a:t>P</a:t>
                      </a:r>
                      <a:r>
                        <a:rPr lang="en-US" altLang="zh-CN" sz="1200">
                          <a:latin typeface="Times New Roman Regular" panose="02020603050405020304"/>
                          <a:ea typeface="Times New Roman" panose="02020603050405020304"/>
                        </a:rPr>
                        <a:t>ART II: </a:t>
                      </a:r>
                      <a:endParaRPr lang="en-US" altLang="zh-CN" sz="1200">
                        <a:latin typeface="Times New Roman Regular" panose="02020603050405020304"/>
                        <a:ea typeface="Times New Roman" panose="02020603050405020304"/>
                      </a:endParaRPr>
                    </a:p>
                    <a:p>
                      <a:pPr marL="0" indent="0" algn="ctr">
                        <a:lnSpc>
                          <a:spcPts val="2000"/>
                        </a:lnSpc>
                        <a:spcBef>
                          <a:spcPts val="500"/>
                        </a:spcBef>
                        <a:spcAft>
                          <a:spcPts val="500"/>
                        </a:spcAft>
                        <a:buNone/>
                      </a:pPr>
                      <a:r>
                        <a:rPr lang="en-US" altLang="zh-CN" sz="1200">
                          <a:latin typeface="Times New Roman Regular" panose="02020603050405020304"/>
                          <a:ea typeface="Times New Roman" panose="02020603050405020304"/>
                        </a:rPr>
                        <a:t>RETURNING TO YANJIN</a:t>
                      </a:r>
                      <a:endParaRPr lang="en-US" altLang="zh-CN" sz="1200">
                        <a:latin typeface="Times New Roman Regular" panose="02020603050405020304"/>
                        <a:ea typeface="Times New Roman"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buNone/>
                      </a:pPr>
                      <a:r>
                        <a:rPr lang="en-US" altLang="zh-CN" sz="1200">
                          <a:latin typeface="Times New Roman Regular" panose="02020603050405020304"/>
                          <a:ea typeface="Times New Roman Regular" panose="02020603050405020304"/>
                          <a:sym typeface="+mn-ea"/>
                        </a:rPr>
                        <a:t>C</a:t>
                      </a:r>
                      <a:r>
                        <a:rPr lang="en-US" altLang="zh-CN" sz="1200">
                          <a:latin typeface="Times New Roman Regular" panose="02020603050405020304"/>
                          <a:ea typeface="Times New Roman" panose="02020603050405020304"/>
                          <a:sym typeface="+mn-ea"/>
                        </a:rPr>
                        <a:t>hapter</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buNone/>
                      </a:pPr>
                      <a:r>
                        <a:rPr lang="en-US" altLang="zh-CN" sz="1200">
                          <a:latin typeface="Times New Roman Regular" panose="02020603050405020304"/>
                          <a:ea typeface="Times New Roman Regular" panose="02020603050405020304"/>
                          <a:sym typeface="+mn-ea"/>
                        </a:rPr>
                        <a:t>N</a:t>
                      </a:r>
                      <a:r>
                        <a:rPr lang="en-US" altLang="zh-CN" sz="1200">
                          <a:latin typeface="Times New Roman Regular" panose="02020603050405020304"/>
                          <a:ea typeface="Times New Roman" panose="02020603050405020304"/>
                          <a:sym typeface="+mn-ea"/>
                        </a:rPr>
                        <a:t>umber of Occurrences</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0">
                <a:tc vMerge="1">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10</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2</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2</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3</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4</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9</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5</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10</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6</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6</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7</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11</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8</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8</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9</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8</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r h="20828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a:t>
                      </a:r>
                      <a:r>
                        <a:rPr lang="en-US" altLang="zh-CN" sz="1200">
                          <a:latin typeface="Times New Roman Regular" panose="02020603050405020304"/>
                          <a:ea typeface="Times New Roman" panose="02020603050405020304"/>
                        </a:rPr>
                        <a:t>0</a:t>
                      </a:r>
                      <a:endParaRPr lang="en-US" altLang="zh-CN" sz="1200">
                        <a:latin typeface="Times New Roman Regular" panose="02020603050405020304"/>
                        <a:ea typeface="Times New Roman"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ts val="500"/>
                        </a:spcBef>
                        <a:spcAft>
                          <a:spcPts val="500"/>
                        </a:spcAft>
                      </a:pPr>
                      <a:r>
                        <a:rPr lang="en-US" altLang="zh-CN" sz="1200">
                          <a:latin typeface="Times New Roman Regular" panose="02020603050405020304"/>
                          <a:ea typeface="Times New Roman Regular" panose="02020603050405020304"/>
                        </a:rPr>
                        <a:t>10</a:t>
                      </a:r>
                      <a:endParaRPr lang="en-US" altLang="zh-CN" sz="1200">
                        <a:latin typeface="Times New Roman Regular" panose="02020603050405020304"/>
                        <a:ea typeface="Times New Roman Regular" panose="02020603050405020304"/>
                      </a:endParaRPr>
                    </a:p>
                  </a:txBody>
                  <a:tcPr marL="68580" marR="68580" marT="0" marB="0" anchor="t"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solidFill>
                      <a:schemeClr val="accent1">
                        <a:lumMod val="20000"/>
                        <a:lumOff val="80000"/>
                      </a:schemeClr>
                    </a:solidFill>
                  </a:tcPr>
                </a:tc>
              </a:tr>
            </a:tbl>
          </a:graphicData>
        </a:graphic>
      </p:graphicFrame>
      <p:sp>
        <p:nvSpPr>
          <p:cNvPr id="7" name="文本框 6"/>
          <p:cNvSpPr txBox="1"/>
          <p:nvPr/>
        </p:nvSpPr>
        <p:spPr>
          <a:xfrm>
            <a:off x="2619375" y="4991100"/>
            <a:ext cx="6953250" cy="460375"/>
          </a:xfrm>
          <a:prstGeom prst="rect">
            <a:avLst/>
          </a:prstGeom>
        </p:spPr>
        <p:txBody>
          <a:bodyPr wrap="square">
            <a:spAutoFit/>
          </a:bodyPr>
          <a:p>
            <a:pPr marL="0" indent="0" algn="l" defTabSz="266700">
              <a:lnSpc>
                <a:spcPct val="150000"/>
              </a:lnSpc>
              <a:spcBef>
                <a:spcPct val="0"/>
              </a:spcBef>
              <a:spcAft>
                <a:spcPct val="0"/>
              </a:spcAft>
            </a:pPr>
            <a:r>
              <a:rPr lang="en-US" altLang="zh-CN" sz="1600" b="1">
                <a:latin typeface="Times New Roman Regular" panose="02020603050405020304"/>
                <a:ea typeface="宋体"/>
              </a:rPr>
              <a:t>Table 1: </a:t>
            </a:r>
            <a:r>
              <a:rPr lang="en-US" altLang="zh-CN" sz="1600">
                <a:latin typeface="Times New Roman Regular" panose="02020603050405020304"/>
                <a:ea typeface="Times New Roman Regular" panose="02020603050405020304"/>
              </a:rPr>
              <a:t>N</a:t>
            </a:r>
            <a:r>
              <a:rPr lang="en-US" altLang="zh-CN" sz="1600">
                <a:latin typeface="Times New Roman Regular" panose="02020603050405020304"/>
                <a:ea typeface="宋体"/>
              </a:rPr>
              <a:t>umber of Occurrences of </a:t>
            </a:r>
            <a:r>
              <a:rPr lang="en-US" altLang="zh-CN" sz="1600" i="1">
                <a:latin typeface="Times New Roman Regular" panose="02020603050405020304"/>
                <a:ea typeface="宋体"/>
              </a:rPr>
              <a:t>“bushi…ershi…”</a:t>
            </a:r>
            <a:r>
              <a:rPr lang="en-US" altLang="zh-CN" sz="1600">
                <a:latin typeface="Times New Roman Regular" panose="02020603050405020304"/>
                <a:ea typeface="宋体"/>
              </a:rPr>
              <a:t> in Each Chapter</a:t>
            </a:r>
            <a:endParaRPr lang="en-US" altLang="zh-CN" sz="1600">
              <a:latin typeface="Times New Roman Regular" panose="02020603050405020304"/>
              <a:ea typeface="宋体"/>
            </a:endParaRPr>
          </a:p>
        </p:txBody>
      </p:sp>
      <p:sp>
        <p:nvSpPr>
          <p:cNvPr id="8" name="文本框 7"/>
          <p:cNvSpPr txBox="1"/>
          <p:nvPr/>
        </p:nvSpPr>
        <p:spPr>
          <a:xfrm>
            <a:off x="2619375" y="5464175"/>
            <a:ext cx="7160895" cy="645160"/>
          </a:xfrm>
          <a:prstGeom prst="rect">
            <a:avLst/>
          </a:prstGeom>
          <a:noFill/>
        </p:spPr>
        <p:txBody>
          <a:bodyPr wrap="square" rtlCol="0" anchor="t">
            <a:spAutoFit/>
          </a:bodyPr>
          <a:p>
            <a:r>
              <a:rPr lang="en-US" altLang="zh-CN">
                <a:sym typeface="+mn-ea"/>
              </a:rPr>
              <a:t>T</a:t>
            </a:r>
            <a:r>
              <a:rPr lang="zh-CN" altLang="en-US">
                <a:sym typeface="+mn-ea"/>
              </a:rPr>
              <a:t>his sentence structure is repeated </a:t>
            </a:r>
            <a:r>
              <a:rPr lang="zh-CN" altLang="en-US">
                <a:solidFill>
                  <a:srgbClr val="FF0000"/>
                </a:solidFill>
                <a:sym typeface="+mn-ea"/>
              </a:rPr>
              <a:t>197 times </a:t>
            </a:r>
            <a:r>
              <a:rPr lang="zh-CN" altLang="en-US">
                <a:sym typeface="+mn-ea"/>
              </a:rPr>
              <a:t>throughout the work. </a:t>
            </a:r>
            <a:endParaRPr lang="zh-CN" altLang="en-US"/>
          </a:p>
          <a:p>
            <a:endParaRPr lang="zh-CN" altLang="en-US">
              <a:sym typeface="+mn-ea"/>
            </a:endParaRPr>
          </a:p>
        </p:txBody>
      </p:sp>
      <p:graphicFrame>
        <p:nvGraphicFramePr>
          <p:cNvPr id="9" name="表格 8"/>
          <p:cNvGraphicFramePr/>
          <p:nvPr>
            <p:custDataLst>
              <p:tags r:id="rId2"/>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60000"/>
                        <a:lumOff val="40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60000"/>
                        <a:lumOff val="40000"/>
                      </a:schemeClr>
                    </a:solidFill>
                  </a:tcPr>
                </a:tc>
                <a:tc>
                  <a:txBody>
                    <a:bodyPr/>
                    <a:p>
                      <a:pPr>
                        <a:buNone/>
                      </a:pPr>
                      <a:r>
                        <a:rPr lang="en-US" altLang="zh-CN" sz="1400"/>
                        <a:t>Conclusion</a:t>
                      </a:r>
                      <a:endParaRPr lang="en-US" altLang="zh-CN" sz="1400"/>
                    </a:p>
                  </a:txBody>
                  <a:tcPr>
                    <a:solidFill>
                      <a:schemeClr val="accent1">
                        <a:lumMod val="75000"/>
                      </a:schemeClr>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97230" y="942340"/>
            <a:ext cx="4064000" cy="398780"/>
          </a:xfrm>
          <a:prstGeom prst="rect">
            <a:avLst/>
          </a:prstGeom>
          <a:noFill/>
        </p:spPr>
        <p:txBody>
          <a:bodyPr wrap="square" rtlCol="0">
            <a:spAutoFit/>
          </a:bodyPr>
          <a:p>
            <a:r>
              <a:rPr lang="en-US" altLang="zh-CN" sz="2000" b="1">
                <a:ln/>
                <a:solidFill>
                  <a:schemeClr val="accent1"/>
                </a:solidFill>
                <a:effectLst>
                  <a:outerShdw blurRad="38100" dist="25400" dir="5400000" algn="ctr" rotWithShape="0">
                    <a:srgbClr val="6E747A">
                      <a:alpha val="43000"/>
                      <a:alpha val="43000"/>
                    </a:srgbClr>
                  </a:outerShdw>
                </a:effectLst>
              </a:rPr>
              <a:t>5.1 Major Findings </a:t>
            </a:r>
            <a:endParaRPr lang="en-US" altLang="zh-CN" sz="2000" b="1">
              <a:ln/>
              <a:solidFill>
                <a:schemeClr val="accent1"/>
              </a:solidFill>
              <a:effectLst>
                <a:outerShdw blurRad="38100" dist="25400" dir="5400000" algn="ctr" rotWithShape="0">
                  <a:srgbClr val="6E747A">
                    <a:alpha val="43000"/>
                    <a:alpha val="43000"/>
                  </a:srgbClr>
                </a:outerShdw>
              </a:effectLst>
            </a:endParaRPr>
          </a:p>
        </p:txBody>
      </p:sp>
      <p:sp>
        <p:nvSpPr>
          <p:cNvPr id="3" name="文本框 2"/>
          <p:cNvSpPr txBox="1"/>
          <p:nvPr/>
        </p:nvSpPr>
        <p:spPr>
          <a:xfrm>
            <a:off x="697230" y="1310640"/>
            <a:ext cx="4064000" cy="368300"/>
          </a:xfrm>
          <a:prstGeom prst="rect">
            <a:avLst/>
          </a:prstGeom>
          <a:noFill/>
        </p:spPr>
        <p:txBody>
          <a:bodyPr wrap="square" rtlCol="0">
            <a:spAutoFit/>
          </a:bodyPr>
          <a:p>
            <a:r>
              <a:rPr lang="en-US" altLang="zh-CN"/>
              <a:t>5.1.2 Translation S</a:t>
            </a:r>
            <a:r>
              <a:rPr lang="en-US" altLang="zh-CN"/>
              <a:t>trategies</a:t>
            </a:r>
            <a:endParaRPr lang="en-US" altLang="zh-CN"/>
          </a:p>
        </p:txBody>
      </p:sp>
      <p:graphicFrame>
        <p:nvGraphicFramePr>
          <p:cNvPr id="9" name="表格 8"/>
          <p:cNvGraphicFramePr/>
          <p:nvPr>
            <p:custDataLst>
              <p:tags r:id="rId1"/>
            </p:custDataLst>
          </p:nvPr>
        </p:nvGraphicFramePr>
        <p:xfrm>
          <a:off x="3738880" y="942340"/>
          <a:ext cx="7739380" cy="5650230"/>
        </p:xfrm>
        <a:graphic>
          <a:graphicData uri="http://schemas.openxmlformats.org/drawingml/2006/table">
            <a:tbl>
              <a:tblPr/>
              <a:tblGrid>
                <a:gridCol w="2883535"/>
                <a:gridCol w="3482340"/>
                <a:gridCol w="1373505"/>
              </a:tblGrid>
              <a:tr h="431800">
                <a:tc>
                  <a:txBody>
                    <a:bodyPr/>
                    <a:p>
                      <a:pPr marL="0" indent="228600" algn="ctr">
                        <a:lnSpc>
                          <a:spcPct val="114000"/>
                        </a:lnSpc>
                        <a:spcBef>
                          <a:spcPts val="500"/>
                        </a:spcBef>
                        <a:spcAft>
                          <a:spcPts val="500"/>
                        </a:spcAft>
                      </a:pPr>
                      <a:r>
                        <a:rPr lang="en-US" altLang="zh-CN" sz="1400">
                          <a:latin typeface="Times New Roman Regular" panose="02020603050405020304"/>
                          <a:ea typeface="Times New Roman" panose="02020603050405020304"/>
                        </a:rPr>
                        <a:t>Classification</a:t>
                      </a:r>
                      <a:endParaRPr lang="en-US" altLang="zh-CN" sz="14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panose="02020603050405020304"/>
                        </a:rPr>
                        <a:t>Translation </a:t>
                      </a:r>
                      <a:r>
                        <a:rPr lang="en-US" altLang="zh-CN" sz="1200">
                          <a:latin typeface="Times New Roman Regular" panose="02020603050405020304"/>
                          <a:ea typeface="Times New Roman Regular" panose="02020603050405020304"/>
                        </a:rPr>
                        <a:t>S</a:t>
                      </a:r>
                      <a:r>
                        <a:rPr lang="en-US" altLang="zh-CN" sz="1200">
                          <a:latin typeface="Times New Roman Regular" panose="02020603050405020304"/>
                          <a:ea typeface="Times New Roman" panose="02020603050405020304"/>
                        </a:rPr>
                        <a:t>trategy</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panose="02020603050405020304"/>
                        </a:rPr>
                        <a:t>Number of Occurrences</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208915">
                <a:tc rowSpan="5">
                  <a:txBody>
                    <a:bodyPr/>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Overall Modifications to Contrast Structure</a:t>
                      </a:r>
                      <a:endParaRPr lang="en-US" altLang="zh-CN" sz="1400">
                        <a:latin typeface="Times New Roman Regular" panose="02020603050405020304"/>
                        <a:ea typeface="Times New Roman" panose="02020603050405020304"/>
                      </a:endParaRPr>
                    </a:p>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 </a:t>
                      </a:r>
                      <a:endParaRPr lang="en-US" altLang="zh-CN" sz="1400">
                        <a:latin typeface="Times New Roman Regular" panose="02020603050405020304"/>
                        <a:ea typeface="Times New Roman" panose="02020603050405020304"/>
                      </a:endParaRPr>
                    </a:p>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 </a:t>
                      </a:r>
                      <a:endParaRPr lang="en-US" altLang="zh-CN" sz="1400">
                        <a:latin typeface="Times New Roman Regular" panose="02020603050405020304"/>
                        <a:ea typeface="Times New Roman" panose="02020603050405020304"/>
                      </a:endParaRPr>
                    </a:p>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 </a:t>
                      </a:r>
                      <a:endParaRPr lang="en-US" altLang="zh-CN" sz="1400">
                        <a:latin typeface="Times New Roman Regular" panose="02020603050405020304"/>
                        <a:ea typeface="Times New Roman" panose="02020603050405020304"/>
                      </a:endParaRPr>
                    </a:p>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 </a:t>
                      </a:r>
                      <a:endParaRPr lang="en-US" altLang="zh-CN" sz="14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Literal Translation</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3</a:t>
                      </a:r>
                      <a:r>
                        <a:rPr lang="en-US" altLang="zh-CN" sz="1200">
                          <a:latin typeface="Times New Roman Regular" panose="02020603050405020304"/>
                          <a:ea typeface="Times New Roman" panose="02020603050405020304"/>
                        </a:rPr>
                        <a:t>0</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208280">
                <a:tc vMerge="1">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Omission</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3</a:t>
                      </a:r>
                      <a:r>
                        <a:rPr lang="en-US" altLang="zh-CN" sz="1200">
                          <a:latin typeface="Times New Roman Regular" panose="02020603050405020304"/>
                          <a:ea typeface="Times New Roman" panose="02020603050405020304"/>
                        </a:rPr>
                        <a:t>7</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208915">
                <a:tc vMerge="1">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Forming Causal Clauses</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4</a:t>
                      </a:r>
                      <a:r>
                        <a:rPr lang="en-US" altLang="zh-CN" sz="1200">
                          <a:latin typeface="Times New Roman Regular" panose="02020603050405020304"/>
                          <a:ea typeface="Times New Roman" panose="02020603050405020304"/>
                        </a:rPr>
                        <a:t>2</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208915">
                <a:tc vMerge="1">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Using Causal Phrases</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6</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546735">
                <a:tc vMerge="1">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Conversion of </a:t>
                      </a:r>
                      <a:r>
                        <a:rPr lang="en-US" altLang="zh-CN" sz="1200">
                          <a:latin typeface="Times New Roman Regular" panose="02020603050405020304"/>
                          <a:ea typeface="Times New Roman" panose="02020603050405020304"/>
                        </a:rPr>
                        <a:t>C</a:t>
                      </a:r>
                      <a:r>
                        <a:rPr lang="en-US" altLang="zh-CN" sz="1200">
                          <a:latin typeface="Times New Roman Regular" panose="02020603050405020304"/>
                          <a:ea typeface="Times New Roman Regular" panose="02020603050405020304"/>
                        </a:rPr>
                        <a:t>ontrast </a:t>
                      </a:r>
                      <a:r>
                        <a:rPr lang="en-US" altLang="zh-CN" sz="1200">
                          <a:latin typeface="Times New Roman Regular" panose="02020603050405020304"/>
                          <a:ea typeface="Times New Roman" panose="02020603050405020304"/>
                        </a:rPr>
                        <a:t>S</a:t>
                      </a:r>
                      <a:r>
                        <a:rPr lang="en-US" altLang="zh-CN" sz="1200">
                          <a:latin typeface="Times New Roman Regular" panose="02020603050405020304"/>
                          <a:ea typeface="Times New Roman Regular" panose="02020603050405020304"/>
                        </a:rPr>
                        <a:t>tructure into </a:t>
                      </a:r>
                      <a:r>
                        <a:rPr lang="en-US" altLang="zh-CN" sz="1200">
                          <a:latin typeface="Times New Roman Regular" panose="02020603050405020304"/>
                          <a:ea typeface="Times New Roman" panose="02020603050405020304"/>
                        </a:rPr>
                        <a:t>P</a:t>
                      </a:r>
                      <a:r>
                        <a:rPr lang="en-US" altLang="zh-CN" sz="1200">
                          <a:latin typeface="Times New Roman Regular" panose="02020603050405020304"/>
                          <a:ea typeface="Times New Roman Regular" panose="02020603050405020304"/>
                        </a:rPr>
                        <a:t>arallel </a:t>
                      </a:r>
                      <a:r>
                        <a:rPr lang="en-US" altLang="zh-CN" sz="1200">
                          <a:latin typeface="Times New Roman Regular" panose="02020603050405020304"/>
                          <a:ea typeface="Times New Roman" panose="02020603050405020304"/>
                        </a:rPr>
                        <a:t>S</a:t>
                      </a:r>
                      <a:r>
                        <a:rPr lang="en-US" altLang="zh-CN" sz="1200">
                          <a:latin typeface="Times New Roman Regular" panose="02020603050405020304"/>
                          <a:ea typeface="Times New Roman Regular" panose="02020603050405020304"/>
                        </a:rPr>
                        <a:t>tructure</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1</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292735">
                <a:tc rowSpan="4">
                  <a:txBody>
                    <a:bodyPr/>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Modifications to the Former Half of Contrast Structure</a:t>
                      </a:r>
                      <a:endParaRPr lang="en-US" altLang="zh-CN" sz="1400">
                        <a:latin typeface="Times New Roman Regular" panose="02020603050405020304"/>
                        <a:ea typeface="Times New Roman" panose="02020603050405020304"/>
                      </a:endParaRPr>
                    </a:p>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 </a:t>
                      </a:r>
                      <a:endParaRPr lang="en-US" altLang="zh-CN" sz="1400">
                        <a:latin typeface="Times New Roman Regular" panose="02020603050405020304"/>
                        <a:ea typeface="Times New Roman" panose="02020603050405020304"/>
                      </a:endParaRPr>
                    </a:p>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 </a:t>
                      </a:r>
                      <a:endParaRPr lang="en-US" altLang="zh-CN" sz="1400">
                        <a:latin typeface="Times New Roman Regular" panose="02020603050405020304"/>
                        <a:ea typeface="Times New Roman" panose="02020603050405020304"/>
                      </a:endParaRPr>
                    </a:p>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 </a:t>
                      </a:r>
                      <a:endParaRPr lang="en-US" altLang="zh-CN" sz="14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panose="02020603050405020304"/>
                        </a:rPr>
                        <a:t>Translating Negation as a Choice Relationship</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2</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208280">
                <a:tc vMerge="1">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Shift of the Negation Modifier</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4</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208915">
                <a:tc vMerge="1">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panose="02020603050405020304"/>
                        </a:rPr>
                        <a:t>Adding Insertions to Emphasize Negation</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1</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524510">
                <a:tc vMerge="1">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Causal Clauses as Independent Sentences</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3</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417830">
                <a:tc rowSpan="3">
                  <a:txBody>
                    <a:bodyPr/>
                    <a:p>
                      <a:pPr marL="0" indent="0" algn="ctr">
                        <a:lnSpc>
                          <a:spcPct val="114000"/>
                        </a:lnSpc>
                        <a:spcBef>
                          <a:spcPct val="0"/>
                        </a:spcBef>
                        <a:spcAft>
                          <a:spcPct val="0"/>
                        </a:spcAft>
                      </a:pPr>
                      <a:r>
                        <a:rPr lang="en-US" altLang="zh-CN" sz="1400">
                          <a:latin typeface="Times New Roman Regular" panose="02020603050405020304"/>
                          <a:ea typeface="Times New Roman Regular" panose="02020603050405020304"/>
                        </a:rPr>
                        <a:t>Modifications to </a:t>
                      </a:r>
                      <a:r>
                        <a:rPr lang="en-US" altLang="zh-CN" sz="1400">
                          <a:latin typeface="Times New Roman Regular" panose="02020603050405020304"/>
                          <a:ea typeface="Times New Roman" panose="02020603050405020304"/>
                        </a:rPr>
                        <a:t>the Latter Half of C</a:t>
                      </a:r>
                      <a:r>
                        <a:rPr lang="en-US" altLang="zh-CN" sz="1400">
                          <a:latin typeface="Times New Roman Regular" panose="02020603050405020304"/>
                          <a:ea typeface="Times New Roman Regular" panose="02020603050405020304"/>
                        </a:rPr>
                        <a:t>ontrast </a:t>
                      </a:r>
                      <a:r>
                        <a:rPr lang="en-US" altLang="zh-CN" sz="1400">
                          <a:latin typeface="Times New Roman Regular" panose="02020603050405020304"/>
                          <a:ea typeface="Times New Roman" panose="02020603050405020304"/>
                        </a:rPr>
                        <a:t>S</a:t>
                      </a:r>
                      <a:r>
                        <a:rPr lang="en-US" altLang="zh-CN" sz="1400">
                          <a:latin typeface="Times New Roman Regular" panose="02020603050405020304"/>
                          <a:ea typeface="Times New Roman Regular" panose="02020603050405020304"/>
                        </a:rPr>
                        <a:t>tructure</a:t>
                      </a:r>
                      <a:endParaRPr lang="en-US" altLang="zh-CN" sz="1400">
                        <a:latin typeface="Times New Roman Regular" panose="02020603050405020304"/>
                        <a:ea typeface="Times New Roman Regular" panose="02020603050405020304"/>
                      </a:endParaRPr>
                    </a:p>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 </a:t>
                      </a:r>
                      <a:endParaRPr lang="en-US" altLang="zh-CN" sz="1400">
                        <a:latin typeface="Times New Roman Regular" panose="02020603050405020304"/>
                        <a:ea typeface="Times New Roman" panose="02020603050405020304"/>
                      </a:endParaRPr>
                    </a:p>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 </a:t>
                      </a:r>
                      <a:endParaRPr lang="en-US" altLang="zh-CN" sz="14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Omitting </a:t>
                      </a:r>
                      <a:r>
                        <a:rPr lang="en-US" altLang="zh-CN" sz="1200">
                          <a:latin typeface="Times New Roman Regular" panose="02020603050405020304"/>
                          <a:ea typeface="Times New Roman" panose="02020603050405020304"/>
                        </a:rPr>
                        <a:t>A</a:t>
                      </a:r>
                      <a:r>
                        <a:rPr lang="en-US" altLang="zh-CN" sz="1200">
                          <a:latin typeface="Times New Roman Regular" panose="02020603050405020304"/>
                          <a:ea typeface="Times New Roman Regular" panose="02020603050405020304"/>
                        </a:rPr>
                        <a:t>dver</a:t>
                      </a:r>
                      <a:r>
                        <a:rPr lang="en-US" altLang="zh-CN" sz="1200">
                          <a:latin typeface="Times New Roman Regular" panose="02020603050405020304"/>
                          <a:ea typeface="Times New Roman" panose="02020603050405020304"/>
                        </a:rPr>
                        <a:t>sative Conjunction </a:t>
                      </a:r>
                      <a:r>
                        <a:rPr lang="en-US" altLang="zh-CN" sz="1200">
                          <a:latin typeface="Times New Roman Regular" panose="02020603050405020304"/>
                          <a:ea typeface="Times New Roman Regular" panose="02020603050405020304"/>
                        </a:rPr>
                        <a:t>and Using a New Sentence for Transition</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2</a:t>
                      </a:r>
                      <a:r>
                        <a:rPr lang="en-US" altLang="zh-CN" sz="1200">
                          <a:latin typeface="Times New Roman Regular" panose="02020603050405020304"/>
                          <a:ea typeface="Times New Roman" panose="02020603050405020304"/>
                        </a:rPr>
                        <a:t>4</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208280">
                <a:tc vMerge="1">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panose="02020603050405020304"/>
                        </a:rPr>
                        <a:t>Adding Introductory Phrases for Transition</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1</a:t>
                      </a:r>
                      <a:r>
                        <a:rPr lang="en-US" altLang="zh-CN" sz="1200">
                          <a:latin typeface="Times New Roman Regular" panose="02020603050405020304"/>
                          <a:ea typeface="Times New Roman" panose="02020603050405020304"/>
                        </a:rPr>
                        <a:t>1</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417830">
                <a:tc vMerge="1">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panose="02020603050405020304"/>
                        </a:rPr>
                        <a:t>Replacing Adversative Conjunction with a Verb Indicating Change</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3</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229235">
                <a:tc rowSpan="4">
                  <a:txBody>
                    <a:bodyPr/>
                    <a:p>
                      <a:pPr marL="0" indent="0" algn="ctr">
                        <a:lnSpc>
                          <a:spcPct val="114000"/>
                        </a:lnSpc>
                        <a:spcBef>
                          <a:spcPct val="0"/>
                        </a:spcBef>
                        <a:spcAft>
                          <a:spcPct val="0"/>
                        </a:spcAft>
                      </a:pPr>
                      <a:r>
                        <a:rPr lang="en-US" altLang="zh-CN" sz="1400">
                          <a:latin typeface="Times New Roman Regular" panose="02020603050405020304"/>
                          <a:ea typeface="Times New Roman Regular" panose="02020603050405020304"/>
                        </a:rPr>
                        <a:t>Syntactic Adjustments</a:t>
                      </a:r>
                      <a:endParaRPr lang="en-US" altLang="zh-CN" sz="1400">
                        <a:latin typeface="Times New Roman Regular" panose="02020603050405020304"/>
                        <a:ea typeface="Times New Roman Regular" panose="02020603050405020304"/>
                      </a:endParaRPr>
                    </a:p>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 </a:t>
                      </a:r>
                      <a:endParaRPr lang="en-US" altLang="zh-CN" sz="1400">
                        <a:latin typeface="Times New Roman Regular" panose="02020603050405020304"/>
                        <a:ea typeface="Times New Roman" panose="02020603050405020304"/>
                      </a:endParaRPr>
                    </a:p>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 </a:t>
                      </a:r>
                      <a:endParaRPr lang="en-US" altLang="zh-CN" sz="1400">
                        <a:latin typeface="Times New Roman Regular" panose="02020603050405020304"/>
                        <a:ea typeface="Times New Roman" panose="02020603050405020304"/>
                      </a:endParaRPr>
                    </a:p>
                    <a:p>
                      <a:pPr marL="0" indent="0" algn="ctr">
                        <a:lnSpc>
                          <a:spcPct val="114000"/>
                        </a:lnSpc>
                        <a:spcBef>
                          <a:spcPct val="0"/>
                        </a:spcBef>
                        <a:spcAft>
                          <a:spcPct val="0"/>
                        </a:spcAft>
                      </a:pPr>
                      <a:r>
                        <a:rPr lang="en-US" altLang="zh-CN" sz="1400">
                          <a:latin typeface="Times New Roman Regular" panose="02020603050405020304"/>
                          <a:ea typeface="Times New Roman" panose="02020603050405020304"/>
                        </a:rPr>
                        <a:t> </a:t>
                      </a:r>
                      <a:endParaRPr lang="en-US" altLang="zh-CN" sz="14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panose="02020603050405020304"/>
                        </a:rPr>
                        <a:t>Breaking Run-on Sentences into Separate Sentences</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3</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417195">
                <a:tc vMerge="1">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panose="02020603050405020304"/>
                        </a:rPr>
                        <a:t>Converting Multiple Sentences into a Coordinated Compound Sentence</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3</a:t>
                      </a:r>
                      <a:endParaRPr lang="en-US" altLang="zh-CN" sz="1200">
                        <a:latin typeface="Times New Roman Regular" panose="02020603050405020304"/>
                        <a:ea typeface="Times New Roman Regular"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417830">
                <a:tc vMerge="1">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panose="02020603050405020304"/>
                        </a:rPr>
                        <a:t>Splitting the Negation and Transition into Two Separate Sentences</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1</a:t>
                      </a:r>
                      <a:r>
                        <a:rPr lang="en-US" altLang="zh-CN" sz="1200">
                          <a:latin typeface="Times New Roman Regular" panose="02020603050405020304"/>
                          <a:ea typeface="Times New Roman" panose="02020603050405020304"/>
                        </a:rPr>
                        <a:t>5</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416560">
                <a:tc vMerge="1">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panose="02020603050405020304"/>
                        </a:rPr>
                        <a:t>Segmenting and Restructuring Coordinated Sentences</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a:p>
                      <a:pPr marL="0" indent="0" algn="ctr">
                        <a:lnSpc>
                          <a:spcPct val="114000"/>
                        </a:lnSpc>
                        <a:spcBef>
                          <a:spcPct val="0"/>
                        </a:spcBef>
                        <a:spcAft>
                          <a:spcPct val="0"/>
                        </a:spcAft>
                      </a:pPr>
                      <a:r>
                        <a:rPr lang="en-US" altLang="zh-CN" sz="1200">
                          <a:latin typeface="Times New Roman Regular" panose="02020603050405020304"/>
                          <a:ea typeface="Times New Roman Regular" panose="02020603050405020304"/>
                        </a:rPr>
                        <a:t>1</a:t>
                      </a:r>
                      <a:r>
                        <a:rPr lang="en-US" altLang="zh-CN" sz="1200">
                          <a:latin typeface="Times New Roman Regular" panose="02020603050405020304"/>
                          <a:ea typeface="Times New Roman" panose="02020603050405020304"/>
                        </a:rPr>
                        <a:t>0</a:t>
                      </a:r>
                      <a:endParaRPr lang="en-US" altLang="zh-CN" sz="1200">
                        <a:latin typeface="Times New Roman Regular" panose="02020603050405020304"/>
                        <a:ea typeface="Times New Roman" panose="02020603050405020304"/>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bl>
          </a:graphicData>
        </a:graphic>
      </p:graphicFrame>
      <p:sp>
        <p:nvSpPr>
          <p:cNvPr id="10" name="文本框 9"/>
          <p:cNvSpPr txBox="1"/>
          <p:nvPr/>
        </p:nvSpPr>
        <p:spPr>
          <a:xfrm>
            <a:off x="965200" y="4372928"/>
            <a:ext cx="5080000" cy="460375"/>
          </a:xfrm>
          <a:prstGeom prst="rect">
            <a:avLst/>
          </a:prstGeom>
        </p:spPr>
        <p:txBody>
          <a:bodyPr>
            <a:spAutoFit/>
          </a:bodyPr>
          <a:p>
            <a:pPr marL="0" indent="0" algn="l" defTabSz="266700">
              <a:lnSpc>
                <a:spcPct val="150000"/>
              </a:lnSpc>
              <a:spcBef>
                <a:spcPct val="0"/>
              </a:spcBef>
              <a:spcAft>
                <a:spcPct val="0"/>
              </a:spcAft>
            </a:pPr>
            <a:r>
              <a:rPr lang="en-US" altLang="zh-CN" sz="1600" b="1">
                <a:latin typeface="Times New Roman Regular" panose="02020603050405020304"/>
                <a:ea typeface="Times New Roman Regular" panose="02020603050405020304"/>
              </a:rPr>
              <a:t>Table</a:t>
            </a:r>
            <a:r>
              <a:rPr lang="en-US" altLang="zh-CN" sz="1600" b="1">
                <a:latin typeface="Times New Roman Regular" panose="02020603050405020304"/>
                <a:ea typeface="宋体"/>
              </a:rPr>
              <a:t> 2:</a:t>
            </a:r>
            <a:r>
              <a:rPr lang="en-US" altLang="zh-CN" sz="1600">
                <a:latin typeface="Times New Roman Regular" panose="02020603050405020304"/>
                <a:ea typeface="宋体"/>
              </a:rPr>
              <a:t> Strategies Employed</a:t>
            </a:r>
            <a:endParaRPr lang="en-US" altLang="zh-CN" sz="1600">
              <a:latin typeface="Times New Roman Regular" panose="02020603050405020304"/>
              <a:ea typeface="宋体"/>
            </a:endParaRPr>
          </a:p>
        </p:txBody>
      </p:sp>
      <p:graphicFrame>
        <p:nvGraphicFramePr>
          <p:cNvPr id="11" name="表格 10"/>
          <p:cNvGraphicFramePr/>
          <p:nvPr>
            <p:custDataLst>
              <p:tags r:id="rId2"/>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60000"/>
                        <a:lumOff val="40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60000"/>
                        <a:lumOff val="40000"/>
                      </a:schemeClr>
                    </a:solidFill>
                  </a:tcPr>
                </a:tc>
                <a:tc>
                  <a:txBody>
                    <a:bodyPr/>
                    <a:p>
                      <a:pPr>
                        <a:buNone/>
                      </a:pPr>
                      <a:r>
                        <a:rPr lang="en-US" altLang="zh-CN" sz="1400"/>
                        <a:t>Conclusion</a:t>
                      </a:r>
                      <a:endParaRPr lang="en-US" altLang="zh-CN" sz="1400"/>
                    </a:p>
                  </a:txBody>
                  <a:tcPr>
                    <a:solidFill>
                      <a:schemeClr val="accent1">
                        <a:lumMod val="75000"/>
                      </a:schemeClr>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43965" y="942340"/>
            <a:ext cx="4064000" cy="398780"/>
          </a:xfrm>
          <a:prstGeom prst="rect">
            <a:avLst/>
          </a:prstGeom>
          <a:noFill/>
        </p:spPr>
        <p:txBody>
          <a:bodyPr wrap="square" rtlCol="0">
            <a:spAutoFit/>
          </a:bodyPr>
          <a:p>
            <a:r>
              <a:rPr lang="en-US" altLang="zh-CN" sz="2000" b="1">
                <a:ln/>
                <a:solidFill>
                  <a:schemeClr val="accent1"/>
                </a:solidFill>
                <a:effectLst>
                  <a:outerShdw blurRad="38100" dist="25400" dir="5400000" algn="ctr" rotWithShape="0">
                    <a:srgbClr val="6E747A">
                      <a:alpha val="43000"/>
                      <a:alpha val="43000"/>
                    </a:srgbClr>
                  </a:outerShdw>
                </a:effectLst>
              </a:rPr>
              <a:t>5.2</a:t>
            </a:r>
            <a:r>
              <a:rPr lang="en-US" altLang="zh-CN" sz="2000">
                <a:ln/>
                <a:solidFill>
                  <a:schemeClr val="accent1"/>
                </a:solidFill>
                <a:effectLst>
                  <a:outerShdw blurRad="38100" dist="25400" dir="5400000" algn="ctr" rotWithShape="0">
                    <a:srgbClr val="6E747A">
                      <a:alpha val="43000"/>
                      <a:alpha val="43000"/>
                    </a:srgbClr>
                  </a:outerShdw>
                </a:effectLst>
              </a:rPr>
              <a:t> </a:t>
            </a:r>
            <a:r>
              <a:rPr lang="en-US" altLang="zh-CN" sz="2000" b="1">
                <a:ln/>
                <a:solidFill>
                  <a:schemeClr val="accent1"/>
                </a:solidFill>
                <a:effectLst>
                  <a:outerShdw blurRad="38100" dist="25400" dir="5400000" algn="ctr" rotWithShape="0">
                    <a:srgbClr val="6E747A">
                      <a:alpha val="43000"/>
                      <a:alpha val="43000"/>
                    </a:srgbClr>
                  </a:outerShdw>
                </a:effectLst>
                <a:latin typeface="Times New Roman" panose="02020603050405020304"/>
                <a:ea typeface="宋体"/>
                <a:sym typeface="+mn-ea"/>
              </a:rPr>
              <a:t> Implications</a:t>
            </a:r>
            <a:r>
              <a:rPr lang="en-US" altLang="zh-CN" sz="2000">
                <a:ln/>
                <a:solidFill>
                  <a:schemeClr val="accent1"/>
                </a:solidFill>
                <a:effectLst>
                  <a:outerShdw blurRad="38100" dist="25400" dir="5400000" algn="ctr" rotWithShape="0">
                    <a:srgbClr val="6E747A">
                      <a:alpha val="43000"/>
                      <a:alpha val="43000"/>
                    </a:srgbClr>
                  </a:outerShdw>
                </a:effectLst>
              </a:rPr>
              <a:t> </a:t>
            </a:r>
            <a:endParaRPr lang="en-US" altLang="zh-CN" sz="2000">
              <a:ln/>
              <a:solidFill>
                <a:schemeClr val="accent1"/>
              </a:solidFill>
              <a:effectLst>
                <a:outerShdw blurRad="38100" dist="25400" dir="5400000" algn="ctr" rotWithShape="0">
                  <a:srgbClr val="6E747A">
                    <a:alpha val="43000"/>
                    <a:alpha val="43000"/>
                  </a:srgbClr>
                </a:outerShdw>
              </a:effectLst>
            </a:endParaRPr>
          </a:p>
        </p:txBody>
      </p:sp>
      <p:sp>
        <p:nvSpPr>
          <p:cNvPr id="4" name="文本框 3"/>
          <p:cNvSpPr txBox="1"/>
          <p:nvPr/>
        </p:nvSpPr>
        <p:spPr>
          <a:xfrm>
            <a:off x="1243965" y="1585595"/>
            <a:ext cx="7900035" cy="3681730"/>
          </a:xfrm>
          <a:prstGeom prst="rect">
            <a:avLst/>
          </a:prstGeom>
          <a:noFill/>
        </p:spPr>
        <p:txBody>
          <a:bodyPr wrap="square" rtlCol="0" anchor="t">
            <a:spAutoFit/>
          </a:bodyPr>
          <a:p>
            <a:pPr indent="0" algn="just" defTabSz="266700">
              <a:lnSpc>
                <a:spcPts val="2000"/>
              </a:lnSpc>
              <a:spcBef>
                <a:spcPct val="0"/>
              </a:spcBef>
              <a:spcAft>
                <a:spcPct val="0"/>
              </a:spcAft>
              <a:buFont typeface="Arial" panose="020B0604020202090204" pitchFamily="34" charset="0"/>
              <a:buNone/>
            </a:pPr>
            <a:r>
              <a:rPr lang="en-US" altLang="zh-CN" sz="1600" b="1">
                <a:latin typeface="Times New Roman" panose="02020603050405020304"/>
                <a:ea typeface="宋体"/>
                <a:sym typeface="+mn-ea"/>
              </a:rPr>
              <a:t>(1) Filling the Research Gap in the Translation of Liu Zhenyun’s Works</a:t>
            </a:r>
            <a:endParaRPr lang="en-US" altLang="zh-CN" sz="1600" b="1">
              <a:latin typeface="Times New Roman" panose="02020603050405020304"/>
              <a:ea typeface="宋体"/>
              <a:sym typeface="+mn-ea"/>
            </a:endParaRPr>
          </a:p>
          <a:p>
            <a:pPr indent="0" algn="just" defTabSz="266700">
              <a:lnSpc>
                <a:spcPts val="2000"/>
              </a:lnSpc>
              <a:spcBef>
                <a:spcPct val="0"/>
              </a:spcBef>
              <a:spcAft>
                <a:spcPct val="0"/>
              </a:spcAft>
              <a:buFont typeface="Arial" panose="020B0604020202090204" pitchFamily="34" charset="0"/>
              <a:buNone/>
            </a:pPr>
            <a:r>
              <a:rPr lang="en-US" altLang="zh-CN" sz="1600">
                <a:latin typeface="Times New Roman" panose="02020603050405020304"/>
                <a:ea typeface="宋体"/>
                <a:sym typeface="+mn-ea"/>
              </a:rPr>
              <a:t>      This study aims to </a:t>
            </a:r>
            <a:r>
              <a:rPr lang="en-US" altLang="zh-CN" sz="1600">
                <a:solidFill>
                  <a:srgbClr val="FF0000"/>
                </a:solidFill>
                <a:latin typeface="Times New Roman" panose="02020603050405020304"/>
                <a:ea typeface="宋体"/>
                <a:sym typeface="+mn-ea"/>
              </a:rPr>
              <a:t>advance academic attention </a:t>
            </a:r>
            <a:r>
              <a:rPr lang="en-US" altLang="zh-CN" sz="1600">
                <a:latin typeface="Times New Roman" panose="02020603050405020304"/>
                <a:ea typeface="宋体"/>
                <a:sym typeface="+mn-ea"/>
              </a:rPr>
              <a:t>to the English translation of works by Liu Zhenyun. While the original work has received widespread acclaim, research on its English translations is scarce. Therefore, this thesis seeks to address this gap.</a:t>
            </a:r>
            <a:endParaRPr lang="en-US" altLang="zh-CN" sz="1600">
              <a:latin typeface="Times New Roman" panose="02020603050405020304"/>
              <a:ea typeface="宋体"/>
              <a:sym typeface="+mn-ea"/>
            </a:endParaRPr>
          </a:p>
          <a:p>
            <a:pPr indent="0" algn="just" defTabSz="266700">
              <a:lnSpc>
                <a:spcPts val="2000"/>
              </a:lnSpc>
              <a:spcBef>
                <a:spcPct val="0"/>
              </a:spcBef>
              <a:spcAft>
                <a:spcPct val="0"/>
              </a:spcAft>
              <a:buFont typeface="Arial" panose="020B0604020202090204" pitchFamily="34" charset="0"/>
              <a:buNone/>
            </a:pPr>
            <a:endParaRPr lang="en-US" altLang="zh-CN" sz="1600">
              <a:latin typeface="Times New Roman" panose="02020603050405020304"/>
              <a:ea typeface="宋体"/>
              <a:sym typeface="+mn-ea"/>
            </a:endParaRPr>
          </a:p>
          <a:p>
            <a:pPr indent="0" algn="just" defTabSz="266700">
              <a:lnSpc>
                <a:spcPts val="2000"/>
              </a:lnSpc>
              <a:spcBef>
                <a:spcPct val="0"/>
              </a:spcBef>
              <a:spcAft>
                <a:spcPct val="0"/>
              </a:spcAft>
              <a:buFont typeface="Arial" panose="020B0604020202090204" pitchFamily="34" charset="0"/>
              <a:buNone/>
            </a:pPr>
            <a:r>
              <a:rPr lang="en-US" altLang="zh-CN" sz="1600" b="1">
                <a:latin typeface="Times New Roman Bold" panose="02020603050405020304" charset="0"/>
                <a:ea typeface="宋体"/>
                <a:cs typeface="Times New Roman Bold" panose="02020603050405020304" charset="0"/>
                <a:sym typeface="+mn-ea"/>
              </a:rPr>
              <a:t>(2) </a:t>
            </a:r>
            <a:r>
              <a:rPr lang="en-US" altLang="zh-CN" sz="1600" b="1">
                <a:latin typeface="Times New Roman" panose="02020603050405020304"/>
                <a:ea typeface="宋体"/>
                <a:sym typeface="+mn-ea"/>
              </a:rPr>
              <a:t>Integrating R</a:t>
            </a:r>
            <a:r>
              <a:rPr lang="en-US" altLang="zh-CN" sz="1600" b="1">
                <a:latin typeface="Times New Roman" panose="02020603050405020304"/>
                <a:ea typeface="宋体"/>
                <a:sym typeface="+mn-ea"/>
              </a:rPr>
              <a:t>eception Aesthetics with Translation Studies</a:t>
            </a:r>
            <a:endParaRPr lang="en-US" altLang="zh-CN" sz="1600" b="1">
              <a:latin typeface="Times New Roman Bold" panose="02020603050405020304" charset="0"/>
              <a:ea typeface="宋体"/>
              <a:cs typeface="Times New Roman Bold" panose="02020603050405020304" charset="0"/>
              <a:sym typeface="+mn-ea"/>
            </a:endParaRPr>
          </a:p>
          <a:p>
            <a:pPr indent="0" algn="just" defTabSz="266700">
              <a:lnSpc>
                <a:spcPts val="2000"/>
              </a:lnSpc>
              <a:spcBef>
                <a:spcPct val="0"/>
              </a:spcBef>
              <a:spcAft>
                <a:spcPct val="0"/>
              </a:spcAft>
              <a:buFont typeface="Arial" panose="020B0604020202090204" pitchFamily="34" charset="0"/>
              <a:buNone/>
            </a:pPr>
            <a:r>
              <a:rPr lang="en-US" altLang="zh-CN" sz="1600">
                <a:latin typeface="Times New Roman" panose="02020603050405020304"/>
                <a:ea typeface="宋体"/>
                <a:sym typeface="+mn-ea"/>
              </a:rPr>
              <a:t>      In terms of theoretical inquiry, this thesis combines aesthetics and translation studies, thereby </a:t>
            </a:r>
            <a:r>
              <a:rPr lang="en-US" altLang="zh-CN" sz="1600">
                <a:solidFill>
                  <a:srgbClr val="FF0000"/>
                </a:solidFill>
                <a:latin typeface="Times New Roman" panose="02020603050405020304"/>
                <a:ea typeface="宋体"/>
                <a:sym typeface="+mn-ea"/>
              </a:rPr>
              <a:t>broadening the research perspective </a:t>
            </a:r>
            <a:r>
              <a:rPr lang="en-US" altLang="zh-CN" sz="1600">
                <a:latin typeface="Times New Roman" panose="02020603050405020304"/>
                <a:ea typeface="宋体"/>
                <a:sym typeface="+mn-ea"/>
              </a:rPr>
              <a:t>on the Chinese literature work </a:t>
            </a:r>
            <a:r>
              <a:rPr lang="en-US" altLang="zh-CN" sz="1600" i="1">
                <a:latin typeface="Times New Roman" panose="02020603050405020304"/>
                <a:ea typeface="宋体"/>
                <a:sym typeface="+mn-ea"/>
              </a:rPr>
              <a:t>Yiju Ding Yiwanju</a:t>
            </a:r>
            <a:r>
              <a:rPr lang="en-US" altLang="zh-CN" sz="1600">
                <a:latin typeface="Times New Roman" panose="02020603050405020304"/>
                <a:ea typeface="宋体"/>
                <a:sym typeface="+mn-ea"/>
              </a:rPr>
              <a:t>.</a:t>
            </a:r>
            <a:endParaRPr lang="en-US" altLang="zh-CN" sz="1600">
              <a:latin typeface="Times New Roman" panose="02020603050405020304"/>
              <a:ea typeface="宋体"/>
              <a:sym typeface="+mn-ea"/>
            </a:endParaRPr>
          </a:p>
          <a:p>
            <a:pPr indent="0" algn="just" defTabSz="266700">
              <a:lnSpc>
                <a:spcPts val="2000"/>
              </a:lnSpc>
              <a:spcBef>
                <a:spcPct val="0"/>
              </a:spcBef>
              <a:spcAft>
                <a:spcPct val="0"/>
              </a:spcAft>
              <a:buFont typeface="Arial" panose="020B0604020202090204" pitchFamily="34" charset="0"/>
              <a:buNone/>
            </a:pPr>
            <a:endParaRPr lang="en-US" altLang="zh-CN" sz="1600">
              <a:latin typeface="Times New Roman" panose="02020603050405020304"/>
              <a:ea typeface="宋体"/>
              <a:sym typeface="+mn-ea"/>
            </a:endParaRPr>
          </a:p>
          <a:p>
            <a:pPr indent="0" algn="just" defTabSz="266700">
              <a:lnSpc>
                <a:spcPts val="2000"/>
              </a:lnSpc>
              <a:spcBef>
                <a:spcPct val="0"/>
              </a:spcBef>
              <a:spcAft>
                <a:spcPct val="0"/>
              </a:spcAft>
              <a:buFont typeface="Arial" panose="020B0604020202090204" pitchFamily="34" charset="0"/>
              <a:buNone/>
            </a:pPr>
            <a:r>
              <a:rPr lang="en-US" altLang="zh-CN" sz="1600" b="1">
                <a:latin typeface="Times New Roman Bold" panose="02020603050405020304" charset="0"/>
                <a:ea typeface="宋体"/>
                <a:cs typeface="Times New Roman Bold" panose="02020603050405020304" charset="0"/>
                <a:sym typeface="+mn-ea"/>
              </a:rPr>
              <a:t>(3) </a:t>
            </a:r>
            <a:r>
              <a:rPr lang="en-US" altLang="zh-CN" sz="1600" b="1">
                <a:latin typeface="Times New Roman" panose="02020603050405020304"/>
                <a:ea typeface="宋体"/>
                <a:sym typeface="+mn-ea"/>
              </a:rPr>
              <a:t>Analyzing Translation S</a:t>
            </a:r>
            <a:r>
              <a:rPr lang="en-US" altLang="zh-CN" sz="1600" b="1">
                <a:latin typeface="Times New Roman Bold" panose="02020603050405020304" charset="0"/>
                <a:ea typeface="宋体"/>
                <a:cs typeface="Times New Roman Bold" panose="02020603050405020304" charset="0"/>
                <a:sym typeface="+mn-ea"/>
              </a:rPr>
              <a:t>trategies</a:t>
            </a:r>
            <a:r>
              <a:rPr lang="en-US" altLang="zh-CN" sz="1600" b="1">
                <a:latin typeface="Times New Roman" panose="02020603050405020304"/>
                <a:ea typeface="宋体"/>
                <a:sym typeface="+mn-ea"/>
              </a:rPr>
              <a:t> of Contrast Structures</a:t>
            </a:r>
            <a:endParaRPr lang="en-US" altLang="zh-CN" sz="1600" b="1">
              <a:latin typeface="Times New Roman" panose="02020603050405020304"/>
              <a:ea typeface="宋体"/>
              <a:sym typeface="+mn-ea"/>
            </a:endParaRPr>
          </a:p>
          <a:p>
            <a:pPr indent="0" algn="just" defTabSz="266700">
              <a:lnSpc>
                <a:spcPts val="2000"/>
              </a:lnSpc>
              <a:spcBef>
                <a:spcPct val="0"/>
              </a:spcBef>
              <a:spcAft>
                <a:spcPct val="0"/>
              </a:spcAft>
              <a:buFont typeface="Arial" panose="020B0604020202090204" pitchFamily="34" charset="0"/>
              <a:buNone/>
            </a:pPr>
            <a:r>
              <a:rPr lang="en-US" altLang="zh-CN" sz="1600">
                <a:latin typeface="Times New Roman" panose="02020603050405020304"/>
                <a:ea typeface="宋体"/>
                <a:sym typeface="+mn-ea"/>
              </a:rPr>
              <a:t>      On the methodological front, the author analyzes the translation methods and techniques of the contrast structure employed by the distinguished translator</a:t>
            </a:r>
            <a:r>
              <a:rPr lang="en-US" altLang="zh-CN" sz="1600">
                <a:solidFill>
                  <a:srgbClr val="000000"/>
                </a:solidFill>
                <a:latin typeface="Times New Roman" panose="02020603050405020304"/>
                <a:ea typeface="宋体"/>
                <a:sym typeface="+mn-ea"/>
              </a:rPr>
              <a:t> Howard Goldblatt and Sylvia Li-chun Lin</a:t>
            </a:r>
            <a:r>
              <a:rPr lang="en-US" altLang="zh-CN" sz="1600">
                <a:latin typeface="Times New Roman" panose="02020603050405020304"/>
                <a:ea typeface="宋体"/>
                <a:sym typeface="+mn-ea"/>
              </a:rPr>
              <a:t>. This analysis provides</a:t>
            </a:r>
            <a:r>
              <a:rPr lang="en-US" altLang="zh-CN" sz="1600">
                <a:solidFill>
                  <a:srgbClr val="FF0000"/>
                </a:solidFill>
                <a:latin typeface="Times New Roman" panose="02020603050405020304"/>
                <a:ea typeface="宋体"/>
                <a:sym typeface="+mn-ea"/>
              </a:rPr>
              <a:t> valuable insights for future translation studies and practice </a:t>
            </a:r>
            <a:r>
              <a:rPr lang="en-US" altLang="zh-CN" sz="1600">
                <a:latin typeface="Times New Roman" panose="02020603050405020304"/>
                <a:ea typeface="宋体"/>
                <a:sym typeface="+mn-ea"/>
              </a:rPr>
              <a:t>of Chinese literary works.</a:t>
            </a:r>
            <a:endParaRPr lang="en-US" altLang="zh-CN" sz="1600">
              <a:latin typeface="Times New Roman" panose="02020603050405020304"/>
              <a:ea typeface="宋体"/>
              <a:sym typeface="+mn-ea"/>
            </a:endParaRPr>
          </a:p>
        </p:txBody>
      </p:sp>
      <p:graphicFrame>
        <p:nvGraphicFramePr>
          <p:cNvPr id="5" name="表格 4"/>
          <p:cNvGraphicFramePr/>
          <p:nvPr>
            <p:custDataLst>
              <p:tags r:id="rId1"/>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60000"/>
                        <a:lumOff val="40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60000"/>
                        <a:lumOff val="40000"/>
                      </a:schemeClr>
                    </a:solidFill>
                  </a:tcPr>
                </a:tc>
                <a:tc>
                  <a:txBody>
                    <a:bodyPr/>
                    <a:p>
                      <a:pPr>
                        <a:buNone/>
                      </a:pPr>
                      <a:r>
                        <a:rPr lang="en-US" altLang="zh-CN" sz="1400"/>
                        <a:t>Conclusion</a:t>
                      </a:r>
                      <a:endParaRPr lang="en-US" altLang="zh-CN" sz="1400"/>
                    </a:p>
                  </a:txBody>
                  <a:tcPr>
                    <a:solidFill>
                      <a:schemeClr val="accent1">
                        <a:lumMod val="75000"/>
                      </a:schemeClr>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711960" y="1159510"/>
            <a:ext cx="7856220" cy="3989705"/>
          </a:xfrm>
          <a:prstGeom prst="rect">
            <a:avLst/>
          </a:prstGeom>
        </p:spPr>
        <p:txBody>
          <a:bodyPr wrap="square">
            <a:spAutoFit/>
          </a:bodyPr>
          <a:p>
            <a:pPr marL="226695" indent="-226695" algn="l" defTabSz="266700">
              <a:lnSpc>
                <a:spcPts val="1200"/>
              </a:lnSpc>
              <a:spcBef>
                <a:spcPts val="1200"/>
              </a:spcBef>
              <a:spcAft>
                <a:spcPts val="1200"/>
              </a:spcAft>
            </a:pPr>
            <a:r>
              <a:rPr lang="en-US" altLang="zh-CN" sz="2000" b="1">
                <a:ln/>
                <a:solidFill>
                  <a:schemeClr val="accent1"/>
                </a:solidFill>
                <a:effectLst>
                  <a:outerShdw blurRad="38100" dist="25400" dir="5400000" algn="ctr" rotWithShape="0">
                    <a:srgbClr val="6E747A">
                      <a:alpha val="43000"/>
                      <a:alpha val="43000"/>
                    </a:srgbClr>
                  </a:outerShdw>
                </a:effectLst>
                <a:latin typeface="Times New Roman" panose="02020603050405020304"/>
                <a:ea typeface="宋体"/>
              </a:rPr>
              <a:t>5.3 Limitations</a:t>
            </a:r>
            <a:endParaRPr lang="en-US" altLang="zh-CN" sz="2000" b="1">
              <a:ln/>
              <a:solidFill>
                <a:schemeClr val="accent1"/>
              </a:solidFill>
              <a:effectLst>
                <a:outerShdw blurRad="38100" dist="25400" dir="5400000" algn="ctr" rotWithShape="0">
                  <a:srgbClr val="6E747A">
                    <a:alpha val="43000"/>
                    <a:alpha val="43000"/>
                  </a:srgbClr>
                </a:outerShdw>
              </a:effectLst>
              <a:latin typeface="Times New Roman" panose="02020603050405020304"/>
              <a:ea typeface="宋体"/>
            </a:endParaRPr>
          </a:p>
          <a:p>
            <a:pPr indent="0" algn="just" defTabSz="266700">
              <a:lnSpc>
                <a:spcPts val="2000"/>
              </a:lnSpc>
              <a:spcBef>
                <a:spcPct val="0"/>
              </a:spcBef>
              <a:spcAft>
                <a:spcPct val="0"/>
              </a:spcAft>
              <a:buNone/>
            </a:pPr>
            <a:r>
              <a:rPr lang="en-US" altLang="zh-CN" sz="1600" b="1">
                <a:latin typeface="Times New Roman Bold" panose="02020603050405020304" charset="0"/>
                <a:ea typeface="宋体"/>
                <a:cs typeface="Times New Roman Bold" panose="02020603050405020304" charset="0"/>
              </a:rPr>
              <a:t>(1) Limited Scope of the Study</a:t>
            </a:r>
            <a:endParaRPr lang="en-US" altLang="zh-CN" sz="1600" b="1">
              <a:latin typeface="Times New Roman Bold" panose="02020603050405020304" charset="0"/>
              <a:ea typeface="宋体"/>
              <a:cs typeface="Times New Roman Bold" panose="02020603050405020304" charset="0"/>
            </a:endParaRPr>
          </a:p>
          <a:p>
            <a:pPr indent="0" algn="just" defTabSz="266700">
              <a:lnSpc>
                <a:spcPts val="2000"/>
              </a:lnSpc>
              <a:spcBef>
                <a:spcPct val="0"/>
              </a:spcBef>
              <a:spcAft>
                <a:spcPct val="0"/>
              </a:spcAft>
              <a:buNone/>
            </a:pPr>
            <a:r>
              <a:rPr lang="en-US" altLang="zh-CN" sz="1600">
                <a:latin typeface="Times New Roman" panose="02020603050405020304"/>
                <a:ea typeface="宋体"/>
              </a:rPr>
              <a:t>Apart from the challenge summarized by the author, there are many other aspects within the book that could hinder reader comprehension, but the author was unable to address them all.</a:t>
            </a:r>
            <a:endParaRPr lang="en-US" altLang="zh-CN" sz="1600">
              <a:latin typeface="Times New Roman" panose="02020603050405020304"/>
              <a:ea typeface="宋体"/>
            </a:endParaRPr>
          </a:p>
          <a:p>
            <a:pPr indent="0" algn="just" defTabSz="266700">
              <a:lnSpc>
                <a:spcPts val="2000"/>
              </a:lnSpc>
              <a:spcBef>
                <a:spcPct val="0"/>
              </a:spcBef>
              <a:spcAft>
                <a:spcPct val="0"/>
              </a:spcAft>
              <a:buNone/>
            </a:pPr>
            <a:endParaRPr lang="en-US" altLang="zh-CN" sz="1600">
              <a:latin typeface="Times New Roman" panose="02020603050405020304"/>
              <a:ea typeface="宋体"/>
            </a:endParaRPr>
          </a:p>
          <a:p>
            <a:pPr indent="0" algn="just" defTabSz="266700">
              <a:lnSpc>
                <a:spcPts val="2000"/>
              </a:lnSpc>
              <a:spcBef>
                <a:spcPct val="0"/>
              </a:spcBef>
              <a:spcAft>
                <a:spcPct val="0"/>
              </a:spcAft>
              <a:buNone/>
            </a:pPr>
            <a:r>
              <a:rPr lang="en-US" altLang="zh-CN" sz="1600" b="1">
                <a:latin typeface="Times New Roman Bold" panose="02020603050405020304" charset="0"/>
                <a:ea typeface="宋体"/>
                <a:cs typeface="Times New Roman Bold" panose="02020603050405020304" charset="0"/>
              </a:rPr>
              <a:t>(2）Subjectivity in the Research Method</a:t>
            </a:r>
            <a:endParaRPr lang="en-US" altLang="zh-CN" sz="1600" b="1">
              <a:latin typeface="Times New Roman Bold" panose="02020603050405020304" charset="0"/>
              <a:ea typeface="宋体"/>
              <a:cs typeface="Times New Roman Bold" panose="02020603050405020304" charset="0"/>
            </a:endParaRPr>
          </a:p>
          <a:p>
            <a:pPr indent="0" algn="just" defTabSz="266700">
              <a:lnSpc>
                <a:spcPts val="2000"/>
              </a:lnSpc>
              <a:spcBef>
                <a:spcPct val="0"/>
              </a:spcBef>
              <a:spcAft>
                <a:spcPct val="0"/>
              </a:spcAft>
              <a:buNone/>
            </a:pPr>
            <a:r>
              <a:rPr lang="en-US" altLang="zh-CN" sz="1600">
                <a:latin typeface="Times New Roman" panose="02020603050405020304"/>
                <a:ea typeface="宋体"/>
              </a:rPr>
              <a:t>Since the primary method employed in this research is qualitative analysis, it is greatly influenced by the author’s subjectivity. </a:t>
            </a:r>
            <a:endParaRPr lang="en-US" altLang="zh-CN" sz="1600">
              <a:latin typeface="Times New Roman" panose="02020603050405020304"/>
              <a:ea typeface="宋体"/>
            </a:endParaRPr>
          </a:p>
          <a:p>
            <a:pPr indent="0" algn="just" defTabSz="266700">
              <a:lnSpc>
                <a:spcPts val="2000"/>
              </a:lnSpc>
              <a:spcBef>
                <a:spcPct val="0"/>
              </a:spcBef>
              <a:spcAft>
                <a:spcPct val="0"/>
              </a:spcAft>
              <a:buNone/>
            </a:pPr>
            <a:r>
              <a:rPr lang="en-US" altLang="zh-CN" sz="1600">
                <a:latin typeface="Times New Roman" panose="02020603050405020304"/>
                <a:ea typeface="宋体"/>
              </a:rPr>
              <a:t>Given the scarcity of research on the English translation of this book, the author had limited reference materials, resulting in subjective judgments. </a:t>
            </a:r>
            <a:endParaRPr lang="en-US" altLang="zh-CN" sz="1600">
              <a:latin typeface="Times New Roman" panose="02020603050405020304"/>
              <a:ea typeface="宋体"/>
            </a:endParaRPr>
          </a:p>
          <a:p>
            <a:pPr indent="0" algn="just" defTabSz="266700">
              <a:lnSpc>
                <a:spcPts val="2000"/>
              </a:lnSpc>
              <a:spcBef>
                <a:spcPct val="0"/>
              </a:spcBef>
              <a:spcAft>
                <a:spcPct val="0"/>
              </a:spcAft>
              <a:buNone/>
            </a:pPr>
            <a:endParaRPr lang="en-US" altLang="zh-CN" sz="1600">
              <a:latin typeface="Times New Roman" panose="02020603050405020304"/>
              <a:ea typeface="宋体"/>
            </a:endParaRPr>
          </a:p>
          <a:p>
            <a:pPr indent="0" algn="just" defTabSz="266700">
              <a:lnSpc>
                <a:spcPts val="2000"/>
              </a:lnSpc>
              <a:spcBef>
                <a:spcPct val="0"/>
              </a:spcBef>
              <a:spcAft>
                <a:spcPct val="0"/>
              </a:spcAft>
              <a:buNone/>
            </a:pPr>
            <a:r>
              <a:rPr lang="en-US" altLang="zh-CN" sz="1600" b="1">
                <a:latin typeface="Times New Roman Bold" panose="02020603050405020304" charset="0"/>
                <a:ea typeface="宋体"/>
                <a:cs typeface="Times New Roman Bold" panose="02020603050405020304" charset="0"/>
              </a:rPr>
              <a:t>(3) Lack of Established Translation Categories</a:t>
            </a:r>
            <a:endParaRPr lang="en-US" altLang="zh-CN" sz="1600" b="1">
              <a:latin typeface="Times New Roman Bold" panose="02020603050405020304" charset="0"/>
              <a:ea typeface="宋体"/>
              <a:cs typeface="Times New Roman Bold" panose="02020603050405020304" charset="0"/>
            </a:endParaRPr>
          </a:p>
          <a:p>
            <a:pPr indent="0" algn="just" defTabSz="266700">
              <a:lnSpc>
                <a:spcPts val="2000"/>
              </a:lnSpc>
              <a:spcBef>
                <a:spcPct val="0"/>
              </a:spcBef>
              <a:spcAft>
                <a:spcPct val="0"/>
              </a:spcAft>
              <a:buNone/>
            </a:pPr>
            <a:r>
              <a:rPr lang="en-US" altLang="zh-CN" sz="1600">
                <a:latin typeface="Times New Roman" panose="02020603050405020304"/>
                <a:ea typeface="宋体"/>
              </a:rPr>
              <a:t>As no scholars have previously conducted a systematic classification of translation methods of such contrast structures, the author’s categorization of translation strategies and techniques mainly relies on her own summary.</a:t>
            </a:r>
            <a:endParaRPr lang="en-US" altLang="zh-CN" sz="1600">
              <a:latin typeface="Times New Roman" panose="02020603050405020304"/>
              <a:ea typeface="宋体"/>
            </a:endParaRPr>
          </a:p>
        </p:txBody>
      </p:sp>
      <p:graphicFrame>
        <p:nvGraphicFramePr>
          <p:cNvPr id="9" name="表格 8"/>
          <p:cNvGraphicFramePr/>
          <p:nvPr>
            <p:custDataLst>
              <p:tags r:id="rId1"/>
            </p:custDataLst>
          </p:nvPr>
        </p:nvGraphicFramePr>
        <p:xfrm>
          <a:off x="3771900" y="0"/>
          <a:ext cx="8420100" cy="459740"/>
        </p:xfrm>
        <a:graphic>
          <a:graphicData uri="http://schemas.openxmlformats.org/drawingml/2006/table">
            <a:tbl>
              <a:tblPr firstRow="1" bandRow="1">
                <a:tableStyleId>{5C22544A-7EE6-4342-B048-85BDC9FD1C3A}</a:tableStyleId>
              </a:tblPr>
              <a:tblGrid>
                <a:gridCol w="1238250"/>
                <a:gridCol w="1792605"/>
                <a:gridCol w="2398395"/>
                <a:gridCol w="1536700"/>
                <a:gridCol w="1454150"/>
              </a:tblGrid>
              <a:tr h="459740">
                <a:tc>
                  <a:txBody>
                    <a:bodyPr/>
                    <a:p>
                      <a:pPr>
                        <a:buNone/>
                      </a:pPr>
                      <a:r>
                        <a:rPr lang="en-US" altLang="zh-CN" sz="1400">
                          <a:solidFill>
                            <a:schemeClr val="bg1"/>
                          </a:solidFill>
                        </a:rPr>
                        <a:t>Introduction</a:t>
                      </a:r>
                      <a:endParaRPr lang="en-US" altLang="zh-CN" sz="1400">
                        <a:solidFill>
                          <a:schemeClr val="bg1"/>
                        </a:solidFill>
                      </a:endParaRPr>
                    </a:p>
                  </a:txBody>
                  <a:tcPr>
                    <a:solidFill>
                      <a:schemeClr val="accent1">
                        <a:lumMod val="60000"/>
                        <a:lumOff val="40000"/>
                      </a:schemeClr>
                    </a:solidFill>
                  </a:tcPr>
                </a:tc>
                <a:tc>
                  <a:txBody>
                    <a:bodyPr/>
                    <a:p>
                      <a:pPr>
                        <a:buNone/>
                      </a:pPr>
                      <a:r>
                        <a:rPr lang="en-US" altLang="zh-CN" sz="1400"/>
                        <a:t>Literature Review</a:t>
                      </a:r>
                      <a:endParaRPr lang="en-US" altLang="zh-CN" sz="1400"/>
                    </a:p>
                  </a:txBody>
                  <a:tcPr>
                    <a:solidFill>
                      <a:schemeClr val="accent1">
                        <a:lumMod val="60000"/>
                        <a:lumOff val="40000"/>
                      </a:schemeClr>
                    </a:solidFill>
                  </a:tcPr>
                </a:tc>
                <a:tc>
                  <a:txBody>
                    <a:bodyPr/>
                    <a:p>
                      <a:pPr>
                        <a:buNone/>
                      </a:pPr>
                      <a:r>
                        <a:rPr lang="en-US" altLang="zh-CN" sz="1400"/>
                        <a:t>Research  Methodology</a:t>
                      </a:r>
                      <a:endParaRPr lang="en-US" altLang="zh-CN" sz="1400"/>
                    </a:p>
                  </a:txBody>
                  <a:tcPr>
                    <a:solidFill>
                      <a:schemeClr val="accent1">
                        <a:lumMod val="60000"/>
                        <a:lumOff val="40000"/>
                      </a:schemeClr>
                    </a:solidFill>
                  </a:tcPr>
                </a:tc>
                <a:tc>
                  <a:txBody>
                    <a:bodyPr/>
                    <a:p>
                      <a:pPr>
                        <a:buNone/>
                      </a:pPr>
                      <a:r>
                        <a:rPr lang="en-US" altLang="zh-CN" sz="1400"/>
                        <a:t>Case Analysis</a:t>
                      </a:r>
                      <a:endParaRPr lang="en-US" altLang="zh-CN" sz="1400"/>
                    </a:p>
                  </a:txBody>
                  <a:tcPr>
                    <a:solidFill>
                      <a:schemeClr val="accent1">
                        <a:lumMod val="60000"/>
                        <a:lumOff val="40000"/>
                      </a:schemeClr>
                    </a:solidFill>
                  </a:tcPr>
                </a:tc>
                <a:tc>
                  <a:txBody>
                    <a:bodyPr/>
                    <a:p>
                      <a:pPr>
                        <a:buNone/>
                      </a:pPr>
                      <a:r>
                        <a:rPr lang="en-US" altLang="zh-CN" sz="1400"/>
                        <a:t>Conclusion</a:t>
                      </a:r>
                      <a:endParaRPr lang="en-US" altLang="zh-CN" sz="1400"/>
                    </a:p>
                  </a:txBody>
                  <a:tcPr>
                    <a:solidFill>
                      <a:schemeClr val="accent1">
                        <a:lumMod val="75000"/>
                      </a:schemeClr>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345180" y="2506980"/>
            <a:ext cx="6322060" cy="922020"/>
          </a:xfrm>
          <a:prstGeom prst="rect">
            <a:avLst/>
          </a:prstGeom>
          <a:noFill/>
        </p:spPr>
        <p:txBody>
          <a:bodyPr vert="horz" wrap="square" rtlCol="0">
            <a:spAutoFit/>
          </a:bodyPr>
          <a:lstStyle/>
          <a:p>
            <a:pPr algn="ctr"/>
            <a:r>
              <a:rPr lang="zh-CN" altLang="en-US" sz="5400" dirty="0">
                <a:solidFill>
                  <a:prstClr val="black">
                    <a:lumMod val="85000"/>
                    <a:lumOff val="15000"/>
                  </a:prstClr>
                </a:solidFill>
                <a:latin typeface="思源黑体 CN Light" panose="020B0300000000000000" pitchFamily="34" charset="-122"/>
                <a:ea typeface="思源黑体 CN Light" panose="020B0300000000000000" pitchFamily="34" charset="-122"/>
              </a:rPr>
              <a:t>感谢批评与</a:t>
            </a:r>
            <a:r>
              <a:rPr lang="zh-CN" altLang="en-US" sz="5400" dirty="0">
                <a:solidFill>
                  <a:prstClr val="black">
                    <a:lumMod val="85000"/>
                    <a:lumOff val="15000"/>
                  </a:prstClr>
                </a:solidFill>
                <a:latin typeface="思源黑体 CN Light" panose="020B0300000000000000" pitchFamily="34" charset="-122"/>
                <a:ea typeface="思源黑体 CN Light" panose="020B0300000000000000" pitchFamily="34" charset="-122"/>
              </a:rPr>
              <a:t>指正！</a:t>
            </a:r>
            <a:endParaRPr lang="zh-CN" altLang="en-US" sz="5400" dirty="0">
              <a:solidFill>
                <a:prstClr val="black">
                  <a:lumMod val="85000"/>
                  <a:lumOff val="15000"/>
                </a:prstClr>
              </a:solidFill>
              <a:latin typeface="思源黑体 CN Light" panose="020B0300000000000000" pitchFamily="34" charset="-122"/>
              <a:ea typeface="思源黑体 CN Light" panose="020B03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bldLst>
      <p:bldP spid="8" grpId="0"/>
    </p:bldLst>
  </p:timing>
</p:sld>
</file>

<file path=ppt/tags/tag1.xml><?xml version="1.0" encoding="utf-8"?>
<p:tagLst xmlns:p="http://schemas.openxmlformats.org/presentationml/2006/main">
  <p:tag name="TABLE_ENDDRAG_ORIGIN_RECT" val="663*26"/>
  <p:tag name="TABLE_ENDDRAG_RECT" val="297*0*663*26"/>
</p:tagLst>
</file>

<file path=ppt/tags/tag2.xml><?xml version="1.0" encoding="utf-8"?>
<p:tagLst xmlns:p="http://schemas.openxmlformats.org/presentationml/2006/main">
  <p:tag name="TABLE_ENDDRAG_ORIGIN_RECT" val="663*26"/>
  <p:tag name="TABLE_ENDDRAG_RECT" val="297*0*663*26"/>
</p:tagLst>
</file>

<file path=ppt/tags/tag3.xml><?xml version="1.0" encoding="utf-8"?>
<p:tagLst xmlns:p="http://schemas.openxmlformats.org/presentationml/2006/main">
  <p:tag name="TABLE_ENDDRAG_ORIGIN_RECT" val="663*26"/>
  <p:tag name="TABLE_ENDDRAG_RECT" val="297*0*663*26"/>
</p:tagLst>
</file>

<file path=ppt/tags/tag4.xml><?xml version="1.0" encoding="utf-8"?>
<p:tagLst xmlns:p="http://schemas.openxmlformats.org/presentationml/2006/main">
  <p:tag name="TABLE_ENDDRAG_ORIGIN_RECT" val="663*26"/>
  <p:tag name="TABLE_ENDDRAG_RECT" val="297*0*663*26"/>
</p:tagLst>
</file>

<file path=ppt/tags/tag5.xml><?xml version="1.0" encoding="utf-8"?>
<p:tagLst xmlns:p="http://schemas.openxmlformats.org/presentationml/2006/main">
  <p:tag name="TABLE_ENDDRAG_ORIGIN_RECT" val="663*26"/>
  <p:tag name="TABLE_ENDDRAG_RECT" val="297*0*663*26"/>
</p:tagLst>
</file>

<file path=ppt/tags/tag6.xml><?xml version="1.0" encoding="utf-8"?>
<p:tagLst xmlns:p="http://schemas.openxmlformats.org/presentationml/2006/main">
  <p:tag name="TABLE_ENDDRAG_ORIGIN_RECT" val="826*361"/>
  <p:tag name="TABLE_ENDDRAG_RECT" val="66*109*826*361"/>
</p:tagLst>
</file>

<file path=ppt/tags/tag7.xml><?xml version="1.0" encoding="utf-8"?>
<p:tagLst xmlns:p="http://schemas.openxmlformats.org/presentationml/2006/main">
  <p:tag name="TABLE_ENDDRAG_ORIGIN_RECT" val="663*26"/>
  <p:tag name="TABLE_ENDDRAG_RECT" val="297*0*663*26"/>
</p:tagLst>
</file>

<file path=ppt/tags/tag8.xml><?xml version="1.0" encoding="utf-8"?>
<p:tagLst xmlns:p="http://schemas.openxmlformats.org/presentationml/2006/main">
  <p:tag name="TABLE_ENDDRAG_ORIGIN_RECT" val="663*26"/>
  <p:tag name="TABLE_ENDDRAG_RECT" val="297*0*663*26"/>
</p:tagLst>
</file>

<file path=ppt/tags/tag9.xml><?xml version="1.0" encoding="utf-8"?>
<p:tagLst xmlns:p="http://schemas.openxmlformats.org/presentationml/2006/main">
  <p:tag name="TABLE_ENDDRAG_ORIGIN_RECT" val="663*26"/>
  <p:tag name="TABLE_ENDDRAG_RECT" val="297*0*663*26"/>
</p:tagLst>
</file>

<file path=ppt/tags/tag10.xml><?xml version="1.0" encoding="utf-8"?>
<p:tagLst xmlns:p="http://schemas.openxmlformats.org/presentationml/2006/main">
  <p:tag name="TABLE_ENDDRAG_ORIGIN_RECT" val="663*26"/>
  <p:tag name="TABLE_ENDDRAG_RECT" val="297*0*663*26"/>
</p:tagLst>
</file>

<file path=ppt/tags/tag11.xml><?xml version="1.0" encoding="utf-8"?>
<p:tagLst xmlns:p="http://schemas.openxmlformats.org/presentationml/2006/main">
  <p:tag name="TABLE_ENDDRAG_ORIGIN_RECT" val="663*26"/>
  <p:tag name="TABLE_ENDDRAG_RECT" val="297*0*663*26"/>
</p:tagLst>
</file>

<file path=ppt/tags/tag12.xml><?xml version="1.0" encoding="utf-8"?>
<p:tagLst xmlns:p="http://schemas.openxmlformats.org/presentationml/2006/main">
  <p:tag name="TABLE_ENDDRAG_ORIGIN_RECT" val="663*26"/>
  <p:tag name="TABLE_ENDDRAG_RECT" val="297*0*663*26"/>
</p:tagLst>
</file>

<file path=ppt/tags/tag13.xml><?xml version="1.0" encoding="utf-8"?>
<p:tagLst xmlns:p="http://schemas.openxmlformats.org/presentationml/2006/main">
  <p:tag name="TABLE_ENDDRAG_ORIGIN_RECT" val="663*26"/>
  <p:tag name="TABLE_ENDDRAG_RECT" val="297*0*663*26"/>
</p:tagLst>
</file>

<file path=ppt/tags/tag14.xml><?xml version="1.0" encoding="utf-8"?>
<p:tagLst xmlns:p="http://schemas.openxmlformats.org/presentationml/2006/main">
  <p:tag name="TABLE_ENDDRAG_ORIGIN_RECT" val="470*409"/>
  <p:tag name="TABLE_ENDDRAG_RECT" val="408*67*470*409"/>
</p:tagLst>
</file>

<file path=ppt/tags/tag15.xml><?xml version="1.0" encoding="utf-8"?>
<p:tagLst xmlns:p="http://schemas.openxmlformats.org/presentationml/2006/main">
  <p:tag name="TABLE_ENDDRAG_ORIGIN_RECT" val="663*26"/>
  <p:tag name="TABLE_ENDDRAG_RECT" val="297*0*663*26"/>
</p:tagLst>
</file>

<file path=ppt/tags/tag16.xml><?xml version="1.0" encoding="utf-8"?>
<p:tagLst xmlns:p="http://schemas.openxmlformats.org/presentationml/2006/main">
  <p:tag name="TABLE_ENDDRAG_ORIGIN_RECT" val="594*443"/>
  <p:tag name="TABLE_ENDDRAG_RECT" val="334*74*594*443"/>
</p:tagLst>
</file>

<file path=ppt/tags/tag17.xml><?xml version="1.0" encoding="utf-8"?>
<p:tagLst xmlns:p="http://schemas.openxmlformats.org/presentationml/2006/main">
  <p:tag name="TABLE_ENDDRAG_ORIGIN_RECT" val="663*26"/>
  <p:tag name="TABLE_ENDDRAG_RECT" val="297*0*663*26"/>
</p:tagLst>
</file>

<file path=ppt/tags/tag18.xml><?xml version="1.0" encoding="utf-8"?>
<p:tagLst xmlns:p="http://schemas.openxmlformats.org/presentationml/2006/main">
  <p:tag name="TABLE_ENDDRAG_ORIGIN_RECT" val="663*26"/>
  <p:tag name="TABLE_ENDDRAG_RECT" val="297*0*663*26"/>
</p:tagLst>
</file>

<file path=ppt/tags/tag19.xml><?xml version="1.0" encoding="utf-8"?>
<p:tagLst xmlns:p="http://schemas.openxmlformats.org/presentationml/2006/main">
  <p:tag name="TABLE_ENDDRAG_ORIGIN_RECT" val="663*26"/>
  <p:tag name="TABLE_ENDDRAG_RECT" val="297*0*663*26"/>
</p:tagLst>
</file>

<file path=ppt/tags/tag20.xml><?xml version="1.0" encoding="utf-8"?>
<p:tagLst xmlns:p="http://schemas.openxmlformats.org/presentationml/2006/main">
  <p:tag name="ISPRING_PRESENTATION_TITLE" val="PowerPoint 演示文稿"/>
  <p:tag name="KSO_WM_DOC_GUID" val="{7646b040-3551-49a0-9609-8286eb574aa4}"/>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12697</Words>
  <Application>WPS 文字</Application>
  <PresentationFormat>宽屏</PresentationFormat>
  <Paragraphs>747</Paragraphs>
  <Slides>24</Slides>
  <Notes>14</Notes>
  <HiddenSlides>0</HiddenSlides>
  <MMClips>0</MMClips>
  <ScaleCrop>false</ScaleCrop>
  <HeadingPairs>
    <vt:vector size="6" baseType="variant">
      <vt:variant>
        <vt:lpstr>已用的字体</vt:lpstr>
      </vt:variant>
      <vt:variant>
        <vt:i4>41</vt:i4>
      </vt:variant>
      <vt:variant>
        <vt:lpstr>主题</vt:lpstr>
      </vt:variant>
      <vt:variant>
        <vt:i4>1</vt:i4>
      </vt:variant>
      <vt:variant>
        <vt:lpstr>幻灯片标题</vt:lpstr>
      </vt:variant>
      <vt:variant>
        <vt:i4>24</vt:i4>
      </vt:variant>
    </vt:vector>
  </HeadingPairs>
  <TitlesOfParts>
    <vt:vector size="66" baseType="lpstr">
      <vt:lpstr>Arial</vt:lpstr>
      <vt:lpstr>宋体</vt:lpstr>
      <vt:lpstr>Wingdings</vt:lpstr>
      <vt:lpstr>Brush Script MT</vt:lpstr>
      <vt:lpstr>华文隶书</vt:lpstr>
      <vt:lpstr>报隶-简</vt:lpstr>
      <vt:lpstr>汉仪书宋二KW</vt:lpstr>
      <vt:lpstr>Calibri</vt:lpstr>
      <vt:lpstr>Roboto Light</vt:lpstr>
      <vt:lpstr>思源黑体 CN Light</vt:lpstr>
      <vt:lpstr>汉仪中黑KW</vt:lpstr>
      <vt:lpstr>Impact</vt:lpstr>
      <vt:lpstr>微软雅黑</vt:lpstr>
      <vt:lpstr>汉仪旗黑</vt:lpstr>
      <vt:lpstr>黑体</vt:lpstr>
      <vt:lpstr>Open Sans</vt:lpstr>
      <vt:lpstr>思源黑体 CN Bold</vt:lpstr>
      <vt:lpstr>Arial</vt:lpstr>
      <vt:lpstr>Helvetica Neue</vt:lpstr>
      <vt:lpstr>宋体</vt:lpstr>
      <vt:lpstr>Arial Unicode MS</vt:lpstr>
      <vt:lpstr>Calibri Light</vt:lpstr>
      <vt:lpstr>Thonburi</vt:lpstr>
      <vt:lpstr>Times New Roman Regular</vt:lpstr>
      <vt:lpstr>宋体</vt:lpstr>
      <vt:lpstr>Times New Roman</vt:lpstr>
      <vt:lpstr>苹方-简</vt:lpstr>
      <vt:lpstr>微软雅黑</vt:lpstr>
      <vt:lpstr>黑体</vt:lpstr>
      <vt:lpstr>Times New Roman</vt:lpstr>
      <vt:lpstr>DengXian</vt:lpstr>
      <vt:lpstr>汉仪中等线KW</vt:lpstr>
      <vt:lpstr>DengXian</vt:lpstr>
      <vt:lpstr>Times New Roman Regular</vt:lpstr>
      <vt:lpstr>Wingdings</vt:lpstr>
      <vt:lpstr>思源黑体 CN Light</vt:lpstr>
      <vt:lpstr>黑体</vt:lpstr>
      <vt:lpstr>Times New Roman Italic</vt:lpstr>
      <vt:lpstr>Times New Roman Bold</vt:lpstr>
      <vt:lpstr>Calibri</vt:lpstr>
      <vt:lpstr>Times New Roman Bold Italic</vt:lpstr>
      <vt:lpstr>第一PPT，www.1ppt.com</vt:lpstr>
      <vt:lpstr>PowerPoint 演示文稿</vt:lpstr>
      <vt:lpstr>PowerPoint 演示文稿</vt:lpstr>
      <vt:lpstr>PowerPoint 演示文稿</vt:lpstr>
      <vt:lpstr>1.What are the linguistic factors that might hinder the comprehension of the Goldblatts’ English translation of Yiju Ding Yiwanju?</vt:lpstr>
      <vt:lpstr>1.1 Research Background</vt:lpstr>
      <vt:lpstr>PowerPoint 演示文稿</vt:lpstr>
      <vt:lpstr>PowerPoint 演示文稿</vt:lpstr>
      <vt:lpstr>PowerPoint 演示文稿</vt:lpstr>
      <vt:lpstr>PowerPoint 演示文稿</vt:lpstr>
      <vt:lpstr>PowerPoint 演示文稿</vt:lpstr>
      <vt:lpstr>PowerPoint 演示文稿</vt:lpstr>
      <vt:lpstr>3.2 Working definitions</vt:lpstr>
      <vt:lpstr>1.1 Research Background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粒子点线</dc:title>
  <dc:creator>第一PPT</dc:creator>
  <cp:keywords>www.1ppt.com</cp:keywords>
  <dc:description>www.1ppt.com</dc:description>
  <cp:lastModifiedBy>Si</cp:lastModifiedBy>
  <cp:revision>150</cp:revision>
  <dcterms:created xsi:type="dcterms:W3CDTF">2025-05-21T15:13:42Z</dcterms:created>
  <dcterms:modified xsi:type="dcterms:W3CDTF">2025-05-21T15:13:42Z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2052-6.12.1.8902</vt:lpwstr>
  </property>
  <property fmtid="{D5CDD505-2E9C-101B-9397-08002B2CF9AE}" pid="3" name="ICV">
    <vt:lpwstr>02E59E6D5554F00E42E52D68C5F7C7DE_43</vt:lpwstr>
  </property>
</Properties>
</file>