
<file path=[Content_Types].xml><?xml version="1.0" encoding="utf-8"?>
<Types xmlns="http://schemas.openxmlformats.org/package/2006/content-types">
  <Default Extension="jpeg" ContentType="image/jpeg"/>
  <Default Extension="JPG" ContentType="image/.jpg"/>
  <Default Extension="emf" ContentType="image/x-emf"/>
  <Default Extension="wdp" ContentType="image/vnd.ms-photo"/>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Lst>
  <p:notesMasterIdLst>
    <p:notesMasterId r:id="rId5"/>
  </p:notesMasterIdLst>
  <p:sldIdLst>
    <p:sldId id="256" r:id="rId4"/>
    <p:sldId id="257" r:id="rId6"/>
    <p:sldId id="260" r:id="rId7"/>
    <p:sldId id="293" r:id="rId8"/>
    <p:sldId id="301" r:id="rId9"/>
    <p:sldId id="294" r:id="rId10"/>
    <p:sldId id="309" r:id="rId11"/>
    <p:sldId id="310" r:id="rId12"/>
    <p:sldId id="295" r:id="rId13"/>
    <p:sldId id="296" r:id="rId14"/>
    <p:sldId id="280" r:id="rId15"/>
  </p:sldIdLst>
  <p:sldSz cx="12192000" cy="6858000"/>
  <p:notesSz cx="6858000" cy="9144000"/>
  <p:custDataLst>
    <p:tags r:id="rId19"/>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76" userDrawn="1">
          <p15:clr>
            <a:srgbClr val="A4A3A4"/>
          </p15:clr>
        </p15:guide>
        <p15:guide id="2" pos="392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CC062"/>
    <a:srgbClr val="202020"/>
    <a:srgbClr val="FFEB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239" autoAdjust="0"/>
    <p:restoredTop sz="94660"/>
  </p:normalViewPr>
  <p:slideViewPr>
    <p:cSldViewPr snapToGrid="0" showGuides="1">
      <p:cViewPr varScale="1">
        <p:scale>
          <a:sx n="131" d="100"/>
          <a:sy n="131" d="100"/>
        </p:scale>
        <p:origin x="248" y="176"/>
      </p:cViewPr>
      <p:guideLst>
        <p:guide orient="horz" pos="2176"/>
        <p:guide pos="3920"/>
      </p:guideLst>
    </p:cSldViewPr>
  </p:slideViewPr>
  <p:notesTextViewPr>
    <p:cViewPr>
      <p:scale>
        <a:sx n="1" d="1"/>
        <a:sy n="1" d="1"/>
      </p:scale>
      <p:origin x="0" y="0"/>
    </p:cViewPr>
  </p:notesTextViewPr>
  <p:sorterViewPr>
    <p:cViewPr>
      <p:scale>
        <a:sx n="50" d="100"/>
        <a:sy n="50"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 Type="http://schemas.openxmlformats.org/officeDocument/2006/relationships/theme" Target="theme/theme1.xml"/><Relationship Id="rId19" Type="http://schemas.openxmlformats.org/officeDocument/2006/relationships/tags" Target="tags/tag30.xml"/><Relationship Id="rId18" Type="http://schemas.openxmlformats.org/officeDocument/2006/relationships/tableStyles" Target="tableStyles.xml"/><Relationship Id="rId17" Type="http://schemas.openxmlformats.org/officeDocument/2006/relationships/viewProps" Target="viewProps.xml"/><Relationship Id="rId16" Type="http://schemas.openxmlformats.org/officeDocument/2006/relationships/presProps" Target="presProps.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89F0243-0E4C-45E6-AC08-D9A9C5D42826}"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797F697-5284-4A62-9B07-370CE14EBE5B}"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797F697-5284-4A62-9B07-370CE14EBE5B}"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797F697-5284-4A62-9B07-370CE14EBE5B}"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797F697-5284-4A62-9B07-370CE14EBE5B}"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797F697-5284-4A62-9B07-370CE14EBE5B}"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797F697-5284-4A62-9B07-370CE14EBE5B}"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797F697-5284-4A62-9B07-370CE14EBE5B}"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797F697-5284-4A62-9B07-370CE14EBE5B}"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797F697-5284-4A62-9B07-370CE14EBE5B}"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797F697-5284-4A62-9B07-370CE14EBE5B}"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797F697-5284-4A62-9B07-370CE14EBE5B}"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797F697-5284-4A62-9B07-370CE14EBE5B}"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zh-CN" altLang="en-US"/>
          </a:p>
        </p:txBody>
      </p:sp>
      <p:sp>
        <p:nvSpPr>
          <p:cNvPr id="4" name="日期占位符 3"/>
          <p:cNvSpPr>
            <a:spLocks noGrp="1"/>
          </p:cNvSpPr>
          <p:nvPr>
            <p:ph type="dt" sz="half" idx="10"/>
          </p:nvPr>
        </p:nvSpPr>
        <p:spPr/>
        <p:txBody>
          <a:bodyPr/>
          <a:lstStyle/>
          <a:p>
            <a:fld id="{4E08E231-020E-454B-814C-04386EE4B12D}"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BE349D6-2446-475D-9F9F-B6A9DFEA62F2}"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hasCustomPrompt="1"/>
          </p:nvPr>
        </p:nvSpPr>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4E08E231-020E-454B-814C-04386EE4B12D}"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BE349D6-2446-475D-9F9F-B6A9DFEA62F2}"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endParaRPr lang="zh-CN" altLang="en-US"/>
          </a:p>
        </p:txBody>
      </p:sp>
      <p:sp>
        <p:nvSpPr>
          <p:cNvPr id="4" name="日期占位符 3"/>
          <p:cNvSpPr>
            <a:spLocks noGrp="1"/>
          </p:cNvSpPr>
          <p:nvPr>
            <p:ph type="dt" sz="half" idx="10"/>
          </p:nvPr>
        </p:nvSpPr>
        <p:spPr/>
        <p:txBody>
          <a:bodyPr/>
          <a:lstStyle/>
          <a:p>
            <a:fld id="{4E08E231-020E-454B-814C-04386EE4B12D}"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BE349D6-2446-475D-9F9F-B6A9DFEA62F2}"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4E08E231-020E-454B-814C-04386EE4B12D}"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BE349D6-2446-475D-9F9F-B6A9DFEA62F2}"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4E08E231-020E-454B-814C-04386EE4B12D}"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BE349D6-2446-475D-9F9F-B6A9DFEA62F2}"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4E08E231-020E-454B-814C-04386EE4B12D}"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BE349D6-2446-475D-9F9F-B6A9DFEA62F2}"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4E08E231-020E-454B-814C-04386EE4B12D}"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4BE349D6-2446-475D-9F9F-B6A9DFEA62F2}"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4E08E231-020E-454B-814C-04386EE4B12D}"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BE349D6-2446-475D-9F9F-B6A9DFEA62F2}"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4E08E231-020E-454B-814C-04386EE4B12D}"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BE349D6-2446-475D-9F9F-B6A9DFEA62F2}"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4E08E231-020E-454B-814C-04386EE4B12D}"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BE349D6-2446-475D-9F9F-B6A9DFEA62F2}"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4E08E231-020E-454B-814C-04386EE4B12D}"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BE349D6-2446-475D-9F9F-B6A9DFEA62F2}"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zh-CN" altLang="en-US"/>
          </a:p>
        </p:txBody>
      </p:sp>
      <p:sp>
        <p:nvSpPr>
          <p:cNvPr id="4" name="日期占位符 3"/>
          <p:cNvSpPr>
            <a:spLocks noGrp="1"/>
          </p:cNvSpPr>
          <p:nvPr>
            <p:ph type="dt" sz="half" idx="10"/>
          </p:nvPr>
        </p:nvSpPr>
        <p:spPr/>
        <p:txBody>
          <a:bodyPr/>
          <a:lstStyle/>
          <a:p>
            <a:fld id="{4E08E231-020E-454B-814C-04386EE4B12D}"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BE349D6-2446-475D-9F9F-B6A9DFEA62F2}" type="slidenum">
              <a:rPr lang="zh-CN" altLang="en-US" smtClean="0"/>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hasCustomPrompt="1"/>
          </p:nvPr>
        </p:nvSpPr>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4E08E231-020E-454B-814C-04386EE4B12D}"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BE349D6-2446-475D-9F9F-B6A9DFEA62F2}" type="slidenum">
              <a:rPr lang="zh-CN" altLang="en-US" smtClean="0"/>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endParaRPr lang="zh-CN" altLang="en-US"/>
          </a:p>
        </p:txBody>
      </p:sp>
      <p:sp>
        <p:nvSpPr>
          <p:cNvPr id="4" name="日期占位符 3"/>
          <p:cNvSpPr>
            <a:spLocks noGrp="1"/>
          </p:cNvSpPr>
          <p:nvPr>
            <p:ph type="dt" sz="half" idx="10"/>
          </p:nvPr>
        </p:nvSpPr>
        <p:spPr/>
        <p:txBody>
          <a:bodyPr/>
          <a:lstStyle/>
          <a:p>
            <a:fld id="{4E08E231-020E-454B-814C-04386EE4B12D}"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BE349D6-2446-475D-9F9F-B6A9DFEA62F2}" type="slidenum">
              <a:rPr lang="zh-CN" altLang="en-US" smtClean="0"/>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4E08E231-020E-454B-814C-04386EE4B12D}"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BE349D6-2446-475D-9F9F-B6A9DFEA62F2}" type="slidenum">
              <a:rPr lang="zh-CN" altLang="en-US" smtClean="0"/>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4E08E231-020E-454B-814C-04386EE4B12D}"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BE349D6-2446-475D-9F9F-B6A9DFEA62F2}" type="slidenum">
              <a:rPr lang="zh-CN" altLang="en-US" smtClean="0"/>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4E08E231-020E-454B-814C-04386EE4B12D}"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BE349D6-2446-475D-9F9F-B6A9DFEA62F2}" type="slidenum">
              <a:rPr lang="zh-CN" altLang="en-US" smtClean="0"/>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4E08E231-020E-454B-814C-04386EE4B12D}"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4BE349D6-2446-475D-9F9F-B6A9DFEA62F2}" type="slidenum">
              <a:rPr lang="zh-CN" altLang="en-US" smtClean="0"/>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4E08E231-020E-454B-814C-04386EE4B12D}"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BE349D6-2446-475D-9F9F-B6A9DFEA62F2}" type="slidenum">
              <a:rPr lang="zh-CN" altLang="en-US" smtClean="0"/>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4E08E231-020E-454B-814C-04386EE4B12D}"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BE349D6-2446-475D-9F9F-B6A9DFEA62F2}" type="slidenum">
              <a:rPr lang="zh-CN" altLang="en-US" smtClean="0"/>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4E08E231-020E-454B-814C-04386EE4B12D}"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BE349D6-2446-475D-9F9F-B6A9DFEA62F2}" type="slidenum">
              <a:rPr lang="zh-CN" altLang="en-US" smtClean="0"/>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4E08E231-020E-454B-814C-04386EE4B12D}"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BE349D6-2446-475D-9F9F-B6A9DFEA62F2}"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2" Type="http://schemas.openxmlformats.org/officeDocument/2006/relationships/theme" Target="../theme/theme2.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E08E231-020E-454B-814C-04386EE4B12D}"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BE349D6-2446-475D-9F9F-B6A9DFEA62F2}" type="slidenum">
              <a:rPr lang="zh-CN" altLang="en-US" smtClean="0"/>
            </a:fld>
            <a:endParaRPr lang="zh-CN" altLang="en-US"/>
          </a:p>
        </p:txBody>
      </p:sp>
      <p:grpSp>
        <p:nvGrpSpPr>
          <p:cNvPr id="7" name="组合 6"/>
          <p:cNvGrpSpPr/>
          <p:nvPr userDrawn="1"/>
        </p:nvGrpSpPr>
        <p:grpSpPr>
          <a:xfrm>
            <a:off x="0" y="0"/>
            <a:ext cx="12192000" cy="6858000"/>
            <a:chOff x="0" y="0"/>
            <a:chExt cx="12192000" cy="6858000"/>
          </a:xfrm>
        </p:grpSpPr>
        <p:sp>
          <p:nvSpPr>
            <p:cNvPr id="8" name="矩形 7"/>
            <p:cNvSpPr/>
            <p:nvPr/>
          </p:nvSpPr>
          <p:spPr>
            <a:xfrm>
              <a:off x="0" y="0"/>
              <a:ext cx="12192000" cy="6858000"/>
            </a:xfrm>
            <a:prstGeom prst="rect">
              <a:avLst/>
            </a:prstGeom>
            <a:solidFill>
              <a:srgbClr val="FFEB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247650" y="266578"/>
              <a:ext cx="11696700" cy="63248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E08E231-020E-454B-814C-04386EE4B12D}"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BE349D6-2446-475D-9F9F-B6A9DFEA62F2}" type="slidenum">
              <a:rPr lang="zh-CN" altLang="en-US" smtClean="0"/>
            </a:fld>
            <a:endParaRPr lang="zh-CN" altLang="en-US"/>
          </a:p>
        </p:txBody>
      </p:sp>
      <p:grpSp>
        <p:nvGrpSpPr>
          <p:cNvPr id="7" name="组合 6"/>
          <p:cNvGrpSpPr/>
          <p:nvPr userDrawn="1"/>
        </p:nvGrpSpPr>
        <p:grpSpPr>
          <a:xfrm>
            <a:off x="0" y="0"/>
            <a:ext cx="12192000" cy="6858000"/>
            <a:chOff x="0" y="0"/>
            <a:chExt cx="12192000" cy="6858000"/>
          </a:xfrm>
        </p:grpSpPr>
        <p:sp>
          <p:nvSpPr>
            <p:cNvPr id="8" name="矩形 7"/>
            <p:cNvSpPr/>
            <p:nvPr/>
          </p:nvSpPr>
          <p:spPr>
            <a:xfrm>
              <a:off x="0" y="0"/>
              <a:ext cx="12192000" cy="6858000"/>
            </a:xfrm>
            <a:prstGeom prst="rect">
              <a:avLst/>
            </a:prstGeom>
            <a:solidFill>
              <a:srgbClr val="FFEB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247650" y="266578"/>
              <a:ext cx="11696700" cy="63248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image" Target="../media/image2.emf"/><Relationship Id="rId1" Type="http://schemas.openxmlformats.org/officeDocument/2006/relationships/image" Target="../media/image1.emf"/></Relationships>
</file>

<file path=ppt/slides/_rels/slide2.xml.rels><?xml version="1.0" encoding="UTF-8" standalone="yes"?>
<Relationships xmlns="http://schemas.openxmlformats.org/package/2006/relationships"><Relationship Id="rId9" Type="http://schemas.openxmlformats.org/officeDocument/2006/relationships/image" Target="../media/image9.png"/><Relationship Id="rId8" Type="http://schemas.openxmlformats.org/officeDocument/2006/relationships/image" Target="../media/image8.emf"/><Relationship Id="rId7" Type="http://schemas.openxmlformats.org/officeDocument/2006/relationships/image" Target="../media/image7.emf"/><Relationship Id="rId6" Type="http://schemas.openxmlformats.org/officeDocument/2006/relationships/image" Target="../media/image2.emf"/><Relationship Id="rId5" Type="http://schemas.openxmlformats.org/officeDocument/2006/relationships/image" Target="../media/image1.emf"/><Relationship Id="rId4" Type="http://schemas.openxmlformats.org/officeDocument/2006/relationships/image" Target="../media/image6.emf"/><Relationship Id="rId3" Type="http://schemas.openxmlformats.org/officeDocument/2006/relationships/image" Target="../media/image5.emf"/><Relationship Id="rId23" Type="http://schemas.openxmlformats.org/officeDocument/2006/relationships/notesSlide" Target="../notesSlides/notesSlide2.xml"/><Relationship Id="rId22" Type="http://schemas.openxmlformats.org/officeDocument/2006/relationships/slideLayout" Target="../slideLayouts/slideLayout2.xml"/><Relationship Id="rId21" Type="http://schemas.openxmlformats.org/officeDocument/2006/relationships/tags" Target="../tags/tag11.xml"/><Relationship Id="rId20" Type="http://schemas.openxmlformats.org/officeDocument/2006/relationships/tags" Target="../tags/tag10.xml"/><Relationship Id="rId2" Type="http://schemas.openxmlformats.org/officeDocument/2006/relationships/image" Target="../media/image4.emf"/><Relationship Id="rId19" Type="http://schemas.openxmlformats.org/officeDocument/2006/relationships/tags" Target="../tags/tag9.xml"/><Relationship Id="rId18" Type="http://schemas.openxmlformats.org/officeDocument/2006/relationships/tags" Target="../tags/tag8.xml"/><Relationship Id="rId17" Type="http://schemas.openxmlformats.org/officeDocument/2006/relationships/tags" Target="../tags/tag7.xml"/><Relationship Id="rId16" Type="http://schemas.openxmlformats.org/officeDocument/2006/relationships/tags" Target="../tags/tag6.xml"/><Relationship Id="rId15" Type="http://schemas.openxmlformats.org/officeDocument/2006/relationships/tags" Target="../tags/tag5.xml"/><Relationship Id="rId14" Type="http://schemas.openxmlformats.org/officeDocument/2006/relationships/tags" Target="../tags/tag4.xml"/><Relationship Id="rId13" Type="http://schemas.openxmlformats.org/officeDocument/2006/relationships/tags" Target="../tags/tag3.xml"/><Relationship Id="rId12" Type="http://schemas.openxmlformats.org/officeDocument/2006/relationships/tags" Target="../tags/tag2.xml"/><Relationship Id="rId11" Type="http://schemas.openxmlformats.org/officeDocument/2006/relationships/tags" Target="../tags/tag1.xml"/><Relationship Id="rId10" Type="http://schemas.microsoft.com/office/2007/relationships/hdphoto" Target="../media/image10.wdp"/><Relationship Id="rId1" Type="http://schemas.openxmlformats.org/officeDocument/2006/relationships/image" Target="../media/image3.emf"/></Relationships>
</file>

<file path=ppt/slides/_rels/slide3.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tags" Target="../tags/tag18.xml"/><Relationship Id="rId7" Type="http://schemas.openxmlformats.org/officeDocument/2006/relationships/tags" Target="../tags/tag17.xml"/><Relationship Id="rId6" Type="http://schemas.openxmlformats.org/officeDocument/2006/relationships/tags" Target="../tags/tag16.xml"/><Relationship Id="rId5" Type="http://schemas.openxmlformats.org/officeDocument/2006/relationships/tags" Target="../tags/tag15.xml"/><Relationship Id="rId4" Type="http://schemas.openxmlformats.org/officeDocument/2006/relationships/tags" Target="../tags/tag14.xml"/><Relationship Id="rId3" Type="http://schemas.openxmlformats.org/officeDocument/2006/relationships/tags" Target="../tags/tag13.xml"/><Relationship Id="rId2" Type="http://schemas.openxmlformats.org/officeDocument/2006/relationships/tags" Target="../tags/tag12.xml"/><Relationship Id="rId10" Type="http://schemas.openxmlformats.org/officeDocument/2006/relationships/notesSlide" Target="../notesSlides/notesSlide3.xml"/><Relationship Id="rId1" Type="http://schemas.openxmlformats.org/officeDocument/2006/relationships/image" Target="../media/image6.emf"/></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13.xml"/><Relationship Id="rId2" Type="http://schemas.openxmlformats.org/officeDocument/2006/relationships/tags" Target="../tags/tag19.xml"/><Relationship Id="rId1" Type="http://schemas.openxmlformats.org/officeDocument/2006/relationships/image" Target="../media/image6.emf"/></Relationships>
</file>

<file path=ppt/slides/_rels/slide5.xml.rels><?xml version="1.0" encoding="UTF-8" standalone="yes"?>
<Relationships xmlns="http://schemas.openxmlformats.org/package/2006/relationships"><Relationship Id="rId5" Type="http://schemas.openxmlformats.org/officeDocument/2006/relationships/notesSlide" Target="../notesSlides/notesSlide5.xml"/><Relationship Id="rId4" Type="http://schemas.openxmlformats.org/officeDocument/2006/relationships/slideLayout" Target="../slideLayouts/slideLayout13.xml"/><Relationship Id="rId3" Type="http://schemas.openxmlformats.org/officeDocument/2006/relationships/tags" Target="../tags/tag21.xml"/><Relationship Id="rId2" Type="http://schemas.openxmlformats.org/officeDocument/2006/relationships/tags" Target="../tags/tag20.xml"/><Relationship Id="rId1" Type="http://schemas.openxmlformats.org/officeDocument/2006/relationships/image" Target="../media/image6.emf"/></Relationships>
</file>

<file path=ppt/slides/_rels/slide6.xml.rels><?xml version="1.0" encoding="UTF-8" standalone="yes"?>
<Relationships xmlns="http://schemas.openxmlformats.org/package/2006/relationships"><Relationship Id="rId7" Type="http://schemas.openxmlformats.org/officeDocument/2006/relationships/notesSlide" Target="../notesSlides/notesSlide6.xml"/><Relationship Id="rId6" Type="http://schemas.openxmlformats.org/officeDocument/2006/relationships/slideLayout" Target="../slideLayouts/slideLayout13.xml"/><Relationship Id="rId5" Type="http://schemas.openxmlformats.org/officeDocument/2006/relationships/image" Target="../media/image11.png"/><Relationship Id="rId4" Type="http://schemas.openxmlformats.org/officeDocument/2006/relationships/tags" Target="../tags/tag24.xml"/><Relationship Id="rId3" Type="http://schemas.openxmlformats.org/officeDocument/2006/relationships/image" Target="../media/image6.emf"/><Relationship Id="rId2" Type="http://schemas.openxmlformats.org/officeDocument/2006/relationships/tags" Target="../tags/tag23.xml"/><Relationship Id="rId1" Type="http://schemas.openxmlformats.org/officeDocument/2006/relationships/tags" Target="../tags/tag22.xml"/></Relationships>
</file>

<file path=ppt/slides/_rels/slide7.xml.rels><?xml version="1.0" encoding="UTF-8" standalone="yes"?>
<Relationships xmlns="http://schemas.openxmlformats.org/package/2006/relationships"><Relationship Id="rId7" Type="http://schemas.openxmlformats.org/officeDocument/2006/relationships/notesSlide" Target="../notesSlides/notesSlide7.xml"/><Relationship Id="rId6" Type="http://schemas.openxmlformats.org/officeDocument/2006/relationships/slideLayout" Target="../slideLayouts/slideLayout2.xml"/><Relationship Id="rId5" Type="http://schemas.openxmlformats.org/officeDocument/2006/relationships/tags" Target="../tags/tag27.xml"/><Relationship Id="rId4" Type="http://schemas.openxmlformats.org/officeDocument/2006/relationships/image" Target="../media/image12.png"/><Relationship Id="rId3" Type="http://schemas.openxmlformats.org/officeDocument/2006/relationships/tags" Target="../tags/tag26.xml"/><Relationship Id="rId2" Type="http://schemas.openxmlformats.org/officeDocument/2006/relationships/tags" Target="../tags/tag25.xml"/><Relationship Id="rId1" Type="http://schemas.openxmlformats.org/officeDocument/2006/relationships/image" Target="../media/image6.emf"/></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2.xml"/><Relationship Id="rId2" Type="http://schemas.openxmlformats.org/officeDocument/2006/relationships/tags" Target="../tags/tag28.xml"/><Relationship Id="rId1" Type="http://schemas.openxmlformats.org/officeDocument/2006/relationships/image" Target="../media/image6.emf"/></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13.xml"/><Relationship Id="rId2" Type="http://schemas.openxmlformats.org/officeDocument/2006/relationships/tags" Target="../tags/tag29.xml"/><Relationship Id="rId1" Type="http://schemas.openxmlformats.org/officeDocument/2006/relationships/image" Target="../media/image6.emf"/></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3.xml"/><Relationship Id="rId1" Type="http://schemas.openxmlformats.org/officeDocument/2006/relationships/image" Target="../media/image6.emf"/></Relationships>
</file>

<file path=ppt/slides/_rels/slide11.xml.rels><?xml version="1.0" encoding="UTF-8" standalone="yes"?>
<Relationships xmlns="http://schemas.openxmlformats.org/package/2006/relationships"><Relationship Id="rId9" Type="http://schemas.openxmlformats.org/officeDocument/2006/relationships/image" Target="../media/image19.emf"/><Relationship Id="rId8" Type="http://schemas.openxmlformats.org/officeDocument/2006/relationships/image" Target="../media/image2.emf"/><Relationship Id="rId7" Type="http://schemas.openxmlformats.org/officeDocument/2006/relationships/image" Target="../media/image1.emf"/><Relationship Id="rId6" Type="http://schemas.openxmlformats.org/officeDocument/2006/relationships/image" Target="../media/image18.emf"/><Relationship Id="rId5" Type="http://schemas.openxmlformats.org/officeDocument/2006/relationships/image" Target="../media/image17.emf"/><Relationship Id="rId4" Type="http://schemas.openxmlformats.org/officeDocument/2006/relationships/image" Target="../media/image16.emf"/><Relationship Id="rId3" Type="http://schemas.openxmlformats.org/officeDocument/2006/relationships/image" Target="../media/image15.emf"/><Relationship Id="rId2" Type="http://schemas.openxmlformats.org/officeDocument/2006/relationships/image" Target="../media/image14.emf"/><Relationship Id="rId11" Type="http://schemas.openxmlformats.org/officeDocument/2006/relationships/notesSlide" Target="../notesSlides/notesSlide11.xml"/><Relationship Id="rId10" Type="http://schemas.openxmlformats.org/officeDocument/2006/relationships/slideLayout" Target="../slideLayouts/slideLayout1.xml"/><Relationship Id="rId1" Type="http://schemas.openxmlformats.org/officeDocument/2006/relationships/image" Target="../media/image13.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图片 16"/>
          <p:cNvPicPr>
            <a:picLocks noChangeAspect="1"/>
          </p:cNvPicPr>
          <p:nvPr/>
        </p:nvPicPr>
        <p:blipFill>
          <a:blip r:embed="rId1"/>
          <a:stretch>
            <a:fillRect/>
          </a:stretch>
        </p:blipFill>
        <p:spPr>
          <a:xfrm rot="20894233">
            <a:off x="4730029" y="1234932"/>
            <a:ext cx="2604071" cy="1295719"/>
          </a:xfrm>
          <a:prstGeom prst="rect">
            <a:avLst/>
          </a:prstGeom>
        </p:spPr>
      </p:pic>
      <p:pic>
        <p:nvPicPr>
          <p:cNvPr id="18" name="图片 17"/>
          <p:cNvPicPr>
            <a:picLocks noChangeAspect="1"/>
          </p:cNvPicPr>
          <p:nvPr/>
        </p:nvPicPr>
        <p:blipFill>
          <a:blip r:embed="rId2"/>
          <a:stretch>
            <a:fillRect/>
          </a:stretch>
        </p:blipFill>
        <p:spPr>
          <a:xfrm>
            <a:off x="4682188" y="4266826"/>
            <a:ext cx="2756504" cy="1117875"/>
          </a:xfrm>
          <a:prstGeom prst="rect">
            <a:avLst/>
          </a:prstGeom>
        </p:spPr>
      </p:pic>
      <p:sp>
        <p:nvSpPr>
          <p:cNvPr id="26" name="文本框 25"/>
          <p:cNvSpPr txBox="1"/>
          <p:nvPr/>
        </p:nvSpPr>
        <p:spPr>
          <a:xfrm>
            <a:off x="1406355" y="2299040"/>
            <a:ext cx="9242595" cy="2061210"/>
          </a:xfrm>
          <a:prstGeom prst="rect">
            <a:avLst/>
          </a:prstGeom>
          <a:noFill/>
        </p:spPr>
        <p:txBody>
          <a:bodyPr wrap="square" rtlCol="0">
            <a:spAutoFit/>
          </a:bodyPr>
          <a:lstStyle/>
          <a:p>
            <a:pPr algn="ctr"/>
            <a:r>
              <a:rPr lang="zh-CN" altLang="en-US" sz="3200" b="1" dirty="0">
                <a:latin typeface="黑体" charset="0"/>
                <a:ea typeface="黑体" charset="0"/>
                <a:cs typeface="Times New Roman" panose="02020503050405090304" pitchFamily="18" charset="0"/>
                <a:sym typeface="HYXiaRiTiW" panose="00020600040101010101" pitchFamily="18" charset="-122"/>
              </a:rPr>
              <a:t>画译视角下霍克思《红楼梦》英译本研究</a:t>
            </a:r>
            <a:endParaRPr lang="zh-CN" altLang="en-US" sz="3200" b="1" dirty="0">
              <a:latin typeface="黑体" charset="0"/>
              <a:ea typeface="黑体" charset="0"/>
              <a:cs typeface="Times New Roman" panose="02020503050405090304" pitchFamily="18" charset="0"/>
              <a:sym typeface="HYXiaRiTiW" panose="00020600040101010101" pitchFamily="18" charset="-122"/>
            </a:endParaRPr>
          </a:p>
          <a:p>
            <a:pPr algn="ctr"/>
            <a:r>
              <a:rPr kumimoji="1" lang="en-US" altLang="zh-CN" sz="3200" b="1" dirty="0">
                <a:latin typeface="Arial Bold" panose="020B0604020202090204" charset="0"/>
                <a:ea typeface="黑体" charset="0"/>
                <a:cs typeface="Arial Bold" panose="020B0604020202090204" charset="0"/>
                <a:sym typeface="HYXiaRiTiW" panose="00020600040101010101" pitchFamily="18" charset="-122"/>
              </a:rPr>
              <a:t>A Study on Hawkes’ Translation of </a:t>
            </a:r>
            <a:r>
              <a:rPr kumimoji="1" lang="en-US" altLang="zh-CN" sz="3200" b="1" i="1" dirty="0">
                <a:latin typeface="Arial Bold Italic" panose="020B0604020202090204" charset="0"/>
                <a:ea typeface="黑体" charset="0"/>
                <a:cs typeface="Arial Bold Italic" panose="020B0604020202090204" charset="0"/>
                <a:sym typeface="HYXiaRiTiW" panose="00020600040101010101" pitchFamily="18" charset="-122"/>
              </a:rPr>
              <a:t>Hongloumeng</a:t>
            </a:r>
            <a:r>
              <a:rPr kumimoji="1" lang="en-US" altLang="zh-CN" sz="3200" b="1" dirty="0">
                <a:latin typeface="Arial Bold" panose="020B0604020202090204" charset="0"/>
                <a:ea typeface="黑体" charset="0"/>
                <a:cs typeface="Arial Bold" panose="020B0604020202090204" charset="0"/>
                <a:sym typeface="HYXiaRiTiW" panose="00020600040101010101" pitchFamily="18" charset="-122"/>
              </a:rPr>
              <a:t> from the Perspective of Painting-Based Translation </a:t>
            </a:r>
            <a:endParaRPr kumimoji="1" lang="en-US" altLang="zh-CN" sz="3200" b="1" dirty="0">
              <a:latin typeface="Arial Bold" panose="020B0604020202090204" charset="0"/>
              <a:ea typeface="黑体" charset="0"/>
              <a:cs typeface="Arial Bold" panose="020B0604020202090204" charset="0"/>
              <a:sym typeface="HYXiaRiTiW" panose="00020600040101010101" pitchFamily="18" charset="-122"/>
            </a:endParaRPr>
          </a:p>
        </p:txBody>
      </p:sp>
      <p:sp>
        <p:nvSpPr>
          <p:cNvPr id="19" name="文本框 18"/>
          <p:cNvSpPr txBox="1"/>
          <p:nvPr/>
        </p:nvSpPr>
        <p:spPr>
          <a:xfrm>
            <a:off x="4216189" y="3108734"/>
            <a:ext cx="2491376" cy="1738626"/>
          </a:xfrm>
          <a:prstGeom prst="rect">
            <a:avLst/>
          </a:prstGeom>
          <a:noFill/>
        </p:spPr>
        <p:txBody>
          <a:bodyPr wrap="square" rtlCol="0">
            <a:prstTxWarp prst="textArchDown">
              <a:avLst>
                <a:gd name="adj" fmla="val 20658267"/>
              </a:avLst>
            </a:prstTxWarp>
            <a:spAutoFit/>
          </a:bodyPr>
          <a:lstStyle/>
          <a:p>
            <a:pPr algn="ctr"/>
            <a:r>
              <a:rPr lang="en-US" altLang="zh-CN" sz="4000" dirty="0">
                <a:latin typeface="汉仪夏日体W" panose="00020600040101010101" pitchFamily="18" charset="-122"/>
                <a:ea typeface="汉仪夏日体W" panose="00020600040101010101" pitchFamily="18" charset="-122"/>
                <a:cs typeface="YF补 汉仪夏日体+黑白emoji" panose="020B0604000101010104" pitchFamily="34" charset="-128"/>
                <a:sym typeface="HYXiaRiTiW" panose="00020600040101010101" pitchFamily="18" charset="-122"/>
              </a:rPr>
              <a:t> </a:t>
            </a:r>
            <a:endParaRPr lang="zh-CN" altLang="en-US" sz="4000" dirty="0">
              <a:latin typeface="汉仪夏日体W" panose="00020600040101010101" pitchFamily="18" charset="-122"/>
              <a:ea typeface="汉仪夏日体W" panose="00020600040101010101" pitchFamily="18" charset="-122"/>
              <a:cs typeface="YF补 汉仪夏日体+黑白emoji" panose="020B0604000101010104" pitchFamily="34" charset="-128"/>
              <a:sym typeface="HYXiaRiTiW" panose="00020600040101010101" pitchFamily="18" charset="-122"/>
            </a:endParaRPr>
          </a:p>
        </p:txBody>
      </p:sp>
      <p:sp>
        <p:nvSpPr>
          <p:cNvPr id="3" name="文本框 2"/>
          <p:cNvSpPr txBox="1"/>
          <p:nvPr/>
        </p:nvSpPr>
        <p:spPr>
          <a:xfrm>
            <a:off x="4370705" y="5530850"/>
            <a:ext cx="3837940" cy="968375"/>
          </a:xfrm>
          <a:prstGeom prst="rect">
            <a:avLst/>
          </a:prstGeom>
          <a:noFill/>
        </p:spPr>
        <p:txBody>
          <a:bodyPr wrap="square" rtlCol="0">
            <a:noAutofit/>
          </a:bodyPr>
          <a:lstStyle/>
          <a:p>
            <a:pPr lvl="1"/>
            <a:r>
              <a:rPr kumimoji="1" lang="en-US" altLang="zh-CN" sz="2800" b="1" dirty="0">
                <a:latin typeface="Arial Bold" panose="020B0604020202090204" charset="0"/>
                <a:ea typeface="黑体" charset="0"/>
                <a:cs typeface="Arial Bold" panose="020B0604020202090204" charset="0"/>
              </a:rPr>
              <a:t>Presenter:</a:t>
            </a:r>
            <a:r>
              <a:rPr kumimoji="1" lang="en-US" altLang="zh-CN" sz="2800" b="1" dirty="0">
                <a:latin typeface="黑体" charset="0"/>
                <a:ea typeface="黑体" charset="0"/>
                <a:cs typeface="黑体" charset="0"/>
              </a:rPr>
              <a:t> </a:t>
            </a:r>
            <a:r>
              <a:rPr kumimoji="1" lang="zh-CN" altLang="en-US" sz="2800" b="1" dirty="0">
                <a:latin typeface="黑体" charset="0"/>
                <a:ea typeface="黑体" charset="0"/>
                <a:cs typeface="黑体" charset="0"/>
              </a:rPr>
              <a:t>单卉婷</a:t>
            </a:r>
            <a:endParaRPr kumimoji="1" lang="zh-CN" altLang="en-US" sz="2800" b="1" dirty="0">
              <a:latin typeface="黑体" charset="0"/>
              <a:ea typeface="黑体" charset="0"/>
              <a:cs typeface="黑体"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rotWithShape="1">
          <a:blip r:embed="rId1"/>
          <a:srcRect t="27347" r="25607" b="-3169"/>
          <a:stretch>
            <a:fillRect/>
          </a:stretch>
        </p:blipFill>
        <p:spPr>
          <a:xfrm>
            <a:off x="10740383" y="259322"/>
            <a:ext cx="1200150" cy="1531461"/>
          </a:xfrm>
          <a:prstGeom prst="rect">
            <a:avLst/>
          </a:prstGeom>
        </p:spPr>
      </p:pic>
      <p:pic>
        <p:nvPicPr>
          <p:cNvPr id="10" name="图片 9"/>
          <p:cNvPicPr>
            <a:picLocks noChangeAspect="1"/>
          </p:cNvPicPr>
          <p:nvPr/>
        </p:nvPicPr>
        <p:blipFill rotWithShape="1">
          <a:blip r:embed="rId2"/>
          <a:srcRect l="46256" t="-41660" r="-22977" b="41660"/>
          <a:stretch>
            <a:fillRect/>
          </a:stretch>
        </p:blipFill>
        <p:spPr>
          <a:xfrm>
            <a:off x="241081" y="4832943"/>
            <a:ext cx="1305930" cy="1765735"/>
          </a:xfrm>
          <a:prstGeom prst="rect">
            <a:avLst/>
          </a:prstGeom>
        </p:spPr>
      </p:pic>
      <p:pic>
        <p:nvPicPr>
          <p:cNvPr id="12" name="图片 11"/>
          <p:cNvPicPr>
            <a:picLocks noChangeAspect="1"/>
          </p:cNvPicPr>
          <p:nvPr/>
        </p:nvPicPr>
        <p:blipFill rotWithShape="1">
          <a:blip r:embed="rId3"/>
          <a:srcRect t="30593"/>
          <a:stretch>
            <a:fillRect/>
          </a:stretch>
        </p:blipFill>
        <p:spPr>
          <a:xfrm>
            <a:off x="241081" y="260491"/>
            <a:ext cx="1689470" cy="1119739"/>
          </a:xfrm>
          <a:prstGeom prst="rect">
            <a:avLst/>
          </a:prstGeom>
        </p:spPr>
      </p:pic>
      <p:pic>
        <p:nvPicPr>
          <p:cNvPr id="16" name="图片 15"/>
          <p:cNvPicPr>
            <a:picLocks noChangeAspect="1"/>
          </p:cNvPicPr>
          <p:nvPr/>
        </p:nvPicPr>
        <p:blipFill>
          <a:blip r:embed="rId4"/>
          <a:stretch>
            <a:fillRect/>
          </a:stretch>
        </p:blipFill>
        <p:spPr>
          <a:xfrm>
            <a:off x="485603" y="2676898"/>
            <a:ext cx="1422712" cy="1181391"/>
          </a:xfrm>
          <a:prstGeom prst="rect">
            <a:avLst/>
          </a:prstGeom>
        </p:spPr>
      </p:pic>
      <p:pic>
        <p:nvPicPr>
          <p:cNvPr id="20" name="图片 19"/>
          <p:cNvPicPr>
            <a:picLocks noChangeAspect="1"/>
          </p:cNvPicPr>
          <p:nvPr/>
        </p:nvPicPr>
        <p:blipFill>
          <a:blip r:embed="rId5"/>
          <a:stretch>
            <a:fillRect/>
          </a:stretch>
        </p:blipFill>
        <p:spPr>
          <a:xfrm rot="21113510">
            <a:off x="1567750" y="1825451"/>
            <a:ext cx="2604071" cy="1295719"/>
          </a:xfrm>
          <a:prstGeom prst="rect">
            <a:avLst/>
          </a:prstGeom>
        </p:spPr>
      </p:pic>
      <p:pic>
        <p:nvPicPr>
          <p:cNvPr id="21" name="图片 20"/>
          <p:cNvPicPr>
            <a:picLocks noChangeAspect="1"/>
          </p:cNvPicPr>
          <p:nvPr/>
        </p:nvPicPr>
        <p:blipFill>
          <a:blip r:embed="rId6"/>
          <a:stretch>
            <a:fillRect/>
          </a:stretch>
        </p:blipFill>
        <p:spPr>
          <a:xfrm>
            <a:off x="1493678" y="3920430"/>
            <a:ext cx="2756504" cy="1117875"/>
          </a:xfrm>
          <a:prstGeom prst="rect">
            <a:avLst/>
          </a:prstGeom>
        </p:spPr>
      </p:pic>
      <p:grpSp>
        <p:nvGrpSpPr>
          <p:cNvPr id="23" name="组合 22"/>
          <p:cNvGrpSpPr/>
          <p:nvPr/>
        </p:nvGrpSpPr>
        <p:grpSpPr>
          <a:xfrm>
            <a:off x="10230836" y="4629150"/>
            <a:ext cx="1715737" cy="1962272"/>
            <a:chOff x="8194080" y="3408873"/>
            <a:chExt cx="2724693" cy="3182549"/>
          </a:xfrm>
        </p:grpSpPr>
        <p:pic>
          <p:nvPicPr>
            <p:cNvPr id="18" name="图片 17"/>
            <p:cNvPicPr>
              <a:picLocks noChangeAspect="1"/>
            </p:cNvPicPr>
            <p:nvPr/>
          </p:nvPicPr>
          <p:blipFill rotWithShape="1">
            <a:blip r:embed="rId7"/>
            <a:srcRect b="19213"/>
            <a:stretch>
              <a:fillRect/>
            </a:stretch>
          </p:blipFill>
          <p:spPr>
            <a:xfrm>
              <a:off x="8194080" y="4487627"/>
              <a:ext cx="2477043" cy="2103795"/>
            </a:xfrm>
            <a:prstGeom prst="rect">
              <a:avLst/>
            </a:prstGeom>
          </p:spPr>
        </p:pic>
        <p:pic>
          <p:nvPicPr>
            <p:cNvPr id="17" name="图片 16"/>
            <p:cNvPicPr>
              <a:picLocks noChangeAspect="1"/>
            </p:cNvPicPr>
            <p:nvPr/>
          </p:nvPicPr>
          <p:blipFill>
            <a:blip r:embed="rId8"/>
            <a:stretch>
              <a:fillRect/>
            </a:stretch>
          </p:blipFill>
          <p:spPr>
            <a:xfrm>
              <a:off x="9445250" y="3408873"/>
              <a:ext cx="1473523" cy="1473563"/>
            </a:xfrm>
            <a:prstGeom prst="rect">
              <a:avLst/>
            </a:prstGeom>
          </p:spPr>
        </p:pic>
      </p:grpSp>
      <p:sp>
        <p:nvSpPr>
          <p:cNvPr id="24" name="文本框 23"/>
          <p:cNvSpPr txBox="1"/>
          <p:nvPr/>
        </p:nvSpPr>
        <p:spPr>
          <a:xfrm>
            <a:off x="1885825" y="2383020"/>
            <a:ext cx="3353629" cy="1531188"/>
          </a:xfrm>
          <a:prstGeom prst="rect">
            <a:avLst/>
          </a:prstGeom>
          <a:noFill/>
        </p:spPr>
        <p:txBody>
          <a:bodyPr wrap="square" rtlCol="0">
            <a:spAutoFit/>
          </a:bodyPr>
          <a:lstStyle/>
          <a:p>
            <a:pPr>
              <a:lnSpc>
                <a:spcPct val="85000"/>
              </a:lnSpc>
            </a:pPr>
            <a:endParaRPr lang="zh-CN" altLang="en-US" sz="6600" b="1" dirty="0">
              <a:latin typeface="汉仪夏日体W" panose="00020600040101010101" pitchFamily="18" charset="-122"/>
              <a:ea typeface="汉仪夏日体W" panose="00020600040101010101" pitchFamily="18" charset="-122"/>
              <a:cs typeface="YF补 汉仪夏日体+黑白emoji" panose="020B0604000101010104" pitchFamily="34" charset="-128"/>
              <a:sym typeface="HYXiaRiTiW" panose="00020600040101010101" pitchFamily="18" charset="-122"/>
            </a:endParaRPr>
          </a:p>
          <a:p>
            <a:pPr>
              <a:lnSpc>
                <a:spcPct val="85000"/>
              </a:lnSpc>
            </a:pPr>
            <a:r>
              <a:rPr lang="en-US" altLang="zh-CN" sz="4400" b="1" dirty="0">
                <a:latin typeface="汉仪夏日体W" panose="00020600040101010101" pitchFamily="18" charset="-122"/>
                <a:ea typeface="汉仪夏日体W" panose="00020600040101010101" pitchFamily="18" charset="-122"/>
                <a:cs typeface="YF补 汉仪夏日体+黑白emoji" panose="020B0604000101010104" pitchFamily="34" charset="-128"/>
                <a:sym typeface="HYXiaRiTiW" panose="00020600040101010101" pitchFamily="18" charset="-122"/>
              </a:rPr>
              <a:t>CONTENTS</a:t>
            </a:r>
            <a:endParaRPr lang="zh-CN" altLang="en-US" sz="4400" b="1" dirty="0">
              <a:latin typeface="汉仪夏日体W" panose="00020600040101010101" pitchFamily="18" charset="-122"/>
              <a:ea typeface="汉仪夏日体W" panose="00020600040101010101" pitchFamily="18" charset="-122"/>
              <a:cs typeface="YF补 汉仪夏日体+黑白emoji" panose="020B0604000101010104" pitchFamily="34" charset="-128"/>
              <a:sym typeface="HYXiaRiTiW" panose="00020600040101010101" pitchFamily="18" charset="-122"/>
            </a:endParaRPr>
          </a:p>
        </p:txBody>
      </p:sp>
      <p:sp>
        <p:nvSpPr>
          <p:cNvPr id="26" name="文本框 25"/>
          <p:cNvSpPr txBox="1"/>
          <p:nvPr/>
        </p:nvSpPr>
        <p:spPr>
          <a:xfrm>
            <a:off x="1595069" y="3001856"/>
            <a:ext cx="2491376" cy="1738626"/>
          </a:xfrm>
          <a:prstGeom prst="rect">
            <a:avLst/>
          </a:prstGeom>
          <a:noFill/>
        </p:spPr>
        <p:txBody>
          <a:bodyPr wrap="square" rtlCol="0">
            <a:prstTxWarp prst="textArchDown">
              <a:avLst>
                <a:gd name="adj" fmla="val 20658267"/>
              </a:avLst>
            </a:prstTxWarp>
            <a:spAutoFit/>
          </a:bodyPr>
          <a:lstStyle/>
          <a:p>
            <a:pPr algn="ctr"/>
            <a:r>
              <a:rPr lang="en-US" altLang="zh-CN" sz="4000" dirty="0">
                <a:latin typeface="汉仪夏日体W" panose="00020600040101010101" pitchFamily="18" charset="-122"/>
                <a:ea typeface="汉仪夏日体W" panose="00020600040101010101" pitchFamily="18" charset="-122"/>
                <a:cs typeface="YF补 汉仪夏日体+黑白emoji" panose="020B0604000101010104" pitchFamily="34" charset="-128"/>
                <a:sym typeface="HYXiaRiTiW" panose="00020600040101010101" pitchFamily="18" charset="-122"/>
              </a:rPr>
              <a:t> </a:t>
            </a:r>
            <a:endParaRPr lang="zh-CN" altLang="en-US" sz="4000" dirty="0">
              <a:latin typeface="汉仪夏日体W" panose="00020600040101010101" pitchFamily="18" charset="-122"/>
              <a:ea typeface="汉仪夏日体W" panose="00020600040101010101" pitchFamily="18" charset="-122"/>
              <a:cs typeface="YF补 汉仪夏日体+黑白emoji" panose="020B0604000101010104" pitchFamily="34" charset="-128"/>
              <a:sym typeface="HYXiaRiTiW" panose="00020600040101010101" pitchFamily="18" charset="-122"/>
            </a:endParaRPr>
          </a:p>
        </p:txBody>
      </p:sp>
      <p:grpSp>
        <p:nvGrpSpPr>
          <p:cNvPr id="3" name="组合 2"/>
          <p:cNvGrpSpPr/>
          <p:nvPr/>
        </p:nvGrpSpPr>
        <p:grpSpPr>
          <a:xfrm>
            <a:off x="5642267" y="753084"/>
            <a:ext cx="676275" cy="542658"/>
            <a:chOff x="5995723" y="2676898"/>
            <a:chExt cx="676275" cy="542658"/>
          </a:xfrm>
        </p:grpSpPr>
        <p:pic>
          <p:nvPicPr>
            <p:cNvPr id="30" name="图片 29"/>
            <p:cNvPicPr>
              <a:picLocks noChangeAspect="1"/>
            </p:cNvPicPr>
            <p:nvPr/>
          </p:nvPicPr>
          <p:blipFill rotWithShape="1">
            <a:blip r:embed="rId9">
              <a:extLst>
                <a:ext uri="{BEBA8EAE-BF5A-486C-A8C5-ECC9F3942E4B}">
                  <a14:imgProps xmlns:a14="http://schemas.microsoft.com/office/drawing/2010/main">
                    <a14:imgLayer r:embed="rId10">
                      <a14:imgEffect>
                        <a14:backgroundRemoval t="29907" b="66355" l="35429" r="65143">
                          <a14:foregroundMark x1="42571" y1="37695" x2="47143" y2="49221"/>
                          <a14:foregroundMark x1="49714" y1="30218" x2="49429" y2="31776"/>
                          <a14:foregroundMark x1="47714" y1="30841" x2="44571" y2="33956"/>
                          <a14:foregroundMark x1="54571" y1="34891" x2="57714" y2="37695"/>
                          <a14:foregroundMark x1="58571" y1="37383" x2="58571" y2="37383"/>
                          <a14:foregroundMark x1="64286" y1="49844" x2="64286" y2="49844"/>
                          <a14:foregroundMark x1="64000" y1="44237" x2="64000" y2="44237"/>
                          <a14:foregroundMark x1="64286" y1="42991" x2="64286" y2="42991"/>
                          <a14:foregroundMark x1="65143" y1="43925" x2="65143" y2="43925"/>
                          <a14:foregroundMark x1="57143" y1="64486" x2="57143" y2="64486"/>
                          <a14:foregroundMark x1="46286" y1="64486" x2="46286" y2="64486"/>
                          <a14:foregroundMark x1="36286" y1="57321" x2="36286" y2="57321"/>
                          <a14:foregroundMark x1="35429" y1="56075" x2="35429" y2="56075"/>
                          <a14:foregroundMark x1="58000" y1="63863" x2="58000" y2="63863"/>
                          <a14:foregroundMark x1="53429" y1="65421" x2="53429" y2="65421"/>
                          <a14:foregroundMark x1="50000" y1="66355" x2="50000" y2="66355"/>
                        </a14:backgroundRemoval>
                      </a14:imgEffect>
                    </a14:imgLayer>
                  </a14:imgProps>
                </a:ext>
              </a:extLst>
            </a:blip>
            <a:srcRect l="35153" t="28127" r="32926" b="32212"/>
            <a:stretch>
              <a:fillRect/>
            </a:stretch>
          </p:blipFill>
          <p:spPr>
            <a:xfrm>
              <a:off x="6065793" y="2676898"/>
              <a:ext cx="546100" cy="542658"/>
            </a:xfrm>
            <a:prstGeom prst="rect">
              <a:avLst/>
            </a:prstGeom>
          </p:spPr>
        </p:pic>
        <p:sp>
          <p:nvSpPr>
            <p:cNvPr id="2" name="文本框 1"/>
            <p:cNvSpPr txBox="1"/>
            <p:nvPr/>
          </p:nvSpPr>
          <p:spPr>
            <a:xfrm>
              <a:off x="5995723" y="2726254"/>
              <a:ext cx="676275" cy="461665"/>
            </a:xfrm>
            <a:prstGeom prst="rect">
              <a:avLst/>
            </a:prstGeom>
            <a:noFill/>
          </p:spPr>
          <p:txBody>
            <a:bodyPr wrap="square" rtlCol="0">
              <a:spAutoFit/>
            </a:bodyPr>
            <a:lstStyle/>
            <a:p>
              <a:pPr algn="ctr"/>
              <a:r>
                <a:rPr lang="en-US" altLang="zh-CN" sz="2400" b="1" dirty="0">
                  <a:solidFill>
                    <a:schemeClr val="bg1"/>
                  </a:solidFill>
                  <a:latin typeface="汉仪夏日体W" panose="00020600040101010101" pitchFamily="18" charset="-122"/>
                  <a:ea typeface="汉仪夏日体W" panose="00020600040101010101" pitchFamily="18" charset="-122"/>
                  <a:cs typeface="YF补 汉仪夏日体+黑白emoji" panose="020B0604000101010104" pitchFamily="34" charset="-128"/>
                  <a:sym typeface="HYXiaRiTiW" panose="00020600040101010101" pitchFamily="18" charset="-122"/>
                </a:rPr>
                <a:t>01</a:t>
              </a:r>
              <a:endParaRPr lang="zh-CN" altLang="en-US" sz="2400" b="1" dirty="0">
                <a:solidFill>
                  <a:schemeClr val="bg1"/>
                </a:solidFill>
                <a:latin typeface="汉仪夏日体W" panose="00020600040101010101" pitchFamily="18" charset="-122"/>
                <a:ea typeface="汉仪夏日体W" panose="00020600040101010101" pitchFamily="18" charset="-122"/>
                <a:cs typeface="YF补 汉仪夏日体+黑白emoji" panose="020B0604000101010104" pitchFamily="34" charset="-128"/>
                <a:sym typeface="HYXiaRiTiW" panose="00020600040101010101" pitchFamily="18" charset="-122"/>
              </a:endParaRPr>
            </a:p>
          </p:txBody>
        </p:sp>
      </p:grpSp>
      <p:grpSp>
        <p:nvGrpSpPr>
          <p:cNvPr id="33" name="组合 32"/>
          <p:cNvGrpSpPr/>
          <p:nvPr/>
        </p:nvGrpSpPr>
        <p:grpSpPr>
          <a:xfrm>
            <a:off x="5658777" y="2574686"/>
            <a:ext cx="676275" cy="542658"/>
            <a:chOff x="5995723" y="2676898"/>
            <a:chExt cx="676275" cy="542658"/>
          </a:xfrm>
        </p:grpSpPr>
        <p:pic>
          <p:nvPicPr>
            <p:cNvPr id="34" name="图片 33"/>
            <p:cNvPicPr>
              <a:picLocks noChangeAspect="1"/>
            </p:cNvPicPr>
            <p:nvPr/>
          </p:nvPicPr>
          <p:blipFill rotWithShape="1">
            <a:blip r:embed="rId9">
              <a:extLst>
                <a:ext uri="{BEBA8EAE-BF5A-486C-A8C5-ECC9F3942E4B}">
                  <a14:imgProps xmlns:a14="http://schemas.microsoft.com/office/drawing/2010/main">
                    <a14:imgLayer r:embed="rId10">
                      <a14:imgEffect>
                        <a14:backgroundRemoval t="29907" b="66355" l="35429" r="65143">
                          <a14:foregroundMark x1="42571" y1="37695" x2="47143" y2="49221"/>
                          <a14:foregroundMark x1="49714" y1="30218" x2="49429" y2="31776"/>
                          <a14:foregroundMark x1="47714" y1="30841" x2="44571" y2="33956"/>
                          <a14:foregroundMark x1="54571" y1="34891" x2="57714" y2="37695"/>
                          <a14:foregroundMark x1="58571" y1="37383" x2="58571" y2="37383"/>
                          <a14:foregroundMark x1="64286" y1="49844" x2="64286" y2="49844"/>
                          <a14:foregroundMark x1="64000" y1="44237" x2="64000" y2="44237"/>
                          <a14:foregroundMark x1="64286" y1="42991" x2="64286" y2="42991"/>
                          <a14:foregroundMark x1="65143" y1="43925" x2="65143" y2="43925"/>
                          <a14:foregroundMark x1="57143" y1="64486" x2="57143" y2="64486"/>
                          <a14:foregroundMark x1="46286" y1="64486" x2="46286" y2="64486"/>
                          <a14:foregroundMark x1="36286" y1="57321" x2="36286" y2="57321"/>
                          <a14:foregroundMark x1="35429" y1="56075" x2="35429" y2="56075"/>
                          <a14:foregroundMark x1="58000" y1="63863" x2="58000" y2="63863"/>
                          <a14:foregroundMark x1="53429" y1="65421" x2="53429" y2="65421"/>
                          <a14:foregroundMark x1="50000" y1="66355" x2="50000" y2="66355"/>
                        </a14:backgroundRemoval>
                      </a14:imgEffect>
                    </a14:imgLayer>
                  </a14:imgProps>
                </a:ext>
              </a:extLst>
            </a:blip>
            <a:srcRect l="35153" t="28127" r="32926" b="32212"/>
            <a:stretch>
              <a:fillRect/>
            </a:stretch>
          </p:blipFill>
          <p:spPr>
            <a:xfrm>
              <a:off x="6065793" y="2676898"/>
              <a:ext cx="546100" cy="542658"/>
            </a:xfrm>
            <a:prstGeom prst="rect">
              <a:avLst/>
            </a:prstGeom>
          </p:spPr>
        </p:pic>
        <p:sp>
          <p:nvSpPr>
            <p:cNvPr id="35" name="文本框 34"/>
            <p:cNvSpPr txBox="1"/>
            <p:nvPr/>
          </p:nvSpPr>
          <p:spPr>
            <a:xfrm>
              <a:off x="5995723" y="2726254"/>
              <a:ext cx="676275" cy="460375"/>
            </a:xfrm>
            <a:prstGeom prst="rect">
              <a:avLst/>
            </a:prstGeom>
            <a:noFill/>
          </p:spPr>
          <p:txBody>
            <a:bodyPr wrap="square" rtlCol="0">
              <a:spAutoFit/>
            </a:bodyPr>
            <a:lstStyle/>
            <a:p>
              <a:pPr algn="ctr"/>
              <a:r>
                <a:rPr lang="en-US" altLang="zh-CN" sz="2400" b="1" dirty="0">
                  <a:solidFill>
                    <a:schemeClr val="bg1"/>
                  </a:solidFill>
                  <a:latin typeface="汉仪夏日体W" panose="00020600040101010101" pitchFamily="18" charset="-122"/>
                  <a:ea typeface="汉仪夏日体W" panose="00020600040101010101" pitchFamily="18" charset="-122"/>
                  <a:cs typeface="YF补 汉仪夏日体+黑白emoji" panose="020B0604000101010104" pitchFamily="34" charset="-128"/>
                  <a:sym typeface="HYXiaRiTiW" panose="00020600040101010101" pitchFamily="18" charset="-122"/>
                </a:rPr>
                <a:t>03</a:t>
              </a:r>
              <a:endParaRPr lang="zh-CN" altLang="en-US" sz="2400" b="1" dirty="0">
                <a:solidFill>
                  <a:schemeClr val="bg1"/>
                </a:solidFill>
                <a:latin typeface="汉仪夏日体W" panose="00020600040101010101" pitchFamily="18" charset="-122"/>
                <a:ea typeface="汉仪夏日体W" panose="00020600040101010101" pitchFamily="18" charset="-122"/>
                <a:cs typeface="YF补 汉仪夏日体+黑白emoji" panose="020B0604000101010104" pitchFamily="34" charset="-128"/>
                <a:sym typeface="HYXiaRiTiW" panose="00020600040101010101" pitchFamily="18" charset="-122"/>
              </a:endParaRPr>
            </a:p>
          </p:txBody>
        </p:sp>
      </p:grpSp>
      <p:grpSp>
        <p:nvGrpSpPr>
          <p:cNvPr id="43" name="组合 42"/>
          <p:cNvGrpSpPr/>
          <p:nvPr/>
        </p:nvGrpSpPr>
        <p:grpSpPr>
          <a:xfrm>
            <a:off x="5658776" y="4197338"/>
            <a:ext cx="676275" cy="542658"/>
            <a:chOff x="5995723" y="2676898"/>
            <a:chExt cx="676275" cy="542658"/>
          </a:xfrm>
        </p:grpSpPr>
        <p:pic>
          <p:nvPicPr>
            <p:cNvPr id="44" name="图片 43"/>
            <p:cNvPicPr>
              <a:picLocks noChangeAspect="1"/>
            </p:cNvPicPr>
            <p:nvPr/>
          </p:nvPicPr>
          <p:blipFill rotWithShape="1">
            <a:blip r:embed="rId9">
              <a:extLst>
                <a:ext uri="{BEBA8EAE-BF5A-486C-A8C5-ECC9F3942E4B}">
                  <a14:imgProps xmlns:a14="http://schemas.microsoft.com/office/drawing/2010/main">
                    <a14:imgLayer r:embed="rId10">
                      <a14:imgEffect>
                        <a14:backgroundRemoval t="29907" b="66355" l="35429" r="65143">
                          <a14:foregroundMark x1="42571" y1="37695" x2="47143" y2="49221"/>
                          <a14:foregroundMark x1="49714" y1="30218" x2="49429" y2="31776"/>
                          <a14:foregroundMark x1="47714" y1="30841" x2="44571" y2="33956"/>
                          <a14:foregroundMark x1="54571" y1="34891" x2="57714" y2="37695"/>
                          <a14:foregroundMark x1="58571" y1="37383" x2="58571" y2="37383"/>
                          <a14:foregroundMark x1="64286" y1="49844" x2="64286" y2="49844"/>
                          <a14:foregroundMark x1="64000" y1="44237" x2="64000" y2="44237"/>
                          <a14:foregroundMark x1="64286" y1="42991" x2="64286" y2="42991"/>
                          <a14:foregroundMark x1="65143" y1="43925" x2="65143" y2="43925"/>
                          <a14:foregroundMark x1="57143" y1="64486" x2="57143" y2="64486"/>
                          <a14:foregroundMark x1="46286" y1="64486" x2="46286" y2="64486"/>
                          <a14:foregroundMark x1="36286" y1="57321" x2="36286" y2="57321"/>
                          <a14:foregroundMark x1="35429" y1="56075" x2="35429" y2="56075"/>
                          <a14:foregroundMark x1="58000" y1="63863" x2="58000" y2="63863"/>
                          <a14:foregroundMark x1="53429" y1="65421" x2="53429" y2="65421"/>
                          <a14:foregroundMark x1="50000" y1="66355" x2="50000" y2="66355"/>
                        </a14:backgroundRemoval>
                      </a14:imgEffect>
                    </a14:imgLayer>
                  </a14:imgProps>
                </a:ext>
              </a:extLst>
            </a:blip>
            <a:srcRect l="35153" t="28127" r="32926" b="32212"/>
            <a:stretch>
              <a:fillRect/>
            </a:stretch>
          </p:blipFill>
          <p:spPr>
            <a:xfrm>
              <a:off x="6065793" y="2676898"/>
              <a:ext cx="546100" cy="542658"/>
            </a:xfrm>
            <a:prstGeom prst="rect">
              <a:avLst/>
            </a:prstGeom>
          </p:spPr>
        </p:pic>
        <p:sp>
          <p:nvSpPr>
            <p:cNvPr id="45" name="文本框 44"/>
            <p:cNvSpPr txBox="1"/>
            <p:nvPr/>
          </p:nvSpPr>
          <p:spPr>
            <a:xfrm>
              <a:off x="5995723" y="2726254"/>
              <a:ext cx="676275" cy="460375"/>
            </a:xfrm>
            <a:prstGeom prst="rect">
              <a:avLst/>
            </a:prstGeom>
            <a:noFill/>
          </p:spPr>
          <p:txBody>
            <a:bodyPr wrap="square" rtlCol="0">
              <a:spAutoFit/>
            </a:bodyPr>
            <a:lstStyle/>
            <a:p>
              <a:pPr algn="ctr"/>
              <a:r>
                <a:rPr lang="en-US" altLang="zh-CN" sz="2400" b="1" dirty="0">
                  <a:solidFill>
                    <a:schemeClr val="bg1"/>
                  </a:solidFill>
                  <a:latin typeface="汉仪夏日体W" panose="00020600040101010101" pitchFamily="18" charset="-122"/>
                  <a:ea typeface="汉仪夏日体W" panose="00020600040101010101" pitchFamily="18" charset="-122"/>
                  <a:cs typeface="YF补 汉仪夏日体+黑白emoji" panose="020B0604000101010104" pitchFamily="34" charset="-128"/>
                  <a:sym typeface="HYXiaRiTiW" panose="00020600040101010101" pitchFamily="18" charset="-122"/>
                </a:rPr>
                <a:t>05</a:t>
              </a:r>
              <a:endParaRPr lang="zh-CN" altLang="en-US" sz="2400" b="1" dirty="0">
                <a:solidFill>
                  <a:schemeClr val="bg1"/>
                </a:solidFill>
                <a:latin typeface="汉仪夏日体W" panose="00020600040101010101" pitchFamily="18" charset="-122"/>
                <a:ea typeface="汉仪夏日体W" panose="00020600040101010101" pitchFamily="18" charset="-122"/>
                <a:cs typeface="YF补 汉仪夏日体+黑白emoji" panose="020B0604000101010104" pitchFamily="34" charset="-128"/>
                <a:sym typeface="HYXiaRiTiW" panose="00020600040101010101" pitchFamily="18" charset="-122"/>
              </a:endParaRPr>
            </a:p>
          </p:txBody>
        </p:sp>
      </p:grpSp>
      <p:grpSp>
        <p:nvGrpSpPr>
          <p:cNvPr id="6" name="组合 5"/>
          <p:cNvGrpSpPr/>
          <p:nvPr/>
        </p:nvGrpSpPr>
        <p:grpSpPr>
          <a:xfrm>
            <a:off x="5642267" y="3369284"/>
            <a:ext cx="676275" cy="542658"/>
            <a:chOff x="5995723" y="2676898"/>
            <a:chExt cx="676275" cy="542658"/>
          </a:xfrm>
        </p:grpSpPr>
        <p:pic>
          <p:nvPicPr>
            <p:cNvPr id="7" name="图片 6"/>
            <p:cNvPicPr>
              <a:picLocks noChangeAspect="1"/>
            </p:cNvPicPr>
            <p:nvPr>
              <p:custDataLst>
                <p:tags r:id="rId11"/>
              </p:custDataLst>
            </p:nvPr>
          </p:nvPicPr>
          <p:blipFill rotWithShape="1">
            <a:blip r:embed="rId9">
              <a:extLst>
                <a:ext uri="{BEBA8EAE-BF5A-486C-A8C5-ECC9F3942E4B}">
                  <a14:imgProps xmlns:a14="http://schemas.microsoft.com/office/drawing/2010/main">
                    <a14:imgLayer r:embed="rId10">
                      <a14:imgEffect>
                        <a14:backgroundRemoval t="29907" b="66355" l="35429" r="65143">
                          <a14:foregroundMark x1="42571" y1="37695" x2="47143" y2="49221"/>
                          <a14:foregroundMark x1="49714" y1="30218" x2="49429" y2="31776"/>
                          <a14:foregroundMark x1="47714" y1="30841" x2="44571" y2="33956"/>
                          <a14:foregroundMark x1="54571" y1="34891" x2="57714" y2="37695"/>
                          <a14:foregroundMark x1="58571" y1="37383" x2="58571" y2="37383"/>
                          <a14:foregroundMark x1="64286" y1="49844" x2="64286" y2="49844"/>
                          <a14:foregroundMark x1="64000" y1="44237" x2="64000" y2="44237"/>
                          <a14:foregroundMark x1="64286" y1="42991" x2="64286" y2="42991"/>
                          <a14:foregroundMark x1="65143" y1="43925" x2="65143" y2="43925"/>
                          <a14:foregroundMark x1="57143" y1="64486" x2="57143" y2="64486"/>
                          <a14:foregroundMark x1="46286" y1="64486" x2="46286" y2="64486"/>
                          <a14:foregroundMark x1="36286" y1="57321" x2="36286" y2="57321"/>
                          <a14:foregroundMark x1="35429" y1="56075" x2="35429" y2="56075"/>
                          <a14:foregroundMark x1="58000" y1="63863" x2="58000" y2="63863"/>
                          <a14:foregroundMark x1="53429" y1="65421" x2="53429" y2="65421"/>
                          <a14:foregroundMark x1="50000" y1="66355" x2="50000" y2="66355"/>
                        </a14:backgroundRemoval>
                      </a14:imgEffect>
                    </a14:imgLayer>
                  </a14:imgProps>
                </a:ext>
              </a:extLst>
            </a:blip>
            <a:srcRect l="35153" t="28127" r="32926" b="32212"/>
            <a:stretch>
              <a:fillRect/>
            </a:stretch>
          </p:blipFill>
          <p:spPr>
            <a:xfrm>
              <a:off x="6065793" y="2676898"/>
              <a:ext cx="546100" cy="542658"/>
            </a:xfrm>
            <a:prstGeom prst="rect">
              <a:avLst/>
            </a:prstGeom>
          </p:spPr>
        </p:pic>
        <p:sp>
          <p:nvSpPr>
            <p:cNvPr id="8" name="文本框 7"/>
            <p:cNvSpPr txBox="1"/>
            <p:nvPr>
              <p:custDataLst>
                <p:tags r:id="rId12"/>
              </p:custDataLst>
            </p:nvPr>
          </p:nvSpPr>
          <p:spPr>
            <a:xfrm>
              <a:off x="5995723" y="2726254"/>
              <a:ext cx="676275" cy="460375"/>
            </a:xfrm>
            <a:prstGeom prst="rect">
              <a:avLst/>
            </a:prstGeom>
            <a:noFill/>
          </p:spPr>
          <p:txBody>
            <a:bodyPr wrap="square" rtlCol="0">
              <a:spAutoFit/>
            </a:bodyPr>
            <a:p>
              <a:pPr algn="ctr"/>
              <a:r>
                <a:rPr lang="en-US" altLang="zh-CN" sz="2400" b="1" dirty="0">
                  <a:solidFill>
                    <a:schemeClr val="bg1"/>
                  </a:solidFill>
                  <a:latin typeface="汉仪夏日体W" panose="00020600040101010101" pitchFamily="18" charset="-122"/>
                  <a:ea typeface="汉仪夏日体W" panose="00020600040101010101" pitchFamily="18" charset="-122"/>
                  <a:cs typeface="YF补 汉仪夏日体+黑白emoji" panose="020B0604000101010104" pitchFamily="34" charset="-128"/>
                  <a:sym typeface="HYXiaRiTiW" panose="00020600040101010101" pitchFamily="18" charset="-122"/>
                </a:rPr>
                <a:t>04</a:t>
              </a:r>
              <a:endParaRPr lang="zh-CN" altLang="en-US" sz="2400" b="1" dirty="0">
                <a:solidFill>
                  <a:schemeClr val="bg1"/>
                </a:solidFill>
                <a:latin typeface="汉仪夏日体W" panose="00020600040101010101" pitchFamily="18" charset="-122"/>
                <a:ea typeface="汉仪夏日体W" panose="00020600040101010101" pitchFamily="18" charset="-122"/>
                <a:cs typeface="YF补 汉仪夏日体+黑白emoji" panose="020B0604000101010104" pitchFamily="34" charset="-128"/>
                <a:sym typeface="HYXiaRiTiW" panose="00020600040101010101" pitchFamily="18" charset="-122"/>
              </a:endParaRPr>
            </a:p>
          </p:txBody>
        </p:sp>
      </p:grpSp>
      <p:sp>
        <p:nvSpPr>
          <p:cNvPr id="11" name="文本框 10"/>
          <p:cNvSpPr txBox="1"/>
          <p:nvPr/>
        </p:nvSpPr>
        <p:spPr>
          <a:xfrm>
            <a:off x="6588125" y="815340"/>
            <a:ext cx="3542030" cy="398780"/>
          </a:xfrm>
          <a:prstGeom prst="rect">
            <a:avLst/>
          </a:prstGeom>
          <a:noFill/>
        </p:spPr>
        <p:txBody>
          <a:bodyPr wrap="square" rtlCol="0">
            <a:spAutoFit/>
          </a:bodyPr>
          <a:p>
            <a:r>
              <a:rPr lang="en-US" altLang="zh-CN" sz="2000" b="1">
                <a:latin typeface="Arial Bold" panose="020B0604020202090204" charset="0"/>
                <a:cs typeface="Arial Bold" panose="020B0604020202090204" charset="0"/>
              </a:rPr>
              <a:t>Research Background</a:t>
            </a:r>
            <a:endParaRPr lang="en-US" altLang="zh-CN" sz="2000" b="1">
              <a:latin typeface="Arial Bold" panose="020B0604020202090204" charset="0"/>
              <a:cs typeface="Arial Bold" panose="020B0604020202090204" charset="0"/>
            </a:endParaRPr>
          </a:p>
        </p:txBody>
      </p:sp>
      <p:sp>
        <p:nvSpPr>
          <p:cNvPr id="13" name="文本框 12"/>
          <p:cNvSpPr txBox="1"/>
          <p:nvPr>
            <p:custDataLst>
              <p:tags r:id="rId13"/>
            </p:custDataLst>
          </p:nvPr>
        </p:nvSpPr>
        <p:spPr>
          <a:xfrm>
            <a:off x="6588125" y="5093335"/>
            <a:ext cx="3542030" cy="398780"/>
          </a:xfrm>
          <a:prstGeom prst="rect">
            <a:avLst/>
          </a:prstGeom>
          <a:noFill/>
        </p:spPr>
        <p:txBody>
          <a:bodyPr wrap="square" rtlCol="0">
            <a:spAutoFit/>
          </a:bodyPr>
          <a:p>
            <a:r>
              <a:rPr lang="en-US" altLang="zh-CN" sz="2000" b="1">
                <a:latin typeface="Arial Bold" panose="020B0604020202090204" charset="0"/>
                <a:cs typeface="Arial Bold" panose="020B0604020202090204" charset="0"/>
              </a:rPr>
              <a:t>Major Findings</a:t>
            </a:r>
            <a:endParaRPr lang="en-US" altLang="zh-CN" sz="2000" b="1">
              <a:latin typeface="Arial Bold" panose="020B0604020202090204" charset="0"/>
              <a:cs typeface="Arial Bold" panose="020B0604020202090204" charset="0"/>
            </a:endParaRPr>
          </a:p>
        </p:txBody>
      </p:sp>
      <p:sp>
        <p:nvSpPr>
          <p:cNvPr id="15" name="文本框 14"/>
          <p:cNvSpPr txBox="1"/>
          <p:nvPr>
            <p:custDataLst>
              <p:tags r:id="rId14"/>
            </p:custDataLst>
          </p:nvPr>
        </p:nvSpPr>
        <p:spPr>
          <a:xfrm>
            <a:off x="6588125" y="4309745"/>
            <a:ext cx="3542030" cy="398780"/>
          </a:xfrm>
          <a:prstGeom prst="rect">
            <a:avLst/>
          </a:prstGeom>
          <a:noFill/>
        </p:spPr>
        <p:txBody>
          <a:bodyPr wrap="square" rtlCol="0">
            <a:spAutoFit/>
          </a:bodyPr>
          <a:p>
            <a:r>
              <a:rPr lang="en-US" altLang="zh-CN" sz="2000" b="1">
                <a:latin typeface="Arial Bold" panose="020B0604020202090204" charset="0"/>
                <a:cs typeface="Arial Bold" panose="020B0604020202090204" charset="0"/>
              </a:rPr>
              <a:t>C</a:t>
            </a:r>
            <a:r>
              <a:rPr lang="en-US" altLang="zh-CN" sz="2000" b="1">
                <a:latin typeface="Arial Bold" panose="020B0604020202090204" charset="0"/>
                <a:cs typeface="Arial Bold" panose="020B0604020202090204" charset="0"/>
              </a:rPr>
              <a:t>ase Analysis</a:t>
            </a:r>
            <a:endParaRPr lang="en-US" altLang="zh-CN" sz="2000" b="1">
              <a:latin typeface="Arial Bold" panose="020B0604020202090204" charset="0"/>
              <a:cs typeface="Arial Bold" panose="020B0604020202090204" charset="0"/>
            </a:endParaRPr>
          </a:p>
        </p:txBody>
      </p:sp>
      <p:sp>
        <p:nvSpPr>
          <p:cNvPr id="19" name="文本框 18"/>
          <p:cNvSpPr txBox="1"/>
          <p:nvPr>
            <p:custDataLst>
              <p:tags r:id="rId15"/>
            </p:custDataLst>
          </p:nvPr>
        </p:nvSpPr>
        <p:spPr>
          <a:xfrm>
            <a:off x="6588125" y="2355215"/>
            <a:ext cx="4699635" cy="706755"/>
          </a:xfrm>
          <a:prstGeom prst="rect">
            <a:avLst/>
          </a:prstGeom>
          <a:noFill/>
        </p:spPr>
        <p:txBody>
          <a:bodyPr wrap="square" rtlCol="0">
            <a:spAutoFit/>
          </a:bodyPr>
          <a:p>
            <a:r>
              <a:rPr lang="en-US" altLang="zh-CN" sz="2000" b="1">
                <a:latin typeface="Arial Bold" panose="020B0604020202090204" charset="0"/>
                <a:cs typeface="Arial Bold" panose="020B0604020202090204" charset="0"/>
              </a:rPr>
              <a:t>Research Questions and Methodology </a:t>
            </a:r>
            <a:endParaRPr lang="en-US" altLang="zh-CN" sz="2000" b="1">
              <a:latin typeface="Arial Bold" panose="020B0604020202090204" charset="0"/>
              <a:cs typeface="Arial Bold" panose="020B0604020202090204" charset="0"/>
            </a:endParaRPr>
          </a:p>
        </p:txBody>
      </p:sp>
      <p:sp>
        <p:nvSpPr>
          <p:cNvPr id="22" name="文本框 21"/>
          <p:cNvSpPr txBox="1"/>
          <p:nvPr>
            <p:custDataLst>
              <p:tags r:id="rId16"/>
            </p:custDataLst>
          </p:nvPr>
        </p:nvSpPr>
        <p:spPr>
          <a:xfrm>
            <a:off x="6588125" y="3418205"/>
            <a:ext cx="3542030" cy="398780"/>
          </a:xfrm>
          <a:prstGeom prst="rect">
            <a:avLst/>
          </a:prstGeom>
          <a:noFill/>
        </p:spPr>
        <p:txBody>
          <a:bodyPr wrap="square" rtlCol="0">
            <a:spAutoFit/>
          </a:bodyPr>
          <a:p>
            <a:r>
              <a:rPr lang="en-US" altLang="zh-CN" sz="2000" b="1">
                <a:latin typeface="Arial Bold" panose="020B0604020202090204" charset="0"/>
                <a:cs typeface="Arial Bold" panose="020B0604020202090204" charset="0"/>
              </a:rPr>
              <a:t>A</a:t>
            </a:r>
            <a:r>
              <a:rPr lang="en-US" altLang="zh-CN" sz="2000" b="1">
                <a:latin typeface="Arial Bold" panose="020B0604020202090204" charset="0"/>
                <a:cs typeface="Arial Bold" panose="020B0604020202090204" charset="0"/>
              </a:rPr>
              <a:t>nalytical Framework</a:t>
            </a:r>
            <a:endParaRPr lang="en-US" altLang="zh-CN" sz="2000" b="1">
              <a:latin typeface="Arial Bold" panose="020B0604020202090204" charset="0"/>
              <a:cs typeface="Arial Bold" panose="020B0604020202090204" charset="0"/>
            </a:endParaRPr>
          </a:p>
        </p:txBody>
      </p:sp>
      <p:grpSp>
        <p:nvGrpSpPr>
          <p:cNvPr id="25" name="组合 24"/>
          <p:cNvGrpSpPr/>
          <p:nvPr/>
        </p:nvGrpSpPr>
        <p:grpSpPr>
          <a:xfrm>
            <a:off x="5658777" y="5074894"/>
            <a:ext cx="676275" cy="547196"/>
            <a:chOff x="5995723" y="2639433"/>
            <a:chExt cx="676275" cy="547196"/>
          </a:xfrm>
        </p:grpSpPr>
        <p:pic>
          <p:nvPicPr>
            <p:cNvPr id="27" name="图片 26"/>
            <p:cNvPicPr>
              <a:picLocks noChangeAspect="1"/>
            </p:cNvPicPr>
            <p:nvPr>
              <p:custDataLst>
                <p:tags r:id="rId17"/>
              </p:custDataLst>
            </p:nvPr>
          </p:nvPicPr>
          <p:blipFill rotWithShape="1">
            <a:blip r:embed="rId9">
              <a:extLst>
                <a:ext uri="{BEBA8EAE-BF5A-486C-A8C5-ECC9F3942E4B}">
                  <a14:imgProps xmlns:a14="http://schemas.microsoft.com/office/drawing/2010/main">
                    <a14:imgLayer r:embed="rId10">
                      <a14:imgEffect>
                        <a14:backgroundRemoval t="29907" b="66355" l="35429" r="65143">
                          <a14:foregroundMark x1="42571" y1="37695" x2="47143" y2="49221"/>
                          <a14:foregroundMark x1="49714" y1="30218" x2="49429" y2="31776"/>
                          <a14:foregroundMark x1="47714" y1="30841" x2="44571" y2="33956"/>
                          <a14:foregroundMark x1="54571" y1="34891" x2="57714" y2="37695"/>
                          <a14:foregroundMark x1="58571" y1="37383" x2="58571" y2="37383"/>
                          <a14:foregroundMark x1="64286" y1="49844" x2="64286" y2="49844"/>
                          <a14:foregroundMark x1="64000" y1="44237" x2="64000" y2="44237"/>
                          <a14:foregroundMark x1="64286" y1="42991" x2="64286" y2="42991"/>
                          <a14:foregroundMark x1="65143" y1="43925" x2="65143" y2="43925"/>
                          <a14:foregroundMark x1="57143" y1="64486" x2="57143" y2="64486"/>
                          <a14:foregroundMark x1="46286" y1="64486" x2="46286" y2="64486"/>
                          <a14:foregroundMark x1="36286" y1="57321" x2="36286" y2="57321"/>
                          <a14:foregroundMark x1="35429" y1="56075" x2="35429" y2="56075"/>
                          <a14:foregroundMark x1="58000" y1="63863" x2="58000" y2="63863"/>
                          <a14:foregroundMark x1="53429" y1="65421" x2="53429" y2="65421"/>
                          <a14:foregroundMark x1="50000" y1="66355" x2="50000" y2="66355"/>
                        </a14:backgroundRemoval>
                      </a14:imgEffect>
                    </a14:imgLayer>
                  </a14:imgProps>
                </a:ext>
              </a:extLst>
            </a:blip>
            <a:srcRect l="35153" t="28127" r="32926" b="32212"/>
            <a:stretch>
              <a:fillRect/>
            </a:stretch>
          </p:blipFill>
          <p:spPr>
            <a:xfrm>
              <a:off x="6087383" y="2639433"/>
              <a:ext cx="546100" cy="542658"/>
            </a:xfrm>
            <a:prstGeom prst="rect">
              <a:avLst/>
            </a:prstGeom>
          </p:spPr>
        </p:pic>
        <p:sp>
          <p:nvSpPr>
            <p:cNvPr id="29" name="文本框 28"/>
            <p:cNvSpPr txBox="1"/>
            <p:nvPr>
              <p:custDataLst>
                <p:tags r:id="rId18"/>
              </p:custDataLst>
            </p:nvPr>
          </p:nvSpPr>
          <p:spPr>
            <a:xfrm>
              <a:off x="5995723" y="2726254"/>
              <a:ext cx="676275" cy="460375"/>
            </a:xfrm>
            <a:prstGeom prst="rect">
              <a:avLst/>
            </a:prstGeom>
            <a:noFill/>
          </p:spPr>
          <p:txBody>
            <a:bodyPr wrap="square" rtlCol="0">
              <a:spAutoFit/>
            </a:bodyPr>
            <a:p>
              <a:pPr algn="ctr"/>
              <a:r>
                <a:rPr lang="en-US" altLang="zh-CN" sz="2400" b="1" dirty="0">
                  <a:solidFill>
                    <a:schemeClr val="bg1"/>
                  </a:solidFill>
                  <a:latin typeface="汉仪夏日体W" panose="00020600040101010101" pitchFamily="18" charset="-122"/>
                  <a:ea typeface="汉仪夏日体W" panose="00020600040101010101" pitchFamily="18" charset="-122"/>
                  <a:cs typeface="YF补 汉仪夏日体+黑白emoji" panose="020B0604000101010104" pitchFamily="34" charset="-128"/>
                  <a:sym typeface="HYXiaRiTiW" panose="00020600040101010101" pitchFamily="18" charset="-122"/>
                </a:rPr>
                <a:t>06</a:t>
              </a:r>
              <a:endParaRPr lang="zh-CN" altLang="en-US" sz="2400" b="1" dirty="0">
                <a:solidFill>
                  <a:schemeClr val="bg1"/>
                </a:solidFill>
                <a:latin typeface="汉仪夏日体W" panose="00020600040101010101" pitchFamily="18" charset="-122"/>
                <a:ea typeface="汉仪夏日体W" panose="00020600040101010101" pitchFamily="18" charset="-122"/>
                <a:cs typeface="YF补 汉仪夏日体+黑白emoji" panose="020B0604000101010104" pitchFamily="34" charset="-128"/>
                <a:sym typeface="HYXiaRiTiW" panose="00020600040101010101" pitchFamily="18" charset="-122"/>
              </a:endParaRPr>
            </a:p>
          </p:txBody>
        </p:sp>
      </p:grpSp>
      <p:grpSp>
        <p:nvGrpSpPr>
          <p:cNvPr id="48" name="组合 47"/>
          <p:cNvGrpSpPr/>
          <p:nvPr/>
        </p:nvGrpSpPr>
        <p:grpSpPr>
          <a:xfrm>
            <a:off x="5642267" y="1648221"/>
            <a:ext cx="676275" cy="542658"/>
            <a:chOff x="5995723" y="2676898"/>
            <a:chExt cx="676275" cy="542658"/>
          </a:xfrm>
        </p:grpSpPr>
        <p:pic>
          <p:nvPicPr>
            <p:cNvPr id="49" name="图片 48"/>
            <p:cNvPicPr>
              <a:picLocks noChangeAspect="1"/>
            </p:cNvPicPr>
            <p:nvPr>
              <p:custDataLst>
                <p:tags r:id="rId19"/>
              </p:custDataLst>
            </p:nvPr>
          </p:nvPicPr>
          <p:blipFill rotWithShape="1">
            <a:blip r:embed="rId9">
              <a:extLst>
                <a:ext uri="{BEBA8EAE-BF5A-486C-A8C5-ECC9F3942E4B}">
                  <a14:imgProps xmlns:a14="http://schemas.microsoft.com/office/drawing/2010/main">
                    <a14:imgLayer r:embed="rId10">
                      <a14:imgEffect>
                        <a14:backgroundRemoval t="29907" b="66355" l="35429" r="65143">
                          <a14:foregroundMark x1="42571" y1="37695" x2="47143" y2="49221"/>
                          <a14:foregroundMark x1="49714" y1="30218" x2="49429" y2="31776"/>
                          <a14:foregroundMark x1="47714" y1="30841" x2="44571" y2="33956"/>
                          <a14:foregroundMark x1="54571" y1="34891" x2="57714" y2="37695"/>
                          <a14:foregroundMark x1="58571" y1="37383" x2="58571" y2="37383"/>
                          <a14:foregroundMark x1="64286" y1="49844" x2="64286" y2="49844"/>
                          <a14:foregroundMark x1="64000" y1="44237" x2="64000" y2="44237"/>
                          <a14:foregroundMark x1="64286" y1="42991" x2="64286" y2="42991"/>
                          <a14:foregroundMark x1="65143" y1="43925" x2="65143" y2="43925"/>
                          <a14:foregroundMark x1="57143" y1="64486" x2="57143" y2="64486"/>
                          <a14:foregroundMark x1="46286" y1="64486" x2="46286" y2="64486"/>
                          <a14:foregroundMark x1="36286" y1="57321" x2="36286" y2="57321"/>
                          <a14:foregroundMark x1="35429" y1="56075" x2="35429" y2="56075"/>
                          <a14:foregroundMark x1="58000" y1="63863" x2="58000" y2="63863"/>
                          <a14:foregroundMark x1="53429" y1="65421" x2="53429" y2="65421"/>
                          <a14:foregroundMark x1="50000" y1="66355" x2="50000" y2="66355"/>
                        </a14:backgroundRemoval>
                      </a14:imgEffect>
                    </a14:imgLayer>
                  </a14:imgProps>
                </a:ext>
              </a:extLst>
            </a:blip>
            <a:srcRect l="35153" t="28127" r="32926" b="32212"/>
            <a:stretch>
              <a:fillRect/>
            </a:stretch>
          </p:blipFill>
          <p:spPr>
            <a:xfrm>
              <a:off x="6065793" y="2676898"/>
              <a:ext cx="546100" cy="542658"/>
            </a:xfrm>
            <a:prstGeom prst="rect">
              <a:avLst/>
            </a:prstGeom>
          </p:spPr>
        </p:pic>
        <p:sp>
          <p:nvSpPr>
            <p:cNvPr id="50" name="文本框 49"/>
            <p:cNvSpPr txBox="1"/>
            <p:nvPr>
              <p:custDataLst>
                <p:tags r:id="rId20"/>
              </p:custDataLst>
            </p:nvPr>
          </p:nvSpPr>
          <p:spPr>
            <a:xfrm>
              <a:off x="5995723" y="2726254"/>
              <a:ext cx="676275" cy="460375"/>
            </a:xfrm>
            <a:prstGeom prst="rect">
              <a:avLst/>
            </a:prstGeom>
            <a:noFill/>
          </p:spPr>
          <p:txBody>
            <a:bodyPr wrap="square" rtlCol="0">
              <a:spAutoFit/>
            </a:bodyPr>
            <a:p>
              <a:pPr algn="ctr"/>
              <a:r>
                <a:rPr lang="en-US" altLang="zh-CN" sz="2400" b="1" dirty="0">
                  <a:solidFill>
                    <a:schemeClr val="bg1"/>
                  </a:solidFill>
                  <a:latin typeface="汉仪夏日体W" panose="00020600040101010101" pitchFamily="18" charset="-122"/>
                  <a:ea typeface="汉仪夏日体W" panose="00020600040101010101" pitchFamily="18" charset="-122"/>
                  <a:cs typeface="YF补 汉仪夏日体+黑白emoji" panose="020B0604000101010104" pitchFamily="34" charset="-128"/>
                  <a:sym typeface="HYXiaRiTiW" panose="00020600040101010101" pitchFamily="18" charset="-122"/>
                </a:rPr>
                <a:t>02</a:t>
              </a:r>
              <a:endParaRPr lang="zh-CN" altLang="en-US" sz="2400" b="1" dirty="0">
                <a:solidFill>
                  <a:schemeClr val="bg1"/>
                </a:solidFill>
                <a:latin typeface="汉仪夏日体W" panose="00020600040101010101" pitchFamily="18" charset="-122"/>
                <a:ea typeface="汉仪夏日体W" panose="00020600040101010101" pitchFamily="18" charset="-122"/>
                <a:cs typeface="YF补 汉仪夏日体+黑白emoji" panose="020B0604000101010104" pitchFamily="34" charset="-128"/>
                <a:sym typeface="HYXiaRiTiW" panose="00020600040101010101" pitchFamily="18" charset="-122"/>
              </a:endParaRPr>
            </a:p>
          </p:txBody>
        </p:sp>
      </p:grpSp>
      <p:sp>
        <p:nvSpPr>
          <p:cNvPr id="54" name="文本框 53"/>
          <p:cNvSpPr txBox="1"/>
          <p:nvPr>
            <p:custDataLst>
              <p:tags r:id="rId21"/>
            </p:custDataLst>
          </p:nvPr>
        </p:nvSpPr>
        <p:spPr>
          <a:xfrm>
            <a:off x="6588125" y="1697355"/>
            <a:ext cx="3542030" cy="398780"/>
          </a:xfrm>
          <a:prstGeom prst="rect">
            <a:avLst/>
          </a:prstGeom>
          <a:noFill/>
        </p:spPr>
        <p:txBody>
          <a:bodyPr wrap="square" rtlCol="0">
            <a:spAutoFit/>
          </a:bodyPr>
          <a:p>
            <a:r>
              <a:rPr lang="en-US" altLang="zh-CN" sz="2000" b="1">
                <a:latin typeface="Arial Bold" panose="020B0604020202090204" charset="0"/>
                <a:cs typeface="Arial Bold" panose="020B0604020202090204" charset="0"/>
              </a:rPr>
              <a:t>R</a:t>
            </a:r>
            <a:r>
              <a:rPr lang="en-US" altLang="zh-CN" sz="2000" b="1">
                <a:latin typeface="Arial Bold" panose="020B0604020202090204" charset="0"/>
                <a:cs typeface="Arial Bold" panose="020B0604020202090204" charset="0"/>
              </a:rPr>
              <a:t>esearch Significance</a:t>
            </a:r>
            <a:endParaRPr lang="en-US" altLang="zh-CN" sz="2000" b="1">
              <a:latin typeface="Arial Bold" panose="020B0604020202090204" charset="0"/>
              <a:cs typeface="Arial Bold" panose="020B060402020209020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1"/>
          <a:stretch>
            <a:fillRect/>
          </a:stretch>
        </p:blipFill>
        <p:spPr>
          <a:xfrm>
            <a:off x="386659" y="399928"/>
            <a:ext cx="1101330" cy="914522"/>
          </a:xfrm>
          <a:prstGeom prst="rect">
            <a:avLst/>
          </a:prstGeom>
        </p:spPr>
      </p:pic>
      <p:sp>
        <p:nvSpPr>
          <p:cNvPr id="12" name="文本框 11"/>
          <p:cNvSpPr txBox="1"/>
          <p:nvPr/>
        </p:nvSpPr>
        <p:spPr>
          <a:xfrm>
            <a:off x="1507038" y="500329"/>
            <a:ext cx="7757117" cy="583565"/>
          </a:xfrm>
          <a:prstGeom prst="rect">
            <a:avLst/>
          </a:prstGeom>
          <a:noFill/>
        </p:spPr>
        <p:txBody>
          <a:bodyPr wrap="square" rtlCol="0">
            <a:spAutoFit/>
          </a:bodyPr>
          <a:lstStyle/>
          <a:p>
            <a:r>
              <a:rPr lang="en-US" altLang="zh-CN" sz="3200" b="1" dirty="0">
                <a:latin typeface="Times New Roman" panose="02020503050405090304" pitchFamily="18" charset="0"/>
                <a:ea typeface="SimHei" panose="02010609060101010101" pitchFamily="49" charset="-122"/>
                <a:cs typeface="Times New Roman" panose="02020503050405090304" pitchFamily="18" charset="0"/>
              </a:rPr>
              <a:t>R</a:t>
            </a:r>
            <a:r>
              <a:rPr lang="en-US" altLang="zh-CN" sz="3200" b="1" dirty="0">
                <a:latin typeface="Times New Roman" panose="02020503050405090304" pitchFamily="18" charset="0"/>
                <a:ea typeface="SimHei" panose="02010609060101010101" pitchFamily="49" charset="-122"/>
                <a:cs typeface="Times New Roman" panose="02020503050405090304" pitchFamily="18" charset="0"/>
              </a:rPr>
              <a:t>esearch Background</a:t>
            </a:r>
            <a:endParaRPr lang="en-US" altLang="zh-CN" sz="3200" b="1" dirty="0">
              <a:latin typeface="Times New Roman" panose="02020503050405090304" pitchFamily="18" charset="0"/>
              <a:ea typeface="SimHei" panose="02010609060101010101" pitchFamily="49" charset="-122"/>
              <a:cs typeface="Times New Roman" panose="02020503050405090304" pitchFamily="18" charset="0"/>
            </a:endParaRPr>
          </a:p>
        </p:txBody>
      </p:sp>
      <p:sp>
        <p:nvSpPr>
          <p:cNvPr id="35" name="圆角矩形 34"/>
          <p:cNvSpPr/>
          <p:nvPr/>
        </p:nvSpPr>
        <p:spPr>
          <a:xfrm>
            <a:off x="581660" y="1988185"/>
            <a:ext cx="2904490" cy="103060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Tx/>
              <a:buSzTx/>
              <a:buFontTx/>
            </a:pPr>
            <a:r>
              <a:rPr kumimoji="1" lang="en-US" altLang="zh-CN" sz="2000" dirty="0">
                <a:latin typeface="Arial Regular" panose="020B0604020202090204" charset="0"/>
                <a:ea typeface="SimHei" panose="02010609060101010101" pitchFamily="49" charset="-122"/>
                <a:cs typeface="Arial Regular" panose="020B0604020202090204" charset="0"/>
              </a:rPr>
              <a:t>Mere Linguistic Analysis</a:t>
            </a:r>
            <a:endParaRPr kumimoji="1" lang="en-US" altLang="zh-CN" sz="2000" dirty="0">
              <a:latin typeface="Arial Regular" panose="020B0604020202090204" charset="0"/>
              <a:ea typeface="SimHei" panose="02010609060101010101" pitchFamily="49" charset="-122"/>
              <a:cs typeface="Arial Regular" panose="020B0604020202090204" charset="0"/>
            </a:endParaRPr>
          </a:p>
        </p:txBody>
      </p:sp>
      <p:sp>
        <p:nvSpPr>
          <p:cNvPr id="36" name="右箭头 35"/>
          <p:cNvSpPr/>
          <p:nvPr/>
        </p:nvSpPr>
        <p:spPr>
          <a:xfrm>
            <a:off x="3915557" y="2201972"/>
            <a:ext cx="470263" cy="509451"/>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kumimoji="1" lang="zh-CN" altLang="en-US"/>
          </a:p>
        </p:txBody>
      </p:sp>
      <p:sp>
        <p:nvSpPr>
          <p:cNvPr id="41" name="圆角矩形 40"/>
          <p:cNvSpPr/>
          <p:nvPr/>
        </p:nvSpPr>
        <p:spPr>
          <a:xfrm>
            <a:off x="4879340" y="1988185"/>
            <a:ext cx="3318510" cy="103124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Tx/>
              <a:buSzTx/>
              <a:buFontTx/>
            </a:pPr>
            <a:r>
              <a:rPr kumimoji="1" lang="en-US" altLang="zh-CN" sz="2000" dirty="0">
                <a:latin typeface="Arial Regular" panose="020B0604020202090204" charset="0"/>
                <a:ea typeface="SimHei" panose="02010609060101010101" pitchFamily="49" charset="-122"/>
                <a:cs typeface="Arial Regular" panose="020B0604020202090204" charset="0"/>
              </a:rPr>
              <a:t> Interdisciplinary and Inter-A</a:t>
            </a:r>
            <a:r>
              <a:rPr kumimoji="1" lang="en-US" altLang="zh-CN" sz="2000" dirty="0">
                <a:latin typeface="Arial Regular" panose="020B0604020202090204" charset="0"/>
                <a:ea typeface="SimHei" panose="02010609060101010101" pitchFamily="49" charset="-122"/>
                <a:cs typeface="Arial Regular" panose="020B0604020202090204" charset="0"/>
              </a:rPr>
              <a:t>rts Analysis</a:t>
            </a:r>
            <a:endParaRPr kumimoji="1" lang="en-US" altLang="zh-CN" sz="2000" dirty="0">
              <a:latin typeface="Arial Regular" panose="020B0604020202090204" charset="0"/>
              <a:ea typeface="SimHei" panose="02010609060101010101" pitchFamily="49" charset="-122"/>
              <a:cs typeface="Arial Regular" panose="020B0604020202090204" charset="0"/>
            </a:endParaRPr>
          </a:p>
        </p:txBody>
      </p:sp>
      <p:sp>
        <p:nvSpPr>
          <p:cNvPr id="2" name="文本框 1"/>
          <p:cNvSpPr txBox="1"/>
          <p:nvPr/>
        </p:nvSpPr>
        <p:spPr>
          <a:xfrm>
            <a:off x="487045" y="1268095"/>
            <a:ext cx="5162550" cy="688975"/>
          </a:xfrm>
          <a:prstGeom prst="rect">
            <a:avLst/>
          </a:prstGeom>
          <a:noFill/>
        </p:spPr>
        <p:txBody>
          <a:bodyPr wrap="square" rtlCol="0">
            <a:noAutofit/>
          </a:bodyPr>
          <a:p>
            <a:pPr algn="l">
              <a:buClrTx/>
              <a:buSzTx/>
              <a:buFontTx/>
            </a:pPr>
            <a:r>
              <a:rPr lang="en-US" altLang="zh-CN" sz="2400" b="1">
                <a:latin typeface="Arial Bold" panose="020B0604020202090204" charset="0"/>
                <a:cs typeface="Arial Bold" panose="020B0604020202090204" charset="0"/>
              </a:rPr>
              <a:t>1. Studies on L</a:t>
            </a:r>
            <a:r>
              <a:rPr lang="en-US" altLang="zh-CN" sz="2400" b="1">
                <a:latin typeface="Arial Bold" panose="020B0604020202090204" charset="0"/>
                <a:cs typeface="Arial Bold" panose="020B0604020202090204" charset="0"/>
              </a:rPr>
              <a:t>iterary Translation</a:t>
            </a:r>
            <a:endParaRPr lang="en-US" altLang="zh-CN" sz="2400" b="1">
              <a:latin typeface="Arial Bold" panose="020B0604020202090204" charset="0"/>
              <a:cs typeface="Arial Bold" panose="020B0604020202090204" charset="0"/>
            </a:endParaRPr>
          </a:p>
        </p:txBody>
      </p:sp>
      <p:sp>
        <p:nvSpPr>
          <p:cNvPr id="3" name="文本框 2"/>
          <p:cNvSpPr txBox="1"/>
          <p:nvPr>
            <p:custDataLst>
              <p:tags r:id="rId2"/>
            </p:custDataLst>
          </p:nvPr>
        </p:nvSpPr>
        <p:spPr>
          <a:xfrm>
            <a:off x="581660" y="3110230"/>
            <a:ext cx="7757795" cy="688975"/>
          </a:xfrm>
          <a:prstGeom prst="rect">
            <a:avLst/>
          </a:prstGeom>
          <a:noFill/>
        </p:spPr>
        <p:txBody>
          <a:bodyPr wrap="square" rtlCol="0">
            <a:noAutofit/>
          </a:bodyPr>
          <a:p>
            <a:pPr algn="l">
              <a:buClrTx/>
              <a:buSzTx/>
              <a:buFontTx/>
            </a:pPr>
            <a:r>
              <a:rPr lang="en-US" altLang="zh-CN" sz="2400">
                <a:latin typeface="Arial Bold" panose="020B0604020202090204" charset="0"/>
                <a:cs typeface="Arial Bold" panose="020B0604020202090204" charset="0"/>
              </a:rPr>
              <a:t>2. Studies on the English translation of </a:t>
            </a:r>
            <a:r>
              <a:rPr lang="en-US" altLang="zh-CN" sz="2400" i="1">
                <a:latin typeface="Arial Bold Italic" panose="020B0604020202090204" charset="0"/>
                <a:cs typeface="Arial Bold Italic" panose="020B0604020202090204" charset="0"/>
              </a:rPr>
              <a:t>Hongloumeng</a:t>
            </a:r>
            <a:endParaRPr lang="en-US" altLang="zh-CN" sz="2400" i="1">
              <a:latin typeface="Arial Bold Italic" panose="020B0604020202090204" charset="0"/>
              <a:cs typeface="Arial Bold Italic" panose="020B0604020202090204" charset="0"/>
            </a:endParaRPr>
          </a:p>
        </p:txBody>
      </p:sp>
      <p:sp>
        <p:nvSpPr>
          <p:cNvPr id="4" name="圆角矩形 3"/>
          <p:cNvSpPr/>
          <p:nvPr>
            <p:custDataLst>
              <p:tags r:id="rId3"/>
            </p:custDataLst>
          </p:nvPr>
        </p:nvSpPr>
        <p:spPr>
          <a:xfrm>
            <a:off x="636905" y="3980815"/>
            <a:ext cx="2848610" cy="688975"/>
          </a:xfrm>
          <a:prstGeom prst="round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kumimoji="1" lang="en-US" altLang="zh-CN" sz="2000" dirty="0">
                <a:latin typeface="Arial Regular" panose="020B0604020202090204" charset="0"/>
                <a:ea typeface="SimHei" panose="02010609060101010101" pitchFamily="49" charset="-122"/>
                <a:cs typeface="Arial Regular" panose="020B0604020202090204" charset="0"/>
              </a:rPr>
              <a:t>C</a:t>
            </a:r>
            <a:r>
              <a:rPr kumimoji="1" lang="en-US" altLang="zh-CN" sz="2000" dirty="0">
                <a:latin typeface="Arial Regular" panose="020B0604020202090204" charset="0"/>
                <a:ea typeface="SimHei" panose="02010609060101010101" pitchFamily="49" charset="-122"/>
                <a:cs typeface="Arial Regular" panose="020B0604020202090204" charset="0"/>
              </a:rPr>
              <a:t>ao Xueqin: Writer</a:t>
            </a:r>
            <a:endParaRPr kumimoji="1" lang="en-US" altLang="zh-CN" sz="2000" dirty="0">
              <a:latin typeface="Arial Regular" panose="020B0604020202090204" charset="0"/>
              <a:ea typeface="SimHei" panose="02010609060101010101" pitchFamily="49" charset="-122"/>
              <a:cs typeface="Arial Regular" panose="020B0604020202090204" charset="0"/>
            </a:endParaRPr>
          </a:p>
        </p:txBody>
      </p:sp>
      <p:sp>
        <p:nvSpPr>
          <p:cNvPr id="6" name="圆角矩形 5"/>
          <p:cNvSpPr/>
          <p:nvPr>
            <p:custDataLst>
              <p:tags r:id="rId4"/>
            </p:custDataLst>
          </p:nvPr>
        </p:nvSpPr>
        <p:spPr>
          <a:xfrm>
            <a:off x="660400" y="4851400"/>
            <a:ext cx="2848610" cy="689610"/>
          </a:xfrm>
          <a:prstGeom prst="round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kumimoji="1" lang="en-US" altLang="zh-CN" sz="2000" dirty="0">
                <a:latin typeface="Arial Regular" panose="020B0604020202090204" charset="0"/>
                <a:ea typeface="SimHei" panose="02010609060101010101" pitchFamily="49" charset="-122"/>
                <a:cs typeface="Arial Regular" panose="020B0604020202090204" charset="0"/>
              </a:rPr>
              <a:t>David Hawkes: Translator</a:t>
            </a:r>
            <a:endParaRPr kumimoji="1" lang="en-US" altLang="zh-CN" sz="2000" dirty="0">
              <a:latin typeface="Arial Regular" panose="020B0604020202090204" charset="0"/>
              <a:ea typeface="SimHei" panose="02010609060101010101" pitchFamily="49" charset="-122"/>
              <a:cs typeface="Arial Regular" panose="020B0604020202090204" charset="0"/>
            </a:endParaRPr>
          </a:p>
        </p:txBody>
      </p:sp>
      <p:sp>
        <p:nvSpPr>
          <p:cNvPr id="8" name="圆角矩形 7"/>
          <p:cNvSpPr/>
          <p:nvPr>
            <p:custDataLst>
              <p:tags r:id="rId5"/>
            </p:custDataLst>
          </p:nvPr>
        </p:nvSpPr>
        <p:spPr>
          <a:xfrm>
            <a:off x="4857115" y="3923665"/>
            <a:ext cx="3318510" cy="688975"/>
          </a:xfrm>
          <a:prstGeom prst="round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kumimoji="1" lang="en-US" altLang="zh-CN" sz="2000" dirty="0">
                <a:latin typeface="Arial Regular" panose="020B0604020202090204" charset="0"/>
                <a:ea typeface="SimHei" panose="02010609060101010101" pitchFamily="49" charset="-122"/>
                <a:cs typeface="Arial Regular" panose="020B0604020202090204" charset="0"/>
              </a:rPr>
              <a:t>Painter</a:t>
            </a:r>
            <a:r>
              <a:rPr kumimoji="1" lang="zh-CN" altLang="en-US" sz="2000" dirty="0">
                <a:latin typeface="SimHei" panose="02010609060101010101" pitchFamily="49" charset="-122"/>
                <a:ea typeface="SimHei" panose="02010609060101010101" pitchFamily="49" charset="-122"/>
              </a:rPr>
              <a:t>（张克锋，</a:t>
            </a:r>
            <a:r>
              <a:rPr kumimoji="1" lang="zh-CN" altLang="en-US" sz="2000" dirty="0">
                <a:latin typeface="Arial Regular" panose="020B0604020202090204" charset="0"/>
                <a:ea typeface="SimHei" panose="02010609060101010101" pitchFamily="49" charset="-122"/>
                <a:cs typeface="Arial Regular" panose="020B0604020202090204" charset="0"/>
              </a:rPr>
              <a:t>2011</a:t>
            </a:r>
            <a:r>
              <a:rPr kumimoji="1" lang="zh-CN" altLang="en-US" sz="2000" dirty="0">
                <a:latin typeface="SimHei" panose="02010609060101010101" pitchFamily="49" charset="-122"/>
                <a:ea typeface="SimHei" panose="02010609060101010101" pitchFamily="49" charset="-122"/>
              </a:rPr>
              <a:t>）</a:t>
            </a:r>
            <a:endParaRPr kumimoji="1" lang="zh-CN" altLang="en-US" sz="2000" dirty="0">
              <a:latin typeface="SimHei" panose="02010609060101010101" pitchFamily="49" charset="-122"/>
              <a:ea typeface="SimHei" panose="02010609060101010101" pitchFamily="49" charset="-122"/>
            </a:endParaRPr>
          </a:p>
        </p:txBody>
      </p:sp>
      <p:sp>
        <p:nvSpPr>
          <p:cNvPr id="9" name="圆角矩形 8"/>
          <p:cNvSpPr/>
          <p:nvPr>
            <p:custDataLst>
              <p:tags r:id="rId6"/>
            </p:custDataLst>
          </p:nvPr>
        </p:nvSpPr>
        <p:spPr>
          <a:xfrm>
            <a:off x="4879340" y="4886325"/>
            <a:ext cx="3319145" cy="689610"/>
          </a:xfrm>
          <a:prstGeom prst="round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kumimoji="1" lang="en-US" altLang="zh-CN" sz="2000" dirty="0">
                <a:latin typeface="Arial Regular" panose="020B0604020202090204" charset="0"/>
                <a:ea typeface="SimHei" panose="02010609060101010101" pitchFamily="49" charset="-122"/>
                <a:cs typeface="Arial Regular" panose="020B0604020202090204" charset="0"/>
              </a:rPr>
              <a:t>Amateur Painter </a:t>
            </a:r>
            <a:r>
              <a:rPr kumimoji="1" lang="en-US" altLang="zh-CN" sz="2000" dirty="0">
                <a:latin typeface="SimHei" panose="02010609060101010101" pitchFamily="49" charset="-122"/>
                <a:ea typeface="SimHei" panose="02010609060101010101" pitchFamily="49" charset="-122"/>
              </a:rPr>
              <a:t>(范圣宇, </a:t>
            </a:r>
            <a:r>
              <a:rPr kumimoji="1" lang="en-US" altLang="zh-CN" sz="2000" dirty="0">
                <a:latin typeface="Arial Regular" panose="020B0604020202090204" charset="0"/>
                <a:ea typeface="SimHei" panose="02010609060101010101" pitchFamily="49" charset="-122"/>
                <a:cs typeface="Arial Regular" panose="020B0604020202090204" charset="0"/>
              </a:rPr>
              <a:t>2022: 22</a:t>
            </a:r>
            <a:r>
              <a:rPr kumimoji="1" lang="en-US" altLang="zh-CN" sz="2000" dirty="0">
                <a:latin typeface="SimHei" panose="02010609060101010101" pitchFamily="49" charset="-122"/>
                <a:ea typeface="SimHei" panose="02010609060101010101" pitchFamily="49" charset="-122"/>
              </a:rPr>
              <a:t>)</a:t>
            </a:r>
            <a:endParaRPr kumimoji="1" lang="en-US" altLang="zh-CN" sz="2000" dirty="0">
              <a:latin typeface="SimHei" panose="02010609060101010101" pitchFamily="49" charset="-122"/>
              <a:ea typeface="SimHei" panose="02010609060101010101" pitchFamily="49" charset="-122"/>
            </a:endParaRPr>
          </a:p>
        </p:txBody>
      </p:sp>
      <p:sp>
        <p:nvSpPr>
          <p:cNvPr id="10" name="右箭头 9"/>
          <p:cNvSpPr/>
          <p:nvPr>
            <p:custDataLst>
              <p:tags r:id="rId7"/>
            </p:custDataLst>
          </p:nvPr>
        </p:nvSpPr>
        <p:spPr>
          <a:xfrm>
            <a:off x="3887617" y="4044742"/>
            <a:ext cx="470263" cy="509451"/>
          </a:xfrm>
          <a:prstGeom prst="rightArrow">
            <a:avLst/>
          </a:prstGeom>
          <a:solidFill>
            <a:schemeClr val="accent6">
              <a:lumMod val="40000"/>
              <a:lumOff val="60000"/>
            </a:schemeClr>
          </a:solidFill>
          <a:ln w="0" cap="flat" cmpd="sng">
            <a:solidFill>
              <a:schemeClr val="accent6">
                <a:lumMod val="40000"/>
                <a:lumOff val="60000"/>
              </a:schemeClr>
            </a:solidFill>
            <a:prstDash val="solid"/>
            <a:miter lim="800000"/>
          </a:ln>
        </p:spPr>
        <p:style>
          <a:lnRef idx="2">
            <a:schemeClr val="accent2">
              <a:shade val="50000"/>
            </a:schemeClr>
          </a:lnRef>
          <a:fillRef idx="1">
            <a:schemeClr val="accent2"/>
          </a:fillRef>
          <a:effectRef idx="0">
            <a:schemeClr val="accent2"/>
          </a:effectRef>
          <a:fontRef idx="minor">
            <a:schemeClr val="lt1"/>
          </a:fontRef>
        </p:style>
        <p:txBody>
          <a:bodyPr rtlCol="0" anchor="ctr"/>
          <a:p>
            <a:pPr algn="ctr"/>
            <a:endParaRPr kumimoji="1" lang="zh-CN" altLang="en-US">
              <a:solidFill>
                <a:schemeClr val="lt1"/>
              </a:solidFill>
              <a:latin typeface="等线" charset="0"/>
              <a:ea typeface="等线" charset="0"/>
            </a:endParaRPr>
          </a:p>
        </p:txBody>
      </p:sp>
      <p:sp>
        <p:nvSpPr>
          <p:cNvPr id="11" name="右箭头 10"/>
          <p:cNvSpPr/>
          <p:nvPr>
            <p:custDataLst>
              <p:tags r:id="rId8"/>
            </p:custDataLst>
          </p:nvPr>
        </p:nvSpPr>
        <p:spPr>
          <a:xfrm>
            <a:off x="3883660" y="4952365"/>
            <a:ext cx="502285" cy="509270"/>
          </a:xfrm>
          <a:prstGeom prst="rightArrow">
            <a:avLst/>
          </a:prstGeom>
          <a:solidFill>
            <a:schemeClr val="accent4">
              <a:lumMod val="60000"/>
              <a:lumOff val="40000"/>
            </a:schemeClr>
          </a:solidFill>
          <a:ln w="0" cap="flat" cmpd="sng">
            <a:solidFill>
              <a:schemeClr val="accent4">
                <a:lumMod val="40000"/>
                <a:lumOff val="60000"/>
              </a:schemeClr>
            </a:solidFill>
            <a:prstDash val="solid"/>
            <a:miter lim="800000"/>
          </a:ln>
        </p:spPr>
        <p:style>
          <a:lnRef idx="2">
            <a:schemeClr val="accent2">
              <a:shade val="50000"/>
            </a:schemeClr>
          </a:lnRef>
          <a:fillRef idx="1">
            <a:schemeClr val="accent2"/>
          </a:fillRef>
          <a:effectRef idx="0">
            <a:schemeClr val="accent2"/>
          </a:effectRef>
          <a:fontRef idx="minor">
            <a:schemeClr val="lt1"/>
          </a:fontRef>
        </p:style>
        <p:txBody>
          <a:bodyPr rtlCol="0" anchor="ctr"/>
          <a:p>
            <a:pPr algn="ctr"/>
            <a:endParaRPr kumimoji="1" lang="zh-CN" altLang="en-US">
              <a:solidFill>
                <a:schemeClr val="lt1"/>
              </a:solidFill>
              <a:latin typeface="等线" charset="0"/>
              <a:ea typeface="等线" charset="0"/>
            </a:endParaRPr>
          </a:p>
        </p:txBody>
      </p:sp>
      <p:sp>
        <p:nvSpPr>
          <p:cNvPr id="14" name="右大括号 13"/>
          <p:cNvSpPr/>
          <p:nvPr/>
        </p:nvSpPr>
        <p:spPr>
          <a:xfrm>
            <a:off x="8674735" y="2202180"/>
            <a:ext cx="188595" cy="3160395"/>
          </a:xfrm>
          <a:prstGeom prst="rightBrace">
            <a:avLst/>
          </a:prstGeom>
          <a:ln w="28575" cmpd="sng">
            <a:solidFill>
              <a:schemeClr val="tx1"/>
            </a:solidFill>
            <a:prstDash val="solid"/>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15" name="文本框 14"/>
          <p:cNvSpPr txBox="1"/>
          <p:nvPr/>
        </p:nvSpPr>
        <p:spPr>
          <a:xfrm>
            <a:off x="5989320" y="904875"/>
            <a:ext cx="2088515" cy="2113915"/>
          </a:xfrm>
          <a:prstGeom prst="rect">
            <a:avLst/>
          </a:prstGeom>
          <a:noFill/>
        </p:spPr>
        <p:txBody>
          <a:bodyPr wrap="square" rtlCol="0">
            <a:noAutofit/>
          </a:bodyPr>
          <a:p>
            <a:pPr algn="just" fontAlgn="auto">
              <a:lnSpc>
                <a:spcPct val="100000"/>
              </a:lnSpc>
              <a:buClrTx/>
              <a:buSzTx/>
              <a:buFontTx/>
            </a:pPr>
            <a:endParaRPr kumimoji="1" lang="en-US" altLang="zh-CN" b="1" i="1" dirty="0">
              <a:solidFill>
                <a:schemeClr val="tx1"/>
              </a:solidFill>
              <a:latin typeface="Arial Bold Italic" panose="020B0604020202090204" charset="0"/>
              <a:ea typeface="SimHei" panose="02010609060101010101" pitchFamily="49" charset="-122"/>
              <a:cs typeface="Arial Bold Italic" panose="020B0604020202090204" charset="0"/>
            </a:endParaRPr>
          </a:p>
        </p:txBody>
      </p:sp>
      <p:sp>
        <p:nvSpPr>
          <p:cNvPr id="17" name="圆角矩形 16"/>
          <p:cNvSpPr/>
          <p:nvPr/>
        </p:nvSpPr>
        <p:spPr>
          <a:xfrm>
            <a:off x="9460230" y="2827655"/>
            <a:ext cx="2366010" cy="1975485"/>
          </a:xfrm>
          <a:prstGeom prst="roundRect">
            <a:avLst/>
          </a:prstGeom>
          <a:solidFill>
            <a:schemeClr val="accent4">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b="1">
                <a:solidFill>
                  <a:schemeClr val="tx1"/>
                </a:solidFill>
                <a:latin typeface="Arial Bold" panose="020B0604020202090204" charset="0"/>
                <a:cs typeface="Arial Bold" panose="020B0604020202090204" charset="0"/>
              </a:rPr>
              <a:t>Interrelationship between Painting and Hawkes</a:t>
            </a:r>
            <a:r>
              <a:rPr lang="en-US" altLang="zh-CN" b="1">
                <a:solidFill>
                  <a:schemeClr val="tx1"/>
                </a:solidFill>
                <a:latin typeface="Arial Bold" panose="020B0604020202090204" charset="0"/>
                <a:cs typeface="Arial Bold" panose="020B0604020202090204" charset="0"/>
              </a:rPr>
              <a:t>’</a:t>
            </a:r>
            <a:r>
              <a:rPr lang="zh-CN" altLang="en-US" b="1">
                <a:solidFill>
                  <a:schemeClr val="tx1"/>
                </a:solidFill>
                <a:latin typeface="Arial Bold" panose="020B0604020202090204" charset="0"/>
                <a:cs typeface="Arial Bold" panose="020B0604020202090204" charset="0"/>
              </a:rPr>
              <a:t> Translation of </a:t>
            </a:r>
            <a:r>
              <a:rPr lang="zh-CN" altLang="en-US" b="1" i="1">
                <a:solidFill>
                  <a:schemeClr val="tx1"/>
                </a:solidFill>
                <a:latin typeface="Arial Bold Italic" panose="020B0604020202090204" charset="0"/>
                <a:cs typeface="Arial Bold Italic" panose="020B0604020202090204" charset="0"/>
              </a:rPr>
              <a:t>Hongloumeng</a:t>
            </a:r>
            <a:endParaRPr lang="zh-CN" altLang="en-US" b="1" i="1">
              <a:solidFill>
                <a:schemeClr val="tx1"/>
              </a:solidFill>
              <a:latin typeface="Arial Bold Italic" panose="020B0604020202090204" charset="0"/>
              <a:cs typeface="Arial Bold Italic" panose="020B0604020202090204" charset="0"/>
            </a:endParaRPr>
          </a:p>
          <a:p>
            <a:pPr algn="ctr"/>
            <a:endParaRPr lang="zh-CN" altLang="en-US" b="1" i="1">
              <a:solidFill>
                <a:schemeClr val="tx1"/>
              </a:solidFill>
              <a:latin typeface="Arial Bold Italic" panose="020B0604020202090204" charset="0"/>
              <a:cs typeface="Arial Bold Italic" panose="020B0604020202090204" charset="0"/>
            </a:endParaRPr>
          </a:p>
        </p:txBody>
      </p:sp>
      <p:sp>
        <p:nvSpPr>
          <p:cNvPr id="19" name="文本框 18"/>
          <p:cNvSpPr txBox="1"/>
          <p:nvPr/>
        </p:nvSpPr>
        <p:spPr>
          <a:xfrm>
            <a:off x="246380" y="5859780"/>
            <a:ext cx="11688445" cy="777240"/>
          </a:xfrm>
          <a:prstGeom prst="rect">
            <a:avLst/>
          </a:prstGeom>
          <a:noFill/>
        </p:spPr>
        <p:txBody>
          <a:bodyPr wrap="square" rtlCol="0">
            <a:noAutofit/>
          </a:bodyPr>
          <a:p>
            <a:r>
              <a:rPr lang="en-US" altLang="zh-CN" sz="1400">
                <a:latin typeface="Arial Regular" panose="020B0604020202090204" charset="0"/>
                <a:cs typeface="Arial Regular" panose="020B0604020202090204" charset="0"/>
              </a:rPr>
              <a:t>[1]</a:t>
            </a:r>
            <a:r>
              <a:rPr lang="zh-CN" altLang="en-US" sz="1400">
                <a:latin typeface="Arial Regular" panose="020B0604020202090204" charset="0"/>
                <a:cs typeface="Arial Regular" panose="020B0604020202090204" charset="0"/>
              </a:rPr>
              <a:t>张克锋</a:t>
            </a:r>
            <a:r>
              <a:rPr lang="en-US" altLang="zh-CN" sz="1400">
                <a:latin typeface="Arial Regular" panose="020B0604020202090204" charset="0"/>
                <a:cs typeface="Arial Regular" panose="020B0604020202090204" charset="0"/>
              </a:rPr>
              <a:t>. 2011. </a:t>
            </a:r>
            <a:r>
              <a:rPr lang="zh-CN" altLang="en-US" sz="1400">
                <a:latin typeface="Arial Regular" panose="020B0604020202090204" charset="0"/>
                <a:cs typeface="Arial Regular" panose="020B0604020202090204" charset="0"/>
              </a:rPr>
              <a:t>近六十年来《红楼梦》与绘画研究述评[J].</a:t>
            </a:r>
            <a:r>
              <a:rPr lang="en-US" altLang="zh-CN" sz="1400">
                <a:latin typeface="Arial Regular" panose="020B0604020202090204" charset="0"/>
                <a:cs typeface="Arial Regular" panose="020B0604020202090204" charset="0"/>
              </a:rPr>
              <a:t> </a:t>
            </a:r>
            <a:r>
              <a:rPr lang="zh-CN" altLang="en-US" sz="1400">
                <a:latin typeface="Arial Regular" panose="020B0604020202090204" charset="0"/>
                <a:cs typeface="Arial Regular" panose="020B0604020202090204" charset="0"/>
              </a:rPr>
              <a:t>红楼梦学刊,</a:t>
            </a:r>
            <a:r>
              <a:rPr lang="en-US" altLang="zh-CN" sz="1400">
                <a:latin typeface="Arial Regular" panose="020B0604020202090204" charset="0"/>
                <a:cs typeface="Arial Regular" panose="020B0604020202090204" charset="0"/>
              </a:rPr>
              <a:t> </a:t>
            </a:r>
            <a:r>
              <a:rPr lang="zh-CN" altLang="en-US" sz="1400">
                <a:latin typeface="Arial Regular" panose="020B0604020202090204" charset="0"/>
                <a:cs typeface="Arial Regular" panose="020B0604020202090204" charset="0"/>
              </a:rPr>
              <a:t>(2):</a:t>
            </a:r>
            <a:r>
              <a:rPr lang="en-US" altLang="zh-CN" sz="1400">
                <a:latin typeface="Arial Regular" panose="020B0604020202090204" charset="0"/>
                <a:cs typeface="Arial Regular" panose="020B0604020202090204" charset="0"/>
              </a:rPr>
              <a:t> </a:t>
            </a:r>
            <a:r>
              <a:rPr lang="zh-CN" altLang="en-US" sz="1400">
                <a:latin typeface="Arial Regular" panose="020B0604020202090204" charset="0"/>
                <a:cs typeface="Arial Regular" panose="020B0604020202090204" charset="0"/>
              </a:rPr>
              <a:t>228-255.</a:t>
            </a:r>
            <a:endParaRPr lang="zh-CN" altLang="en-US" sz="1400">
              <a:latin typeface="Arial Regular" panose="020B0604020202090204" charset="0"/>
              <a:cs typeface="Arial Regular" panose="020B0604020202090204" charset="0"/>
            </a:endParaRPr>
          </a:p>
          <a:p>
            <a:r>
              <a:rPr kumimoji="1" lang="en-US" sz="1400" dirty="0">
                <a:latin typeface="Arial Regular" panose="020B0604020202090204" charset="0"/>
                <a:ea typeface="SimHei" panose="02010609060101010101" pitchFamily="49" charset="-122"/>
                <a:cs typeface="Arial Regular" panose="020B0604020202090204" charset="0"/>
                <a:sym typeface="+mn-ea"/>
              </a:rPr>
              <a:t>[2]</a:t>
            </a:r>
            <a:r>
              <a:rPr kumimoji="1" sz="1400" dirty="0">
                <a:latin typeface="Arial Regular" panose="020B0604020202090204" charset="0"/>
                <a:ea typeface="SimHei" panose="02010609060101010101" pitchFamily="49" charset="-122"/>
                <a:cs typeface="Arial Regular" panose="020B0604020202090204" charset="0"/>
                <a:sym typeface="+mn-ea"/>
              </a:rPr>
              <a:t>Fan Shengyu. 2022. The Translator’s Mirror for the Romantic: Cao Xueqin’s </a:t>
            </a:r>
            <a:r>
              <a:rPr kumimoji="1" sz="1400" i="1" dirty="0">
                <a:latin typeface="Arial Italic" panose="020B0604020202090204" charset="0"/>
                <a:ea typeface="SimHei" panose="02010609060101010101" pitchFamily="49" charset="-122"/>
                <a:cs typeface="Arial Italic" panose="020B0604020202090204" charset="0"/>
                <a:sym typeface="+mn-ea"/>
              </a:rPr>
              <a:t>Dream</a:t>
            </a:r>
            <a:r>
              <a:rPr kumimoji="1" sz="1400" dirty="0">
                <a:latin typeface="Arial Regular" panose="020B0604020202090204" charset="0"/>
                <a:ea typeface="SimHei" panose="02010609060101010101" pitchFamily="49" charset="-122"/>
                <a:cs typeface="Arial Regular" panose="020B0604020202090204" charset="0"/>
                <a:sym typeface="+mn-ea"/>
              </a:rPr>
              <a:t> and David Hawkes’ </a:t>
            </a:r>
            <a:r>
              <a:rPr kumimoji="1" sz="1400" i="1" dirty="0">
                <a:latin typeface="Arial Italic" panose="020B0604020202090204" charset="0"/>
                <a:ea typeface="SimHei" panose="02010609060101010101" pitchFamily="49" charset="-122"/>
                <a:cs typeface="Arial Italic" panose="020B0604020202090204" charset="0"/>
                <a:sym typeface="+mn-ea"/>
              </a:rPr>
              <a:t>Stone</a:t>
            </a:r>
            <a:r>
              <a:rPr kumimoji="1" sz="1400" dirty="0">
                <a:latin typeface="Arial Regular" panose="020B0604020202090204" charset="0"/>
                <a:ea typeface="SimHei" panose="02010609060101010101" pitchFamily="49" charset="-122"/>
                <a:cs typeface="Arial Regular" panose="020B0604020202090204" charset="0"/>
                <a:sym typeface="+mn-ea"/>
              </a:rPr>
              <a:t>[M]. London and New York: Routledge.</a:t>
            </a:r>
            <a:endParaRPr kumimoji="1" sz="1400" dirty="0">
              <a:latin typeface="Arial Regular" panose="020B0604020202090204" charset="0"/>
              <a:ea typeface="SimHei" panose="02010609060101010101" pitchFamily="49" charset="-122"/>
              <a:cs typeface="Arial Regular" panose="020B0604020202090204" charset="0"/>
              <a:sym typeface="+mn-ea"/>
            </a:endParaRPr>
          </a:p>
          <a:p>
            <a:endParaRPr lang="zh-CN" altLang="en-US"/>
          </a:p>
          <a:p>
            <a:endParaRPr lang="zh-CN"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1"/>
          <a:stretch>
            <a:fillRect/>
          </a:stretch>
        </p:blipFill>
        <p:spPr>
          <a:xfrm>
            <a:off x="386659" y="399928"/>
            <a:ext cx="1101330" cy="914522"/>
          </a:xfrm>
          <a:prstGeom prst="rect">
            <a:avLst/>
          </a:prstGeom>
        </p:spPr>
      </p:pic>
      <p:sp>
        <p:nvSpPr>
          <p:cNvPr id="12" name="文本框 11"/>
          <p:cNvSpPr txBox="1"/>
          <p:nvPr/>
        </p:nvSpPr>
        <p:spPr>
          <a:xfrm>
            <a:off x="1506855" y="500380"/>
            <a:ext cx="10013315" cy="583565"/>
          </a:xfrm>
          <a:prstGeom prst="rect">
            <a:avLst/>
          </a:prstGeom>
          <a:noFill/>
        </p:spPr>
        <p:txBody>
          <a:bodyPr wrap="square" rtlCol="0">
            <a:spAutoFit/>
          </a:bodyPr>
          <a:lstStyle/>
          <a:p>
            <a:r>
              <a:rPr lang="en-US" altLang="zh-CN" sz="3200" b="1" dirty="0">
                <a:latin typeface="Times New Roman" panose="02020503050405090304" pitchFamily="18" charset="0"/>
                <a:ea typeface="SimHei" panose="02010609060101010101" pitchFamily="49" charset="-122"/>
                <a:cs typeface="Times New Roman" panose="02020503050405090304" pitchFamily="18" charset="0"/>
              </a:rPr>
              <a:t>Research Significance</a:t>
            </a:r>
            <a:endParaRPr lang="en-US" altLang="zh-CN" sz="3200" b="1" dirty="0">
              <a:latin typeface="Times New Roman" panose="02020503050405090304" pitchFamily="18" charset="0"/>
              <a:ea typeface="SimHei" panose="02010609060101010101" pitchFamily="49" charset="-122"/>
              <a:cs typeface="Times New Roman" panose="02020503050405090304" pitchFamily="18" charset="0"/>
            </a:endParaRPr>
          </a:p>
        </p:txBody>
      </p:sp>
      <p:sp>
        <p:nvSpPr>
          <p:cNvPr id="3" name="文本框 2"/>
          <p:cNvSpPr txBox="1"/>
          <p:nvPr>
            <p:custDataLst>
              <p:tags r:id="rId2"/>
            </p:custDataLst>
          </p:nvPr>
        </p:nvSpPr>
        <p:spPr>
          <a:xfrm>
            <a:off x="871220" y="1443355"/>
            <a:ext cx="10648950" cy="4808220"/>
          </a:xfrm>
          <a:prstGeom prst="rect">
            <a:avLst/>
          </a:prstGeom>
          <a:noFill/>
        </p:spPr>
        <p:txBody>
          <a:bodyPr wrap="square" rtlCol="0">
            <a:noAutofit/>
          </a:bodyPr>
          <a:p>
            <a:pPr indent="0" algn="just" fontAlgn="auto">
              <a:lnSpc>
                <a:spcPct val="150000"/>
              </a:lnSpc>
              <a:buClrTx/>
              <a:buSzTx/>
              <a:buFontTx/>
            </a:pPr>
            <a:r>
              <a:rPr lang="en-US" altLang="zh-CN" sz="2800" b="1">
                <a:latin typeface="Arial Bold" panose="020B0604020202090204" charset="0"/>
                <a:cs typeface="Arial Bold" panose="020B0604020202090204" charset="0"/>
              </a:rPr>
              <a:t>(1)Expanding the application of Painting-Based Translation in literary translation</a:t>
            </a:r>
            <a:endParaRPr lang="en-US" altLang="zh-CN" sz="2800" b="1">
              <a:latin typeface="Arial Bold" panose="020B0604020202090204" charset="0"/>
              <a:cs typeface="Arial Bold" panose="020B0604020202090204" charset="0"/>
            </a:endParaRPr>
          </a:p>
          <a:p>
            <a:pPr indent="0" algn="just" fontAlgn="auto">
              <a:lnSpc>
                <a:spcPct val="150000"/>
              </a:lnSpc>
              <a:buClrTx/>
              <a:buSzTx/>
              <a:buFontTx/>
            </a:pPr>
            <a:r>
              <a:rPr lang="en-US" altLang="zh-CN" sz="2800" b="1">
                <a:latin typeface="Arial Bold" panose="020B0604020202090204" charset="0"/>
                <a:cs typeface="Arial Bold" panose="020B0604020202090204" charset="0"/>
              </a:rPr>
              <a:t>(2) Bringing fresh thinking to literary translation practice in the context of Chinese culture’s “going abroad”</a:t>
            </a:r>
            <a:endParaRPr lang="en-US" altLang="zh-CN" sz="2800" b="1">
              <a:latin typeface="Arial Bold" panose="020B0604020202090204" charset="0"/>
              <a:cs typeface="Arial Bold" panose="020B0604020202090204" charset="0"/>
            </a:endParaRPr>
          </a:p>
          <a:p>
            <a:pPr indent="0" algn="just" fontAlgn="auto">
              <a:lnSpc>
                <a:spcPct val="150000"/>
              </a:lnSpc>
              <a:buClrTx/>
              <a:buSzTx/>
              <a:buFontTx/>
            </a:pPr>
            <a:r>
              <a:rPr lang="en-US" altLang="zh-CN" sz="2800" b="1">
                <a:latin typeface="Arial Bold" panose="020B0604020202090204" charset="0"/>
                <a:cs typeface="Arial Bold" panose="020B0604020202090204" charset="0"/>
              </a:rPr>
              <a:t>(3) Advancing interdisciplinary and inter-arts studies of the book</a:t>
            </a:r>
            <a:endParaRPr lang="en-US" altLang="zh-CN" sz="2800" b="1">
              <a:latin typeface="Arial Bold" panose="020B0604020202090204" charset="0"/>
              <a:cs typeface="Arial Bold" panose="020B0604020202090204" charset="0"/>
            </a:endParaRPr>
          </a:p>
          <a:p>
            <a:pPr algn="l">
              <a:buClrTx/>
              <a:buSzTx/>
              <a:buFontTx/>
            </a:pPr>
            <a:endParaRPr lang="en-US" altLang="zh-CN" sz="2400" b="1">
              <a:latin typeface="Arial Bold" panose="020B0604020202090204" charset="0"/>
              <a:cs typeface="Arial Bold" panose="020B0604020202090204" charset="0"/>
            </a:endParaRPr>
          </a:p>
          <a:p>
            <a:pPr algn="l">
              <a:buClrTx/>
              <a:buSzTx/>
              <a:buFontTx/>
            </a:pPr>
            <a:endParaRPr lang="en-US" altLang="zh-CN" sz="2400" b="1">
              <a:latin typeface="Arial Bold" panose="020B0604020202090204" charset="0"/>
              <a:cs typeface="Arial Bold" panose="020B0604020202090204" charset="0"/>
            </a:endParaRPr>
          </a:p>
          <a:p>
            <a:pPr algn="l">
              <a:buClrTx/>
              <a:buSzTx/>
              <a:buFontTx/>
            </a:pPr>
            <a:endParaRPr lang="en-US" altLang="zh-CN" sz="2400" b="1">
              <a:latin typeface="Arial Bold" panose="020B0604020202090204" charset="0"/>
              <a:cs typeface="Arial Bold" panose="020B060402020209020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1"/>
          <a:stretch>
            <a:fillRect/>
          </a:stretch>
        </p:blipFill>
        <p:spPr>
          <a:xfrm>
            <a:off x="386659" y="399928"/>
            <a:ext cx="1101330" cy="914522"/>
          </a:xfrm>
          <a:prstGeom prst="rect">
            <a:avLst/>
          </a:prstGeom>
        </p:spPr>
      </p:pic>
      <p:sp>
        <p:nvSpPr>
          <p:cNvPr id="12" name="文本框 11"/>
          <p:cNvSpPr txBox="1"/>
          <p:nvPr/>
        </p:nvSpPr>
        <p:spPr>
          <a:xfrm>
            <a:off x="1506855" y="500380"/>
            <a:ext cx="10013315" cy="583565"/>
          </a:xfrm>
          <a:prstGeom prst="rect">
            <a:avLst/>
          </a:prstGeom>
          <a:noFill/>
        </p:spPr>
        <p:txBody>
          <a:bodyPr wrap="square" rtlCol="0">
            <a:spAutoFit/>
          </a:bodyPr>
          <a:lstStyle/>
          <a:p>
            <a:r>
              <a:rPr lang="en-US" altLang="zh-CN" sz="3200" b="1" dirty="0">
                <a:latin typeface="Times New Roman" panose="02020503050405090304" pitchFamily="18" charset="0"/>
                <a:ea typeface="SimHei" panose="02010609060101010101" pitchFamily="49" charset="-122"/>
                <a:cs typeface="Times New Roman" panose="02020503050405090304" pitchFamily="18" charset="0"/>
              </a:rPr>
              <a:t>Research Questions and Research Methodology </a:t>
            </a:r>
            <a:endParaRPr lang="en-US" altLang="zh-CN" sz="3200" b="1" dirty="0">
              <a:latin typeface="Times New Roman" panose="02020503050405090304" pitchFamily="18" charset="0"/>
              <a:ea typeface="SimHei" panose="02010609060101010101" pitchFamily="49" charset="-122"/>
              <a:cs typeface="Times New Roman" panose="02020503050405090304" pitchFamily="18" charset="0"/>
            </a:endParaRPr>
          </a:p>
        </p:txBody>
      </p:sp>
      <p:sp>
        <p:nvSpPr>
          <p:cNvPr id="3" name="文本框 2"/>
          <p:cNvSpPr txBox="1"/>
          <p:nvPr>
            <p:custDataLst>
              <p:tags r:id="rId2"/>
            </p:custDataLst>
          </p:nvPr>
        </p:nvSpPr>
        <p:spPr>
          <a:xfrm>
            <a:off x="871220" y="1443355"/>
            <a:ext cx="10648950" cy="4808220"/>
          </a:xfrm>
          <a:prstGeom prst="rect">
            <a:avLst/>
          </a:prstGeom>
          <a:noFill/>
        </p:spPr>
        <p:txBody>
          <a:bodyPr wrap="square" rtlCol="0">
            <a:noAutofit/>
          </a:bodyPr>
          <a:p>
            <a:pPr indent="0" algn="just" fontAlgn="auto">
              <a:lnSpc>
                <a:spcPct val="150000"/>
              </a:lnSpc>
              <a:buClrTx/>
              <a:buSzTx/>
              <a:buFontTx/>
            </a:pPr>
            <a:r>
              <a:rPr lang="en-US" altLang="zh-CN" sz="2400" b="1">
                <a:latin typeface="Arial Bold" panose="020B0604020202090204" charset="0"/>
                <a:cs typeface="Arial Bold" panose="020B0604020202090204" charset="0"/>
              </a:rPr>
              <a:t>(1) What painting elements and composition techniques does Hawkes employ and how do they affect his translation choices?</a:t>
            </a:r>
            <a:endParaRPr lang="en-US" altLang="zh-CN" sz="2400" b="1">
              <a:latin typeface="Arial Bold" panose="020B0604020202090204" charset="0"/>
              <a:cs typeface="Arial Bold" panose="020B0604020202090204" charset="0"/>
            </a:endParaRPr>
          </a:p>
          <a:p>
            <a:pPr indent="0" algn="just" fontAlgn="auto">
              <a:lnSpc>
                <a:spcPct val="150000"/>
              </a:lnSpc>
              <a:buClrTx/>
              <a:buSzTx/>
              <a:buFontTx/>
            </a:pPr>
            <a:r>
              <a:rPr lang="en-US" altLang="zh-CN" sz="2400" b="1">
                <a:latin typeface="Arial Bold" panose="020B0604020202090204" charset="0"/>
                <a:cs typeface="Arial Bold" panose="020B0604020202090204" charset="0"/>
              </a:rPr>
              <a:t>(2) What role do these elements and techniques play in achieving the novel’s aesthetic sophistication?</a:t>
            </a:r>
            <a:endParaRPr lang="en-US" altLang="zh-CN" sz="2400" b="1">
              <a:latin typeface="Arial Bold" panose="020B0604020202090204" charset="0"/>
              <a:cs typeface="Arial Bold" panose="020B0604020202090204" charset="0"/>
            </a:endParaRPr>
          </a:p>
          <a:p>
            <a:pPr indent="0" algn="just" fontAlgn="auto">
              <a:lnSpc>
                <a:spcPct val="150000"/>
              </a:lnSpc>
              <a:buClrTx/>
              <a:buSzTx/>
              <a:buFontTx/>
            </a:pPr>
            <a:r>
              <a:rPr lang="en-US" altLang="zh-CN" sz="2400" b="1">
                <a:latin typeface="Arial Bold" panose="020B0604020202090204" charset="0"/>
                <a:cs typeface="Arial Bold" panose="020B0604020202090204" charset="0"/>
              </a:rPr>
              <a:t>(3) What value does painting-based translation have for translation studies?</a:t>
            </a:r>
            <a:endParaRPr lang="en-US" altLang="zh-CN" sz="2400" b="1">
              <a:latin typeface="Arial Bold" panose="020B0604020202090204" charset="0"/>
              <a:cs typeface="Arial Bold" panose="020B0604020202090204" charset="0"/>
            </a:endParaRPr>
          </a:p>
          <a:p>
            <a:pPr algn="l">
              <a:buClrTx/>
              <a:buSzTx/>
              <a:buFontTx/>
            </a:pPr>
            <a:endParaRPr lang="en-US" altLang="zh-CN" sz="2400" b="1">
              <a:latin typeface="Arial Bold" panose="020B0604020202090204" charset="0"/>
              <a:cs typeface="Arial Bold" panose="020B0604020202090204" charset="0"/>
            </a:endParaRPr>
          </a:p>
          <a:p>
            <a:pPr algn="l">
              <a:buClrTx/>
              <a:buSzTx/>
              <a:buFontTx/>
            </a:pPr>
            <a:endParaRPr lang="en-US" altLang="zh-CN" sz="2400" b="1">
              <a:latin typeface="Arial Bold" panose="020B0604020202090204" charset="0"/>
              <a:cs typeface="Arial Bold" panose="020B0604020202090204" charset="0"/>
            </a:endParaRPr>
          </a:p>
          <a:p>
            <a:pPr algn="l">
              <a:buClrTx/>
              <a:buSzTx/>
              <a:buFontTx/>
            </a:pPr>
            <a:endParaRPr lang="en-US" altLang="zh-CN" sz="2400" b="1">
              <a:latin typeface="Arial Bold" panose="020B0604020202090204" charset="0"/>
              <a:cs typeface="Arial Bold" panose="020B0604020202090204" charset="0"/>
            </a:endParaRPr>
          </a:p>
        </p:txBody>
      </p:sp>
      <p:sp>
        <p:nvSpPr>
          <p:cNvPr id="2" name="下箭头 1"/>
          <p:cNvSpPr/>
          <p:nvPr/>
        </p:nvSpPr>
        <p:spPr>
          <a:xfrm>
            <a:off x="5214620" y="4481830"/>
            <a:ext cx="1101725" cy="742315"/>
          </a:xfrm>
          <a:prstGeom prst="downArrow">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 name="流程图: 顺序访问存储器 5"/>
          <p:cNvSpPr/>
          <p:nvPr/>
        </p:nvSpPr>
        <p:spPr>
          <a:xfrm>
            <a:off x="1790065" y="5320030"/>
            <a:ext cx="2536190" cy="886460"/>
          </a:xfrm>
          <a:prstGeom prst="flowChartMagneticTape">
            <a:avLst/>
          </a:prstGeom>
          <a:solidFill>
            <a:schemeClr val="accent2">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2000" b="1">
                <a:solidFill>
                  <a:schemeClr val="tx1"/>
                </a:solidFill>
                <a:latin typeface="Arial Bold" panose="020B0604020202090204" charset="0"/>
                <a:cs typeface="Arial Bold" panose="020B0604020202090204" charset="0"/>
              </a:rPr>
              <a:t>Contrastive</a:t>
            </a:r>
            <a:endParaRPr lang="en-US" altLang="zh-CN" sz="2000" b="1">
              <a:solidFill>
                <a:schemeClr val="tx1"/>
              </a:solidFill>
              <a:latin typeface="Arial Bold" panose="020B0604020202090204" charset="0"/>
              <a:cs typeface="Arial Bold" panose="020B0604020202090204" charset="0"/>
            </a:endParaRPr>
          </a:p>
          <a:p>
            <a:pPr algn="ctr"/>
            <a:r>
              <a:rPr lang="en-US" altLang="zh-CN" sz="2000" b="1">
                <a:solidFill>
                  <a:schemeClr val="tx1"/>
                </a:solidFill>
                <a:latin typeface="Arial Bold" panose="020B0604020202090204" charset="0"/>
                <a:cs typeface="Arial Bold" panose="020B0604020202090204" charset="0"/>
              </a:rPr>
              <a:t>Study</a:t>
            </a:r>
            <a:endParaRPr lang="en-US" altLang="zh-CN" sz="2000" b="1">
              <a:solidFill>
                <a:schemeClr val="tx1"/>
              </a:solidFill>
              <a:latin typeface="Arial Bold" panose="020B0604020202090204" charset="0"/>
              <a:cs typeface="Arial Bold" panose="020B0604020202090204" charset="0"/>
            </a:endParaRPr>
          </a:p>
        </p:txBody>
      </p:sp>
      <p:sp>
        <p:nvSpPr>
          <p:cNvPr id="8" name="流程图: 顺序访问存储器 7"/>
          <p:cNvSpPr/>
          <p:nvPr>
            <p:custDataLst>
              <p:tags r:id="rId3"/>
            </p:custDataLst>
          </p:nvPr>
        </p:nvSpPr>
        <p:spPr>
          <a:xfrm>
            <a:off x="6943090" y="5365115"/>
            <a:ext cx="2536190" cy="886460"/>
          </a:xfrm>
          <a:prstGeom prst="flowChartMagneticTape">
            <a:avLst/>
          </a:prstGeom>
          <a:solidFill>
            <a:schemeClr val="accent2">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2000" b="1">
                <a:solidFill>
                  <a:schemeClr val="tx1"/>
                </a:solidFill>
                <a:latin typeface="Arial Bold" panose="020B0604020202090204" charset="0"/>
                <a:cs typeface="Arial Bold" panose="020B0604020202090204" charset="0"/>
              </a:rPr>
              <a:t>Textual Analysis</a:t>
            </a:r>
            <a:endParaRPr lang="en-US" altLang="zh-CN" sz="2000" b="1">
              <a:solidFill>
                <a:schemeClr val="tx1"/>
              </a:solidFill>
              <a:latin typeface="Arial Bold" panose="020B0604020202090204" charset="0"/>
              <a:cs typeface="Arial Bold" panose="020B060402020209020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框 11"/>
          <p:cNvSpPr txBox="1"/>
          <p:nvPr/>
        </p:nvSpPr>
        <p:spPr>
          <a:xfrm>
            <a:off x="1506855" y="500380"/>
            <a:ext cx="10013315" cy="583565"/>
          </a:xfrm>
          <a:prstGeom prst="rect">
            <a:avLst/>
          </a:prstGeom>
          <a:noFill/>
        </p:spPr>
        <p:txBody>
          <a:bodyPr wrap="square" rtlCol="0">
            <a:spAutoFit/>
          </a:bodyPr>
          <a:lstStyle/>
          <a:p>
            <a:r>
              <a:rPr lang="en-US" altLang="zh-CN" sz="3200" b="1" dirty="0">
                <a:latin typeface="Times New Roman" panose="02020503050405090304" pitchFamily="18" charset="0"/>
                <a:ea typeface="SimHei" panose="02010609060101010101" pitchFamily="49" charset="-122"/>
                <a:cs typeface="Times New Roman" panose="02020503050405090304" pitchFamily="18" charset="0"/>
              </a:rPr>
              <a:t>Analytical Framework</a:t>
            </a:r>
            <a:endParaRPr lang="en-US" altLang="zh-CN" sz="3200" b="1" dirty="0">
              <a:latin typeface="Times New Roman" panose="02020503050405090304" pitchFamily="18" charset="0"/>
              <a:ea typeface="SimHei" panose="02010609060101010101" pitchFamily="49" charset="-122"/>
              <a:cs typeface="Times New Roman" panose="02020503050405090304" pitchFamily="18" charset="0"/>
            </a:endParaRPr>
          </a:p>
        </p:txBody>
      </p:sp>
      <p:sp>
        <p:nvSpPr>
          <p:cNvPr id="9" name="文本框 8"/>
          <p:cNvSpPr txBox="1"/>
          <p:nvPr>
            <p:custDataLst>
              <p:tags r:id="rId1"/>
            </p:custDataLst>
          </p:nvPr>
        </p:nvSpPr>
        <p:spPr>
          <a:xfrm>
            <a:off x="1616710" y="352425"/>
            <a:ext cx="3594735" cy="1391920"/>
          </a:xfrm>
          <a:prstGeom prst="rect">
            <a:avLst/>
          </a:prstGeom>
          <a:noFill/>
        </p:spPr>
        <p:txBody>
          <a:bodyPr wrap="square" rtlCol="0">
            <a:noAutofit/>
          </a:bodyPr>
          <a:p>
            <a:endParaRPr lang="en-US" altLang="zh-CN" sz="3200" b="1" dirty="0">
              <a:latin typeface="Times New Roman" panose="02020503050405090304" pitchFamily="18" charset="0"/>
              <a:ea typeface="SimHei" panose="02010609060101010101" pitchFamily="49" charset="-122"/>
              <a:cs typeface="Times New Roman" panose="02020503050405090304" pitchFamily="18" charset="0"/>
            </a:endParaRPr>
          </a:p>
        </p:txBody>
      </p:sp>
      <p:pic>
        <p:nvPicPr>
          <p:cNvPr id="10" name="图片 9"/>
          <p:cNvPicPr>
            <a:picLocks noChangeAspect="1"/>
          </p:cNvPicPr>
          <p:nvPr>
            <p:custDataLst>
              <p:tags r:id="rId2"/>
            </p:custDataLst>
          </p:nvPr>
        </p:nvPicPr>
        <p:blipFill>
          <a:blip r:embed="rId3"/>
          <a:stretch>
            <a:fillRect/>
          </a:stretch>
        </p:blipFill>
        <p:spPr>
          <a:xfrm>
            <a:off x="386659" y="399928"/>
            <a:ext cx="1101330" cy="914522"/>
          </a:xfrm>
          <a:prstGeom prst="rect">
            <a:avLst/>
          </a:prstGeom>
        </p:spPr>
      </p:pic>
      <p:pic>
        <p:nvPicPr>
          <p:cNvPr id="2" name="图片 1"/>
          <p:cNvPicPr>
            <a:picLocks noChangeAspect="1"/>
          </p:cNvPicPr>
          <p:nvPr>
            <p:custDataLst>
              <p:tags r:id="rId4"/>
            </p:custDataLst>
          </p:nvPr>
        </p:nvPicPr>
        <p:blipFill>
          <a:blip r:embed="rId5"/>
          <a:stretch>
            <a:fillRect/>
          </a:stretch>
        </p:blipFill>
        <p:spPr>
          <a:xfrm>
            <a:off x="2594610" y="1003935"/>
            <a:ext cx="7257415" cy="557466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1"/>
          <a:stretch>
            <a:fillRect/>
          </a:stretch>
        </p:blipFill>
        <p:spPr>
          <a:xfrm>
            <a:off x="386659" y="399928"/>
            <a:ext cx="1101330" cy="914522"/>
          </a:xfrm>
          <a:prstGeom prst="rect">
            <a:avLst/>
          </a:prstGeom>
        </p:spPr>
      </p:pic>
      <p:sp>
        <p:nvSpPr>
          <p:cNvPr id="3" name="文本框 2"/>
          <p:cNvSpPr txBox="1"/>
          <p:nvPr>
            <p:custDataLst>
              <p:tags r:id="rId2"/>
            </p:custDataLst>
          </p:nvPr>
        </p:nvSpPr>
        <p:spPr>
          <a:xfrm>
            <a:off x="248285" y="1083945"/>
            <a:ext cx="11689080" cy="5334635"/>
          </a:xfrm>
          <a:prstGeom prst="rect">
            <a:avLst/>
          </a:prstGeom>
          <a:noFill/>
        </p:spPr>
        <p:txBody>
          <a:bodyPr wrap="square" rtlCol="0">
            <a:noAutofit/>
          </a:bodyPr>
          <a:p>
            <a:pPr indent="0" algn="just" fontAlgn="auto">
              <a:lnSpc>
                <a:spcPct val="150000"/>
              </a:lnSpc>
              <a:buClrTx/>
              <a:buSzTx/>
              <a:buFontTx/>
            </a:pPr>
            <a:r>
              <a:rPr lang="en-US" altLang="zh-CN" sz="2400" b="1">
                <a:solidFill>
                  <a:schemeClr val="accent1"/>
                </a:solidFill>
                <a:latin typeface="Arial Bold" panose="020B0604020202090204" charset="0"/>
                <a:cs typeface="Arial Bold" panose="020B0604020202090204" charset="0"/>
              </a:rPr>
              <a:t>Translating the text into a Picture</a:t>
            </a:r>
            <a:endParaRPr lang="en-US" altLang="zh-CN" sz="2400" b="1">
              <a:solidFill>
                <a:schemeClr val="accent1"/>
              </a:solidFill>
              <a:latin typeface="Arial Bold" panose="020B0604020202090204" charset="0"/>
              <a:cs typeface="Arial Bold" panose="020B0604020202090204" charset="0"/>
            </a:endParaRPr>
          </a:p>
        </p:txBody>
      </p:sp>
      <p:pic>
        <p:nvPicPr>
          <p:cNvPr id="13" name="图片 13" descr="/Users/mushroom/Library/Containers/com.kingsoft.wpsoffice.mac/Data/tmp/photoeditapp/20250413143055/temp.pngtemp"/>
          <p:cNvPicPr>
            <a:picLocks noChangeAspect="1"/>
          </p:cNvPicPr>
          <p:nvPr>
            <p:custDataLst>
              <p:tags r:id="rId3"/>
            </p:custDataLst>
          </p:nvPr>
        </p:nvPicPr>
        <p:blipFill>
          <a:blip r:embed="rId4"/>
          <a:stretch>
            <a:fillRect/>
          </a:stretch>
        </p:blipFill>
        <p:spPr>
          <a:xfrm>
            <a:off x="5919470" y="781050"/>
            <a:ext cx="5708650" cy="5774690"/>
          </a:xfrm>
          <a:prstGeom prst="rect">
            <a:avLst/>
          </a:prstGeom>
        </p:spPr>
      </p:pic>
      <p:sp>
        <p:nvSpPr>
          <p:cNvPr id="4" name="文本框 3"/>
          <p:cNvSpPr txBox="1"/>
          <p:nvPr>
            <p:custDataLst>
              <p:tags r:id="rId5"/>
            </p:custDataLst>
          </p:nvPr>
        </p:nvSpPr>
        <p:spPr>
          <a:xfrm>
            <a:off x="1614805" y="627380"/>
            <a:ext cx="10013315" cy="583565"/>
          </a:xfrm>
          <a:prstGeom prst="rect">
            <a:avLst/>
          </a:prstGeom>
          <a:noFill/>
        </p:spPr>
        <p:txBody>
          <a:bodyPr wrap="square" rtlCol="0">
            <a:spAutoFit/>
          </a:bodyPr>
          <a:lstStyle/>
          <a:p>
            <a:r>
              <a:rPr lang="en-US" altLang="zh-CN" sz="3200" b="1" dirty="0">
                <a:latin typeface="Times New Roman" panose="02020503050405090304" pitchFamily="18" charset="0"/>
                <a:ea typeface="SimHei" panose="02010609060101010101" pitchFamily="49" charset="-122"/>
                <a:cs typeface="Times New Roman" panose="02020503050405090304" pitchFamily="18" charset="0"/>
              </a:rPr>
              <a:t>A</a:t>
            </a:r>
            <a:r>
              <a:rPr lang="en-US" altLang="zh-CN" sz="3200" b="1" dirty="0">
                <a:latin typeface="Times New Roman" panose="02020503050405090304" pitchFamily="18" charset="0"/>
                <a:ea typeface="SimHei" panose="02010609060101010101" pitchFamily="49" charset="-122"/>
                <a:cs typeface="Times New Roman" panose="02020503050405090304" pitchFamily="18" charset="0"/>
              </a:rPr>
              <a:t>esthetic Intuition</a:t>
            </a:r>
            <a:endParaRPr lang="en-US" altLang="zh-CN" sz="3200" b="1" dirty="0">
              <a:latin typeface="Times New Roman" panose="02020503050405090304" pitchFamily="18" charset="0"/>
              <a:ea typeface="SimHei" panose="02010609060101010101" pitchFamily="49" charset="-122"/>
              <a:cs typeface="Times New Roman" panose="02020503050405090304" pitchFamily="18" charset="0"/>
            </a:endParaRPr>
          </a:p>
        </p:txBody>
      </p:sp>
      <p:sp>
        <p:nvSpPr>
          <p:cNvPr id="7" name="文本框 6"/>
          <p:cNvSpPr txBox="1"/>
          <p:nvPr/>
        </p:nvSpPr>
        <p:spPr>
          <a:xfrm>
            <a:off x="386715" y="1795780"/>
            <a:ext cx="4799330" cy="4523105"/>
          </a:xfrm>
          <a:prstGeom prst="rect">
            <a:avLst/>
          </a:prstGeom>
          <a:noFill/>
        </p:spPr>
        <p:txBody>
          <a:bodyPr wrap="square" rtlCol="0">
            <a:spAutoFit/>
          </a:bodyPr>
          <a:p>
            <a:r>
              <a:rPr lang="en-US" altLang="zh-CN">
                <a:latin typeface="Arial Regular" panose="020B0604020202090204" charset="0"/>
                <a:ea typeface="黑体" charset="0"/>
                <a:cs typeface="Arial Regular" panose="020B0604020202090204" charset="0"/>
              </a:rPr>
              <a:t>ST:</a:t>
            </a:r>
            <a:r>
              <a:rPr lang="zh-CN" altLang="en-US">
                <a:latin typeface="Arial Regular" panose="020B0604020202090204" charset="0"/>
                <a:ea typeface="黑体" charset="0"/>
                <a:cs typeface="Arial Regular" panose="020B0604020202090204" charset="0"/>
              </a:rPr>
              <a:t>“林子洞里原来有一群耗子精。那一年腊月初七老耗子升座议事，说：‘明儿是腊八儿了，世上的人都熬腊八粥，如今我们洞里果品短少，须得趁此打劫些个来才好。’乃拔令箭一枝，遣了个能干小耗子去打听。小耗子回报：‘各处都打听了，惟有山下庙里果米最多。’老耗子便问：‘米有几样?果有几品？’小耗子道：‘米豆成仓。果品却只有五样：一是红枣，二是栗子，三是落花生，四是菱角，五是香芋。’</a:t>
            </a:r>
            <a:endParaRPr lang="zh-CN" altLang="en-US">
              <a:latin typeface="Arial Regular" panose="020B0604020202090204" charset="0"/>
              <a:ea typeface="黑体" charset="0"/>
              <a:cs typeface="Arial Regular" panose="020B0604020202090204" charset="0"/>
            </a:endParaRPr>
          </a:p>
          <a:p>
            <a:r>
              <a:rPr lang="zh-CN" altLang="en-US">
                <a:latin typeface="Arial Regular" panose="020B0604020202090204" charset="0"/>
                <a:ea typeface="黑体" charset="0"/>
                <a:cs typeface="Arial Regular" panose="020B0604020202090204" charset="0"/>
              </a:rPr>
              <a:t>老耗子听了大喜，即时拔了一枝令箭，问：‘谁去偷米？’一个耗子便接令去偷米。又拔令箭问：‘谁去偷豆？’又一个耗子接令去偷豆。然后一一的都各领令去了。只剩下香芋。因又拔令箭问：‘谁去偷香芋？’只见一个极小极弱的小耗子应道：‘我愿去偷香芋。”</a:t>
            </a:r>
            <a:endParaRPr lang="zh-CN" altLang="en-US">
              <a:latin typeface="Arial Regular" panose="020B0604020202090204" charset="0"/>
              <a:ea typeface="黑体" charset="0"/>
              <a:cs typeface="Arial Regular" panose="020B060402020209020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1"/>
          <a:stretch>
            <a:fillRect/>
          </a:stretch>
        </p:blipFill>
        <p:spPr>
          <a:xfrm>
            <a:off x="386659" y="399928"/>
            <a:ext cx="1101330" cy="914522"/>
          </a:xfrm>
          <a:prstGeom prst="rect">
            <a:avLst/>
          </a:prstGeom>
        </p:spPr>
      </p:pic>
      <p:sp>
        <p:nvSpPr>
          <p:cNvPr id="12" name="文本框 11"/>
          <p:cNvSpPr txBox="1"/>
          <p:nvPr/>
        </p:nvSpPr>
        <p:spPr>
          <a:xfrm>
            <a:off x="1487805" y="500380"/>
            <a:ext cx="10013315" cy="583565"/>
          </a:xfrm>
          <a:prstGeom prst="rect">
            <a:avLst/>
          </a:prstGeom>
          <a:noFill/>
        </p:spPr>
        <p:txBody>
          <a:bodyPr wrap="square" rtlCol="0">
            <a:spAutoFit/>
          </a:bodyPr>
          <a:lstStyle/>
          <a:p>
            <a:r>
              <a:rPr lang="en-US" altLang="zh-CN" sz="3200" b="1" dirty="0">
                <a:latin typeface="Times New Roman" panose="02020503050405090304" pitchFamily="18" charset="0"/>
                <a:ea typeface="SimHei" panose="02010609060101010101" pitchFamily="49" charset="-122"/>
                <a:cs typeface="Times New Roman" panose="02020503050405090304" pitchFamily="18" charset="0"/>
              </a:rPr>
              <a:t>Painting Elements</a:t>
            </a:r>
            <a:endParaRPr lang="en-US" altLang="zh-CN" sz="3200" b="1" dirty="0">
              <a:latin typeface="Times New Roman" panose="02020503050405090304" pitchFamily="18" charset="0"/>
              <a:ea typeface="SimHei" panose="02010609060101010101" pitchFamily="49" charset="-122"/>
              <a:cs typeface="Times New Roman" panose="02020503050405090304" pitchFamily="18" charset="0"/>
            </a:endParaRPr>
          </a:p>
        </p:txBody>
      </p:sp>
      <p:sp>
        <p:nvSpPr>
          <p:cNvPr id="3" name="文本框 2"/>
          <p:cNvSpPr txBox="1"/>
          <p:nvPr>
            <p:custDataLst>
              <p:tags r:id="rId2"/>
            </p:custDataLst>
          </p:nvPr>
        </p:nvSpPr>
        <p:spPr>
          <a:xfrm>
            <a:off x="248285" y="1083945"/>
            <a:ext cx="11689080" cy="5334635"/>
          </a:xfrm>
          <a:prstGeom prst="rect">
            <a:avLst/>
          </a:prstGeom>
          <a:noFill/>
        </p:spPr>
        <p:txBody>
          <a:bodyPr wrap="square" rtlCol="0">
            <a:noAutofit/>
          </a:bodyPr>
          <a:p>
            <a:pPr indent="0" algn="just" fontAlgn="auto">
              <a:lnSpc>
                <a:spcPct val="150000"/>
              </a:lnSpc>
              <a:buClrTx/>
              <a:buSzTx/>
              <a:buFontTx/>
            </a:pPr>
            <a:r>
              <a:rPr lang="en-US" altLang="zh-CN" sz="2400" b="1">
                <a:solidFill>
                  <a:schemeClr val="accent1"/>
                </a:solidFill>
                <a:latin typeface="Arial Bold" panose="020B0604020202090204" charset="0"/>
                <a:cs typeface="Arial Bold" panose="020B0604020202090204" charset="0"/>
              </a:rPr>
              <a:t>Planes to Form Visual and Emotional Connections</a:t>
            </a:r>
            <a:endParaRPr lang="en-US" altLang="zh-CN" sz="2400" b="1">
              <a:solidFill>
                <a:schemeClr val="accent1"/>
              </a:solidFill>
              <a:latin typeface="Arial Bold" panose="020B0604020202090204" charset="0"/>
              <a:cs typeface="Arial Bold" panose="020B0604020202090204" charset="0"/>
            </a:endParaRPr>
          </a:p>
          <a:p>
            <a:pPr indent="0" algn="just" fontAlgn="auto">
              <a:lnSpc>
                <a:spcPct val="150000"/>
              </a:lnSpc>
              <a:buClrTx/>
              <a:buSzTx/>
              <a:buFontTx/>
            </a:pPr>
            <a:r>
              <a:rPr lang="en-US" altLang="zh-CN" b="1">
                <a:solidFill>
                  <a:schemeClr val="tx1"/>
                </a:solidFill>
                <a:latin typeface="Arial Bold" panose="020B0604020202090204" charset="0"/>
                <a:cs typeface="Arial Bold" panose="020B0604020202090204" charset="0"/>
              </a:rPr>
              <a:t>In visual arts and aesthetic experience, where abstract sentiments often rely on form for expression, geometric planes such as circles, triangles, and spirals function as visual metaphors that intensify emotion and guide perception.</a:t>
            </a:r>
            <a:endParaRPr lang="en-US" altLang="zh-CN" b="1">
              <a:solidFill>
                <a:schemeClr val="tx1"/>
              </a:solidFill>
              <a:latin typeface="Arial Bold" panose="020B0604020202090204" charset="0"/>
              <a:cs typeface="Arial Bold" panose="020B0604020202090204" charset="0"/>
            </a:endParaRPr>
          </a:p>
          <a:p>
            <a:pPr indent="0" algn="just" fontAlgn="auto">
              <a:lnSpc>
                <a:spcPct val="150000"/>
              </a:lnSpc>
              <a:buClrTx/>
              <a:buSzTx/>
              <a:buFontTx/>
            </a:pPr>
            <a:endParaRPr lang="en-US" altLang="zh-CN" b="1">
              <a:solidFill>
                <a:schemeClr val="tx1"/>
              </a:solidFill>
              <a:latin typeface="Arial Bold" panose="020B0604020202090204" charset="0"/>
              <a:cs typeface="Arial Bold" panose="020B0604020202090204" charset="0"/>
            </a:endParaRPr>
          </a:p>
          <a:p>
            <a:pPr indent="0" algn="just" fontAlgn="auto">
              <a:lnSpc>
                <a:spcPct val="150000"/>
              </a:lnSpc>
              <a:buClrTx/>
              <a:buSzTx/>
              <a:buFontTx/>
            </a:pPr>
            <a:r>
              <a:rPr lang="en-US" altLang="zh-CN" b="1">
                <a:solidFill>
                  <a:schemeClr val="accent2"/>
                </a:solidFill>
                <a:latin typeface="Arial Bold" panose="020B0604020202090204" charset="0"/>
                <a:cs typeface="Arial Bold" panose="020B0604020202090204" charset="0"/>
              </a:rPr>
              <a:t>ST:</a:t>
            </a:r>
            <a:r>
              <a:rPr lang="en-US" altLang="zh-CN" b="1">
                <a:latin typeface="Arial Bold" panose="020B0604020202090204" charset="0"/>
                <a:cs typeface="Arial Bold" panose="020B0604020202090204" charset="0"/>
              </a:rPr>
              <a:t> 未卜三生愿，频添一段愁。</a:t>
            </a:r>
            <a:endParaRPr lang="en-US" altLang="zh-CN" b="1">
              <a:latin typeface="Arial Bold" panose="020B0604020202090204" charset="0"/>
              <a:cs typeface="Arial Bold" panose="020B0604020202090204" charset="0"/>
            </a:endParaRPr>
          </a:p>
          <a:p>
            <a:pPr indent="0" algn="just" fontAlgn="auto">
              <a:lnSpc>
                <a:spcPct val="150000"/>
              </a:lnSpc>
              <a:buClrTx/>
              <a:buSzTx/>
              <a:buFontTx/>
            </a:pPr>
            <a:r>
              <a:rPr lang="en-US" altLang="zh-CN" b="1">
                <a:latin typeface="Arial Bold" panose="020B0604020202090204" charset="0"/>
                <a:cs typeface="Arial Bold" panose="020B0604020202090204" charset="0"/>
              </a:rPr>
              <a:t>闷来时敛额，行去几回头。</a:t>
            </a:r>
            <a:endParaRPr lang="en-US" altLang="zh-CN" b="1">
              <a:latin typeface="Arial Bold" panose="020B0604020202090204" charset="0"/>
              <a:cs typeface="Arial Bold" panose="020B0604020202090204" charset="0"/>
            </a:endParaRPr>
          </a:p>
          <a:p>
            <a:pPr indent="0" algn="just" fontAlgn="auto">
              <a:lnSpc>
                <a:spcPct val="150000"/>
              </a:lnSpc>
              <a:buClrTx/>
              <a:buSzTx/>
              <a:buFontTx/>
            </a:pPr>
            <a:r>
              <a:rPr lang="en-US" altLang="zh-CN" b="1">
                <a:latin typeface="Arial Bold" panose="020B0604020202090204" charset="0"/>
                <a:cs typeface="Arial Bold" panose="020B0604020202090204" charset="0"/>
              </a:rPr>
              <a:t>自顾风前影，谁堪月下俦？</a:t>
            </a:r>
            <a:endParaRPr lang="en-US" altLang="zh-CN" b="1">
              <a:latin typeface="Arial Bold" panose="020B0604020202090204" charset="0"/>
              <a:cs typeface="Arial Bold" panose="020B0604020202090204" charset="0"/>
            </a:endParaRPr>
          </a:p>
          <a:p>
            <a:pPr indent="0" algn="just" fontAlgn="auto">
              <a:lnSpc>
                <a:spcPct val="150000"/>
              </a:lnSpc>
              <a:buClrTx/>
              <a:buSzTx/>
              <a:buFontTx/>
            </a:pPr>
            <a:r>
              <a:rPr lang="en-US" altLang="zh-CN" b="1">
                <a:latin typeface="Arial Bold" panose="020B0604020202090204" charset="0"/>
                <a:cs typeface="Arial Bold" panose="020B0604020202090204" charset="0"/>
              </a:rPr>
              <a:t>蟾光如有意，先上玉人楼。</a:t>
            </a:r>
            <a:endParaRPr lang="en-US" altLang="zh-CN" b="1">
              <a:latin typeface="Arial Bold" panose="020B0604020202090204" charset="0"/>
              <a:cs typeface="Arial Bold" panose="020B0604020202090204" charset="0"/>
            </a:endParaRPr>
          </a:p>
          <a:p>
            <a:pPr algn="l">
              <a:buClrTx/>
              <a:buSzTx/>
              <a:buFontTx/>
            </a:pPr>
            <a:endParaRPr lang="en-US" altLang="zh-CN" b="1">
              <a:latin typeface="Arial Bold" panose="020B0604020202090204" charset="0"/>
              <a:cs typeface="Arial Bold" panose="020B0604020202090204" charset="0"/>
            </a:endParaRPr>
          </a:p>
        </p:txBody>
      </p:sp>
      <p:sp>
        <p:nvSpPr>
          <p:cNvPr id="2" name="文本框 1"/>
          <p:cNvSpPr txBox="1"/>
          <p:nvPr/>
        </p:nvSpPr>
        <p:spPr>
          <a:xfrm>
            <a:off x="6573520" y="2750185"/>
            <a:ext cx="5173345" cy="4107815"/>
          </a:xfrm>
          <a:prstGeom prst="rect">
            <a:avLst/>
          </a:prstGeom>
          <a:noFill/>
        </p:spPr>
        <p:txBody>
          <a:bodyPr wrap="square" rtlCol="0">
            <a:spAutoFit/>
          </a:bodyPr>
          <a:p>
            <a:pPr indent="0" algn="just" fontAlgn="auto">
              <a:lnSpc>
                <a:spcPct val="150000"/>
              </a:lnSpc>
              <a:buClrTx/>
              <a:buSzTx/>
              <a:buFontTx/>
            </a:pPr>
            <a:r>
              <a:rPr lang="en-US" altLang="zh-CN" b="1">
                <a:solidFill>
                  <a:schemeClr val="accent2"/>
                </a:solidFill>
                <a:latin typeface="Arial Bold" panose="020B0604020202090204" charset="0"/>
                <a:cs typeface="Arial Bold" panose="020B0604020202090204" charset="0"/>
                <a:sym typeface="+mn-ea"/>
              </a:rPr>
              <a:t>TT:</a:t>
            </a:r>
            <a:r>
              <a:rPr lang="en-US" altLang="zh-CN" b="1">
                <a:latin typeface="Arial Bold" panose="020B0604020202090204" charset="0"/>
                <a:cs typeface="Arial Bold" panose="020B0604020202090204" charset="0"/>
                <a:sym typeface="+mn-ea"/>
              </a:rPr>
              <a:t> Ere on ambition’s path my feet are set,</a:t>
            </a:r>
            <a:endParaRPr lang="en-US" altLang="zh-CN" b="1">
              <a:latin typeface="Arial Bold" panose="020B0604020202090204" charset="0"/>
              <a:cs typeface="Arial Bold" panose="020B0604020202090204" charset="0"/>
            </a:endParaRPr>
          </a:p>
          <a:p>
            <a:pPr indent="0" algn="just" fontAlgn="auto">
              <a:lnSpc>
                <a:spcPct val="150000"/>
              </a:lnSpc>
              <a:buClrTx/>
              <a:buSzTx/>
              <a:buFontTx/>
            </a:pPr>
            <a:r>
              <a:rPr lang="en-US" altLang="zh-CN" b="1">
                <a:latin typeface="Arial Bold" panose="020B0604020202090204" charset="0"/>
                <a:cs typeface="Arial Bold" panose="020B0604020202090204" charset="0"/>
                <a:sym typeface="+mn-ea"/>
              </a:rPr>
              <a:t>Sorrow comes often this poor heart to fret.</a:t>
            </a:r>
            <a:endParaRPr lang="en-US" altLang="zh-CN" b="1">
              <a:latin typeface="Arial Bold" panose="020B0604020202090204" charset="0"/>
              <a:cs typeface="Arial Bold" panose="020B0604020202090204" charset="0"/>
            </a:endParaRPr>
          </a:p>
          <a:p>
            <a:pPr indent="0" algn="just" fontAlgn="auto">
              <a:lnSpc>
                <a:spcPct val="150000"/>
              </a:lnSpc>
              <a:buClrTx/>
              <a:buSzTx/>
              <a:buFontTx/>
            </a:pPr>
            <a:r>
              <a:rPr lang="en-US" altLang="zh-CN" b="1">
                <a:latin typeface="Arial Bold" panose="020B0604020202090204" charset="0"/>
                <a:cs typeface="Arial Bold" panose="020B0604020202090204" charset="0"/>
                <a:sym typeface="+mn-ea"/>
              </a:rPr>
              <a:t>Yet, as my brow contracted with new care,</a:t>
            </a:r>
            <a:endParaRPr lang="en-US" altLang="zh-CN" b="1">
              <a:latin typeface="Arial Bold" panose="020B0604020202090204" charset="0"/>
              <a:cs typeface="Arial Bold" panose="020B0604020202090204" charset="0"/>
            </a:endParaRPr>
          </a:p>
          <a:p>
            <a:pPr indent="0" algn="just" fontAlgn="auto">
              <a:lnSpc>
                <a:spcPct val="150000"/>
              </a:lnSpc>
              <a:buClrTx/>
              <a:buSzTx/>
              <a:buFontTx/>
            </a:pPr>
            <a:r>
              <a:rPr lang="en-US" altLang="zh-CN" b="1">
                <a:latin typeface="Arial Bold" panose="020B0604020202090204" charset="0"/>
                <a:cs typeface="Arial Bold" panose="020B0604020202090204" charset="0"/>
                <a:sym typeface="+mn-ea"/>
              </a:rPr>
              <a:t>Was there not one who, parting, turned to stare?</a:t>
            </a:r>
            <a:endParaRPr lang="en-US" altLang="zh-CN" b="1">
              <a:latin typeface="Arial Bold" panose="020B0604020202090204" charset="0"/>
              <a:cs typeface="Arial Bold" panose="020B0604020202090204" charset="0"/>
            </a:endParaRPr>
          </a:p>
          <a:p>
            <a:pPr indent="0" algn="just" fontAlgn="auto">
              <a:lnSpc>
                <a:spcPct val="150000"/>
              </a:lnSpc>
              <a:buClrTx/>
              <a:buSzTx/>
              <a:buFontTx/>
            </a:pPr>
            <a:r>
              <a:rPr lang="en-US" altLang="zh-CN" b="1">
                <a:latin typeface="Arial Bold" panose="020B0604020202090204" charset="0"/>
                <a:cs typeface="Arial Bold" panose="020B0604020202090204" charset="0"/>
                <a:sym typeface="+mn-ea"/>
              </a:rPr>
              <a:t>Dare I, that grasp at shadows in the wind,</a:t>
            </a:r>
            <a:endParaRPr lang="en-US" altLang="zh-CN" b="1">
              <a:latin typeface="Arial Bold" panose="020B0604020202090204" charset="0"/>
              <a:cs typeface="Arial Bold" panose="020B0604020202090204" charset="0"/>
            </a:endParaRPr>
          </a:p>
          <a:p>
            <a:pPr indent="0" algn="just" fontAlgn="auto">
              <a:lnSpc>
                <a:spcPct val="150000"/>
              </a:lnSpc>
              <a:buClrTx/>
              <a:buSzTx/>
              <a:buFontTx/>
            </a:pPr>
            <a:r>
              <a:rPr lang="en-US" altLang="zh-CN" b="1">
                <a:latin typeface="Arial Bold" panose="020B0604020202090204" charset="0"/>
                <a:cs typeface="Arial Bold" panose="020B0604020202090204" charset="0"/>
                <a:sym typeface="+mn-ea"/>
              </a:rPr>
              <a:t>Hope, underneath the moon, a friend to find?</a:t>
            </a:r>
            <a:endParaRPr lang="en-US" altLang="zh-CN" b="1">
              <a:latin typeface="Arial Bold" panose="020B0604020202090204" charset="0"/>
              <a:cs typeface="Arial Bold" panose="020B0604020202090204" charset="0"/>
            </a:endParaRPr>
          </a:p>
          <a:p>
            <a:pPr indent="0" algn="just" fontAlgn="auto">
              <a:lnSpc>
                <a:spcPct val="150000"/>
              </a:lnSpc>
              <a:buClrTx/>
              <a:buSzTx/>
              <a:buFontTx/>
            </a:pPr>
            <a:r>
              <a:rPr lang="en-US" altLang="zh-CN" b="1">
                <a:solidFill>
                  <a:srgbClr val="FF0000"/>
                </a:solidFill>
                <a:latin typeface="Arial Bold" panose="020B0604020202090204" charset="0"/>
                <a:cs typeface="Arial Bold" panose="020B0604020202090204" charset="0"/>
                <a:sym typeface="+mn-ea"/>
              </a:rPr>
              <a:t>Bright orb</a:t>
            </a:r>
            <a:r>
              <a:rPr lang="en-US" altLang="zh-CN" b="1">
                <a:latin typeface="Arial Bold" panose="020B0604020202090204" charset="0"/>
                <a:cs typeface="Arial Bold" panose="020B0604020202090204" charset="0"/>
                <a:sym typeface="+mn-ea"/>
              </a:rPr>
              <a:t>, if with my plight you sympathize,</a:t>
            </a:r>
            <a:endParaRPr lang="en-US" altLang="zh-CN" b="1">
              <a:latin typeface="Arial Bold" panose="020B0604020202090204" charset="0"/>
              <a:cs typeface="Arial Bold" panose="020B0604020202090204" charset="0"/>
            </a:endParaRPr>
          </a:p>
          <a:p>
            <a:pPr indent="0" algn="just" fontAlgn="auto">
              <a:lnSpc>
                <a:spcPct val="150000"/>
              </a:lnSpc>
              <a:buClrTx/>
              <a:buSzTx/>
              <a:buFontTx/>
            </a:pPr>
            <a:r>
              <a:rPr lang="en-US" altLang="zh-CN" b="1">
                <a:latin typeface="Arial Bold" panose="020B0604020202090204" charset="0"/>
                <a:cs typeface="Arial Bold" panose="020B0604020202090204" charset="0"/>
                <a:sym typeface="+mn-ea"/>
              </a:rPr>
              <a:t>Shine first upon the chamber where she lies.</a:t>
            </a:r>
            <a:endParaRPr lang="en-US" altLang="zh-CN" b="1">
              <a:latin typeface="Arial Bold" panose="020B0604020202090204" charset="0"/>
              <a:cs typeface="Arial Bold" panose="020B0604020202090204" charset="0"/>
            </a:endParaRPr>
          </a:p>
          <a:p>
            <a:endParaRPr lang="zh-CN"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1"/>
          <a:stretch>
            <a:fillRect/>
          </a:stretch>
        </p:blipFill>
        <p:spPr>
          <a:xfrm>
            <a:off x="386659" y="399928"/>
            <a:ext cx="1101330" cy="914522"/>
          </a:xfrm>
          <a:prstGeom prst="rect">
            <a:avLst/>
          </a:prstGeom>
        </p:spPr>
      </p:pic>
      <p:sp>
        <p:nvSpPr>
          <p:cNvPr id="12" name="文本框 11"/>
          <p:cNvSpPr txBox="1"/>
          <p:nvPr/>
        </p:nvSpPr>
        <p:spPr>
          <a:xfrm>
            <a:off x="1487805" y="500380"/>
            <a:ext cx="10013315" cy="583565"/>
          </a:xfrm>
          <a:prstGeom prst="rect">
            <a:avLst/>
          </a:prstGeom>
          <a:noFill/>
        </p:spPr>
        <p:txBody>
          <a:bodyPr wrap="square" rtlCol="0">
            <a:spAutoFit/>
          </a:bodyPr>
          <a:lstStyle/>
          <a:p>
            <a:r>
              <a:rPr lang="en-US" altLang="zh-CN" sz="3200" b="1" dirty="0">
                <a:latin typeface="Times New Roman" panose="02020503050405090304" pitchFamily="18" charset="0"/>
                <a:ea typeface="SimHei" panose="02010609060101010101" pitchFamily="49" charset="-122"/>
                <a:cs typeface="Times New Roman" panose="02020503050405090304" pitchFamily="18" charset="0"/>
              </a:rPr>
              <a:t>Compositional T</a:t>
            </a:r>
            <a:r>
              <a:rPr lang="en-US" altLang="zh-CN" sz="3200" b="1" dirty="0">
                <a:latin typeface="Times New Roman" panose="02020503050405090304" pitchFamily="18" charset="0"/>
                <a:ea typeface="SimHei" panose="02010609060101010101" pitchFamily="49" charset="-122"/>
                <a:cs typeface="Times New Roman" panose="02020503050405090304" pitchFamily="18" charset="0"/>
              </a:rPr>
              <a:t>echniques</a:t>
            </a:r>
            <a:endParaRPr lang="en-US" altLang="zh-CN" sz="3200" b="1" dirty="0">
              <a:latin typeface="Times New Roman" panose="02020503050405090304" pitchFamily="18" charset="0"/>
              <a:ea typeface="SimHei" panose="02010609060101010101" pitchFamily="49" charset="-122"/>
              <a:cs typeface="Times New Roman" panose="02020503050405090304" pitchFamily="18" charset="0"/>
            </a:endParaRPr>
          </a:p>
        </p:txBody>
      </p:sp>
      <p:sp>
        <p:nvSpPr>
          <p:cNvPr id="3" name="文本框 2"/>
          <p:cNvSpPr txBox="1"/>
          <p:nvPr>
            <p:custDataLst>
              <p:tags r:id="rId2"/>
            </p:custDataLst>
          </p:nvPr>
        </p:nvSpPr>
        <p:spPr>
          <a:xfrm>
            <a:off x="248285" y="1083945"/>
            <a:ext cx="11689080" cy="5334635"/>
          </a:xfrm>
          <a:prstGeom prst="rect">
            <a:avLst/>
          </a:prstGeom>
          <a:noFill/>
        </p:spPr>
        <p:txBody>
          <a:bodyPr wrap="square" rtlCol="0">
            <a:noAutofit/>
          </a:bodyPr>
          <a:p>
            <a:pPr indent="0" algn="just" fontAlgn="auto">
              <a:lnSpc>
                <a:spcPct val="150000"/>
              </a:lnSpc>
              <a:buClrTx/>
              <a:buSzTx/>
              <a:buFontTx/>
            </a:pPr>
            <a:r>
              <a:rPr lang="en-US" altLang="zh-CN" sz="2400" b="1">
                <a:solidFill>
                  <a:schemeClr val="accent1"/>
                </a:solidFill>
                <a:latin typeface="Arial Bold" panose="020B0604020202090204" charset="0"/>
                <a:cs typeface="Arial Bold" panose="020B0604020202090204" charset="0"/>
              </a:rPr>
              <a:t>Visual Center</a:t>
            </a:r>
            <a:r>
              <a:rPr lang="en-US" altLang="zh-CN" sz="2400">
                <a:solidFill>
                  <a:schemeClr val="accent1"/>
                </a:solidFill>
                <a:latin typeface="Arial Regular" panose="020B0604020202090204" charset="0"/>
                <a:cs typeface="Arial Regular" panose="020B0604020202090204" charset="0"/>
              </a:rPr>
              <a:t> </a:t>
            </a:r>
            <a:r>
              <a:rPr lang="en-US" altLang="zh-CN" sz="2400">
                <a:solidFill>
                  <a:schemeClr val="tx1"/>
                </a:solidFill>
                <a:latin typeface="Arial Regular" panose="020B0604020202090204" charset="0"/>
                <a:cs typeface="Arial Regular" panose="020B0604020202090204" charset="0"/>
              </a:rPr>
              <a:t>(</a:t>
            </a:r>
            <a:r>
              <a:rPr lang="zh-CN" altLang="en-US" sz="2400">
                <a:solidFill>
                  <a:schemeClr val="tx1"/>
                </a:solidFill>
                <a:latin typeface="Arial Regular" panose="020B0604020202090204" charset="0"/>
                <a:ea typeface="黑体" charset="0"/>
                <a:cs typeface="Arial Regular" panose="020B0604020202090204" charset="0"/>
                <a:sym typeface="+mn-ea"/>
              </a:rPr>
              <a:t>视觉中心</a:t>
            </a:r>
            <a:r>
              <a:rPr lang="en-US" altLang="zh-CN" sz="2400">
                <a:solidFill>
                  <a:schemeClr val="tx1"/>
                </a:solidFill>
                <a:latin typeface="Arial Regular" panose="020B0604020202090204" charset="0"/>
                <a:ea typeface="黑体" charset="0"/>
                <a:cs typeface="Arial Regular" panose="020B0604020202090204" charset="0"/>
                <a:sym typeface="+mn-ea"/>
              </a:rPr>
              <a:t>)</a:t>
            </a:r>
            <a:r>
              <a:rPr lang="en-US" altLang="zh-CN" sz="2400">
                <a:latin typeface="Arial Regular" panose="020B0604020202090204" charset="0"/>
                <a:ea typeface="黑体" charset="0"/>
                <a:cs typeface="Arial Regular" panose="020B0604020202090204" charset="0"/>
                <a:sym typeface="+mn-ea"/>
              </a:rPr>
              <a:t> </a:t>
            </a:r>
            <a:r>
              <a:rPr lang="en-US" altLang="zh-CN" sz="2400" b="1">
                <a:solidFill>
                  <a:schemeClr val="accent1"/>
                </a:solidFill>
                <a:latin typeface="Arial Bold" panose="020B0604020202090204" charset="0"/>
                <a:cs typeface="Arial Bold" panose="020B0604020202090204" charset="0"/>
              </a:rPr>
              <a:t>to Generate Visual Stimuli</a:t>
            </a:r>
            <a:endParaRPr lang="en-US" altLang="zh-CN" sz="2400" b="1">
              <a:solidFill>
                <a:schemeClr val="accent1"/>
              </a:solidFill>
              <a:latin typeface="Arial Bold" panose="020B0604020202090204" charset="0"/>
              <a:cs typeface="Arial Bold" panose="020B0604020202090204" charset="0"/>
            </a:endParaRPr>
          </a:p>
          <a:p>
            <a:pPr indent="0" algn="just" fontAlgn="auto">
              <a:lnSpc>
                <a:spcPct val="150000"/>
              </a:lnSpc>
              <a:buClrTx/>
              <a:buSzTx/>
              <a:buFontTx/>
            </a:pPr>
            <a:r>
              <a:rPr lang="en-US" altLang="zh-CN" b="1">
                <a:solidFill>
                  <a:schemeClr val="tx1"/>
                </a:solidFill>
                <a:latin typeface="Arial Bold" panose="020B0604020202090204" charset="0"/>
                <a:cs typeface="Arial Bold" panose="020B0604020202090204" charset="0"/>
              </a:rPr>
              <a:t>The eye is naturally drawn to the most striking elements first. This leads to a certain order in visual perception. The visual center is the focal point emphasized by the artist. It serves as the anchor around which </a:t>
            </a:r>
            <a:r>
              <a:rPr lang="en-US" altLang="zh-CN" sz="1800" b="1">
                <a:solidFill>
                  <a:schemeClr val="tx1"/>
                </a:solidFill>
                <a:latin typeface="Arial Bold" panose="020B0604020202090204" charset="0"/>
                <a:cs typeface="Arial Bold" panose="020B0604020202090204" charset="0"/>
              </a:rPr>
              <a:t>the</a:t>
            </a:r>
            <a:r>
              <a:rPr kumimoji="1" sz="1400" i="1" dirty="0">
                <a:solidFill>
                  <a:schemeClr val="tx1"/>
                </a:solidFill>
                <a:latin typeface="Arial Italic" panose="020B0604020202090204" charset="0"/>
                <a:ea typeface="SimHei" panose="02010609060101010101" pitchFamily="49" charset="-122"/>
                <a:cs typeface="Arial Italic" panose="020B0604020202090204" charset="0"/>
              </a:rPr>
              <a:t> </a:t>
            </a:r>
            <a:r>
              <a:rPr lang="en-US" altLang="zh-CN" b="1">
                <a:solidFill>
                  <a:schemeClr val="tx1"/>
                </a:solidFill>
                <a:latin typeface="Arial Bold" panose="020B0604020202090204" charset="0"/>
                <a:cs typeface="Arial Bold" panose="020B0604020202090204" charset="0"/>
              </a:rPr>
              <a:t>rest of the composition is organized (蒋跃, 2009: 175).</a:t>
            </a:r>
            <a:endParaRPr lang="en-US" altLang="zh-CN" b="1">
              <a:solidFill>
                <a:schemeClr val="tx1"/>
              </a:solidFill>
              <a:latin typeface="Arial Bold" panose="020B0604020202090204" charset="0"/>
              <a:cs typeface="Arial Bold" panose="020B0604020202090204" charset="0"/>
            </a:endParaRPr>
          </a:p>
          <a:p>
            <a:pPr indent="0" algn="just" fontAlgn="auto">
              <a:lnSpc>
                <a:spcPct val="150000"/>
              </a:lnSpc>
              <a:buClrTx/>
              <a:buSzTx/>
              <a:buFontTx/>
            </a:pPr>
            <a:r>
              <a:rPr lang="en-US" altLang="zh-CN" b="1">
                <a:solidFill>
                  <a:schemeClr val="accent2"/>
                </a:solidFill>
                <a:latin typeface="Arial Bold" panose="020B0604020202090204" charset="0"/>
                <a:cs typeface="Arial Bold" panose="020B0604020202090204" charset="0"/>
              </a:rPr>
              <a:t>ST:</a:t>
            </a:r>
            <a:r>
              <a:rPr lang="en-US" altLang="zh-CN" b="1">
                <a:latin typeface="Arial Bold" panose="020B0604020202090204" charset="0"/>
                <a:cs typeface="Arial Bold" panose="020B0604020202090204" charset="0"/>
              </a:rPr>
              <a:t> 心下想时，只见一群</a:t>
            </a:r>
            <a:r>
              <a:rPr lang="en-US" altLang="zh-CN" b="1">
                <a:latin typeface="Arial Bold" panose="020B0604020202090204" charset="0"/>
                <a:cs typeface="Arial Bold" panose="020B0604020202090204" charset="0"/>
              </a:rPr>
              <a:t>媳妇丫鬟围拥着一个人从后房门进来。这个人打扮与众姑娘不同，彩绣辉煌，恍若神妃仙子。</a:t>
            </a:r>
            <a:endParaRPr lang="en-US" altLang="zh-CN" b="1">
              <a:latin typeface="Arial Bold" panose="020B0604020202090204" charset="0"/>
              <a:cs typeface="Arial Bold" panose="020B0604020202090204" charset="0"/>
            </a:endParaRPr>
          </a:p>
          <a:p>
            <a:pPr indent="0" algn="just" fontAlgn="auto">
              <a:lnSpc>
                <a:spcPct val="150000"/>
              </a:lnSpc>
              <a:buClrTx/>
              <a:buSzTx/>
              <a:buFontTx/>
            </a:pPr>
            <a:r>
              <a:rPr lang="en-US" altLang="zh-CN" b="1">
                <a:solidFill>
                  <a:schemeClr val="accent2"/>
                </a:solidFill>
                <a:latin typeface="Arial Bold" panose="020B0604020202090204" charset="0"/>
                <a:cs typeface="Arial Bold" panose="020B0604020202090204" charset="0"/>
              </a:rPr>
              <a:t>TT1:</a:t>
            </a:r>
            <a:r>
              <a:rPr lang="en-US" altLang="zh-CN" b="1">
                <a:latin typeface="Arial Bold" panose="020B0604020202090204" charset="0"/>
                <a:cs typeface="Arial Bold" panose="020B0604020202090204" charset="0"/>
              </a:rPr>
              <a:t> While she was still wondering, through the back door </a:t>
            </a:r>
            <a:r>
              <a:rPr lang="en-US" altLang="zh-CN" b="1">
                <a:solidFill>
                  <a:srgbClr val="FF0000"/>
                </a:solidFill>
                <a:latin typeface="Arial Bold" panose="020B0604020202090204" charset="0"/>
                <a:cs typeface="Arial Bold" panose="020B0604020202090204" charset="0"/>
              </a:rPr>
              <a:t>trooped some matrons and maids surrounding a young woman</a:t>
            </a:r>
            <a:r>
              <a:rPr lang="en-US" altLang="zh-CN" b="1">
                <a:latin typeface="Arial Bold" panose="020B0604020202090204" charset="0"/>
                <a:cs typeface="Arial Bold" panose="020B0604020202090204" charset="0"/>
              </a:rPr>
              <a:t>. Unlike the girls, she was richly dressed and resplendent as a fairy. (tr. Yang Xianyi and Gladys Yang)</a:t>
            </a:r>
            <a:endParaRPr lang="en-US" altLang="zh-CN" b="1">
              <a:latin typeface="Arial Bold" panose="020B0604020202090204" charset="0"/>
              <a:cs typeface="Arial Bold" panose="020B0604020202090204" charset="0"/>
            </a:endParaRPr>
          </a:p>
          <a:p>
            <a:pPr indent="0" algn="just" fontAlgn="auto">
              <a:lnSpc>
                <a:spcPct val="150000"/>
              </a:lnSpc>
              <a:buClrTx/>
              <a:buSzTx/>
              <a:buFontTx/>
            </a:pPr>
            <a:r>
              <a:rPr lang="en-US" altLang="zh-CN" b="1">
                <a:solidFill>
                  <a:schemeClr val="accent2"/>
                </a:solidFill>
                <a:latin typeface="Arial Bold" panose="020B0604020202090204" charset="0"/>
                <a:cs typeface="Arial Bold" panose="020B0604020202090204" charset="0"/>
              </a:rPr>
              <a:t>TT2:</a:t>
            </a:r>
            <a:r>
              <a:rPr lang="en-US" altLang="zh-CN" b="1">
                <a:latin typeface="Arial Bold" panose="020B0604020202090204" charset="0"/>
                <a:cs typeface="Arial Bold" panose="020B0604020202090204" charset="0"/>
              </a:rPr>
              <a:t> Even as she wondered, </a:t>
            </a:r>
            <a:r>
              <a:rPr lang="en-US" altLang="zh-CN" b="1">
                <a:solidFill>
                  <a:srgbClr val="FF0000"/>
                </a:solidFill>
                <a:latin typeface="Arial Bold" panose="020B0604020202090204" charset="0"/>
                <a:cs typeface="Arial Bold" panose="020B0604020202090204" charset="0"/>
              </a:rPr>
              <a:t>a beautiful young woman</a:t>
            </a:r>
            <a:r>
              <a:rPr lang="en-US" altLang="zh-CN" b="1">
                <a:latin typeface="Arial Bold" panose="020B0604020202090204" charset="0"/>
                <a:cs typeface="Arial Bold" panose="020B0604020202090204" charset="0"/>
              </a:rPr>
              <a:t> entered from the room behind the one they were sitting in, </a:t>
            </a:r>
            <a:r>
              <a:rPr lang="en-US" altLang="zh-CN" b="1">
                <a:solidFill>
                  <a:srgbClr val="FF0000"/>
                </a:solidFill>
                <a:latin typeface="Arial Bold" panose="020B0604020202090204" charset="0"/>
                <a:cs typeface="Arial Bold" panose="020B0604020202090204" charset="0"/>
              </a:rPr>
              <a:t>surrounded by a bevy of serving women and maids</a:t>
            </a:r>
            <a:r>
              <a:rPr lang="en-US" altLang="zh-CN" b="1">
                <a:latin typeface="Arial Bold" panose="020B0604020202090204" charset="0"/>
                <a:cs typeface="Arial Bold" panose="020B0604020202090204" charset="0"/>
              </a:rPr>
              <a:t>. She was dressed quite differently from the others present, gleaming like some fairy princess with sparkling jewels and gay embroideries. (</a:t>
            </a:r>
            <a:r>
              <a:rPr lang="en-US" altLang="zh-CN" b="1">
                <a:latin typeface="Arial Bold" panose="020B0604020202090204" charset="0"/>
                <a:cs typeface="Arial Bold" panose="020B0604020202090204" charset="0"/>
              </a:rPr>
              <a:t>tr. David Hawkes)</a:t>
            </a:r>
            <a:endParaRPr lang="en-US" altLang="zh-CN" b="1">
              <a:latin typeface="Arial Bold" panose="020B0604020202090204" charset="0"/>
              <a:cs typeface="Arial Bold" panose="020B0604020202090204" charset="0"/>
            </a:endParaRPr>
          </a:p>
          <a:p>
            <a:pPr indent="0" algn="just" fontAlgn="auto">
              <a:lnSpc>
                <a:spcPct val="150000"/>
              </a:lnSpc>
              <a:buClrTx/>
              <a:buSzTx/>
              <a:buFontTx/>
            </a:pPr>
            <a:endParaRPr lang="en-US" altLang="zh-CN" sz="2400" b="1">
              <a:latin typeface="Arial Bold" panose="020B0604020202090204" charset="0"/>
              <a:cs typeface="Arial Bold" panose="020B0604020202090204" charset="0"/>
            </a:endParaRPr>
          </a:p>
          <a:p>
            <a:pPr algn="l">
              <a:buClrTx/>
              <a:buSzTx/>
              <a:buFontTx/>
            </a:pPr>
            <a:endParaRPr lang="en-US" altLang="zh-CN" sz="2400" b="1">
              <a:latin typeface="Arial Bold" panose="020B0604020202090204" charset="0"/>
              <a:cs typeface="Arial Bold" panose="020B060402020209020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1"/>
          <a:stretch>
            <a:fillRect/>
          </a:stretch>
        </p:blipFill>
        <p:spPr>
          <a:xfrm>
            <a:off x="386659" y="399928"/>
            <a:ext cx="1101330" cy="914522"/>
          </a:xfrm>
          <a:prstGeom prst="rect">
            <a:avLst/>
          </a:prstGeom>
        </p:spPr>
      </p:pic>
      <p:sp>
        <p:nvSpPr>
          <p:cNvPr id="12" name="文本框 11"/>
          <p:cNvSpPr txBox="1"/>
          <p:nvPr/>
        </p:nvSpPr>
        <p:spPr>
          <a:xfrm>
            <a:off x="1506855" y="500380"/>
            <a:ext cx="10013315" cy="583565"/>
          </a:xfrm>
          <a:prstGeom prst="rect">
            <a:avLst/>
          </a:prstGeom>
          <a:noFill/>
        </p:spPr>
        <p:txBody>
          <a:bodyPr wrap="square" rtlCol="0">
            <a:spAutoFit/>
          </a:bodyPr>
          <a:lstStyle/>
          <a:p>
            <a:r>
              <a:rPr lang="en-US" altLang="zh-CN" sz="3200" b="1" dirty="0">
                <a:latin typeface="Times New Roman" panose="02020503050405090304" pitchFamily="18" charset="0"/>
                <a:ea typeface="SimHei" panose="02010609060101010101" pitchFamily="49" charset="-122"/>
                <a:cs typeface="Times New Roman" panose="02020503050405090304" pitchFamily="18" charset="0"/>
                <a:sym typeface="+mn-ea"/>
              </a:rPr>
              <a:t>Major Findings</a:t>
            </a:r>
            <a:endParaRPr lang="en-US" altLang="zh-CN" sz="3200" b="1" dirty="0">
              <a:latin typeface="Times New Roman" panose="02020503050405090304" pitchFamily="18" charset="0"/>
              <a:ea typeface="SimHei" panose="02010609060101010101" pitchFamily="49" charset="-122"/>
              <a:cs typeface="Times New Roman" panose="02020503050405090304" pitchFamily="18" charset="0"/>
            </a:endParaRPr>
          </a:p>
        </p:txBody>
      </p:sp>
      <p:sp>
        <p:nvSpPr>
          <p:cNvPr id="2" name="文本框 1"/>
          <p:cNvSpPr txBox="1"/>
          <p:nvPr/>
        </p:nvSpPr>
        <p:spPr>
          <a:xfrm>
            <a:off x="257175" y="1171575"/>
            <a:ext cx="11671935" cy="4745990"/>
          </a:xfrm>
          <a:prstGeom prst="rect">
            <a:avLst/>
          </a:prstGeom>
          <a:noFill/>
        </p:spPr>
        <p:txBody>
          <a:bodyPr wrap="square" rtlCol="0">
            <a:noAutofit/>
          </a:bodyPr>
          <a:p>
            <a:pPr indent="0" fontAlgn="auto">
              <a:lnSpc>
                <a:spcPct val="150000"/>
              </a:lnSpc>
              <a:buFont typeface="Wingdings" panose="05000000000000000000" charset="0"/>
              <a:buNone/>
            </a:pPr>
            <a:r>
              <a:rPr lang="en-US" altLang="zh-CN" sz="2000" b="1">
                <a:solidFill>
                  <a:schemeClr val="accent1"/>
                </a:solidFill>
                <a:latin typeface="Arial Bold" panose="020B0604020202090204" charset="0"/>
                <a:cs typeface="Arial Bold" panose="020B0604020202090204" charset="0"/>
              </a:rPr>
              <a:t>Major Findings</a:t>
            </a:r>
            <a:endParaRPr lang="en-US" altLang="zh-CN" sz="2000" b="1">
              <a:solidFill>
                <a:schemeClr val="accent1"/>
              </a:solidFill>
              <a:latin typeface="Arial Bold" panose="020B0604020202090204" charset="0"/>
              <a:cs typeface="Arial Bold" panose="020B0604020202090204" charset="0"/>
            </a:endParaRPr>
          </a:p>
          <a:p>
            <a:pPr marL="285750" indent="-285750" algn="just" fontAlgn="auto">
              <a:lnSpc>
                <a:spcPct val="150000"/>
              </a:lnSpc>
              <a:buFont typeface="Wingdings" panose="05000000000000000000" charset="0"/>
              <a:buChar char=""/>
            </a:pPr>
            <a:r>
              <a:rPr lang="zh-CN" altLang="en-US" sz="2000">
                <a:latin typeface="Arial Regular" panose="020B0604020202090204" charset="0"/>
                <a:cs typeface="Arial Regular" panose="020B0604020202090204" charset="0"/>
              </a:rPr>
              <a:t>H</a:t>
            </a:r>
            <a:r>
              <a:rPr lang="en-US" altLang="zh-CN" sz="2000">
                <a:latin typeface="Arial Regular" panose="020B0604020202090204" charset="0"/>
                <a:cs typeface="Arial Regular" panose="020B0604020202090204" charset="0"/>
              </a:rPr>
              <a:t>awkes</a:t>
            </a:r>
            <a:r>
              <a:rPr lang="zh-CN" altLang="en-US" sz="2000">
                <a:latin typeface="Arial Regular" panose="020B0604020202090204" charset="0"/>
                <a:cs typeface="Arial Regular" panose="020B0604020202090204" charset="0"/>
              </a:rPr>
              <a:t> </a:t>
            </a:r>
            <a:r>
              <a:rPr sz="2000">
                <a:solidFill>
                  <a:srgbClr val="FF0000"/>
                </a:solidFill>
                <a:latin typeface="Arial Regular" panose="020B0604020202090204" charset="0"/>
                <a:cs typeface="Arial Regular" panose="020B0604020202090204" charset="0"/>
              </a:rPr>
              <a:t>reproduces the original’s visual beauty and emotional dimensions</a:t>
            </a:r>
            <a:r>
              <a:rPr sz="2000">
                <a:latin typeface="Arial Regular" panose="020B0604020202090204" charset="0"/>
                <a:cs typeface="Arial Regular" panose="020B0604020202090204" charset="0"/>
              </a:rPr>
              <a:t> through an integration of </a:t>
            </a:r>
            <a:r>
              <a:rPr sz="2000">
                <a:solidFill>
                  <a:srgbClr val="FF0000"/>
                </a:solidFill>
                <a:latin typeface="Arial Regular" panose="020B0604020202090204" charset="0"/>
                <a:cs typeface="Arial Regular" panose="020B0604020202090204" charset="0"/>
              </a:rPr>
              <a:t>visual design elements, flexible diction, shifting perspectives, and spatial arrangement</a:t>
            </a:r>
            <a:r>
              <a:rPr sz="2000">
                <a:solidFill>
                  <a:schemeClr val="tx1"/>
                </a:solidFill>
                <a:latin typeface="Arial Regular" panose="020B0604020202090204" charset="0"/>
                <a:cs typeface="Arial Regular" panose="020B0604020202090204" charset="0"/>
              </a:rPr>
              <a:t>.</a:t>
            </a:r>
            <a:r>
              <a:rPr lang="en-US" sz="2000">
                <a:solidFill>
                  <a:schemeClr val="tx1"/>
                </a:solidFill>
                <a:latin typeface="Arial Regular" panose="020B0604020202090204" charset="0"/>
                <a:cs typeface="Arial Regular" panose="020B0604020202090204" charset="0"/>
              </a:rPr>
              <a:t> </a:t>
            </a:r>
            <a:endParaRPr lang="en-US" sz="2000">
              <a:solidFill>
                <a:schemeClr val="tx1"/>
              </a:solidFill>
              <a:latin typeface="Arial Regular" panose="020B0604020202090204" charset="0"/>
              <a:cs typeface="Arial Regular" panose="020B0604020202090204" charset="0"/>
            </a:endParaRPr>
          </a:p>
          <a:p>
            <a:pPr marL="285750" indent="-285750" algn="just" fontAlgn="auto">
              <a:lnSpc>
                <a:spcPct val="150000"/>
              </a:lnSpc>
              <a:buFont typeface="Wingdings" panose="05000000000000000000" charset="0"/>
              <a:buChar char=""/>
            </a:pPr>
            <a:r>
              <a:rPr lang="en-US" altLang="zh-CN" sz="2000">
                <a:latin typeface="Arial Regular" panose="020B0604020202090204" charset="0"/>
                <a:cs typeface="Arial Regular" panose="020B0604020202090204" charset="0"/>
              </a:rPr>
              <a:t>Painting-Based</a:t>
            </a:r>
            <a:r>
              <a:rPr lang="zh-CN" altLang="en-US" sz="2000">
                <a:latin typeface="Arial Regular" panose="020B0604020202090204" charset="0"/>
                <a:cs typeface="Arial Regular" panose="020B0604020202090204" charset="0"/>
              </a:rPr>
              <a:t> </a:t>
            </a:r>
            <a:r>
              <a:rPr lang="en-US" altLang="zh-CN" sz="2000">
                <a:latin typeface="Arial Regular" panose="020B0604020202090204" charset="0"/>
                <a:cs typeface="Arial Regular" panose="020B0604020202090204" charset="0"/>
              </a:rPr>
              <a:t>translation</a:t>
            </a:r>
            <a:r>
              <a:rPr lang="en-US" altLang="zh-CN" sz="2000">
                <a:solidFill>
                  <a:srgbClr val="FF0000"/>
                </a:solidFill>
                <a:latin typeface="Arial Regular" panose="020B0604020202090204" charset="0"/>
                <a:cs typeface="Arial Regular" panose="020B0604020202090204" charset="0"/>
              </a:rPr>
              <a:t> </a:t>
            </a:r>
            <a:r>
              <a:rPr sz="2000">
                <a:solidFill>
                  <a:srgbClr val="FF0000"/>
                </a:solidFill>
                <a:latin typeface="Arial Regular" panose="020B0604020202090204" charset="0"/>
                <a:cs typeface="Arial Regular" panose="020B0604020202090204" charset="0"/>
              </a:rPr>
              <a:t>transcends</a:t>
            </a:r>
            <a:r>
              <a:rPr sz="2000">
                <a:latin typeface="Arial Regular" panose="020B0604020202090204" charset="0"/>
                <a:cs typeface="Arial Regular" panose="020B0604020202090204" charset="0"/>
              </a:rPr>
              <a:t> the linguistic framework of translation studies, </a:t>
            </a:r>
            <a:r>
              <a:rPr sz="2000">
                <a:solidFill>
                  <a:srgbClr val="FF0000"/>
                </a:solidFill>
                <a:latin typeface="Arial Regular" panose="020B0604020202090204" charset="0"/>
                <a:cs typeface="Arial Regular" panose="020B0604020202090204" charset="0"/>
              </a:rPr>
              <a:t>builds</a:t>
            </a:r>
            <a:r>
              <a:rPr sz="2000">
                <a:latin typeface="Arial Regular" panose="020B0604020202090204" charset="0"/>
                <a:cs typeface="Arial Regular" panose="020B0604020202090204" charset="0"/>
              </a:rPr>
              <a:t> an inter-arts analytical paradigm, and </a:t>
            </a:r>
            <a:r>
              <a:rPr sz="2000">
                <a:solidFill>
                  <a:srgbClr val="FF0000"/>
                </a:solidFill>
                <a:latin typeface="Arial Regular" panose="020B0604020202090204" charset="0"/>
                <a:cs typeface="Arial Regular" panose="020B0604020202090204" charset="0"/>
              </a:rPr>
              <a:t>offers</a:t>
            </a:r>
            <a:r>
              <a:rPr sz="2000">
                <a:latin typeface="Arial Regular" panose="020B0604020202090204" charset="0"/>
                <a:cs typeface="Arial Regular" panose="020B0604020202090204" charset="0"/>
              </a:rPr>
              <a:t> an inter-media approach to translation.</a:t>
            </a:r>
            <a:endParaRPr sz="2000">
              <a:latin typeface="Arial Regular" panose="020B0604020202090204" charset="0"/>
              <a:cs typeface="Arial Regular" panose="020B0604020202090204" charset="0"/>
            </a:endParaRPr>
          </a:p>
          <a:p>
            <a:pPr indent="0" algn="just" fontAlgn="auto">
              <a:lnSpc>
                <a:spcPct val="150000"/>
              </a:lnSpc>
              <a:buFont typeface="Wingdings" panose="05000000000000000000" charset="0"/>
              <a:buNone/>
            </a:pPr>
            <a:r>
              <a:rPr lang="en-US" altLang="zh-CN" sz="2000" b="1">
                <a:solidFill>
                  <a:schemeClr val="accent1"/>
                </a:solidFill>
                <a:latin typeface="Arial Bold" panose="020B0604020202090204" charset="0"/>
                <a:cs typeface="Arial Bold" panose="020B0604020202090204" charset="0"/>
              </a:rPr>
              <a:t>Limitations</a:t>
            </a:r>
            <a:endParaRPr lang="en-US" altLang="zh-CN" sz="2000" b="1">
              <a:solidFill>
                <a:schemeClr val="accent1"/>
              </a:solidFill>
              <a:latin typeface="Arial Bold" panose="020B0604020202090204" charset="0"/>
              <a:cs typeface="Arial Bold" panose="020B0604020202090204" charset="0"/>
            </a:endParaRPr>
          </a:p>
          <a:p>
            <a:pPr marL="285750" indent="-285750" algn="just" fontAlgn="auto">
              <a:lnSpc>
                <a:spcPct val="150000"/>
              </a:lnSpc>
              <a:buFont typeface="Wingdings" panose="05000000000000000000" charset="0"/>
              <a:buChar char=""/>
            </a:pPr>
            <a:r>
              <a:rPr lang="en-US" altLang="zh-CN" sz="2000">
                <a:latin typeface="Arial Regular" panose="020B0604020202090204" charset="0"/>
                <a:cs typeface="Arial Regular" panose="020B0604020202090204" charset="0"/>
              </a:rPr>
              <a:t>The influence of David Hawkes’ Western art background and the aesthetic tensions between Chinese and Western painting is overlooked.</a:t>
            </a:r>
            <a:endParaRPr lang="en-US" altLang="zh-CN" sz="2000">
              <a:latin typeface="Arial Regular" panose="020B0604020202090204" charset="0"/>
              <a:cs typeface="Arial Regular" panose="020B0604020202090204" charset="0"/>
            </a:endParaRPr>
          </a:p>
          <a:p>
            <a:pPr marL="285750" indent="-285750" algn="just" fontAlgn="auto">
              <a:lnSpc>
                <a:spcPct val="150000"/>
              </a:lnSpc>
              <a:buFont typeface="Wingdings" panose="05000000000000000000" charset="0"/>
              <a:buChar char=""/>
            </a:pPr>
            <a:r>
              <a:rPr lang="en-US" altLang="zh-CN" sz="2000">
                <a:latin typeface="Arial Regular" panose="020B0604020202090204" charset="0"/>
                <a:cs typeface="Arial Regular" panose="020B0604020202090204" charset="0"/>
              </a:rPr>
              <a:t>Some aspects of the novel are</a:t>
            </a:r>
            <a:r>
              <a:rPr lang="en-US" altLang="zh-CN" sz="2000">
                <a:latin typeface="Arial Regular" panose="020B0604020202090204" charset="0"/>
                <a:cs typeface="Arial Regular" panose="020B0604020202090204" charset="0"/>
              </a:rPr>
              <a:t> not be comprehensively addressed.</a:t>
            </a:r>
            <a:endParaRPr lang="en-US" altLang="zh-CN" sz="2000">
              <a:latin typeface="Arial Regular" panose="020B0604020202090204" charset="0"/>
              <a:cs typeface="Arial Regular" panose="020B060402020209020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10"/>
          <p:cNvPicPr>
            <a:picLocks noChangeAspect="1"/>
          </p:cNvPicPr>
          <p:nvPr/>
        </p:nvPicPr>
        <p:blipFill>
          <a:blip r:embed="rId1"/>
          <a:stretch>
            <a:fillRect/>
          </a:stretch>
        </p:blipFill>
        <p:spPr>
          <a:xfrm>
            <a:off x="316233" y="266578"/>
            <a:ext cx="3417049" cy="2032500"/>
          </a:xfrm>
          <a:prstGeom prst="rect">
            <a:avLst/>
          </a:prstGeom>
        </p:spPr>
      </p:pic>
      <p:pic>
        <p:nvPicPr>
          <p:cNvPr id="12" name="图片 11"/>
          <p:cNvPicPr>
            <a:picLocks noChangeAspect="1"/>
          </p:cNvPicPr>
          <p:nvPr/>
        </p:nvPicPr>
        <p:blipFill>
          <a:blip r:embed="rId2"/>
          <a:stretch>
            <a:fillRect/>
          </a:stretch>
        </p:blipFill>
        <p:spPr>
          <a:xfrm>
            <a:off x="9874080" y="533156"/>
            <a:ext cx="1549740" cy="1981688"/>
          </a:xfrm>
          <a:prstGeom prst="rect">
            <a:avLst/>
          </a:prstGeom>
        </p:spPr>
      </p:pic>
      <p:pic>
        <p:nvPicPr>
          <p:cNvPr id="13" name="图片 12"/>
          <p:cNvPicPr>
            <a:picLocks noChangeAspect="1"/>
          </p:cNvPicPr>
          <p:nvPr/>
        </p:nvPicPr>
        <p:blipFill>
          <a:blip r:embed="rId3"/>
          <a:stretch>
            <a:fillRect/>
          </a:stretch>
        </p:blipFill>
        <p:spPr>
          <a:xfrm>
            <a:off x="10909357" y="2514844"/>
            <a:ext cx="1028925" cy="533531"/>
          </a:xfrm>
          <a:prstGeom prst="rect">
            <a:avLst/>
          </a:prstGeom>
        </p:spPr>
      </p:pic>
      <p:pic>
        <p:nvPicPr>
          <p:cNvPr id="14" name="图片 13"/>
          <p:cNvPicPr>
            <a:picLocks noChangeAspect="1"/>
          </p:cNvPicPr>
          <p:nvPr/>
        </p:nvPicPr>
        <p:blipFill>
          <a:blip r:embed="rId4"/>
          <a:stretch>
            <a:fillRect/>
          </a:stretch>
        </p:blipFill>
        <p:spPr>
          <a:xfrm>
            <a:off x="7752715" y="832134"/>
            <a:ext cx="2121365" cy="1143281"/>
          </a:xfrm>
          <a:prstGeom prst="rect">
            <a:avLst/>
          </a:prstGeom>
        </p:spPr>
      </p:pic>
      <p:pic>
        <p:nvPicPr>
          <p:cNvPr id="15" name="图片 14"/>
          <p:cNvPicPr>
            <a:picLocks noChangeAspect="1"/>
          </p:cNvPicPr>
          <p:nvPr/>
        </p:nvPicPr>
        <p:blipFill>
          <a:blip r:embed="rId5"/>
          <a:stretch>
            <a:fillRect/>
          </a:stretch>
        </p:blipFill>
        <p:spPr>
          <a:xfrm>
            <a:off x="571116" y="4266750"/>
            <a:ext cx="3505968" cy="2324672"/>
          </a:xfrm>
          <a:prstGeom prst="rect">
            <a:avLst/>
          </a:prstGeom>
        </p:spPr>
      </p:pic>
      <p:pic>
        <p:nvPicPr>
          <p:cNvPr id="16" name="图片 15"/>
          <p:cNvPicPr>
            <a:picLocks noChangeAspect="1"/>
          </p:cNvPicPr>
          <p:nvPr/>
        </p:nvPicPr>
        <p:blipFill>
          <a:blip r:embed="rId6"/>
          <a:stretch>
            <a:fillRect/>
          </a:stretch>
        </p:blipFill>
        <p:spPr>
          <a:xfrm>
            <a:off x="8483221" y="3714749"/>
            <a:ext cx="3455157" cy="2616844"/>
          </a:xfrm>
          <a:prstGeom prst="rect">
            <a:avLst/>
          </a:prstGeom>
        </p:spPr>
      </p:pic>
      <p:pic>
        <p:nvPicPr>
          <p:cNvPr id="17" name="图片 16"/>
          <p:cNvPicPr>
            <a:picLocks noChangeAspect="1"/>
          </p:cNvPicPr>
          <p:nvPr/>
        </p:nvPicPr>
        <p:blipFill>
          <a:blip r:embed="rId7"/>
          <a:stretch>
            <a:fillRect/>
          </a:stretch>
        </p:blipFill>
        <p:spPr>
          <a:xfrm rot="20894233">
            <a:off x="4730029" y="1610852"/>
            <a:ext cx="2604071" cy="1295719"/>
          </a:xfrm>
          <a:prstGeom prst="rect">
            <a:avLst/>
          </a:prstGeom>
        </p:spPr>
      </p:pic>
      <p:pic>
        <p:nvPicPr>
          <p:cNvPr id="18" name="图片 17"/>
          <p:cNvPicPr>
            <a:picLocks noChangeAspect="1"/>
          </p:cNvPicPr>
          <p:nvPr/>
        </p:nvPicPr>
        <p:blipFill>
          <a:blip r:embed="rId8"/>
          <a:stretch>
            <a:fillRect/>
          </a:stretch>
        </p:blipFill>
        <p:spPr>
          <a:xfrm>
            <a:off x="4717748" y="3729616"/>
            <a:ext cx="2756504" cy="1117875"/>
          </a:xfrm>
          <a:prstGeom prst="rect">
            <a:avLst/>
          </a:prstGeom>
        </p:spPr>
      </p:pic>
      <p:pic>
        <p:nvPicPr>
          <p:cNvPr id="23" name="图片 22"/>
          <p:cNvPicPr>
            <a:picLocks noChangeAspect="1"/>
          </p:cNvPicPr>
          <p:nvPr/>
        </p:nvPicPr>
        <p:blipFill>
          <a:blip r:embed="rId9"/>
          <a:stretch>
            <a:fillRect/>
          </a:stretch>
        </p:blipFill>
        <p:spPr>
          <a:xfrm>
            <a:off x="1166711" y="2604538"/>
            <a:ext cx="979242" cy="1015876"/>
          </a:xfrm>
          <a:prstGeom prst="rect">
            <a:avLst/>
          </a:prstGeom>
        </p:spPr>
      </p:pic>
      <p:sp>
        <p:nvSpPr>
          <p:cNvPr id="26" name="文本框 25"/>
          <p:cNvSpPr txBox="1"/>
          <p:nvPr/>
        </p:nvSpPr>
        <p:spPr>
          <a:xfrm>
            <a:off x="2181225" y="2905780"/>
            <a:ext cx="7829550" cy="706755"/>
          </a:xfrm>
          <a:prstGeom prst="rect">
            <a:avLst/>
          </a:prstGeom>
          <a:noFill/>
        </p:spPr>
        <p:txBody>
          <a:bodyPr wrap="square" rtlCol="0">
            <a:spAutoFit/>
          </a:bodyPr>
          <a:lstStyle/>
          <a:p>
            <a:pPr algn="ctr"/>
            <a:r>
              <a:rPr lang="en-US" altLang="zh-CN" sz="4000" b="1" dirty="0">
                <a:latin typeface="汉仪夏日体W" panose="00020600040101010101" pitchFamily="18" charset="-122"/>
                <a:ea typeface="汉仪夏日体W" panose="00020600040101010101" pitchFamily="18" charset="-122"/>
                <a:cs typeface="YF补 汉仪夏日体+黑白emoji" panose="020B0604000101010104" pitchFamily="34" charset="-128"/>
                <a:sym typeface="HYXiaRiTiW" panose="00020600040101010101" pitchFamily="18" charset="-122"/>
              </a:rPr>
              <a:t>Thank You for Your Listening. :)</a:t>
            </a:r>
            <a:endParaRPr lang="en-US" altLang="zh-CN" sz="4000" b="1" dirty="0">
              <a:latin typeface="汉仪夏日体W" panose="00020600040101010101" pitchFamily="18" charset="-122"/>
              <a:ea typeface="汉仪夏日体W" panose="00020600040101010101" pitchFamily="18" charset="-122"/>
              <a:cs typeface="YF补 汉仪夏日体+黑白emoji" panose="020B0604000101010104" pitchFamily="34" charset="-128"/>
              <a:sym typeface="HYXiaRiTiW" panose="00020600040101010101" pitchFamily="18" charset="-122"/>
            </a:endParaRPr>
          </a:p>
        </p:txBody>
      </p:sp>
      <p:sp>
        <p:nvSpPr>
          <p:cNvPr id="19" name="文本框 18"/>
          <p:cNvSpPr txBox="1"/>
          <p:nvPr/>
        </p:nvSpPr>
        <p:spPr>
          <a:xfrm>
            <a:off x="4832676" y="2824617"/>
            <a:ext cx="2491376" cy="1738626"/>
          </a:xfrm>
          <a:prstGeom prst="rect">
            <a:avLst/>
          </a:prstGeom>
          <a:noFill/>
        </p:spPr>
        <p:txBody>
          <a:bodyPr wrap="square" rtlCol="0">
            <a:prstTxWarp prst="textArchDown">
              <a:avLst>
                <a:gd name="adj" fmla="val 20658267"/>
              </a:avLst>
            </a:prstTxWarp>
            <a:spAutoFit/>
          </a:bodyPr>
          <a:lstStyle/>
          <a:p>
            <a:pPr algn="ctr"/>
            <a:r>
              <a:rPr lang="en-US" altLang="zh-CN" sz="4000" dirty="0">
                <a:latin typeface="汉仪夏日体W" panose="00020600040101010101" pitchFamily="18" charset="-122"/>
                <a:ea typeface="汉仪夏日体W" panose="00020600040101010101" pitchFamily="18" charset="-122"/>
                <a:cs typeface="YF补 汉仪夏日体+黑白emoji" panose="020B0604000101010104" pitchFamily="34" charset="-128"/>
                <a:sym typeface="HYXiaRiTiW" panose="00020600040101010101" pitchFamily="18" charset="-122"/>
              </a:rPr>
              <a:t> </a:t>
            </a:r>
            <a:endParaRPr lang="zh-CN" altLang="en-US" sz="4000" dirty="0">
              <a:latin typeface="汉仪夏日体W" panose="00020600040101010101" pitchFamily="18" charset="-122"/>
              <a:ea typeface="汉仪夏日体W" panose="00020600040101010101" pitchFamily="18" charset="-122"/>
              <a:cs typeface="YF补 汉仪夏日体+黑白emoji" panose="020B0604000101010104" pitchFamily="34" charset="-128"/>
              <a:sym typeface="HYXiaRiTiW" panose="00020600040101010101" pitchFamily="18" charset="-122"/>
            </a:endParaRPr>
          </a:p>
        </p:txBody>
      </p:sp>
    </p:spTree>
  </p:cSld>
  <p:clrMapOvr>
    <a:masterClrMapping/>
  </p:clrMapOvr>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KSO_WM_BEAUTIFY_FLAG" val=""/>
</p:tagLst>
</file>

<file path=ppt/tags/tag23.xml><?xml version="1.0" encoding="utf-8"?>
<p:tagLst xmlns:p="http://schemas.openxmlformats.org/presentationml/2006/main">
  <p:tag name="KSO_WM_BEAUTIFY_FLAG" val=""/>
</p:tagLst>
</file>

<file path=ppt/tags/tag24.xml><?xml version="1.0" encoding="utf-8"?>
<p:tagLst xmlns:p="http://schemas.openxmlformats.org/presentationml/2006/main">
  <p:tag name="KSO_WM_BEAUTIFY_FLAG" val=""/>
</p:tagLst>
</file>

<file path=ppt/tags/tag25.xml><?xml version="1.0" encoding="utf-8"?>
<p:tagLst xmlns:p="http://schemas.openxmlformats.org/presentationml/2006/main">
  <p:tag name="KSO_WM_BEAUTIFY_FLAG" val=""/>
</p:tagLst>
</file>

<file path=ppt/tags/tag26.xml><?xml version="1.0" encoding="utf-8"?>
<p:tagLst xmlns:p="http://schemas.openxmlformats.org/presentationml/2006/main">
  <p:tag name="KSO_WM_BEAUTIFY_FLAG" val=""/>
</p:tagLst>
</file>

<file path=ppt/tags/tag27.xml><?xml version="1.0" encoding="utf-8"?>
<p:tagLst xmlns:p="http://schemas.openxmlformats.org/presentationml/2006/main">
  <p:tag name="KSO_WM_BEAUTIFY_FLAG" val=""/>
</p:tagLst>
</file>

<file path=ppt/tags/tag28.xml><?xml version="1.0" encoding="utf-8"?>
<p:tagLst xmlns:p="http://schemas.openxmlformats.org/presentationml/2006/main">
  <p:tag name="KSO_WM_BEAUTIFY_FLAG" val=""/>
</p:tagLst>
</file>

<file path=ppt/tags/tag29.xml><?xml version="1.0" encoding="utf-8"?>
<p:tagLst xmlns:p="http://schemas.openxmlformats.org/presentationml/2006/main">
  <p:tag name="KSO_WM_BEAUTIFY_FLAG" val=""/>
</p:tagLst>
</file>

<file path=ppt/tags/tag30.xml><?xml version="1.0" encoding="utf-8"?>
<p:tagLst xmlns:p="http://schemas.openxmlformats.org/presentationml/2006/main">
  <p:tag name="ISPRING_PRESENTATION_TITLE" val="小蜜蜂手绘PPT模板"/>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4100</Words>
  <Application>WPS 演示</Application>
  <PresentationFormat>宽屏</PresentationFormat>
  <Paragraphs>137</Paragraphs>
  <Slides>11</Slides>
  <Notes>15</Notes>
  <HiddenSlides>0</HiddenSlides>
  <MMClips>0</MMClips>
  <ScaleCrop>false</ScaleCrop>
  <HeadingPairs>
    <vt:vector size="6" baseType="variant">
      <vt:variant>
        <vt:lpstr>已用的字体</vt:lpstr>
      </vt:variant>
      <vt:variant>
        <vt:i4>31</vt:i4>
      </vt:variant>
      <vt:variant>
        <vt:lpstr>主题</vt:lpstr>
      </vt:variant>
      <vt:variant>
        <vt:i4>2</vt:i4>
      </vt:variant>
      <vt:variant>
        <vt:lpstr>幻灯片标题</vt:lpstr>
      </vt:variant>
      <vt:variant>
        <vt:i4>11</vt:i4>
      </vt:variant>
    </vt:vector>
  </HeadingPairs>
  <TitlesOfParts>
    <vt:vector size="44" baseType="lpstr">
      <vt:lpstr>Arial</vt:lpstr>
      <vt:lpstr>宋体</vt:lpstr>
      <vt:lpstr>Wingdings</vt:lpstr>
      <vt:lpstr>黑体</vt:lpstr>
      <vt:lpstr>汉仪中黑KW</vt:lpstr>
      <vt:lpstr>Times New Roman</vt:lpstr>
      <vt:lpstr>HYXiaRiTiW</vt:lpstr>
      <vt:lpstr>Arial Bold</vt:lpstr>
      <vt:lpstr>Arial Bold Italic</vt:lpstr>
      <vt:lpstr>汉仪夏日体W</vt:lpstr>
      <vt:lpstr>YF补 汉仪夏日体+黑白emoji</vt:lpstr>
      <vt:lpstr>苹方-简</vt:lpstr>
      <vt:lpstr>SimHei</vt:lpstr>
      <vt:lpstr>Arial Regular</vt:lpstr>
      <vt:lpstr>等线</vt:lpstr>
      <vt:lpstr>Wingdings</vt:lpstr>
      <vt:lpstr>Times New Roman Regular</vt:lpstr>
      <vt:lpstr>微软雅黑</vt:lpstr>
      <vt:lpstr>汉仪旗黑</vt:lpstr>
      <vt:lpstr>宋体</vt:lpstr>
      <vt:lpstr>Arial Unicode MS</vt:lpstr>
      <vt:lpstr>汉仪中等线KW</vt:lpstr>
      <vt:lpstr>等线 Light</vt:lpstr>
      <vt:lpstr>汉仪书宋二KW</vt:lpstr>
      <vt:lpstr>Calibri</vt:lpstr>
      <vt:lpstr>Helvetica Neue</vt:lpstr>
      <vt:lpstr>HYXiaRiTiW</vt:lpstr>
      <vt:lpstr>SimHei</vt:lpstr>
      <vt:lpstr>YF补 汉仪夏日体+黑白emoji</vt:lpstr>
      <vt:lpstr>汉仪夏日体W</vt:lpstr>
      <vt:lpstr>Arial Italic</vt:lpstr>
      <vt:lpstr>Office 主题​​</vt:lpstr>
      <vt:lpstr>1_Office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优品PPT</dc:creator>
  <dc:description>http://www.ypppt.com/</dc:description>
  <cp:lastModifiedBy>习本蘑菇</cp:lastModifiedBy>
  <cp:revision>326</cp:revision>
  <dcterms:created xsi:type="dcterms:W3CDTF">2025-05-21T15:27:17Z</dcterms:created>
  <dcterms:modified xsi:type="dcterms:W3CDTF">2025-05-21T15:27:17Z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3B41BC0AF58A9BDED1EF2D681AB02E2D_43</vt:lpwstr>
  </property>
  <property fmtid="{D5CDD505-2E9C-101B-9397-08002B2CF9AE}" pid="3" name="KSOProductBuildVer">
    <vt:lpwstr>2052-6.5.2.8766</vt:lpwstr>
  </property>
</Properties>
</file>