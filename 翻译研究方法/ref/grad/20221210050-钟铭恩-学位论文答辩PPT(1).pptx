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34"/>
  </p:handoutMasterIdLst>
  <p:sldIdLst>
    <p:sldId id="256" r:id="rId4"/>
    <p:sldId id="258" r:id="rId6"/>
    <p:sldId id="285" r:id="rId7"/>
    <p:sldId id="298" r:id="rId8"/>
    <p:sldId id="299" r:id="rId9"/>
    <p:sldId id="300" r:id="rId10"/>
    <p:sldId id="301" r:id="rId11"/>
    <p:sldId id="302" r:id="rId12"/>
    <p:sldId id="303" r:id="rId13"/>
    <p:sldId id="305" r:id="rId14"/>
    <p:sldId id="308" r:id="rId15"/>
    <p:sldId id="310" r:id="rId16"/>
    <p:sldId id="311" r:id="rId17"/>
    <p:sldId id="313" r:id="rId18"/>
    <p:sldId id="315" r:id="rId19"/>
    <p:sldId id="316" r:id="rId20"/>
    <p:sldId id="317" r:id="rId21"/>
    <p:sldId id="326" r:id="rId22"/>
    <p:sldId id="328" r:id="rId23"/>
    <p:sldId id="330" r:id="rId24"/>
    <p:sldId id="331" r:id="rId25"/>
    <p:sldId id="329" r:id="rId26"/>
    <p:sldId id="319" r:id="rId27"/>
    <p:sldId id="320" r:id="rId28"/>
    <p:sldId id="321" r:id="rId29"/>
    <p:sldId id="322" r:id="rId30"/>
    <p:sldId id="323" r:id="rId31"/>
    <p:sldId id="325" r:id="rId32"/>
    <p:sldId id="284" r:id="rId33"/>
  </p:sldIdLst>
  <p:sldSz cx="12192000"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0" userDrawn="1">
          <p15:clr>
            <a:srgbClr val="A4A3A4"/>
          </p15:clr>
        </p15:guide>
        <p15:guide id="2" pos="38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5456"/>
    <a:srgbClr val="03A9F0"/>
    <a:srgbClr val="5B9BD5"/>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showGuides="1">
      <p:cViewPr varScale="1">
        <p:scale>
          <a:sx n="67" d="100"/>
          <a:sy n="67" d="100"/>
        </p:scale>
        <p:origin x="564" y="56"/>
      </p:cViewPr>
      <p:guideLst>
        <p:guide orient="horz" pos="2240"/>
        <p:guide pos="3836"/>
      </p:guideLst>
    </p:cSldViewPr>
  </p:slideViewPr>
  <p:notesTextViewPr>
    <p:cViewPr>
      <p:scale>
        <a:sx n="1" d="1"/>
        <a:sy n="1" d="1"/>
      </p:scale>
      <p:origin x="0" y="0"/>
    </p:cViewPr>
  </p:notesTextViewPr>
  <p:sorterViewPr>
    <p:cViewPr>
      <p:scale>
        <a:sx n="139" d="100"/>
        <a:sy n="139" d="100"/>
      </p:scale>
      <p:origin x="0" y="0"/>
    </p:cViewPr>
  </p:sorterViewPr>
  <p:notesViewPr>
    <p:cSldViewPr snapToGrid="0">
      <p:cViewPr varScale="1">
        <p:scale>
          <a:sx n="70" d="100"/>
          <a:sy n="70" d="100"/>
        </p:scale>
        <p:origin x="2520"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8" Type="http://schemas.openxmlformats.org/officeDocument/2006/relationships/tags" Target="tags/tag7.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handoutMaster" Target="handoutMasters/handoutMaster1.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Times New Roman" panose="02020503050405090304" charset="0"/>
              <a:cs typeface="Times New Roman" panose="02020503050405090304"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96566E-A135-47C5-B666-D77ED219465C}" type="datetimeFigureOut">
              <a:rPr lang="zh-CN" altLang="en-US" smtClean="0">
                <a:latin typeface="Times New Roman" panose="02020503050405090304" charset="0"/>
                <a:cs typeface="Times New Roman" panose="02020503050405090304" charset="0"/>
              </a:rPr>
            </a:fld>
            <a:endParaRPr lang="zh-CN" altLang="en-US">
              <a:latin typeface="Times New Roman" panose="02020503050405090304" charset="0"/>
              <a:cs typeface="Times New Roman" panose="02020503050405090304"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Times New Roman" panose="02020503050405090304" charset="0"/>
              <a:cs typeface="Times New Roman" panose="02020503050405090304"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A0E1E66-0EA3-46B4-8216-B1B8BE711FF1}" type="slidenum">
              <a:rPr lang="zh-CN" altLang="en-US" smtClean="0">
                <a:latin typeface="Times New Roman" panose="02020503050405090304" charset="0"/>
                <a:cs typeface="Times New Roman" panose="02020503050405090304" charset="0"/>
              </a:rPr>
            </a:fld>
            <a:endParaRPr lang="zh-CN" altLang="en-US">
              <a:latin typeface="Times New Roman" panose="02020503050405090304" charset="0"/>
              <a:cs typeface="Times New Roman" panose="0202050305040509030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imes New Roman" panose="02020503050405090304" charset="0"/>
                <a:cs typeface="Times New Roman" panose="0202050305040509030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imes New Roman" panose="02020503050405090304" charset="0"/>
                <a:cs typeface="Times New Roman" panose="02020503050405090304" charset="0"/>
              </a:defRPr>
            </a:lvl1pPr>
          </a:lstStyle>
          <a:p>
            <a:fld id="{3600BAA7-22A5-49C2-BA97-E6B0C9CFDA3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imes New Roman" panose="02020503050405090304" charset="0"/>
                <a:cs typeface="Times New Roman" panose="0202050305040509030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imes New Roman" panose="02020503050405090304" charset="0"/>
                <a:cs typeface="Times New Roman" panose="02020503050405090304" charset="0"/>
              </a:defRPr>
            </a:lvl1pPr>
          </a:lstStyle>
          <a:p>
            <a:fld id="{63D9F56C-685E-485A-BF04-BF7465453AF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panose="02020503050405090304" charset="0"/>
        <a:ea typeface="+mn-ea"/>
        <a:cs typeface="Times New Roman" panose="02020503050405090304" charset="0"/>
      </a:defRPr>
    </a:lvl1pPr>
    <a:lvl2pPr marL="457200" algn="l" defTabSz="914400" rtl="0" eaLnBrk="1" latinLnBrk="0" hangingPunct="1">
      <a:defRPr sz="1200" kern="1200">
        <a:solidFill>
          <a:schemeClr val="tx1"/>
        </a:solidFill>
        <a:latin typeface="Times New Roman" panose="02020503050405090304" charset="0"/>
        <a:ea typeface="+mn-ea"/>
        <a:cs typeface="Times New Roman" panose="02020503050405090304" charset="0"/>
      </a:defRPr>
    </a:lvl2pPr>
    <a:lvl3pPr marL="914400" algn="l" defTabSz="914400" rtl="0" eaLnBrk="1" latinLnBrk="0" hangingPunct="1">
      <a:defRPr sz="1200" kern="1200">
        <a:solidFill>
          <a:schemeClr val="tx1"/>
        </a:solidFill>
        <a:latin typeface="Times New Roman" panose="02020503050405090304" charset="0"/>
        <a:ea typeface="+mn-ea"/>
        <a:cs typeface="Times New Roman" panose="02020503050405090304" charset="0"/>
      </a:defRPr>
    </a:lvl3pPr>
    <a:lvl4pPr marL="1371600" algn="l" defTabSz="914400" rtl="0" eaLnBrk="1" latinLnBrk="0" hangingPunct="1">
      <a:defRPr sz="1200" kern="1200">
        <a:solidFill>
          <a:schemeClr val="tx1"/>
        </a:solidFill>
        <a:latin typeface="Times New Roman" panose="02020503050405090304" charset="0"/>
        <a:ea typeface="+mn-ea"/>
        <a:cs typeface="Times New Roman" panose="02020503050405090304" charset="0"/>
      </a:defRPr>
    </a:lvl4pPr>
    <a:lvl5pPr marL="1828800" algn="l" defTabSz="914400" rtl="0" eaLnBrk="1" latinLnBrk="0" hangingPunct="1">
      <a:defRPr sz="1200" kern="1200">
        <a:solidFill>
          <a:schemeClr val="tx1"/>
        </a:solidFill>
        <a:latin typeface="Times New Roman" panose="02020503050405090304" charset="0"/>
        <a:ea typeface="+mn-ea"/>
        <a:cs typeface="Times New Roman" panose="0202050305040509030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solidFill>
                  <a:prstClr val="black"/>
                </a:solidFill>
              </a:rPr>
            </a:fld>
            <a:endParaRPr lang="zh-CN" alt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
        <p:nvSpPr>
          <p:cNvPr id="2" name="文本框 1"/>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cs typeface="Times New Roman" panose="02020503050405090304" charset="0"/>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cs typeface="Times New Roman" panose="02020503050405090304" charset="0"/>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cs typeface="Times New Roman" panose="02020503050405090304" charset="0"/>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cs typeface="Times New Roman" panose="0202050305040509030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
        <p:nvSpPr>
          <p:cNvPr id="5" name="文本框 4"/>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cs typeface="Times New Roman" panose="02020503050405090304" charset="0"/>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cs typeface="Times New Roman" panose="02020503050405090304" charset="0"/>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cs typeface="Times New Roman" panose="02020503050405090304" charset="0"/>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cs typeface="Times New Roman" panose="0202050305040509030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F963683-69C5-4225-8B2B-0C82CECB9400}" type="slidenum">
              <a:rPr lang="zh-CN" altLang="en-US" smtClean="0"/>
            </a:fld>
            <a:endParaRPr lang="zh-CN" altLang="en-US"/>
          </a:p>
        </p:txBody>
      </p:sp>
      <p:sp>
        <p:nvSpPr>
          <p:cNvPr id="6" name="矩形 5"/>
          <p:cNvSpPr/>
          <p:nvPr userDrawn="1"/>
        </p:nvSpPr>
        <p:spPr>
          <a:xfrm>
            <a:off x="0" y="2276872"/>
            <a:ext cx="3264363" cy="268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Times New Roman" panose="02020503050405090304" charset="0"/>
            </a:endParaRPr>
          </a:p>
        </p:txBody>
      </p:sp>
      <p:sp>
        <p:nvSpPr>
          <p:cNvPr id="9" name="矩形 8"/>
          <p:cNvSpPr/>
          <p:nvPr userDrawn="1"/>
        </p:nvSpPr>
        <p:spPr>
          <a:xfrm>
            <a:off x="8975543" y="2276871"/>
            <a:ext cx="3264363" cy="268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Times New Roman" panose="02020503050405090304" charset="0"/>
            </a:endParaRPr>
          </a:p>
        </p:txBody>
      </p:sp>
      <p:grpSp>
        <p:nvGrpSpPr>
          <p:cNvPr id="10" name="组合 9"/>
          <p:cNvGrpSpPr/>
          <p:nvPr userDrawn="1"/>
        </p:nvGrpSpPr>
        <p:grpSpPr>
          <a:xfrm>
            <a:off x="7596491" y="2468893"/>
            <a:ext cx="576064" cy="577112"/>
            <a:chOff x="6084168" y="1274820"/>
            <a:chExt cx="432048" cy="432834"/>
          </a:xfrm>
        </p:grpSpPr>
        <p:sp>
          <p:nvSpPr>
            <p:cNvPr id="1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Times New Roman" panose="02020503050405090304" charset="0"/>
                <a:cs typeface="Times New Roman" panose="02020503050405090304" charset="0"/>
              </a:endParaRPr>
            </a:p>
          </p:txBody>
        </p:sp>
        <p:sp>
          <p:nvSpPr>
            <p:cNvPr id="1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45720" tIns="22860" rIns="45720" bIns="22860" anchor="ctr"/>
            <a:lstStyle/>
            <a:p>
              <a:endParaRPr lang="en-US" sz="2400">
                <a:latin typeface="Roboto Light"/>
                <a:ea typeface="Times New Roman" panose="02020503050405090304" charset="0"/>
                <a:cs typeface="Times New Roman" panose="02020503050405090304" charset="0"/>
              </a:endParaRPr>
            </a:p>
          </p:txBody>
        </p:sp>
      </p:grpSp>
      <p:grpSp>
        <p:nvGrpSpPr>
          <p:cNvPr id="13" name="组合 12"/>
          <p:cNvGrpSpPr/>
          <p:nvPr userDrawn="1"/>
        </p:nvGrpSpPr>
        <p:grpSpPr>
          <a:xfrm>
            <a:off x="5868299" y="2469417"/>
            <a:ext cx="576064" cy="576064"/>
            <a:chOff x="4788024" y="1275213"/>
            <a:chExt cx="432048" cy="432048"/>
          </a:xfrm>
        </p:grpSpPr>
        <p:sp>
          <p:nvSpPr>
            <p:cNvPr id="1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Times New Roman" panose="02020503050405090304" charset="0"/>
                <a:cs typeface="Times New Roman" panose="02020503050405090304" charset="0"/>
              </a:endParaRPr>
            </a:p>
          </p:txBody>
        </p:sp>
        <p:sp>
          <p:nvSpPr>
            <p:cNvPr id="1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45720" tIns="22860" rIns="45720" bIns="22860" anchor="ctr"/>
            <a:lstStyle/>
            <a:p>
              <a:endParaRPr lang="en-US" sz="2400">
                <a:latin typeface="Roboto Light"/>
                <a:ea typeface="Times New Roman" panose="02020503050405090304" charset="0"/>
                <a:cs typeface="Times New Roman" panose="02020503050405090304" charset="0"/>
              </a:endParaRPr>
            </a:p>
          </p:txBody>
        </p:sp>
      </p:grpSp>
      <p:grpSp>
        <p:nvGrpSpPr>
          <p:cNvPr id="16" name="组合 15"/>
          <p:cNvGrpSpPr/>
          <p:nvPr userDrawn="1"/>
        </p:nvGrpSpPr>
        <p:grpSpPr>
          <a:xfrm>
            <a:off x="6732395" y="2468893"/>
            <a:ext cx="577111" cy="577112"/>
            <a:chOff x="5436096" y="1274820"/>
            <a:chExt cx="432833" cy="432834"/>
          </a:xfrm>
        </p:grpSpPr>
        <p:sp>
          <p:nvSpPr>
            <p:cNvPr id="17"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Times New Roman" panose="02020503050405090304" charset="0"/>
                <a:cs typeface="Times New Roman" panose="02020503050405090304" charset="0"/>
              </a:endParaRPr>
            </a:p>
          </p:txBody>
        </p:sp>
        <p:sp>
          <p:nvSpPr>
            <p:cNvPr id="1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45720" tIns="22860" rIns="45720" bIns="22860" anchor="ctr"/>
            <a:lstStyle/>
            <a:p>
              <a:endParaRPr lang="en-US" sz="2400">
                <a:latin typeface="Roboto Light"/>
                <a:ea typeface="Times New Roman" panose="02020503050405090304" charset="0"/>
                <a:cs typeface="Times New Roman" panose="02020503050405090304" charset="0"/>
              </a:endParaRPr>
            </a:p>
          </p:txBody>
        </p:sp>
      </p:grpSp>
      <p:grpSp>
        <p:nvGrpSpPr>
          <p:cNvPr id="19" name="组合 18"/>
          <p:cNvGrpSpPr/>
          <p:nvPr userDrawn="1"/>
        </p:nvGrpSpPr>
        <p:grpSpPr>
          <a:xfrm>
            <a:off x="4140107" y="2468893"/>
            <a:ext cx="577111" cy="577112"/>
            <a:chOff x="3491880" y="1274820"/>
            <a:chExt cx="432833" cy="432834"/>
          </a:xfrm>
        </p:grpSpPr>
        <p:sp>
          <p:nvSpPr>
            <p:cNvPr id="2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Times New Roman" panose="02020503050405090304" charset="0"/>
                <a:cs typeface="Times New Roman" panose="02020503050405090304" charset="0"/>
              </a:endParaRPr>
            </a:p>
          </p:txBody>
        </p:sp>
        <p:sp>
          <p:nvSpPr>
            <p:cNvPr id="2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45720" tIns="22860" rIns="45720" bIns="22860" anchor="ctr"/>
            <a:lstStyle/>
            <a:p>
              <a:endParaRPr lang="en-US" sz="2400">
                <a:latin typeface="Roboto Light"/>
                <a:ea typeface="Times New Roman" panose="02020503050405090304" charset="0"/>
                <a:cs typeface="Times New Roman" panose="02020503050405090304" charset="0"/>
              </a:endParaRPr>
            </a:p>
          </p:txBody>
        </p:sp>
      </p:grpSp>
      <p:grpSp>
        <p:nvGrpSpPr>
          <p:cNvPr id="22" name="组合 21"/>
          <p:cNvGrpSpPr/>
          <p:nvPr userDrawn="1"/>
        </p:nvGrpSpPr>
        <p:grpSpPr>
          <a:xfrm>
            <a:off x="5004203" y="2468893"/>
            <a:ext cx="577111" cy="577112"/>
            <a:chOff x="4139952" y="1274820"/>
            <a:chExt cx="432833" cy="432834"/>
          </a:xfrm>
        </p:grpSpPr>
        <p:sp>
          <p:nvSpPr>
            <p:cNvPr id="23"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Times New Roman" panose="02020503050405090304" charset="0"/>
                <a:cs typeface="Times New Roman" panose="02020503050405090304" charset="0"/>
              </a:endParaRPr>
            </a:p>
          </p:txBody>
        </p:sp>
        <p:sp>
          <p:nvSpPr>
            <p:cNvPr id="24"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45720" tIns="22860" rIns="45720" bIns="22860" anchor="ctr"/>
            <a:lstStyle/>
            <a:p>
              <a:endParaRPr lang="en-US" sz="2400">
                <a:latin typeface="Roboto Light"/>
                <a:ea typeface="Times New Roman" panose="02020503050405090304" charset="0"/>
                <a:cs typeface="Times New Roman" panose="02020503050405090304" charset="0"/>
              </a:endParaRPr>
            </a:p>
          </p:txBody>
        </p:sp>
      </p:grpSp>
      <p:sp>
        <p:nvSpPr>
          <p:cNvPr id="25" name="文本框 24"/>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cs typeface="Times New Roman" panose="02020503050405090304" charset="0"/>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cs typeface="Times New Roman" panose="02020503050405090304" charset="0"/>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cs typeface="Times New Roman" panose="02020503050405090304" charset="0"/>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cs typeface="Times New Roman" panose="02020503050405090304" charset="0"/>
            </a:endParaRPr>
          </a:p>
        </p:txBody>
      </p:sp>
      <p:pic>
        <p:nvPicPr>
          <p:cNvPr id="26" name="图片 2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ppt_w</p:attrName>
                                        </p:attrNameLst>
                                      </p:cBhvr>
                                      <p:tavLst>
                                        <p:tav tm="0">
                                          <p:val>
                                            <p:fltVal val="0"/>
                                          </p:val>
                                        </p:tav>
                                        <p:tav tm="100000">
                                          <p:val>
                                            <p:strVal val="#ppt_w"/>
                                          </p:val>
                                        </p:tav>
                                      </p:tavLst>
                                    </p:anim>
                                    <p:anim calcmode="lin" valueType="num">
                                      <p:cBhvr>
                                        <p:cTn id="17" dur="500" fill="hold"/>
                                        <p:tgtEl>
                                          <p:spTgt spid="19"/>
                                        </p:tgtEl>
                                        <p:attrNameLst>
                                          <p:attrName>ppt_h</p:attrName>
                                        </p:attrNameLst>
                                      </p:cBhvr>
                                      <p:tavLst>
                                        <p:tav tm="0">
                                          <p:val>
                                            <p:fltVal val="0"/>
                                          </p:val>
                                        </p:tav>
                                        <p:tav tm="100000">
                                          <p:val>
                                            <p:strVal val="#ppt_h"/>
                                          </p:val>
                                        </p:tav>
                                      </p:tavLst>
                                    </p:anim>
                                    <p:animEffect transition="in" filter="fade">
                                      <p:cBhvr>
                                        <p:cTn id="18" dur="500"/>
                                        <p:tgtEl>
                                          <p:spTgt spid="19"/>
                                        </p:tgtEl>
                                      </p:cBhvr>
                                    </p:animEffect>
                                  </p:childTnLst>
                                </p:cTn>
                              </p:par>
                              <p:par>
                                <p:cTn id="19" presetID="53" presetClass="entr" presetSubtype="16" fill="hold" nodeType="withEffect">
                                  <p:stCondLst>
                                    <p:cond delay="200"/>
                                  </p:st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animEffect transition="in" filter="fade">
                                      <p:cBhvr>
                                        <p:cTn id="23" dur="500"/>
                                        <p:tgtEl>
                                          <p:spTgt spid="22"/>
                                        </p:tgtEl>
                                      </p:cBhvr>
                                    </p:animEffect>
                                  </p:childTnLst>
                                </p:cTn>
                              </p:par>
                              <p:par>
                                <p:cTn id="24" presetID="53" presetClass="entr" presetSubtype="16" fill="hold" nodeType="withEffect">
                                  <p:stCondLst>
                                    <p:cond delay="400"/>
                                  </p:stCondLst>
                                  <p:childTnLst>
                                    <p:set>
                                      <p:cBhvr>
                                        <p:cTn id="25" dur="1" fill="hold">
                                          <p:stCondLst>
                                            <p:cond delay="0"/>
                                          </p:stCondLst>
                                        </p:cTn>
                                        <p:tgtEl>
                                          <p:spTgt spid="13"/>
                                        </p:tgtEl>
                                        <p:attrNameLst>
                                          <p:attrName>style.visibility</p:attrName>
                                        </p:attrNameLst>
                                      </p:cBhvr>
                                      <p:to>
                                        <p:strVal val="visible"/>
                                      </p:to>
                                    </p:set>
                                    <p:anim calcmode="lin" valueType="num">
                                      <p:cBhvr>
                                        <p:cTn id="26" dur="500" fill="hold"/>
                                        <p:tgtEl>
                                          <p:spTgt spid="13"/>
                                        </p:tgtEl>
                                        <p:attrNameLst>
                                          <p:attrName>ppt_w</p:attrName>
                                        </p:attrNameLst>
                                      </p:cBhvr>
                                      <p:tavLst>
                                        <p:tav tm="0">
                                          <p:val>
                                            <p:fltVal val="0"/>
                                          </p:val>
                                        </p:tav>
                                        <p:tav tm="100000">
                                          <p:val>
                                            <p:strVal val="#ppt_w"/>
                                          </p:val>
                                        </p:tav>
                                      </p:tavLst>
                                    </p:anim>
                                    <p:anim calcmode="lin" valueType="num">
                                      <p:cBhvr>
                                        <p:cTn id="27" dur="500" fill="hold"/>
                                        <p:tgtEl>
                                          <p:spTgt spid="13"/>
                                        </p:tgtEl>
                                        <p:attrNameLst>
                                          <p:attrName>ppt_h</p:attrName>
                                        </p:attrNameLst>
                                      </p:cBhvr>
                                      <p:tavLst>
                                        <p:tav tm="0">
                                          <p:val>
                                            <p:fltVal val="0"/>
                                          </p:val>
                                        </p:tav>
                                        <p:tav tm="100000">
                                          <p:val>
                                            <p:strVal val="#ppt_h"/>
                                          </p:val>
                                        </p:tav>
                                      </p:tavLst>
                                    </p:anim>
                                    <p:animEffect transition="in" filter="fade">
                                      <p:cBhvr>
                                        <p:cTn id="28" dur="500"/>
                                        <p:tgtEl>
                                          <p:spTgt spid="13"/>
                                        </p:tgtEl>
                                      </p:cBhvr>
                                    </p:animEffect>
                                  </p:childTnLst>
                                </p:cTn>
                              </p:par>
                              <p:par>
                                <p:cTn id="29" presetID="53" presetClass="entr" presetSubtype="16" fill="hold" nodeType="withEffect">
                                  <p:stCondLst>
                                    <p:cond delay="60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par>
                                <p:cTn id="34" presetID="53" presetClass="entr" presetSubtype="16" fill="hold" nodeType="withEffect">
                                  <p:stCondLst>
                                    <p:cond delay="800"/>
                                  </p:stCondLst>
                                  <p:childTnLst>
                                    <p:set>
                                      <p:cBhvr>
                                        <p:cTn id="35" dur="1" fill="hold">
                                          <p:stCondLst>
                                            <p:cond delay="0"/>
                                          </p:stCondLst>
                                        </p:cTn>
                                        <p:tgtEl>
                                          <p:spTgt spid="10"/>
                                        </p:tgtEl>
                                        <p:attrNameLst>
                                          <p:attrName>style.visibility</p:attrName>
                                        </p:attrNameLst>
                                      </p:cBhvr>
                                      <p:to>
                                        <p:strVal val="visible"/>
                                      </p:to>
                                    </p:set>
                                    <p:anim calcmode="lin" valueType="num">
                                      <p:cBhvr>
                                        <p:cTn id="36" dur="500" fill="hold"/>
                                        <p:tgtEl>
                                          <p:spTgt spid="10"/>
                                        </p:tgtEl>
                                        <p:attrNameLst>
                                          <p:attrName>ppt_w</p:attrName>
                                        </p:attrNameLst>
                                      </p:cBhvr>
                                      <p:tavLst>
                                        <p:tav tm="0">
                                          <p:val>
                                            <p:fltVal val="0"/>
                                          </p:val>
                                        </p:tav>
                                        <p:tav tm="100000">
                                          <p:val>
                                            <p:strVal val="#ppt_w"/>
                                          </p:val>
                                        </p:tav>
                                      </p:tavLst>
                                    </p:anim>
                                    <p:anim calcmode="lin" valueType="num">
                                      <p:cBhvr>
                                        <p:cTn id="37" dur="500" fill="hold"/>
                                        <p:tgtEl>
                                          <p:spTgt spid="10"/>
                                        </p:tgtEl>
                                        <p:attrNameLst>
                                          <p:attrName>ppt_h</p:attrName>
                                        </p:attrNameLst>
                                      </p:cBhvr>
                                      <p:tavLst>
                                        <p:tav tm="0">
                                          <p:val>
                                            <p:fltVal val="0"/>
                                          </p:val>
                                        </p:tav>
                                        <p:tav tm="100000">
                                          <p:val>
                                            <p:strVal val="#ppt_h"/>
                                          </p:val>
                                        </p:tav>
                                      </p:tavLst>
                                    </p:anim>
                                    <p:animEffect transition="in" filter="fade">
                                      <p:cBhvr>
                                        <p:cTn id="3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Regular" panose="02020503050405090304" charset="0"/>
              </a:defRPr>
            </a:lvl1p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atin typeface="Times New Roman Regular" panose="02020503050405090304" charset="0"/>
                <a:cs typeface="Times New Roman Regular" panose="02020503050405090304" charset="0"/>
              </a:defRPr>
            </a:lvl1pPr>
          </a:lstStyle>
          <a:p>
            <a:fld id="{165AC512-946F-491C-A78E-B874D25DDF2C}"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atin typeface="Times New Roman Regular" panose="02020503050405090304" charset="0"/>
                <a:cs typeface="Times New Roman Regular" panose="02020503050405090304" charset="0"/>
              </a:defRPr>
            </a:lvl1pPr>
          </a:lstStyle>
          <a:p>
            <a:endParaRPr lang="zh-CN" altLang="en-US"/>
          </a:p>
        </p:txBody>
      </p:sp>
      <p:sp>
        <p:nvSpPr>
          <p:cNvPr id="5" name="灯片编号占位符 4"/>
          <p:cNvSpPr>
            <a:spLocks noGrp="1"/>
          </p:cNvSpPr>
          <p:nvPr>
            <p:ph type="sldNum" sz="quarter" idx="12"/>
          </p:nvPr>
        </p:nvSpPr>
        <p:spPr/>
        <p:txBody>
          <a:bodyPr/>
          <a:lstStyle>
            <a:lvl1pPr>
              <a:defRPr>
                <a:latin typeface="Times New Roman Regular" panose="02020503050405090304" charset="0"/>
                <a:cs typeface="Times New Roman Regular" panose="02020503050405090304" charset="0"/>
              </a:defRPr>
            </a:lvl1pPr>
          </a:lstStyle>
          <a:p>
            <a:fld id="{7F963683-69C5-4225-8B2B-0C82CECB9400}" type="slidenum">
              <a:rPr lang="zh-CN" altLang="en-US" smtClean="0"/>
            </a:fld>
            <a:endParaRPr lang="zh-CN" altLang="en-US"/>
          </a:p>
        </p:txBody>
      </p:sp>
      <p:pic>
        <p:nvPicPr>
          <p:cNvPr id="10" name="图片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963683-69C5-4225-8B2B-0C82CECB9400}" type="slidenum">
              <a:rPr lang="zh-CN" altLang="en-US" smtClean="0"/>
            </a:fld>
            <a:endParaRPr lang="zh-CN" altLang="en-US"/>
          </a:p>
        </p:txBody>
      </p:sp>
      <p:sp>
        <p:nvSpPr>
          <p:cNvPr id="9" name="矩形 8"/>
          <p:cNvSpPr/>
          <p:nvPr userDrawn="1"/>
        </p:nvSpPr>
        <p:spPr>
          <a:xfrm>
            <a:off x="8725278" y="6450175"/>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PPT</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模板下载：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www.1ppt.com/moban/     </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行业</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PPT</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模板：</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www.1ppt.com/hangye/ </a:t>
            </a:r>
            <a:endParaRPr kumimoji="0" lang="en-US" altLang="zh-CN" sz="100" b="0" i="0" u="none" strike="noStrike" kern="0" cap="none" spc="0" normalizeH="0" baseline="0" noProof="0" dirty="0">
              <a:ln>
                <a:noFill/>
              </a:ln>
              <a:solidFill>
                <a:prstClr val="white"/>
              </a:solidFill>
              <a:effectLst/>
              <a:uLnTx/>
              <a:uFillTx/>
              <a:cs typeface="Times New Roman" panose="0202050305040509030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节日</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PPT</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模板：</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www.1ppt.com/jieri/           PPT</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素材下载：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www.1ppt.com/sucai/</a:t>
            </a:r>
            <a:endParaRPr kumimoji="0" lang="en-US" altLang="zh-CN" sz="100" b="0" i="0" u="none" strike="noStrike" kern="0" cap="none" spc="0" normalizeH="0" baseline="0" noProof="0" dirty="0">
              <a:ln>
                <a:noFill/>
              </a:ln>
              <a:solidFill>
                <a:prstClr val="white"/>
              </a:solidFill>
              <a:effectLst/>
              <a:uLnTx/>
              <a:uFillTx/>
              <a:cs typeface="Times New Roman" panose="0202050305040509030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PPT</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背景图片：</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www.1ppt.com/beijing/      PPT</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图表下载：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www.1ppt.com/tubiao/      </a:t>
            </a:r>
            <a:endParaRPr kumimoji="0" lang="en-US" altLang="zh-CN" sz="100" b="0" i="0" u="none" strike="noStrike" kern="0" cap="none" spc="0" normalizeH="0" baseline="0" noProof="0" dirty="0">
              <a:ln>
                <a:noFill/>
              </a:ln>
              <a:solidFill>
                <a:prstClr val="white"/>
              </a:solidFill>
              <a:effectLst/>
              <a:uLnTx/>
              <a:uFillTx/>
              <a:cs typeface="Times New Roman" panose="0202050305040509030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优秀</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PPT</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www.1ppt.com/xiazai/        PPT</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教程： </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www.1ppt.com/powerpoint/      </a:t>
            </a:r>
            <a:endParaRPr kumimoji="0" lang="en-US" altLang="zh-CN" sz="100" b="0" i="0" u="none" strike="noStrike" kern="0" cap="none" spc="0" normalizeH="0" baseline="0" noProof="0" dirty="0">
              <a:ln>
                <a:noFill/>
              </a:ln>
              <a:solidFill>
                <a:prstClr val="white"/>
              </a:solidFill>
              <a:effectLst/>
              <a:uLnTx/>
              <a:uFillTx/>
              <a:cs typeface="Times New Roman" panose="0202050305040509030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Word</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教程： </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www.1ppt.com/word/              Excel</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教程：</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www.1ppt.com/excel/  </a:t>
            </a:r>
            <a:endParaRPr kumimoji="0" lang="en-US" altLang="zh-CN" sz="100" b="0" i="0" u="none" strike="noStrike" kern="0" cap="none" spc="0" normalizeH="0" baseline="0" noProof="0" dirty="0">
              <a:ln>
                <a:noFill/>
              </a:ln>
              <a:solidFill>
                <a:prstClr val="white"/>
              </a:solidFill>
              <a:effectLst/>
              <a:uLnTx/>
              <a:uFillTx/>
              <a:cs typeface="Times New Roman" panose="0202050305040509030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资料下载：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www.1ppt.com/ziliao/                PPT</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课件下载：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www.1ppt.com/kejian/ </a:t>
            </a:r>
            <a:endParaRPr kumimoji="0" lang="en-US" altLang="zh-CN" sz="100" b="0" i="0" u="none" strike="noStrike" kern="0" cap="none" spc="0" normalizeH="0" baseline="0" noProof="0" dirty="0">
              <a:ln>
                <a:noFill/>
              </a:ln>
              <a:solidFill>
                <a:prstClr val="white"/>
              </a:solidFill>
              <a:effectLst/>
              <a:uLnTx/>
              <a:uFillTx/>
              <a:cs typeface="Times New Roman" panose="0202050305040509030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范文下载：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www.1ppt.com/fanwen/             </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试卷下载：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www.1ppt.com/shiti/  </a:t>
            </a:r>
            <a:endParaRPr kumimoji="0" lang="en-US" altLang="zh-CN" sz="100" b="0" i="0" u="none" strike="noStrike" kern="0" cap="none" spc="0" normalizeH="0" baseline="0" noProof="0" dirty="0">
              <a:ln>
                <a:noFill/>
              </a:ln>
              <a:solidFill>
                <a:prstClr val="white"/>
              </a:solidFill>
              <a:effectLst/>
              <a:uLnTx/>
              <a:uFillTx/>
              <a:cs typeface="Times New Roman" panose="0202050305040509030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教案下载：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www.1ppt.com/jiaoan/        </a:t>
            </a:r>
            <a:endParaRPr kumimoji="0" lang="en-US" altLang="zh-CN" sz="100" b="0" i="0" u="none" strike="noStrike" kern="0" cap="none" spc="0" normalizeH="0" baseline="0" noProof="0" dirty="0">
              <a:ln>
                <a:noFill/>
              </a:ln>
              <a:solidFill>
                <a:prstClr val="white"/>
              </a:solidFill>
              <a:effectLst/>
              <a:uLnTx/>
              <a:uFillTx/>
              <a:cs typeface="Times New Roman" panose="0202050305040509030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字体下载：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www.1ppt.com/ziti/</a:t>
            </a:r>
            <a:endParaRPr kumimoji="0" lang="en-US" altLang="zh-CN" sz="100" b="0" i="0" u="none" strike="noStrike" kern="0" cap="none" spc="0" normalizeH="0" baseline="0" noProof="0" dirty="0">
              <a:ln>
                <a:noFill/>
              </a:ln>
              <a:solidFill>
                <a:prstClr val="white"/>
              </a:solidFill>
              <a:effectLst/>
              <a:uLnTx/>
              <a:uFillTx/>
              <a:cs typeface="Times New Roman" panose="0202050305040509030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 </a:t>
            </a:r>
            <a:endParaRPr kumimoji="0" lang="zh-CN" altLang="en-US" sz="100" b="0" i="0" u="none" strike="noStrike" kern="0" cap="none" spc="0" normalizeH="0" baseline="0" noProof="0" dirty="0">
              <a:ln>
                <a:noFill/>
              </a:ln>
              <a:solidFill>
                <a:prstClr val="white"/>
              </a:solidFill>
              <a:effectLst/>
              <a:uLnTx/>
              <a:uFillTx/>
              <a:cs typeface="Times New Roman" panose="02020503050405090304" charset="0"/>
            </a:endParaRPr>
          </a:p>
        </p:txBody>
      </p:sp>
      <p:pic>
        <p:nvPicPr>
          <p:cNvPr id="10" name="图片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
        <p:nvSpPr>
          <p:cNvPr id="2" name="文本框 1"/>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cs typeface="Times New Roman" panose="02020503050405090304" charset="0"/>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cs typeface="Times New Roman" panose="02020503050405090304" charset="0"/>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cs typeface="Times New Roman" panose="02020503050405090304" charset="0"/>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cs typeface="Times New Roman" panose="0202050305040509030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
        <p:nvSpPr>
          <p:cNvPr id="5" name="文本框 4"/>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cs typeface="Times New Roman" panose="02020503050405090304" charset="0"/>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cs typeface="Times New Roman" panose="02020503050405090304" charset="0"/>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cs typeface="Times New Roman" panose="02020503050405090304" charset="0"/>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cs typeface="Times New Roman" panose="0202050305040509030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F963683-69C5-4225-8B2B-0C82CECB9400}" type="slidenum">
              <a:rPr lang="zh-CN" altLang="en-US" smtClean="0"/>
            </a:fld>
            <a:endParaRPr lang="zh-CN" altLang="en-US"/>
          </a:p>
        </p:txBody>
      </p:sp>
      <p:sp>
        <p:nvSpPr>
          <p:cNvPr id="6" name="矩形 5"/>
          <p:cNvSpPr/>
          <p:nvPr userDrawn="1"/>
        </p:nvSpPr>
        <p:spPr>
          <a:xfrm>
            <a:off x="0" y="2276872"/>
            <a:ext cx="3264363" cy="268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Times New Roman" panose="02020503050405090304" charset="0"/>
            </a:endParaRPr>
          </a:p>
        </p:txBody>
      </p:sp>
      <p:sp>
        <p:nvSpPr>
          <p:cNvPr id="9" name="矩形 8"/>
          <p:cNvSpPr/>
          <p:nvPr userDrawn="1"/>
        </p:nvSpPr>
        <p:spPr>
          <a:xfrm>
            <a:off x="8975543" y="2276871"/>
            <a:ext cx="3264363" cy="268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Times New Roman" panose="02020503050405090304" charset="0"/>
            </a:endParaRPr>
          </a:p>
        </p:txBody>
      </p:sp>
      <p:grpSp>
        <p:nvGrpSpPr>
          <p:cNvPr id="10" name="组合 9"/>
          <p:cNvGrpSpPr/>
          <p:nvPr userDrawn="1"/>
        </p:nvGrpSpPr>
        <p:grpSpPr>
          <a:xfrm>
            <a:off x="7596491" y="2468893"/>
            <a:ext cx="576064" cy="577112"/>
            <a:chOff x="6084168" y="1274820"/>
            <a:chExt cx="432048" cy="432834"/>
          </a:xfrm>
        </p:grpSpPr>
        <p:sp>
          <p:nvSpPr>
            <p:cNvPr id="1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Times New Roman" panose="02020503050405090304" charset="0"/>
                <a:cs typeface="Times New Roman" panose="02020503050405090304" charset="0"/>
              </a:endParaRPr>
            </a:p>
          </p:txBody>
        </p:sp>
        <p:sp>
          <p:nvSpPr>
            <p:cNvPr id="1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45720" tIns="22860" rIns="45720" bIns="22860" anchor="ctr"/>
            <a:lstStyle/>
            <a:p>
              <a:endParaRPr lang="en-US" sz="2400">
                <a:latin typeface="Roboto Light"/>
                <a:ea typeface="Times New Roman" panose="02020503050405090304" charset="0"/>
                <a:cs typeface="Times New Roman" panose="02020503050405090304" charset="0"/>
              </a:endParaRPr>
            </a:p>
          </p:txBody>
        </p:sp>
      </p:grpSp>
      <p:grpSp>
        <p:nvGrpSpPr>
          <p:cNvPr id="13" name="组合 12"/>
          <p:cNvGrpSpPr/>
          <p:nvPr userDrawn="1"/>
        </p:nvGrpSpPr>
        <p:grpSpPr>
          <a:xfrm>
            <a:off x="5868299" y="2469417"/>
            <a:ext cx="576064" cy="576064"/>
            <a:chOff x="4788024" y="1275213"/>
            <a:chExt cx="432048" cy="432048"/>
          </a:xfrm>
        </p:grpSpPr>
        <p:sp>
          <p:nvSpPr>
            <p:cNvPr id="1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Times New Roman" panose="02020503050405090304" charset="0"/>
                <a:cs typeface="Times New Roman" panose="02020503050405090304" charset="0"/>
              </a:endParaRPr>
            </a:p>
          </p:txBody>
        </p:sp>
        <p:sp>
          <p:nvSpPr>
            <p:cNvPr id="1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45720" tIns="22860" rIns="45720" bIns="22860" anchor="ctr"/>
            <a:lstStyle/>
            <a:p>
              <a:endParaRPr lang="en-US" sz="2400">
                <a:latin typeface="Roboto Light"/>
                <a:ea typeface="Times New Roman" panose="02020503050405090304" charset="0"/>
                <a:cs typeface="Times New Roman" panose="02020503050405090304" charset="0"/>
              </a:endParaRPr>
            </a:p>
          </p:txBody>
        </p:sp>
      </p:grpSp>
      <p:grpSp>
        <p:nvGrpSpPr>
          <p:cNvPr id="16" name="组合 15"/>
          <p:cNvGrpSpPr/>
          <p:nvPr userDrawn="1"/>
        </p:nvGrpSpPr>
        <p:grpSpPr>
          <a:xfrm>
            <a:off x="6732395" y="2468893"/>
            <a:ext cx="577111" cy="577112"/>
            <a:chOff x="5436096" y="1274820"/>
            <a:chExt cx="432833" cy="432834"/>
          </a:xfrm>
        </p:grpSpPr>
        <p:sp>
          <p:nvSpPr>
            <p:cNvPr id="17"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Times New Roman" panose="02020503050405090304" charset="0"/>
                <a:cs typeface="Times New Roman" panose="02020503050405090304" charset="0"/>
              </a:endParaRPr>
            </a:p>
          </p:txBody>
        </p:sp>
        <p:sp>
          <p:nvSpPr>
            <p:cNvPr id="1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45720" tIns="22860" rIns="45720" bIns="22860" anchor="ctr"/>
            <a:lstStyle/>
            <a:p>
              <a:endParaRPr lang="en-US" sz="2400">
                <a:latin typeface="Roboto Light"/>
                <a:ea typeface="Times New Roman" panose="02020503050405090304" charset="0"/>
                <a:cs typeface="Times New Roman" panose="02020503050405090304" charset="0"/>
              </a:endParaRPr>
            </a:p>
          </p:txBody>
        </p:sp>
      </p:grpSp>
      <p:grpSp>
        <p:nvGrpSpPr>
          <p:cNvPr id="19" name="组合 18"/>
          <p:cNvGrpSpPr/>
          <p:nvPr userDrawn="1"/>
        </p:nvGrpSpPr>
        <p:grpSpPr>
          <a:xfrm>
            <a:off x="4140107" y="2468893"/>
            <a:ext cx="577111" cy="577112"/>
            <a:chOff x="3491880" y="1274820"/>
            <a:chExt cx="432833" cy="432834"/>
          </a:xfrm>
        </p:grpSpPr>
        <p:sp>
          <p:nvSpPr>
            <p:cNvPr id="2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Times New Roman" panose="02020503050405090304" charset="0"/>
                <a:cs typeface="Times New Roman" panose="02020503050405090304" charset="0"/>
              </a:endParaRPr>
            </a:p>
          </p:txBody>
        </p:sp>
        <p:sp>
          <p:nvSpPr>
            <p:cNvPr id="2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45720" tIns="22860" rIns="45720" bIns="22860" anchor="ctr"/>
            <a:lstStyle/>
            <a:p>
              <a:endParaRPr lang="en-US" sz="2400">
                <a:latin typeface="Roboto Light"/>
                <a:ea typeface="Times New Roman" panose="02020503050405090304" charset="0"/>
                <a:cs typeface="Times New Roman" panose="02020503050405090304" charset="0"/>
              </a:endParaRPr>
            </a:p>
          </p:txBody>
        </p:sp>
      </p:grpSp>
      <p:grpSp>
        <p:nvGrpSpPr>
          <p:cNvPr id="22" name="组合 21"/>
          <p:cNvGrpSpPr/>
          <p:nvPr userDrawn="1"/>
        </p:nvGrpSpPr>
        <p:grpSpPr>
          <a:xfrm>
            <a:off x="5004203" y="2468893"/>
            <a:ext cx="577111" cy="577112"/>
            <a:chOff x="4139952" y="1274820"/>
            <a:chExt cx="432833" cy="432834"/>
          </a:xfrm>
        </p:grpSpPr>
        <p:sp>
          <p:nvSpPr>
            <p:cNvPr id="23"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Times New Roman" panose="02020503050405090304" charset="0"/>
                <a:cs typeface="Times New Roman" panose="02020503050405090304" charset="0"/>
              </a:endParaRPr>
            </a:p>
          </p:txBody>
        </p:sp>
        <p:sp>
          <p:nvSpPr>
            <p:cNvPr id="24"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45720" tIns="22860" rIns="45720" bIns="22860" anchor="ctr"/>
            <a:lstStyle/>
            <a:p>
              <a:endParaRPr lang="en-US" sz="2400">
                <a:latin typeface="Roboto Light"/>
                <a:ea typeface="Times New Roman" panose="02020503050405090304" charset="0"/>
                <a:cs typeface="Times New Roman" panose="02020503050405090304" charset="0"/>
              </a:endParaRPr>
            </a:p>
          </p:txBody>
        </p:sp>
      </p:grpSp>
      <p:sp>
        <p:nvSpPr>
          <p:cNvPr id="25" name="文本框 24"/>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cs typeface="Times New Roman" panose="02020503050405090304" charset="0"/>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cs typeface="Times New Roman" panose="02020503050405090304" charset="0"/>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cs typeface="Times New Roman" panose="02020503050405090304" charset="0"/>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cs typeface="Times New Roman" panose="02020503050405090304" charset="0"/>
            </a:endParaRPr>
          </a:p>
        </p:txBody>
      </p:sp>
      <p:pic>
        <p:nvPicPr>
          <p:cNvPr id="26" name="图片 2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ppt_w</p:attrName>
                                        </p:attrNameLst>
                                      </p:cBhvr>
                                      <p:tavLst>
                                        <p:tav tm="0">
                                          <p:val>
                                            <p:fltVal val="0"/>
                                          </p:val>
                                        </p:tav>
                                        <p:tav tm="100000">
                                          <p:val>
                                            <p:strVal val="#ppt_w"/>
                                          </p:val>
                                        </p:tav>
                                      </p:tavLst>
                                    </p:anim>
                                    <p:anim calcmode="lin" valueType="num">
                                      <p:cBhvr>
                                        <p:cTn id="17" dur="500" fill="hold"/>
                                        <p:tgtEl>
                                          <p:spTgt spid="19"/>
                                        </p:tgtEl>
                                        <p:attrNameLst>
                                          <p:attrName>ppt_h</p:attrName>
                                        </p:attrNameLst>
                                      </p:cBhvr>
                                      <p:tavLst>
                                        <p:tav tm="0">
                                          <p:val>
                                            <p:fltVal val="0"/>
                                          </p:val>
                                        </p:tav>
                                        <p:tav tm="100000">
                                          <p:val>
                                            <p:strVal val="#ppt_h"/>
                                          </p:val>
                                        </p:tav>
                                      </p:tavLst>
                                    </p:anim>
                                    <p:animEffect transition="in" filter="fade">
                                      <p:cBhvr>
                                        <p:cTn id="18" dur="500"/>
                                        <p:tgtEl>
                                          <p:spTgt spid="19"/>
                                        </p:tgtEl>
                                      </p:cBhvr>
                                    </p:animEffect>
                                  </p:childTnLst>
                                </p:cTn>
                              </p:par>
                              <p:par>
                                <p:cTn id="19" presetID="53" presetClass="entr" presetSubtype="16" fill="hold" nodeType="withEffect">
                                  <p:stCondLst>
                                    <p:cond delay="200"/>
                                  </p:st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animEffect transition="in" filter="fade">
                                      <p:cBhvr>
                                        <p:cTn id="23" dur="500"/>
                                        <p:tgtEl>
                                          <p:spTgt spid="22"/>
                                        </p:tgtEl>
                                      </p:cBhvr>
                                    </p:animEffect>
                                  </p:childTnLst>
                                </p:cTn>
                              </p:par>
                              <p:par>
                                <p:cTn id="24" presetID="53" presetClass="entr" presetSubtype="16" fill="hold" nodeType="withEffect">
                                  <p:stCondLst>
                                    <p:cond delay="400"/>
                                  </p:stCondLst>
                                  <p:childTnLst>
                                    <p:set>
                                      <p:cBhvr>
                                        <p:cTn id="25" dur="1" fill="hold">
                                          <p:stCondLst>
                                            <p:cond delay="0"/>
                                          </p:stCondLst>
                                        </p:cTn>
                                        <p:tgtEl>
                                          <p:spTgt spid="13"/>
                                        </p:tgtEl>
                                        <p:attrNameLst>
                                          <p:attrName>style.visibility</p:attrName>
                                        </p:attrNameLst>
                                      </p:cBhvr>
                                      <p:to>
                                        <p:strVal val="visible"/>
                                      </p:to>
                                    </p:set>
                                    <p:anim calcmode="lin" valueType="num">
                                      <p:cBhvr>
                                        <p:cTn id="26" dur="500" fill="hold"/>
                                        <p:tgtEl>
                                          <p:spTgt spid="13"/>
                                        </p:tgtEl>
                                        <p:attrNameLst>
                                          <p:attrName>ppt_w</p:attrName>
                                        </p:attrNameLst>
                                      </p:cBhvr>
                                      <p:tavLst>
                                        <p:tav tm="0">
                                          <p:val>
                                            <p:fltVal val="0"/>
                                          </p:val>
                                        </p:tav>
                                        <p:tav tm="100000">
                                          <p:val>
                                            <p:strVal val="#ppt_w"/>
                                          </p:val>
                                        </p:tav>
                                      </p:tavLst>
                                    </p:anim>
                                    <p:anim calcmode="lin" valueType="num">
                                      <p:cBhvr>
                                        <p:cTn id="27" dur="500" fill="hold"/>
                                        <p:tgtEl>
                                          <p:spTgt spid="13"/>
                                        </p:tgtEl>
                                        <p:attrNameLst>
                                          <p:attrName>ppt_h</p:attrName>
                                        </p:attrNameLst>
                                      </p:cBhvr>
                                      <p:tavLst>
                                        <p:tav tm="0">
                                          <p:val>
                                            <p:fltVal val="0"/>
                                          </p:val>
                                        </p:tav>
                                        <p:tav tm="100000">
                                          <p:val>
                                            <p:strVal val="#ppt_h"/>
                                          </p:val>
                                        </p:tav>
                                      </p:tavLst>
                                    </p:anim>
                                    <p:animEffect transition="in" filter="fade">
                                      <p:cBhvr>
                                        <p:cTn id="28" dur="500"/>
                                        <p:tgtEl>
                                          <p:spTgt spid="13"/>
                                        </p:tgtEl>
                                      </p:cBhvr>
                                    </p:animEffect>
                                  </p:childTnLst>
                                </p:cTn>
                              </p:par>
                              <p:par>
                                <p:cTn id="29" presetID="53" presetClass="entr" presetSubtype="16" fill="hold" nodeType="withEffect">
                                  <p:stCondLst>
                                    <p:cond delay="60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par>
                                <p:cTn id="34" presetID="53" presetClass="entr" presetSubtype="16" fill="hold" nodeType="withEffect">
                                  <p:stCondLst>
                                    <p:cond delay="800"/>
                                  </p:stCondLst>
                                  <p:childTnLst>
                                    <p:set>
                                      <p:cBhvr>
                                        <p:cTn id="35" dur="1" fill="hold">
                                          <p:stCondLst>
                                            <p:cond delay="0"/>
                                          </p:stCondLst>
                                        </p:cTn>
                                        <p:tgtEl>
                                          <p:spTgt spid="10"/>
                                        </p:tgtEl>
                                        <p:attrNameLst>
                                          <p:attrName>style.visibility</p:attrName>
                                        </p:attrNameLst>
                                      </p:cBhvr>
                                      <p:to>
                                        <p:strVal val="visible"/>
                                      </p:to>
                                    </p:set>
                                    <p:anim calcmode="lin" valueType="num">
                                      <p:cBhvr>
                                        <p:cTn id="36" dur="500" fill="hold"/>
                                        <p:tgtEl>
                                          <p:spTgt spid="10"/>
                                        </p:tgtEl>
                                        <p:attrNameLst>
                                          <p:attrName>ppt_w</p:attrName>
                                        </p:attrNameLst>
                                      </p:cBhvr>
                                      <p:tavLst>
                                        <p:tav tm="0">
                                          <p:val>
                                            <p:fltVal val="0"/>
                                          </p:val>
                                        </p:tav>
                                        <p:tav tm="100000">
                                          <p:val>
                                            <p:strVal val="#ppt_w"/>
                                          </p:val>
                                        </p:tav>
                                      </p:tavLst>
                                    </p:anim>
                                    <p:anim calcmode="lin" valueType="num">
                                      <p:cBhvr>
                                        <p:cTn id="37" dur="500" fill="hold"/>
                                        <p:tgtEl>
                                          <p:spTgt spid="10"/>
                                        </p:tgtEl>
                                        <p:attrNameLst>
                                          <p:attrName>ppt_h</p:attrName>
                                        </p:attrNameLst>
                                      </p:cBhvr>
                                      <p:tavLst>
                                        <p:tav tm="0">
                                          <p:val>
                                            <p:fltVal val="0"/>
                                          </p:val>
                                        </p:tav>
                                        <p:tav tm="100000">
                                          <p:val>
                                            <p:strVal val="#ppt_h"/>
                                          </p:val>
                                        </p:tav>
                                      </p:tavLst>
                                    </p:anim>
                                    <p:animEffect transition="in" filter="fade">
                                      <p:cBhvr>
                                        <p:cTn id="3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9" grpId="0" bldLvl="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Regular" panose="02020503050405090304" charset="0"/>
              </a:defRPr>
            </a:lvl1p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atin typeface="Times New Roman Regular" panose="02020503050405090304" charset="0"/>
                <a:cs typeface="Times New Roman Regular" panose="02020503050405090304" charset="0"/>
              </a:defRPr>
            </a:lvl1pPr>
          </a:lstStyle>
          <a:p>
            <a:fld id="{165AC512-946F-491C-A78E-B874D25DDF2C}"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atin typeface="Times New Roman Regular" panose="02020503050405090304" charset="0"/>
                <a:cs typeface="Times New Roman Regular" panose="02020503050405090304" charset="0"/>
              </a:defRPr>
            </a:lvl1pPr>
          </a:lstStyle>
          <a:p>
            <a:endParaRPr lang="zh-CN" altLang="en-US"/>
          </a:p>
        </p:txBody>
      </p:sp>
      <p:sp>
        <p:nvSpPr>
          <p:cNvPr id="5" name="灯片编号占位符 4"/>
          <p:cNvSpPr>
            <a:spLocks noGrp="1"/>
          </p:cNvSpPr>
          <p:nvPr>
            <p:ph type="sldNum" sz="quarter" idx="12"/>
          </p:nvPr>
        </p:nvSpPr>
        <p:spPr/>
        <p:txBody>
          <a:bodyPr/>
          <a:lstStyle>
            <a:lvl1pPr>
              <a:defRPr>
                <a:latin typeface="Times New Roman Regular" panose="02020503050405090304" charset="0"/>
                <a:cs typeface="Times New Roman Regular" panose="02020503050405090304" charset="0"/>
              </a:defRPr>
            </a:lvl1pPr>
          </a:lstStyle>
          <a:p>
            <a:fld id="{7F963683-69C5-4225-8B2B-0C82CECB9400}" type="slidenum">
              <a:rPr lang="zh-CN" altLang="en-US" smtClean="0"/>
            </a:fld>
            <a:endParaRPr lang="zh-CN" altLang="en-US"/>
          </a:p>
        </p:txBody>
      </p:sp>
      <p:pic>
        <p:nvPicPr>
          <p:cNvPr id="10" name="图片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963683-69C5-4225-8B2B-0C82CECB9400}" type="slidenum">
              <a:rPr lang="zh-CN" altLang="en-US" smtClean="0"/>
            </a:fld>
            <a:endParaRPr lang="zh-CN" altLang="en-US"/>
          </a:p>
        </p:txBody>
      </p:sp>
      <p:sp>
        <p:nvSpPr>
          <p:cNvPr id="9" name="矩形 8"/>
          <p:cNvSpPr/>
          <p:nvPr userDrawn="1"/>
        </p:nvSpPr>
        <p:spPr>
          <a:xfrm>
            <a:off x="8725278" y="6450175"/>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PPT</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模板下载：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www.1ppt.com/moban/     </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行业</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PPT</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模板：</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www.1ppt.com/hangye/ </a:t>
            </a:r>
            <a:endParaRPr kumimoji="0" lang="en-US" altLang="zh-CN" sz="100" b="0" i="0" u="none" strike="noStrike" kern="0" cap="none" spc="0" normalizeH="0" baseline="0" noProof="0" dirty="0">
              <a:ln>
                <a:noFill/>
              </a:ln>
              <a:solidFill>
                <a:prstClr val="white"/>
              </a:solidFill>
              <a:effectLst/>
              <a:uLnTx/>
              <a:uFillTx/>
              <a:cs typeface="Times New Roman" panose="0202050305040509030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节日</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PPT</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模板：</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www.1ppt.com/jieri/           PPT</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素材下载：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www.1ppt.com/sucai/</a:t>
            </a:r>
            <a:endParaRPr kumimoji="0" lang="en-US" altLang="zh-CN" sz="100" b="0" i="0" u="none" strike="noStrike" kern="0" cap="none" spc="0" normalizeH="0" baseline="0" noProof="0" dirty="0">
              <a:ln>
                <a:noFill/>
              </a:ln>
              <a:solidFill>
                <a:prstClr val="white"/>
              </a:solidFill>
              <a:effectLst/>
              <a:uLnTx/>
              <a:uFillTx/>
              <a:cs typeface="Times New Roman" panose="0202050305040509030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PPT</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背景图片：</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www.1ppt.com/beijing/      PPT</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图表下载：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www.1ppt.com/tubiao/      </a:t>
            </a:r>
            <a:endParaRPr kumimoji="0" lang="en-US" altLang="zh-CN" sz="100" b="0" i="0" u="none" strike="noStrike" kern="0" cap="none" spc="0" normalizeH="0" baseline="0" noProof="0" dirty="0">
              <a:ln>
                <a:noFill/>
              </a:ln>
              <a:solidFill>
                <a:prstClr val="white"/>
              </a:solidFill>
              <a:effectLst/>
              <a:uLnTx/>
              <a:uFillTx/>
              <a:cs typeface="Times New Roman" panose="0202050305040509030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优秀</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PPT</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www.1ppt.com/xiazai/        PPT</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教程： </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www.1ppt.com/powerpoint/      </a:t>
            </a:r>
            <a:endParaRPr kumimoji="0" lang="en-US" altLang="zh-CN" sz="100" b="0" i="0" u="none" strike="noStrike" kern="0" cap="none" spc="0" normalizeH="0" baseline="0" noProof="0" dirty="0">
              <a:ln>
                <a:noFill/>
              </a:ln>
              <a:solidFill>
                <a:prstClr val="white"/>
              </a:solidFill>
              <a:effectLst/>
              <a:uLnTx/>
              <a:uFillTx/>
              <a:cs typeface="Times New Roman" panose="0202050305040509030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Word</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教程： </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www.1ppt.com/word/              Excel</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教程：</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www.1ppt.com/excel/  </a:t>
            </a:r>
            <a:endParaRPr kumimoji="0" lang="en-US" altLang="zh-CN" sz="100" b="0" i="0" u="none" strike="noStrike" kern="0" cap="none" spc="0" normalizeH="0" baseline="0" noProof="0" dirty="0">
              <a:ln>
                <a:noFill/>
              </a:ln>
              <a:solidFill>
                <a:prstClr val="white"/>
              </a:solidFill>
              <a:effectLst/>
              <a:uLnTx/>
              <a:uFillTx/>
              <a:cs typeface="Times New Roman" panose="0202050305040509030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资料下载：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www.1ppt.com/ziliao/                PPT</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课件下载：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www.1ppt.com/kejian/ </a:t>
            </a:r>
            <a:endParaRPr kumimoji="0" lang="en-US" altLang="zh-CN" sz="100" b="0" i="0" u="none" strike="noStrike" kern="0" cap="none" spc="0" normalizeH="0" baseline="0" noProof="0" dirty="0">
              <a:ln>
                <a:noFill/>
              </a:ln>
              <a:solidFill>
                <a:prstClr val="white"/>
              </a:solidFill>
              <a:effectLst/>
              <a:uLnTx/>
              <a:uFillTx/>
              <a:cs typeface="Times New Roman" panose="0202050305040509030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范文下载：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www.1ppt.com/fanwen/             </a:t>
            </a: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试卷下载：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www.1ppt.com/shiti/  </a:t>
            </a:r>
            <a:endParaRPr kumimoji="0" lang="en-US" altLang="zh-CN" sz="100" b="0" i="0" u="none" strike="noStrike" kern="0" cap="none" spc="0" normalizeH="0" baseline="0" noProof="0" dirty="0">
              <a:ln>
                <a:noFill/>
              </a:ln>
              <a:solidFill>
                <a:prstClr val="white"/>
              </a:solidFill>
              <a:effectLst/>
              <a:uLnTx/>
              <a:uFillTx/>
              <a:cs typeface="Times New Roman" panose="0202050305040509030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教案下载：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www.1ppt.com/jiaoan/        </a:t>
            </a:r>
            <a:endParaRPr kumimoji="0" lang="en-US" altLang="zh-CN" sz="100" b="0" i="0" u="none" strike="noStrike" kern="0" cap="none" spc="0" normalizeH="0" baseline="0" noProof="0" dirty="0">
              <a:ln>
                <a:noFill/>
              </a:ln>
              <a:solidFill>
                <a:prstClr val="white"/>
              </a:solidFill>
              <a:effectLst/>
              <a:uLnTx/>
              <a:uFillTx/>
              <a:cs typeface="Times New Roman" panose="0202050305040509030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cs typeface="Times New Roman" panose="02020503050405090304" charset="0"/>
              </a:rPr>
              <a:t>字体下载：</a:t>
            </a: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www.1ppt.com/ziti/</a:t>
            </a:r>
            <a:endParaRPr kumimoji="0" lang="en-US" altLang="zh-CN" sz="100" b="0" i="0" u="none" strike="noStrike" kern="0" cap="none" spc="0" normalizeH="0" baseline="0" noProof="0" dirty="0">
              <a:ln>
                <a:noFill/>
              </a:ln>
              <a:solidFill>
                <a:prstClr val="white"/>
              </a:solidFill>
              <a:effectLst/>
              <a:uLnTx/>
              <a:uFillTx/>
              <a:cs typeface="Times New Roman" panose="0202050305040509030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cs typeface="Times New Roman" panose="02020503050405090304" charset="0"/>
              </a:rPr>
              <a:t> </a:t>
            </a:r>
            <a:endParaRPr kumimoji="0" lang="zh-CN" altLang="en-US" sz="100" b="0" i="0" u="none" strike="noStrike" kern="0" cap="none" spc="0" normalizeH="0" baseline="0" noProof="0" dirty="0">
              <a:ln>
                <a:noFill/>
              </a:ln>
              <a:solidFill>
                <a:prstClr val="white"/>
              </a:solidFill>
              <a:effectLst/>
              <a:uLnTx/>
              <a:uFillTx/>
              <a:cs typeface="Times New Roman" panose="02020503050405090304" charset="0"/>
            </a:endParaRPr>
          </a:p>
        </p:txBody>
      </p:sp>
      <p:pic>
        <p:nvPicPr>
          <p:cNvPr id="10" name="图片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Regular" panose="02020503050405090304" charset="0"/>
                <a:cs typeface="Times New Roman Regular" panose="02020503050405090304" charset="0"/>
              </a:defRPr>
            </a:lvl1pPr>
          </a:lstStyle>
          <a:p>
            <a:fld id="{165AC512-946F-491C-A78E-B874D25DDF2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Regular" panose="02020503050405090304" charset="0"/>
                <a:cs typeface="Times New Roman Regular" panose="02020503050405090304"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Regular" panose="02020503050405090304" charset="0"/>
                <a:cs typeface="Times New Roman Regular" panose="02020503050405090304" charset="0"/>
              </a:defRPr>
            </a:lvl1pPr>
          </a:lstStyle>
          <a:p>
            <a:fld id="{7F963683-69C5-4225-8B2B-0C82CECB9400}" type="slidenum">
              <a:rPr lang="zh-CN" altLang="en-US" smtClean="0"/>
            </a:fld>
            <a:endParaRPr lang="zh-CN" altLang="en-US"/>
          </a:p>
        </p:txBody>
      </p:sp>
      <p:sp>
        <p:nvSpPr>
          <p:cNvPr id="7" name="文本框 6"/>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Times New Roman Regular" panose="02020503050405090304" charset="0"/>
                <a:ea typeface="华文隶书" panose="02010800040101010101" pitchFamily="2" charset="-122"/>
                <a:cs typeface="Times New Roman Regular" panose="02020503050405090304" charset="0"/>
              </a:rPr>
              <a:t>In Pursuit of Excellence in Interpreting and Translation</a:t>
            </a:r>
            <a:endParaRPr lang="en-US" altLang="zh-CN" sz="2000" dirty="0">
              <a:solidFill>
                <a:schemeClr val="bg1">
                  <a:lumMod val="50000"/>
                </a:schemeClr>
              </a:solidFill>
              <a:latin typeface="Times New Roman Regular" panose="02020503050405090304" charset="0"/>
              <a:ea typeface="华文隶书" panose="02010800040101010101" pitchFamily="2" charset="-122"/>
              <a:cs typeface="Times New Roman Regular" panose="02020503050405090304" charset="0"/>
            </a:endParaRPr>
          </a:p>
          <a:p>
            <a:pPr algn="ctr"/>
            <a:r>
              <a:rPr lang="zh-CN" altLang="en-US" sz="2000" dirty="0">
                <a:solidFill>
                  <a:schemeClr val="bg1">
                    <a:lumMod val="50000"/>
                  </a:schemeClr>
                </a:solidFill>
                <a:latin typeface="Times New Roman Regular" panose="02020503050405090304" charset="0"/>
                <a:ea typeface="华文隶书" panose="02010800040101010101" pitchFamily="2" charset="-122"/>
                <a:cs typeface="Times New Roman Regular" panose="02020503050405090304" charset="0"/>
              </a:rPr>
              <a:t>译无止境，臻于至善</a:t>
            </a:r>
            <a:endParaRPr lang="zh-CN" altLang="en-US" sz="2000" dirty="0">
              <a:solidFill>
                <a:schemeClr val="bg1">
                  <a:lumMod val="50000"/>
                </a:schemeClr>
              </a:solidFill>
              <a:latin typeface="Times New Roman Regular" panose="02020503050405090304" charset="0"/>
              <a:ea typeface="华文隶书" panose="02010800040101010101" pitchFamily="2" charset="-122"/>
              <a:cs typeface="Times New Roman Regular" panose="0202050305040509030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03A9F0"/>
          </a:solidFill>
          <a:latin typeface="Times New Roman Regular" panose="02020503050405090304" charset="0"/>
          <a:ea typeface="+mj-ea"/>
          <a:cs typeface="Times New Roman" panose="02020503050405090304" charset="0"/>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accent1">
              <a:lumMod val="50000"/>
            </a:schemeClr>
          </a:solidFill>
          <a:latin typeface="Times New Roman Regular" panose="02020503050405090304" charset="0"/>
          <a:ea typeface="+mn-ea"/>
          <a:cs typeface="Times New Roman" panose="02020503050405090304"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Times New Roman Regular" panose="02020503050405090304" charset="0"/>
          <a:ea typeface="+mn-ea"/>
          <a:cs typeface="Times New Roman" panose="02020503050405090304"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Times New Roman Regular" panose="02020503050405090304" charset="0"/>
          <a:ea typeface="+mn-ea"/>
          <a:cs typeface="Times New Roman" panose="02020503050405090304"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Times New Roman Regular" panose="02020503050405090304" charset="0"/>
          <a:ea typeface="+mn-ea"/>
          <a:cs typeface="Times New Roman" panose="02020503050405090304"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Times New Roman Regular" panose="02020503050405090304" charset="0"/>
          <a:ea typeface="+mn-ea"/>
          <a:cs typeface="Times New Roman" panose="02020503050405090304"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Regular" panose="02020503050405090304" charset="0"/>
                <a:cs typeface="Times New Roman Regular" panose="02020503050405090304" charset="0"/>
              </a:defRPr>
            </a:lvl1pPr>
          </a:lstStyle>
          <a:p>
            <a:fld id="{165AC512-946F-491C-A78E-B874D25DDF2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Regular" panose="02020503050405090304" charset="0"/>
                <a:cs typeface="Times New Roman Regular" panose="02020503050405090304"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Regular" panose="02020503050405090304" charset="0"/>
                <a:cs typeface="Times New Roman Regular" panose="02020503050405090304" charset="0"/>
              </a:defRPr>
            </a:lvl1pPr>
          </a:lstStyle>
          <a:p>
            <a:fld id="{7F963683-69C5-4225-8B2B-0C82CECB9400}" type="slidenum">
              <a:rPr lang="zh-CN" altLang="en-US" smtClean="0"/>
            </a:fld>
            <a:endParaRPr lang="zh-CN" altLang="en-US"/>
          </a:p>
        </p:txBody>
      </p:sp>
      <p:sp>
        <p:nvSpPr>
          <p:cNvPr id="7" name="文本框 6"/>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Times New Roman Regular" panose="02020503050405090304" charset="0"/>
                <a:ea typeface="华文隶书" panose="02010800040101010101" pitchFamily="2" charset="-122"/>
                <a:cs typeface="Times New Roman Regular" panose="02020503050405090304" charset="0"/>
              </a:rPr>
              <a:t>In Pursuit of Excellence in Interpreting and Translation</a:t>
            </a:r>
            <a:endParaRPr lang="en-US" altLang="zh-CN" sz="2000" dirty="0">
              <a:solidFill>
                <a:schemeClr val="bg1">
                  <a:lumMod val="50000"/>
                </a:schemeClr>
              </a:solidFill>
              <a:latin typeface="Times New Roman Regular" panose="02020503050405090304" charset="0"/>
              <a:ea typeface="华文隶书" panose="02010800040101010101" pitchFamily="2" charset="-122"/>
              <a:cs typeface="Times New Roman Regular" panose="02020503050405090304" charset="0"/>
            </a:endParaRPr>
          </a:p>
          <a:p>
            <a:pPr algn="ctr"/>
            <a:r>
              <a:rPr lang="zh-CN" altLang="en-US" sz="2000" dirty="0">
                <a:solidFill>
                  <a:schemeClr val="bg1">
                    <a:lumMod val="50000"/>
                  </a:schemeClr>
                </a:solidFill>
                <a:latin typeface="Times New Roman Regular" panose="02020503050405090304" charset="0"/>
                <a:ea typeface="华文隶书" panose="02010800040101010101" pitchFamily="2" charset="-122"/>
                <a:cs typeface="Times New Roman Regular" panose="02020503050405090304" charset="0"/>
              </a:rPr>
              <a:t>译无止境，臻于至善</a:t>
            </a:r>
            <a:endParaRPr lang="zh-CN" altLang="en-US" sz="2000" dirty="0">
              <a:solidFill>
                <a:schemeClr val="bg1">
                  <a:lumMod val="50000"/>
                </a:schemeClr>
              </a:solidFill>
              <a:latin typeface="Times New Roman Regular" panose="02020503050405090304" charset="0"/>
              <a:ea typeface="华文隶书" panose="02010800040101010101" pitchFamily="2" charset="-122"/>
              <a:cs typeface="Times New Roman Regular" panose="0202050305040509030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03A9F0"/>
          </a:solidFill>
          <a:latin typeface="Times New Roman Regular" panose="02020503050405090304" charset="0"/>
          <a:ea typeface="+mj-ea"/>
          <a:cs typeface="Times New Roman" panose="02020503050405090304" charset="0"/>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accent1">
              <a:lumMod val="50000"/>
            </a:schemeClr>
          </a:solidFill>
          <a:latin typeface="Times New Roman Regular" panose="02020503050405090304" charset="0"/>
          <a:ea typeface="+mn-ea"/>
          <a:cs typeface="Times New Roman" panose="02020503050405090304"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Times New Roman Regular" panose="02020503050405090304" charset="0"/>
          <a:ea typeface="+mn-ea"/>
          <a:cs typeface="Times New Roman" panose="02020503050405090304"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Times New Roman Regular" panose="02020503050405090304" charset="0"/>
          <a:ea typeface="+mn-ea"/>
          <a:cs typeface="Times New Roman" panose="02020503050405090304"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Times New Roman Regular" panose="02020503050405090304" charset="0"/>
          <a:ea typeface="+mn-ea"/>
          <a:cs typeface="Times New Roman" panose="02020503050405090304"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Times New Roman Regular" panose="02020503050405090304" charset="0"/>
          <a:ea typeface="+mn-ea"/>
          <a:cs typeface="Times New Roman" panose="02020503050405090304"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678045" y="4963160"/>
            <a:ext cx="2663825" cy="683260"/>
          </a:xfrm>
          <a:prstGeom prst="rect">
            <a:avLst/>
          </a:prstGeom>
          <a:solidFill>
            <a:schemeClr val="tx1">
              <a:lumMod val="75000"/>
              <a:lumOff val="25000"/>
            </a:schemeClr>
          </a:solidFill>
        </p:spPr>
        <p:txBody>
          <a:bodyPr wrap="none" rtlCol="0">
            <a:noAutofit/>
          </a:bodyPr>
          <a:lstStyle/>
          <a:p>
            <a:pPr algn="ctr"/>
            <a:r>
              <a:rPr lang="en-US" sz="2000" dirty="0">
                <a:solidFill>
                  <a:prstClr val="white"/>
                </a:solidFill>
                <a:latin typeface="Times New Roman" panose="02020503050405090304" charset="0"/>
                <a:ea typeface="Times New Roman" panose="02020503050405090304" charset="0"/>
                <a:cs typeface="Times New Roman" panose="02020503050405090304" charset="0"/>
              </a:rPr>
              <a:t>20221210050 </a:t>
            </a:r>
            <a:r>
              <a:rPr lang="zh-CN" altLang="en-US" sz="2000" dirty="0">
                <a:solidFill>
                  <a:prstClr val="white"/>
                </a:solidFill>
                <a:latin typeface="Times New Roman" panose="02020503050405090304" charset="0"/>
                <a:ea typeface="Times New Roman" panose="02020503050405090304" charset="0"/>
                <a:cs typeface="Times New Roman" panose="02020503050405090304" charset="0"/>
              </a:rPr>
              <a:t>钟铭恩</a:t>
            </a:r>
            <a:endParaRPr lang="zh-CN" altLang="en-US" sz="2000" dirty="0">
              <a:solidFill>
                <a:prstClr val="white"/>
              </a:solidFill>
              <a:latin typeface="Times New Roman" panose="02020503050405090304" charset="0"/>
              <a:ea typeface="Times New Roman" panose="02020503050405090304" charset="0"/>
              <a:cs typeface="Times New Roman" panose="02020503050405090304" charset="0"/>
            </a:endParaRPr>
          </a:p>
          <a:p>
            <a:pPr algn="ctr"/>
            <a:r>
              <a:rPr lang="en-US" altLang="zh-CN" sz="2000" dirty="0">
                <a:solidFill>
                  <a:prstClr val="white"/>
                </a:solidFill>
                <a:latin typeface="Times New Roman" panose="02020503050405090304" charset="0"/>
                <a:ea typeface="Times New Roman" panose="02020503050405090304" charset="0"/>
                <a:cs typeface="Times New Roman" panose="02020503050405090304" charset="0"/>
              </a:rPr>
              <a:t>2025.5.23</a:t>
            </a:r>
            <a:endParaRPr lang="en-US" altLang="zh-CN" sz="2000" dirty="0">
              <a:solidFill>
                <a:prstClr val="white"/>
              </a:solidFill>
              <a:latin typeface="Times New Roman" panose="02020503050405090304" charset="0"/>
              <a:ea typeface="Times New Roman" panose="02020503050405090304" charset="0"/>
              <a:cs typeface="Times New Roman" panose="02020503050405090304" charset="0"/>
            </a:endParaRPr>
          </a:p>
        </p:txBody>
      </p:sp>
      <p:sp>
        <p:nvSpPr>
          <p:cNvPr id="3" name="文本框 2"/>
          <p:cNvSpPr txBox="1"/>
          <p:nvPr/>
        </p:nvSpPr>
        <p:spPr>
          <a:xfrm>
            <a:off x="821690" y="1681480"/>
            <a:ext cx="10376535" cy="2245360"/>
          </a:xfrm>
          <a:prstGeom prst="rect">
            <a:avLst/>
          </a:prstGeom>
          <a:noFill/>
        </p:spPr>
        <p:txBody>
          <a:bodyPr wrap="square" rtlCol="0">
            <a:spAutoFit/>
          </a:bodyPr>
          <a:lstStyle/>
          <a:p>
            <a:pPr algn="ctr"/>
            <a:r>
              <a:rPr lang="zh-CN" altLang="en-US" sz="2800" b="1" dirty="0">
                <a:cs typeface="Times New Roman" panose="02020503050405090304" charset="0"/>
              </a:rPr>
              <a:t>On the Translation of Wang Wei</a:t>
            </a:r>
            <a:r>
              <a:rPr lang="en-US" altLang="zh-CN" sz="2800" b="1" dirty="0">
                <a:cs typeface="Times New Roman" panose="02020503050405090304" charset="0"/>
              </a:rPr>
              <a:t>’</a:t>
            </a:r>
            <a:r>
              <a:rPr lang="zh-CN" altLang="en-US" sz="2800" b="1" dirty="0">
                <a:cs typeface="Times New Roman" panose="02020503050405090304" charset="0"/>
              </a:rPr>
              <a:t>s Poems from the Perspective of Systemic Functional Linguistics: A Case Study on Xu Yuanchong</a:t>
            </a:r>
            <a:r>
              <a:rPr lang="en-US" altLang="zh-CN" sz="2800" b="1" dirty="0">
                <a:cs typeface="Times New Roman" panose="02020503050405090304" charset="0"/>
              </a:rPr>
              <a:t>’</a:t>
            </a:r>
            <a:r>
              <a:rPr lang="zh-CN" altLang="en-US" sz="2800" b="1" dirty="0">
                <a:cs typeface="Times New Roman" panose="02020503050405090304" charset="0"/>
              </a:rPr>
              <a:t>s C-E Translation</a:t>
            </a:r>
            <a:endParaRPr lang="zh-CN" altLang="en-US" sz="2800" b="1" dirty="0">
              <a:cs typeface="Times New Roman" panose="02020503050405090304" charset="0"/>
            </a:endParaRPr>
          </a:p>
          <a:p>
            <a:pPr algn="ctr"/>
            <a:endParaRPr lang="zh-CN" altLang="en-US" sz="2800" b="1" dirty="0">
              <a:cs typeface="Times New Roman" panose="02020503050405090304" charset="0"/>
            </a:endParaRPr>
          </a:p>
          <a:p>
            <a:pPr algn="ctr"/>
            <a:r>
              <a:rPr lang="zh-CN" altLang="en-US" sz="2800" b="1" dirty="0">
                <a:cs typeface="Times New Roman" panose="02020503050405090304" charset="0"/>
              </a:rPr>
              <a:t>系统功能语言学视角下王维诗歌英译研究：以许渊冲译本为例</a:t>
            </a:r>
            <a:endParaRPr lang="zh-CN" altLang="en-US" sz="2800" b="1" dirty="0">
              <a:cs typeface="Times New Roman" panose="0202050305040509030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4249830" y="1281841"/>
            <a:ext cx="1192345" cy="666786"/>
            <a:chOff x="2215144" y="927951"/>
            <a:chExt cx="1244730" cy="916847"/>
          </a:xfrm>
        </p:grpSpPr>
        <p:sp>
          <p:nvSpPr>
            <p:cNvPr id="47" name="平行四边形 46"/>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cs typeface="Times New Roman" panose="02020503050405090304" charset="0"/>
              </a:endParaRPr>
            </a:p>
          </p:txBody>
        </p:sp>
        <p:sp>
          <p:nvSpPr>
            <p:cNvPr id="48" name="文本框 9"/>
            <p:cNvSpPr txBox="1"/>
            <p:nvPr/>
          </p:nvSpPr>
          <p:spPr>
            <a:xfrm>
              <a:off x="2393075" y="927951"/>
              <a:ext cx="1066799" cy="916847"/>
            </a:xfrm>
            <a:prstGeom prst="rect">
              <a:avLst/>
            </a:prstGeom>
            <a:noFill/>
          </p:spPr>
          <p:txBody>
            <a:bodyPr wrap="square" rtlCol="0">
              <a:spAutoFit/>
            </a:bodyPr>
            <a:lstStyle/>
            <a:p>
              <a:r>
                <a:rPr lang="en-US" altLang="zh-CN" sz="3735" dirty="0">
                  <a:solidFill>
                    <a:schemeClr val="bg1"/>
                  </a:solidFill>
                  <a:latin typeface="Impact" panose="020B0806030902050204" pitchFamily="34" charset="0"/>
                  <a:cs typeface="Times New Roman" panose="02020503050405090304" charset="0"/>
                </a:rPr>
                <a:t>01</a:t>
              </a:r>
              <a:endParaRPr lang="zh-CN" altLang="en-US" sz="3735" dirty="0">
                <a:solidFill>
                  <a:schemeClr val="bg1"/>
                </a:solidFill>
                <a:latin typeface="Impact" panose="020B0806030902050204" pitchFamily="34" charset="0"/>
                <a:cs typeface="Times New Roman" panose="02020503050405090304" charset="0"/>
              </a:endParaRPr>
            </a:p>
          </p:txBody>
        </p:sp>
      </p:grpSp>
      <p:grpSp>
        <p:nvGrpSpPr>
          <p:cNvPr id="49" name="组合 48"/>
          <p:cNvGrpSpPr/>
          <p:nvPr/>
        </p:nvGrpSpPr>
        <p:grpSpPr>
          <a:xfrm>
            <a:off x="4249830" y="2187994"/>
            <a:ext cx="1192345" cy="672218"/>
            <a:chOff x="2215144" y="1952311"/>
            <a:chExt cx="1244730" cy="924318"/>
          </a:xfrm>
        </p:grpSpPr>
        <p:sp>
          <p:nvSpPr>
            <p:cNvPr id="50" name="平行四边形 49"/>
            <p:cNvSpPr/>
            <p:nvPr/>
          </p:nvSpPr>
          <p:spPr>
            <a:xfrm>
              <a:off x="2215144" y="2033848"/>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cs typeface="Times New Roman" panose="02020503050405090304" charset="0"/>
              </a:endParaRPr>
            </a:p>
          </p:txBody>
        </p:sp>
        <p:sp>
          <p:nvSpPr>
            <p:cNvPr id="51" name="文本框 10"/>
            <p:cNvSpPr txBox="1"/>
            <p:nvPr/>
          </p:nvSpPr>
          <p:spPr>
            <a:xfrm>
              <a:off x="2393075" y="1952311"/>
              <a:ext cx="1066799" cy="916850"/>
            </a:xfrm>
            <a:prstGeom prst="rect">
              <a:avLst/>
            </a:prstGeom>
            <a:noFill/>
          </p:spPr>
          <p:txBody>
            <a:bodyPr wrap="square" rtlCol="0">
              <a:spAutoFit/>
            </a:bodyPr>
            <a:lstStyle/>
            <a:p>
              <a:r>
                <a:rPr lang="en-US" altLang="zh-CN" sz="3735" dirty="0">
                  <a:solidFill>
                    <a:schemeClr val="bg1"/>
                  </a:solidFill>
                  <a:latin typeface="Impact" panose="020B0806030902050204" pitchFamily="34" charset="0"/>
                  <a:cs typeface="Times New Roman" panose="02020503050405090304" charset="0"/>
                </a:rPr>
                <a:t>02</a:t>
              </a:r>
              <a:endParaRPr lang="zh-CN" altLang="en-US" sz="3735" dirty="0">
                <a:solidFill>
                  <a:schemeClr val="bg1"/>
                </a:solidFill>
                <a:latin typeface="Impact" panose="020B0806030902050204" pitchFamily="34" charset="0"/>
                <a:cs typeface="Times New Roman" panose="02020503050405090304" charset="0"/>
              </a:endParaRPr>
            </a:p>
          </p:txBody>
        </p:sp>
      </p:grpSp>
      <p:grpSp>
        <p:nvGrpSpPr>
          <p:cNvPr id="52" name="组合 51"/>
          <p:cNvGrpSpPr/>
          <p:nvPr/>
        </p:nvGrpSpPr>
        <p:grpSpPr>
          <a:xfrm>
            <a:off x="4249830" y="3123791"/>
            <a:ext cx="1192345" cy="666786"/>
            <a:chOff x="2215144" y="3018134"/>
            <a:chExt cx="1244730" cy="916848"/>
          </a:xfrm>
        </p:grpSpPr>
        <p:sp>
          <p:nvSpPr>
            <p:cNvPr id="53" name="平行四边形 52"/>
            <p:cNvSpPr/>
            <p:nvPr/>
          </p:nvSpPr>
          <p:spPr>
            <a:xfrm>
              <a:off x="2215144" y="3084852"/>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cs typeface="Times New Roman" panose="02020503050405090304" charset="0"/>
              </a:endParaRPr>
            </a:p>
          </p:txBody>
        </p:sp>
        <p:sp>
          <p:nvSpPr>
            <p:cNvPr id="54" name="文本框 11"/>
            <p:cNvSpPr txBox="1"/>
            <p:nvPr/>
          </p:nvSpPr>
          <p:spPr>
            <a:xfrm>
              <a:off x="2393075" y="3018134"/>
              <a:ext cx="1066799" cy="916848"/>
            </a:xfrm>
            <a:prstGeom prst="rect">
              <a:avLst/>
            </a:prstGeom>
            <a:noFill/>
          </p:spPr>
          <p:txBody>
            <a:bodyPr wrap="square" rtlCol="0">
              <a:spAutoFit/>
            </a:bodyPr>
            <a:lstStyle/>
            <a:p>
              <a:r>
                <a:rPr lang="en-US" altLang="zh-CN" sz="3735" dirty="0">
                  <a:solidFill>
                    <a:schemeClr val="bg1"/>
                  </a:solidFill>
                  <a:latin typeface="Impact" panose="020B0806030902050204" pitchFamily="34" charset="0"/>
                  <a:cs typeface="Times New Roman" panose="02020503050405090304" charset="0"/>
                </a:rPr>
                <a:t>03</a:t>
              </a:r>
              <a:endParaRPr lang="zh-CN" altLang="en-US" sz="3735" dirty="0">
                <a:solidFill>
                  <a:schemeClr val="bg1"/>
                </a:solidFill>
                <a:latin typeface="Impact" panose="020B0806030902050204" pitchFamily="34" charset="0"/>
                <a:cs typeface="Times New Roman" panose="02020503050405090304" charset="0"/>
              </a:endParaRPr>
            </a:p>
          </p:txBody>
        </p:sp>
      </p:grpSp>
      <p:grpSp>
        <p:nvGrpSpPr>
          <p:cNvPr id="55" name="组合 54"/>
          <p:cNvGrpSpPr/>
          <p:nvPr/>
        </p:nvGrpSpPr>
        <p:grpSpPr>
          <a:xfrm>
            <a:off x="4249830" y="4033777"/>
            <a:ext cx="1192345" cy="677512"/>
            <a:chOff x="2215144" y="4047039"/>
            <a:chExt cx="1244730" cy="931598"/>
          </a:xfrm>
        </p:grpSpPr>
        <p:sp>
          <p:nvSpPr>
            <p:cNvPr id="56" name="平行四边形 55"/>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cs typeface="Times New Roman" panose="02020503050405090304" charset="0"/>
              </a:endParaRPr>
            </a:p>
          </p:txBody>
        </p:sp>
        <p:sp>
          <p:nvSpPr>
            <p:cNvPr id="57" name="文本框 12"/>
            <p:cNvSpPr txBox="1"/>
            <p:nvPr/>
          </p:nvSpPr>
          <p:spPr>
            <a:xfrm>
              <a:off x="2393075" y="4047039"/>
              <a:ext cx="1066799" cy="916850"/>
            </a:xfrm>
            <a:prstGeom prst="rect">
              <a:avLst/>
            </a:prstGeom>
            <a:noFill/>
          </p:spPr>
          <p:txBody>
            <a:bodyPr wrap="square" rtlCol="0">
              <a:spAutoFit/>
            </a:bodyPr>
            <a:lstStyle/>
            <a:p>
              <a:r>
                <a:rPr lang="en-US" altLang="zh-CN" sz="3735" dirty="0">
                  <a:solidFill>
                    <a:schemeClr val="bg1"/>
                  </a:solidFill>
                  <a:latin typeface="Impact" panose="020B0806030902050204" pitchFamily="34" charset="0"/>
                  <a:cs typeface="Times New Roman" panose="02020503050405090304" charset="0"/>
                </a:rPr>
                <a:t>04</a:t>
              </a:r>
              <a:endParaRPr lang="zh-CN" altLang="en-US" sz="3735" dirty="0">
                <a:solidFill>
                  <a:schemeClr val="bg1"/>
                </a:solidFill>
                <a:latin typeface="Impact" panose="020B0806030902050204" pitchFamily="34" charset="0"/>
                <a:cs typeface="Times New Roman" panose="02020503050405090304" charset="0"/>
              </a:endParaRPr>
            </a:p>
          </p:txBody>
        </p:sp>
      </p:grpSp>
      <p:grpSp>
        <p:nvGrpSpPr>
          <p:cNvPr id="58" name="组合 57"/>
          <p:cNvGrpSpPr/>
          <p:nvPr/>
        </p:nvGrpSpPr>
        <p:grpSpPr>
          <a:xfrm>
            <a:off x="4249827" y="4966497"/>
            <a:ext cx="1179315" cy="670313"/>
            <a:chOff x="2215144" y="5107938"/>
            <a:chExt cx="1231128" cy="921702"/>
          </a:xfrm>
        </p:grpSpPr>
        <p:sp>
          <p:nvSpPr>
            <p:cNvPr id="59" name="平行四边形 58"/>
            <p:cNvSpPr/>
            <p:nvPr/>
          </p:nvSpPr>
          <p:spPr>
            <a:xfrm>
              <a:off x="2215144" y="5186859"/>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cs typeface="Times New Roman" panose="02020503050405090304" charset="0"/>
              </a:endParaRPr>
            </a:p>
          </p:txBody>
        </p:sp>
        <p:sp>
          <p:nvSpPr>
            <p:cNvPr id="60" name="文本框 13"/>
            <p:cNvSpPr txBox="1"/>
            <p:nvPr/>
          </p:nvSpPr>
          <p:spPr>
            <a:xfrm>
              <a:off x="2379473" y="5107938"/>
              <a:ext cx="1066799" cy="916852"/>
            </a:xfrm>
            <a:prstGeom prst="rect">
              <a:avLst/>
            </a:prstGeom>
            <a:noFill/>
          </p:spPr>
          <p:txBody>
            <a:bodyPr wrap="square" rtlCol="0">
              <a:spAutoFit/>
            </a:bodyPr>
            <a:lstStyle/>
            <a:p>
              <a:r>
                <a:rPr lang="en-US" altLang="zh-CN" sz="3735" dirty="0">
                  <a:solidFill>
                    <a:schemeClr val="bg1"/>
                  </a:solidFill>
                  <a:latin typeface="Impact" panose="020B0806030902050204" pitchFamily="34" charset="0"/>
                  <a:cs typeface="Times New Roman" panose="02020503050405090304" charset="0"/>
                </a:rPr>
                <a:t>05</a:t>
              </a:r>
              <a:endParaRPr lang="zh-CN" altLang="en-US" sz="3735" dirty="0">
                <a:solidFill>
                  <a:schemeClr val="bg1"/>
                </a:solidFill>
                <a:latin typeface="Impact" panose="020B0806030902050204" pitchFamily="34" charset="0"/>
                <a:cs typeface="Times New Roman" panose="02020503050405090304" charset="0"/>
              </a:endParaRPr>
            </a:p>
          </p:txBody>
        </p:sp>
      </p:grpSp>
      <p:grpSp>
        <p:nvGrpSpPr>
          <p:cNvPr id="61" name="组合 60"/>
          <p:cNvGrpSpPr/>
          <p:nvPr/>
        </p:nvGrpSpPr>
        <p:grpSpPr>
          <a:xfrm>
            <a:off x="5155499" y="1299590"/>
            <a:ext cx="5143000" cy="612920"/>
            <a:chOff x="4315150" y="953426"/>
            <a:chExt cx="3857250" cy="540057"/>
          </a:xfrm>
        </p:grpSpPr>
        <p:sp>
          <p:nvSpPr>
            <p:cNvPr id="62" name="矩形 61"/>
            <p:cNvSpPr/>
            <p:nvPr/>
          </p:nvSpPr>
          <p:spPr>
            <a:xfrm>
              <a:off x="4841196" y="1036090"/>
              <a:ext cx="2827147" cy="405646"/>
            </a:xfrm>
            <a:prstGeom prst="rect">
              <a:avLst/>
            </a:prstGeom>
            <a:ln w="15875">
              <a:noFill/>
            </a:ln>
          </p:spPr>
          <p:txBody>
            <a:bodyPr wrap="square" lIns="91440" tIns="45720" rIns="91440" bIns="45720">
              <a:spAutoFit/>
            </a:bodyPr>
            <a:lstStyle/>
            <a:p>
              <a:r>
                <a:rPr lang="en-US" altLang="en-GB" sz="2400" b="1" dirty="0">
                  <a:solidFill>
                    <a:schemeClr val="tx1">
                      <a:lumMod val="75000"/>
                      <a:lumOff val="25000"/>
                    </a:schemeClr>
                  </a:solidFill>
                  <a:latin typeface="Times New Roman" panose="02020503050405090304" charset="0"/>
                  <a:ea typeface="Times New Roman" panose="02020503050405090304" charset="0"/>
                  <a:cs typeface="Times New Roman" panose="02020503050405090304" charset="0"/>
                </a:rPr>
                <a:t>Introduction</a:t>
              </a:r>
              <a:endParaRPr lang="en-US" altLang="en-GB" sz="2400" b="1" dirty="0">
                <a:solidFill>
                  <a:schemeClr val="tx1">
                    <a:lumMod val="75000"/>
                    <a:lumOff val="25000"/>
                  </a:schemeClr>
                </a:solidFill>
                <a:latin typeface="Times New Roman" panose="02020503050405090304" charset="0"/>
                <a:ea typeface="Times New Roman" panose="02020503050405090304" charset="0"/>
                <a:cs typeface="Times New Roman" panose="02020503050405090304" charset="0"/>
              </a:endParaRPr>
            </a:p>
          </p:txBody>
        </p:sp>
        <p:sp>
          <p:nvSpPr>
            <p:cNvPr id="63" name="平行四边形 62"/>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tx1">
                    <a:lumMod val="75000"/>
                    <a:lumOff val="25000"/>
                  </a:schemeClr>
                </a:solidFill>
                <a:cs typeface="Times New Roman" panose="02020503050405090304" charset="0"/>
              </a:endParaRPr>
            </a:p>
          </p:txBody>
        </p:sp>
      </p:grpSp>
      <p:grpSp>
        <p:nvGrpSpPr>
          <p:cNvPr id="64" name="组合 63"/>
          <p:cNvGrpSpPr/>
          <p:nvPr/>
        </p:nvGrpSpPr>
        <p:grpSpPr>
          <a:xfrm>
            <a:off x="5155499" y="2225128"/>
            <a:ext cx="5143000" cy="612920"/>
            <a:chOff x="4315150" y="1647579"/>
            <a:chExt cx="3857250" cy="540057"/>
          </a:xfrm>
        </p:grpSpPr>
        <p:sp>
          <p:nvSpPr>
            <p:cNvPr id="65" name="矩形 64"/>
            <p:cNvSpPr/>
            <p:nvPr/>
          </p:nvSpPr>
          <p:spPr>
            <a:xfrm>
              <a:off x="4841196" y="1730243"/>
              <a:ext cx="2827147" cy="405646"/>
            </a:xfrm>
            <a:prstGeom prst="rect">
              <a:avLst/>
            </a:prstGeom>
            <a:ln w="15875">
              <a:noFill/>
            </a:ln>
          </p:spPr>
          <p:txBody>
            <a:bodyPr wrap="square" lIns="91440" tIns="45720" rIns="91440" bIns="45720">
              <a:spAutoFit/>
            </a:bodyPr>
            <a:lstStyle/>
            <a:p>
              <a:r>
                <a:rPr lang="en-US" altLang="en-GB" sz="2400" b="1" dirty="0">
                  <a:solidFill>
                    <a:schemeClr val="tx1">
                      <a:lumMod val="75000"/>
                      <a:lumOff val="25000"/>
                    </a:schemeClr>
                  </a:solidFill>
                  <a:latin typeface="Times New Roman" panose="02020503050405090304" charset="0"/>
                  <a:ea typeface="Times New Roman" panose="02020503050405090304" charset="0"/>
                  <a:cs typeface="Times New Roman" panose="02020503050405090304" charset="0"/>
                </a:rPr>
                <a:t>Literature Review</a:t>
              </a:r>
              <a:endParaRPr lang="en-US" altLang="en-GB" sz="2400" b="1" dirty="0">
                <a:solidFill>
                  <a:schemeClr val="tx1">
                    <a:lumMod val="75000"/>
                    <a:lumOff val="25000"/>
                  </a:schemeClr>
                </a:solidFill>
                <a:latin typeface="Times New Roman" panose="02020503050405090304" charset="0"/>
                <a:ea typeface="Times New Roman" panose="02020503050405090304" charset="0"/>
                <a:cs typeface="Times New Roman" panose="02020503050405090304" charset="0"/>
              </a:endParaRPr>
            </a:p>
          </p:txBody>
        </p:sp>
        <p:sp>
          <p:nvSpPr>
            <p:cNvPr id="66" name="平行四边形 65"/>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tx1">
                    <a:lumMod val="75000"/>
                    <a:lumOff val="25000"/>
                  </a:schemeClr>
                </a:solidFill>
                <a:cs typeface="Times New Roman" panose="02020503050405090304" charset="0"/>
              </a:endParaRPr>
            </a:p>
          </p:txBody>
        </p:sp>
      </p:grpSp>
      <p:grpSp>
        <p:nvGrpSpPr>
          <p:cNvPr id="67" name="组合 66"/>
          <p:cNvGrpSpPr/>
          <p:nvPr/>
        </p:nvGrpSpPr>
        <p:grpSpPr>
          <a:xfrm>
            <a:off x="5155499" y="3150665"/>
            <a:ext cx="5143000" cy="612920"/>
            <a:chOff x="4315150" y="2341731"/>
            <a:chExt cx="3857250" cy="540057"/>
          </a:xfrm>
        </p:grpSpPr>
        <p:sp>
          <p:nvSpPr>
            <p:cNvPr id="68" name="矩形 67"/>
            <p:cNvSpPr/>
            <p:nvPr/>
          </p:nvSpPr>
          <p:spPr>
            <a:xfrm>
              <a:off x="4605663" y="2408314"/>
              <a:ext cx="3566636" cy="405646"/>
            </a:xfrm>
            <a:prstGeom prst="rect">
              <a:avLst/>
            </a:prstGeom>
            <a:ln w="15875">
              <a:noFill/>
            </a:ln>
          </p:spPr>
          <p:txBody>
            <a:bodyPr wrap="square" lIns="91440" tIns="45720" rIns="91440" bIns="45720">
              <a:spAutoFit/>
            </a:bodyPr>
            <a:lstStyle/>
            <a:p>
              <a:pPr algn="ctr"/>
              <a:r>
                <a:rPr lang="en-US" altLang="zh-CN" sz="2400" b="1" dirty="0">
                  <a:solidFill>
                    <a:schemeClr val="tx1">
                      <a:lumMod val="75000"/>
                      <a:lumOff val="25000"/>
                    </a:schemeClr>
                  </a:solidFill>
                  <a:latin typeface="Times New Roman" panose="02020503050405090304" charset="0"/>
                  <a:ea typeface="Times New Roman" panose="02020503050405090304" charset="0"/>
                  <a:cs typeface="Times New Roman" panose="02020503050405090304" charset="0"/>
                  <a:sym typeface="+mn-ea"/>
                </a:rPr>
                <a:t>Translation as Re-instantiation</a:t>
              </a:r>
              <a:endParaRPr lang="en-US" altLang="en-GB" sz="2400" b="1" dirty="0">
                <a:solidFill>
                  <a:schemeClr val="tx1">
                    <a:lumMod val="75000"/>
                    <a:lumOff val="25000"/>
                  </a:schemeClr>
                </a:solidFill>
                <a:latin typeface="Times New Roman" panose="02020503050405090304" charset="0"/>
                <a:ea typeface="Times New Roman" panose="02020503050405090304" charset="0"/>
                <a:cs typeface="Times New Roman" panose="02020503050405090304" charset="0"/>
              </a:endParaRPr>
            </a:p>
          </p:txBody>
        </p:sp>
        <p:sp>
          <p:nvSpPr>
            <p:cNvPr id="69" name="平行四边形 68"/>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tx1">
                    <a:lumMod val="75000"/>
                    <a:lumOff val="25000"/>
                  </a:schemeClr>
                </a:solidFill>
                <a:cs typeface="Times New Roman" panose="02020503050405090304" charset="0"/>
              </a:endParaRPr>
            </a:p>
          </p:txBody>
        </p:sp>
      </p:grpSp>
      <p:grpSp>
        <p:nvGrpSpPr>
          <p:cNvPr id="70" name="组合 69"/>
          <p:cNvGrpSpPr/>
          <p:nvPr/>
        </p:nvGrpSpPr>
        <p:grpSpPr>
          <a:xfrm>
            <a:off x="5155499" y="4076203"/>
            <a:ext cx="5143000" cy="612920"/>
            <a:chOff x="4315150" y="3035884"/>
            <a:chExt cx="3857250" cy="540057"/>
          </a:xfrm>
        </p:grpSpPr>
        <p:sp>
          <p:nvSpPr>
            <p:cNvPr id="71" name="矩形 70"/>
            <p:cNvSpPr/>
            <p:nvPr/>
          </p:nvSpPr>
          <p:spPr>
            <a:xfrm>
              <a:off x="4841196" y="3118548"/>
              <a:ext cx="2827147" cy="405646"/>
            </a:xfrm>
            <a:prstGeom prst="rect">
              <a:avLst/>
            </a:prstGeom>
            <a:ln w="15875">
              <a:noFill/>
            </a:ln>
          </p:spPr>
          <p:txBody>
            <a:bodyPr wrap="square" lIns="91440" tIns="45720" rIns="91440" bIns="45720">
              <a:spAutoFit/>
            </a:bodyPr>
            <a:lstStyle/>
            <a:p>
              <a:r>
                <a:rPr lang="en-US" altLang="zh-CN" sz="2400" b="1" dirty="0">
                  <a:solidFill>
                    <a:schemeClr val="tx1">
                      <a:lumMod val="75000"/>
                      <a:lumOff val="25000"/>
                    </a:schemeClr>
                  </a:solidFill>
                  <a:latin typeface="Times New Roman" panose="02020503050405090304" charset="0"/>
                  <a:ea typeface="宋体" charset="0"/>
                  <a:cs typeface="Times New Roman" panose="02020503050405090304" charset="0"/>
                </a:rPr>
                <a:t>Analysis</a:t>
              </a:r>
              <a:endParaRPr lang="en-US" altLang="zh-CN" sz="2400" b="1" dirty="0">
                <a:solidFill>
                  <a:schemeClr val="tx1">
                    <a:lumMod val="75000"/>
                    <a:lumOff val="25000"/>
                  </a:schemeClr>
                </a:solidFill>
                <a:latin typeface="Times New Roman" panose="02020503050405090304" charset="0"/>
                <a:ea typeface="宋体" charset="0"/>
                <a:cs typeface="Times New Roman" panose="02020503050405090304" charset="0"/>
              </a:endParaRPr>
            </a:p>
          </p:txBody>
        </p:sp>
        <p:sp>
          <p:nvSpPr>
            <p:cNvPr id="72" name="平行四边形 71"/>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tx1">
                    <a:lumMod val="75000"/>
                    <a:lumOff val="25000"/>
                  </a:schemeClr>
                </a:solidFill>
                <a:cs typeface="Times New Roman" panose="02020503050405090304" charset="0"/>
              </a:endParaRPr>
            </a:p>
          </p:txBody>
        </p:sp>
      </p:grpSp>
      <p:grpSp>
        <p:nvGrpSpPr>
          <p:cNvPr id="73" name="组合 72"/>
          <p:cNvGrpSpPr/>
          <p:nvPr/>
        </p:nvGrpSpPr>
        <p:grpSpPr>
          <a:xfrm>
            <a:off x="5155499" y="5001742"/>
            <a:ext cx="5143000" cy="612920"/>
            <a:chOff x="4315150" y="3730038"/>
            <a:chExt cx="3857250" cy="540057"/>
          </a:xfrm>
        </p:grpSpPr>
        <p:sp>
          <p:nvSpPr>
            <p:cNvPr id="74" name="矩形 73"/>
            <p:cNvSpPr/>
            <p:nvPr/>
          </p:nvSpPr>
          <p:spPr>
            <a:xfrm>
              <a:off x="4841197" y="3812702"/>
              <a:ext cx="2827146" cy="405646"/>
            </a:xfrm>
            <a:prstGeom prst="rect">
              <a:avLst/>
            </a:prstGeom>
            <a:ln w="15875">
              <a:noFill/>
            </a:ln>
          </p:spPr>
          <p:txBody>
            <a:bodyPr wrap="square" lIns="91440" tIns="45720" rIns="91440" bIns="45720">
              <a:spAutoFit/>
            </a:bodyPr>
            <a:lstStyle/>
            <a:p>
              <a:r>
                <a:rPr lang="en-US" altLang="en-GB" sz="2400" b="1" dirty="0">
                  <a:solidFill>
                    <a:schemeClr val="tx1">
                      <a:lumMod val="75000"/>
                      <a:lumOff val="25000"/>
                    </a:schemeClr>
                  </a:solidFill>
                  <a:latin typeface="Times New Roman" panose="02020503050405090304" charset="0"/>
                  <a:ea typeface="Times New Roman" panose="02020503050405090304" charset="0"/>
                  <a:cs typeface="Times New Roman" panose="02020503050405090304" charset="0"/>
                </a:rPr>
                <a:t>Conclusions</a:t>
              </a:r>
              <a:endParaRPr lang="en-US" altLang="en-GB" sz="2400" b="1" dirty="0">
                <a:solidFill>
                  <a:schemeClr val="tx1">
                    <a:lumMod val="75000"/>
                    <a:lumOff val="25000"/>
                  </a:schemeClr>
                </a:solidFill>
                <a:latin typeface="Times New Roman" panose="02020503050405090304" charset="0"/>
                <a:ea typeface="Times New Roman" panose="02020503050405090304" charset="0"/>
                <a:cs typeface="Times New Roman" panose="02020503050405090304" charset="0"/>
              </a:endParaRPr>
            </a:p>
          </p:txBody>
        </p:sp>
        <p:sp>
          <p:nvSpPr>
            <p:cNvPr id="75" name="平行四边形 74"/>
            <p:cNvSpPr/>
            <p:nvPr/>
          </p:nvSpPr>
          <p:spPr>
            <a:xfrm>
              <a:off x="4315150" y="3730038"/>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tx1">
                    <a:lumMod val="75000"/>
                    <a:lumOff val="25000"/>
                  </a:schemeClr>
                </a:solidFill>
                <a:cs typeface="Times New Roman" panose="02020503050405090304" charset="0"/>
              </a:endParaRPr>
            </a:p>
          </p:txBody>
        </p:sp>
      </p:grpSp>
      <p:sp>
        <p:nvSpPr>
          <p:cNvPr id="7" name="矩形 6"/>
          <p:cNvSpPr/>
          <p:nvPr/>
        </p:nvSpPr>
        <p:spPr>
          <a:xfrm>
            <a:off x="1893501" y="2058711"/>
            <a:ext cx="877163" cy="2390591"/>
          </a:xfrm>
          <a:prstGeom prst="rect">
            <a:avLst/>
          </a:prstGeom>
          <a:noFill/>
        </p:spPr>
        <p:txBody>
          <a:bodyPr wrap="none" lIns="91440" tIns="45720" rIns="91440" bIns="45720">
            <a:spAutoFit/>
          </a:bodyPr>
          <a:lstStyle/>
          <a:p>
            <a:pPr algn="ctr">
              <a:lnSpc>
                <a:spcPct val="150000"/>
              </a:lnSpc>
            </a:pPr>
            <a:r>
              <a:rPr lang="zh-CN" altLang="en-US" sz="5400" b="1" dirty="0">
                <a:ln w="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cs typeface="Times New Roman" panose="02020503050405090304" charset="0"/>
              </a:rPr>
              <a:t>目</a:t>
            </a:r>
            <a:endParaRPr lang="en-US" altLang="zh-CN" sz="5400" b="1" dirty="0">
              <a:ln w="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cs typeface="Times New Roman" panose="02020503050405090304" charset="0"/>
            </a:endParaRPr>
          </a:p>
          <a:p>
            <a:pPr algn="ctr">
              <a:lnSpc>
                <a:spcPct val="150000"/>
              </a:lnSpc>
            </a:pPr>
            <a:r>
              <a:rPr lang="zh-CN" altLang="en-US" sz="5400" b="1" dirty="0">
                <a:ln w="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cs typeface="Times New Roman" panose="02020503050405090304" charset="0"/>
              </a:rPr>
              <a:t>录</a:t>
            </a:r>
            <a:endParaRPr lang="zh-CN" altLang="en-US" sz="5400" b="1" cap="none" spc="0" dirty="0">
              <a:ln w="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cs typeface="Times New Roman" panose="0202050305040509030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0-#ppt_w/2"/>
                                          </p:val>
                                        </p:tav>
                                        <p:tav tm="100000">
                                          <p:val>
                                            <p:strVal val="#ppt_x"/>
                                          </p:val>
                                        </p:tav>
                                      </p:tavLst>
                                    </p:anim>
                                    <p:anim calcmode="lin" valueType="num">
                                      <p:cBhvr additive="base">
                                        <p:cTn id="8" dur="500" fill="hold"/>
                                        <p:tgtEl>
                                          <p:spTgt spid="46"/>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1"/>
                                        </p:tgtEl>
                                        <p:attrNameLst>
                                          <p:attrName>style.visibility</p:attrName>
                                        </p:attrNameLst>
                                      </p:cBhvr>
                                      <p:to>
                                        <p:strVal val="visible"/>
                                      </p:to>
                                    </p:set>
                                    <p:anim calcmode="lin" valueType="num">
                                      <p:cBhvr additive="base">
                                        <p:cTn id="11" dur="500" fill="hold"/>
                                        <p:tgtEl>
                                          <p:spTgt spid="61"/>
                                        </p:tgtEl>
                                        <p:attrNameLst>
                                          <p:attrName>ppt_x</p:attrName>
                                        </p:attrNameLst>
                                      </p:cBhvr>
                                      <p:tavLst>
                                        <p:tav tm="0">
                                          <p:val>
                                            <p:strVal val="1+#ppt_w/2"/>
                                          </p:val>
                                        </p:tav>
                                        <p:tav tm="100000">
                                          <p:val>
                                            <p:strVal val="#ppt_x"/>
                                          </p:val>
                                        </p:tav>
                                      </p:tavLst>
                                    </p:anim>
                                    <p:anim calcmode="lin" valueType="num">
                                      <p:cBhvr additive="base">
                                        <p:cTn id="12" dur="500" fill="hold"/>
                                        <p:tgtEl>
                                          <p:spTgt spid="61"/>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8" fill="hold" nodeType="afterEffect">
                                  <p:stCondLst>
                                    <p:cond delay="0"/>
                                  </p:stCondLst>
                                  <p:childTnLst>
                                    <p:set>
                                      <p:cBhvr>
                                        <p:cTn id="15" dur="1" fill="hold">
                                          <p:stCondLst>
                                            <p:cond delay="0"/>
                                          </p:stCondLst>
                                        </p:cTn>
                                        <p:tgtEl>
                                          <p:spTgt spid="49"/>
                                        </p:tgtEl>
                                        <p:attrNameLst>
                                          <p:attrName>style.visibility</p:attrName>
                                        </p:attrNameLst>
                                      </p:cBhvr>
                                      <p:to>
                                        <p:strVal val="visible"/>
                                      </p:to>
                                    </p:set>
                                    <p:anim calcmode="lin" valueType="num">
                                      <p:cBhvr additive="base">
                                        <p:cTn id="16" dur="500" fill="hold"/>
                                        <p:tgtEl>
                                          <p:spTgt spid="49"/>
                                        </p:tgtEl>
                                        <p:attrNameLst>
                                          <p:attrName>ppt_x</p:attrName>
                                        </p:attrNameLst>
                                      </p:cBhvr>
                                      <p:tavLst>
                                        <p:tav tm="0">
                                          <p:val>
                                            <p:strVal val="0-#ppt_w/2"/>
                                          </p:val>
                                        </p:tav>
                                        <p:tav tm="100000">
                                          <p:val>
                                            <p:strVal val="#ppt_x"/>
                                          </p:val>
                                        </p:tav>
                                      </p:tavLst>
                                    </p:anim>
                                    <p:anim calcmode="lin" valueType="num">
                                      <p:cBhvr additive="base">
                                        <p:cTn id="17" dur="500" fill="hold"/>
                                        <p:tgtEl>
                                          <p:spTgt spid="49"/>
                                        </p:tgtEl>
                                        <p:attrNameLst>
                                          <p:attrName>ppt_y</p:attrName>
                                        </p:attrNameLst>
                                      </p:cBhvr>
                                      <p:tavLst>
                                        <p:tav tm="0">
                                          <p:val>
                                            <p:strVal val="#ppt_y"/>
                                          </p:val>
                                        </p:tav>
                                        <p:tav tm="100000">
                                          <p:val>
                                            <p:strVal val="#ppt_y"/>
                                          </p:val>
                                        </p:tav>
                                      </p:tavLst>
                                    </p:anim>
                                  </p:childTnLst>
                                </p:cTn>
                              </p:par>
                              <p:par>
                                <p:cTn id="18" presetID="2" presetClass="entr" presetSubtype="2" fill="hold" nodeType="withEffect">
                                  <p:stCondLst>
                                    <p:cond delay="0"/>
                                  </p:stCondLst>
                                  <p:childTnLst>
                                    <p:set>
                                      <p:cBhvr>
                                        <p:cTn id="19" dur="1" fill="hold">
                                          <p:stCondLst>
                                            <p:cond delay="0"/>
                                          </p:stCondLst>
                                        </p:cTn>
                                        <p:tgtEl>
                                          <p:spTgt spid="64"/>
                                        </p:tgtEl>
                                        <p:attrNameLst>
                                          <p:attrName>style.visibility</p:attrName>
                                        </p:attrNameLst>
                                      </p:cBhvr>
                                      <p:to>
                                        <p:strVal val="visible"/>
                                      </p:to>
                                    </p:set>
                                    <p:anim calcmode="lin" valueType="num">
                                      <p:cBhvr additive="base">
                                        <p:cTn id="20" dur="500" fill="hold"/>
                                        <p:tgtEl>
                                          <p:spTgt spid="64"/>
                                        </p:tgtEl>
                                        <p:attrNameLst>
                                          <p:attrName>ppt_x</p:attrName>
                                        </p:attrNameLst>
                                      </p:cBhvr>
                                      <p:tavLst>
                                        <p:tav tm="0">
                                          <p:val>
                                            <p:strVal val="1+#ppt_w/2"/>
                                          </p:val>
                                        </p:tav>
                                        <p:tav tm="100000">
                                          <p:val>
                                            <p:strVal val="#ppt_x"/>
                                          </p:val>
                                        </p:tav>
                                      </p:tavLst>
                                    </p:anim>
                                    <p:anim calcmode="lin" valueType="num">
                                      <p:cBhvr additive="base">
                                        <p:cTn id="21" dur="500" fill="hold"/>
                                        <p:tgtEl>
                                          <p:spTgt spid="64"/>
                                        </p:tgtEl>
                                        <p:attrNameLst>
                                          <p:attrName>ppt_y</p:attrName>
                                        </p:attrNameLst>
                                      </p:cBhvr>
                                      <p:tavLst>
                                        <p:tav tm="0">
                                          <p:val>
                                            <p:strVal val="#ppt_y"/>
                                          </p:val>
                                        </p:tav>
                                        <p:tav tm="100000">
                                          <p:val>
                                            <p:strVal val="#ppt_y"/>
                                          </p:val>
                                        </p:tav>
                                      </p:tavLst>
                                    </p:anim>
                                  </p:childTnLst>
                                </p:cTn>
                              </p:par>
                            </p:childTnLst>
                          </p:cTn>
                        </p:par>
                        <p:par>
                          <p:cTn id="22" fill="hold">
                            <p:stCondLst>
                              <p:cond delay="1000"/>
                            </p:stCondLst>
                            <p:childTnLst>
                              <p:par>
                                <p:cTn id="23" presetID="2" presetClass="entr" presetSubtype="8" fill="hold" nodeType="afterEffect">
                                  <p:stCondLst>
                                    <p:cond delay="0"/>
                                  </p:stCondLst>
                                  <p:childTnLst>
                                    <p:set>
                                      <p:cBhvr>
                                        <p:cTn id="24" dur="1" fill="hold">
                                          <p:stCondLst>
                                            <p:cond delay="0"/>
                                          </p:stCondLst>
                                        </p:cTn>
                                        <p:tgtEl>
                                          <p:spTgt spid="52"/>
                                        </p:tgtEl>
                                        <p:attrNameLst>
                                          <p:attrName>style.visibility</p:attrName>
                                        </p:attrNameLst>
                                      </p:cBhvr>
                                      <p:to>
                                        <p:strVal val="visible"/>
                                      </p:to>
                                    </p:set>
                                    <p:anim calcmode="lin" valueType="num">
                                      <p:cBhvr additive="base">
                                        <p:cTn id="25" dur="500" fill="hold"/>
                                        <p:tgtEl>
                                          <p:spTgt spid="52"/>
                                        </p:tgtEl>
                                        <p:attrNameLst>
                                          <p:attrName>ppt_x</p:attrName>
                                        </p:attrNameLst>
                                      </p:cBhvr>
                                      <p:tavLst>
                                        <p:tav tm="0">
                                          <p:val>
                                            <p:strVal val="0-#ppt_w/2"/>
                                          </p:val>
                                        </p:tav>
                                        <p:tav tm="100000">
                                          <p:val>
                                            <p:strVal val="#ppt_x"/>
                                          </p:val>
                                        </p:tav>
                                      </p:tavLst>
                                    </p:anim>
                                    <p:anim calcmode="lin" valueType="num">
                                      <p:cBhvr additive="base">
                                        <p:cTn id="26" dur="500" fill="hold"/>
                                        <p:tgtEl>
                                          <p:spTgt spid="52"/>
                                        </p:tgtEl>
                                        <p:attrNameLst>
                                          <p:attrName>ppt_y</p:attrName>
                                        </p:attrNameLst>
                                      </p:cBhvr>
                                      <p:tavLst>
                                        <p:tav tm="0">
                                          <p:val>
                                            <p:strVal val="#ppt_y"/>
                                          </p:val>
                                        </p:tav>
                                        <p:tav tm="100000">
                                          <p:val>
                                            <p:strVal val="#ppt_y"/>
                                          </p:val>
                                        </p:tav>
                                      </p:tavLst>
                                    </p:anim>
                                  </p:childTnLst>
                                </p:cTn>
                              </p:par>
                              <p:par>
                                <p:cTn id="27" presetID="2" presetClass="entr" presetSubtype="2" fill="hold" nodeType="withEffect">
                                  <p:stCondLst>
                                    <p:cond delay="0"/>
                                  </p:stCondLst>
                                  <p:childTnLst>
                                    <p:set>
                                      <p:cBhvr>
                                        <p:cTn id="28" dur="1" fill="hold">
                                          <p:stCondLst>
                                            <p:cond delay="0"/>
                                          </p:stCondLst>
                                        </p:cTn>
                                        <p:tgtEl>
                                          <p:spTgt spid="67"/>
                                        </p:tgtEl>
                                        <p:attrNameLst>
                                          <p:attrName>style.visibility</p:attrName>
                                        </p:attrNameLst>
                                      </p:cBhvr>
                                      <p:to>
                                        <p:strVal val="visible"/>
                                      </p:to>
                                    </p:set>
                                    <p:anim calcmode="lin" valueType="num">
                                      <p:cBhvr additive="base">
                                        <p:cTn id="29" dur="500" fill="hold"/>
                                        <p:tgtEl>
                                          <p:spTgt spid="67"/>
                                        </p:tgtEl>
                                        <p:attrNameLst>
                                          <p:attrName>ppt_x</p:attrName>
                                        </p:attrNameLst>
                                      </p:cBhvr>
                                      <p:tavLst>
                                        <p:tav tm="0">
                                          <p:val>
                                            <p:strVal val="1+#ppt_w/2"/>
                                          </p:val>
                                        </p:tav>
                                        <p:tav tm="100000">
                                          <p:val>
                                            <p:strVal val="#ppt_x"/>
                                          </p:val>
                                        </p:tav>
                                      </p:tavLst>
                                    </p:anim>
                                    <p:anim calcmode="lin" valueType="num">
                                      <p:cBhvr additive="base">
                                        <p:cTn id="30" dur="500" fill="hold"/>
                                        <p:tgtEl>
                                          <p:spTgt spid="67"/>
                                        </p:tgtEl>
                                        <p:attrNameLst>
                                          <p:attrName>ppt_y</p:attrName>
                                        </p:attrNameLst>
                                      </p:cBhvr>
                                      <p:tavLst>
                                        <p:tav tm="0">
                                          <p:val>
                                            <p:strVal val="#ppt_y"/>
                                          </p:val>
                                        </p:tav>
                                        <p:tav tm="100000">
                                          <p:val>
                                            <p:strVal val="#ppt_y"/>
                                          </p:val>
                                        </p:tav>
                                      </p:tavLst>
                                    </p:anim>
                                  </p:childTnLst>
                                </p:cTn>
                              </p:par>
                            </p:childTnLst>
                          </p:cTn>
                        </p:par>
                        <p:par>
                          <p:cTn id="31" fill="hold">
                            <p:stCondLst>
                              <p:cond delay="1500"/>
                            </p:stCondLst>
                            <p:childTnLst>
                              <p:par>
                                <p:cTn id="32" presetID="2" presetClass="entr" presetSubtype="8" fill="hold" nodeType="afterEffect">
                                  <p:stCondLst>
                                    <p:cond delay="0"/>
                                  </p:stCondLst>
                                  <p:childTnLst>
                                    <p:set>
                                      <p:cBhvr>
                                        <p:cTn id="33" dur="1" fill="hold">
                                          <p:stCondLst>
                                            <p:cond delay="0"/>
                                          </p:stCondLst>
                                        </p:cTn>
                                        <p:tgtEl>
                                          <p:spTgt spid="55"/>
                                        </p:tgtEl>
                                        <p:attrNameLst>
                                          <p:attrName>style.visibility</p:attrName>
                                        </p:attrNameLst>
                                      </p:cBhvr>
                                      <p:to>
                                        <p:strVal val="visible"/>
                                      </p:to>
                                    </p:set>
                                    <p:anim calcmode="lin" valueType="num">
                                      <p:cBhvr additive="base">
                                        <p:cTn id="34" dur="500" fill="hold"/>
                                        <p:tgtEl>
                                          <p:spTgt spid="55"/>
                                        </p:tgtEl>
                                        <p:attrNameLst>
                                          <p:attrName>ppt_x</p:attrName>
                                        </p:attrNameLst>
                                      </p:cBhvr>
                                      <p:tavLst>
                                        <p:tav tm="0">
                                          <p:val>
                                            <p:strVal val="0-#ppt_w/2"/>
                                          </p:val>
                                        </p:tav>
                                        <p:tav tm="100000">
                                          <p:val>
                                            <p:strVal val="#ppt_x"/>
                                          </p:val>
                                        </p:tav>
                                      </p:tavLst>
                                    </p:anim>
                                    <p:anim calcmode="lin" valueType="num">
                                      <p:cBhvr additive="base">
                                        <p:cTn id="35" dur="500" fill="hold"/>
                                        <p:tgtEl>
                                          <p:spTgt spid="55"/>
                                        </p:tgtEl>
                                        <p:attrNameLst>
                                          <p:attrName>ppt_y</p:attrName>
                                        </p:attrNameLst>
                                      </p:cBhvr>
                                      <p:tavLst>
                                        <p:tav tm="0">
                                          <p:val>
                                            <p:strVal val="#ppt_y"/>
                                          </p:val>
                                        </p:tav>
                                        <p:tav tm="100000">
                                          <p:val>
                                            <p:strVal val="#ppt_y"/>
                                          </p:val>
                                        </p:tav>
                                      </p:tavLst>
                                    </p:anim>
                                  </p:childTnLst>
                                </p:cTn>
                              </p:par>
                              <p:par>
                                <p:cTn id="36" presetID="2" presetClass="entr" presetSubtype="2" fill="hold" nodeType="withEffect">
                                  <p:stCondLst>
                                    <p:cond delay="0"/>
                                  </p:stCondLst>
                                  <p:childTnLst>
                                    <p:set>
                                      <p:cBhvr>
                                        <p:cTn id="37" dur="1" fill="hold">
                                          <p:stCondLst>
                                            <p:cond delay="0"/>
                                          </p:stCondLst>
                                        </p:cTn>
                                        <p:tgtEl>
                                          <p:spTgt spid="70"/>
                                        </p:tgtEl>
                                        <p:attrNameLst>
                                          <p:attrName>style.visibility</p:attrName>
                                        </p:attrNameLst>
                                      </p:cBhvr>
                                      <p:to>
                                        <p:strVal val="visible"/>
                                      </p:to>
                                    </p:set>
                                    <p:anim calcmode="lin" valueType="num">
                                      <p:cBhvr additive="base">
                                        <p:cTn id="38" dur="500" fill="hold"/>
                                        <p:tgtEl>
                                          <p:spTgt spid="70"/>
                                        </p:tgtEl>
                                        <p:attrNameLst>
                                          <p:attrName>ppt_x</p:attrName>
                                        </p:attrNameLst>
                                      </p:cBhvr>
                                      <p:tavLst>
                                        <p:tav tm="0">
                                          <p:val>
                                            <p:strVal val="1+#ppt_w/2"/>
                                          </p:val>
                                        </p:tav>
                                        <p:tav tm="100000">
                                          <p:val>
                                            <p:strVal val="#ppt_x"/>
                                          </p:val>
                                        </p:tav>
                                      </p:tavLst>
                                    </p:anim>
                                    <p:anim calcmode="lin" valueType="num">
                                      <p:cBhvr additive="base">
                                        <p:cTn id="39" dur="500" fill="hold"/>
                                        <p:tgtEl>
                                          <p:spTgt spid="70"/>
                                        </p:tgtEl>
                                        <p:attrNameLst>
                                          <p:attrName>ppt_y</p:attrName>
                                        </p:attrNameLst>
                                      </p:cBhvr>
                                      <p:tavLst>
                                        <p:tav tm="0">
                                          <p:val>
                                            <p:strVal val="#ppt_y"/>
                                          </p:val>
                                        </p:tav>
                                        <p:tav tm="100000">
                                          <p:val>
                                            <p:strVal val="#ppt_y"/>
                                          </p:val>
                                        </p:tav>
                                      </p:tavLst>
                                    </p:anim>
                                  </p:childTnLst>
                                </p:cTn>
                              </p:par>
                            </p:childTnLst>
                          </p:cTn>
                        </p:par>
                        <p:par>
                          <p:cTn id="40" fill="hold">
                            <p:stCondLst>
                              <p:cond delay="2000"/>
                            </p:stCondLst>
                            <p:childTnLst>
                              <p:par>
                                <p:cTn id="41" presetID="2" presetClass="entr" presetSubtype="8" fill="hold" nodeType="afterEffect">
                                  <p:stCondLst>
                                    <p:cond delay="0"/>
                                  </p:stCondLst>
                                  <p:childTnLst>
                                    <p:set>
                                      <p:cBhvr>
                                        <p:cTn id="42" dur="1" fill="hold">
                                          <p:stCondLst>
                                            <p:cond delay="0"/>
                                          </p:stCondLst>
                                        </p:cTn>
                                        <p:tgtEl>
                                          <p:spTgt spid="58"/>
                                        </p:tgtEl>
                                        <p:attrNameLst>
                                          <p:attrName>style.visibility</p:attrName>
                                        </p:attrNameLst>
                                      </p:cBhvr>
                                      <p:to>
                                        <p:strVal val="visible"/>
                                      </p:to>
                                    </p:set>
                                    <p:anim calcmode="lin" valueType="num">
                                      <p:cBhvr additive="base">
                                        <p:cTn id="43" dur="500" fill="hold"/>
                                        <p:tgtEl>
                                          <p:spTgt spid="58"/>
                                        </p:tgtEl>
                                        <p:attrNameLst>
                                          <p:attrName>ppt_x</p:attrName>
                                        </p:attrNameLst>
                                      </p:cBhvr>
                                      <p:tavLst>
                                        <p:tav tm="0">
                                          <p:val>
                                            <p:strVal val="0-#ppt_w/2"/>
                                          </p:val>
                                        </p:tav>
                                        <p:tav tm="100000">
                                          <p:val>
                                            <p:strVal val="#ppt_x"/>
                                          </p:val>
                                        </p:tav>
                                      </p:tavLst>
                                    </p:anim>
                                    <p:anim calcmode="lin" valueType="num">
                                      <p:cBhvr additive="base">
                                        <p:cTn id="44" dur="500" fill="hold"/>
                                        <p:tgtEl>
                                          <p:spTgt spid="58"/>
                                        </p:tgtEl>
                                        <p:attrNameLst>
                                          <p:attrName>ppt_y</p:attrName>
                                        </p:attrNameLst>
                                      </p:cBhvr>
                                      <p:tavLst>
                                        <p:tav tm="0">
                                          <p:val>
                                            <p:strVal val="#ppt_y"/>
                                          </p:val>
                                        </p:tav>
                                        <p:tav tm="100000">
                                          <p:val>
                                            <p:strVal val="#ppt_y"/>
                                          </p:val>
                                        </p:tav>
                                      </p:tavLst>
                                    </p:anim>
                                  </p:childTnLst>
                                </p:cTn>
                              </p:par>
                              <p:par>
                                <p:cTn id="45" presetID="2" presetClass="entr" presetSubtype="2" fill="hold" nodeType="withEffect">
                                  <p:stCondLst>
                                    <p:cond delay="0"/>
                                  </p:stCondLst>
                                  <p:childTnLst>
                                    <p:set>
                                      <p:cBhvr>
                                        <p:cTn id="46" dur="1" fill="hold">
                                          <p:stCondLst>
                                            <p:cond delay="0"/>
                                          </p:stCondLst>
                                        </p:cTn>
                                        <p:tgtEl>
                                          <p:spTgt spid="73"/>
                                        </p:tgtEl>
                                        <p:attrNameLst>
                                          <p:attrName>style.visibility</p:attrName>
                                        </p:attrNameLst>
                                      </p:cBhvr>
                                      <p:to>
                                        <p:strVal val="visible"/>
                                      </p:to>
                                    </p:set>
                                    <p:anim calcmode="lin" valueType="num">
                                      <p:cBhvr additive="base">
                                        <p:cTn id="47" dur="500" fill="hold"/>
                                        <p:tgtEl>
                                          <p:spTgt spid="73"/>
                                        </p:tgtEl>
                                        <p:attrNameLst>
                                          <p:attrName>ppt_x</p:attrName>
                                        </p:attrNameLst>
                                      </p:cBhvr>
                                      <p:tavLst>
                                        <p:tav tm="0">
                                          <p:val>
                                            <p:strVal val="1+#ppt_w/2"/>
                                          </p:val>
                                        </p:tav>
                                        <p:tav tm="100000">
                                          <p:val>
                                            <p:strVal val="#ppt_x"/>
                                          </p:val>
                                        </p:tav>
                                      </p:tavLst>
                                    </p:anim>
                                    <p:anim calcmode="lin" valueType="num">
                                      <p:cBhvr additive="base">
                                        <p:cTn id="48" dur="500" fill="hold"/>
                                        <p:tgtEl>
                                          <p:spTgt spid="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47611" y="2835811"/>
            <a:ext cx="1627369" cy="1569660"/>
          </a:xfrm>
          <a:prstGeom prst="rect">
            <a:avLst/>
          </a:prstGeom>
          <a:noFill/>
        </p:spPr>
        <p:txBody>
          <a:bodyPr wrap="none" rtlCol="0">
            <a:spAutoFit/>
          </a:bodyPr>
          <a:lstStyle/>
          <a:p>
            <a:r>
              <a:rPr lang="en-US" altLang="zh-CN" sz="9600" dirty="0">
                <a:solidFill>
                  <a:schemeClr val="bg1"/>
                </a:solidFill>
                <a:latin typeface="Times New Roman" panose="02020503050405090304" charset="0"/>
                <a:ea typeface="Times New Roman" panose="02020503050405090304" charset="0"/>
                <a:cs typeface="Times New Roman" panose="02020503050405090304" charset="0"/>
              </a:rPr>
              <a:t>01</a:t>
            </a:r>
            <a:endParaRPr lang="zh-CN" altLang="en-US" sz="9600" dirty="0">
              <a:solidFill>
                <a:schemeClr val="bg1"/>
              </a:solidFill>
              <a:latin typeface="Times New Roman" panose="02020503050405090304" charset="0"/>
              <a:ea typeface="Times New Roman" panose="02020503050405090304" charset="0"/>
              <a:cs typeface="Times New Roman" panose="02020503050405090304" charset="0"/>
            </a:endParaRPr>
          </a:p>
        </p:txBody>
      </p:sp>
      <p:sp>
        <p:nvSpPr>
          <p:cNvPr id="3" name="文本框 2"/>
          <p:cNvSpPr txBox="1"/>
          <p:nvPr/>
        </p:nvSpPr>
        <p:spPr>
          <a:xfrm>
            <a:off x="4760257" y="3297475"/>
            <a:ext cx="2672080" cy="645160"/>
          </a:xfrm>
          <a:prstGeom prst="rect">
            <a:avLst/>
          </a:prstGeom>
          <a:noFill/>
        </p:spPr>
        <p:txBody>
          <a:bodyPr wrap="none" rtlCol="0">
            <a:spAutoFit/>
          </a:bodyPr>
          <a:lstStyle/>
          <a:p>
            <a:pPr algn="l"/>
            <a:r>
              <a:rPr lang="zh-CN" altLang="en-US" sz="3600" b="1" dirty="0">
                <a:solidFill>
                  <a:schemeClr val="tx1">
                    <a:lumMod val="75000"/>
                    <a:lumOff val="25000"/>
                  </a:schemeClr>
                </a:solidFill>
                <a:latin typeface="Times New Roman Bold" panose="02020503050405090304" charset="0"/>
                <a:ea typeface="Times New Roman" panose="02020503050405090304" charset="0"/>
                <a:cs typeface="Times New Roman Bold" panose="02020503050405090304" charset="0"/>
              </a:rPr>
              <a:t>Introduction</a:t>
            </a:r>
            <a:endParaRPr lang="zh-CN" altLang="en-US" sz="3600" b="1" dirty="0">
              <a:solidFill>
                <a:schemeClr val="tx1">
                  <a:lumMod val="75000"/>
                  <a:lumOff val="25000"/>
                </a:schemeClr>
              </a:solidFill>
              <a:latin typeface="Times New Roman Bold" panose="02020503050405090304" charset="0"/>
              <a:ea typeface="Times New Roman" panose="02020503050405090304" charset="0"/>
              <a:cs typeface="Times New Roman Bold" panose="0202050305040509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1" presetClass="entr" presetSubtype="0" fill="hold" grpId="0" nodeType="clickEffect">
                                  <p:stCondLst>
                                    <p:cond delay="0"/>
                                  </p:stCondLst>
                                  <p:iterate type="lt">
                                    <p:tmPct val="10000"/>
                                  </p:iterate>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3"/>
                                        </p:tgtEl>
                                        <p:attrNameLst>
                                          <p:attrName>ppt_y</p:attrName>
                                        </p:attrNameLst>
                                      </p:cBhvr>
                                      <p:tavLst>
                                        <p:tav tm="0">
                                          <p:val>
                                            <p:strVal val="#ppt_y"/>
                                          </p:val>
                                        </p:tav>
                                        <p:tav tm="100000">
                                          <p:val>
                                            <p:strVal val="#ppt_y"/>
                                          </p:val>
                                        </p:tav>
                                      </p:tavLst>
                                    </p:anim>
                                    <p:anim calcmode="lin" valueType="num">
                                      <p:cBhvr>
                                        <p:cTn id="14"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497820" cy="895985"/>
          </a:xfrm>
        </p:spPr>
        <p:txBody>
          <a:bodyPr/>
          <a:p>
            <a:r>
              <a:rPr lang="zh-CN" altLang="en-US"/>
              <a:t>Introduction</a:t>
            </a:r>
            <a:endParaRPr lang="zh-CN" altLang="en-US"/>
          </a:p>
        </p:txBody>
      </p:sp>
      <p:sp>
        <p:nvSpPr>
          <p:cNvPr id="4" name="文本占位符 3"/>
          <p:cNvSpPr>
            <a:spLocks noGrp="1"/>
          </p:cNvSpPr>
          <p:nvPr>
            <p:ph type="body" sz="half" idx="2"/>
          </p:nvPr>
        </p:nvSpPr>
        <p:spPr>
          <a:xfrm>
            <a:off x="840105" y="1555115"/>
            <a:ext cx="10498455" cy="4314190"/>
          </a:xfrm>
        </p:spPr>
        <p:txBody>
          <a:bodyPr>
            <a:normAutofit lnSpcReduction="10000"/>
          </a:bodyPr>
          <a:p>
            <a:pPr>
              <a:lnSpc>
                <a:spcPct val="130000"/>
              </a:lnSpc>
            </a:pPr>
            <a:r>
              <a:rPr lang="zh-CN" altLang="en-US" sz="2400"/>
              <a:t>Research Objective</a:t>
            </a:r>
            <a:endParaRPr lang="zh-CN" altLang="en-US" sz="2400"/>
          </a:p>
          <a:p>
            <a:pPr indent="609600" fontAlgn="auto">
              <a:lnSpc>
                <a:spcPct val="130000"/>
              </a:lnSpc>
              <a:extLst>
                <a:ext uri="{35155182-B16C-46BC-9424-99874614C6A1}">
                  <wpsdc:indentchars xmlns:wpsdc="http://www.wps.cn/officeDocument/2017/drawingmlCustomData" val="200" checksum="4158780845"/>
                </a:ext>
              </a:extLst>
            </a:pPr>
            <a:r>
              <a:rPr lang="en-US" altLang="zh-CN" sz="2400">
                <a:solidFill>
                  <a:schemeClr val="tx1"/>
                </a:solidFill>
              </a:rPr>
              <a:t>To disclose certain features of studies of literary translation based on linguistic theories, this thesis will analyze some phenomena in the translations, aiming to discover the essence and reasons for the translator’s decisions and choices, and revealing the underlying relations in the meaning-making process in the form of translation.</a:t>
            </a:r>
            <a:endParaRPr lang="en-US" altLang="zh-CN" sz="240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497820" cy="895985"/>
          </a:xfrm>
        </p:spPr>
        <p:txBody>
          <a:bodyPr/>
          <a:p>
            <a:r>
              <a:rPr lang="zh-CN" altLang="en-US"/>
              <a:t>Introduction</a:t>
            </a:r>
            <a:endParaRPr lang="zh-CN" altLang="en-US"/>
          </a:p>
        </p:txBody>
      </p:sp>
      <p:sp>
        <p:nvSpPr>
          <p:cNvPr id="4" name="文本占位符 3"/>
          <p:cNvSpPr>
            <a:spLocks noGrp="1"/>
          </p:cNvSpPr>
          <p:nvPr>
            <p:ph type="body" sz="half" idx="2"/>
          </p:nvPr>
        </p:nvSpPr>
        <p:spPr>
          <a:xfrm>
            <a:off x="840105" y="1555115"/>
            <a:ext cx="10498455" cy="4314190"/>
          </a:xfrm>
        </p:spPr>
        <p:txBody>
          <a:bodyPr/>
          <a:p>
            <a:pPr>
              <a:lnSpc>
                <a:spcPct val="100000"/>
              </a:lnSpc>
            </a:pPr>
            <a:r>
              <a:rPr lang="zh-CN" altLang="en-US" sz="2400"/>
              <a:t>Research Questions</a:t>
            </a:r>
            <a:endParaRPr lang="zh-CN" altLang="en-US" sz="2400"/>
          </a:p>
          <a:p>
            <a:pPr>
              <a:lnSpc>
                <a:spcPct val="100000"/>
              </a:lnSpc>
            </a:pPr>
            <a:r>
              <a:rPr lang="en-US" altLang="zh-CN" sz="2400">
                <a:solidFill>
                  <a:schemeClr val="tx1"/>
                </a:solidFill>
              </a:rPr>
              <a:t>This thesis aims to answer the following questions:</a:t>
            </a:r>
            <a:endParaRPr lang="en-US" altLang="zh-CN" sz="2400">
              <a:solidFill>
                <a:schemeClr val="tx1"/>
              </a:solidFill>
            </a:endParaRPr>
          </a:p>
          <a:p>
            <a:pPr>
              <a:lnSpc>
                <a:spcPct val="100000"/>
              </a:lnSpc>
            </a:pPr>
            <a:endParaRPr lang="en-US" altLang="zh-CN" sz="2400">
              <a:solidFill>
                <a:schemeClr val="tx1"/>
              </a:solidFill>
            </a:endParaRPr>
          </a:p>
          <a:p>
            <a:pPr>
              <a:lnSpc>
                <a:spcPct val="100000"/>
              </a:lnSpc>
            </a:pPr>
            <a:r>
              <a:rPr lang="en-US" altLang="zh-CN" sz="2400">
                <a:solidFill>
                  <a:schemeClr val="tx1"/>
                </a:solidFill>
              </a:rPr>
              <a:t>1. How does Xu Yuanchong re-instantiate the meaning potential of the ST in the TT?</a:t>
            </a:r>
            <a:endParaRPr lang="en-US" altLang="zh-CN" sz="2400">
              <a:solidFill>
                <a:schemeClr val="tx1"/>
              </a:solidFill>
            </a:endParaRPr>
          </a:p>
          <a:p>
            <a:pPr>
              <a:lnSpc>
                <a:spcPct val="100000"/>
              </a:lnSpc>
            </a:pPr>
            <a:r>
              <a:rPr lang="en-US" altLang="zh-CN" sz="2400">
                <a:solidFill>
                  <a:schemeClr val="tx1"/>
                </a:solidFill>
              </a:rPr>
              <a:t>2. What is the intertextual relation between the ST and TT in general? What are the reasons?</a:t>
            </a:r>
            <a:endParaRPr lang="en-US" altLang="zh-CN" sz="2400">
              <a:solidFill>
                <a:schemeClr val="tx1"/>
              </a:solidFill>
            </a:endParaRPr>
          </a:p>
          <a:p>
            <a:pPr>
              <a:lnSpc>
                <a:spcPct val="100000"/>
              </a:lnSpc>
            </a:pPr>
            <a:r>
              <a:rPr lang="en-US" altLang="zh-CN" sz="2400">
                <a:solidFill>
                  <a:schemeClr val="tx1"/>
                </a:solidFill>
              </a:rPr>
              <a:t>3. What is the text type of Xu Yuanchong’s translation of Wang Wei’s poems from the perspective of re-instantiation?</a:t>
            </a:r>
            <a:endParaRPr lang="en-US" altLang="zh-CN" sz="240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497820" cy="895985"/>
          </a:xfrm>
        </p:spPr>
        <p:txBody>
          <a:bodyPr/>
          <a:p>
            <a:r>
              <a:rPr lang="zh-CN" altLang="en-US"/>
              <a:t>Introduction</a:t>
            </a:r>
            <a:endParaRPr lang="zh-CN" altLang="en-US"/>
          </a:p>
        </p:txBody>
      </p:sp>
      <p:sp>
        <p:nvSpPr>
          <p:cNvPr id="4" name="文本占位符 3"/>
          <p:cNvSpPr>
            <a:spLocks noGrp="1"/>
          </p:cNvSpPr>
          <p:nvPr>
            <p:ph type="body" sz="half" idx="2"/>
          </p:nvPr>
        </p:nvSpPr>
        <p:spPr>
          <a:xfrm>
            <a:off x="840105" y="1555115"/>
            <a:ext cx="10498455" cy="4314190"/>
          </a:xfrm>
        </p:spPr>
        <p:txBody>
          <a:bodyPr/>
          <a:p>
            <a:pPr>
              <a:lnSpc>
                <a:spcPct val="100000"/>
              </a:lnSpc>
            </a:pPr>
            <a:r>
              <a:rPr lang="zh-CN" altLang="en-US" sz="2400"/>
              <a:t>Methodology and Data Collection</a:t>
            </a:r>
            <a:endParaRPr lang="zh-CN" altLang="en-US" sz="2400"/>
          </a:p>
          <a:p>
            <a:pPr>
              <a:lnSpc>
                <a:spcPct val="100000"/>
              </a:lnSpc>
            </a:pPr>
            <a:endParaRPr lang="en-US" altLang="zh-CN" sz="2400">
              <a:solidFill>
                <a:schemeClr val="tx1"/>
              </a:solidFill>
            </a:endParaRPr>
          </a:p>
          <a:p>
            <a:pPr>
              <a:lnSpc>
                <a:spcPct val="100000"/>
              </a:lnSpc>
            </a:pPr>
            <a:r>
              <a:rPr lang="en-US" altLang="zh-CN" sz="2400" b="1">
                <a:solidFill>
                  <a:schemeClr val="tx1"/>
                </a:solidFill>
                <a:latin typeface="Times New Roman Bold" panose="02020503050405090304" charset="0"/>
                <a:cs typeface="Times New Roman Bold" panose="02020503050405090304" charset="0"/>
              </a:rPr>
              <a:t>Quantitative tools</a:t>
            </a:r>
            <a:r>
              <a:rPr lang="en-US" altLang="zh-CN" sz="2400">
                <a:solidFill>
                  <a:schemeClr val="tx1"/>
                </a:solidFill>
              </a:rPr>
              <a:t>: Online aligner (Tmxmall), CLAWS web tagger, AntConc 4.3.0. </a:t>
            </a:r>
            <a:endParaRPr lang="en-US" altLang="zh-CN" sz="2400">
              <a:solidFill>
                <a:schemeClr val="tx1"/>
              </a:solidFill>
            </a:endParaRPr>
          </a:p>
          <a:p>
            <a:pPr>
              <a:lnSpc>
                <a:spcPct val="100000"/>
              </a:lnSpc>
            </a:pPr>
            <a:r>
              <a:rPr lang="en-US" altLang="zh-CN" sz="2400" b="1">
                <a:solidFill>
                  <a:schemeClr val="tx1"/>
                </a:solidFill>
                <a:latin typeface="Times New Roman Bold" panose="02020503050405090304" charset="0"/>
                <a:cs typeface="Times New Roman Bold" panose="02020503050405090304" charset="0"/>
              </a:rPr>
              <a:t>Quanlitative methods</a:t>
            </a:r>
            <a:r>
              <a:rPr lang="en-US" altLang="zh-CN" sz="2400">
                <a:solidFill>
                  <a:schemeClr val="tx1"/>
                </a:solidFill>
              </a:rPr>
              <a:t>: textual analysis &amp; induction</a:t>
            </a:r>
            <a:endParaRPr lang="en-US" altLang="zh-CN" sz="2400">
              <a:solidFill>
                <a:schemeClr val="tx1"/>
              </a:solidFill>
            </a:endParaRPr>
          </a:p>
          <a:p>
            <a:pPr>
              <a:lnSpc>
                <a:spcPct val="100000"/>
              </a:lnSpc>
            </a:pPr>
            <a:r>
              <a:rPr lang="en-US" altLang="zh-CN" sz="2400" b="1">
                <a:solidFill>
                  <a:schemeClr val="tx1"/>
                </a:solidFill>
                <a:latin typeface="Times New Roman Bold" panose="02020503050405090304" charset="0"/>
                <a:cs typeface="Times New Roman Bold" panose="02020503050405090304" charset="0"/>
              </a:rPr>
              <a:t>Corpus</a:t>
            </a:r>
            <a:r>
              <a:rPr lang="en-US" altLang="zh-CN" sz="2400">
                <a:solidFill>
                  <a:schemeClr val="tx1"/>
                </a:solidFill>
              </a:rPr>
              <a:t>: </a:t>
            </a:r>
            <a:r>
              <a:rPr lang="en-US" altLang="zh-CN" sz="2400" i="1">
                <a:solidFill>
                  <a:schemeClr val="tx1"/>
                </a:solidFill>
                <a:latin typeface="Times New Roman Italic" panose="02020503050405090304" charset="0"/>
                <a:cs typeface="Times New Roman Italic" panose="02020503050405090304" charset="0"/>
              </a:rPr>
              <a:t>Selected Poems of Wang Wei</a:t>
            </a:r>
            <a:r>
              <a:rPr lang="en-US" altLang="zh-CN" sz="2400">
                <a:solidFill>
                  <a:schemeClr val="tx1"/>
                </a:solidFill>
              </a:rPr>
              <a:t> (</a:t>
            </a:r>
            <a:r>
              <a:rPr lang="zh-CN" altLang="en-US" sz="2400">
                <a:solidFill>
                  <a:schemeClr val="tx1"/>
                </a:solidFill>
              </a:rPr>
              <a:t>许渊冲，</a:t>
            </a:r>
            <a:r>
              <a:rPr lang="en-US" altLang="zh-CN" sz="2400">
                <a:solidFill>
                  <a:schemeClr val="tx1"/>
                </a:solidFill>
              </a:rPr>
              <a:t>2021)</a:t>
            </a:r>
            <a:endParaRPr lang="en-US" altLang="zh-CN" sz="2400">
              <a:solidFill>
                <a:schemeClr val="tx1"/>
              </a:solidFill>
            </a:endParaRPr>
          </a:p>
          <a:p>
            <a:pPr>
              <a:lnSpc>
                <a:spcPct val="100000"/>
              </a:lnSpc>
            </a:pPr>
            <a:r>
              <a:rPr lang="en-US" altLang="zh-CN" sz="2400" b="1">
                <a:solidFill>
                  <a:schemeClr val="tx1"/>
                </a:solidFill>
                <a:latin typeface="Times New Roman Bold" panose="02020503050405090304" charset="0"/>
                <a:cs typeface="Times New Roman Bold" panose="02020503050405090304" charset="0"/>
              </a:rPr>
              <a:t>Research Design</a:t>
            </a:r>
            <a:r>
              <a:rPr lang="en-US" altLang="zh-CN" sz="2400">
                <a:solidFill>
                  <a:schemeClr val="tx1"/>
                </a:solidFill>
              </a:rPr>
              <a:t>: based on Wang’s (</a:t>
            </a:r>
            <a:r>
              <a:rPr lang="zh-CN" altLang="en-US" sz="2400">
                <a:solidFill>
                  <a:schemeClr val="tx1"/>
                </a:solidFill>
              </a:rPr>
              <a:t>王汐，</a:t>
            </a:r>
            <a:r>
              <a:rPr lang="en-US" altLang="zh-CN" sz="2400">
                <a:solidFill>
                  <a:schemeClr val="tx1"/>
                </a:solidFill>
              </a:rPr>
              <a:t>2016) framework</a:t>
            </a:r>
            <a:endParaRPr lang="en-US" altLang="zh-CN" sz="240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497820" cy="895985"/>
          </a:xfrm>
        </p:spPr>
        <p:txBody>
          <a:bodyPr/>
          <a:p>
            <a:r>
              <a:rPr lang="zh-CN" altLang="en-US"/>
              <a:t>Introduction</a:t>
            </a:r>
            <a:endParaRPr lang="zh-CN" altLang="en-US"/>
          </a:p>
        </p:txBody>
      </p:sp>
      <p:sp>
        <p:nvSpPr>
          <p:cNvPr id="4" name="文本占位符 3"/>
          <p:cNvSpPr>
            <a:spLocks noGrp="1"/>
          </p:cNvSpPr>
          <p:nvPr>
            <p:ph type="body" sz="half" idx="2"/>
          </p:nvPr>
        </p:nvSpPr>
        <p:spPr>
          <a:xfrm>
            <a:off x="840105" y="1555115"/>
            <a:ext cx="10498455" cy="4314190"/>
          </a:xfrm>
        </p:spPr>
        <p:txBody>
          <a:bodyPr>
            <a:normAutofit lnSpcReduction="10000"/>
          </a:bodyPr>
          <a:p>
            <a:pPr>
              <a:lnSpc>
                <a:spcPct val="110000"/>
              </a:lnSpc>
            </a:pPr>
            <a:r>
              <a:rPr lang="zh-CN" altLang="en-US" sz="2400"/>
              <a:t>Organization of the Thesis</a:t>
            </a:r>
            <a:endParaRPr lang="zh-CN" altLang="en-US" sz="2400"/>
          </a:p>
          <a:p>
            <a:pPr>
              <a:lnSpc>
                <a:spcPct val="110000"/>
              </a:lnSpc>
            </a:pPr>
            <a:endParaRPr lang="zh-CN" altLang="en-US" sz="2400"/>
          </a:p>
          <a:p>
            <a:pPr>
              <a:lnSpc>
                <a:spcPct val="110000"/>
              </a:lnSpc>
            </a:pPr>
            <a:r>
              <a:rPr sz="2400" b="1">
                <a:solidFill>
                  <a:schemeClr val="tx1"/>
                </a:solidFill>
                <a:latin typeface="Times New Roman Bold" panose="02020503050405090304" charset="0"/>
                <a:cs typeface="Times New Roman Bold" panose="02020503050405090304" charset="0"/>
              </a:rPr>
              <a:t>Chapter One</a:t>
            </a:r>
            <a:r>
              <a:rPr lang="en-US" sz="2400">
                <a:solidFill>
                  <a:schemeClr val="tx1"/>
                </a:solidFill>
              </a:rPr>
              <a:t>: A</a:t>
            </a:r>
            <a:r>
              <a:rPr sz="2400">
                <a:solidFill>
                  <a:schemeClr val="tx1"/>
                </a:solidFill>
              </a:rPr>
              <a:t>n overall introduction to the whole thesis</a:t>
            </a:r>
            <a:r>
              <a:rPr lang="en-US" sz="2400">
                <a:solidFill>
                  <a:schemeClr val="tx1"/>
                </a:solidFill>
              </a:rPr>
              <a:t>.</a:t>
            </a:r>
            <a:endParaRPr sz="2400">
              <a:solidFill>
                <a:schemeClr val="tx1"/>
              </a:solidFill>
            </a:endParaRPr>
          </a:p>
          <a:p>
            <a:pPr>
              <a:lnSpc>
                <a:spcPct val="110000"/>
              </a:lnSpc>
            </a:pPr>
            <a:r>
              <a:rPr sz="2400" b="1">
                <a:solidFill>
                  <a:schemeClr val="tx1"/>
                </a:solidFill>
                <a:latin typeface="Times New Roman Bold" panose="02020503050405090304" charset="0"/>
                <a:cs typeface="Times New Roman Bold" panose="02020503050405090304" charset="0"/>
              </a:rPr>
              <a:t>Chapter Two</a:t>
            </a:r>
            <a:r>
              <a:rPr lang="en-US" sz="2400">
                <a:solidFill>
                  <a:schemeClr val="tx1"/>
                </a:solidFill>
              </a:rPr>
              <a:t>: L</a:t>
            </a:r>
            <a:r>
              <a:rPr sz="2400">
                <a:solidFill>
                  <a:schemeClr val="tx1"/>
                </a:solidFill>
              </a:rPr>
              <a:t>iterature review</a:t>
            </a:r>
            <a:r>
              <a:rPr lang="en-US" sz="2400">
                <a:solidFill>
                  <a:schemeClr val="tx1"/>
                </a:solidFill>
              </a:rPr>
              <a:t> of p</a:t>
            </a:r>
            <a:r>
              <a:rPr sz="2400">
                <a:solidFill>
                  <a:schemeClr val="tx1"/>
                </a:solidFill>
              </a:rPr>
              <a:t>revious studies on the </a:t>
            </a:r>
            <a:r>
              <a:rPr lang="en-US" sz="2400">
                <a:solidFill>
                  <a:schemeClr val="tx1"/>
                </a:solidFill>
              </a:rPr>
              <a:t>English </a:t>
            </a:r>
            <a:r>
              <a:rPr sz="2400">
                <a:solidFill>
                  <a:schemeClr val="tx1"/>
                </a:solidFill>
              </a:rPr>
              <a:t>translations of Wang Wei’s p</a:t>
            </a:r>
            <a:r>
              <a:rPr lang="en-US" sz="2400">
                <a:solidFill>
                  <a:schemeClr val="tx1"/>
                </a:solidFill>
              </a:rPr>
              <a:t>oems as well English translations at home and abroad.</a:t>
            </a:r>
            <a:endParaRPr sz="2400">
              <a:solidFill>
                <a:schemeClr val="tx1"/>
              </a:solidFill>
            </a:endParaRPr>
          </a:p>
          <a:p>
            <a:pPr>
              <a:lnSpc>
                <a:spcPct val="110000"/>
              </a:lnSpc>
            </a:pPr>
            <a:r>
              <a:rPr sz="2400" b="1">
                <a:solidFill>
                  <a:schemeClr val="tx1"/>
                </a:solidFill>
                <a:latin typeface="Times New Roman Bold" panose="02020503050405090304" charset="0"/>
                <a:cs typeface="Times New Roman Bold" panose="02020503050405090304" charset="0"/>
              </a:rPr>
              <a:t>Chapter Three</a:t>
            </a:r>
            <a:r>
              <a:rPr lang="en-US" sz="2400">
                <a:solidFill>
                  <a:schemeClr val="tx1"/>
                </a:solidFill>
              </a:rPr>
              <a:t>: D</a:t>
            </a:r>
            <a:r>
              <a:rPr sz="2400">
                <a:solidFill>
                  <a:schemeClr val="tx1"/>
                </a:solidFill>
              </a:rPr>
              <a:t>emonstration of the theoretical basis and the analytical framework. </a:t>
            </a:r>
            <a:endParaRPr sz="2400">
              <a:solidFill>
                <a:schemeClr val="tx1"/>
              </a:solidFill>
            </a:endParaRPr>
          </a:p>
          <a:p>
            <a:pPr>
              <a:lnSpc>
                <a:spcPct val="110000"/>
              </a:lnSpc>
            </a:pPr>
            <a:r>
              <a:rPr sz="2400" b="1">
                <a:solidFill>
                  <a:schemeClr val="tx1"/>
                </a:solidFill>
                <a:latin typeface="Times New Roman Bold" panose="02020503050405090304" charset="0"/>
                <a:cs typeface="Times New Roman Bold" panose="02020503050405090304" charset="0"/>
              </a:rPr>
              <a:t>Chapter Four</a:t>
            </a:r>
            <a:r>
              <a:rPr lang="en-US" sz="2400">
                <a:solidFill>
                  <a:schemeClr val="tx1"/>
                </a:solidFill>
              </a:rPr>
              <a:t>: A</a:t>
            </a:r>
            <a:r>
              <a:rPr sz="2400">
                <a:solidFill>
                  <a:schemeClr val="tx1"/>
                </a:solidFill>
              </a:rPr>
              <a:t>nalysis of </a:t>
            </a:r>
            <a:r>
              <a:rPr lang="en-US" sz="2400">
                <a:solidFill>
                  <a:schemeClr val="tx1"/>
                </a:solidFill>
              </a:rPr>
              <a:t>Xu’s English </a:t>
            </a:r>
            <a:r>
              <a:rPr sz="2400">
                <a:solidFill>
                  <a:schemeClr val="tx1"/>
                </a:solidFill>
              </a:rPr>
              <a:t>translation</a:t>
            </a:r>
            <a:endParaRPr sz="2400">
              <a:solidFill>
                <a:schemeClr val="tx1"/>
              </a:solidFill>
            </a:endParaRPr>
          </a:p>
          <a:p>
            <a:pPr>
              <a:lnSpc>
                <a:spcPct val="110000"/>
              </a:lnSpc>
            </a:pPr>
            <a:r>
              <a:rPr sz="2400" b="1">
                <a:solidFill>
                  <a:schemeClr val="tx1"/>
                </a:solidFill>
                <a:latin typeface="Times New Roman Bold" panose="02020503050405090304" charset="0"/>
                <a:cs typeface="Times New Roman Bold" panose="02020503050405090304" charset="0"/>
              </a:rPr>
              <a:t>Chapter Five</a:t>
            </a:r>
            <a:r>
              <a:rPr lang="en-US" sz="2400">
                <a:solidFill>
                  <a:schemeClr val="tx1"/>
                </a:solidFill>
              </a:rPr>
              <a:t>: C</a:t>
            </a:r>
            <a:r>
              <a:rPr sz="2400">
                <a:solidFill>
                  <a:schemeClr val="tx1"/>
                </a:solidFill>
              </a:rPr>
              <a:t>onclusions</a:t>
            </a:r>
            <a:r>
              <a:rPr lang="en-US" sz="2400">
                <a:solidFill>
                  <a:schemeClr val="tx1"/>
                </a:solidFill>
              </a:rPr>
              <a:t>,</a:t>
            </a:r>
            <a:r>
              <a:rPr sz="2400">
                <a:solidFill>
                  <a:schemeClr val="tx1"/>
                </a:solidFill>
              </a:rPr>
              <a:t> limitations and implications</a:t>
            </a:r>
            <a:endParaRPr sz="240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47611" y="2835811"/>
            <a:ext cx="1402080" cy="1568450"/>
          </a:xfrm>
          <a:prstGeom prst="rect">
            <a:avLst/>
          </a:prstGeom>
          <a:noFill/>
        </p:spPr>
        <p:txBody>
          <a:bodyPr wrap="none" rtlCol="0">
            <a:spAutoFit/>
          </a:bodyPr>
          <a:lstStyle/>
          <a:p>
            <a:r>
              <a:rPr lang="en-US" altLang="zh-CN" sz="9600" dirty="0">
                <a:solidFill>
                  <a:schemeClr val="bg1"/>
                </a:solidFill>
                <a:latin typeface="Times New Roman" panose="02020503050405090304" charset="0"/>
                <a:ea typeface="Times New Roman" panose="02020503050405090304" charset="0"/>
                <a:cs typeface="Times New Roman" panose="02020503050405090304" charset="0"/>
              </a:rPr>
              <a:t>02</a:t>
            </a:r>
            <a:endParaRPr lang="zh-CN" altLang="en-US" sz="9600" dirty="0">
              <a:solidFill>
                <a:schemeClr val="bg1"/>
              </a:solidFill>
              <a:latin typeface="Times New Roman" panose="02020503050405090304" charset="0"/>
              <a:ea typeface="Times New Roman" panose="02020503050405090304" charset="0"/>
              <a:cs typeface="Times New Roman" panose="02020503050405090304" charset="0"/>
            </a:endParaRPr>
          </a:p>
        </p:txBody>
      </p:sp>
      <p:sp>
        <p:nvSpPr>
          <p:cNvPr id="3" name="文本框 2"/>
          <p:cNvSpPr txBox="1"/>
          <p:nvPr/>
        </p:nvSpPr>
        <p:spPr>
          <a:xfrm>
            <a:off x="4220507" y="3297475"/>
            <a:ext cx="3751580" cy="645160"/>
          </a:xfrm>
          <a:prstGeom prst="rect">
            <a:avLst/>
          </a:prstGeom>
          <a:noFill/>
        </p:spPr>
        <p:txBody>
          <a:bodyPr wrap="none" rtlCol="0">
            <a:spAutoFit/>
          </a:bodyPr>
          <a:lstStyle/>
          <a:p>
            <a:pPr algn="l"/>
            <a:r>
              <a:rPr lang="en-US" altLang="en-GB" sz="3600" b="1" dirty="0">
                <a:solidFill>
                  <a:schemeClr val="tx1">
                    <a:lumMod val="75000"/>
                    <a:lumOff val="25000"/>
                  </a:schemeClr>
                </a:solidFill>
                <a:latin typeface="Times New Roman" panose="02020503050405090304" charset="0"/>
                <a:ea typeface="Times New Roman" panose="02020503050405090304" charset="0"/>
                <a:cs typeface="Times New Roman" panose="02020503050405090304" charset="0"/>
                <a:sym typeface="+mn-ea"/>
              </a:rPr>
              <a:t>Literature Review</a:t>
            </a:r>
            <a:endParaRPr lang="zh-CN" altLang="en-US" sz="3600" dirty="0">
              <a:solidFill>
                <a:schemeClr val="tx1">
                  <a:lumMod val="75000"/>
                  <a:lumOff val="25000"/>
                </a:schemeClr>
              </a:solidFill>
              <a:latin typeface="Times New Roman" panose="02020503050405090304" charset="0"/>
              <a:ea typeface="Times New Roman" panose="02020503050405090304" charset="0"/>
              <a:cs typeface="Times New Roman" panose="0202050305040509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1" presetClass="entr" presetSubtype="0" fill="hold" grpId="0" nodeType="clickEffect">
                                  <p:stCondLst>
                                    <p:cond delay="0"/>
                                  </p:stCondLst>
                                  <p:iterate type="lt">
                                    <p:tmPct val="10000"/>
                                  </p:iterate>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3"/>
                                        </p:tgtEl>
                                        <p:attrNameLst>
                                          <p:attrName>ppt_y</p:attrName>
                                        </p:attrNameLst>
                                      </p:cBhvr>
                                      <p:tavLst>
                                        <p:tav tm="0">
                                          <p:val>
                                            <p:strVal val="#ppt_y"/>
                                          </p:val>
                                        </p:tav>
                                        <p:tav tm="100000">
                                          <p:val>
                                            <p:strVal val="#ppt_y"/>
                                          </p:val>
                                        </p:tav>
                                      </p:tavLst>
                                    </p:anim>
                                    <p:anim calcmode="lin" valueType="num">
                                      <p:cBhvr>
                                        <p:cTn id="14"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497820" cy="895985"/>
          </a:xfrm>
        </p:spPr>
        <p:txBody>
          <a:bodyPr/>
          <a:p>
            <a:r>
              <a:rPr lang="zh-CN" altLang="en-US"/>
              <a:t>Literature Review</a:t>
            </a:r>
            <a:endParaRPr lang="zh-CN" altLang="en-US"/>
          </a:p>
        </p:txBody>
      </p:sp>
      <p:sp>
        <p:nvSpPr>
          <p:cNvPr id="4" name="文本占位符 3"/>
          <p:cNvSpPr>
            <a:spLocks noGrp="1"/>
          </p:cNvSpPr>
          <p:nvPr>
            <p:ph type="body" sz="half" idx="2"/>
          </p:nvPr>
        </p:nvSpPr>
        <p:spPr>
          <a:xfrm>
            <a:off x="840105" y="2329180"/>
            <a:ext cx="10630535" cy="3453130"/>
          </a:xfrm>
        </p:spPr>
        <p:txBody>
          <a:bodyPr>
            <a:normAutofit/>
          </a:bodyPr>
          <a:p>
            <a:pPr marL="342900" indent="-342900">
              <a:lnSpc>
                <a:spcPct val="120000"/>
              </a:lnSpc>
              <a:buFont typeface="Arial" panose="020B0604020202090204" pitchFamily="34" charset="0"/>
              <a:buChar char="•"/>
            </a:pPr>
            <a:r>
              <a:rPr sz="2400">
                <a:solidFill>
                  <a:schemeClr val="tx1"/>
                </a:solidFill>
              </a:rPr>
              <a:t>Studies from the Perspective of </a:t>
            </a:r>
            <a:r>
              <a:rPr sz="2400" b="1">
                <a:solidFill>
                  <a:schemeClr val="tx1"/>
                </a:solidFill>
                <a:latin typeface="Times New Roman Bold" panose="02020503050405090304" charset="0"/>
                <a:cs typeface="Times New Roman Bold" panose="02020503050405090304" charset="0"/>
              </a:rPr>
              <a:t>Aesthetics</a:t>
            </a:r>
            <a:r>
              <a:rPr lang="en-US" sz="2400">
                <a:solidFill>
                  <a:schemeClr val="tx1"/>
                </a:solidFill>
              </a:rPr>
              <a:t>: </a:t>
            </a:r>
            <a:r>
              <a:rPr sz="2400">
                <a:solidFill>
                  <a:schemeClr val="tx1"/>
                </a:solidFill>
              </a:rPr>
              <a:t>Reception Theory</a:t>
            </a:r>
            <a:r>
              <a:rPr lang="en-US" sz="2400">
                <a:solidFill>
                  <a:schemeClr val="tx1"/>
                </a:solidFill>
              </a:rPr>
              <a:t> (伍小君, 2007); Chan aesthetics and translation aesthetics (舒文譞: 2017); Somaesthetics</a:t>
            </a:r>
            <a:r>
              <a:rPr lang="zh-CN" altLang="en-US" sz="2400">
                <a:solidFill>
                  <a:schemeClr val="tx1"/>
                </a:solidFill>
              </a:rPr>
              <a:t>（身体美学）</a:t>
            </a:r>
            <a:r>
              <a:rPr lang="en-US" altLang="zh-CN" sz="2400">
                <a:solidFill>
                  <a:schemeClr val="tx1"/>
                </a:solidFill>
              </a:rPr>
              <a:t>(李庆本, 2015); aesthetic stimulus-response and subjective intervention (</a:t>
            </a:r>
            <a:r>
              <a:rPr lang="zh-CN" altLang="en-US" sz="2400">
                <a:solidFill>
                  <a:schemeClr val="tx1"/>
                </a:solidFill>
              </a:rPr>
              <a:t>贾玉嘉、刘华文，</a:t>
            </a:r>
            <a:r>
              <a:rPr lang="en-US" altLang="zh-CN" sz="2400">
                <a:solidFill>
                  <a:schemeClr val="tx1"/>
                </a:solidFill>
              </a:rPr>
              <a:t>2022</a:t>
            </a:r>
            <a:r>
              <a:rPr lang="en-US" altLang="zh-CN" sz="2400">
                <a:solidFill>
                  <a:schemeClr val="tx1"/>
                </a:solidFill>
              </a:rPr>
              <a:t>)</a:t>
            </a:r>
            <a:endParaRPr lang="en-US" altLang="zh-CN" sz="2400">
              <a:solidFill>
                <a:schemeClr val="tx1"/>
              </a:solidFill>
            </a:endParaRPr>
          </a:p>
          <a:p>
            <a:pPr marL="342900" indent="-342900">
              <a:lnSpc>
                <a:spcPct val="120000"/>
              </a:lnSpc>
              <a:buFont typeface="Arial" panose="020B0604020202090204" pitchFamily="34" charset="0"/>
              <a:buChar char="•"/>
            </a:pPr>
            <a:r>
              <a:rPr sz="2400">
                <a:solidFill>
                  <a:schemeClr val="tx1"/>
                </a:solidFill>
                <a:sym typeface="+mn-ea"/>
              </a:rPr>
              <a:t>Studies from the Perspective of </a:t>
            </a:r>
            <a:r>
              <a:rPr sz="2400" b="1">
                <a:solidFill>
                  <a:schemeClr val="tx1"/>
                </a:solidFill>
                <a:latin typeface="Times New Roman Bold" panose="02020503050405090304" charset="0"/>
                <a:cs typeface="Times New Roman Bold" panose="02020503050405090304" charset="0"/>
                <a:sym typeface="+mn-ea"/>
              </a:rPr>
              <a:t>Linguistics</a:t>
            </a:r>
            <a:r>
              <a:rPr lang="en-US" sz="2400">
                <a:solidFill>
                  <a:schemeClr val="tx1"/>
                </a:solidFill>
                <a:sym typeface="+mn-ea"/>
              </a:rPr>
              <a:t>: Cognitive Linguistics (蓝纯，2011; 林晶, 2017); </a:t>
            </a:r>
            <a:r>
              <a:rPr lang="zh-CN" altLang="en-US" sz="2400">
                <a:solidFill>
                  <a:schemeClr val="tx1"/>
                </a:solidFill>
                <a:sym typeface="+mn-ea"/>
              </a:rPr>
              <a:t>Embodied-Cognitive Linguistics</a:t>
            </a:r>
            <a:r>
              <a:rPr lang="en-US" altLang="zh-CN" sz="2400">
                <a:solidFill>
                  <a:schemeClr val="tx1"/>
                </a:solidFill>
                <a:sym typeface="+mn-ea"/>
              </a:rPr>
              <a:t> (杨运杰, 2021); Palmer’s Cultural Linguistics (张爽, 2008; 文婧, 2013); Transitivity analyses (SFL) (胡媛，2021)</a:t>
            </a:r>
            <a:endParaRPr lang="en-US" altLang="zh-CN" sz="2400">
              <a:solidFill>
                <a:schemeClr val="tx1"/>
              </a:solidFill>
            </a:endParaRPr>
          </a:p>
          <a:p>
            <a:pPr marL="342900" indent="-342900">
              <a:lnSpc>
                <a:spcPct val="120000"/>
              </a:lnSpc>
              <a:buFont typeface="Arial" panose="020B0604020202090204" pitchFamily="34" charset="0"/>
              <a:buChar char="•"/>
            </a:pPr>
            <a:endParaRPr lang="en-US" altLang="zh-CN" sz="2400">
              <a:solidFill>
                <a:schemeClr val="tx1"/>
              </a:solidFill>
            </a:endParaRPr>
          </a:p>
        </p:txBody>
      </p:sp>
      <p:sp>
        <p:nvSpPr>
          <p:cNvPr id="3" name="文本占位符 3"/>
          <p:cNvSpPr>
            <a:spLocks noGrp="1"/>
          </p:cNvSpPr>
          <p:nvPr>
            <p:custDataLst>
              <p:tags r:id="rId1"/>
            </p:custDataLst>
          </p:nvPr>
        </p:nvSpPr>
        <p:spPr>
          <a:xfrm>
            <a:off x="840105" y="3855085"/>
            <a:ext cx="10629900" cy="152590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1600" kern="1200">
                <a:solidFill>
                  <a:schemeClr val="accent1">
                    <a:lumMod val="50000"/>
                  </a:schemeClr>
                </a:solidFill>
                <a:latin typeface="Times New Roman Regular" panose="02020503050405090304" charset="0"/>
                <a:ea typeface="+mn-ea"/>
                <a:cs typeface="Times New Roman" panose="02020503050405090304" charset="0"/>
              </a:defRPr>
            </a:lvl1pPr>
            <a:lvl2pPr marL="4572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Times New Roman Regular" panose="02020503050405090304" charset="0"/>
                <a:ea typeface="+mn-ea"/>
                <a:cs typeface="Times New Roman" panose="02020503050405090304" charset="0"/>
              </a:defRPr>
            </a:lvl2pPr>
            <a:lvl3pPr marL="9144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Times New Roman Regular" panose="02020503050405090304" charset="0"/>
                <a:ea typeface="+mn-ea"/>
                <a:cs typeface="Times New Roman" panose="02020503050405090304" charset="0"/>
              </a:defRPr>
            </a:lvl3pPr>
            <a:lvl4pPr marL="1371600" indent="0" algn="l" defTabSz="914400" rtl="0" eaLnBrk="1" latinLnBrk="0" hangingPunct="1">
              <a:lnSpc>
                <a:spcPct val="90000"/>
              </a:lnSpc>
              <a:spcBef>
                <a:spcPts val="500"/>
              </a:spcBef>
              <a:buFont typeface="Arial" panose="020B0604020202090204" pitchFamily="34" charset="0"/>
              <a:buNone/>
              <a:defRPr sz="1000" kern="1200">
                <a:solidFill>
                  <a:schemeClr val="tx1"/>
                </a:solidFill>
                <a:latin typeface="Times New Roman Regular" panose="02020503050405090304" charset="0"/>
                <a:ea typeface="+mn-ea"/>
                <a:cs typeface="Times New Roman" panose="02020503050405090304" charset="0"/>
              </a:defRPr>
            </a:lvl4pPr>
            <a:lvl5pPr marL="1828800" indent="0" algn="l" defTabSz="914400" rtl="0" eaLnBrk="1" latinLnBrk="0" hangingPunct="1">
              <a:lnSpc>
                <a:spcPct val="90000"/>
              </a:lnSpc>
              <a:spcBef>
                <a:spcPts val="500"/>
              </a:spcBef>
              <a:buFont typeface="Arial" panose="020B0604020202090204" pitchFamily="34" charset="0"/>
              <a:buNone/>
              <a:defRPr sz="1000" kern="1200">
                <a:solidFill>
                  <a:schemeClr val="tx1"/>
                </a:solidFill>
                <a:latin typeface="Times New Roman Regular" panose="02020503050405090304" charset="0"/>
                <a:ea typeface="+mn-ea"/>
                <a:cs typeface="Times New Roman" panose="02020503050405090304" charset="0"/>
              </a:defRPr>
            </a:lvl5pPr>
            <a:lvl6pPr marL="2286000" indent="0" algn="l" defTabSz="914400" rtl="0" eaLnBrk="1" latinLnBrk="0" hangingPunct="1">
              <a:lnSpc>
                <a:spcPct val="90000"/>
              </a:lnSpc>
              <a:spcBef>
                <a:spcPts val="500"/>
              </a:spcBef>
              <a:buFont typeface="Arial" panose="020B060402020209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9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9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90204" pitchFamily="34" charset="0"/>
              <a:buNone/>
              <a:defRPr sz="1000" kern="1200">
                <a:solidFill>
                  <a:schemeClr val="tx1"/>
                </a:solidFill>
                <a:latin typeface="+mn-lt"/>
                <a:ea typeface="+mn-ea"/>
                <a:cs typeface="+mn-cs"/>
              </a:defRPr>
            </a:lvl9pPr>
          </a:lstStyle>
          <a:p>
            <a:pPr>
              <a:lnSpc>
                <a:spcPct val="120000"/>
              </a:lnSpc>
            </a:pPr>
            <a:endParaRPr lang="en-US" altLang="zh-CN" sz="2400">
              <a:solidFill>
                <a:schemeClr val="tx1"/>
              </a:solidFill>
            </a:endParaRPr>
          </a:p>
        </p:txBody>
      </p:sp>
      <p:sp>
        <p:nvSpPr>
          <p:cNvPr id="5" name="文本框 4"/>
          <p:cNvSpPr txBox="1"/>
          <p:nvPr/>
        </p:nvSpPr>
        <p:spPr>
          <a:xfrm>
            <a:off x="840740" y="1568450"/>
            <a:ext cx="10056495" cy="460375"/>
          </a:xfrm>
          <a:prstGeom prst="rect">
            <a:avLst/>
          </a:prstGeom>
          <a:noFill/>
        </p:spPr>
        <p:txBody>
          <a:bodyPr wrap="square" rtlCol="0">
            <a:spAutoFit/>
          </a:bodyPr>
          <a:p>
            <a:pPr algn="l">
              <a:spcBef>
                <a:spcPts val="1000"/>
              </a:spcBef>
              <a:buFont typeface="Arial" panose="020B0604020202090204" pitchFamily="34" charset="0"/>
            </a:pPr>
            <a:r>
              <a:rPr lang="zh-CN" altLang="en-US" sz="2400">
                <a:solidFill>
                  <a:schemeClr val="accent1">
                    <a:lumMod val="50000"/>
                  </a:schemeClr>
                </a:solidFill>
                <a:latin typeface="Times New Roman Regular" panose="02020503050405090304" charset="0"/>
                <a:cs typeface="Times New Roman" panose="02020503050405090304" charset="0"/>
                <a:sym typeface="+mn-ea"/>
              </a:rPr>
              <a:t>Previous Studies on Translations of Wang Wei</a:t>
            </a:r>
            <a:r>
              <a:rPr lang="en-US" altLang="zh-CN" sz="2400">
                <a:solidFill>
                  <a:schemeClr val="accent1">
                    <a:lumMod val="50000"/>
                  </a:schemeClr>
                </a:solidFill>
                <a:latin typeface="Times New Roman Regular" panose="02020503050405090304" charset="0"/>
                <a:cs typeface="Times New Roman" panose="02020503050405090304" charset="0"/>
                <a:sym typeface="+mn-ea"/>
              </a:rPr>
              <a:t>’</a:t>
            </a:r>
            <a:r>
              <a:rPr lang="zh-CN" altLang="en-US" sz="2400">
                <a:solidFill>
                  <a:schemeClr val="accent1">
                    <a:lumMod val="50000"/>
                  </a:schemeClr>
                </a:solidFill>
                <a:latin typeface="Times New Roman Regular" panose="02020503050405090304" charset="0"/>
                <a:cs typeface="Times New Roman" panose="02020503050405090304" charset="0"/>
                <a:sym typeface="+mn-ea"/>
              </a:rPr>
              <a:t>s Poems</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497820" cy="895985"/>
          </a:xfrm>
        </p:spPr>
        <p:txBody>
          <a:bodyPr/>
          <a:p>
            <a:r>
              <a:rPr lang="zh-CN" altLang="en-US"/>
              <a:t>Literature Review</a:t>
            </a:r>
            <a:endParaRPr lang="zh-CN" altLang="en-US"/>
          </a:p>
        </p:txBody>
      </p:sp>
      <p:sp>
        <p:nvSpPr>
          <p:cNvPr id="4" name="文本占位符 3"/>
          <p:cNvSpPr>
            <a:spLocks noGrp="1"/>
          </p:cNvSpPr>
          <p:nvPr>
            <p:ph type="body" sz="half" idx="2"/>
          </p:nvPr>
        </p:nvSpPr>
        <p:spPr>
          <a:xfrm>
            <a:off x="826770" y="2217420"/>
            <a:ext cx="10497820" cy="3769995"/>
          </a:xfrm>
        </p:spPr>
        <p:txBody>
          <a:bodyPr>
            <a:normAutofit fontScale="90000"/>
          </a:bodyPr>
          <a:p>
            <a:pPr marL="342900" indent="-342900">
              <a:lnSpc>
                <a:spcPct val="130000"/>
              </a:lnSpc>
              <a:buFont typeface="Arial" panose="020B0604020202090204" pitchFamily="34" charset="0"/>
              <a:buChar char="•"/>
            </a:pPr>
            <a:r>
              <a:rPr sz="2400">
                <a:solidFill>
                  <a:schemeClr val="tx1"/>
                </a:solidFill>
              </a:rPr>
              <a:t>Studies from the Perspective of </a:t>
            </a:r>
            <a:r>
              <a:rPr sz="2400" b="1">
                <a:solidFill>
                  <a:schemeClr val="tx1"/>
                </a:solidFill>
                <a:latin typeface="Times New Roman Bold" panose="02020503050405090304" charset="0"/>
                <a:cs typeface="Times New Roman Bold" panose="02020503050405090304" charset="0"/>
              </a:rPr>
              <a:t>Philosophy</a:t>
            </a:r>
            <a:r>
              <a:rPr lang="en-US" sz="2400">
                <a:solidFill>
                  <a:schemeClr val="tx1"/>
                </a:solidFill>
              </a:rPr>
              <a:t>: Mixed perspectives (Poetics, Deep Ecology, Taoism and Chan) (</a:t>
            </a:r>
            <a:r>
              <a:rPr lang="zh-CN" altLang="en-US" sz="2400">
                <a:solidFill>
                  <a:schemeClr val="tx1"/>
                </a:solidFill>
              </a:rPr>
              <a:t>陈琳、曹培会，</a:t>
            </a:r>
            <a:r>
              <a:rPr lang="en-US" altLang="zh-CN" sz="2400">
                <a:solidFill>
                  <a:schemeClr val="tx1"/>
                </a:solidFill>
              </a:rPr>
              <a:t>2016</a:t>
            </a:r>
            <a:r>
              <a:rPr lang="en-US" sz="2400">
                <a:solidFill>
                  <a:schemeClr val="tx1"/>
                </a:solidFill>
              </a:rPr>
              <a:t>); </a:t>
            </a:r>
            <a:r>
              <a:rPr lang="en-US" altLang="zh-CN" sz="2400">
                <a:solidFill>
                  <a:schemeClr val="tx1"/>
                </a:solidFill>
              </a:rPr>
              <a:t>Taoism and Buddism (Chan) (陈琳, 曹培会, 2017; 曹培会, 秦思, 2021); impersonal view of universal things (Taoism) (马瑶, 2018)</a:t>
            </a:r>
            <a:endParaRPr lang="en-US" altLang="zh-CN" sz="2400">
              <a:solidFill>
                <a:schemeClr val="tx1"/>
              </a:solidFill>
            </a:endParaRPr>
          </a:p>
          <a:p>
            <a:pPr marL="342900" indent="-342900">
              <a:lnSpc>
                <a:spcPct val="130000"/>
              </a:lnSpc>
              <a:buFont typeface="Arial" panose="020B0604020202090204" pitchFamily="34" charset="0"/>
              <a:buChar char="•"/>
            </a:pPr>
            <a:r>
              <a:rPr sz="2400">
                <a:solidFill>
                  <a:schemeClr val="tx1"/>
                </a:solidFill>
                <a:sym typeface="+mn-ea"/>
              </a:rPr>
              <a:t>Studies from the Perspective of </a:t>
            </a:r>
            <a:r>
              <a:rPr sz="2400" b="1">
                <a:solidFill>
                  <a:schemeClr val="tx1"/>
                </a:solidFill>
                <a:latin typeface="Times New Roman Bold" panose="02020503050405090304" charset="0"/>
                <a:cs typeface="Times New Roman Bold" panose="02020503050405090304" charset="0"/>
                <a:sym typeface="+mn-ea"/>
              </a:rPr>
              <a:t>Poetics</a:t>
            </a:r>
            <a:r>
              <a:rPr lang="en-US" sz="2400">
                <a:solidFill>
                  <a:schemeClr val="tx1"/>
                </a:solidFill>
                <a:sym typeface="+mn-ea"/>
              </a:rPr>
              <a:t>: </a:t>
            </a:r>
            <a:r>
              <a:rPr lang="zh-CN" altLang="en-US" sz="2400">
                <a:solidFill>
                  <a:schemeClr val="tx1"/>
                </a:solidFill>
                <a:sym typeface="+mn-ea"/>
              </a:rPr>
              <a:t>魏家海，</a:t>
            </a:r>
            <a:r>
              <a:rPr lang="en-US" altLang="zh-CN" sz="2400">
                <a:solidFill>
                  <a:schemeClr val="tx1"/>
                </a:solidFill>
                <a:sym typeface="+mn-ea"/>
              </a:rPr>
              <a:t>2014; </a:t>
            </a:r>
            <a:r>
              <a:rPr lang="en-US" sz="2400">
                <a:solidFill>
                  <a:schemeClr val="tx1"/>
                </a:solidFill>
                <a:sym typeface="+mn-ea"/>
              </a:rPr>
              <a:t>刘思佳</a:t>
            </a:r>
            <a:r>
              <a:rPr lang="zh-CN" altLang="en-US" sz="2400">
                <a:solidFill>
                  <a:schemeClr val="tx1"/>
                </a:solidFill>
                <a:sym typeface="+mn-ea"/>
              </a:rPr>
              <a:t>，</a:t>
            </a:r>
            <a:r>
              <a:rPr lang="en-US" sz="2400">
                <a:solidFill>
                  <a:schemeClr val="tx1"/>
                </a:solidFill>
                <a:sym typeface="+mn-ea"/>
              </a:rPr>
              <a:t>2018; 洪越</a:t>
            </a:r>
            <a:r>
              <a:rPr lang="zh-CN" altLang="en-US" sz="2400">
                <a:solidFill>
                  <a:schemeClr val="tx1"/>
                </a:solidFill>
                <a:sym typeface="+mn-ea"/>
              </a:rPr>
              <a:t>，</a:t>
            </a:r>
            <a:r>
              <a:rPr lang="en-US" sz="2400">
                <a:solidFill>
                  <a:schemeClr val="tx1"/>
                </a:solidFill>
                <a:sym typeface="+mn-ea"/>
              </a:rPr>
              <a:t>2020</a:t>
            </a:r>
            <a:endParaRPr lang="en-US" sz="2400">
              <a:solidFill>
                <a:schemeClr val="tx1"/>
              </a:solidFill>
            </a:endParaRPr>
          </a:p>
          <a:p>
            <a:pPr marL="342900" indent="-342900">
              <a:lnSpc>
                <a:spcPct val="130000"/>
              </a:lnSpc>
              <a:buFont typeface="Arial" panose="020B0604020202090204" pitchFamily="34" charset="0"/>
              <a:buChar char="•"/>
            </a:pPr>
            <a:r>
              <a:rPr lang="en-US" sz="2400">
                <a:solidFill>
                  <a:schemeClr val="tx1"/>
                </a:solidFill>
                <a:sym typeface="+mn-ea"/>
              </a:rPr>
              <a:t>Studies from Other Perspectives: Semiotics (江承志, 2015; 刘亚丽, 2018); </a:t>
            </a:r>
            <a:r>
              <a:rPr lang="en-US" altLang="zh-CN" sz="2400">
                <a:solidFill>
                  <a:schemeClr val="tx1"/>
                </a:solidFill>
                <a:sym typeface="+mn-ea"/>
              </a:rPr>
              <a:t>Hermeneutics (杨柳, 黄劲, 2010); Russian Formalism (唐雪枫, 2015); “Translation Horizon Assessment Model for Classical Chinese Poetry” (</a:t>
            </a:r>
            <a:r>
              <a:rPr lang="zh-CN" altLang="en-US" sz="2400">
                <a:solidFill>
                  <a:schemeClr val="tx1"/>
                </a:solidFill>
                <a:sym typeface="+mn-ea"/>
              </a:rPr>
              <a:t>吕晖、陈大亮，</a:t>
            </a:r>
            <a:r>
              <a:rPr lang="en-US" altLang="zh-CN" sz="2400">
                <a:solidFill>
                  <a:schemeClr val="tx1"/>
                </a:solidFill>
                <a:sym typeface="+mn-ea"/>
              </a:rPr>
              <a:t>2022</a:t>
            </a:r>
            <a:r>
              <a:rPr lang="zh-CN" altLang="en-US" sz="2400">
                <a:solidFill>
                  <a:schemeClr val="tx1"/>
                </a:solidFill>
                <a:sym typeface="+mn-ea"/>
              </a:rPr>
              <a:t>：</a:t>
            </a:r>
            <a:r>
              <a:rPr lang="en-US" altLang="zh-CN" sz="2400">
                <a:solidFill>
                  <a:schemeClr val="tx1"/>
                </a:solidFill>
                <a:sym typeface="+mn-ea"/>
              </a:rPr>
              <a:t>86)</a:t>
            </a:r>
            <a:endParaRPr lang="en-US" altLang="zh-CN" sz="2400">
              <a:solidFill>
                <a:schemeClr val="tx1"/>
              </a:solidFill>
              <a:sym typeface="+mn-ea"/>
            </a:endParaRPr>
          </a:p>
        </p:txBody>
      </p:sp>
      <p:sp>
        <p:nvSpPr>
          <p:cNvPr id="3" name="文本占位符 3"/>
          <p:cNvSpPr>
            <a:spLocks noGrp="1"/>
          </p:cNvSpPr>
          <p:nvPr>
            <p:custDataLst>
              <p:tags r:id="rId1"/>
            </p:custDataLst>
          </p:nvPr>
        </p:nvSpPr>
        <p:spPr>
          <a:xfrm>
            <a:off x="6082665" y="1555115"/>
            <a:ext cx="5255895" cy="431419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90204" pitchFamily="34" charset="0"/>
              <a:buNone/>
              <a:defRPr sz="1600" kern="1200">
                <a:solidFill>
                  <a:schemeClr val="accent1">
                    <a:lumMod val="50000"/>
                  </a:schemeClr>
                </a:solidFill>
                <a:latin typeface="Times New Roman Regular" panose="02020503050405090304" charset="0"/>
                <a:ea typeface="+mn-ea"/>
                <a:cs typeface="Times New Roman" panose="02020503050405090304" charset="0"/>
              </a:defRPr>
            </a:lvl1pPr>
            <a:lvl2pPr marL="4572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Times New Roman Regular" panose="02020503050405090304" charset="0"/>
                <a:ea typeface="+mn-ea"/>
                <a:cs typeface="Times New Roman" panose="02020503050405090304" charset="0"/>
              </a:defRPr>
            </a:lvl2pPr>
            <a:lvl3pPr marL="9144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Times New Roman Regular" panose="02020503050405090304" charset="0"/>
                <a:ea typeface="+mn-ea"/>
                <a:cs typeface="Times New Roman" panose="02020503050405090304" charset="0"/>
              </a:defRPr>
            </a:lvl3pPr>
            <a:lvl4pPr marL="1371600" indent="0" algn="l" defTabSz="914400" rtl="0" eaLnBrk="1" latinLnBrk="0" hangingPunct="1">
              <a:lnSpc>
                <a:spcPct val="90000"/>
              </a:lnSpc>
              <a:spcBef>
                <a:spcPts val="500"/>
              </a:spcBef>
              <a:buFont typeface="Arial" panose="020B0604020202090204" pitchFamily="34" charset="0"/>
              <a:buNone/>
              <a:defRPr sz="1000" kern="1200">
                <a:solidFill>
                  <a:schemeClr val="tx1"/>
                </a:solidFill>
                <a:latin typeface="Times New Roman Regular" panose="02020503050405090304" charset="0"/>
                <a:ea typeface="+mn-ea"/>
                <a:cs typeface="Times New Roman" panose="02020503050405090304" charset="0"/>
              </a:defRPr>
            </a:lvl4pPr>
            <a:lvl5pPr marL="1828800" indent="0" algn="l" defTabSz="914400" rtl="0" eaLnBrk="1" latinLnBrk="0" hangingPunct="1">
              <a:lnSpc>
                <a:spcPct val="90000"/>
              </a:lnSpc>
              <a:spcBef>
                <a:spcPts val="500"/>
              </a:spcBef>
              <a:buFont typeface="Arial" panose="020B0604020202090204" pitchFamily="34" charset="0"/>
              <a:buNone/>
              <a:defRPr sz="1000" kern="1200">
                <a:solidFill>
                  <a:schemeClr val="tx1"/>
                </a:solidFill>
                <a:latin typeface="Times New Roman Regular" panose="02020503050405090304" charset="0"/>
                <a:ea typeface="+mn-ea"/>
                <a:cs typeface="Times New Roman" panose="02020503050405090304" charset="0"/>
              </a:defRPr>
            </a:lvl5pPr>
            <a:lvl6pPr marL="2286000" indent="0" algn="l" defTabSz="914400" rtl="0" eaLnBrk="1" latinLnBrk="0" hangingPunct="1">
              <a:lnSpc>
                <a:spcPct val="90000"/>
              </a:lnSpc>
              <a:spcBef>
                <a:spcPts val="500"/>
              </a:spcBef>
              <a:buFont typeface="Arial" panose="020B060402020209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9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9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90204" pitchFamily="34" charset="0"/>
              <a:buNone/>
              <a:defRPr sz="1000" kern="1200">
                <a:solidFill>
                  <a:schemeClr val="tx1"/>
                </a:solidFill>
                <a:latin typeface="+mn-lt"/>
                <a:ea typeface="+mn-ea"/>
                <a:cs typeface="+mn-cs"/>
              </a:defRPr>
            </a:lvl9pPr>
          </a:lstStyle>
          <a:p>
            <a:pPr>
              <a:lnSpc>
                <a:spcPct val="100000"/>
              </a:lnSpc>
            </a:pPr>
            <a:endParaRPr lang="zh-CN" altLang="en-US" sz="2400"/>
          </a:p>
          <a:p>
            <a:pPr marL="342900" indent="-342900">
              <a:lnSpc>
                <a:spcPct val="100000"/>
              </a:lnSpc>
              <a:buFont typeface="Arial" panose="020B0604020202090204" pitchFamily="34" charset="0"/>
              <a:buChar char="•"/>
            </a:pPr>
            <a:endParaRPr lang="en-US" altLang="zh-CN" sz="2400">
              <a:solidFill>
                <a:schemeClr val="tx1"/>
              </a:solidFill>
            </a:endParaRPr>
          </a:p>
        </p:txBody>
      </p:sp>
      <p:sp>
        <p:nvSpPr>
          <p:cNvPr id="7" name="文本框 6"/>
          <p:cNvSpPr txBox="1"/>
          <p:nvPr/>
        </p:nvSpPr>
        <p:spPr>
          <a:xfrm>
            <a:off x="826770" y="1555115"/>
            <a:ext cx="10056495" cy="460375"/>
          </a:xfrm>
          <a:prstGeom prst="rect">
            <a:avLst/>
          </a:prstGeom>
          <a:noFill/>
        </p:spPr>
        <p:txBody>
          <a:bodyPr wrap="square" rtlCol="0">
            <a:spAutoFit/>
          </a:bodyPr>
          <a:p>
            <a:pPr algn="l">
              <a:spcBef>
                <a:spcPts val="1000"/>
              </a:spcBef>
              <a:buFont typeface="Arial" panose="020B0604020202090204" pitchFamily="34" charset="0"/>
            </a:pPr>
            <a:r>
              <a:rPr lang="zh-CN" altLang="en-US" sz="2400">
                <a:solidFill>
                  <a:schemeClr val="accent1">
                    <a:lumMod val="50000"/>
                  </a:schemeClr>
                </a:solidFill>
                <a:latin typeface="Times New Roman Regular" panose="02020503050405090304" charset="0"/>
                <a:cs typeface="Times New Roman" panose="02020503050405090304" charset="0"/>
                <a:sym typeface="+mn-ea"/>
              </a:rPr>
              <a:t>Previous Studies on Translations of Wang Wei</a:t>
            </a:r>
            <a:r>
              <a:rPr lang="en-US" altLang="zh-CN" sz="2400">
                <a:solidFill>
                  <a:schemeClr val="accent1">
                    <a:lumMod val="50000"/>
                  </a:schemeClr>
                </a:solidFill>
                <a:latin typeface="Times New Roman Regular" panose="02020503050405090304" charset="0"/>
                <a:cs typeface="Times New Roman" panose="02020503050405090304" charset="0"/>
                <a:sym typeface="+mn-ea"/>
              </a:rPr>
              <a:t>’</a:t>
            </a:r>
            <a:r>
              <a:rPr lang="zh-CN" altLang="en-US" sz="2400">
                <a:solidFill>
                  <a:schemeClr val="accent1">
                    <a:lumMod val="50000"/>
                  </a:schemeClr>
                </a:solidFill>
                <a:latin typeface="Times New Roman Regular" panose="02020503050405090304" charset="0"/>
                <a:cs typeface="Times New Roman" panose="02020503050405090304" charset="0"/>
                <a:sym typeface="+mn-ea"/>
              </a:rPr>
              <a:t>s Poems</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497820" cy="895985"/>
          </a:xfrm>
        </p:spPr>
        <p:txBody>
          <a:bodyPr/>
          <a:p>
            <a:r>
              <a:rPr lang="zh-CN" altLang="en-US"/>
              <a:t>Literature Review</a:t>
            </a:r>
            <a:endParaRPr lang="zh-CN" altLang="en-US"/>
          </a:p>
        </p:txBody>
      </p:sp>
      <p:sp>
        <p:nvSpPr>
          <p:cNvPr id="4" name="文本占位符 3"/>
          <p:cNvSpPr>
            <a:spLocks noGrp="1"/>
          </p:cNvSpPr>
          <p:nvPr>
            <p:ph type="body" sz="half" idx="2"/>
          </p:nvPr>
        </p:nvSpPr>
        <p:spPr>
          <a:xfrm>
            <a:off x="839470" y="1353185"/>
            <a:ext cx="10498455" cy="4623435"/>
          </a:xfrm>
        </p:spPr>
        <p:txBody>
          <a:bodyPr>
            <a:noAutofit/>
          </a:bodyPr>
          <a:p>
            <a:pPr>
              <a:lnSpc>
                <a:spcPct val="100000"/>
              </a:lnSpc>
              <a:buFont typeface="Arial" panose="020B0604020202090204" pitchFamily="34" charset="0"/>
            </a:pPr>
            <a:r>
              <a:rPr lang="zh-CN" altLang="en-US" sz="2000"/>
              <a:t>Previous Practices of Translating Wang Wei</a:t>
            </a:r>
            <a:r>
              <a:rPr lang="en-US" altLang="zh-CN" sz="2000"/>
              <a:t>’</a:t>
            </a:r>
            <a:r>
              <a:rPr lang="zh-CN" altLang="en-US" sz="2000"/>
              <a:t>s Poems</a:t>
            </a:r>
            <a:endParaRPr lang="en-US" altLang="zh-CN" sz="2000">
              <a:solidFill>
                <a:schemeClr val="tx1"/>
              </a:solidFill>
            </a:endParaRPr>
          </a:p>
          <a:p>
            <a:pPr marL="342900" indent="-342900">
              <a:lnSpc>
                <a:spcPct val="100000"/>
              </a:lnSpc>
              <a:buFont typeface="Arial" panose="020B0604020202090204" pitchFamily="34" charset="0"/>
              <a:buChar char="•"/>
            </a:pPr>
            <a:endParaRPr lang="en-US" altLang="zh-CN" sz="2000">
              <a:solidFill>
                <a:schemeClr val="tx1"/>
              </a:solidFill>
            </a:endParaRPr>
          </a:p>
          <a:p>
            <a:pPr marL="342900" indent="-342900">
              <a:lnSpc>
                <a:spcPct val="120000"/>
              </a:lnSpc>
              <a:buFont typeface="Arial" panose="020B0604020202090204" pitchFamily="34" charset="0"/>
              <a:buChar char="•"/>
            </a:pPr>
            <a:r>
              <a:rPr lang="en-US" altLang="zh-CN" sz="2000">
                <a:solidFill>
                  <a:schemeClr val="tx1"/>
                </a:solidFill>
              </a:rPr>
              <a:t>Translations in </a:t>
            </a:r>
            <a:r>
              <a:rPr lang="en-US" altLang="zh-CN" sz="2000" b="1">
                <a:solidFill>
                  <a:schemeClr val="tx1"/>
                </a:solidFill>
                <a:latin typeface="Times New Roman Bold" panose="02020503050405090304" charset="0"/>
                <a:cs typeface="Times New Roman Bold" panose="02020503050405090304" charset="0"/>
              </a:rPr>
              <a:t>China</a:t>
            </a:r>
            <a:r>
              <a:rPr lang="en-US" altLang="zh-CN" sz="2000">
                <a:solidFill>
                  <a:schemeClr val="tx1"/>
                </a:solidFill>
              </a:rPr>
              <a:t>: </a:t>
            </a:r>
            <a:r>
              <a:rPr lang="en-US" altLang="zh-CN" sz="2000" i="1">
                <a:solidFill>
                  <a:schemeClr val="tx1"/>
                </a:solidFill>
                <a:latin typeface="Times New Roman Italic" panose="02020503050405090304" charset="0"/>
                <a:cs typeface="Times New Roman Italic" panose="02020503050405090304" charset="0"/>
              </a:rPr>
              <a:t>Poetry and Prose of the Tang and Song</a:t>
            </a:r>
            <a:r>
              <a:rPr lang="en-US" altLang="zh-CN" sz="2000">
                <a:solidFill>
                  <a:schemeClr val="tx1"/>
                </a:solidFill>
              </a:rPr>
              <a:t> (Yang and Yang, 1984); </a:t>
            </a:r>
            <a:r>
              <a:rPr lang="en-US" altLang="zh-CN" sz="2000" i="1">
                <a:solidFill>
                  <a:schemeClr val="tx1"/>
                </a:solidFill>
                <a:latin typeface="Times New Roman Italic" panose="02020503050405090304" charset="0"/>
                <a:cs typeface="Times New Roman Italic" panose="02020503050405090304" charset="0"/>
              </a:rPr>
              <a:t>100 Wang Wei’s Poems in English Verse</a:t>
            </a:r>
            <a:r>
              <a:rPr lang="en-US" altLang="zh-CN" sz="2000">
                <a:solidFill>
                  <a:schemeClr val="tx1"/>
                </a:solidFill>
              </a:rPr>
              <a:t> (Wang Baotong, 2005); </a:t>
            </a:r>
            <a:r>
              <a:rPr lang="en-US" altLang="zh-CN" sz="2000" i="1">
                <a:solidFill>
                  <a:schemeClr val="tx1"/>
                </a:solidFill>
                <a:latin typeface="Times New Roman Italic" panose="02020503050405090304" charset="0"/>
                <a:cs typeface="Times New Roman Italic" panose="02020503050405090304" charset="0"/>
              </a:rPr>
              <a:t>A Complete Edition of Wei Wang’s Poems in Chinese and English with Annotations</a:t>
            </a:r>
            <a:r>
              <a:rPr lang="en-US" altLang="zh-CN" sz="2000">
                <a:solidFill>
                  <a:schemeClr val="tx1"/>
                </a:solidFill>
              </a:rPr>
              <a:t> (Zhao Yanchun, 2020); </a:t>
            </a:r>
            <a:r>
              <a:rPr lang="en-US" altLang="zh-CN" sz="2000" i="1">
                <a:solidFill>
                  <a:schemeClr val="tx1"/>
                </a:solidFill>
                <a:latin typeface="Times New Roman Italic" panose="02020503050405090304" charset="0"/>
                <a:cs typeface="Times New Roman Italic" panose="02020503050405090304" charset="0"/>
              </a:rPr>
              <a:t>Selected Poems of Wang Wei</a:t>
            </a:r>
            <a:r>
              <a:rPr lang="en-US" altLang="zh-CN" sz="2000">
                <a:solidFill>
                  <a:schemeClr val="tx1"/>
                </a:solidFill>
              </a:rPr>
              <a:t> (Xu Yuanchong, 2014/2021)</a:t>
            </a:r>
            <a:endParaRPr lang="en-US" altLang="zh-CN" sz="2000">
              <a:solidFill>
                <a:schemeClr val="tx1"/>
              </a:solidFill>
            </a:endParaRPr>
          </a:p>
          <a:p>
            <a:pPr marL="342900" indent="-342900">
              <a:lnSpc>
                <a:spcPct val="120000"/>
              </a:lnSpc>
              <a:buFont typeface="Arial" panose="020B0604020202090204" pitchFamily="34" charset="0"/>
              <a:buChar char="•"/>
            </a:pPr>
            <a:r>
              <a:rPr lang="en-US" altLang="zh-CN" sz="2000">
                <a:solidFill>
                  <a:schemeClr val="tx1"/>
                </a:solidFill>
              </a:rPr>
              <a:t>Translations in the </a:t>
            </a:r>
            <a:r>
              <a:rPr lang="en-US" altLang="zh-CN" sz="2000" b="1">
                <a:solidFill>
                  <a:schemeClr val="tx1"/>
                </a:solidFill>
                <a:latin typeface="Times New Roman Bold" panose="02020503050405090304" charset="0"/>
                <a:cs typeface="Times New Roman Bold" panose="02020503050405090304" charset="0"/>
              </a:rPr>
              <a:t>West</a:t>
            </a:r>
            <a:r>
              <a:rPr lang="en-US" altLang="zh-CN" sz="2000">
                <a:solidFill>
                  <a:schemeClr val="tx1"/>
                </a:solidFill>
              </a:rPr>
              <a:t>: </a:t>
            </a:r>
            <a:r>
              <a:rPr lang="en-US" altLang="zh-CN" sz="2000" i="1">
                <a:solidFill>
                  <a:schemeClr val="tx1"/>
                </a:solidFill>
                <a:latin typeface="Times New Roman Italic" panose="02020503050405090304" charset="0"/>
                <a:cs typeface="Times New Roman Italic" panose="02020503050405090304" charset="0"/>
              </a:rPr>
              <a:t>Cathay </a:t>
            </a:r>
            <a:r>
              <a:rPr lang="en-US" altLang="zh-CN" sz="2000">
                <a:solidFill>
                  <a:schemeClr val="tx1"/>
                </a:solidFill>
              </a:rPr>
              <a:t>(Pound, 1915); </a:t>
            </a:r>
            <a:r>
              <a:rPr lang="en-US" altLang="zh-CN" sz="2000" i="1">
                <a:solidFill>
                  <a:schemeClr val="tx1"/>
                </a:solidFill>
                <a:latin typeface="Times New Roman Italic" panose="02020503050405090304" charset="0"/>
                <a:cs typeface="Times New Roman Italic" panose="02020503050405090304" charset="0"/>
                <a:sym typeface="+mn-ea"/>
              </a:rPr>
              <a:t>Poems by Wang Wei</a:t>
            </a:r>
            <a:r>
              <a:rPr lang="en-US" altLang="zh-CN" sz="2000">
                <a:solidFill>
                  <a:schemeClr val="tx1"/>
                </a:solidFill>
                <a:sym typeface="+mn-ea"/>
              </a:rPr>
              <a:t> (Walmsley and Chang, 1958); </a:t>
            </a:r>
            <a:r>
              <a:rPr lang="en-US" altLang="zh-CN" sz="2000" i="1">
                <a:solidFill>
                  <a:schemeClr val="tx1"/>
                </a:solidFill>
                <a:latin typeface="Times New Roman Italic" panose="02020503050405090304" charset="0"/>
                <a:cs typeface="Times New Roman Italic" panose="02020503050405090304" charset="0"/>
              </a:rPr>
              <a:t>Love and the Turning Year: One Hundred More Poems from the Chinese </a:t>
            </a:r>
            <a:r>
              <a:rPr lang="en-US" altLang="zh-CN" sz="2000">
                <a:solidFill>
                  <a:schemeClr val="tx1"/>
                </a:solidFill>
                <a:latin typeface="Times New Roman" panose="02020503050405090304" charset="0"/>
              </a:rPr>
              <a:t>(Rexroth, 1970); </a:t>
            </a:r>
            <a:r>
              <a:rPr lang="en-US" altLang="zh-CN" sz="2000" i="1">
                <a:solidFill>
                  <a:schemeClr val="tx1"/>
                </a:solidFill>
                <a:latin typeface="Times New Roman Italic" panose="02020503050405090304" charset="0"/>
                <a:cs typeface="Times New Roman Italic" panose="02020503050405090304" charset="0"/>
              </a:rPr>
              <a:t>Hiding the Universe: Poems by Wang Wei</a:t>
            </a:r>
            <a:r>
              <a:rPr lang="en-US" altLang="zh-CN" sz="2000">
                <a:solidFill>
                  <a:schemeClr val="tx1"/>
                </a:solidFill>
                <a:latin typeface="Times New Roman" panose="02020503050405090304" charset="0"/>
              </a:rPr>
              <a:t> (Yip, 1972); </a:t>
            </a:r>
            <a:r>
              <a:rPr lang="en-US" altLang="zh-CN" sz="2000" i="1">
                <a:solidFill>
                  <a:schemeClr val="tx1"/>
                </a:solidFill>
                <a:latin typeface="Times New Roman Italic" panose="02020503050405090304" charset="0"/>
                <a:cs typeface="Times New Roman Italic" panose="02020503050405090304" charset="0"/>
              </a:rPr>
              <a:t>The poetry of Wang Wei: New translations and commentary</a:t>
            </a:r>
            <a:r>
              <a:rPr lang="en-US" altLang="zh-CN" sz="2000">
                <a:solidFill>
                  <a:schemeClr val="tx1"/>
                </a:solidFill>
              </a:rPr>
              <a:t> (Pauline Yu, 1980); </a:t>
            </a:r>
            <a:r>
              <a:rPr lang="en-US" altLang="zh-CN" sz="2000" i="1">
                <a:solidFill>
                  <a:schemeClr val="tx1"/>
                </a:solidFill>
                <a:latin typeface="Times New Roman Italic" panose="02020503050405090304" charset="0"/>
                <a:cs typeface="Times New Roman Italic" panose="02020503050405090304" charset="0"/>
              </a:rPr>
              <a:t>An Anthology of Chinese Literature: Beginnings to 1911</a:t>
            </a:r>
            <a:r>
              <a:rPr lang="en-US" altLang="zh-CN" sz="2000">
                <a:solidFill>
                  <a:schemeClr val="tx1"/>
                </a:solidFill>
              </a:rPr>
              <a:t> (Owen, 1996) </a:t>
            </a:r>
            <a:r>
              <a:rPr lang="en-US" altLang="zh-CN" sz="2000" i="1">
                <a:solidFill>
                  <a:schemeClr val="tx1"/>
                </a:solidFill>
                <a:latin typeface="Times New Roman Italic" panose="02020503050405090304" charset="0"/>
                <a:cs typeface="Times New Roman Italic" panose="02020503050405090304" charset="0"/>
              </a:rPr>
              <a:t>The Selected Poems of Wang Wei </a:t>
            </a:r>
            <a:r>
              <a:rPr lang="en-US" altLang="zh-CN" sz="2000">
                <a:solidFill>
                  <a:schemeClr val="tx1"/>
                </a:solidFill>
                <a:latin typeface="Times New Roman" panose="02020503050405090304" charset="0"/>
              </a:rPr>
              <a:t>(Hinton, 2006); </a:t>
            </a:r>
            <a:r>
              <a:rPr lang="en-US" altLang="zh-CN" sz="2000" i="1">
                <a:solidFill>
                  <a:schemeClr val="tx1"/>
                </a:solidFill>
                <a:latin typeface="Times New Roman Italic" panose="02020503050405090304" charset="0"/>
                <a:cs typeface="Times New Roman Italic" panose="02020503050405090304" charset="0"/>
              </a:rPr>
              <a:t>19 Ways of Looking at Wang Wei</a:t>
            </a:r>
            <a:r>
              <a:rPr lang="en-US" altLang="zh-CN" sz="2000">
                <a:solidFill>
                  <a:schemeClr val="tx1"/>
                </a:solidFill>
              </a:rPr>
              <a:t> (</a:t>
            </a:r>
            <a:r>
              <a:rPr lang="zh-CN" altLang="en-US" sz="2000">
                <a:solidFill>
                  <a:schemeClr val="tx1"/>
                </a:solidFill>
              </a:rPr>
              <a:t>温伯格</a:t>
            </a:r>
            <a:r>
              <a:rPr lang="en-US" altLang="zh-CN" sz="2000">
                <a:solidFill>
                  <a:schemeClr val="tx1"/>
                </a:solidFill>
              </a:rPr>
              <a:t>, 2019)</a:t>
            </a:r>
            <a:r>
              <a:rPr lang="en-US" altLang="zh-CN" sz="2000">
                <a:solidFill>
                  <a:schemeClr val="tx1"/>
                </a:solidFill>
                <a:sym typeface="+mn-ea"/>
              </a:rPr>
              <a:t>; </a:t>
            </a:r>
            <a:r>
              <a:rPr lang="en-US" altLang="zh-CN" sz="2000" i="1">
                <a:solidFill>
                  <a:schemeClr val="tx1"/>
                </a:solidFill>
                <a:latin typeface="Times New Roman Italic" panose="02020503050405090304" charset="0"/>
                <a:cs typeface="Times New Roman Italic" panose="02020503050405090304" charset="0"/>
                <a:sym typeface="+mn-ea"/>
              </a:rPr>
              <a:t>The Poetry and Prose of Wang Wei</a:t>
            </a:r>
            <a:r>
              <a:rPr lang="en-US" altLang="zh-CN" sz="2000">
                <a:solidFill>
                  <a:schemeClr val="tx1"/>
                </a:solidFill>
                <a:sym typeface="+mn-ea"/>
              </a:rPr>
              <a:t> (Paul Rouzer. 2020)</a:t>
            </a:r>
            <a:endParaRPr lang="en-US" altLang="zh-CN" sz="2000">
              <a:solidFill>
                <a:schemeClr val="tx1"/>
              </a:solidFill>
            </a:endParaRPr>
          </a:p>
          <a:p>
            <a:pPr marL="342900" indent="-342900">
              <a:lnSpc>
                <a:spcPct val="100000"/>
              </a:lnSpc>
              <a:buFont typeface="Arial" panose="020B0604020202090204" pitchFamily="34" charset="0"/>
              <a:buChar char="•"/>
            </a:pPr>
            <a:endParaRPr lang="en-US" altLang="zh-CN" sz="200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497820" cy="895985"/>
          </a:xfrm>
        </p:spPr>
        <p:txBody>
          <a:bodyPr/>
          <a:p>
            <a:r>
              <a:rPr lang="zh-CN" altLang="en-US"/>
              <a:t>Literature Review</a:t>
            </a:r>
            <a:endParaRPr lang="zh-CN" altLang="en-US"/>
          </a:p>
        </p:txBody>
      </p:sp>
      <p:sp>
        <p:nvSpPr>
          <p:cNvPr id="4" name="文本占位符 3"/>
          <p:cNvSpPr>
            <a:spLocks noGrp="1"/>
          </p:cNvSpPr>
          <p:nvPr>
            <p:ph type="body" sz="half" idx="2"/>
          </p:nvPr>
        </p:nvSpPr>
        <p:spPr>
          <a:xfrm>
            <a:off x="840105" y="1555115"/>
            <a:ext cx="10498455" cy="4314190"/>
          </a:xfrm>
        </p:spPr>
        <p:txBody>
          <a:bodyPr>
            <a:normAutofit lnSpcReduction="10000"/>
          </a:bodyPr>
          <a:p>
            <a:pPr>
              <a:lnSpc>
                <a:spcPct val="100000"/>
              </a:lnSpc>
            </a:pPr>
            <a:r>
              <a:rPr lang="zh-CN" altLang="en-US" sz="2400"/>
              <a:t>Summary</a:t>
            </a:r>
            <a:endParaRPr lang="zh-CN" altLang="en-US" sz="2400"/>
          </a:p>
          <a:p>
            <a:pPr>
              <a:lnSpc>
                <a:spcPct val="100000"/>
              </a:lnSpc>
            </a:pPr>
            <a:endParaRPr lang="zh-CN" altLang="en-US" sz="2400"/>
          </a:p>
          <a:p>
            <a:pPr>
              <a:lnSpc>
                <a:spcPct val="100000"/>
              </a:lnSpc>
              <a:buFont typeface="Arial" panose="020B0604020202090204" pitchFamily="34" charset="0"/>
            </a:pPr>
            <a:r>
              <a:rPr lang="en-US" altLang="zh-CN" sz="2400">
                <a:solidFill>
                  <a:schemeClr val="tx1"/>
                </a:solidFill>
              </a:rPr>
              <a:t>Potential for future research on C-E translation of Wang Wei’s poems</a:t>
            </a:r>
            <a:endParaRPr lang="en-US" altLang="zh-CN" sz="2400">
              <a:solidFill>
                <a:schemeClr val="tx1"/>
              </a:solidFill>
            </a:endParaRPr>
          </a:p>
          <a:p>
            <a:pPr marL="342900" indent="-342900">
              <a:lnSpc>
                <a:spcPct val="100000"/>
              </a:lnSpc>
              <a:buFont typeface="Arial" panose="020B0604020202090204" pitchFamily="34" charset="0"/>
              <a:buChar char="•"/>
            </a:pPr>
            <a:r>
              <a:rPr lang="en-US" altLang="zh-CN" sz="2400">
                <a:solidFill>
                  <a:schemeClr val="tx1"/>
                </a:solidFill>
              </a:rPr>
              <a:t>A comparative lack of studies on translations by Xu Yuanchong from the perspective of linguistics (e.g. SFL). (The latest theoretical model: targeting the mechanism of changes in meaning on a micro level, and the ST-TT relations on a macro level.)</a:t>
            </a:r>
            <a:endParaRPr lang="en-US" altLang="zh-CN" sz="2400">
              <a:solidFill>
                <a:schemeClr val="tx1"/>
              </a:solidFill>
            </a:endParaRPr>
          </a:p>
          <a:p>
            <a:pPr marL="342900" indent="-342900">
              <a:lnSpc>
                <a:spcPct val="100000"/>
              </a:lnSpc>
              <a:buFont typeface="Arial" panose="020B0604020202090204" pitchFamily="34" charset="0"/>
              <a:buChar char="•"/>
            </a:pPr>
            <a:r>
              <a:rPr lang="en-US" altLang="zh-CN" sz="2400">
                <a:solidFill>
                  <a:schemeClr val="tx1"/>
                </a:solidFill>
              </a:rPr>
              <a:t>Connection between language use, language system, language user. (External &amp; internal factors) </a:t>
            </a:r>
            <a:endParaRPr lang="en-US" altLang="zh-CN" sz="2400">
              <a:solidFill>
                <a:schemeClr val="tx1"/>
              </a:solidFill>
            </a:endParaRPr>
          </a:p>
          <a:p>
            <a:pPr marL="342900" indent="-342900">
              <a:lnSpc>
                <a:spcPct val="100000"/>
              </a:lnSpc>
              <a:buFont typeface="Arial" panose="020B0604020202090204" pitchFamily="34" charset="0"/>
              <a:buChar char="•"/>
            </a:pPr>
            <a:endParaRPr lang="en-US" altLang="zh-CN" sz="2400">
              <a:solidFill>
                <a:schemeClr val="tx1"/>
              </a:solidFill>
            </a:endParaRPr>
          </a:p>
          <a:p>
            <a:pPr marL="342900" indent="-342900">
              <a:lnSpc>
                <a:spcPct val="100000"/>
              </a:lnSpc>
              <a:buFont typeface="Arial" panose="020B0604020202090204" pitchFamily="34" charset="0"/>
              <a:buChar char="•"/>
            </a:pPr>
            <a:endParaRPr lang="en-US" altLang="zh-CN" sz="240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47611" y="2835811"/>
            <a:ext cx="1402080" cy="1568450"/>
          </a:xfrm>
          <a:prstGeom prst="rect">
            <a:avLst/>
          </a:prstGeom>
          <a:noFill/>
        </p:spPr>
        <p:txBody>
          <a:bodyPr wrap="none" rtlCol="0">
            <a:spAutoFit/>
          </a:bodyPr>
          <a:lstStyle/>
          <a:p>
            <a:r>
              <a:rPr lang="en-US" altLang="zh-CN" sz="9600" dirty="0">
                <a:solidFill>
                  <a:schemeClr val="bg1"/>
                </a:solidFill>
                <a:latin typeface="Times New Roman" panose="02020503050405090304" charset="0"/>
                <a:ea typeface="Times New Roman" panose="02020503050405090304" charset="0"/>
                <a:cs typeface="Times New Roman" panose="02020503050405090304" charset="0"/>
              </a:rPr>
              <a:t>03</a:t>
            </a:r>
            <a:endParaRPr lang="zh-CN" altLang="en-US" sz="9600" dirty="0">
              <a:solidFill>
                <a:schemeClr val="bg1"/>
              </a:solidFill>
              <a:latin typeface="Times New Roman" panose="02020503050405090304" charset="0"/>
              <a:ea typeface="Times New Roman" panose="02020503050405090304" charset="0"/>
              <a:cs typeface="Times New Roman" panose="02020503050405090304" charset="0"/>
            </a:endParaRPr>
          </a:p>
        </p:txBody>
      </p:sp>
      <p:sp>
        <p:nvSpPr>
          <p:cNvPr id="3" name="文本框 2"/>
          <p:cNvSpPr txBox="1"/>
          <p:nvPr/>
        </p:nvSpPr>
        <p:spPr>
          <a:xfrm>
            <a:off x="4104005" y="3297555"/>
            <a:ext cx="3983990" cy="1198880"/>
          </a:xfrm>
          <a:prstGeom prst="rect">
            <a:avLst/>
          </a:prstGeom>
          <a:noFill/>
        </p:spPr>
        <p:txBody>
          <a:bodyPr wrap="square" rtlCol="0">
            <a:spAutoFit/>
          </a:bodyPr>
          <a:lstStyle/>
          <a:p>
            <a:pPr algn="ctr"/>
            <a:r>
              <a:rPr lang="en-US" altLang="zh-CN" sz="3600" b="1" dirty="0">
                <a:solidFill>
                  <a:schemeClr val="tx1">
                    <a:lumMod val="75000"/>
                    <a:lumOff val="25000"/>
                  </a:schemeClr>
                </a:solidFill>
                <a:latin typeface="Times New Roman" panose="02020503050405090304" charset="0"/>
                <a:ea typeface="Times New Roman" panose="02020503050405090304" charset="0"/>
                <a:cs typeface="Times New Roman" panose="02020503050405090304" charset="0"/>
                <a:sym typeface="+mn-ea"/>
              </a:rPr>
              <a:t>Translation as Re-instantiation</a:t>
            </a:r>
            <a:endParaRPr lang="en-US" altLang="zh-CN" sz="3600" b="1" dirty="0">
              <a:solidFill>
                <a:schemeClr val="tx1">
                  <a:lumMod val="75000"/>
                  <a:lumOff val="25000"/>
                </a:schemeClr>
              </a:solidFill>
              <a:latin typeface="Times New Roman" panose="02020503050405090304" charset="0"/>
              <a:ea typeface="Times New Roman" panose="02020503050405090304" charset="0"/>
              <a:cs typeface="Times New Roman" panose="020205030504050903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1" presetClass="entr" presetSubtype="0" fill="hold" grpId="0" nodeType="clickEffect">
                                  <p:stCondLst>
                                    <p:cond delay="0"/>
                                  </p:stCondLst>
                                  <p:iterate type="lt">
                                    <p:tmPct val="10000"/>
                                  </p:iterate>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3"/>
                                        </p:tgtEl>
                                        <p:attrNameLst>
                                          <p:attrName>ppt_y</p:attrName>
                                        </p:attrNameLst>
                                      </p:cBhvr>
                                      <p:tavLst>
                                        <p:tav tm="0">
                                          <p:val>
                                            <p:strVal val="#ppt_y"/>
                                          </p:val>
                                        </p:tav>
                                        <p:tav tm="100000">
                                          <p:val>
                                            <p:strVal val="#ppt_y"/>
                                          </p:val>
                                        </p:tav>
                                      </p:tavLst>
                                    </p:anim>
                                    <p:anim calcmode="lin" valueType="num">
                                      <p:cBhvr>
                                        <p:cTn id="14"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497820" cy="895985"/>
          </a:xfrm>
        </p:spPr>
        <p:txBody>
          <a:bodyPr>
            <a:normAutofit/>
          </a:bodyPr>
          <a:p>
            <a:r>
              <a:rPr lang="en-US" altLang="zh-CN"/>
              <a:t>Translation as Re-instantiation</a:t>
            </a:r>
            <a:endParaRPr lang="en-US" altLang="zh-CN"/>
          </a:p>
        </p:txBody>
      </p:sp>
      <p:sp>
        <p:nvSpPr>
          <p:cNvPr id="4" name="文本占位符 3"/>
          <p:cNvSpPr>
            <a:spLocks noGrp="1"/>
          </p:cNvSpPr>
          <p:nvPr>
            <p:ph type="body" sz="half" idx="2"/>
          </p:nvPr>
        </p:nvSpPr>
        <p:spPr>
          <a:xfrm>
            <a:off x="840105" y="1555115"/>
            <a:ext cx="10620375" cy="4314190"/>
          </a:xfrm>
        </p:spPr>
        <p:txBody>
          <a:bodyPr>
            <a:normAutofit lnSpcReduction="10000"/>
          </a:bodyPr>
          <a:p>
            <a:pPr>
              <a:lnSpc>
                <a:spcPct val="110000"/>
              </a:lnSpc>
            </a:pPr>
            <a:r>
              <a:rPr lang="zh-CN" altLang="en-US" sz="1800"/>
              <a:t>Working Definition</a:t>
            </a:r>
            <a:endParaRPr lang="en-US" sz="1800">
              <a:solidFill>
                <a:schemeClr val="tx1"/>
              </a:solidFill>
            </a:endParaRPr>
          </a:p>
          <a:p>
            <a:pPr marL="342900" indent="-342900">
              <a:lnSpc>
                <a:spcPct val="110000"/>
              </a:lnSpc>
              <a:buFont typeface="Arial" panose="020B0604020202090204" pitchFamily="34" charset="0"/>
              <a:buChar char="•"/>
            </a:pPr>
            <a:r>
              <a:rPr sz="1800" b="1">
                <a:solidFill>
                  <a:schemeClr val="tx1"/>
                </a:solidFill>
                <a:latin typeface="Times New Roman Bold" panose="02020503050405090304" charset="0"/>
                <a:cs typeface="Times New Roman Bold" panose="02020503050405090304" charset="0"/>
              </a:rPr>
              <a:t>Instantiation</a:t>
            </a:r>
            <a:r>
              <a:rPr lang="en-US" sz="1800">
                <a:solidFill>
                  <a:schemeClr val="tx1"/>
                </a:solidFill>
              </a:rPr>
              <a:t>: “</a:t>
            </a:r>
            <a:r>
              <a:rPr sz="1800">
                <a:solidFill>
                  <a:schemeClr val="tx1"/>
                </a:solidFill>
              </a:rPr>
              <a:t>a scale of generalisation, involving our perspective on inertia and change</a:t>
            </a:r>
            <a:r>
              <a:rPr lang="en-US" sz="1800">
                <a:solidFill>
                  <a:schemeClr val="tx1"/>
                </a:solidFill>
              </a:rPr>
              <a:t>”</a:t>
            </a:r>
            <a:r>
              <a:rPr sz="1800">
                <a:solidFill>
                  <a:schemeClr val="tx1"/>
                </a:solidFill>
              </a:rPr>
              <a:t> (Martin, 2006: 284).</a:t>
            </a:r>
            <a:endParaRPr sz="1800">
              <a:solidFill>
                <a:schemeClr val="tx1"/>
              </a:solidFill>
            </a:endParaRPr>
          </a:p>
          <a:p>
            <a:pPr marL="800100" lvl="1" indent="-342900">
              <a:lnSpc>
                <a:spcPct val="110000"/>
              </a:lnSpc>
              <a:buFont typeface="Arial" panose="020B0604020202090204" pitchFamily="34" charset="0"/>
              <a:buChar char="•"/>
            </a:pPr>
            <a:r>
              <a:rPr sz="1575">
                <a:solidFill>
                  <a:schemeClr val="tx1"/>
                </a:solidFill>
              </a:rPr>
              <a:t>实例化指概括的程度（a scale of generalization）</a:t>
            </a:r>
            <a:r>
              <a:rPr lang="zh-CN" sz="1575">
                <a:solidFill>
                  <a:schemeClr val="tx1"/>
                </a:solidFill>
              </a:rPr>
              <a:t>——</a:t>
            </a:r>
            <a:r>
              <a:rPr sz="1575">
                <a:solidFill>
                  <a:schemeClr val="tx1"/>
                </a:solidFill>
              </a:rPr>
              <a:t>涉及人们对静态 （inertia ）与动态（change）采取的态度如对所发生的事情是袖手旁观把握全貌还是逼近事态仔细考察总结归类还是介于二者之间</a:t>
            </a:r>
            <a:r>
              <a:rPr lang="zh-CN" sz="1575">
                <a:solidFill>
                  <a:schemeClr val="tx1"/>
                </a:solidFill>
                <a:sym typeface="+mn-ea"/>
              </a:rPr>
              <a:t>（</a:t>
            </a:r>
            <a:r>
              <a:rPr lang="en-US" altLang="zh-CN" sz="1575">
                <a:solidFill>
                  <a:schemeClr val="tx1"/>
                </a:solidFill>
                <a:sym typeface="+mn-ea"/>
              </a:rPr>
              <a:t>J.R.</a:t>
            </a:r>
            <a:r>
              <a:rPr lang="zh-CN" altLang="en-US" sz="1575">
                <a:solidFill>
                  <a:schemeClr val="tx1"/>
                </a:solidFill>
                <a:sym typeface="+mn-ea"/>
              </a:rPr>
              <a:t>马丁，王振华，</a:t>
            </a:r>
            <a:r>
              <a:rPr lang="en-US" altLang="zh-CN" sz="1575">
                <a:solidFill>
                  <a:schemeClr val="tx1"/>
                </a:solidFill>
                <a:sym typeface="+mn-ea"/>
              </a:rPr>
              <a:t>2008</a:t>
            </a:r>
            <a:r>
              <a:rPr lang="zh-CN" altLang="en-US" sz="1575">
                <a:solidFill>
                  <a:schemeClr val="tx1"/>
                </a:solidFill>
                <a:sym typeface="+mn-ea"/>
              </a:rPr>
              <a:t>：</a:t>
            </a:r>
            <a:r>
              <a:rPr lang="en-US" altLang="zh-CN" sz="1575">
                <a:solidFill>
                  <a:schemeClr val="tx1"/>
                </a:solidFill>
                <a:sym typeface="+mn-ea"/>
              </a:rPr>
              <a:t>74</a:t>
            </a:r>
            <a:r>
              <a:rPr lang="zh-CN" sz="1575">
                <a:solidFill>
                  <a:schemeClr val="tx1"/>
                </a:solidFill>
                <a:sym typeface="+mn-ea"/>
              </a:rPr>
              <a:t>）</a:t>
            </a:r>
            <a:r>
              <a:rPr sz="1575">
                <a:solidFill>
                  <a:schemeClr val="tx1"/>
                </a:solidFill>
              </a:rPr>
              <a:t>。</a:t>
            </a:r>
            <a:endParaRPr sz="1575">
              <a:solidFill>
                <a:schemeClr val="tx1"/>
              </a:solidFill>
            </a:endParaRPr>
          </a:p>
          <a:p>
            <a:pPr marL="800100" lvl="1" indent="-342900">
              <a:lnSpc>
                <a:spcPct val="110000"/>
              </a:lnSpc>
              <a:buFont typeface="Arial" panose="020B0604020202090204" pitchFamily="34" charset="0"/>
              <a:buChar char="•"/>
            </a:pPr>
            <a:r>
              <a:rPr lang="en-US" altLang="zh-CN" sz="1575">
                <a:solidFill>
                  <a:schemeClr val="tx1"/>
                </a:solidFill>
              </a:rPr>
              <a:t>For translation studies, re-instantiation can be defined as “the instance’s reconstruction of the meaning potential of the source instance” (Martin, 2006: 286, in </a:t>
            </a:r>
            <a:r>
              <a:rPr lang="zh-CN" altLang="en-US" sz="1575">
                <a:solidFill>
                  <a:schemeClr val="tx1"/>
                </a:solidFill>
              </a:rPr>
              <a:t>王汐，</a:t>
            </a:r>
            <a:r>
              <a:rPr lang="en-US" altLang="zh-CN" sz="1575">
                <a:solidFill>
                  <a:schemeClr val="tx1"/>
                </a:solidFill>
              </a:rPr>
              <a:t>2025</a:t>
            </a:r>
            <a:r>
              <a:rPr lang="zh-CN" altLang="en-US" sz="1575">
                <a:solidFill>
                  <a:schemeClr val="tx1"/>
                </a:solidFill>
              </a:rPr>
              <a:t>：</a:t>
            </a:r>
            <a:r>
              <a:rPr lang="en-US" altLang="zh-CN" sz="1575">
                <a:solidFill>
                  <a:schemeClr val="tx1"/>
                </a:solidFill>
              </a:rPr>
              <a:t>89).</a:t>
            </a:r>
            <a:endParaRPr lang="en-US" altLang="zh-CN" sz="1575">
              <a:solidFill>
                <a:schemeClr val="tx1"/>
              </a:solidFill>
            </a:endParaRPr>
          </a:p>
          <a:p>
            <a:pPr marL="285750" indent="-285750">
              <a:lnSpc>
                <a:spcPct val="110000"/>
              </a:lnSpc>
              <a:buFont typeface="Arial" panose="020B0604020202090204" pitchFamily="34" charset="0"/>
              <a:buChar char="•"/>
            </a:pPr>
            <a:r>
              <a:rPr sz="1800" b="1">
                <a:solidFill>
                  <a:schemeClr val="tx1"/>
                </a:solidFill>
                <a:latin typeface="Times New Roman Bold" panose="02020503050405090304" charset="0"/>
                <a:cs typeface="Times New Roman Bold" panose="02020503050405090304" charset="0"/>
              </a:rPr>
              <a:t>Coupling</a:t>
            </a:r>
            <a:r>
              <a:rPr lang="en-US" altLang="zh-CN" sz="1800">
                <a:solidFill>
                  <a:schemeClr val="tx1"/>
                </a:solidFill>
              </a:rPr>
              <a:t>: “the way in which meanings combine -- across strata, metafunctions, ranks, and simultaneous systems (and across modalities, as discussed below).” (Martin, 2010: 19, in Bednarek and Martin, 2010).</a:t>
            </a:r>
            <a:endParaRPr lang="en-US" altLang="zh-CN" sz="1800">
              <a:solidFill>
                <a:schemeClr val="tx1"/>
              </a:solidFill>
            </a:endParaRPr>
          </a:p>
          <a:p>
            <a:pPr marL="285750" indent="-285750">
              <a:lnSpc>
                <a:spcPct val="110000"/>
              </a:lnSpc>
              <a:buFont typeface="Arial" panose="020B0604020202090204" pitchFamily="34" charset="0"/>
              <a:buChar char="•"/>
            </a:pPr>
            <a:r>
              <a:rPr sz="1800" b="1">
                <a:solidFill>
                  <a:schemeClr val="tx1"/>
                </a:solidFill>
                <a:latin typeface="Times New Roman Bold" panose="02020503050405090304" charset="0"/>
                <a:cs typeface="Times New Roman Bold" panose="02020503050405090304" charset="0"/>
              </a:rPr>
              <a:t>Commitment</a:t>
            </a:r>
            <a:r>
              <a:rPr lang="en-US" altLang="zh-CN" sz="1800">
                <a:solidFill>
                  <a:schemeClr val="tx1"/>
                </a:solidFill>
              </a:rPr>
              <a:t>: “the degree of specificity of the meaning instantiated in a text; this has to do with how many optional choices for meaning are taken up and how generally the choices a text subscribes to are instantiated.” (Martin, 2010: 20, in Bednarek and Martin, 2010).</a:t>
            </a:r>
            <a:endParaRPr lang="en-US" altLang="zh-CN" sz="1800">
              <a:solidFill>
                <a:schemeClr val="tx1"/>
              </a:solidFill>
            </a:endParaRPr>
          </a:p>
        </p:txBody>
      </p:sp>
      <p:pic>
        <p:nvPicPr>
          <p:cNvPr id="35" name="图片 35" descr="3-3"/>
          <p:cNvPicPr>
            <a:picLocks noChangeAspect="1"/>
          </p:cNvPicPr>
          <p:nvPr/>
        </p:nvPicPr>
        <p:blipFill>
          <a:blip r:embed="rId1"/>
          <a:stretch>
            <a:fillRect/>
          </a:stretch>
        </p:blipFill>
        <p:spPr>
          <a:xfrm>
            <a:off x="6732905" y="0"/>
            <a:ext cx="5459095" cy="13531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497820" cy="895985"/>
          </a:xfrm>
        </p:spPr>
        <p:txBody>
          <a:bodyPr/>
          <a:p>
            <a:r>
              <a:rPr lang="en-US" altLang="zh-CN">
                <a:sym typeface="+mn-ea"/>
              </a:rPr>
              <a:t>Translation as Re-instantiation</a:t>
            </a:r>
            <a:endParaRPr lang="zh-CN" altLang="en-US"/>
          </a:p>
        </p:txBody>
      </p:sp>
      <p:sp>
        <p:nvSpPr>
          <p:cNvPr id="4" name="文本占位符 3"/>
          <p:cNvSpPr>
            <a:spLocks noGrp="1"/>
          </p:cNvSpPr>
          <p:nvPr>
            <p:ph type="body" sz="half" idx="2"/>
          </p:nvPr>
        </p:nvSpPr>
        <p:spPr>
          <a:xfrm>
            <a:off x="840105" y="1555115"/>
            <a:ext cx="10498455" cy="4314190"/>
          </a:xfrm>
        </p:spPr>
        <p:txBody>
          <a:bodyPr>
            <a:normAutofit lnSpcReduction="10000"/>
          </a:bodyPr>
          <a:p>
            <a:pPr>
              <a:lnSpc>
                <a:spcPct val="120000"/>
              </a:lnSpc>
            </a:pPr>
            <a:r>
              <a:rPr lang="en-US" altLang="zh-CN" sz="2400"/>
              <a:t>Application of Instantiation and Re-instantiation in Translation Studies</a:t>
            </a:r>
            <a:endParaRPr lang="en-US" altLang="zh-CN" sz="2400"/>
          </a:p>
          <a:p>
            <a:pPr marL="342900" indent="-342900">
              <a:lnSpc>
                <a:spcPct val="120000"/>
              </a:lnSpc>
              <a:buFont typeface="Arial" panose="020B0604020202090204" pitchFamily="34" charset="0"/>
              <a:buChar char="•"/>
            </a:pPr>
            <a:r>
              <a:rPr lang="en-US" sz="2400" b="1">
                <a:solidFill>
                  <a:schemeClr val="tx1"/>
                </a:solidFill>
                <a:latin typeface="Times New Roman Bold" panose="02020503050405090304" charset="0"/>
                <a:cs typeface="Times New Roman Bold" panose="02020503050405090304" charset="0"/>
              </a:rPr>
              <a:t>Instantiation</a:t>
            </a:r>
            <a:r>
              <a:rPr lang="en-US" sz="2400">
                <a:solidFill>
                  <a:schemeClr val="tx1"/>
                </a:solidFill>
              </a:rPr>
              <a:t>: </a:t>
            </a:r>
            <a:r>
              <a:rPr lang="en-US" altLang="zh-CN" sz="2400">
                <a:solidFill>
                  <a:schemeClr val="tx1"/>
                </a:solidFill>
              </a:rPr>
              <a:t>the study on the activisation of meaning potential in the translation of literary work as interlingual re-instantiation (Chang, 2018), explicitation and other kinds of translation shifts (Othman, 2020)</a:t>
            </a:r>
            <a:endParaRPr lang="en-US" altLang="zh-CN" sz="2400">
              <a:solidFill>
                <a:schemeClr val="tx1"/>
              </a:solidFill>
            </a:endParaRPr>
          </a:p>
          <a:p>
            <a:pPr marL="342900" indent="-342900">
              <a:lnSpc>
                <a:spcPct val="120000"/>
              </a:lnSpc>
              <a:buFont typeface="Arial" panose="020B0604020202090204" pitchFamily="34" charset="0"/>
              <a:buChar char="•"/>
            </a:pPr>
            <a:r>
              <a:rPr lang="en-US" sz="2400" b="1">
                <a:solidFill>
                  <a:schemeClr val="tx1"/>
                </a:solidFill>
                <a:latin typeface="Times New Roman Bold" panose="02020503050405090304" charset="0"/>
                <a:cs typeface="Times New Roman Bold" panose="02020503050405090304" charset="0"/>
              </a:rPr>
              <a:t>Re-instantiation</a:t>
            </a:r>
            <a:r>
              <a:rPr lang="en-US" altLang="zh-CN" sz="2400">
                <a:solidFill>
                  <a:schemeClr val="tx1"/>
                </a:solidFill>
              </a:rPr>
              <a:t>: GM in the translation of political discourse as interlingual re-instantiation (Chen, Mo and Yang, 2023); translation of ethnography (</a:t>
            </a:r>
            <a:r>
              <a:rPr lang="zh-CN" altLang="en-US" sz="2400">
                <a:solidFill>
                  <a:schemeClr val="tx1"/>
                </a:solidFill>
              </a:rPr>
              <a:t>陈树坤、黄中习，</a:t>
            </a:r>
            <a:r>
              <a:rPr lang="en-US" altLang="zh-CN" sz="2400">
                <a:solidFill>
                  <a:schemeClr val="tx1"/>
                </a:solidFill>
              </a:rPr>
              <a:t>2019) and political discourse (</a:t>
            </a:r>
            <a:r>
              <a:rPr lang="zh-CN" altLang="en-US" sz="2400">
                <a:solidFill>
                  <a:schemeClr val="tx1"/>
                </a:solidFill>
              </a:rPr>
              <a:t>赵晶，</a:t>
            </a:r>
            <a:r>
              <a:rPr lang="en-US" altLang="zh-CN" sz="2400">
                <a:solidFill>
                  <a:schemeClr val="tx1"/>
                </a:solidFill>
              </a:rPr>
              <a:t>2020); model establishment (</a:t>
            </a:r>
            <a:r>
              <a:rPr lang="zh-CN" altLang="en-US" sz="2400">
                <a:solidFill>
                  <a:schemeClr val="tx1"/>
                </a:solidFill>
              </a:rPr>
              <a:t>王汐，</a:t>
            </a:r>
            <a:r>
              <a:rPr lang="en-US" altLang="zh-CN" sz="2400">
                <a:solidFill>
                  <a:schemeClr val="tx1"/>
                </a:solidFill>
              </a:rPr>
              <a:t>2016; </a:t>
            </a:r>
            <a:r>
              <a:rPr lang="en-US" altLang="zh-CN" sz="2400">
                <a:solidFill>
                  <a:schemeClr val="tx1"/>
                </a:solidFill>
                <a:sym typeface="+mn-ea"/>
              </a:rPr>
              <a:t>de Souza, 2013</a:t>
            </a:r>
            <a:r>
              <a:rPr lang="en-US" altLang="zh-CN" sz="2400">
                <a:solidFill>
                  <a:schemeClr val="tx1"/>
                </a:solidFill>
              </a:rPr>
              <a:t>).</a:t>
            </a:r>
            <a:endParaRPr lang="en-US" altLang="zh-CN" sz="2400">
              <a:solidFill>
                <a:schemeClr val="tx1"/>
              </a:solidFill>
            </a:endParaRPr>
          </a:p>
          <a:p>
            <a:pPr marL="342900" indent="-342900">
              <a:lnSpc>
                <a:spcPct val="120000"/>
              </a:lnSpc>
              <a:buFont typeface="Arial" panose="020B0604020202090204" pitchFamily="34" charset="0"/>
              <a:buChar char="•"/>
            </a:pPr>
            <a:endParaRPr lang="en-US" sz="2400">
              <a:solidFill>
                <a:schemeClr val="tx1"/>
              </a:solidFill>
            </a:endParaRPr>
          </a:p>
          <a:p>
            <a:pPr>
              <a:lnSpc>
                <a:spcPct val="120000"/>
              </a:lnSpc>
              <a:buFont typeface="Arial" panose="020B0604020202090204" pitchFamily="34" charset="0"/>
            </a:pPr>
            <a:endParaRPr lang="en-US" sz="2400">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1024255"/>
            <a:ext cx="3557905" cy="895985"/>
          </a:xfrm>
        </p:spPr>
        <p:txBody>
          <a:bodyPr>
            <a:normAutofit fontScale="90000"/>
          </a:bodyPr>
          <a:p>
            <a:r>
              <a:rPr lang="en-US" altLang="zh-CN">
                <a:sym typeface="+mn-ea"/>
              </a:rPr>
              <a:t>Translation as </a:t>
            </a:r>
            <a:br>
              <a:rPr lang="en-US" altLang="zh-CN">
                <a:sym typeface="+mn-ea"/>
              </a:rPr>
            </a:br>
            <a:r>
              <a:rPr lang="en-US" altLang="zh-CN">
                <a:sym typeface="+mn-ea"/>
              </a:rPr>
              <a:t>Re-instantiation</a:t>
            </a:r>
            <a:endParaRPr lang="zh-CN" altLang="en-US"/>
          </a:p>
        </p:txBody>
      </p:sp>
      <p:sp>
        <p:nvSpPr>
          <p:cNvPr id="4" name="文本占位符 3"/>
          <p:cNvSpPr>
            <a:spLocks noGrp="1"/>
          </p:cNvSpPr>
          <p:nvPr>
            <p:ph type="body" sz="half" idx="2"/>
          </p:nvPr>
        </p:nvSpPr>
        <p:spPr>
          <a:xfrm>
            <a:off x="840105" y="2406015"/>
            <a:ext cx="10498455" cy="3463290"/>
          </a:xfrm>
        </p:spPr>
        <p:txBody>
          <a:bodyPr>
            <a:normAutofit/>
          </a:bodyPr>
          <a:p>
            <a:pPr>
              <a:lnSpc>
                <a:spcPct val="100000"/>
              </a:lnSpc>
            </a:pPr>
            <a:r>
              <a:rPr lang="zh-CN" altLang="en-US" sz="2400"/>
              <a:t>Analytical Framework</a:t>
            </a:r>
            <a:endParaRPr lang="zh-CN" altLang="en-US" sz="2400"/>
          </a:p>
          <a:p>
            <a:pPr marL="342900" indent="-342900">
              <a:lnSpc>
                <a:spcPct val="100000"/>
              </a:lnSpc>
              <a:buFont typeface="Arial" panose="020B0604020202090204" pitchFamily="34" charset="0"/>
              <a:buChar char="•"/>
            </a:pPr>
            <a:endParaRPr lang="en-US" sz="2400">
              <a:solidFill>
                <a:schemeClr val="tx1"/>
              </a:solidFill>
            </a:endParaRPr>
          </a:p>
          <a:p>
            <a:pPr>
              <a:lnSpc>
                <a:spcPct val="100000"/>
              </a:lnSpc>
              <a:buFont typeface="Arial" panose="020B0604020202090204" pitchFamily="34" charset="0"/>
            </a:pPr>
            <a:endParaRPr lang="en-US" sz="2400">
              <a:solidFill>
                <a:schemeClr val="tx1"/>
              </a:solidFill>
            </a:endParaRPr>
          </a:p>
        </p:txBody>
      </p:sp>
      <p:pic>
        <p:nvPicPr>
          <p:cNvPr id="6" name="图片 1"/>
          <p:cNvPicPr>
            <a:picLocks noChangeAspect="1"/>
          </p:cNvPicPr>
          <p:nvPr/>
        </p:nvPicPr>
        <p:blipFill>
          <a:blip r:embed="rId1"/>
          <a:stretch>
            <a:fillRect/>
          </a:stretch>
        </p:blipFill>
        <p:spPr>
          <a:xfrm>
            <a:off x="4398010" y="147638"/>
            <a:ext cx="5198110" cy="59975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47611" y="2835811"/>
            <a:ext cx="1402080" cy="1568450"/>
          </a:xfrm>
          <a:prstGeom prst="rect">
            <a:avLst/>
          </a:prstGeom>
          <a:noFill/>
        </p:spPr>
        <p:txBody>
          <a:bodyPr wrap="none" rtlCol="0">
            <a:spAutoFit/>
          </a:bodyPr>
          <a:lstStyle/>
          <a:p>
            <a:r>
              <a:rPr lang="en-US" altLang="zh-CN" sz="9600" dirty="0">
                <a:solidFill>
                  <a:schemeClr val="bg1"/>
                </a:solidFill>
                <a:latin typeface="Times New Roman" panose="02020503050405090304" charset="0"/>
                <a:ea typeface="Times New Roman" panose="02020503050405090304" charset="0"/>
                <a:cs typeface="Times New Roman" panose="02020503050405090304" charset="0"/>
              </a:rPr>
              <a:t>04</a:t>
            </a:r>
            <a:endParaRPr lang="zh-CN" altLang="en-US" sz="9600" dirty="0">
              <a:solidFill>
                <a:schemeClr val="bg1"/>
              </a:solidFill>
              <a:latin typeface="Times New Roman" panose="02020503050405090304" charset="0"/>
              <a:ea typeface="Times New Roman" panose="02020503050405090304" charset="0"/>
              <a:cs typeface="Times New Roman" panose="02020503050405090304" charset="0"/>
            </a:endParaRPr>
          </a:p>
        </p:txBody>
      </p:sp>
      <p:sp>
        <p:nvSpPr>
          <p:cNvPr id="3" name="文本框 2"/>
          <p:cNvSpPr txBox="1"/>
          <p:nvPr/>
        </p:nvSpPr>
        <p:spPr>
          <a:xfrm>
            <a:off x="4104005" y="3297555"/>
            <a:ext cx="3983990" cy="645160"/>
          </a:xfrm>
          <a:prstGeom prst="rect">
            <a:avLst/>
          </a:prstGeom>
          <a:noFill/>
        </p:spPr>
        <p:txBody>
          <a:bodyPr wrap="square" rtlCol="0">
            <a:spAutoFit/>
          </a:bodyPr>
          <a:lstStyle/>
          <a:p>
            <a:pPr algn="ctr"/>
            <a:r>
              <a:rPr lang="en-US" altLang="en-GB" sz="3600" b="1" dirty="0">
                <a:solidFill>
                  <a:schemeClr val="tx1">
                    <a:lumMod val="75000"/>
                    <a:lumOff val="25000"/>
                  </a:schemeClr>
                </a:solidFill>
                <a:latin typeface="Times New Roman" panose="02020503050405090304" charset="0"/>
                <a:ea typeface="Times New Roman" panose="02020503050405090304" charset="0"/>
                <a:cs typeface="Times New Roman" panose="02020503050405090304" charset="0"/>
                <a:sym typeface="+mn-ea"/>
              </a:rPr>
              <a:t>Analysis</a:t>
            </a:r>
            <a:endParaRPr lang="en-US" altLang="en-GB" sz="3600" b="1" dirty="0">
              <a:solidFill>
                <a:schemeClr val="tx1">
                  <a:lumMod val="75000"/>
                  <a:lumOff val="25000"/>
                </a:schemeClr>
              </a:solidFill>
              <a:latin typeface="Times New Roman" panose="02020503050405090304" charset="0"/>
              <a:ea typeface="Times New Roman" panose="02020503050405090304" charset="0"/>
              <a:cs typeface="Times New Roman" panose="020205030504050903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1" presetClass="entr" presetSubtype="0" fill="hold" grpId="0" nodeType="clickEffect">
                                  <p:stCondLst>
                                    <p:cond delay="0"/>
                                  </p:stCondLst>
                                  <p:iterate type="lt">
                                    <p:tmPct val="10000"/>
                                  </p:iterate>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3"/>
                                        </p:tgtEl>
                                        <p:attrNameLst>
                                          <p:attrName>ppt_y</p:attrName>
                                        </p:attrNameLst>
                                      </p:cBhvr>
                                      <p:tavLst>
                                        <p:tav tm="0">
                                          <p:val>
                                            <p:strVal val="#ppt_y"/>
                                          </p:val>
                                        </p:tav>
                                        <p:tav tm="100000">
                                          <p:val>
                                            <p:strVal val="#ppt_y"/>
                                          </p:val>
                                        </p:tav>
                                      </p:tavLst>
                                    </p:anim>
                                    <p:anim calcmode="lin" valueType="num">
                                      <p:cBhvr>
                                        <p:cTn id="14"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497820" cy="895985"/>
          </a:xfrm>
        </p:spPr>
        <p:txBody>
          <a:bodyPr>
            <a:normAutofit fontScale="90000"/>
          </a:bodyPr>
          <a:p>
            <a:r>
              <a:rPr lang="en-US" altLang="zh-CN" b="1">
                <a:latin typeface="Times New Roman Bold" panose="02020503050405090304" charset="0"/>
                <a:cs typeface="Times New Roman Bold" panose="02020503050405090304" charset="0"/>
                <a:sym typeface="+mn-ea"/>
              </a:rPr>
              <a:t>Coupling</a:t>
            </a:r>
            <a:r>
              <a:rPr lang="en-US" altLang="zh-CN">
                <a:sym typeface="+mn-ea"/>
              </a:rPr>
              <a:t>: Organization of C-E Translation of Wang Wei’s Poems</a:t>
            </a:r>
            <a:endParaRPr lang="en-US" altLang="zh-CN">
              <a:sym typeface="+mn-ea"/>
            </a:endParaRPr>
          </a:p>
        </p:txBody>
      </p:sp>
      <p:sp>
        <p:nvSpPr>
          <p:cNvPr id="4" name="文本占位符 3"/>
          <p:cNvSpPr>
            <a:spLocks noGrp="1"/>
          </p:cNvSpPr>
          <p:nvPr>
            <p:ph type="body" sz="half" idx="2"/>
          </p:nvPr>
        </p:nvSpPr>
        <p:spPr>
          <a:xfrm>
            <a:off x="840105" y="1555115"/>
            <a:ext cx="10498455" cy="4314190"/>
          </a:xfrm>
        </p:spPr>
        <p:txBody>
          <a:bodyPr>
            <a:noAutofit/>
          </a:bodyPr>
          <a:p>
            <a:pPr>
              <a:lnSpc>
                <a:spcPct val="120000"/>
              </a:lnSpc>
            </a:pPr>
            <a:r>
              <a:rPr lang="en-US" altLang="zh-CN" sz="1800">
                <a:solidFill>
                  <a:schemeClr val="tx1"/>
                </a:solidFill>
                <a:latin typeface="+mn-lt"/>
                <a:cs typeface="+mn-lt"/>
              </a:rPr>
              <a:t>ST: </a:t>
            </a:r>
            <a:r>
              <a:rPr lang="zh-CN" altLang="en-US" sz="1800">
                <a:solidFill>
                  <a:schemeClr val="tx1"/>
                </a:solidFill>
                <a:latin typeface="+mn-lt"/>
                <a:cs typeface="+mn-lt"/>
              </a:rPr>
              <a:t>羡君栖隐处，遥望白云端。（《酬比部杨员外暮宿琴台朝跻书阁率尔见赠之作》）</a:t>
            </a:r>
            <a:endParaRPr lang="en-US" altLang="zh-CN" sz="1800">
              <a:solidFill>
                <a:schemeClr val="tx1"/>
              </a:solidFill>
              <a:latin typeface="+mn-lt"/>
              <a:cs typeface="+mn-lt"/>
            </a:endParaRPr>
          </a:p>
          <a:p>
            <a:pPr>
              <a:lnSpc>
                <a:spcPct val="120000"/>
              </a:lnSpc>
            </a:pPr>
            <a:r>
              <a:rPr lang="en-US" altLang="zh-CN" sz="1800">
                <a:solidFill>
                  <a:schemeClr val="tx1"/>
                </a:solidFill>
                <a:latin typeface="+mn-lt"/>
                <a:cs typeface="+mn-lt"/>
              </a:rPr>
              <a:t>TT: Your </a:t>
            </a:r>
            <a:r>
              <a:rPr lang="en-US" altLang="zh-CN" sz="1800" b="1">
                <a:solidFill>
                  <a:schemeClr val="tx1"/>
                </a:solidFill>
                <a:latin typeface="Times New Roman Bold" panose="02020503050405090304" charset="0"/>
                <a:cs typeface="Times New Roman Bold" panose="02020503050405090304" charset="0"/>
              </a:rPr>
              <a:t>hermitage</a:t>
            </a:r>
            <a:r>
              <a:rPr lang="en-US" altLang="zh-CN" sz="1800">
                <a:solidFill>
                  <a:schemeClr val="tx1"/>
                </a:solidFill>
                <a:latin typeface="+mn-lt"/>
                <a:cs typeface="+mn-lt"/>
              </a:rPr>
              <a:t>’s an </a:t>
            </a:r>
            <a:r>
              <a:rPr lang="en-US" altLang="zh-CN" sz="1800" b="1">
                <a:solidFill>
                  <a:schemeClr val="tx1"/>
                </a:solidFill>
                <a:latin typeface="Times New Roman Bold" panose="02020503050405090304" charset="0"/>
                <a:cs typeface="Times New Roman Bold" panose="02020503050405090304" charset="0"/>
              </a:rPr>
              <a:t>admirable sight</a:t>
            </a:r>
            <a:r>
              <a:rPr lang="en-US" altLang="zh-CN" sz="1800">
                <a:solidFill>
                  <a:schemeClr val="tx1"/>
                </a:solidFill>
                <a:latin typeface="+mn-lt"/>
                <a:cs typeface="+mn-lt"/>
              </a:rPr>
              <a:t>, // Viewed from afar, it is atop cloud white. (</a:t>
            </a:r>
            <a:r>
              <a:rPr lang="en-US" altLang="zh-CN" sz="1800" i="1">
                <a:solidFill>
                  <a:schemeClr val="tx1"/>
                </a:solidFill>
                <a:latin typeface="Times New Roman Italic" panose="02020503050405090304" charset="0"/>
                <a:cs typeface="Times New Roman Italic" panose="02020503050405090304" charset="0"/>
              </a:rPr>
              <a:t>Reply to Financier Yang on His Visit to the Lute Terrace</a:t>
            </a:r>
            <a:r>
              <a:rPr lang="en-US" altLang="zh-CN" sz="1800">
                <a:solidFill>
                  <a:schemeClr val="tx1"/>
                </a:solidFill>
                <a:latin typeface="+mn-lt"/>
                <a:cs typeface="+mn-lt"/>
              </a:rPr>
              <a:t>) </a:t>
            </a:r>
            <a:endParaRPr lang="en-US" altLang="zh-CN" sz="1800">
              <a:solidFill>
                <a:schemeClr val="tx1"/>
              </a:solidFill>
              <a:latin typeface="+mn-lt"/>
              <a:cs typeface="+mn-lt"/>
            </a:endParaRPr>
          </a:p>
          <a:p>
            <a:pPr>
              <a:lnSpc>
                <a:spcPct val="120000"/>
              </a:lnSpc>
            </a:pPr>
            <a:r>
              <a:rPr lang="en-US" altLang="zh-CN" sz="1800">
                <a:solidFill>
                  <a:schemeClr val="tx1"/>
                </a:solidFill>
                <a:latin typeface="+mn-lt"/>
                <a:cs typeface="+mn-lt"/>
              </a:rPr>
              <a:t>ST: </a:t>
            </a:r>
            <a:r>
              <a:rPr lang="zh-CN" altLang="en-US" sz="1800">
                <a:solidFill>
                  <a:schemeClr val="tx1"/>
                </a:solidFill>
                <a:latin typeface="+mn-lt"/>
                <a:cs typeface="+mn-lt"/>
              </a:rPr>
              <a:t>空山不见人，但闻人语响。</a:t>
            </a:r>
            <a:r>
              <a:rPr lang="zh-CN" altLang="en-US" sz="1800">
                <a:solidFill>
                  <a:schemeClr val="tx1"/>
                </a:solidFill>
                <a:latin typeface="+mn-lt"/>
                <a:cs typeface="+mn-lt"/>
              </a:rPr>
              <a:t>（《鹿柴》）</a:t>
            </a:r>
            <a:endParaRPr lang="en-US" altLang="zh-CN" sz="1800">
              <a:solidFill>
                <a:schemeClr val="tx1"/>
              </a:solidFill>
              <a:latin typeface="+mn-lt"/>
              <a:cs typeface="+mn-lt"/>
            </a:endParaRPr>
          </a:p>
          <a:p>
            <a:pPr>
              <a:lnSpc>
                <a:spcPct val="120000"/>
              </a:lnSpc>
            </a:pPr>
            <a:r>
              <a:rPr lang="en-US" altLang="zh-CN" sz="1800">
                <a:solidFill>
                  <a:schemeClr val="tx1"/>
                </a:solidFill>
                <a:latin typeface="+mn-lt"/>
                <a:cs typeface="+mn-lt"/>
              </a:rPr>
              <a:t>TT: In pathless hills no man’s </a:t>
            </a:r>
            <a:r>
              <a:rPr lang="en-US" altLang="zh-CN" sz="1800" b="1">
                <a:solidFill>
                  <a:schemeClr val="tx1"/>
                </a:solidFill>
                <a:latin typeface="Times New Roman Bold" panose="02020503050405090304" charset="0"/>
                <a:cs typeface="Times New Roman Bold" panose="02020503050405090304" charset="0"/>
              </a:rPr>
              <a:t>in sight</a:t>
            </a:r>
            <a:r>
              <a:rPr lang="en-US" altLang="zh-CN" sz="1800">
                <a:solidFill>
                  <a:schemeClr val="tx1"/>
                </a:solidFill>
                <a:latin typeface="+mn-lt"/>
                <a:cs typeface="+mn-lt"/>
              </a:rPr>
              <a:t>, But I still hear </a:t>
            </a:r>
            <a:r>
              <a:rPr lang="en-US" altLang="zh-CN" sz="1800" b="1">
                <a:solidFill>
                  <a:schemeClr val="tx1"/>
                </a:solidFill>
                <a:latin typeface="Times New Roman Bold" panose="02020503050405090304" charset="0"/>
                <a:cs typeface="Times New Roman Bold" panose="02020503050405090304" charset="0"/>
              </a:rPr>
              <a:t>echoing sound</a:t>
            </a:r>
            <a:r>
              <a:rPr lang="en-US" altLang="zh-CN" sz="1800">
                <a:solidFill>
                  <a:schemeClr val="tx1"/>
                </a:solidFill>
                <a:latin typeface="+mn-lt"/>
                <a:cs typeface="+mn-lt"/>
              </a:rPr>
              <a:t>. (</a:t>
            </a:r>
            <a:r>
              <a:rPr lang="en-US" altLang="zh-CN" sz="1800" i="1">
                <a:solidFill>
                  <a:schemeClr val="tx1"/>
                </a:solidFill>
                <a:latin typeface="Times New Roman Italic" panose="02020503050405090304" charset="0"/>
                <a:cs typeface="Times New Roman Italic" panose="02020503050405090304" charset="0"/>
              </a:rPr>
              <a:t>The Deer Enclosure</a:t>
            </a:r>
            <a:r>
              <a:rPr lang="en-US" altLang="zh-CN" sz="1800">
                <a:solidFill>
                  <a:schemeClr val="tx1"/>
                </a:solidFill>
                <a:latin typeface="+mn-lt"/>
                <a:cs typeface="+mn-lt"/>
              </a:rPr>
              <a:t>)</a:t>
            </a:r>
            <a:endParaRPr lang="en-US" altLang="zh-CN" sz="1800">
              <a:solidFill>
                <a:schemeClr val="tx1"/>
              </a:solidFill>
              <a:latin typeface="+mn-lt"/>
              <a:cs typeface="+mn-lt"/>
            </a:endParaRPr>
          </a:p>
          <a:p>
            <a:pPr>
              <a:lnSpc>
                <a:spcPct val="120000"/>
              </a:lnSpc>
            </a:pPr>
            <a:endParaRPr lang="en-US" altLang="zh-CN" sz="1800">
              <a:solidFill>
                <a:schemeClr val="tx1"/>
              </a:solidFill>
              <a:latin typeface="+mn-lt"/>
              <a:cs typeface="+mn-lt"/>
            </a:endParaRPr>
          </a:p>
          <a:p>
            <a:pPr marL="285750" indent="-285750">
              <a:lnSpc>
                <a:spcPct val="120000"/>
              </a:lnSpc>
              <a:buFont typeface="Arial" panose="020B0604020202090204" pitchFamily="34" charset="0"/>
              <a:buChar char="•"/>
            </a:pPr>
            <a:r>
              <a:rPr lang="en-US" altLang="zh-CN" sz="1800">
                <a:solidFill>
                  <a:schemeClr val="tx1"/>
                </a:solidFill>
                <a:latin typeface="+mn-lt"/>
                <a:cs typeface="+mn-lt"/>
              </a:rPr>
              <a:t>Coupling: interpersonal meaning and ideational meaning</a:t>
            </a:r>
            <a:endParaRPr lang="en-US" altLang="zh-CN" sz="1800">
              <a:solidFill>
                <a:schemeClr val="tx1"/>
              </a:solidFill>
              <a:latin typeface="+mn-lt"/>
              <a:cs typeface="+mn-lt"/>
            </a:endParaRPr>
          </a:p>
          <a:p>
            <a:pPr marL="285750" indent="-285750">
              <a:lnSpc>
                <a:spcPct val="120000"/>
              </a:lnSpc>
              <a:buFont typeface="Arial" panose="020B0604020202090204" pitchFamily="34" charset="0"/>
              <a:buChar char="•"/>
            </a:pPr>
            <a:r>
              <a:rPr lang="en-US" altLang="zh-CN" sz="1800">
                <a:solidFill>
                  <a:schemeClr val="tx1"/>
                </a:solidFill>
                <a:latin typeface="+mn-lt"/>
                <a:cs typeface="+mn-lt"/>
              </a:rPr>
              <a:t>Nominalization: making the TT more compact as both metafunctions combine.</a:t>
            </a:r>
            <a:endParaRPr lang="en-US" altLang="zh-CN" sz="1800">
              <a:solidFill>
                <a:schemeClr val="tx1"/>
              </a:solidFill>
              <a:latin typeface="+mn-lt"/>
              <a:cs typeface="+mn-lt"/>
            </a:endParaRPr>
          </a:p>
          <a:p>
            <a:pPr>
              <a:lnSpc>
                <a:spcPct val="120000"/>
              </a:lnSpc>
              <a:buFont typeface="Arial" panose="020B0604020202090204" pitchFamily="34" charset="0"/>
            </a:pPr>
            <a:endParaRPr lang="en-US" altLang="zh-CN" sz="1800">
              <a:solidFill>
                <a:schemeClr val="tx1"/>
              </a:solidFill>
              <a:latin typeface="+mn-lt"/>
              <a:cs typeface="+mn-lt"/>
            </a:endParaRPr>
          </a:p>
          <a:p>
            <a:pPr marL="285750" indent="-285750">
              <a:lnSpc>
                <a:spcPct val="120000"/>
              </a:lnSpc>
              <a:buFont typeface="Arial" panose="020B0604020202090204" pitchFamily="34" charset="0"/>
              <a:buChar char="•"/>
            </a:pPr>
            <a:endParaRPr lang="en-US" altLang="zh-CN" sz="180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497820" cy="895985"/>
          </a:xfrm>
        </p:spPr>
        <p:txBody>
          <a:bodyPr>
            <a:normAutofit fontScale="90000"/>
          </a:bodyPr>
          <a:p>
            <a:r>
              <a:rPr lang="en-US" altLang="zh-CN" b="1">
                <a:latin typeface="Times New Roman Bold" panose="02020503050405090304" charset="0"/>
                <a:cs typeface="Times New Roman Bold" panose="02020503050405090304" charset="0"/>
                <a:sym typeface="+mn-ea"/>
              </a:rPr>
              <a:t>Commitment</a:t>
            </a:r>
            <a:r>
              <a:rPr lang="en-US" altLang="zh-CN">
                <a:sym typeface="+mn-ea"/>
              </a:rPr>
              <a:t>: Meanings in C-E Translation of Wang Wei’s Poems</a:t>
            </a:r>
            <a:endParaRPr lang="en-US" altLang="zh-CN">
              <a:sym typeface="+mn-ea"/>
            </a:endParaRPr>
          </a:p>
        </p:txBody>
      </p:sp>
      <p:sp>
        <p:nvSpPr>
          <p:cNvPr id="4" name="文本占位符 3"/>
          <p:cNvSpPr>
            <a:spLocks noGrp="1"/>
          </p:cNvSpPr>
          <p:nvPr>
            <p:ph type="body" sz="half" idx="2"/>
          </p:nvPr>
        </p:nvSpPr>
        <p:spPr>
          <a:xfrm>
            <a:off x="840105" y="1466215"/>
            <a:ext cx="5255895" cy="4314190"/>
          </a:xfrm>
        </p:spPr>
        <p:txBody>
          <a:bodyPr>
            <a:noAutofit/>
          </a:bodyPr>
          <a:p>
            <a:pPr>
              <a:lnSpc>
                <a:spcPct val="120000"/>
              </a:lnSpc>
            </a:pPr>
            <a:r>
              <a:rPr lang="en-US" altLang="zh-CN" sz="1800">
                <a:solidFill>
                  <a:schemeClr val="tx1"/>
                </a:solidFill>
                <a:latin typeface="+mn-lt"/>
                <a:cs typeface="+mn-lt"/>
              </a:rPr>
              <a:t>ST: </a:t>
            </a:r>
            <a:r>
              <a:rPr lang="zh-CN" altLang="en-US" sz="1800">
                <a:solidFill>
                  <a:schemeClr val="tx1"/>
                </a:solidFill>
                <a:latin typeface="+mn-lt"/>
                <a:cs typeface="+mn-lt"/>
              </a:rPr>
              <a:t>出洞无论隔山水，辞家终拟长游衍。（《桃源行》）</a:t>
            </a:r>
            <a:endParaRPr lang="zh-CN" altLang="en-US" sz="1800">
              <a:solidFill>
                <a:schemeClr val="tx1"/>
              </a:solidFill>
              <a:latin typeface="+mn-lt"/>
              <a:cs typeface="+mn-lt"/>
            </a:endParaRPr>
          </a:p>
          <a:p>
            <a:pPr>
              <a:lnSpc>
                <a:spcPct val="120000"/>
              </a:lnSpc>
            </a:pPr>
            <a:r>
              <a:rPr lang="en-US" altLang="zh-CN" sz="1800">
                <a:solidFill>
                  <a:schemeClr val="tx1"/>
                </a:solidFill>
                <a:latin typeface="+mn-lt"/>
                <a:cs typeface="+mn-lt"/>
              </a:rPr>
              <a:t>TT: He left the place and passed over mountains and streams, // </a:t>
            </a:r>
            <a:r>
              <a:rPr lang="en-US" altLang="zh-CN" sz="1800" b="1">
                <a:solidFill>
                  <a:schemeClr val="tx1"/>
                </a:solidFill>
                <a:latin typeface="Times New Roman Bold" panose="02020503050405090304" charset="0"/>
                <a:cs typeface="Times New Roman Bold" panose="02020503050405090304" charset="0"/>
              </a:rPr>
              <a:t>But </a:t>
            </a:r>
            <a:r>
              <a:rPr lang="en-US" altLang="zh-CN" sz="1800">
                <a:solidFill>
                  <a:schemeClr val="tx1"/>
                </a:solidFill>
                <a:latin typeface="+mn-lt"/>
                <a:cs typeface="+mn-lt"/>
              </a:rPr>
              <a:t>how could he forget the scene of his dear dreams? (</a:t>
            </a:r>
            <a:r>
              <a:rPr lang="en-US" altLang="zh-CN" sz="1800" i="1">
                <a:solidFill>
                  <a:schemeClr val="tx1"/>
                </a:solidFill>
                <a:latin typeface="Times New Roman Italic" panose="02020503050405090304" charset="0"/>
                <a:cs typeface="Times New Roman Italic" panose="02020503050405090304" charset="0"/>
              </a:rPr>
              <a:t>Song of Peach Blossom Land</a:t>
            </a:r>
            <a:r>
              <a:rPr lang="en-US" altLang="zh-CN" sz="1800">
                <a:solidFill>
                  <a:schemeClr val="tx1"/>
                </a:solidFill>
                <a:latin typeface="+mn-lt"/>
                <a:cs typeface="+mn-lt"/>
              </a:rPr>
              <a:t>) </a:t>
            </a:r>
            <a:endParaRPr lang="en-US" altLang="zh-CN" sz="1800">
              <a:solidFill>
                <a:schemeClr val="tx1"/>
              </a:solidFill>
              <a:latin typeface="+mn-lt"/>
              <a:cs typeface="+mn-lt"/>
            </a:endParaRPr>
          </a:p>
          <a:p>
            <a:pPr>
              <a:lnSpc>
                <a:spcPct val="120000"/>
              </a:lnSpc>
            </a:pPr>
            <a:r>
              <a:rPr lang="en-US" altLang="zh-CN" sz="1800">
                <a:solidFill>
                  <a:schemeClr val="tx1"/>
                </a:solidFill>
                <a:latin typeface="+mn-lt"/>
                <a:cs typeface="+mn-lt"/>
              </a:rPr>
              <a:t>ST: </a:t>
            </a:r>
            <a:r>
              <a:rPr lang="zh-CN" altLang="en-US" sz="1800">
                <a:solidFill>
                  <a:schemeClr val="tx1"/>
                </a:solidFill>
                <a:latin typeface="+mn-lt"/>
                <a:cs typeface="+mn-lt"/>
              </a:rPr>
              <a:t>白云回望合，青霭入看无。（《终南山》）</a:t>
            </a:r>
            <a:endParaRPr lang="en-US" altLang="zh-CN" sz="1800">
              <a:solidFill>
                <a:schemeClr val="tx1"/>
              </a:solidFill>
              <a:latin typeface="+mn-lt"/>
              <a:cs typeface="+mn-lt"/>
            </a:endParaRPr>
          </a:p>
          <a:p>
            <a:pPr>
              <a:lnSpc>
                <a:spcPct val="120000"/>
              </a:lnSpc>
            </a:pPr>
            <a:r>
              <a:rPr lang="en-US" altLang="zh-CN" sz="1800">
                <a:solidFill>
                  <a:schemeClr val="tx1"/>
                </a:solidFill>
                <a:latin typeface="+mn-lt"/>
                <a:cs typeface="+mn-lt"/>
              </a:rPr>
              <a:t>TT: </a:t>
            </a:r>
            <a:r>
              <a:rPr lang="en-US" altLang="zh-CN" sz="1800" b="1">
                <a:solidFill>
                  <a:schemeClr val="tx1"/>
                </a:solidFill>
                <a:latin typeface="Times New Roman Bold" panose="02020503050405090304" charset="0"/>
                <a:cs typeface="Times New Roman Bold" panose="02020503050405090304" charset="0"/>
              </a:rPr>
              <a:t>When </a:t>
            </a:r>
            <a:r>
              <a:rPr lang="en-US" altLang="zh-CN" sz="1800">
                <a:solidFill>
                  <a:schemeClr val="tx1"/>
                </a:solidFill>
                <a:latin typeface="+mn-lt"/>
                <a:cs typeface="+mn-lt"/>
              </a:rPr>
              <a:t>I look back, clouds veil the eye; // </a:t>
            </a:r>
            <a:r>
              <a:rPr lang="en-US" altLang="zh-CN" sz="1800" b="1">
                <a:solidFill>
                  <a:schemeClr val="tx1"/>
                </a:solidFill>
                <a:latin typeface="Times New Roman Bold" panose="02020503050405090304" charset="0"/>
                <a:cs typeface="Times New Roman Bold" panose="02020503050405090304" charset="0"/>
              </a:rPr>
              <a:t>When </a:t>
            </a:r>
            <a:r>
              <a:rPr lang="en-US" altLang="zh-CN" sz="1800">
                <a:solidFill>
                  <a:schemeClr val="tx1"/>
                </a:solidFill>
                <a:latin typeface="+mn-lt"/>
                <a:cs typeface="+mn-lt"/>
              </a:rPr>
              <a:t>I come near, I see mist flee. (</a:t>
            </a:r>
            <a:r>
              <a:rPr lang="en-US" altLang="zh-CN" sz="1800" i="1">
                <a:solidFill>
                  <a:schemeClr val="tx1"/>
                </a:solidFill>
                <a:latin typeface="Times New Roman Italic" panose="02020503050405090304" charset="0"/>
                <a:cs typeface="Times New Roman Italic" panose="02020503050405090304" charset="0"/>
              </a:rPr>
              <a:t>Mount Eternal South</a:t>
            </a:r>
            <a:r>
              <a:rPr lang="en-US" altLang="zh-CN" sz="1800">
                <a:solidFill>
                  <a:schemeClr val="tx1"/>
                </a:solidFill>
                <a:latin typeface="+mn-lt"/>
                <a:cs typeface="+mn-lt"/>
              </a:rPr>
              <a:t>) </a:t>
            </a:r>
            <a:endParaRPr lang="en-US" altLang="zh-CN" sz="1800">
              <a:solidFill>
                <a:schemeClr val="tx1"/>
              </a:solidFill>
              <a:latin typeface="+mn-lt"/>
              <a:cs typeface="+mn-lt"/>
              <a:sym typeface="+mn-ea"/>
            </a:endParaRPr>
          </a:p>
          <a:p>
            <a:pPr marL="285750" indent="-285750">
              <a:lnSpc>
                <a:spcPct val="120000"/>
              </a:lnSpc>
              <a:buFont typeface="Arial" panose="020B0604020202090204" pitchFamily="34" charset="0"/>
              <a:buChar char="•"/>
            </a:pPr>
            <a:endParaRPr lang="en-US" altLang="zh-CN" sz="1800">
              <a:solidFill>
                <a:schemeClr val="tx1"/>
              </a:solidFill>
              <a:latin typeface="+mn-lt"/>
              <a:cs typeface="+mn-lt"/>
              <a:sym typeface="+mn-ea"/>
            </a:endParaRPr>
          </a:p>
          <a:p>
            <a:pPr marL="285750" indent="-285750">
              <a:lnSpc>
                <a:spcPct val="120000"/>
              </a:lnSpc>
              <a:buFont typeface="Arial" panose="020B0604020202090204" pitchFamily="34" charset="0"/>
              <a:buChar char="•"/>
            </a:pPr>
            <a:r>
              <a:rPr lang="en-US" altLang="zh-CN" sz="1800">
                <a:solidFill>
                  <a:schemeClr val="tx1"/>
                </a:solidFill>
                <a:latin typeface="+mn-lt"/>
                <a:cs typeface="+mn-lt"/>
                <a:sym typeface="+mn-ea"/>
              </a:rPr>
              <a:t>Ideational commitment: </a:t>
            </a:r>
            <a:r>
              <a:rPr lang="en-US" altLang="zh-CN" sz="1800" b="1">
                <a:solidFill>
                  <a:schemeClr val="tx1"/>
                </a:solidFill>
                <a:latin typeface="Times New Roman Bold" panose="02020503050405090304" charset="0"/>
                <a:cs typeface="Times New Roman Bold" panose="02020503050405090304" charset="0"/>
                <a:sym typeface="+mn-ea"/>
              </a:rPr>
              <a:t>particularization </a:t>
            </a:r>
            <a:r>
              <a:rPr lang="en-US" altLang="zh-CN" sz="1800">
                <a:solidFill>
                  <a:schemeClr val="tx1"/>
                </a:solidFill>
                <a:latin typeface="+mn-lt"/>
                <a:cs typeface="+mn-lt"/>
                <a:sym typeface="+mn-ea"/>
              </a:rPr>
              <a:t>as the major category (</a:t>
            </a:r>
            <a:r>
              <a:rPr lang="en-US" altLang="zh-CN" sz="1800" b="1">
                <a:solidFill>
                  <a:schemeClr val="tx1"/>
                </a:solidFill>
                <a:latin typeface="Times New Roman Bold" panose="02020503050405090304" charset="0"/>
                <a:cs typeface="Times New Roman Bold" panose="02020503050405090304" charset="0"/>
                <a:sym typeface="+mn-ea"/>
              </a:rPr>
              <a:t>addition</a:t>
            </a:r>
            <a:r>
              <a:rPr lang="en-US" altLang="zh-CN" sz="1800">
                <a:solidFill>
                  <a:schemeClr val="tx1"/>
                </a:solidFill>
                <a:sym typeface="+mn-ea"/>
              </a:rPr>
              <a:t> increasing the delicacy and the amount of meaning potential activated)</a:t>
            </a:r>
            <a:endParaRPr lang="en-US" altLang="zh-CN" sz="1800">
              <a:solidFill>
                <a:schemeClr val="tx1"/>
              </a:solidFill>
              <a:latin typeface="+mn-lt"/>
              <a:cs typeface="+mn-lt"/>
              <a:sym typeface="+mn-ea"/>
            </a:endParaRPr>
          </a:p>
        </p:txBody>
      </p:sp>
      <p:sp>
        <p:nvSpPr>
          <p:cNvPr id="3" name="文本框 2"/>
          <p:cNvSpPr txBox="1"/>
          <p:nvPr/>
        </p:nvSpPr>
        <p:spPr>
          <a:xfrm>
            <a:off x="6096000" y="1353185"/>
            <a:ext cx="6096000" cy="4314190"/>
          </a:xfrm>
          <a:prstGeom prst="rect">
            <a:avLst/>
          </a:prstGeom>
          <a:noFill/>
        </p:spPr>
        <p:txBody>
          <a:bodyPr wrap="square" rtlCol="0" anchor="t">
            <a:noAutofit/>
          </a:bodyPr>
          <a:p>
            <a:pPr>
              <a:lnSpc>
                <a:spcPct val="150000"/>
              </a:lnSpc>
              <a:buFont typeface="Arial" panose="020B0604020202090204" pitchFamily="34" charset="0"/>
            </a:pPr>
            <a:r>
              <a:rPr lang="en-US" altLang="zh-CN">
                <a:sym typeface="+mn-ea"/>
              </a:rPr>
              <a:t>ST: </a:t>
            </a:r>
            <a:r>
              <a:rPr lang="zh-CN" altLang="en-US">
                <a:sym typeface="+mn-ea"/>
              </a:rPr>
              <a:t>山路元无雨，空</a:t>
            </a:r>
            <a:r>
              <a:rPr lang="zh-CN" altLang="en-US" b="1">
                <a:sym typeface="+mn-ea"/>
              </a:rPr>
              <a:t>翠</a:t>
            </a:r>
            <a:r>
              <a:rPr lang="zh-CN" altLang="en-US">
                <a:sym typeface="+mn-ea"/>
              </a:rPr>
              <a:t>湿人衣。（《山中》）</a:t>
            </a:r>
            <a:endParaRPr lang="zh-CN" altLang="en-US" sz="1800">
              <a:solidFill>
                <a:schemeClr val="tx1"/>
              </a:solidFill>
            </a:endParaRPr>
          </a:p>
          <a:p>
            <a:pPr>
              <a:lnSpc>
                <a:spcPct val="150000"/>
              </a:lnSpc>
              <a:buFont typeface="Arial" panose="020B0604020202090204" pitchFamily="34" charset="0"/>
            </a:pPr>
            <a:r>
              <a:rPr lang="en-US" altLang="zh-CN">
                <a:sym typeface="+mn-ea"/>
              </a:rPr>
              <a:t>TT: Along the path no rain is seen, // My gown is moist with drizzling </a:t>
            </a:r>
            <a:r>
              <a:rPr lang="zh-CN" altLang="en-US" b="1">
                <a:sym typeface="+mn-ea"/>
              </a:rPr>
              <a:t>green</a:t>
            </a:r>
            <a:r>
              <a:rPr lang="en-US" altLang="zh-CN">
                <a:sym typeface="+mn-ea"/>
              </a:rPr>
              <a:t>. (</a:t>
            </a:r>
            <a:r>
              <a:rPr lang="en-US" altLang="zh-CN" i="1">
                <a:latin typeface="Times New Roman Italic" panose="02020503050405090304" charset="0"/>
                <a:cs typeface="Times New Roman Italic" panose="02020503050405090304" charset="0"/>
                <a:sym typeface="+mn-ea"/>
              </a:rPr>
              <a:t>In the Hills</a:t>
            </a:r>
            <a:r>
              <a:rPr lang="en-US" altLang="zh-CN">
                <a:sym typeface="+mn-ea"/>
              </a:rPr>
              <a:t>) </a:t>
            </a:r>
            <a:endParaRPr lang="en-US" altLang="zh-CN" sz="1800">
              <a:solidFill>
                <a:schemeClr val="tx1"/>
              </a:solidFill>
            </a:endParaRPr>
          </a:p>
          <a:p>
            <a:pPr>
              <a:lnSpc>
                <a:spcPct val="150000"/>
              </a:lnSpc>
              <a:buFont typeface="Arial" panose="020B0604020202090204" pitchFamily="34" charset="0"/>
            </a:pPr>
            <a:r>
              <a:rPr lang="en-US" altLang="zh-CN">
                <a:sym typeface="+mn-ea"/>
              </a:rPr>
              <a:t>ST: </a:t>
            </a:r>
            <a:r>
              <a:rPr lang="zh-CN" altLang="en-US">
                <a:sym typeface="+mn-ea"/>
              </a:rPr>
              <a:t>湖上一回首，山</a:t>
            </a:r>
            <a:r>
              <a:rPr lang="zh-CN" altLang="en-US" b="1">
                <a:sym typeface="+mn-ea"/>
              </a:rPr>
              <a:t>青</a:t>
            </a:r>
            <a:r>
              <a:rPr lang="zh-CN" altLang="en-US">
                <a:sym typeface="+mn-ea"/>
              </a:rPr>
              <a:t>卷白云。（《欹湖》）</a:t>
            </a:r>
            <a:endParaRPr lang="en-US" altLang="zh-CN" sz="1800">
              <a:solidFill>
                <a:schemeClr val="tx1"/>
              </a:solidFill>
            </a:endParaRPr>
          </a:p>
          <a:p>
            <a:pPr>
              <a:lnSpc>
                <a:spcPct val="150000"/>
              </a:lnSpc>
              <a:buFont typeface="Arial" panose="020B0604020202090204" pitchFamily="34" charset="0"/>
            </a:pPr>
            <a:r>
              <a:rPr lang="en-US" altLang="zh-CN">
                <a:sym typeface="+mn-ea"/>
              </a:rPr>
              <a:t>TT: He turns to look back from the lake so wide, // But finds hill on hill </a:t>
            </a:r>
            <a:r>
              <a:rPr lang="zh-CN" altLang="en-US" b="1">
                <a:sym typeface="+mn-ea"/>
              </a:rPr>
              <a:t>green</a:t>
            </a:r>
            <a:r>
              <a:rPr lang="en-US" altLang="zh-CN">
                <a:sym typeface="+mn-ea"/>
              </a:rPr>
              <a:t>, cloud on cloud white. (</a:t>
            </a:r>
            <a:r>
              <a:rPr lang="en-US" altLang="zh-CN" i="1">
                <a:latin typeface="Times New Roman Italic" panose="02020503050405090304" charset="0"/>
                <a:cs typeface="Times New Roman Italic" panose="02020503050405090304" charset="0"/>
                <a:sym typeface="+mn-ea"/>
              </a:rPr>
              <a:t>The Slanted Lake</a:t>
            </a:r>
            <a:r>
              <a:rPr lang="en-US" altLang="zh-CN">
                <a:sym typeface="+mn-ea"/>
              </a:rPr>
              <a:t>) </a:t>
            </a:r>
            <a:endParaRPr lang="en-US" altLang="zh-CN">
              <a:cs typeface="+mn-lt"/>
              <a:sym typeface="+mn-ea"/>
            </a:endParaRPr>
          </a:p>
          <a:p>
            <a:pPr marL="285750" indent="-285750">
              <a:lnSpc>
                <a:spcPct val="150000"/>
              </a:lnSpc>
              <a:buFont typeface="Arial" panose="020B0604020202090204" pitchFamily="34" charset="0"/>
              <a:buChar char="•"/>
            </a:pPr>
            <a:endParaRPr lang="en-US" altLang="zh-CN">
              <a:cs typeface="+mn-lt"/>
              <a:sym typeface="+mn-ea"/>
            </a:endParaRPr>
          </a:p>
          <a:p>
            <a:pPr marL="285750" indent="-285750">
              <a:lnSpc>
                <a:spcPct val="150000"/>
              </a:lnSpc>
              <a:buFont typeface="Arial" panose="020B0604020202090204" pitchFamily="34" charset="0"/>
              <a:buChar char="•"/>
            </a:pPr>
            <a:r>
              <a:rPr lang="en-US" altLang="zh-CN">
                <a:cs typeface="+mn-lt"/>
                <a:sym typeface="+mn-ea"/>
              </a:rPr>
              <a:t>Interpersonal commitment: </a:t>
            </a:r>
            <a:r>
              <a:rPr lang="en-US" altLang="zh-CN" b="1">
                <a:latin typeface="Times New Roman Bold" panose="02020503050405090304" charset="0"/>
                <a:cs typeface="Times New Roman Bold" panose="02020503050405090304" charset="0"/>
                <a:sym typeface="+mn-ea"/>
              </a:rPr>
              <a:t>generalization </a:t>
            </a:r>
            <a:r>
              <a:rPr lang="en-US" altLang="zh-CN">
                <a:cs typeface="+mn-lt"/>
                <a:sym typeface="+mn-ea"/>
              </a:rPr>
              <a:t>as a typical methodology, </a:t>
            </a:r>
            <a:r>
              <a:rPr lang="en-US" altLang="zh-CN">
                <a:sym typeface="+mn-ea"/>
              </a:rPr>
              <a:t>increasing comprehensibility.</a:t>
            </a:r>
            <a:endParaRPr lang="zh-CN" altLang="en-US">
              <a:cs typeface="+mn-lt"/>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497820" cy="895985"/>
          </a:xfrm>
        </p:spPr>
        <p:txBody>
          <a:bodyPr>
            <a:normAutofit/>
          </a:bodyPr>
          <a:p>
            <a:r>
              <a:rPr lang="en-US" altLang="zh-CN" b="1">
                <a:latin typeface="Times New Roman Bold" panose="02020503050405090304" charset="0"/>
                <a:cs typeface="Times New Roman Bold" panose="02020503050405090304" charset="0"/>
                <a:sym typeface="+mn-ea"/>
              </a:rPr>
              <a:t>Semantic Relations</a:t>
            </a:r>
            <a:r>
              <a:rPr lang="en-US" altLang="zh-CN">
                <a:sym typeface="+mn-ea"/>
              </a:rPr>
              <a:t>: The Categorization of ST-TT Relation</a:t>
            </a:r>
            <a:endParaRPr lang="en-US" altLang="zh-CN">
              <a:sym typeface="+mn-ea"/>
            </a:endParaRPr>
          </a:p>
        </p:txBody>
      </p:sp>
      <p:sp>
        <p:nvSpPr>
          <p:cNvPr id="4" name="文本占位符 3"/>
          <p:cNvSpPr>
            <a:spLocks noGrp="1"/>
          </p:cNvSpPr>
          <p:nvPr>
            <p:ph type="body" sz="half" idx="2"/>
          </p:nvPr>
        </p:nvSpPr>
        <p:spPr>
          <a:xfrm>
            <a:off x="840105" y="1555115"/>
            <a:ext cx="6713220" cy="4314190"/>
          </a:xfrm>
        </p:spPr>
        <p:txBody>
          <a:bodyPr>
            <a:noAutofit/>
          </a:bodyPr>
          <a:p>
            <a:pPr>
              <a:lnSpc>
                <a:spcPct val="120000"/>
              </a:lnSpc>
            </a:pPr>
            <a:r>
              <a:rPr lang="en-US" altLang="zh-CN" sz="1800">
                <a:solidFill>
                  <a:schemeClr val="tx1"/>
                </a:solidFill>
              </a:rPr>
              <a:t>Tentative Categories of Semantic Relations based on Martin (2008), Hood (2008), and de Souza (2010)  </a:t>
            </a:r>
            <a:endParaRPr lang="en-US" altLang="zh-CN" sz="1800">
              <a:solidFill>
                <a:schemeClr val="tx1"/>
              </a:solidFill>
              <a:latin typeface="+mn-lt"/>
              <a:cs typeface="+mn-lt"/>
            </a:endParaRPr>
          </a:p>
          <a:p>
            <a:pPr marL="285750" indent="-285750">
              <a:lnSpc>
                <a:spcPct val="120000"/>
              </a:lnSpc>
              <a:buFont typeface="Arial" panose="020B0604020202090204" pitchFamily="34" charset="0"/>
              <a:buChar char="•"/>
            </a:pPr>
            <a:r>
              <a:rPr lang="en-US" altLang="zh-CN" sz="1800">
                <a:solidFill>
                  <a:schemeClr val="tx1"/>
                </a:solidFill>
              </a:rPr>
              <a:t>Integration of Xu Yuanchong’s methodologies of literary translation (particularization, equalization, generalization) (</a:t>
            </a:r>
            <a:r>
              <a:rPr lang="zh-CN" altLang="en-US" sz="1800">
                <a:solidFill>
                  <a:schemeClr val="tx1"/>
                </a:solidFill>
              </a:rPr>
              <a:t>许渊冲，</a:t>
            </a:r>
            <a:r>
              <a:rPr lang="en-US" altLang="zh-CN" sz="1800">
                <a:solidFill>
                  <a:schemeClr val="tx1"/>
                </a:solidFill>
              </a:rPr>
              <a:t>2003</a:t>
            </a:r>
            <a:r>
              <a:rPr lang="zh-CN" altLang="en-US" sz="1800">
                <a:solidFill>
                  <a:schemeClr val="tx1"/>
                </a:solidFill>
              </a:rPr>
              <a:t>：</a:t>
            </a:r>
            <a:r>
              <a:rPr lang="en-US" altLang="zh-CN" sz="1800">
                <a:solidFill>
                  <a:schemeClr val="tx1"/>
                </a:solidFill>
              </a:rPr>
              <a:t>76).</a:t>
            </a:r>
            <a:endParaRPr lang="en-US" altLang="zh-CN" sz="1800">
              <a:solidFill>
                <a:schemeClr val="tx1"/>
              </a:solidFill>
            </a:endParaRPr>
          </a:p>
          <a:p>
            <a:pPr marL="285750" indent="-285750">
              <a:lnSpc>
                <a:spcPct val="120000"/>
              </a:lnSpc>
              <a:buFont typeface="Arial" panose="020B0604020202090204" pitchFamily="34" charset="0"/>
              <a:buChar char="•"/>
            </a:pPr>
            <a:r>
              <a:rPr lang="en-US" altLang="zh-CN" sz="1800">
                <a:solidFill>
                  <a:schemeClr val="tx1"/>
                </a:solidFill>
              </a:rPr>
              <a:t>ST and TT analyzed are listed in Appendix A.</a:t>
            </a:r>
            <a:endParaRPr lang="en-US" altLang="zh-CN" sz="1800">
              <a:solidFill>
                <a:schemeClr val="tx1"/>
              </a:solidFill>
            </a:endParaRPr>
          </a:p>
          <a:p>
            <a:pPr marL="285750" indent="-285750">
              <a:lnSpc>
                <a:spcPct val="120000"/>
              </a:lnSpc>
              <a:buFont typeface="Arial" panose="020B0604020202090204" pitchFamily="34" charset="0"/>
              <a:buChar char="•"/>
            </a:pPr>
            <a:r>
              <a:rPr lang="en-US" altLang="zh-CN" sz="1800">
                <a:solidFill>
                  <a:schemeClr val="tx1"/>
                </a:solidFill>
              </a:rPr>
              <a:t>In the sampled cases, particularization is the major type of methodology of literary translation for Xu Yuanchong.</a:t>
            </a:r>
            <a:endParaRPr lang="en-US" altLang="zh-CN" sz="1800">
              <a:solidFill>
                <a:schemeClr val="tx1"/>
              </a:solidFill>
            </a:endParaRPr>
          </a:p>
          <a:p>
            <a:pPr marL="285750" indent="-285750">
              <a:lnSpc>
                <a:spcPct val="120000"/>
              </a:lnSpc>
              <a:buFont typeface="Arial" panose="020B0604020202090204" pitchFamily="34" charset="0"/>
              <a:buChar char="•"/>
            </a:pPr>
            <a:endParaRPr lang="en-US" altLang="zh-CN" sz="1800">
              <a:solidFill>
                <a:schemeClr val="tx1"/>
              </a:solidFill>
            </a:endParaRPr>
          </a:p>
          <a:p>
            <a:pPr marL="285750" indent="-285750">
              <a:lnSpc>
                <a:spcPct val="120000"/>
              </a:lnSpc>
              <a:buFont typeface="Arial" panose="020B0604020202090204" pitchFamily="34" charset="0"/>
              <a:buChar char="•"/>
            </a:pPr>
            <a:endParaRPr lang="en-US" altLang="zh-CN" sz="1800">
              <a:solidFill>
                <a:schemeClr val="tx1"/>
              </a:solidFill>
            </a:endParaRPr>
          </a:p>
        </p:txBody>
      </p:sp>
      <p:graphicFrame>
        <p:nvGraphicFramePr>
          <p:cNvPr id="5" name="表格 4"/>
          <p:cNvGraphicFramePr/>
          <p:nvPr>
            <p:custDataLst>
              <p:tags r:id="rId1"/>
            </p:custDataLst>
          </p:nvPr>
        </p:nvGraphicFramePr>
        <p:xfrm>
          <a:off x="7668895" y="2095500"/>
          <a:ext cx="4523105" cy="4762500"/>
        </p:xfrm>
        <a:graphic>
          <a:graphicData uri="http://schemas.openxmlformats.org/drawingml/2006/table">
            <a:tbl>
              <a:tblPr/>
              <a:tblGrid>
                <a:gridCol w="1323340"/>
                <a:gridCol w="1022985"/>
                <a:gridCol w="1115060"/>
                <a:gridCol w="1061720"/>
              </a:tblGrid>
              <a:tr h="266065">
                <a:tc>
                  <a:txBody>
                    <a:bodyPr/>
                    <a:p>
                      <a:pPr marL="0" indent="0" algn="ctr">
                        <a:lnSpc>
                          <a:spcPct val="114000"/>
                        </a:lnSpc>
                        <a:spcBef>
                          <a:spcPct val="0"/>
                        </a:spcBef>
                        <a:spcAft>
                          <a:spcPct val="0"/>
                        </a:spcAft>
                      </a:pPr>
                      <a:r>
                        <a:rPr lang="en-US" altLang="zh-CN" sz="1100" b="0">
                          <a:solidFill>
                            <a:srgbClr val="000000"/>
                          </a:solidFill>
                          <a:latin typeface="Times New Roman Bold" panose="02020503050405090304"/>
                          <a:ea typeface="Times New Roman Bold" panose="02020503050405090304"/>
                        </a:rPr>
                        <a:t>Meanings</a:t>
                      </a:r>
                      <a:endParaRPr lang="en-US" altLang="zh-CN" sz="1100" b="0">
                        <a:solidFill>
                          <a:srgbClr val="000000"/>
                        </a:solidFill>
                        <a:latin typeface="Times New Roman Bold" panose="02020503050405090304"/>
                        <a:ea typeface="Times New Roman Bold" panose="02020503050405090304"/>
                      </a:endParaRPr>
                    </a:p>
                  </a:txBody>
                  <a:tcPr marL="68580" marR="68580" marT="0" marB="0" anchor="ctr" anchorCtr="0">
                    <a:lnL>
                      <a:noFill/>
                    </a:lnL>
                    <a:lnR w="6350" cap="flat" cmpd="sng">
                      <a:solidFill>
                        <a:srgbClr val="000008"/>
                      </a:solidFill>
                      <a:prstDash val="solid"/>
                      <a:headEnd type="none" w="med" len="med"/>
                      <a:tailEnd type="none" w="med" len="med"/>
                    </a:lnR>
                    <a:lnT w="19050" cap="flat" cmpd="sng">
                      <a:solidFill>
                        <a:srgbClr val="000000"/>
                      </a:solidFill>
                      <a:prstDash val="solid"/>
                      <a:headEnd type="none" w="med" len="med"/>
                      <a:tailEnd type="none" w="med" len="med"/>
                    </a:lnT>
                    <a:lnB w="12700">
                      <a:solidFill>
                        <a:schemeClr val="tx1"/>
                      </a:solidFill>
                      <a:prstDash val="solid"/>
                    </a:lnB>
                    <a:solidFill>
                      <a:srgbClr val="FFFFFF"/>
                    </a:solidFill>
                  </a:tcPr>
                </a:tc>
                <a:tc>
                  <a:txBody>
                    <a:bodyPr/>
                    <a:p>
                      <a:pPr marL="0" indent="0" algn="ctr">
                        <a:lnSpc>
                          <a:spcPct val="114000"/>
                        </a:lnSpc>
                        <a:spcBef>
                          <a:spcPct val="0"/>
                        </a:spcBef>
                        <a:spcAft>
                          <a:spcPct val="0"/>
                        </a:spcAft>
                      </a:pPr>
                      <a:r>
                        <a:rPr lang="en-US" altLang="zh-CN" sz="1100" b="0">
                          <a:solidFill>
                            <a:srgbClr val="000000"/>
                          </a:solidFill>
                          <a:latin typeface="Times New Roman Bold" panose="02020503050405090304"/>
                          <a:ea typeface="Times New Roman Bold" panose="02020503050405090304"/>
                        </a:rPr>
                        <a:t>General Types</a:t>
                      </a:r>
                      <a:endParaRPr lang="en-US" altLang="zh-CN" sz="1100" b="0">
                        <a:solidFill>
                          <a:srgbClr val="000000"/>
                        </a:solidFill>
                        <a:latin typeface="Times New Roman Bold" panose="02020503050405090304"/>
                        <a:ea typeface="Times New Roman Bold" panose="02020503050405090304"/>
                      </a:endParaRPr>
                    </a:p>
                  </a:txBody>
                  <a:tcPr marL="68580" marR="68580" marT="0" marB="0" anchor="ctr" anchorCtr="0">
                    <a:lnL w="6350" cap="flat" cmpd="sng">
                      <a:solidFill>
                        <a:srgbClr val="000008"/>
                      </a:solidFill>
                      <a:prstDash val="solid"/>
                      <a:headEnd type="none" w="med" len="med"/>
                      <a:tailEnd type="none" w="med" len="med"/>
                    </a:lnL>
                    <a:lnR>
                      <a:noFill/>
                    </a:lnR>
                    <a:lnT w="19050" cap="flat" cmpd="sng">
                      <a:solidFill>
                        <a:srgbClr val="000000"/>
                      </a:solidFill>
                      <a:prstDash val="solid"/>
                      <a:headEnd type="none" w="med" len="med"/>
                      <a:tailEnd type="none" w="med" len="med"/>
                    </a:lnT>
                    <a:lnB w="12700">
                      <a:solidFill>
                        <a:schemeClr val="tx1"/>
                      </a:solidFill>
                      <a:prstDash val="solid"/>
                    </a:lnB>
                    <a:solidFill>
                      <a:srgbClr val="FFFFFF"/>
                    </a:solidFill>
                  </a:tcPr>
                </a:tc>
                <a:tc>
                  <a:txBody>
                    <a:bodyPr/>
                    <a:p>
                      <a:pPr marL="0" indent="0" algn="ctr">
                        <a:lnSpc>
                          <a:spcPct val="114000"/>
                        </a:lnSpc>
                        <a:spcBef>
                          <a:spcPct val="0"/>
                        </a:spcBef>
                        <a:spcAft>
                          <a:spcPct val="0"/>
                        </a:spcAft>
                      </a:pPr>
                      <a:r>
                        <a:rPr lang="en-US" altLang="zh-CN" sz="1100" b="0">
                          <a:solidFill>
                            <a:srgbClr val="000000"/>
                          </a:solidFill>
                          <a:latin typeface="Times New Roman Bold" panose="02020503050405090304"/>
                          <a:ea typeface="Times New Roman Bold" panose="02020503050405090304"/>
                        </a:rPr>
                        <a:t>Semantic Relations</a:t>
                      </a:r>
                      <a:endParaRPr lang="en-US" altLang="zh-CN" sz="1100" b="0">
                        <a:solidFill>
                          <a:srgbClr val="000000"/>
                        </a:solidFill>
                        <a:latin typeface="Times New Roman Bold" panose="02020503050405090304"/>
                        <a:ea typeface="Times New Roman Bold" panose="02020503050405090304"/>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marL="0" indent="0" algn="ctr">
                        <a:lnSpc>
                          <a:spcPct val="114000"/>
                        </a:lnSpc>
                        <a:spcBef>
                          <a:spcPct val="0"/>
                        </a:spcBef>
                        <a:spcAft>
                          <a:spcPct val="0"/>
                        </a:spcAft>
                      </a:pPr>
                      <a:r>
                        <a:rPr lang="en-US" altLang="zh-CN" sz="1100" b="0">
                          <a:solidFill>
                            <a:srgbClr val="000000"/>
                          </a:solidFill>
                          <a:latin typeface="Times New Roman Bold" panose="02020503050405090304"/>
                          <a:ea typeface="Times New Roman Bold" panose="02020503050405090304"/>
                        </a:rPr>
                        <a:t>Examples</a:t>
                      </a:r>
                      <a:endParaRPr lang="en-US" altLang="zh-CN" sz="1100" b="0">
                        <a:solidFill>
                          <a:srgbClr val="000000"/>
                        </a:solidFill>
                        <a:latin typeface="Times New Roman Bold" panose="02020503050405090304"/>
                        <a:ea typeface="Times New Roman Bold" panose="02020503050405090304"/>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r>
              <a:tr h="190500">
                <a:tc rowSpan="2">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Bold" panose="02020503050405090304"/>
                        </a:rPr>
                        <a:t>Ideational meanings</a:t>
                      </a:r>
                      <a:endParaRPr lang="en-US" altLang="zh-CN" sz="1100">
                        <a:solidFill>
                          <a:srgbClr val="000000"/>
                        </a:solidFill>
                        <a:latin typeface="Times New Roman" panose="02020503050405090304"/>
                        <a:ea typeface="Times New Roman Bold" panose="02020503050405090304"/>
                      </a:endParaRPr>
                    </a:p>
                  </a:txBody>
                  <a:tcPr marL="68580" marR="68580" marT="0" marB="0" anchor="ctr" anchorCtr="0">
                    <a:lnL>
                      <a:noFill/>
                    </a:lnL>
                    <a:lnR w="12700">
                      <a:solidFill>
                        <a:schemeClr val="tx1"/>
                      </a:solidFill>
                      <a:prstDash val="solid"/>
                    </a:lnR>
                    <a:lnT w="12700">
                      <a:solidFill>
                        <a:schemeClr val="tx1"/>
                      </a:solidFill>
                      <a:prstDash val="solid"/>
                    </a:lnT>
                    <a:lnB>
                      <a:noFill/>
                    </a:lnB>
                    <a:lnTlToBr>
                      <a:noFill/>
                    </a:lnTlToBr>
                    <a:lnBlToTr>
                      <a:noFill/>
                    </a:lnBlToTr>
                    <a:solidFill>
                      <a:srgbClr val="FFFFFF"/>
                    </a:solidFill>
                  </a:tcPr>
                </a:tc>
                <a:tc rowSpan="2">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panose="02020503050405090304"/>
                        </a:rPr>
                        <a:t>Generalization</a:t>
                      </a:r>
                      <a:endParaRPr lang="en-US" altLang="zh-CN" sz="1100">
                        <a:solidFill>
                          <a:srgbClr val="000000"/>
                        </a:solidFill>
                        <a:latin typeface="Times New Roman" panose="02020503050405090304"/>
                        <a:ea typeface="Times New Roman" panose="02020503050405090304"/>
                      </a:endParaRPr>
                    </a:p>
                  </a:txBody>
                  <a:tcPr marL="68580" marR="68580" marT="0" marB="0" anchor="ctr" anchorCtr="0">
                    <a:lnL w="12700">
                      <a:solidFill>
                        <a:schemeClr val="tx1"/>
                      </a:solidFill>
                      <a:prstDash val="solid"/>
                    </a:lnL>
                    <a:lnR>
                      <a:noFill/>
                    </a:lnR>
                    <a:lnT w="12700">
                      <a:solidFill>
                        <a:schemeClr val="tx1"/>
                      </a:solidFill>
                      <a:prstDash val="solid"/>
                    </a:lnT>
                    <a:lnB>
                      <a:noFill/>
                    </a:lnB>
                    <a:lnTlToBr>
                      <a:noFill/>
                    </a:lnTlToBr>
                    <a:lnBlToTr>
                      <a:noFill/>
                    </a:lnBlToTr>
                    <a:solidFill>
                      <a:srgbClr val="FFFFFF"/>
                    </a:solidFill>
                  </a:tcPr>
                </a:tc>
                <a:tc>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panose="02020503050405090304"/>
                        </a:rPr>
                        <a:t>Hyponomy</a:t>
                      </a:r>
                      <a:endParaRPr lang="en-US" altLang="zh-CN" sz="1100">
                        <a:solidFill>
                          <a:srgbClr val="000000"/>
                        </a:solidFill>
                        <a:latin typeface="Times New Roman" panose="02020503050405090304"/>
                        <a:ea typeface="Times New Roman" panose="02020503050405090304"/>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solidFill>
                      <a:srgbClr val="FFFFFF"/>
                    </a:solidFill>
                  </a:tcPr>
                </a:tc>
                <a:tc>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panose="02020503050405090304"/>
                        </a:rPr>
                        <a:t>man -- driver</a:t>
                      </a:r>
                      <a:endParaRPr lang="en-US" altLang="zh-CN" sz="1100">
                        <a:solidFill>
                          <a:srgbClr val="000000"/>
                        </a:solidFill>
                        <a:latin typeface="Times New Roman" panose="02020503050405090304"/>
                        <a:ea typeface="Times New Roman" panose="02020503050405090304"/>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solidFill>
                      <a:srgbClr val="FFFFFF"/>
                    </a:solidFill>
                  </a:tcPr>
                </a:tc>
              </a:tr>
              <a:tr h="762000">
                <a:tc vMerge="1">
                  <a:tcPr>
                    <a:lnL>
                      <a:noFill/>
                    </a:lnL>
                    <a:lnR w="12700">
                      <a:solidFill>
                        <a:schemeClr val="tx1"/>
                      </a:solidFill>
                      <a:prstDash val="solid"/>
                    </a:lnR>
                    <a:lnB>
                      <a:noFill/>
                    </a:lnB>
                  </a:tcPr>
                </a:tc>
                <a:tc vMerge="1">
                  <a:tcPr>
                    <a:lnL w="12700">
                      <a:solidFill>
                        <a:schemeClr val="tx1"/>
                      </a:solidFill>
                      <a:prstDash val="solid"/>
                    </a:lnL>
                    <a:lnR>
                      <a:noFill/>
                    </a:lnR>
                    <a:lnB>
                      <a:noFill/>
                    </a:lnB>
                  </a:tcPr>
                </a:tc>
                <a:tc>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Bold" panose="02020503050405090304"/>
                        </a:rPr>
                        <a:t>Role/incumbent</a:t>
                      </a:r>
                      <a:endParaRPr lang="en-US" altLang="zh-CN" sz="1100">
                        <a:solidFill>
                          <a:srgbClr val="000000"/>
                        </a:solidFill>
                        <a:latin typeface="Times New Roman" panose="02020503050405090304"/>
                        <a:ea typeface="Times New Roman Bold" panose="02020503050405090304"/>
                      </a:endParaRPr>
                    </a:p>
                  </a:txBody>
                  <a:tcPr marL="68580" marR="68580" marT="0" marB="0" anchor="ctr" anchorCtr="0">
                    <a:lnL>
                      <a:noFill/>
                    </a:lnL>
                    <a:lnR>
                      <a:noFill/>
                    </a:lnR>
                    <a:lnT>
                      <a:noFill/>
                    </a:lnT>
                    <a:lnB>
                      <a:noFill/>
                    </a:lnB>
                    <a:solidFill>
                      <a:srgbClr val="FFFFFF"/>
                    </a:solidFill>
                  </a:tcPr>
                </a:tc>
                <a:tc>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Bold" panose="02020503050405090304"/>
                        </a:rPr>
                        <a:t>the Head Librarian, Ms Andrews -- The librarian</a:t>
                      </a:r>
                      <a:endParaRPr lang="en-US" altLang="zh-CN" sz="1100">
                        <a:solidFill>
                          <a:srgbClr val="000000"/>
                        </a:solidFill>
                        <a:latin typeface="Times New Roman" panose="02020503050405090304"/>
                        <a:ea typeface="Times New Roman Bold" panose="02020503050405090304"/>
                      </a:endParaRPr>
                    </a:p>
                  </a:txBody>
                  <a:tcPr marL="68580" marR="68580" marT="0" marB="0" anchor="ctr" anchorCtr="0">
                    <a:lnL>
                      <a:noFill/>
                    </a:lnL>
                    <a:lnR>
                      <a:noFill/>
                    </a:lnR>
                    <a:lnT>
                      <a:noFill/>
                    </a:lnT>
                    <a:lnB>
                      <a:noFill/>
                    </a:lnB>
                    <a:solidFill>
                      <a:srgbClr val="FFFFFF"/>
                    </a:solidFill>
                  </a:tcPr>
                </a:tc>
              </a:tr>
              <a:tr h="571500">
                <a:tc rowSpan="3">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Bold" panose="02020503050405090304"/>
                        </a:rPr>
                        <a:t>Interpersonal </a:t>
                      </a:r>
                      <a:r>
                        <a:rPr lang="en-US" altLang="zh-CN" sz="1100">
                          <a:solidFill>
                            <a:srgbClr val="000000"/>
                          </a:solidFill>
                          <a:latin typeface="Times New Roman" panose="02020503050405090304"/>
                          <a:ea typeface="Times New Roman" panose="02020503050405090304"/>
                        </a:rPr>
                        <a:t>m</a:t>
                      </a:r>
                      <a:r>
                        <a:rPr lang="en-US" altLang="zh-CN" sz="1100">
                          <a:solidFill>
                            <a:srgbClr val="000000"/>
                          </a:solidFill>
                          <a:latin typeface="Times New Roman" panose="02020503050405090304"/>
                          <a:ea typeface="Times New Roman Bold" panose="02020503050405090304"/>
                        </a:rPr>
                        <a:t>eanings</a:t>
                      </a:r>
                      <a:endParaRPr lang="en-US" altLang="zh-CN" sz="1100">
                        <a:solidFill>
                          <a:srgbClr val="000000"/>
                        </a:solidFill>
                        <a:latin typeface="Times New Roman" panose="02020503050405090304"/>
                        <a:ea typeface="Times New Roman Bold" panose="02020503050405090304"/>
                      </a:endParaRPr>
                    </a:p>
                  </a:txBody>
                  <a:tcPr marL="68580" marR="68580" marT="0" marB="0" anchor="ctr" anchorCtr="0">
                    <a:lnL>
                      <a:noFill/>
                    </a:lnL>
                    <a:lnR w="6350" cap="flat" cmpd="sng">
                      <a:solidFill>
                        <a:srgbClr val="000008"/>
                      </a:solidFill>
                      <a:prstDash val="solid"/>
                      <a:headEnd type="none" w="med" len="med"/>
                      <a:tailEnd type="none" w="med" len="med"/>
                    </a:lnR>
                    <a:lnT>
                      <a:noFill/>
                    </a:lnT>
                    <a:lnB>
                      <a:noFill/>
                    </a:lnB>
                    <a:solidFill>
                      <a:srgbClr val="FFFFFF"/>
                    </a:solidFill>
                  </a:tcPr>
                </a:tc>
                <a:tc rowSpan="3">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Bold" panose="02020503050405090304"/>
                        </a:rPr>
                        <a:t>Equalization</a:t>
                      </a:r>
                      <a:r>
                        <a:rPr lang="en-US" altLang="zh-CN" sz="1100">
                          <a:solidFill>
                            <a:srgbClr val="000000"/>
                          </a:solidFill>
                          <a:latin typeface="Times New Roman" panose="02020503050405090304"/>
                          <a:ea typeface="Times New Roman" panose="02020503050405090304"/>
                        </a:rPr>
                        <a:t> and</a:t>
                      </a:r>
                      <a:endParaRPr lang="en-US" altLang="zh-CN" sz="1100">
                        <a:solidFill>
                          <a:srgbClr val="000000"/>
                        </a:solidFill>
                        <a:latin typeface="Times New Roman" panose="02020503050405090304"/>
                        <a:ea typeface="Times New Roman" panose="02020503050405090304"/>
                      </a:endParaRPr>
                    </a:p>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panose="02020503050405090304"/>
                        </a:rPr>
                        <a:t>P</a:t>
                      </a:r>
                      <a:r>
                        <a:rPr lang="en-US" altLang="zh-CN" sz="1100">
                          <a:solidFill>
                            <a:srgbClr val="000000"/>
                          </a:solidFill>
                          <a:latin typeface="Times New Roman" panose="02020503050405090304"/>
                          <a:ea typeface="Times New Roman Bold" panose="02020503050405090304"/>
                        </a:rPr>
                        <a:t>articularization</a:t>
                      </a:r>
                      <a:endParaRPr lang="en-US" altLang="zh-CN" sz="1100">
                        <a:solidFill>
                          <a:srgbClr val="000000"/>
                        </a:solidFill>
                        <a:latin typeface="Times New Roman" panose="02020503050405090304"/>
                        <a:ea typeface="Times New Roman Bold" panose="02020503050405090304"/>
                      </a:endParaRPr>
                    </a:p>
                  </a:txBody>
                  <a:tcPr marL="68580" marR="68580" marT="0" marB="0" anchor="ctr" anchorCtr="0">
                    <a:lnL w="6350" cap="flat" cmpd="sng">
                      <a:solidFill>
                        <a:srgbClr val="000008"/>
                      </a:solidFill>
                      <a:prstDash val="solid"/>
                      <a:headEnd type="none" w="med" len="med"/>
                      <a:tailEnd type="none" w="med" len="med"/>
                    </a:lnL>
                    <a:lnR>
                      <a:noFill/>
                    </a:lnR>
                    <a:lnT>
                      <a:noFill/>
                    </a:lnT>
                    <a:lnB>
                      <a:noFill/>
                    </a:lnB>
                    <a:solidFill>
                      <a:srgbClr val="FFFFFF"/>
                    </a:solidFill>
                  </a:tcPr>
                </a:tc>
                <a:tc>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Bold" panose="02020503050405090304"/>
                        </a:rPr>
                        <a:t>Re-instantiation of attitude</a:t>
                      </a:r>
                      <a:endParaRPr lang="en-US" altLang="zh-CN" sz="1100">
                        <a:solidFill>
                          <a:srgbClr val="000000"/>
                        </a:solidFill>
                        <a:latin typeface="Times New Roman" panose="02020503050405090304"/>
                        <a:ea typeface="Times New Roman Bold" panose="02020503050405090304"/>
                      </a:endParaRPr>
                    </a:p>
                  </a:txBody>
                  <a:tcPr marL="68580" marR="68580" marT="0" marB="0" anchor="ctr" anchorCtr="0">
                    <a:lnL>
                      <a:noFill/>
                    </a:lnL>
                    <a:lnR>
                      <a:noFill/>
                    </a:lnR>
                    <a:lnT>
                      <a:noFill/>
                    </a:lnT>
                    <a:lnB>
                      <a:noFill/>
                    </a:lnB>
                    <a:solidFill>
                      <a:srgbClr val="FFFFFF"/>
                    </a:solidFill>
                  </a:tcPr>
                </a:tc>
                <a:tc>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panose="02020503050405090304"/>
                        </a:rPr>
                        <a:t>g</a:t>
                      </a:r>
                      <a:r>
                        <a:rPr lang="en-US" altLang="zh-CN" sz="1100">
                          <a:solidFill>
                            <a:srgbClr val="000000"/>
                          </a:solidFill>
                          <a:latin typeface="Times New Roman" panose="02020503050405090304"/>
                          <a:ea typeface="Times New Roman Bold" panose="02020503050405090304"/>
                        </a:rPr>
                        <a:t>etting ahead on the career front -- successful</a:t>
                      </a:r>
                      <a:endParaRPr lang="en-US" altLang="zh-CN" sz="1100">
                        <a:solidFill>
                          <a:srgbClr val="000000"/>
                        </a:solidFill>
                        <a:latin typeface="Times New Roman" panose="02020503050405090304"/>
                        <a:ea typeface="Times New Roman Bold" panose="02020503050405090304"/>
                      </a:endParaRPr>
                    </a:p>
                  </a:txBody>
                  <a:tcPr marL="68580" marR="68580" marT="0" marB="0" anchor="ctr" anchorCtr="0">
                    <a:lnL>
                      <a:noFill/>
                    </a:lnL>
                    <a:lnR>
                      <a:noFill/>
                    </a:lnR>
                    <a:lnT>
                      <a:noFill/>
                    </a:lnT>
                    <a:lnB>
                      <a:noFill/>
                    </a:lnB>
                    <a:solidFill>
                      <a:srgbClr val="FFFFFF"/>
                    </a:solidFill>
                  </a:tcPr>
                </a:tc>
              </a:tr>
              <a:tr h="381000">
                <a:tc vMerge="1">
                  <a:tcPr>
                    <a:lnL>
                      <a:noFill/>
                    </a:lnL>
                    <a:lnR w="6350" cap="flat" cmpd="sng">
                      <a:solidFill>
                        <a:srgbClr val="000008"/>
                      </a:solidFill>
                      <a:prstDash val="solid"/>
                      <a:headEnd type="none" w="med" len="med"/>
                      <a:tailEnd type="none" w="med" len="med"/>
                    </a:lnR>
                  </a:tcPr>
                </a:tc>
                <a:tc vMerge="1">
                  <a:tcPr>
                    <a:lnL w="6350" cap="flat" cmpd="sng">
                      <a:solidFill>
                        <a:srgbClr val="000008"/>
                      </a:solidFill>
                      <a:prstDash val="solid"/>
                      <a:headEnd type="none" w="med" len="med"/>
                      <a:tailEnd type="none" w="med" len="med"/>
                    </a:lnL>
                    <a:lnR>
                      <a:noFill/>
                    </a:lnR>
                  </a:tcPr>
                </a:tc>
                <a:tc>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Bold" panose="02020503050405090304"/>
                        </a:rPr>
                        <a:t>Re-instantiation of engagement</a:t>
                      </a:r>
                      <a:endParaRPr lang="en-US" altLang="zh-CN" sz="1100">
                        <a:solidFill>
                          <a:srgbClr val="000000"/>
                        </a:solidFill>
                        <a:latin typeface="Times New Roman" panose="02020503050405090304"/>
                        <a:ea typeface="Times New Roman Bold" panose="02020503050405090304"/>
                      </a:endParaRPr>
                    </a:p>
                  </a:txBody>
                  <a:tcPr marL="68580" marR="68580" marT="0" marB="0" anchor="ctr" anchorCtr="0">
                    <a:lnL>
                      <a:noFill/>
                    </a:lnL>
                    <a:lnR>
                      <a:noFill/>
                    </a:lnR>
                    <a:lnT>
                      <a:noFill/>
                    </a:lnT>
                    <a:lnB>
                      <a:noFill/>
                    </a:lnB>
                    <a:solidFill>
                      <a:srgbClr val="FFFFFF"/>
                    </a:solidFill>
                  </a:tcPr>
                </a:tc>
                <a:tc>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panose="02020503050405090304"/>
                        </a:rPr>
                        <a:t>j</a:t>
                      </a:r>
                      <a:r>
                        <a:rPr lang="en-US" altLang="zh-CN" sz="1100">
                          <a:solidFill>
                            <a:srgbClr val="000000"/>
                          </a:solidFill>
                          <a:latin typeface="Times New Roman" panose="02020503050405090304"/>
                          <a:ea typeface="Times New Roman Bold" panose="02020503050405090304"/>
                        </a:rPr>
                        <a:t>ust, may -- should, always</a:t>
                      </a:r>
                      <a:endParaRPr lang="en-US" altLang="zh-CN" sz="1100">
                        <a:solidFill>
                          <a:srgbClr val="000000"/>
                        </a:solidFill>
                        <a:latin typeface="Times New Roman" panose="02020503050405090304"/>
                        <a:ea typeface="Times New Roman Bold" panose="02020503050405090304"/>
                      </a:endParaRPr>
                    </a:p>
                  </a:txBody>
                  <a:tcPr marL="68580" marR="68580" marT="0" marB="0" anchor="ctr" anchorCtr="0">
                    <a:lnL>
                      <a:noFill/>
                    </a:lnL>
                    <a:lnR>
                      <a:noFill/>
                    </a:lnR>
                    <a:lnT>
                      <a:noFill/>
                    </a:lnT>
                    <a:lnB>
                      <a:noFill/>
                    </a:lnB>
                    <a:solidFill>
                      <a:srgbClr val="FFFFFF"/>
                    </a:solidFill>
                  </a:tcPr>
                </a:tc>
              </a:tr>
              <a:tr h="381000">
                <a:tc vMerge="1">
                  <a:tcPr>
                    <a:lnL>
                      <a:noFill/>
                    </a:lnL>
                    <a:lnR w="6350" cap="flat" cmpd="sng">
                      <a:solidFill>
                        <a:srgbClr val="000008"/>
                      </a:solidFill>
                      <a:prstDash val="solid"/>
                      <a:headEnd type="none" w="med" len="med"/>
                      <a:tailEnd type="none" w="med" len="med"/>
                    </a:lnR>
                    <a:lnB>
                      <a:noFill/>
                    </a:lnB>
                  </a:tcPr>
                </a:tc>
                <a:tc vMerge="1">
                  <a:tcPr>
                    <a:lnL w="6350" cap="flat" cmpd="sng">
                      <a:solidFill>
                        <a:srgbClr val="000008"/>
                      </a:solidFill>
                      <a:prstDash val="solid"/>
                      <a:headEnd type="none" w="med" len="med"/>
                      <a:tailEnd type="none" w="med" len="med"/>
                    </a:lnL>
                    <a:lnR>
                      <a:noFill/>
                    </a:lnR>
                    <a:lnB>
                      <a:noFill/>
                    </a:lnB>
                  </a:tcPr>
                </a:tc>
                <a:tc>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Bold" panose="02020503050405090304"/>
                        </a:rPr>
                        <a:t>Re-instantiation of graduation</a:t>
                      </a:r>
                      <a:endParaRPr lang="en-US" altLang="zh-CN" sz="1100">
                        <a:solidFill>
                          <a:srgbClr val="000000"/>
                        </a:solidFill>
                        <a:latin typeface="Times New Roman" panose="02020503050405090304"/>
                        <a:ea typeface="Times New Roman Bold" panose="02020503050405090304"/>
                      </a:endParaRPr>
                    </a:p>
                  </a:txBody>
                  <a:tcPr marL="68580" marR="68580" marT="0" marB="0" anchor="ctr" anchorCtr="0">
                    <a:lnL>
                      <a:noFill/>
                    </a:lnL>
                    <a:lnR>
                      <a:noFill/>
                    </a:lnR>
                    <a:lnT>
                      <a:noFill/>
                    </a:lnT>
                    <a:lnB>
                      <a:noFill/>
                    </a:lnB>
                    <a:solidFill>
                      <a:srgbClr val="FFFFFF"/>
                    </a:solidFill>
                  </a:tcPr>
                </a:tc>
                <a:tc>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panose="02020503050405090304"/>
                        </a:rPr>
                        <a:t>h</a:t>
                      </a:r>
                      <a:r>
                        <a:rPr lang="en-US" altLang="zh-CN" sz="1100">
                          <a:solidFill>
                            <a:srgbClr val="000000"/>
                          </a:solidFill>
                          <a:latin typeface="Times New Roman" panose="02020503050405090304"/>
                          <a:ea typeface="Times New Roman Bold" panose="02020503050405090304"/>
                        </a:rPr>
                        <a:t>appy - ecstatic</a:t>
                      </a:r>
                      <a:endParaRPr lang="en-US" altLang="zh-CN" sz="1100">
                        <a:solidFill>
                          <a:srgbClr val="000000"/>
                        </a:solidFill>
                        <a:latin typeface="Times New Roman" panose="02020503050405090304"/>
                        <a:ea typeface="Times New Roman Bold" panose="02020503050405090304"/>
                      </a:endParaRPr>
                    </a:p>
                  </a:txBody>
                  <a:tcPr marL="68580" marR="68580" marT="0" marB="0" anchor="ctr" anchorCtr="0">
                    <a:lnL>
                      <a:noFill/>
                    </a:lnL>
                    <a:lnR>
                      <a:noFill/>
                    </a:lnR>
                    <a:lnT>
                      <a:noFill/>
                    </a:lnT>
                    <a:lnB>
                      <a:noFill/>
                    </a:lnB>
                    <a:solidFill>
                      <a:srgbClr val="FFFFFF"/>
                    </a:solidFill>
                  </a:tcPr>
                </a:tc>
              </a:tr>
              <a:tr h="381000">
                <a:tc rowSpan="3">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Bold" panose="02020503050405090304"/>
                        </a:rPr>
                        <a:t>Ideational/interpersonal meanings</a:t>
                      </a:r>
                      <a:endParaRPr lang="en-US" altLang="zh-CN" sz="1100">
                        <a:solidFill>
                          <a:srgbClr val="000000"/>
                        </a:solidFill>
                        <a:latin typeface="Times New Roman" panose="02020503050405090304"/>
                        <a:ea typeface="Times New Roman Bold" panose="02020503050405090304"/>
                      </a:endParaRPr>
                    </a:p>
                  </a:txBody>
                  <a:tcPr marL="68580" marR="68580" marT="0" marB="0" anchor="ctr" anchorCtr="0">
                    <a:lnL>
                      <a:noFill/>
                    </a:lnL>
                    <a:lnR w="6350" cap="flat" cmpd="sng">
                      <a:solidFill>
                        <a:srgbClr val="000008"/>
                      </a:solidFill>
                      <a:prstDash val="solid"/>
                      <a:headEnd type="none" w="med" len="med"/>
                      <a:tailEnd type="none" w="med" len="med"/>
                    </a:lnR>
                    <a:lnT>
                      <a:noFill/>
                    </a:lnT>
                    <a:lnB>
                      <a:noFill/>
                    </a:lnB>
                    <a:solidFill>
                      <a:srgbClr val="FFFFFF"/>
                    </a:solidFill>
                  </a:tcPr>
                </a:tc>
                <a:tc rowSpan="3">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panose="02020503050405090304"/>
                        </a:rPr>
                        <a:t>Particularization</a:t>
                      </a:r>
                      <a:endParaRPr lang="en-US" altLang="zh-CN" sz="1100">
                        <a:solidFill>
                          <a:srgbClr val="000000"/>
                        </a:solidFill>
                        <a:latin typeface="Times New Roman" panose="02020503050405090304"/>
                        <a:ea typeface="Times New Roman" panose="02020503050405090304"/>
                      </a:endParaRPr>
                    </a:p>
                  </a:txBody>
                  <a:tcPr marL="68580" marR="68580" marT="0" marB="0" anchor="ctr" anchorCtr="0">
                    <a:lnL w="6350" cap="flat" cmpd="sng">
                      <a:solidFill>
                        <a:srgbClr val="000008"/>
                      </a:solidFill>
                      <a:prstDash val="solid"/>
                      <a:headEnd type="none" w="med" len="med"/>
                      <a:tailEnd type="none" w="med" len="med"/>
                    </a:lnL>
                    <a:lnR>
                      <a:noFill/>
                    </a:lnR>
                    <a:lnT>
                      <a:noFill/>
                    </a:lnT>
                    <a:lnB>
                      <a:noFill/>
                    </a:lnB>
                    <a:solidFill>
                      <a:srgbClr val="FFFFFF"/>
                    </a:solidFill>
                  </a:tcPr>
                </a:tc>
                <a:tc>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Bold" panose="02020503050405090304"/>
                        </a:rPr>
                        <a:t>Lexical Metaphor</a:t>
                      </a:r>
                      <a:endParaRPr lang="en-US" altLang="zh-CN" sz="1100">
                        <a:solidFill>
                          <a:srgbClr val="000000"/>
                        </a:solidFill>
                        <a:latin typeface="Times New Roman" panose="02020503050405090304"/>
                        <a:ea typeface="Times New Roman Bold" panose="02020503050405090304"/>
                      </a:endParaRPr>
                    </a:p>
                  </a:txBody>
                  <a:tcPr marL="68580" marR="68580" marT="0" marB="0" anchor="ctr" anchorCtr="0">
                    <a:lnL>
                      <a:noFill/>
                    </a:lnL>
                    <a:lnR>
                      <a:noFill/>
                    </a:lnR>
                    <a:lnT>
                      <a:noFill/>
                    </a:lnT>
                    <a:lnB>
                      <a:noFill/>
                    </a:lnB>
                    <a:solidFill>
                      <a:srgbClr val="FFFFFF"/>
                    </a:solidFill>
                  </a:tcPr>
                </a:tc>
                <a:tc>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Bold" panose="02020503050405090304"/>
                        </a:rPr>
                        <a:t>make a break -- change</a:t>
                      </a:r>
                      <a:endParaRPr lang="en-US" altLang="zh-CN" sz="1100">
                        <a:solidFill>
                          <a:srgbClr val="000000"/>
                        </a:solidFill>
                        <a:latin typeface="Times New Roman" panose="02020503050405090304"/>
                        <a:ea typeface="Times New Roman Bold" panose="02020503050405090304"/>
                      </a:endParaRPr>
                    </a:p>
                  </a:txBody>
                  <a:tcPr marL="68580" marR="68580" marT="0" marB="0" anchor="ctr" anchorCtr="0">
                    <a:lnL>
                      <a:noFill/>
                    </a:lnL>
                    <a:lnR>
                      <a:noFill/>
                    </a:lnR>
                    <a:lnT>
                      <a:noFill/>
                    </a:lnT>
                    <a:lnB>
                      <a:noFill/>
                    </a:lnB>
                    <a:solidFill>
                      <a:srgbClr val="FFFFFF"/>
                    </a:solidFill>
                  </a:tcPr>
                </a:tc>
              </a:tr>
              <a:tr h="952500">
                <a:tc vMerge="1">
                  <a:tcPr>
                    <a:lnL>
                      <a:noFill/>
                    </a:lnL>
                    <a:lnR w="6350" cap="flat" cmpd="sng">
                      <a:solidFill>
                        <a:srgbClr val="000008"/>
                      </a:solidFill>
                      <a:prstDash val="solid"/>
                      <a:headEnd type="none" w="med" len="med"/>
                      <a:tailEnd type="none" w="med" len="med"/>
                    </a:lnR>
                  </a:tcPr>
                </a:tc>
                <a:tc vMerge="1">
                  <a:tcPr>
                    <a:lnL w="6350" cap="flat" cmpd="sng">
                      <a:solidFill>
                        <a:srgbClr val="000008"/>
                      </a:solidFill>
                      <a:prstDash val="solid"/>
                      <a:headEnd type="none" w="med" len="med"/>
                      <a:tailEnd type="none" w="med" len="med"/>
                    </a:lnL>
                    <a:lnR>
                      <a:noFill/>
                    </a:lnR>
                  </a:tcPr>
                </a:tc>
                <a:tc>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Bold" panose="02020503050405090304"/>
                        </a:rPr>
                        <a:t>Infusion/defusion</a:t>
                      </a:r>
                      <a:endParaRPr lang="en-US" altLang="zh-CN" sz="1100">
                        <a:solidFill>
                          <a:srgbClr val="000000"/>
                        </a:solidFill>
                        <a:latin typeface="Times New Roman" panose="02020503050405090304"/>
                        <a:ea typeface="Times New Roman Bold" panose="02020503050405090304"/>
                      </a:endParaRPr>
                    </a:p>
                  </a:txBody>
                  <a:tcPr marL="68580" marR="68580" marT="0" marB="0" anchor="ctr" anchorCtr="0">
                    <a:lnL>
                      <a:noFill/>
                    </a:lnL>
                    <a:lnR>
                      <a:noFill/>
                    </a:lnR>
                    <a:lnT>
                      <a:noFill/>
                    </a:lnT>
                    <a:lnB>
                      <a:noFill/>
                    </a:lnB>
                    <a:solidFill>
                      <a:srgbClr val="FFFFFF"/>
                    </a:solidFill>
                  </a:tcPr>
                </a:tc>
                <a:tc>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Bold" panose="02020503050405090304"/>
                        </a:rPr>
                        <a:t>reassess (=consider + again</a:t>
                      </a:r>
                      <a:endParaRPr lang="en-US" altLang="zh-CN" sz="1100">
                        <a:solidFill>
                          <a:srgbClr val="000000"/>
                        </a:solidFill>
                        <a:latin typeface="Times New Roman" panose="02020503050405090304"/>
                        <a:ea typeface="Times New Roman Bold" panose="02020503050405090304"/>
                      </a:endParaRPr>
                    </a:p>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Bold" panose="02020503050405090304"/>
                        </a:rPr>
                        <a:t>+ evaluatively) -- consider</a:t>
                      </a:r>
                      <a:endParaRPr lang="en-US" altLang="zh-CN" sz="1100">
                        <a:solidFill>
                          <a:srgbClr val="000000"/>
                        </a:solidFill>
                        <a:latin typeface="Times New Roman" panose="02020503050405090304"/>
                        <a:ea typeface="Times New Roman Bold" panose="02020503050405090304"/>
                      </a:endParaRPr>
                    </a:p>
                  </a:txBody>
                  <a:tcPr marL="68580" marR="68580" marT="0" marB="0" anchor="ctr" anchorCtr="0">
                    <a:lnL>
                      <a:noFill/>
                    </a:lnL>
                    <a:lnR>
                      <a:noFill/>
                    </a:lnR>
                    <a:lnT>
                      <a:noFill/>
                    </a:lnT>
                    <a:lnB>
                      <a:noFill/>
                    </a:lnB>
                    <a:solidFill>
                      <a:srgbClr val="FFFFFF"/>
                    </a:solidFill>
                  </a:tcPr>
                </a:tc>
              </a:tr>
              <a:tr h="762000">
                <a:tc vMerge="1">
                  <a:tcPr>
                    <a:lnL>
                      <a:noFill/>
                    </a:lnL>
                    <a:lnR w="6350" cap="flat" cmpd="sng">
                      <a:solidFill>
                        <a:srgbClr val="000008"/>
                      </a:solidFill>
                      <a:prstDash val="solid"/>
                      <a:headEnd type="none" w="med" len="med"/>
                      <a:tailEnd type="none" w="med" len="med"/>
                    </a:lnR>
                    <a:lnB>
                      <a:noFill/>
                    </a:lnB>
                  </a:tcPr>
                </a:tc>
                <a:tc vMerge="1">
                  <a:tcPr>
                    <a:lnL w="6350" cap="flat" cmpd="sng">
                      <a:solidFill>
                        <a:srgbClr val="000008"/>
                      </a:solidFill>
                      <a:prstDash val="solid"/>
                      <a:headEnd type="none" w="med" len="med"/>
                      <a:tailEnd type="none" w="med" len="med"/>
                    </a:lnL>
                    <a:lnR>
                      <a:noFill/>
                    </a:lnR>
                    <a:lnB>
                      <a:noFill/>
                    </a:lnB>
                  </a:tcPr>
                </a:tc>
                <a:tc>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panose="02020503050405090304"/>
                        </a:rPr>
                        <a:t>Interpersonal </a:t>
                      </a:r>
                      <a:r>
                        <a:rPr lang="en-US" altLang="zh-CN" sz="1100">
                          <a:solidFill>
                            <a:srgbClr val="000000"/>
                          </a:solidFill>
                          <a:latin typeface="Times New Roman Regular" panose="02020503050405090304"/>
                          <a:ea typeface="Times New Roman Regular" panose="02020503050405090304"/>
                        </a:rPr>
                        <a:t>grammatical m</a:t>
                      </a:r>
                      <a:r>
                        <a:rPr lang="en-US" altLang="zh-CN" sz="1100">
                          <a:solidFill>
                            <a:srgbClr val="000000"/>
                          </a:solidFill>
                          <a:latin typeface="Times New Roman" panose="02020503050405090304"/>
                          <a:ea typeface="Times New Roman" panose="02020503050405090304"/>
                        </a:rPr>
                        <a:t>etaphor</a:t>
                      </a:r>
                      <a:endParaRPr lang="en-US" altLang="zh-CN" sz="1100">
                        <a:solidFill>
                          <a:srgbClr val="000000"/>
                        </a:solidFill>
                        <a:latin typeface="Times New Roman" panose="02020503050405090304"/>
                        <a:ea typeface="Times New Roman" panose="02020503050405090304"/>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solidFill>
                      <a:srgbClr val="FFFFFF"/>
                    </a:solidFill>
                  </a:tcPr>
                </a:tc>
                <a:tc>
                  <a:txBody>
                    <a:bodyPr/>
                    <a:p>
                      <a:pPr marL="0" indent="0" algn="ctr">
                        <a:lnSpc>
                          <a:spcPct val="114000"/>
                        </a:lnSpc>
                        <a:spcBef>
                          <a:spcPct val="0"/>
                        </a:spcBef>
                        <a:spcAft>
                          <a:spcPct val="0"/>
                        </a:spcAft>
                      </a:pPr>
                      <a:r>
                        <a:rPr lang="en-US" altLang="zh-CN" sz="1100">
                          <a:solidFill>
                            <a:srgbClr val="000000"/>
                          </a:solidFill>
                          <a:latin typeface="Times New Roman" panose="02020503050405090304"/>
                          <a:ea typeface="Times New Roman" panose="02020503050405090304"/>
                        </a:rPr>
                        <a:t>I think she is very happy -- Don</a:t>
                      </a:r>
                      <a:r>
                        <a:rPr lang="en-US" altLang="zh-CN" sz="1100">
                          <a:solidFill>
                            <a:srgbClr val="000000"/>
                          </a:solidFill>
                          <a:latin typeface="Times New Roman" panose="02020503050405090304"/>
                          <a:ea typeface="Times New Roman Bold" panose="02020503050405090304"/>
                        </a:rPr>
                        <a:t>’</a:t>
                      </a:r>
                      <a:r>
                        <a:rPr lang="en-US" altLang="zh-CN" sz="1100">
                          <a:solidFill>
                            <a:srgbClr val="000000"/>
                          </a:solidFill>
                          <a:latin typeface="Times New Roman" panose="02020503050405090304"/>
                          <a:ea typeface="Times New Roman" panose="02020503050405090304"/>
                        </a:rPr>
                        <a:t>t you think she</a:t>
                      </a:r>
                      <a:r>
                        <a:rPr lang="en-US" altLang="zh-CN" sz="1100">
                          <a:solidFill>
                            <a:srgbClr val="000000"/>
                          </a:solidFill>
                          <a:latin typeface="Times New Roman" panose="02020503050405090304"/>
                          <a:ea typeface="Times New Roman Bold" panose="02020503050405090304"/>
                        </a:rPr>
                        <a:t>’</a:t>
                      </a:r>
                      <a:r>
                        <a:rPr lang="en-US" altLang="zh-CN" sz="1100">
                          <a:solidFill>
                            <a:srgbClr val="000000"/>
                          </a:solidFill>
                          <a:latin typeface="Times New Roman" panose="02020503050405090304"/>
                          <a:ea typeface="Times New Roman" panose="02020503050405090304"/>
                        </a:rPr>
                        <a:t>s happy?</a:t>
                      </a:r>
                      <a:endParaRPr lang="en-US" altLang="zh-CN" sz="1100">
                        <a:solidFill>
                          <a:srgbClr val="000000"/>
                        </a:solidFill>
                        <a:latin typeface="Times New Roman" panose="02020503050405090304"/>
                        <a:ea typeface="Times New Roman" panose="02020503050405090304"/>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497820" cy="895985"/>
          </a:xfrm>
        </p:spPr>
        <p:txBody>
          <a:bodyPr>
            <a:normAutofit/>
          </a:bodyPr>
          <a:p>
            <a:r>
              <a:rPr lang="en-US" altLang="zh-CN" b="1">
                <a:latin typeface="Times New Roman Bold" panose="02020503050405090304" charset="0"/>
                <a:cs typeface="Times New Roman Bold" panose="02020503050405090304" charset="0"/>
                <a:sym typeface="+mn-ea"/>
              </a:rPr>
              <a:t>Intertextual Relation</a:t>
            </a:r>
            <a:r>
              <a:rPr lang="en-US" altLang="zh-CN">
                <a:sym typeface="+mn-ea"/>
              </a:rPr>
              <a:t>: The Determination of ST-TT Relation</a:t>
            </a:r>
            <a:endParaRPr lang="en-US" altLang="zh-CN">
              <a:sym typeface="+mn-ea"/>
            </a:endParaRPr>
          </a:p>
        </p:txBody>
      </p:sp>
      <p:sp>
        <p:nvSpPr>
          <p:cNvPr id="4" name="文本占位符 3"/>
          <p:cNvSpPr>
            <a:spLocks noGrp="1"/>
          </p:cNvSpPr>
          <p:nvPr>
            <p:ph type="body" sz="half" idx="2"/>
          </p:nvPr>
        </p:nvSpPr>
        <p:spPr>
          <a:xfrm>
            <a:off x="840105" y="1555115"/>
            <a:ext cx="10498455" cy="4314190"/>
          </a:xfrm>
        </p:spPr>
        <p:txBody>
          <a:bodyPr>
            <a:noAutofit/>
          </a:bodyPr>
          <a:p>
            <a:pPr>
              <a:lnSpc>
                <a:spcPct val="120000"/>
              </a:lnSpc>
            </a:pPr>
            <a:r>
              <a:rPr lang="en-US" altLang="zh-CN" sz="1800">
                <a:solidFill>
                  <a:schemeClr val="tx1"/>
                </a:solidFill>
              </a:rPr>
              <a:t>“With quotation, the meaning potential of two texts is presented as completely overlapping... With paraphrase, the meaning potential overlaps, but not completely; and with retelling, there is less in common still” </a:t>
            </a:r>
            <a:r>
              <a:rPr lang="en-US" altLang="zh-CN" sz="1800">
                <a:solidFill>
                  <a:schemeClr val="tx1"/>
                </a:solidFill>
                <a:sym typeface="+mn-ea"/>
              </a:rPr>
              <a:t>(</a:t>
            </a:r>
            <a:r>
              <a:rPr lang="en-US" altLang="zh-CN" sz="1800">
                <a:solidFill>
                  <a:schemeClr val="tx1"/>
                </a:solidFill>
                <a:sym typeface="+mn-ea"/>
              </a:rPr>
              <a:t>Martin, </a:t>
            </a:r>
            <a:r>
              <a:rPr lang="en-US" altLang="zh-CN" sz="1800">
                <a:solidFill>
                  <a:schemeClr val="tx1"/>
                </a:solidFill>
                <a:sym typeface="+mn-ea"/>
              </a:rPr>
              <a:t>2006: 287)</a:t>
            </a:r>
            <a:r>
              <a:rPr lang="en-US" altLang="zh-CN" sz="1800">
                <a:solidFill>
                  <a:schemeClr val="tx1"/>
                </a:solidFill>
              </a:rPr>
              <a:t>. </a:t>
            </a:r>
            <a:endParaRPr lang="en-US" altLang="zh-CN" sz="1800">
              <a:solidFill>
                <a:schemeClr val="tx1"/>
              </a:solidFill>
            </a:endParaRPr>
          </a:p>
          <a:p>
            <a:pPr marL="285750" indent="-285750">
              <a:lnSpc>
                <a:spcPct val="120000"/>
              </a:lnSpc>
              <a:buFont typeface="Arial" panose="020B0604020202090204" pitchFamily="34" charset="0"/>
              <a:buChar char="•"/>
            </a:pPr>
            <a:r>
              <a:rPr lang="en-US" altLang="zh-CN" sz="1800">
                <a:solidFill>
                  <a:schemeClr val="tx1"/>
                </a:solidFill>
              </a:rPr>
              <a:t>In the previous sections of semantic relations, there are 18 cases falling into the category of paraphrase, and 8 cases, retelling. As a result, the majority of cases belong to the intertextual relation of paraphrase.</a:t>
            </a:r>
            <a:endParaRPr lang="en-US" altLang="zh-CN" sz="1800">
              <a:solidFill>
                <a:schemeClr val="tx1"/>
              </a:solidFill>
            </a:endParaRPr>
          </a:p>
          <a:p>
            <a:pPr marL="285750" indent="-285750">
              <a:lnSpc>
                <a:spcPct val="120000"/>
              </a:lnSpc>
              <a:buFont typeface="Arial" panose="020B0604020202090204" pitchFamily="34" charset="0"/>
              <a:buChar char="•"/>
            </a:pPr>
            <a:r>
              <a:rPr lang="en-US" altLang="zh-CN" sz="1800">
                <a:solidFill>
                  <a:schemeClr val="tx1"/>
                </a:solidFill>
              </a:rPr>
              <a:t>To have a more comprehensive view on the ST-TT relation, more aspects (religious concepts; the interaction between Wang Wei and his friends) can be included.</a:t>
            </a:r>
            <a:endParaRPr lang="en-US" altLang="zh-CN" sz="1800">
              <a:solidFill>
                <a:schemeClr val="tx1"/>
              </a:solidFill>
            </a:endParaRPr>
          </a:p>
          <a:p>
            <a:pPr marL="285750" indent="-285750">
              <a:lnSpc>
                <a:spcPct val="120000"/>
              </a:lnSpc>
              <a:buFont typeface="Arial" panose="020B0604020202090204" pitchFamily="34" charset="0"/>
              <a:buChar char="•"/>
            </a:pPr>
            <a:r>
              <a:rPr lang="en-US" altLang="zh-CN" sz="1800">
                <a:solidFill>
                  <a:schemeClr val="tx1"/>
                </a:solidFill>
              </a:rPr>
              <a:t>Judging from the research findings from previous sections, the intertextual relation on this level is closer to paraphrase rather than to the other two types (quotation and retelling).</a:t>
            </a:r>
            <a:endParaRPr lang="en-US" altLang="zh-CN" sz="1800">
              <a:solidFill>
                <a:schemeClr val="tx1"/>
              </a:solidFill>
            </a:endParaRPr>
          </a:p>
        </p:txBody>
      </p:sp>
      <p:pic>
        <p:nvPicPr>
          <p:cNvPr id="40" name="图片 40" descr="5-2"/>
          <p:cNvPicPr>
            <a:picLocks noChangeAspect="1"/>
          </p:cNvPicPr>
          <p:nvPr/>
        </p:nvPicPr>
        <p:blipFill>
          <a:blip r:embed="rId1"/>
          <a:stretch>
            <a:fillRect/>
          </a:stretch>
        </p:blipFill>
        <p:spPr>
          <a:xfrm>
            <a:off x="8722995" y="4652645"/>
            <a:ext cx="3469005" cy="220535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882630" cy="1097915"/>
          </a:xfrm>
        </p:spPr>
        <p:txBody>
          <a:bodyPr/>
          <a:p>
            <a:r>
              <a:rPr lang="en-US" altLang="zh-CN" sz="2400">
                <a:sym typeface="+mn-ea"/>
              </a:rPr>
              <a:t>Translator’s </a:t>
            </a:r>
            <a:r>
              <a:rPr lang="en-US" altLang="zh-CN" sz="2400" b="1">
                <a:latin typeface="Times New Roman Bold" panose="02020503050405090304" charset="0"/>
                <a:cs typeface="Times New Roman Bold" panose="02020503050405090304" charset="0"/>
                <a:sym typeface="+mn-ea"/>
              </a:rPr>
              <a:t>Reading Position</a:t>
            </a:r>
            <a:r>
              <a:rPr lang="en-US" altLang="zh-CN" sz="2400">
                <a:sym typeface="+mn-ea"/>
              </a:rPr>
              <a:t> and </a:t>
            </a:r>
            <a:r>
              <a:rPr lang="en-US" altLang="zh-CN" sz="2400" b="1">
                <a:latin typeface="Times New Roman Bold" panose="02020503050405090304" charset="0"/>
                <a:cs typeface="Times New Roman Bold" panose="02020503050405090304" charset="0"/>
                <a:sym typeface="+mn-ea"/>
              </a:rPr>
              <a:t>Text Type</a:t>
            </a:r>
            <a:r>
              <a:rPr lang="en-US" altLang="zh-CN" sz="2400">
                <a:sym typeface="+mn-ea"/>
              </a:rPr>
              <a:t> of C-E Translation of Wang Wei’s Poems</a:t>
            </a:r>
            <a:endParaRPr lang="en-US" altLang="zh-CN" sz="2400">
              <a:sym typeface="+mn-ea"/>
            </a:endParaRPr>
          </a:p>
        </p:txBody>
      </p:sp>
      <p:sp>
        <p:nvSpPr>
          <p:cNvPr id="4" name="文本占位符 3"/>
          <p:cNvSpPr>
            <a:spLocks noGrp="1"/>
          </p:cNvSpPr>
          <p:nvPr>
            <p:ph type="body" sz="half" idx="2"/>
          </p:nvPr>
        </p:nvSpPr>
        <p:spPr>
          <a:xfrm>
            <a:off x="840105" y="1555115"/>
            <a:ext cx="10498455" cy="4314190"/>
          </a:xfrm>
        </p:spPr>
        <p:txBody>
          <a:bodyPr>
            <a:noAutofit/>
          </a:bodyPr>
          <a:p>
            <a:pPr>
              <a:lnSpc>
                <a:spcPct val="120000"/>
              </a:lnSpc>
            </a:pPr>
            <a:r>
              <a:rPr lang="en-US" altLang="zh-CN" sz="1800">
                <a:solidFill>
                  <a:schemeClr val="tx1"/>
                </a:solidFill>
                <a:latin typeface="+mn-lt"/>
                <a:cs typeface="+mn-lt"/>
                <a:sym typeface="+mn-ea"/>
              </a:rPr>
              <a:t>“By a tactical reading we refer to a typically partial and interested reading, which aims to deploy a text for social purposes other than those it has naturalised; resistant readings oppose the reading position naturalised by the co-selection of meanings in a text, while compliant readings subscribe to it.” (Martin and White, 2005: 62).</a:t>
            </a:r>
            <a:endParaRPr lang="en-US" altLang="zh-CN" sz="1800">
              <a:solidFill>
                <a:schemeClr val="tx1"/>
              </a:solidFill>
              <a:latin typeface="+mn-lt"/>
              <a:cs typeface="+mn-lt"/>
            </a:endParaRPr>
          </a:p>
          <a:p>
            <a:pPr marL="285750" indent="-285750">
              <a:lnSpc>
                <a:spcPct val="120000"/>
              </a:lnSpc>
              <a:buFont typeface="Arial" panose="020B0604020202090204" pitchFamily="34" charset="0"/>
              <a:buChar char="•"/>
            </a:pPr>
            <a:r>
              <a:rPr lang="en-US" altLang="zh-CN" sz="1800">
                <a:solidFill>
                  <a:schemeClr val="tx1"/>
                </a:solidFill>
                <a:latin typeface="+mn-lt"/>
                <a:cs typeface="+mn-lt"/>
              </a:rPr>
              <a:t>Regarding social purposes, Xu Yuanchong constantly calls on readers to appreciate the lines which includes “For example, we may read the following verse” (</a:t>
            </a:r>
            <a:r>
              <a:rPr lang="zh-CN" altLang="en-US" sz="1800">
                <a:solidFill>
                  <a:schemeClr val="tx1"/>
                </a:solidFill>
                <a:latin typeface="+mn-lt"/>
                <a:cs typeface="+mn-lt"/>
              </a:rPr>
              <a:t>许渊冲，</a:t>
            </a:r>
            <a:r>
              <a:rPr lang="en-US" altLang="zh-CN" sz="1800">
                <a:solidFill>
                  <a:schemeClr val="tx1"/>
                </a:solidFill>
                <a:latin typeface="+mn-lt"/>
                <a:cs typeface="+mn-lt"/>
              </a:rPr>
              <a:t>2021</a:t>
            </a:r>
            <a:r>
              <a:rPr lang="zh-CN" altLang="en-US" sz="1800">
                <a:solidFill>
                  <a:schemeClr val="tx1"/>
                </a:solidFill>
                <a:latin typeface="+mn-lt"/>
                <a:cs typeface="+mn-lt"/>
              </a:rPr>
              <a:t>：</a:t>
            </a:r>
            <a:r>
              <a:rPr lang="en-US" altLang="zh-CN" sz="1800">
                <a:solidFill>
                  <a:schemeClr val="tx1"/>
                </a:solidFill>
                <a:latin typeface="+mn-lt"/>
                <a:cs typeface="+mn-lt"/>
              </a:rPr>
              <a:t>III), “We may read two lines from The Dale of Singing Birds” (ibid.: IV), “For instance, we may the following couplet from In the Hills” (ibid.).</a:t>
            </a:r>
            <a:endParaRPr lang="en-US" altLang="zh-CN" sz="1800">
              <a:solidFill>
                <a:schemeClr val="tx1"/>
              </a:solidFill>
              <a:latin typeface="+mn-lt"/>
              <a:cs typeface="+mn-lt"/>
            </a:endParaRPr>
          </a:p>
          <a:p>
            <a:pPr marL="285750" indent="-285750">
              <a:lnSpc>
                <a:spcPct val="120000"/>
              </a:lnSpc>
              <a:buFont typeface="Arial" panose="020B0604020202090204" pitchFamily="34" charset="0"/>
              <a:buChar char="•"/>
            </a:pPr>
            <a:r>
              <a:rPr lang="en-US" altLang="zh-CN" sz="1800">
                <a:solidFill>
                  <a:schemeClr val="tx1"/>
                </a:solidFill>
                <a:latin typeface="+mn-lt"/>
                <a:cs typeface="+mn-lt"/>
              </a:rPr>
              <a:t>Xu (</a:t>
            </a:r>
            <a:r>
              <a:rPr lang="zh-CN" altLang="en-US" sz="1800">
                <a:solidFill>
                  <a:schemeClr val="tx1"/>
                </a:solidFill>
                <a:latin typeface="+mn-lt"/>
                <a:cs typeface="+mn-lt"/>
              </a:rPr>
              <a:t>许渊冲，</a:t>
            </a:r>
            <a:r>
              <a:rPr lang="en-US" altLang="zh-CN" sz="1800">
                <a:solidFill>
                  <a:schemeClr val="tx1"/>
                </a:solidFill>
                <a:latin typeface="+mn-lt"/>
                <a:cs typeface="+mn-lt"/>
              </a:rPr>
              <a:t>2017</a:t>
            </a:r>
            <a:r>
              <a:rPr lang="zh-CN" altLang="en-US" sz="1800">
                <a:solidFill>
                  <a:schemeClr val="tx1"/>
                </a:solidFill>
                <a:latin typeface="+mn-lt"/>
                <a:cs typeface="+mn-lt"/>
              </a:rPr>
              <a:t>：</a:t>
            </a:r>
            <a:r>
              <a:rPr lang="en-US" altLang="zh-CN" sz="1800">
                <a:solidFill>
                  <a:schemeClr val="tx1"/>
                </a:solidFill>
                <a:latin typeface="+mn-lt"/>
                <a:cs typeface="+mn-lt"/>
              </a:rPr>
              <a:t>266) quotes a line from Analects, which is “</a:t>
            </a:r>
            <a:r>
              <a:rPr lang="zh-CN" altLang="en-US" sz="1800">
                <a:solidFill>
                  <a:schemeClr val="tx1"/>
                </a:solidFill>
                <a:latin typeface="+mn-lt"/>
                <a:cs typeface="+mn-lt"/>
              </a:rPr>
              <a:t>从心所欲不逾矩</a:t>
            </a:r>
            <a:r>
              <a:rPr lang="en-US" altLang="zh-CN" sz="1800">
                <a:solidFill>
                  <a:schemeClr val="tx1"/>
                </a:solidFill>
                <a:latin typeface="+mn-lt"/>
                <a:cs typeface="+mn-lt"/>
              </a:rPr>
              <a:t>” (literally “to follow one’s heart without breaking rules”), after which he concludes that “translator is obliged to translate the ST with the best expressions in TL without defying the original meanings”.</a:t>
            </a:r>
            <a:endParaRPr lang="en-US" altLang="zh-CN" sz="1800">
              <a:solidFill>
                <a:schemeClr val="tx1"/>
              </a:solidFill>
              <a:latin typeface="+mn-lt"/>
              <a:cs typeface="+mn-lt"/>
            </a:endParaRPr>
          </a:p>
          <a:p>
            <a:pPr>
              <a:lnSpc>
                <a:spcPct val="120000"/>
              </a:lnSpc>
              <a:buFont typeface="Arial" panose="020B0604020202090204" pitchFamily="34" charset="0"/>
            </a:pPr>
            <a:r>
              <a:rPr lang="en-US" altLang="zh-CN" sz="1800">
                <a:solidFill>
                  <a:schemeClr val="tx1"/>
                </a:solidFill>
                <a:latin typeface="+mn-lt"/>
                <a:cs typeface="+mn-lt"/>
              </a:rPr>
              <a:t>With ways of re-instantiation, semantic relations and reading position taken into consideration, it can be concluded that the text type of TT by Xu Yuanchong is tactical.</a:t>
            </a:r>
            <a:endParaRPr lang="en-US" altLang="zh-CN" sz="1800">
              <a:solidFill>
                <a:schemeClr val="tx1"/>
              </a:solidFill>
              <a:latin typeface="+mn-lt"/>
              <a:cs typeface="+mn-lt"/>
            </a:endParaRPr>
          </a:p>
          <a:p>
            <a:pPr marL="285750" indent="-285750">
              <a:lnSpc>
                <a:spcPct val="120000"/>
              </a:lnSpc>
              <a:buFont typeface="Arial" panose="020B0604020202090204" pitchFamily="34" charset="0"/>
              <a:buChar char="•"/>
            </a:pPr>
            <a:endParaRPr lang="en-US" altLang="zh-CN" sz="1800">
              <a:solidFill>
                <a:schemeClr val="tx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47611" y="2835811"/>
            <a:ext cx="1402080" cy="1568450"/>
          </a:xfrm>
          <a:prstGeom prst="rect">
            <a:avLst/>
          </a:prstGeom>
          <a:noFill/>
        </p:spPr>
        <p:txBody>
          <a:bodyPr wrap="none" rtlCol="0">
            <a:spAutoFit/>
          </a:bodyPr>
          <a:lstStyle/>
          <a:p>
            <a:r>
              <a:rPr lang="en-US" altLang="zh-CN" sz="9600" dirty="0">
                <a:solidFill>
                  <a:schemeClr val="bg1"/>
                </a:solidFill>
                <a:latin typeface="Times New Roman" panose="02020503050405090304" charset="0"/>
                <a:ea typeface="Times New Roman" panose="02020503050405090304" charset="0"/>
                <a:cs typeface="Times New Roman" panose="02020503050405090304" charset="0"/>
              </a:rPr>
              <a:t>05</a:t>
            </a:r>
            <a:endParaRPr lang="zh-CN" altLang="en-US" sz="9600" dirty="0">
              <a:solidFill>
                <a:schemeClr val="bg1"/>
              </a:solidFill>
              <a:latin typeface="Times New Roman" panose="02020503050405090304" charset="0"/>
              <a:ea typeface="Times New Roman" panose="02020503050405090304" charset="0"/>
              <a:cs typeface="Times New Roman" panose="02020503050405090304" charset="0"/>
            </a:endParaRPr>
          </a:p>
        </p:txBody>
      </p:sp>
      <p:sp>
        <p:nvSpPr>
          <p:cNvPr id="3" name="文本框 2"/>
          <p:cNvSpPr txBox="1"/>
          <p:nvPr/>
        </p:nvSpPr>
        <p:spPr>
          <a:xfrm>
            <a:off x="4104005" y="3297555"/>
            <a:ext cx="3983990" cy="645160"/>
          </a:xfrm>
          <a:prstGeom prst="rect">
            <a:avLst/>
          </a:prstGeom>
          <a:noFill/>
        </p:spPr>
        <p:txBody>
          <a:bodyPr wrap="square" rtlCol="0">
            <a:spAutoFit/>
          </a:bodyPr>
          <a:lstStyle/>
          <a:p>
            <a:pPr algn="ctr"/>
            <a:r>
              <a:rPr lang="en-US" altLang="en-GB" sz="3600" b="1" dirty="0">
                <a:solidFill>
                  <a:schemeClr val="tx1">
                    <a:lumMod val="75000"/>
                    <a:lumOff val="25000"/>
                  </a:schemeClr>
                </a:solidFill>
                <a:latin typeface="Times New Roman" panose="02020503050405090304" charset="0"/>
                <a:ea typeface="Times New Roman" panose="02020503050405090304" charset="0"/>
                <a:cs typeface="Times New Roman" panose="02020503050405090304" charset="0"/>
                <a:sym typeface="+mn-ea"/>
              </a:rPr>
              <a:t>Conclusions</a:t>
            </a:r>
            <a:endParaRPr lang="en-US" altLang="en-GB" sz="3600" b="1" dirty="0">
              <a:solidFill>
                <a:schemeClr val="tx1">
                  <a:lumMod val="75000"/>
                  <a:lumOff val="25000"/>
                </a:schemeClr>
              </a:solidFill>
              <a:latin typeface="Times New Roman" panose="02020503050405090304" charset="0"/>
              <a:ea typeface="Times New Roman" panose="02020503050405090304" charset="0"/>
              <a:cs typeface="Times New Roman" panose="020205030504050903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1" presetClass="entr" presetSubtype="0" fill="hold" grpId="0" nodeType="clickEffect">
                                  <p:stCondLst>
                                    <p:cond delay="0"/>
                                  </p:stCondLst>
                                  <p:iterate type="lt">
                                    <p:tmPct val="10000"/>
                                  </p:iterate>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3"/>
                                        </p:tgtEl>
                                        <p:attrNameLst>
                                          <p:attrName>ppt_y</p:attrName>
                                        </p:attrNameLst>
                                      </p:cBhvr>
                                      <p:tavLst>
                                        <p:tav tm="0">
                                          <p:val>
                                            <p:strVal val="#ppt_y"/>
                                          </p:val>
                                        </p:tav>
                                        <p:tav tm="100000">
                                          <p:val>
                                            <p:strVal val="#ppt_y"/>
                                          </p:val>
                                        </p:tav>
                                      </p:tavLst>
                                    </p:anim>
                                    <p:anim calcmode="lin" valueType="num">
                                      <p:cBhvr>
                                        <p:cTn id="14"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497820" cy="895985"/>
          </a:xfrm>
        </p:spPr>
        <p:txBody>
          <a:bodyPr/>
          <a:p>
            <a:r>
              <a:rPr lang="zh-CN" altLang="en-US"/>
              <a:t>Major Findings</a:t>
            </a:r>
            <a:endParaRPr lang="zh-CN" altLang="en-US"/>
          </a:p>
        </p:txBody>
      </p:sp>
      <p:sp>
        <p:nvSpPr>
          <p:cNvPr id="4" name="文本占位符 3"/>
          <p:cNvSpPr>
            <a:spLocks noGrp="1"/>
          </p:cNvSpPr>
          <p:nvPr>
            <p:ph type="body" sz="half" idx="2"/>
          </p:nvPr>
        </p:nvSpPr>
        <p:spPr>
          <a:xfrm>
            <a:off x="840105" y="1555115"/>
            <a:ext cx="10498455" cy="4314190"/>
          </a:xfrm>
        </p:spPr>
        <p:txBody>
          <a:bodyPr>
            <a:normAutofit lnSpcReduction="10000"/>
          </a:bodyPr>
          <a:p>
            <a:pPr>
              <a:lnSpc>
                <a:spcPct val="120000"/>
              </a:lnSpc>
            </a:pPr>
            <a:r>
              <a:rPr lang="zh-CN" altLang="en-US" sz="2400">
                <a:solidFill>
                  <a:schemeClr val="tx1"/>
                </a:solidFill>
                <a:sym typeface="+mn-ea"/>
              </a:rPr>
              <a:t>1.</a:t>
            </a:r>
            <a:r>
              <a:rPr lang="en-US" altLang="zh-CN" sz="2400">
                <a:solidFill>
                  <a:schemeClr val="tx1"/>
                </a:solidFill>
                <a:sym typeface="+mn-ea"/>
              </a:rPr>
              <a:t> </a:t>
            </a:r>
            <a:r>
              <a:rPr lang="en-US" altLang="zh-CN" sz="2400">
                <a:solidFill>
                  <a:schemeClr val="tx1"/>
                </a:solidFill>
              </a:rPr>
              <a:t>How does Xu Yuanchong re-instantiate the meaning potential of the ST in the TT?</a:t>
            </a:r>
            <a:endParaRPr lang="en-US" altLang="zh-CN" sz="2400">
              <a:solidFill>
                <a:schemeClr val="tx1"/>
              </a:solidFill>
            </a:endParaRPr>
          </a:p>
          <a:p>
            <a:pPr marL="342900" indent="-342900">
              <a:lnSpc>
                <a:spcPct val="120000"/>
              </a:lnSpc>
              <a:buFont typeface="Arial" panose="020B0604020202090204" pitchFamily="34" charset="0"/>
              <a:buChar char="•"/>
            </a:pPr>
            <a:r>
              <a:rPr lang="en-US" altLang="zh-CN" sz="2400">
                <a:solidFill>
                  <a:schemeClr val="tx1"/>
                </a:solidFill>
              </a:rPr>
              <a:t>It is through different types of coupling that does Xu Yuanchong make the TT’s structure more compact, thus optimizing the organizational pattern of translation.</a:t>
            </a:r>
            <a:endParaRPr lang="en-US" altLang="zh-CN" sz="2400">
              <a:solidFill>
                <a:schemeClr val="tx1"/>
              </a:solidFill>
            </a:endParaRPr>
          </a:p>
          <a:p>
            <a:pPr marL="342900" indent="-342900">
              <a:lnSpc>
                <a:spcPct val="120000"/>
              </a:lnSpc>
              <a:buFont typeface="Arial" panose="020B0604020202090204" pitchFamily="34" charset="0"/>
              <a:buChar char="•"/>
            </a:pPr>
            <a:r>
              <a:rPr lang="en-US" altLang="zh-CN" sz="2400">
                <a:solidFill>
                  <a:schemeClr val="tx1"/>
                </a:solidFill>
              </a:rPr>
              <a:t>Ideational commitment: addition and substitution are two major translation techniques increasing the delicacy and the amount of meaning potential activated, which in general fall into the category of particularization.</a:t>
            </a:r>
            <a:endParaRPr lang="en-US" altLang="zh-CN" sz="2400">
              <a:solidFill>
                <a:schemeClr val="tx1"/>
              </a:solidFill>
            </a:endParaRPr>
          </a:p>
          <a:p>
            <a:pPr marL="342900" indent="-342900">
              <a:lnSpc>
                <a:spcPct val="120000"/>
              </a:lnSpc>
              <a:buFont typeface="Arial" panose="020B0604020202090204" pitchFamily="34" charset="0"/>
              <a:buChar char="•"/>
            </a:pPr>
            <a:r>
              <a:rPr lang="en-US" altLang="zh-CN" sz="2400">
                <a:solidFill>
                  <a:schemeClr val="tx1"/>
                </a:solidFill>
              </a:rPr>
              <a:t>Interpersonal commitment: generalization is utilized to recreate the interpersonal interactions, so as to give a strong boost to the comprehensibility, and the interactivity between TT and potential readers.</a:t>
            </a:r>
            <a:endParaRPr lang="en-US" altLang="zh-CN" sz="2400">
              <a:solidFill>
                <a:schemeClr val="tx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497820" cy="895985"/>
          </a:xfrm>
        </p:spPr>
        <p:txBody>
          <a:bodyPr/>
          <a:p>
            <a:r>
              <a:rPr lang="zh-CN" altLang="en-US"/>
              <a:t>Major Findings</a:t>
            </a:r>
            <a:endParaRPr lang="zh-CN" altLang="en-US"/>
          </a:p>
        </p:txBody>
      </p:sp>
      <p:sp>
        <p:nvSpPr>
          <p:cNvPr id="4" name="文本占位符 3"/>
          <p:cNvSpPr>
            <a:spLocks noGrp="1"/>
          </p:cNvSpPr>
          <p:nvPr>
            <p:ph type="body" sz="half" idx="2"/>
          </p:nvPr>
        </p:nvSpPr>
        <p:spPr>
          <a:xfrm>
            <a:off x="840105" y="1555115"/>
            <a:ext cx="10498455" cy="4314190"/>
          </a:xfrm>
        </p:spPr>
        <p:txBody>
          <a:bodyPr>
            <a:normAutofit fontScale="90000" lnSpcReduction="10000"/>
          </a:bodyPr>
          <a:p>
            <a:pPr>
              <a:lnSpc>
                <a:spcPct val="120000"/>
              </a:lnSpc>
            </a:pPr>
            <a:r>
              <a:rPr lang="zh-CN" altLang="en-US" sz="2400">
                <a:solidFill>
                  <a:schemeClr val="tx1"/>
                </a:solidFill>
                <a:sym typeface="+mn-ea"/>
              </a:rPr>
              <a:t>2.</a:t>
            </a:r>
            <a:r>
              <a:rPr lang="en-US" altLang="zh-CN" sz="2400">
                <a:solidFill>
                  <a:schemeClr val="tx1"/>
                </a:solidFill>
                <a:sym typeface="+mn-ea"/>
              </a:rPr>
              <a:t> What is the intertextual relation between the ST and TT in general? What are the reasons?</a:t>
            </a:r>
            <a:r>
              <a:rPr lang="zh-CN" altLang="en-US" sz="2400">
                <a:solidFill>
                  <a:schemeClr val="tx1"/>
                </a:solidFill>
                <a:sym typeface="+mn-ea"/>
              </a:rPr>
              <a:t> </a:t>
            </a:r>
            <a:endParaRPr lang="zh-CN" altLang="en-US" sz="2400">
              <a:solidFill>
                <a:schemeClr val="tx1"/>
              </a:solidFill>
            </a:endParaRPr>
          </a:p>
          <a:p>
            <a:pPr marL="342900" indent="-342900">
              <a:lnSpc>
                <a:spcPct val="120000"/>
              </a:lnSpc>
              <a:buFont typeface="Arial" panose="020B0604020202090204" pitchFamily="34" charset="0"/>
              <a:buChar char="•"/>
            </a:pPr>
            <a:r>
              <a:rPr lang="en-US" altLang="zh-CN" sz="2400">
                <a:solidFill>
                  <a:schemeClr val="tx1"/>
                </a:solidFill>
              </a:rPr>
              <a:t>The intertextual relation between the ST by Wang Wei and the TT produced by Xu Yuanchong can be defined as paraphrase </a:t>
            </a:r>
            <a:r>
              <a:rPr lang="en-US" altLang="zh-CN" sz="2400">
                <a:solidFill>
                  <a:schemeClr val="tx1"/>
                </a:solidFill>
                <a:sym typeface="+mn-ea"/>
              </a:rPr>
              <a:t>(on the basis Xu’s methodologies of literary translation and different scholars’ frameworks)</a:t>
            </a:r>
            <a:r>
              <a:rPr lang="en-US" altLang="zh-CN" sz="2400">
                <a:solidFill>
                  <a:schemeClr val="tx1"/>
                </a:solidFill>
              </a:rPr>
              <a:t>.</a:t>
            </a:r>
            <a:endParaRPr lang="en-US" altLang="zh-CN" sz="2400">
              <a:solidFill>
                <a:schemeClr val="tx1"/>
              </a:solidFill>
            </a:endParaRPr>
          </a:p>
          <a:p>
            <a:pPr marL="342900" indent="-342900">
              <a:lnSpc>
                <a:spcPct val="120000"/>
              </a:lnSpc>
              <a:buFont typeface="Arial" panose="020B0604020202090204" pitchFamily="34" charset="0"/>
              <a:buChar char="•"/>
            </a:pPr>
            <a:r>
              <a:rPr lang="en-US" altLang="zh-CN" sz="2400">
                <a:solidFill>
                  <a:schemeClr val="tx1"/>
                </a:solidFill>
              </a:rPr>
              <a:t>Generalization has been implemented in the re-instantiation of places and participants in ST. As to re-instantiating attitude, engagement and graduation, addition is the major way in the TT. In lexical metaphors and infusion, the metaphorical expressions as typical examples of free translation by the translator have foregrounded the generic features of poems. Interpersonal grammatical metaphor has also been an effective means of activating additional layers of meaning in the TT.</a:t>
            </a:r>
            <a:endParaRPr lang="en-US" altLang="zh-CN" sz="2400">
              <a:solidFill>
                <a:schemeClr val="tx1"/>
              </a:solidFill>
            </a:endParaRPr>
          </a:p>
          <a:p>
            <a:pPr marL="342900" indent="-342900">
              <a:lnSpc>
                <a:spcPct val="120000"/>
              </a:lnSpc>
              <a:buFont typeface="Arial" panose="020B0604020202090204" pitchFamily="34" charset="0"/>
              <a:buChar char="•"/>
            </a:pPr>
            <a:endParaRPr lang="en-US" altLang="zh-CN" sz="2400">
              <a:solidFill>
                <a:schemeClr val="tx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497820" cy="895985"/>
          </a:xfrm>
        </p:spPr>
        <p:txBody>
          <a:bodyPr/>
          <a:p>
            <a:r>
              <a:rPr lang="zh-CN" altLang="en-US"/>
              <a:t>Major Findings</a:t>
            </a:r>
            <a:endParaRPr lang="zh-CN" altLang="en-US"/>
          </a:p>
        </p:txBody>
      </p:sp>
      <p:sp>
        <p:nvSpPr>
          <p:cNvPr id="4" name="文本占位符 3"/>
          <p:cNvSpPr>
            <a:spLocks noGrp="1"/>
          </p:cNvSpPr>
          <p:nvPr>
            <p:ph type="body" sz="half" idx="2"/>
          </p:nvPr>
        </p:nvSpPr>
        <p:spPr>
          <a:xfrm>
            <a:off x="840105" y="1555115"/>
            <a:ext cx="10498455" cy="4314190"/>
          </a:xfrm>
        </p:spPr>
        <p:txBody>
          <a:bodyPr>
            <a:normAutofit lnSpcReduction="20000"/>
          </a:bodyPr>
          <a:p>
            <a:pPr>
              <a:lnSpc>
                <a:spcPct val="120000"/>
              </a:lnSpc>
            </a:pPr>
            <a:r>
              <a:rPr lang="zh-CN" altLang="en-US" sz="2400">
                <a:solidFill>
                  <a:schemeClr val="tx1"/>
                </a:solidFill>
                <a:sym typeface="+mn-ea"/>
              </a:rPr>
              <a:t>3.</a:t>
            </a:r>
            <a:r>
              <a:rPr lang="en-US" altLang="zh-CN" sz="2400">
                <a:solidFill>
                  <a:schemeClr val="tx1"/>
                </a:solidFill>
                <a:sym typeface="+mn-ea"/>
              </a:rPr>
              <a:t> What is the text type of Xu Yuanchong’s translation of Wang Wei’s poems from the perspective of ire-nstantiation?</a:t>
            </a:r>
            <a:endParaRPr lang="en-US" altLang="zh-CN" sz="2400">
              <a:solidFill>
                <a:schemeClr val="tx1"/>
              </a:solidFill>
              <a:sym typeface="+mn-ea"/>
            </a:endParaRPr>
          </a:p>
          <a:p>
            <a:pPr marL="342900" indent="-342900">
              <a:lnSpc>
                <a:spcPct val="120000"/>
              </a:lnSpc>
              <a:buFont typeface="Arial" panose="020B0604020202090204" pitchFamily="34" charset="0"/>
              <a:buChar char="•"/>
            </a:pPr>
            <a:r>
              <a:rPr lang="en-US" altLang="zh-CN" sz="2400">
                <a:solidFill>
                  <a:schemeClr val="tx1"/>
                </a:solidFill>
              </a:rPr>
              <a:t>The text type of Xu Yuanchong’s translation of selected Wang Wei’s poems is tactical.</a:t>
            </a:r>
            <a:endParaRPr lang="en-US" altLang="zh-CN" sz="2400">
              <a:solidFill>
                <a:schemeClr val="tx1"/>
              </a:solidFill>
            </a:endParaRPr>
          </a:p>
          <a:p>
            <a:pPr marL="342900" indent="-342900">
              <a:lnSpc>
                <a:spcPct val="120000"/>
              </a:lnSpc>
              <a:buFont typeface="Arial" panose="020B0604020202090204" pitchFamily="34" charset="0"/>
              <a:buChar char="•"/>
            </a:pPr>
            <a:r>
              <a:rPr lang="en-US" altLang="zh-CN" sz="2400">
                <a:solidFill>
                  <a:schemeClr val="tx1"/>
                </a:solidFill>
              </a:rPr>
              <a:t>Apart from the features displayed on a textual level, the revelation of translator’s reading position can be supported by paratexts, such as the preface, the annotation of the translation, and other relevant materials that explain translator’s thoughts and methodologies.</a:t>
            </a:r>
            <a:endParaRPr lang="en-US" altLang="zh-CN" sz="2400">
              <a:solidFill>
                <a:schemeClr val="tx1"/>
              </a:solidFill>
            </a:endParaRPr>
          </a:p>
          <a:p>
            <a:pPr marL="342900" indent="-342900">
              <a:lnSpc>
                <a:spcPct val="120000"/>
              </a:lnSpc>
              <a:buFont typeface="Arial" panose="020B0604020202090204" pitchFamily="34" charset="0"/>
              <a:buChar char="•"/>
            </a:pPr>
            <a:endParaRPr lang="en-US" altLang="zh-CN" sz="2400">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497820" cy="895985"/>
          </a:xfrm>
        </p:spPr>
        <p:txBody>
          <a:bodyPr/>
          <a:p>
            <a:r>
              <a:rPr lang="zh-CN" altLang="en-US"/>
              <a:t>Implications</a:t>
            </a:r>
            <a:endParaRPr lang="zh-CN" altLang="en-US"/>
          </a:p>
        </p:txBody>
      </p:sp>
      <p:sp>
        <p:nvSpPr>
          <p:cNvPr id="4" name="文本占位符 3"/>
          <p:cNvSpPr>
            <a:spLocks noGrp="1"/>
          </p:cNvSpPr>
          <p:nvPr>
            <p:ph type="body" sz="half" idx="2"/>
          </p:nvPr>
        </p:nvSpPr>
        <p:spPr>
          <a:xfrm>
            <a:off x="840105" y="1555115"/>
            <a:ext cx="10498455" cy="4314190"/>
          </a:xfrm>
        </p:spPr>
        <p:txBody>
          <a:bodyPr>
            <a:normAutofit/>
          </a:bodyPr>
          <a:p>
            <a:pPr marL="342900" indent="-342900">
              <a:lnSpc>
                <a:spcPct val="110000"/>
              </a:lnSpc>
              <a:buFont typeface="Arial" panose="020B0604020202090204" pitchFamily="34" charset="0"/>
              <a:buChar char="•"/>
            </a:pPr>
            <a:r>
              <a:rPr lang="en-US" altLang="zh-CN" sz="2400">
                <a:solidFill>
                  <a:schemeClr val="tx1"/>
                </a:solidFill>
              </a:rPr>
              <a:t>Instantiation and the translation model of re-instantiation proposed and improved by scholars of younger generations can serve as comprehensive analytical frameworks covering textual features, and aspects of individual displayed in the text.</a:t>
            </a:r>
            <a:endParaRPr lang="en-US" altLang="zh-CN" sz="2400">
              <a:solidFill>
                <a:schemeClr val="tx1"/>
              </a:solidFill>
            </a:endParaRPr>
          </a:p>
          <a:p>
            <a:pPr marL="342900" indent="-342900">
              <a:lnSpc>
                <a:spcPct val="110000"/>
              </a:lnSpc>
              <a:buFont typeface="Arial" panose="020B0604020202090204" pitchFamily="34" charset="0"/>
              <a:buChar char="•"/>
            </a:pPr>
            <a:r>
              <a:rPr lang="en-US" altLang="zh-CN" sz="2400">
                <a:solidFill>
                  <a:schemeClr val="tx1"/>
                </a:solidFill>
              </a:rPr>
              <a:t>This research may make a response to the various problems in the studies and practice of English translations of classical Chinese poetry via the revelation of new aspects.</a:t>
            </a:r>
            <a:endParaRPr lang="en-US" altLang="zh-CN" sz="2400">
              <a:solidFill>
                <a:schemeClr val="tx1"/>
              </a:solidFill>
            </a:endParaRPr>
          </a:p>
          <a:p>
            <a:pPr marL="342900" indent="-342900">
              <a:lnSpc>
                <a:spcPct val="110000"/>
              </a:lnSpc>
              <a:buFont typeface="Arial" panose="020B0604020202090204" pitchFamily="34" charset="0"/>
              <a:buChar char="•"/>
            </a:pPr>
            <a:r>
              <a:rPr lang="en-US" altLang="zh-CN" sz="2400">
                <a:solidFill>
                  <a:schemeClr val="tx1"/>
                </a:solidFill>
              </a:rPr>
              <a:t>This research is a combination of updated western linguistic theories and Chinese literary works.</a:t>
            </a:r>
            <a:endParaRPr lang="en-US" altLang="zh-CN" sz="2400">
              <a:solidFill>
                <a:schemeClr val="tx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457200"/>
            <a:ext cx="10497820" cy="895985"/>
          </a:xfrm>
        </p:spPr>
        <p:txBody>
          <a:bodyPr/>
          <a:p>
            <a:r>
              <a:rPr lang="zh-CN" altLang="en-US"/>
              <a:t>Limitations</a:t>
            </a:r>
            <a:endParaRPr lang="zh-CN" altLang="en-US"/>
          </a:p>
        </p:txBody>
      </p:sp>
      <p:sp>
        <p:nvSpPr>
          <p:cNvPr id="4" name="文本占位符 3"/>
          <p:cNvSpPr>
            <a:spLocks noGrp="1"/>
          </p:cNvSpPr>
          <p:nvPr>
            <p:ph type="body" sz="half" idx="2"/>
          </p:nvPr>
        </p:nvSpPr>
        <p:spPr>
          <a:xfrm>
            <a:off x="840105" y="1555115"/>
            <a:ext cx="10498455" cy="1873885"/>
          </a:xfrm>
        </p:spPr>
        <p:txBody>
          <a:bodyPr>
            <a:normAutofit/>
          </a:bodyPr>
          <a:p>
            <a:pPr marL="342900" indent="-342900">
              <a:lnSpc>
                <a:spcPct val="110000"/>
              </a:lnSpc>
              <a:buFont typeface="Arial" panose="020B0604020202090204" pitchFamily="34" charset="0"/>
              <a:buChar char="•"/>
            </a:pPr>
            <a:r>
              <a:rPr lang="en-US" altLang="zh-CN" sz="2400">
                <a:solidFill>
                  <a:schemeClr val="tx1"/>
                </a:solidFill>
              </a:rPr>
              <a:t>The theoretical basis on this research cannot fully cover the aesthetic elements, especially those correlated with paintings.</a:t>
            </a:r>
            <a:endParaRPr lang="en-US" altLang="zh-CN" sz="2400">
              <a:solidFill>
                <a:schemeClr val="tx1"/>
              </a:solidFill>
            </a:endParaRPr>
          </a:p>
          <a:p>
            <a:pPr marL="342900" indent="-342900">
              <a:lnSpc>
                <a:spcPct val="110000"/>
              </a:lnSpc>
              <a:buFont typeface="Arial" panose="020B0604020202090204" pitchFamily="34" charset="0"/>
              <a:buChar char="•"/>
            </a:pPr>
            <a:r>
              <a:rPr lang="en-US" altLang="zh-CN" sz="2400">
                <a:solidFill>
                  <a:schemeClr val="tx1"/>
                </a:solidFill>
              </a:rPr>
              <a:t>Contents of phonology in SFL cannot perfectly correspond to the sounds, rhythms and other similar elements in poetry as a unique genre.</a:t>
            </a:r>
            <a:endParaRPr lang="en-US" altLang="zh-CN" sz="2400">
              <a:solidFill>
                <a:schemeClr val="tx1"/>
              </a:solidFill>
            </a:endParaRPr>
          </a:p>
        </p:txBody>
      </p:sp>
      <p:sp>
        <p:nvSpPr>
          <p:cNvPr id="3" name="标题 1"/>
          <p:cNvSpPr>
            <a:spLocks noGrp="1"/>
          </p:cNvSpPr>
          <p:nvPr>
            <p:custDataLst>
              <p:tags r:id="rId1"/>
            </p:custDataLst>
          </p:nvPr>
        </p:nvSpPr>
        <p:spPr>
          <a:xfrm>
            <a:off x="967105" y="3503930"/>
            <a:ext cx="10497820" cy="8959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rgbClr val="03A9F0"/>
                </a:solidFill>
                <a:latin typeface="Times New Roman Regular" panose="02020503050405090304" charset="0"/>
                <a:ea typeface="+mj-ea"/>
                <a:cs typeface="Times New Roman" panose="02020503050405090304" charset="0"/>
              </a:defRPr>
            </a:lvl1pPr>
          </a:lstStyle>
          <a:p>
            <a:endParaRPr lang="zh-CN" altLang="en-US"/>
          </a:p>
        </p:txBody>
      </p:sp>
      <p:sp>
        <p:nvSpPr>
          <p:cNvPr id="6" name="标题 1"/>
          <p:cNvSpPr>
            <a:spLocks noGrp="1"/>
          </p:cNvSpPr>
          <p:nvPr>
            <p:custDataLst>
              <p:tags r:id="rId2"/>
            </p:custDataLst>
          </p:nvPr>
        </p:nvSpPr>
        <p:spPr>
          <a:xfrm>
            <a:off x="840740" y="3164840"/>
            <a:ext cx="10497820" cy="8959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rgbClr val="03A9F0"/>
                </a:solidFill>
                <a:latin typeface="Times New Roman Regular" panose="02020503050405090304" charset="0"/>
                <a:ea typeface="+mj-ea"/>
                <a:cs typeface="Times New Roman" panose="02020503050405090304" charset="0"/>
              </a:defRPr>
            </a:lvl1pPr>
          </a:lstStyle>
          <a:p>
            <a:r>
              <a:rPr lang="zh-CN" altLang="en-US"/>
              <a:t>Suggestions for Future Research</a:t>
            </a:r>
            <a:endParaRPr lang="zh-CN" altLang="en-US"/>
          </a:p>
        </p:txBody>
      </p:sp>
      <p:sp>
        <p:nvSpPr>
          <p:cNvPr id="7" name="文本占位符 3"/>
          <p:cNvSpPr>
            <a:spLocks noGrp="1"/>
          </p:cNvSpPr>
          <p:nvPr>
            <p:custDataLst>
              <p:tags r:id="rId3"/>
            </p:custDataLst>
          </p:nvPr>
        </p:nvSpPr>
        <p:spPr>
          <a:xfrm>
            <a:off x="840740" y="4163060"/>
            <a:ext cx="10498455" cy="187388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1600" kern="1200">
                <a:solidFill>
                  <a:schemeClr val="accent1">
                    <a:lumMod val="50000"/>
                  </a:schemeClr>
                </a:solidFill>
                <a:latin typeface="Times New Roman Regular" panose="02020503050405090304" charset="0"/>
                <a:ea typeface="+mn-ea"/>
                <a:cs typeface="Times New Roman" panose="02020503050405090304" charset="0"/>
              </a:defRPr>
            </a:lvl1pPr>
            <a:lvl2pPr marL="4572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Times New Roman Regular" panose="02020503050405090304" charset="0"/>
                <a:ea typeface="+mn-ea"/>
                <a:cs typeface="Times New Roman" panose="02020503050405090304" charset="0"/>
              </a:defRPr>
            </a:lvl2pPr>
            <a:lvl3pPr marL="9144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Times New Roman Regular" panose="02020503050405090304" charset="0"/>
                <a:ea typeface="+mn-ea"/>
                <a:cs typeface="Times New Roman" panose="02020503050405090304" charset="0"/>
              </a:defRPr>
            </a:lvl3pPr>
            <a:lvl4pPr marL="1371600" indent="0" algn="l" defTabSz="914400" rtl="0" eaLnBrk="1" latinLnBrk="0" hangingPunct="1">
              <a:lnSpc>
                <a:spcPct val="90000"/>
              </a:lnSpc>
              <a:spcBef>
                <a:spcPts val="500"/>
              </a:spcBef>
              <a:buFont typeface="Arial" panose="020B0604020202090204" pitchFamily="34" charset="0"/>
              <a:buNone/>
              <a:defRPr sz="1000" kern="1200">
                <a:solidFill>
                  <a:schemeClr val="tx1"/>
                </a:solidFill>
                <a:latin typeface="Times New Roman Regular" panose="02020503050405090304" charset="0"/>
                <a:ea typeface="+mn-ea"/>
                <a:cs typeface="Times New Roman" panose="02020503050405090304" charset="0"/>
              </a:defRPr>
            </a:lvl4pPr>
            <a:lvl5pPr marL="1828800" indent="0" algn="l" defTabSz="914400" rtl="0" eaLnBrk="1" latinLnBrk="0" hangingPunct="1">
              <a:lnSpc>
                <a:spcPct val="90000"/>
              </a:lnSpc>
              <a:spcBef>
                <a:spcPts val="500"/>
              </a:spcBef>
              <a:buFont typeface="Arial" panose="020B0604020202090204" pitchFamily="34" charset="0"/>
              <a:buNone/>
              <a:defRPr sz="1000" kern="1200">
                <a:solidFill>
                  <a:schemeClr val="tx1"/>
                </a:solidFill>
                <a:latin typeface="Times New Roman Regular" panose="02020503050405090304" charset="0"/>
                <a:ea typeface="+mn-ea"/>
                <a:cs typeface="Times New Roman" panose="02020503050405090304" charset="0"/>
              </a:defRPr>
            </a:lvl5pPr>
            <a:lvl6pPr marL="2286000" indent="0" algn="l" defTabSz="914400" rtl="0" eaLnBrk="1" latinLnBrk="0" hangingPunct="1">
              <a:lnSpc>
                <a:spcPct val="90000"/>
              </a:lnSpc>
              <a:spcBef>
                <a:spcPts val="500"/>
              </a:spcBef>
              <a:buFont typeface="Arial" panose="020B060402020209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9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9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90204" pitchFamily="34" charset="0"/>
              <a:buNone/>
              <a:defRPr sz="1000" kern="1200">
                <a:solidFill>
                  <a:schemeClr val="tx1"/>
                </a:solidFill>
                <a:latin typeface="+mn-lt"/>
                <a:ea typeface="+mn-ea"/>
                <a:cs typeface="+mn-cs"/>
              </a:defRPr>
            </a:lvl9pPr>
          </a:lstStyle>
          <a:p>
            <a:pPr marL="342900" indent="-342900">
              <a:lnSpc>
                <a:spcPct val="110000"/>
              </a:lnSpc>
              <a:buFont typeface="Arial" panose="020B0604020202090204" pitchFamily="34" charset="0"/>
              <a:buChar char="•"/>
            </a:pPr>
            <a:r>
              <a:rPr lang="en-US" altLang="zh-CN" sz="2400">
                <a:solidFill>
                  <a:schemeClr val="tx1"/>
                </a:solidFill>
              </a:rPr>
              <a:t>Future studies may turn to the sounds and rhythms in the poem, thereby uncovering the organizational pattern of sounds and the effects.</a:t>
            </a:r>
            <a:endParaRPr lang="en-US" altLang="zh-CN" sz="2400">
              <a:solidFill>
                <a:schemeClr val="tx1"/>
              </a:solidFill>
            </a:endParaRPr>
          </a:p>
          <a:p>
            <a:pPr marL="342900" indent="-342900">
              <a:lnSpc>
                <a:spcPct val="110000"/>
              </a:lnSpc>
              <a:buFont typeface="Arial" panose="020B0604020202090204" pitchFamily="34" charset="0"/>
              <a:buChar char="•"/>
            </a:pPr>
            <a:r>
              <a:rPr lang="en-US" altLang="zh-CN" sz="2400">
                <a:solidFill>
                  <a:schemeClr val="tx1"/>
                </a:solidFill>
              </a:rPr>
              <a:t>The reception of translations, which is not much reflected in the linguistic model, is worth studying as well.</a:t>
            </a:r>
            <a:endParaRPr lang="en-US" altLang="zh-CN" sz="2400">
              <a:solidFill>
                <a:schemeClr val="tx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2423160" y="2967990"/>
            <a:ext cx="7132320" cy="922020"/>
          </a:xfrm>
          <a:prstGeom prst="rect">
            <a:avLst/>
          </a:prstGeom>
          <a:noFill/>
        </p:spPr>
        <p:txBody>
          <a:bodyPr vert="horz" wrap="square" rtlCol="0">
            <a:spAutoFit/>
          </a:bodyPr>
          <a:lstStyle/>
          <a:p>
            <a:pPr algn="ctr"/>
            <a:r>
              <a:rPr lang="en-US" altLang="zh-CN" sz="5400" dirty="0">
                <a:solidFill>
                  <a:prstClr val="black">
                    <a:lumMod val="85000"/>
                    <a:lumOff val="15000"/>
                  </a:prstClr>
                </a:solidFill>
                <a:latin typeface="Times New Roman" panose="02020503050405090304" charset="0"/>
                <a:ea typeface="Times New Roman" panose="02020503050405090304" charset="0"/>
                <a:cs typeface="Times New Roman" panose="02020503050405090304" charset="0"/>
              </a:rPr>
              <a:t>Thank you for listening</a:t>
            </a:r>
            <a:endParaRPr lang="en-US" altLang="zh-CN" sz="5400" dirty="0">
              <a:solidFill>
                <a:prstClr val="black">
                  <a:lumMod val="85000"/>
                  <a:lumOff val="15000"/>
                </a:prstClr>
              </a:solidFill>
              <a:latin typeface="Times New Roman" panose="02020503050405090304" charset="0"/>
              <a:ea typeface="Times New Roman" panose="02020503050405090304" charset="0"/>
              <a:cs typeface="Times New Roman" panose="0202050305040509030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8000" fill="hold" grpId="0" nodeType="afterEffect" p14:presetBounceEnd="58000">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14:bounceEnd="58000">
                                          <p:cBhvr additive="base">
                                            <p:cTn id="7" dur="1250" fill="hold"/>
                                            <p:tgtEl>
                                              <p:spTgt spid="8"/>
                                            </p:tgtEl>
                                            <p:attrNameLst>
                                              <p:attrName>ppt_x</p:attrName>
                                            </p:attrNameLst>
                                          </p:cBhvr>
                                          <p:tavLst>
                                            <p:tav tm="0">
                                              <p:val>
                                                <p:strVal val="0-#ppt_w/2"/>
                                              </p:val>
                                            </p:tav>
                                            <p:tav tm="100000">
                                              <p:val>
                                                <p:strVal val="#ppt_x"/>
                                              </p:val>
                                            </p:tav>
                                          </p:tavLst>
                                        </p:anim>
                                        <p:anim calcmode="lin" valueType="num" p14:bounceEnd="58000">
                                          <p:cBhvr additive="base">
                                            <p:cTn id="8" dur="125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8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250" fill="hold"/>
                                            <p:tgtEl>
                                              <p:spTgt spid="8"/>
                                            </p:tgtEl>
                                            <p:attrNameLst>
                                              <p:attrName>ppt_x</p:attrName>
                                            </p:attrNameLst>
                                          </p:cBhvr>
                                          <p:tavLst>
                                            <p:tav tm="0">
                                              <p:val>
                                                <p:strVal val="0-#ppt_w/2"/>
                                              </p:val>
                                            </p:tav>
                                            <p:tav tm="100000">
                                              <p:val>
                                                <p:strVal val="#ppt_x"/>
                                              </p:val>
                                            </p:tav>
                                          </p:tavLst>
                                        </p:anim>
                                        <p:anim calcmode="lin" valueType="num">
                                          <p:cBhvr additive="base">
                                            <p:cTn id="8" dur="125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TABLE_ENDDRAG_ORIGIN_RECT" val="356*355"/>
  <p:tag name="TABLE_ENDDRAG_RECT" val="603*176*356*355"/>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ISPRING_PRESENTATION_TITLE" val="PowerPoint 演示文稿"/>
  <p:tag name="KSO_WM_DOC_GUID" val="{7646b040-3551-49a0-9609-8286eb574aa4}"/>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13556</Words>
  <Application>WPS 文字</Application>
  <PresentationFormat>宽屏</PresentationFormat>
  <Paragraphs>309</Paragraphs>
  <Slides>29</Slides>
  <Notes>14</Notes>
  <HiddenSlides>0</HiddenSlides>
  <MMClips>0</MMClips>
  <ScaleCrop>false</ScaleCrop>
  <HeadingPairs>
    <vt:vector size="6" baseType="variant">
      <vt:variant>
        <vt:lpstr>已用的字体</vt:lpstr>
      </vt:variant>
      <vt:variant>
        <vt:i4>25</vt:i4>
      </vt:variant>
      <vt:variant>
        <vt:lpstr>主题</vt:lpstr>
      </vt:variant>
      <vt:variant>
        <vt:i4>2</vt:i4>
      </vt:variant>
      <vt:variant>
        <vt:lpstr>幻灯片标题</vt:lpstr>
      </vt:variant>
      <vt:variant>
        <vt:i4>29</vt:i4>
      </vt:variant>
    </vt:vector>
  </HeadingPairs>
  <TitlesOfParts>
    <vt:vector size="56" baseType="lpstr">
      <vt:lpstr>Arial</vt:lpstr>
      <vt:lpstr>宋体</vt:lpstr>
      <vt:lpstr>Wingdings</vt:lpstr>
      <vt:lpstr>Times New Roman Regular</vt:lpstr>
      <vt:lpstr>华文隶书</vt:lpstr>
      <vt:lpstr>报隶-简</vt:lpstr>
      <vt:lpstr>Times New Roman</vt:lpstr>
      <vt:lpstr>Brush Script MT</vt:lpstr>
      <vt:lpstr>汉仪书宋二KW</vt:lpstr>
      <vt:lpstr>Roboto Light</vt:lpstr>
      <vt:lpstr>Impact</vt:lpstr>
      <vt:lpstr>宋体</vt:lpstr>
      <vt:lpstr>黑体</vt:lpstr>
      <vt:lpstr>Times New Roman Bold</vt:lpstr>
      <vt:lpstr>Times New Roman Italic</vt:lpstr>
      <vt:lpstr>微软雅黑</vt:lpstr>
      <vt:lpstr>汉仪旗黑</vt:lpstr>
      <vt:lpstr>Arial Unicode MS</vt:lpstr>
      <vt:lpstr>Times New Roman Bold</vt:lpstr>
      <vt:lpstr>Times New Roman</vt:lpstr>
      <vt:lpstr>Times New Roman Regular</vt:lpstr>
      <vt:lpstr>Thonburi</vt:lpstr>
      <vt:lpstr>汉仪中黑KW</vt:lpstr>
      <vt:lpstr>黑体</vt:lpstr>
      <vt:lpstr>Nanum Myeongjo</vt:lpstr>
      <vt:lpstr>第一PPT，www.1ppt.com</vt:lpstr>
      <vt:lpstr>1_第一PPT，www.1ppt.com</vt:lpstr>
      <vt:lpstr>PowerPoint 演示文稿</vt:lpstr>
      <vt:lpstr>PowerPoint 演示文稿</vt:lpstr>
      <vt:lpstr>PowerPoint 演示文稿</vt:lpstr>
      <vt:lpstr>Introduction</vt:lpstr>
      <vt:lpstr>Introduction</vt:lpstr>
      <vt:lpstr>Introduction</vt:lpstr>
      <vt:lpstr>Introduction</vt:lpstr>
      <vt:lpstr>PowerPoint 演示文稿</vt:lpstr>
      <vt:lpstr>Literature Review</vt:lpstr>
      <vt:lpstr>Literature Review</vt:lpstr>
      <vt:lpstr>Literature Review</vt:lpstr>
      <vt:lpstr>Literature Review</vt:lpstr>
      <vt:lpstr>PowerPoint 演示文稿</vt:lpstr>
      <vt:lpstr>Translation as Re-instantiation</vt:lpstr>
      <vt:lpstr>Translation as Re-instantiation</vt:lpstr>
      <vt:lpstr>Translation as  Re-instantiation</vt:lpstr>
      <vt:lpstr>PowerPoint 演示文稿</vt:lpstr>
      <vt:lpstr>Coupling: Organization of C-E Translation of Wang Wei’s Poems</vt:lpstr>
      <vt:lpstr>Commitment: Meanings in C-E Translation of Wang Wei’s Poems</vt:lpstr>
      <vt:lpstr>Semantic Relations: The Categorization of ST-TT Relation</vt:lpstr>
      <vt:lpstr>Intertextual Relation: The Determination of ST-TT Relation</vt:lpstr>
      <vt:lpstr>Translator’s Reading Position and Text Type of C-E Translation of Wang Wei’s Poems</vt:lpstr>
      <vt:lpstr>PowerPoint 演示文稿</vt:lpstr>
      <vt:lpstr>Major Findings</vt:lpstr>
      <vt:lpstr>Major Findings</vt:lpstr>
      <vt:lpstr>Major Findings</vt:lpstr>
      <vt:lpstr>Implications</vt:lpstr>
      <vt:lpstr>Limitations</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粒子点线</dc:title>
  <dc:creator>第一PPT</dc:creator>
  <cp:keywords>www.1ppt.com</cp:keywords>
  <dc:description>www.1ppt.com</dc:description>
  <cp:lastModifiedBy>Blueisthecolour29</cp:lastModifiedBy>
  <cp:revision>531</cp:revision>
  <dcterms:created xsi:type="dcterms:W3CDTF">2025-05-21T07:44:47Z</dcterms:created>
  <dcterms:modified xsi:type="dcterms:W3CDTF">2025-05-21T07:44:47Z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2052-7.3.1.8967</vt:lpwstr>
  </property>
  <property fmtid="{D5CDD505-2E9C-101B-9397-08002B2CF9AE}" pid="3" name="ICV">
    <vt:lpwstr>4E64E0E828303F346F842D68AB3F3F9B_43</vt:lpwstr>
  </property>
</Properties>
</file>