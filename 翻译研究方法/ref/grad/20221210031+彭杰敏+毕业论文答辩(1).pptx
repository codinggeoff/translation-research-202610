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335" r:id="rId4"/>
    <p:sldId id="336" r:id="rId6"/>
    <p:sldId id="341" r:id="rId7"/>
    <p:sldId id="340" r:id="rId8"/>
    <p:sldId id="339" r:id="rId9"/>
    <p:sldId id="345" r:id="rId10"/>
    <p:sldId id="265" r:id="rId11"/>
    <p:sldId id="284" r:id="rId12"/>
    <p:sldId id="344" r:id="rId13"/>
    <p:sldId id="346" r:id="rId14"/>
    <p:sldId id="269" r:id="rId15"/>
    <p:sldId id="289" r:id="rId16"/>
    <p:sldId id="349" r:id="rId17"/>
    <p:sldId id="275" r:id="rId18"/>
    <p:sldId id="276" r:id="rId19"/>
    <p:sldId id="347" r:id="rId20"/>
    <p:sldId id="351" r:id="rId21"/>
    <p:sldId id="352" r:id="rId22"/>
    <p:sldId id="280" r:id="rId23"/>
    <p:sldId id="281" r:id="rId24"/>
    <p:sldId id="291" r:id="rId25"/>
    <p:sldId id="290" r:id="rId26"/>
    <p:sldId id="343" r:id="rId27"/>
    <p:sldId id="348" r:id="rId28"/>
  </p:sldIdLst>
  <p:sldSz cx="12192000" cy="6858000"/>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9pPr>
  </p:defaultTextStyle>
  <p:extLst>
    <p:ext uri="{EFAFB233-063F-42B5-8137-9DF3F51BA10A}">
      <p15:sldGuideLst xmlns:p15="http://schemas.microsoft.com/office/powerpoint/2012/main">
        <p15:guide id="1" orient="horz" pos="211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寻 一格" initials="寻"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1846"/>
    <p:restoredTop sz="96296"/>
  </p:normalViewPr>
  <p:slideViewPr>
    <p:cSldViewPr snapToGrid="0" showGuides="1">
      <p:cViewPr varScale="1">
        <p:scale>
          <a:sx n="115" d="100"/>
          <a:sy n="115" d="100"/>
        </p:scale>
        <p:origin x="688" y="200"/>
      </p:cViewPr>
      <p:guideLst>
        <p:guide orient="horz" pos="2110"/>
        <p:guide pos="3840"/>
      </p:guideLst>
    </p:cSldViewPr>
  </p:slideViewPr>
  <p:outlineViewPr>
    <p:cViewPr>
      <p:scale>
        <a:sx n="33" d="100"/>
        <a:sy n="33" d="100"/>
      </p:scale>
      <p:origin x="0" y="0"/>
    </p:cViewPr>
  </p:outlineViewPr>
  <p:notesTextViewPr>
    <p:cViewPr>
      <p:scale>
        <a:sx n="1" d="1"/>
        <a:sy n="1" d="1"/>
      </p:scale>
      <p:origin x="0" y="0"/>
    </p:cViewPr>
  </p:notesTextViewPr>
  <p:sorterViewPr showFormatting="0">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0ADF2BB-E2BB-4FEB-BF2B-D0496E6784D8}" type="doc">
      <dgm:prSet loTypeId="urn:microsoft.com/office/officeart/2008/layout/HorizontalMultiLevelHierarchy" loCatId="hierarchy" qsTypeId="urn:microsoft.com/office/officeart/2005/8/quickstyle/simple5" qsCatId="simple" csTypeId="urn:microsoft.com/office/officeart/2005/8/colors/accent0_2" csCatId="mainScheme" phldr="1"/>
      <dgm:spPr/>
      <dgm:t>
        <a:bodyPr/>
        <a:lstStyle/>
        <a:p>
          <a:endParaRPr lang="zh-CN" altLang="en-US"/>
        </a:p>
      </dgm:t>
    </dgm:pt>
    <dgm:pt modelId="{7FF0C841-F9E9-480F-8527-0FD126035E81}">
      <dgm:prSet phldrT="[文本]" custT="1"/>
      <dgm:spPr/>
      <dgm:t>
        <a:bodyPr/>
        <a:lstStyle/>
        <a:p>
          <a:pPr algn="ctr"/>
          <a:r>
            <a:rPr lang="en-US" sz="2000" b="1" kern="100" dirty="0">
              <a:solidFill>
                <a:schemeClr val="tx1"/>
              </a:solidFill>
              <a:latin typeface="Times New Roman" panose="02020603050405020304" pitchFamily="18" charset="0"/>
              <a:ea typeface="宋体" pitchFamily="2" charset="-122"/>
              <a:cs typeface="Times New Roman" panose="02020603050405020304" pitchFamily="18" charset="0"/>
            </a:rPr>
            <a:t>Previous Translation Studies on Chinese Online Literature</a:t>
          </a:r>
          <a:endParaRPr lang="zh-CN" altLang="en-US" sz="2000" b="1" kern="100" dirty="0">
            <a:solidFill>
              <a:schemeClr val="tx1"/>
            </a:solidFill>
            <a:latin typeface="Times New Roman" panose="02020603050405020304" pitchFamily="18" charset="0"/>
            <a:ea typeface="宋体" pitchFamily="2" charset="-122"/>
            <a:cs typeface="Times New Roman" panose="02020603050405020304" pitchFamily="18" charset="0"/>
          </a:endParaRPr>
        </a:p>
      </dgm:t>
    </dgm:pt>
    <dgm:pt modelId="{735D4C07-2A38-46A5-A17E-B9C3F3C3C901}" cxnId="{DF09632C-1622-4FA9-B4A8-E4055F2A376A}" type="par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6B401930-3141-4F8A-B351-ACBC9C39AE2C}" cxnId="{DF09632C-1622-4FA9-B4A8-E4055F2A376A}"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6BF4BDC9-299A-46D4-BF13-C3901587CF8D}">
      <dgm:prSet phldrT="[文本]" custT="1"/>
      <dgm:spPr/>
      <dgm:t>
        <a:bodyPr/>
        <a:lstStyle/>
        <a:p>
          <a:pPr algn="just"/>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lack a clear theoretical foundation and primarily focus on summarizing the current scenario of Chinese online literature(</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董子铭</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刘肖</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2017</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；高纯娟</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2017</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；鲍娴</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；席志武</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付自强</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a:t>
          </a:r>
          <a:endParaRPr lang="zh-CN" altLang="en-US" sz="1800" b="1" kern="100" dirty="0">
            <a:solidFill>
              <a:schemeClr val="tx1"/>
            </a:solidFill>
            <a:latin typeface="Times New Roman" panose="02020603050405020304" pitchFamily="18" charset="0"/>
            <a:ea typeface="宋体" pitchFamily="2" charset="-122"/>
            <a:cs typeface="Times New Roman" panose="02020603050405020304" pitchFamily="18" charset="0"/>
          </a:endParaRPr>
        </a:p>
      </dgm:t>
    </dgm:pt>
    <dgm:pt modelId="{02730D56-9E9D-4932-8361-D51A0C7A044C}" cxnId="{0100C888-E012-434A-A1EF-E237E167839A}"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7DFC0A44-B80C-4E85-99EF-EF6018CCF230}" cxnId="{0100C888-E012-434A-A1EF-E237E167839A}"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ED325DA5-E5CA-4ADA-A19A-88088155CCB0}">
      <dgm:prSet phldrT="[文本]" custT="1"/>
      <dgm:spPr/>
      <dgm:t>
        <a:bodyPr/>
        <a:lstStyle/>
        <a:p>
          <a:pPr algn="just"/>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adopt theoretical perspectives not primarily centered on translation but rather on the broader theme of the “international dissemination of Chinese online literature”, including communication studies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刘肖</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董子铭</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2017;</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彭石玉</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张慧英</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 media consumption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尤达</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2019), cultural consumption(</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王璐璐</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 and the global media revolution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邵燕君等</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a:t>
          </a:r>
          <a:endParaRPr lang="zh-CN" altLang="en-US" sz="1800" b="1" kern="100" dirty="0">
            <a:solidFill>
              <a:schemeClr val="tx1"/>
            </a:solidFill>
            <a:latin typeface="Times New Roman" panose="02020603050405020304" pitchFamily="18" charset="0"/>
            <a:ea typeface="宋体" pitchFamily="2" charset="-122"/>
            <a:cs typeface="Times New Roman" panose="02020603050405020304" pitchFamily="18" charset="0"/>
          </a:endParaRPr>
        </a:p>
      </dgm:t>
    </dgm:pt>
    <dgm:pt modelId="{874D0541-453E-472E-83D7-EA0C60F3DD1A}" cxnId="{37981302-2C91-44FD-9191-EEE2D17D8AF7}"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E5184F52-3C76-4D92-A13C-DB5EB79E6F0C}" cxnId="{37981302-2C91-44FD-9191-EEE2D17D8AF7}"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F0243762-F62E-404C-A046-CEFA0CCF9601}">
      <dgm:prSet custT="1"/>
      <dgm:spPr/>
      <dgm:t>
        <a:bodyPr/>
        <a:lstStyle/>
        <a:p>
          <a:pPr algn="just"/>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delve into translation and dissemination from a translation study perspective, conducting either broad or detailed analyses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林玲</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马孝幸</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赵梦源</a:t>
          </a:r>
          <a:r>
            <a:rPr lang="en-US" alt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2020; </a:t>
          </a:r>
          <a:r>
            <a:rPr lang="en-US" sz="1800" b="1" kern="100" dirty="0" err="1">
              <a:solidFill>
                <a:schemeClr val="tx1"/>
              </a:solidFill>
              <a:latin typeface="Times New Roman" panose="02020603050405020304" pitchFamily="18" charset="0"/>
              <a:ea typeface="宋体" pitchFamily="2" charset="-122"/>
              <a:cs typeface="Times New Roman" panose="02020603050405020304" pitchFamily="18" charset="0"/>
            </a:rPr>
            <a:t>张莹莹</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2020;</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张雅雯</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2024)</a:t>
          </a:r>
          <a:endParaRPr lang="zh-CN" altLang="en-US" sz="1800" b="1" kern="100" dirty="0">
            <a:solidFill>
              <a:schemeClr val="tx1"/>
            </a:solidFill>
            <a:latin typeface="Times New Roman" panose="02020603050405020304" pitchFamily="18" charset="0"/>
            <a:ea typeface="宋体" pitchFamily="2" charset="-122"/>
            <a:cs typeface="Times New Roman" panose="02020603050405020304" pitchFamily="18" charset="0"/>
          </a:endParaRPr>
        </a:p>
      </dgm:t>
    </dgm:pt>
    <dgm:pt modelId="{3B095B21-37C3-D04F-9D17-303D4A1240D2}" cxnId="{17F30411-E3DD-624D-9FF7-E43E08779868}" type="parTrans">
      <dgm:prSet/>
      <dgm:spPr/>
      <dgm:t>
        <a:bodyPr/>
        <a:lstStyle/>
        <a:p>
          <a:endParaRPr lang="zh-CN" altLang="en-US"/>
        </a:p>
      </dgm:t>
    </dgm:pt>
    <dgm:pt modelId="{E079C3B2-544E-F047-924B-A360A22E2A7E}" cxnId="{17F30411-E3DD-624D-9FF7-E43E08779868}" type="sibTrans">
      <dgm:prSet/>
      <dgm:spPr/>
      <dgm:t>
        <a:bodyPr/>
        <a:lstStyle/>
        <a:p>
          <a:endParaRPr lang="zh-CN" altLang="en-US"/>
        </a:p>
      </dgm:t>
    </dgm:pt>
    <dgm:pt modelId="{0E1A4C0B-E89D-C74E-B5B0-02CA719F5293}">
      <dgm:prSet custT="1"/>
      <dgm:spPr/>
      <dgm:t>
        <a:bodyPr/>
        <a:lstStyle/>
        <a:p>
          <a:pPr algn="just"/>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despite addressing online literature translation and dissemination, there's a notable absence of integration between translation theory and translation practices of online literature(</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万金</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2017;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阮诗芸</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2019;</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尹倩</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曾军</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2019). </a:t>
          </a:r>
          <a:endParaRPr lang="zh-CN" altLang="en-US" sz="1800" b="1" kern="100" dirty="0">
            <a:solidFill>
              <a:schemeClr val="tx1"/>
            </a:solidFill>
            <a:latin typeface="Times New Roman" panose="02020603050405020304" pitchFamily="18" charset="0"/>
            <a:ea typeface="宋体" pitchFamily="2" charset="-122"/>
            <a:cs typeface="Times New Roman" panose="02020603050405020304" pitchFamily="18" charset="0"/>
          </a:endParaRPr>
        </a:p>
      </dgm:t>
    </dgm:pt>
    <dgm:pt modelId="{D9EE841F-B0FA-0747-96D7-014DA386AA0A}" cxnId="{EC8851CB-3092-2946-BEFF-77C0D37E7F5B}" type="parTrans">
      <dgm:prSet/>
      <dgm:spPr/>
      <dgm:t>
        <a:bodyPr/>
        <a:lstStyle/>
        <a:p>
          <a:endParaRPr lang="zh-CN" altLang="en-US"/>
        </a:p>
      </dgm:t>
    </dgm:pt>
    <dgm:pt modelId="{EC7D0277-A7CE-B748-96C3-DF60634F933D}" cxnId="{EC8851CB-3092-2946-BEFF-77C0D37E7F5B}" type="sibTrans">
      <dgm:prSet/>
      <dgm:spPr/>
      <dgm:t>
        <a:bodyPr/>
        <a:lstStyle/>
        <a:p>
          <a:endParaRPr lang="zh-CN" altLang="en-US"/>
        </a:p>
      </dgm:t>
    </dgm:pt>
    <dgm:pt modelId="{34F9F2FF-326E-4A45-BFF4-F915FED53D0E}" type="pres">
      <dgm:prSet presAssocID="{00ADF2BB-E2BB-4FEB-BF2B-D0496E6784D8}" presName="Name0" presStyleCnt="0">
        <dgm:presLayoutVars>
          <dgm:chPref val="1"/>
          <dgm:dir/>
          <dgm:animOne val="branch"/>
          <dgm:animLvl val="lvl"/>
          <dgm:resizeHandles val="exact"/>
        </dgm:presLayoutVars>
      </dgm:prSet>
      <dgm:spPr/>
    </dgm:pt>
    <dgm:pt modelId="{DCD2FD4F-7F75-44AE-A088-2144DE3650D2}" type="pres">
      <dgm:prSet presAssocID="{7FF0C841-F9E9-480F-8527-0FD126035E81}" presName="root1" presStyleCnt="0"/>
      <dgm:spPr/>
    </dgm:pt>
    <dgm:pt modelId="{E3A22DDB-CC73-43F5-99AA-2B554F3DF815}" type="pres">
      <dgm:prSet presAssocID="{7FF0C841-F9E9-480F-8527-0FD126035E81}" presName="LevelOneTextNode" presStyleLbl="node0" presStyleIdx="0" presStyleCnt="1" custAng="5400000" custScaleX="689923" custScaleY="111484" custLinFactX="-10010" custLinFactNeighborX="-100000" custLinFactNeighborY="-1842">
        <dgm:presLayoutVars>
          <dgm:chPref val="3"/>
        </dgm:presLayoutVars>
      </dgm:prSet>
      <dgm:spPr/>
    </dgm:pt>
    <dgm:pt modelId="{15E97223-7D49-4C51-9074-D7C4277F6DB3}" type="pres">
      <dgm:prSet presAssocID="{7FF0C841-F9E9-480F-8527-0FD126035E81}" presName="level2hierChild" presStyleCnt="0"/>
      <dgm:spPr/>
    </dgm:pt>
    <dgm:pt modelId="{AB495BDD-0E8F-4579-AE89-997FDF308A2D}" type="pres">
      <dgm:prSet presAssocID="{02730D56-9E9D-4932-8361-D51A0C7A044C}" presName="conn2-1" presStyleLbl="parChTrans1D2" presStyleIdx="0" presStyleCnt="4"/>
      <dgm:spPr/>
    </dgm:pt>
    <dgm:pt modelId="{1211FCA0-7F52-4CFF-A280-E16C3629FED3}" type="pres">
      <dgm:prSet presAssocID="{02730D56-9E9D-4932-8361-D51A0C7A044C}" presName="connTx" presStyleLbl="parChTrans1D2" presStyleIdx="0" presStyleCnt="4"/>
      <dgm:spPr/>
    </dgm:pt>
    <dgm:pt modelId="{14CC2BEC-7C92-496D-9016-27F261BEC2A2}" type="pres">
      <dgm:prSet presAssocID="{6BF4BDC9-299A-46D4-BF13-C3901587CF8D}" presName="root2" presStyleCnt="0"/>
      <dgm:spPr/>
    </dgm:pt>
    <dgm:pt modelId="{416064F3-852F-470B-85A9-3C2B722FFBC3}" type="pres">
      <dgm:prSet presAssocID="{6BF4BDC9-299A-46D4-BF13-C3901587CF8D}" presName="LevelTwoTextNode" presStyleLbl="node2" presStyleIdx="0" presStyleCnt="4" custScaleX="829978" custScaleY="295904" custLinFactY="-76379" custLinFactNeighborY="-100000">
        <dgm:presLayoutVars>
          <dgm:chPref val="3"/>
        </dgm:presLayoutVars>
      </dgm:prSet>
      <dgm:spPr/>
    </dgm:pt>
    <dgm:pt modelId="{E027CC0A-5427-45B2-BA03-ED32A58EDDD8}" type="pres">
      <dgm:prSet presAssocID="{6BF4BDC9-299A-46D4-BF13-C3901587CF8D}" presName="level3hierChild" presStyleCnt="0"/>
      <dgm:spPr/>
    </dgm:pt>
    <dgm:pt modelId="{0211911A-E4BD-46D6-BF8D-4BF454E2D22B}" type="pres">
      <dgm:prSet presAssocID="{874D0541-453E-472E-83D7-EA0C60F3DD1A}" presName="conn2-1" presStyleLbl="parChTrans1D2" presStyleIdx="1" presStyleCnt="4"/>
      <dgm:spPr/>
    </dgm:pt>
    <dgm:pt modelId="{5854687B-CF48-46FC-B54C-9CA6413283C5}" type="pres">
      <dgm:prSet presAssocID="{874D0541-453E-472E-83D7-EA0C60F3DD1A}" presName="connTx" presStyleLbl="parChTrans1D2" presStyleIdx="1" presStyleCnt="4"/>
      <dgm:spPr/>
    </dgm:pt>
    <dgm:pt modelId="{8727C5DB-D4F1-4473-AC17-1CA0EB695509}" type="pres">
      <dgm:prSet presAssocID="{ED325DA5-E5CA-4ADA-A19A-88088155CCB0}" presName="root2" presStyleCnt="0"/>
      <dgm:spPr/>
    </dgm:pt>
    <dgm:pt modelId="{9F74AD6C-F48F-4FE4-9561-21A96E4D512B}" type="pres">
      <dgm:prSet presAssocID="{ED325DA5-E5CA-4ADA-A19A-88088155CCB0}" presName="LevelTwoTextNode" presStyleLbl="node2" presStyleIdx="1" presStyleCnt="4" custScaleX="826514" custScaleY="582775" custLinFactY="-11823" custLinFactNeighborX="125" custLinFactNeighborY="-100000">
        <dgm:presLayoutVars>
          <dgm:chPref val="3"/>
        </dgm:presLayoutVars>
      </dgm:prSet>
      <dgm:spPr/>
    </dgm:pt>
    <dgm:pt modelId="{3E09603D-75FA-45FA-96F1-069658BDAFCD}" type="pres">
      <dgm:prSet presAssocID="{ED325DA5-E5CA-4ADA-A19A-88088155CCB0}" presName="level3hierChild" presStyleCnt="0"/>
      <dgm:spPr/>
    </dgm:pt>
    <dgm:pt modelId="{96168431-7098-344C-851A-37F06A5ED7A5}" type="pres">
      <dgm:prSet presAssocID="{D9EE841F-B0FA-0747-96D7-014DA386AA0A}" presName="conn2-1" presStyleLbl="parChTrans1D2" presStyleIdx="2" presStyleCnt="4"/>
      <dgm:spPr/>
    </dgm:pt>
    <dgm:pt modelId="{F7AF27D6-A272-9346-A2F4-D9686E66AB2A}" type="pres">
      <dgm:prSet presAssocID="{D9EE841F-B0FA-0747-96D7-014DA386AA0A}" presName="connTx" presStyleLbl="parChTrans1D2" presStyleIdx="2" presStyleCnt="4"/>
      <dgm:spPr/>
    </dgm:pt>
    <dgm:pt modelId="{D9F64DA4-7632-6A40-89A9-2BA4437E4BEA}" type="pres">
      <dgm:prSet presAssocID="{0E1A4C0B-E89D-C74E-B5B0-02CA719F5293}" presName="root2" presStyleCnt="0"/>
      <dgm:spPr/>
    </dgm:pt>
    <dgm:pt modelId="{41F41CFF-0BF8-7341-8CDC-6910C04F4C9C}" type="pres">
      <dgm:prSet presAssocID="{0E1A4C0B-E89D-C74E-B5B0-02CA719F5293}" presName="LevelTwoTextNode" presStyleLbl="node2" presStyleIdx="2" presStyleCnt="4" custScaleX="833799" custScaleY="372416" custLinFactNeighborX="2369" custLinFactNeighborY="-46627">
        <dgm:presLayoutVars>
          <dgm:chPref val="3"/>
        </dgm:presLayoutVars>
      </dgm:prSet>
      <dgm:spPr/>
    </dgm:pt>
    <dgm:pt modelId="{315BBF4B-EDC2-8F42-B4B5-03A2D28F0332}" type="pres">
      <dgm:prSet presAssocID="{0E1A4C0B-E89D-C74E-B5B0-02CA719F5293}" presName="level3hierChild" presStyleCnt="0"/>
      <dgm:spPr/>
    </dgm:pt>
    <dgm:pt modelId="{CE5E7B62-8E67-8042-A43D-B1F2033BBAF7}" type="pres">
      <dgm:prSet presAssocID="{3B095B21-37C3-D04F-9D17-303D4A1240D2}" presName="conn2-1" presStyleLbl="parChTrans1D2" presStyleIdx="3" presStyleCnt="4"/>
      <dgm:spPr/>
    </dgm:pt>
    <dgm:pt modelId="{2E103FED-A361-4C48-A6A0-833E90921580}" type="pres">
      <dgm:prSet presAssocID="{3B095B21-37C3-D04F-9D17-303D4A1240D2}" presName="connTx" presStyleLbl="parChTrans1D2" presStyleIdx="3" presStyleCnt="4"/>
      <dgm:spPr/>
    </dgm:pt>
    <dgm:pt modelId="{EE9DF7FA-D422-EF4A-AE06-7666D84235A5}" type="pres">
      <dgm:prSet presAssocID="{F0243762-F62E-404C-A046-CEFA0CCF9601}" presName="root2" presStyleCnt="0"/>
      <dgm:spPr/>
    </dgm:pt>
    <dgm:pt modelId="{4171B43F-64B1-D040-BE39-F8325D42D918}" type="pres">
      <dgm:prSet presAssocID="{F0243762-F62E-404C-A046-CEFA0CCF9601}" presName="LevelTwoTextNode" presStyleLbl="node2" presStyleIdx="3" presStyleCnt="4" custScaleX="837382" custScaleY="302595" custLinFactNeighborX="-3930" custLinFactNeighborY="38678">
        <dgm:presLayoutVars>
          <dgm:chPref val="3"/>
        </dgm:presLayoutVars>
      </dgm:prSet>
      <dgm:spPr/>
    </dgm:pt>
    <dgm:pt modelId="{4C8B5526-68EC-9145-AAC2-A24C67F1803E}" type="pres">
      <dgm:prSet presAssocID="{F0243762-F62E-404C-A046-CEFA0CCF9601}" presName="level3hierChild" presStyleCnt="0"/>
      <dgm:spPr/>
    </dgm:pt>
  </dgm:ptLst>
  <dgm:cxnLst>
    <dgm:cxn modelId="{37981302-2C91-44FD-9191-EEE2D17D8AF7}" srcId="{7FF0C841-F9E9-480F-8527-0FD126035E81}" destId="{ED325DA5-E5CA-4ADA-A19A-88088155CCB0}" srcOrd="1" destOrd="0" parTransId="{874D0541-453E-472E-83D7-EA0C60F3DD1A}" sibTransId="{E5184F52-3C76-4D92-A13C-DB5EB79E6F0C}"/>
    <dgm:cxn modelId="{C107A40B-9273-4DF2-87D5-5538E1CFE2CA}" type="presOf" srcId="{ED325DA5-E5CA-4ADA-A19A-88088155CCB0}" destId="{9F74AD6C-F48F-4FE4-9561-21A96E4D512B}" srcOrd="0" destOrd="0" presId="urn:microsoft.com/office/officeart/2008/layout/HorizontalMultiLevelHierarchy"/>
    <dgm:cxn modelId="{17F30411-E3DD-624D-9FF7-E43E08779868}" srcId="{7FF0C841-F9E9-480F-8527-0FD126035E81}" destId="{F0243762-F62E-404C-A046-CEFA0CCF9601}" srcOrd="3" destOrd="0" parTransId="{3B095B21-37C3-D04F-9D17-303D4A1240D2}" sibTransId="{E079C3B2-544E-F047-924B-A360A22E2A7E}"/>
    <dgm:cxn modelId="{4A160E29-353C-9546-A6BB-5F7E601FA9EA}" type="presOf" srcId="{D9EE841F-B0FA-0747-96D7-014DA386AA0A}" destId="{F7AF27D6-A272-9346-A2F4-D9686E66AB2A}" srcOrd="1" destOrd="0" presId="urn:microsoft.com/office/officeart/2008/layout/HorizontalMultiLevelHierarchy"/>
    <dgm:cxn modelId="{DF09632C-1622-4FA9-B4A8-E4055F2A376A}" srcId="{00ADF2BB-E2BB-4FEB-BF2B-D0496E6784D8}" destId="{7FF0C841-F9E9-480F-8527-0FD126035E81}" srcOrd="0" destOrd="0" parTransId="{735D4C07-2A38-46A5-A17E-B9C3F3C3C901}" sibTransId="{6B401930-3141-4F8A-B351-ACBC9C39AE2C}"/>
    <dgm:cxn modelId="{9FB21044-06C0-0147-A4F6-6A6DA03E145B}" type="presOf" srcId="{3B095B21-37C3-D04F-9D17-303D4A1240D2}" destId="{CE5E7B62-8E67-8042-A43D-B1F2033BBAF7}" srcOrd="0" destOrd="0" presId="urn:microsoft.com/office/officeart/2008/layout/HorizontalMultiLevelHierarchy"/>
    <dgm:cxn modelId="{DF3F3150-E286-420E-AF1D-A935AECA210B}" type="presOf" srcId="{02730D56-9E9D-4932-8361-D51A0C7A044C}" destId="{1211FCA0-7F52-4CFF-A280-E16C3629FED3}" srcOrd="1" destOrd="0" presId="urn:microsoft.com/office/officeart/2008/layout/HorizontalMultiLevelHierarchy"/>
    <dgm:cxn modelId="{DC2D136E-028D-4CB3-9649-82637455D5C3}" type="presOf" srcId="{02730D56-9E9D-4932-8361-D51A0C7A044C}" destId="{AB495BDD-0E8F-4579-AE89-997FDF308A2D}" srcOrd="0" destOrd="0" presId="urn:microsoft.com/office/officeart/2008/layout/HorizontalMultiLevelHierarchy"/>
    <dgm:cxn modelId="{EAFB6670-3A19-C344-9FC0-3A46CD9D6F67}" type="presOf" srcId="{D9EE841F-B0FA-0747-96D7-014DA386AA0A}" destId="{96168431-7098-344C-851A-37F06A5ED7A5}" srcOrd="0" destOrd="0" presId="urn:microsoft.com/office/officeart/2008/layout/HorizontalMultiLevelHierarchy"/>
    <dgm:cxn modelId="{1EDDB67D-9045-42AD-8CAB-8D20C5CBA3B5}" type="presOf" srcId="{7FF0C841-F9E9-480F-8527-0FD126035E81}" destId="{E3A22DDB-CC73-43F5-99AA-2B554F3DF815}" srcOrd="0" destOrd="0" presId="urn:microsoft.com/office/officeart/2008/layout/HorizontalMultiLevelHierarchy"/>
    <dgm:cxn modelId="{4A06EA80-B7D4-4383-8445-2053F0D6D1FA}" type="presOf" srcId="{00ADF2BB-E2BB-4FEB-BF2B-D0496E6784D8}" destId="{34F9F2FF-326E-4A45-BFF4-F915FED53D0E}" srcOrd="0" destOrd="0" presId="urn:microsoft.com/office/officeart/2008/layout/HorizontalMultiLevelHierarchy"/>
    <dgm:cxn modelId="{2248B588-9227-4C0E-81C4-8D82BB9E44B3}" type="presOf" srcId="{6BF4BDC9-299A-46D4-BF13-C3901587CF8D}" destId="{416064F3-852F-470B-85A9-3C2B722FFBC3}" srcOrd="0" destOrd="0" presId="urn:microsoft.com/office/officeart/2008/layout/HorizontalMultiLevelHierarchy"/>
    <dgm:cxn modelId="{0100C888-E012-434A-A1EF-E237E167839A}" srcId="{7FF0C841-F9E9-480F-8527-0FD126035E81}" destId="{6BF4BDC9-299A-46D4-BF13-C3901587CF8D}" srcOrd="0" destOrd="0" parTransId="{02730D56-9E9D-4932-8361-D51A0C7A044C}" sibTransId="{7DFC0A44-B80C-4E85-99EF-EF6018CCF230}"/>
    <dgm:cxn modelId="{BABB8F8B-E475-1142-8CFF-C20FCC416FDB}" type="presOf" srcId="{F0243762-F62E-404C-A046-CEFA0CCF9601}" destId="{4171B43F-64B1-D040-BE39-F8325D42D918}" srcOrd="0" destOrd="0" presId="urn:microsoft.com/office/officeart/2008/layout/HorizontalMultiLevelHierarchy"/>
    <dgm:cxn modelId="{0F45269E-44BA-45D2-A707-12EF0368B2FF}" type="presOf" srcId="{874D0541-453E-472E-83D7-EA0C60F3DD1A}" destId="{5854687B-CF48-46FC-B54C-9CA6413283C5}" srcOrd="1" destOrd="0" presId="urn:microsoft.com/office/officeart/2008/layout/HorizontalMultiLevelHierarchy"/>
    <dgm:cxn modelId="{46BCEEA5-E121-461C-AD08-BA7A76A8B57B}" type="presOf" srcId="{874D0541-453E-472E-83D7-EA0C60F3DD1A}" destId="{0211911A-E4BD-46D6-BF8D-4BF454E2D22B}" srcOrd="0" destOrd="0" presId="urn:microsoft.com/office/officeart/2008/layout/HorizontalMultiLevelHierarchy"/>
    <dgm:cxn modelId="{EC8851CB-3092-2946-BEFF-77C0D37E7F5B}" srcId="{7FF0C841-F9E9-480F-8527-0FD126035E81}" destId="{0E1A4C0B-E89D-C74E-B5B0-02CA719F5293}" srcOrd="2" destOrd="0" parTransId="{D9EE841F-B0FA-0747-96D7-014DA386AA0A}" sibTransId="{EC7D0277-A7CE-B748-96C3-DF60634F933D}"/>
    <dgm:cxn modelId="{C61984EA-5028-044D-AC7C-9A018A404AC4}" type="presOf" srcId="{0E1A4C0B-E89D-C74E-B5B0-02CA719F5293}" destId="{41F41CFF-0BF8-7341-8CDC-6910C04F4C9C}" srcOrd="0" destOrd="0" presId="urn:microsoft.com/office/officeart/2008/layout/HorizontalMultiLevelHierarchy"/>
    <dgm:cxn modelId="{887BA0F9-FDFD-3B4F-A365-0D25830FCA0C}" type="presOf" srcId="{3B095B21-37C3-D04F-9D17-303D4A1240D2}" destId="{2E103FED-A361-4C48-A6A0-833E90921580}" srcOrd="1" destOrd="0" presId="urn:microsoft.com/office/officeart/2008/layout/HorizontalMultiLevelHierarchy"/>
    <dgm:cxn modelId="{B948B0A1-4377-4D9B-B50C-8C798616A038}" type="presParOf" srcId="{34F9F2FF-326E-4A45-BFF4-F915FED53D0E}" destId="{DCD2FD4F-7F75-44AE-A088-2144DE3650D2}" srcOrd="0" destOrd="0" presId="urn:microsoft.com/office/officeart/2008/layout/HorizontalMultiLevelHierarchy"/>
    <dgm:cxn modelId="{9BD1ACB3-1F07-4898-931B-622F5E8A7432}" type="presParOf" srcId="{DCD2FD4F-7F75-44AE-A088-2144DE3650D2}" destId="{E3A22DDB-CC73-43F5-99AA-2B554F3DF815}" srcOrd="0" destOrd="0" presId="urn:microsoft.com/office/officeart/2008/layout/HorizontalMultiLevelHierarchy"/>
    <dgm:cxn modelId="{C1DA800A-5D60-4044-9C9C-9AAEFAE10B1A}" type="presParOf" srcId="{DCD2FD4F-7F75-44AE-A088-2144DE3650D2}" destId="{15E97223-7D49-4C51-9074-D7C4277F6DB3}" srcOrd="1" destOrd="0" presId="urn:microsoft.com/office/officeart/2008/layout/HorizontalMultiLevelHierarchy"/>
    <dgm:cxn modelId="{40E46A6B-3578-47B4-979F-1C8FA895A646}" type="presParOf" srcId="{15E97223-7D49-4C51-9074-D7C4277F6DB3}" destId="{AB495BDD-0E8F-4579-AE89-997FDF308A2D}" srcOrd="0" destOrd="0" presId="urn:microsoft.com/office/officeart/2008/layout/HorizontalMultiLevelHierarchy"/>
    <dgm:cxn modelId="{C0A9BC2F-87F0-460A-B50E-CAE210D2DC0A}" type="presParOf" srcId="{AB495BDD-0E8F-4579-AE89-997FDF308A2D}" destId="{1211FCA0-7F52-4CFF-A280-E16C3629FED3}" srcOrd="0" destOrd="0" presId="urn:microsoft.com/office/officeart/2008/layout/HorizontalMultiLevelHierarchy"/>
    <dgm:cxn modelId="{A96F9ECD-E256-427F-B412-22EC3674BB4C}" type="presParOf" srcId="{15E97223-7D49-4C51-9074-D7C4277F6DB3}" destId="{14CC2BEC-7C92-496D-9016-27F261BEC2A2}" srcOrd="1" destOrd="0" presId="urn:microsoft.com/office/officeart/2008/layout/HorizontalMultiLevelHierarchy"/>
    <dgm:cxn modelId="{211EC0BF-8B43-4FE0-BA9C-E434C979B341}" type="presParOf" srcId="{14CC2BEC-7C92-496D-9016-27F261BEC2A2}" destId="{416064F3-852F-470B-85A9-3C2B722FFBC3}" srcOrd="0" destOrd="0" presId="urn:microsoft.com/office/officeart/2008/layout/HorizontalMultiLevelHierarchy"/>
    <dgm:cxn modelId="{E59EA34C-6123-4BB6-ACED-30120C4BC3A7}" type="presParOf" srcId="{14CC2BEC-7C92-496D-9016-27F261BEC2A2}" destId="{E027CC0A-5427-45B2-BA03-ED32A58EDDD8}" srcOrd="1" destOrd="0" presId="urn:microsoft.com/office/officeart/2008/layout/HorizontalMultiLevelHierarchy"/>
    <dgm:cxn modelId="{09F78476-FF54-425F-9EA2-F6A9033CF9EB}" type="presParOf" srcId="{15E97223-7D49-4C51-9074-D7C4277F6DB3}" destId="{0211911A-E4BD-46D6-BF8D-4BF454E2D22B}" srcOrd="2" destOrd="0" presId="urn:microsoft.com/office/officeart/2008/layout/HorizontalMultiLevelHierarchy"/>
    <dgm:cxn modelId="{13354CBB-4244-4FC6-8087-F57C961B538F}" type="presParOf" srcId="{0211911A-E4BD-46D6-BF8D-4BF454E2D22B}" destId="{5854687B-CF48-46FC-B54C-9CA6413283C5}" srcOrd="0" destOrd="0" presId="urn:microsoft.com/office/officeart/2008/layout/HorizontalMultiLevelHierarchy"/>
    <dgm:cxn modelId="{DB17D8B2-0007-4D43-8437-4F7ECFCA0AD2}" type="presParOf" srcId="{15E97223-7D49-4C51-9074-D7C4277F6DB3}" destId="{8727C5DB-D4F1-4473-AC17-1CA0EB695509}" srcOrd="3" destOrd="0" presId="urn:microsoft.com/office/officeart/2008/layout/HorizontalMultiLevelHierarchy"/>
    <dgm:cxn modelId="{C60F0C47-FD1A-4AE8-B84B-85119E020EA8}" type="presParOf" srcId="{8727C5DB-D4F1-4473-AC17-1CA0EB695509}" destId="{9F74AD6C-F48F-4FE4-9561-21A96E4D512B}" srcOrd="0" destOrd="0" presId="urn:microsoft.com/office/officeart/2008/layout/HorizontalMultiLevelHierarchy"/>
    <dgm:cxn modelId="{623C2C60-1F95-456A-ADD9-C78992EA7418}" type="presParOf" srcId="{8727C5DB-D4F1-4473-AC17-1CA0EB695509}" destId="{3E09603D-75FA-45FA-96F1-069658BDAFCD}" srcOrd="1" destOrd="0" presId="urn:microsoft.com/office/officeart/2008/layout/HorizontalMultiLevelHierarchy"/>
    <dgm:cxn modelId="{517D638C-91A6-2B4F-B66D-45B7EDA623B8}" type="presParOf" srcId="{15E97223-7D49-4C51-9074-D7C4277F6DB3}" destId="{96168431-7098-344C-851A-37F06A5ED7A5}" srcOrd="4" destOrd="0" presId="urn:microsoft.com/office/officeart/2008/layout/HorizontalMultiLevelHierarchy"/>
    <dgm:cxn modelId="{E23D8920-818D-1148-90DE-6A32AF9F6900}" type="presParOf" srcId="{96168431-7098-344C-851A-37F06A5ED7A5}" destId="{F7AF27D6-A272-9346-A2F4-D9686E66AB2A}" srcOrd="0" destOrd="0" presId="urn:microsoft.com/office/officeart/2008/layout/HorizontalMultiLevelHierarchy"/>
    <dgm:cxn modelId="{5DF75462-8CC5-EC4E-9DE1-1320881E7EE0}" type="presParOf" srcId="{15E97223-7D49-4C51-9074-D7C4277F6DB3}" destId="{D9F64DA4-7632-6A40-89A9-2BA4437E4BEA}" srcOrd="5" destOrd="0" presId="urn:microsoft.com/office/officeart/2008/layout/HorizontalMultiLevelHierarchy"/>
    <dgm:cxn modelId="{8F7F2D6A-6E8F-B041-B139-704F4ABAE69C}" type="presParOf" srcId="{D9F64DA4-7632-6A40-89A9-2BA4437E4BEA}" destId="{41F41CFF-0BF8-7341-8CDC-6910C04F4C9C}" srcOrd="0" destOrd="0" presId="urn:microsoft.com/office/officeart/2008/layout/HorizontalMultiLevelHierarchy"/>
    <dgm:cxn modelId="{EAA2AC10-32EC-0E4E-A355-8CDDDCB93CB7}" type="presParOf" srcId="{D9F64DA4-7632-6A40-89A9-2BA4437E4BEA}" destId="{315BBF4B-EDC2-8F42-B4B5-03A2D28F0332}" srcOrd="1" destOrd="0" presId="urn:microsoft.com/office/officeart/2008/layout/HorizontalMultiLevelHierarchy"/>
    <dgm:cxn modelId="{15370567-99E3-5249-9553-65FE10C5BF7C}" type="presParOf" srcId="{15E97223-7D49-4C51-9074-D7C4277F6DB3}" destId="{CE5E7B62-8E67-8042-A43D-B1F2033BBAF7}" srcOrd="6" destOrd="0" presId="urn:microsoft.com/office/officeart/2008/layout/HorizontalMultiLevelHierarchy"/>
    <dgm:cxn modelId="{EE63992D-0C5F-ED4E-983C-CBD925ED0DE1}" type="presParOf" srcId="{CE5E7B62-8E67-8042-A43D-B1F2033BBAF7}" destId="{2E103FED-A361-4C48-A6A0-833E90921580}" srcOrd="0" destOrd="0" presId="urn:microsoft.com/office/officeart/2008/layout/HorizontalMultiLevelHierarchy"/>
    <dgm:cxn modelId="{735AA3B8-BE31-4946-A88B-2DC05ED0E5EA}" type="presParOf" srcId="{15E97223-7D49-4C51-9074-D7C4277F6DB3}" destId="{EE9DF7FA-D422-EF4A-AE06-7666D84235A5}" srcOrd="7" destOrd="0" presId="urn:microsoft.com/office/officeart/2008/layout/HorizontalMultiLevelHierarchy"/>
    <dgm:cxn modelId="{E13E10F6-1E1B-384E-A1F6-BDD97EB6BE7D}" type="presParOf" srcId="{EE9DF7FA-D422-EF4A-AE06-7666D84235A5}" destId="{4171B43F-64B1-D040-BE39-F8325D42D918}" srcOrd="0" destOrd="0" presId="urn:microsoft.com/office/officeart/2008/layout/HorizontalMultiLevelHierarchy"/>
    <dgm:cxn modelId="{C693CE00-7B94-BC44-A1D4-30A89DCEA0D5}" type="presParOf" srcId="{EE9DF7FA-D422-EF4A-AE06-7666D84235A5}" destId="{4C8B5526-68EC-9145-AAC2-A24C67F1803E}" srcOrd="1" destOrd="0" presId="urn:microsoft.com/office/officeart/2008/layout/HorizontalMultiLevelHierarchy"/>
  </dgm:cxnLst>
  <dgm:bg>
    <a:solidFill>
      <a:schemeClr val="bg1"/>
    </a:solid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ADF2BB-E2BB-4FEB-BF2B-D0496E6784D8}" type="doc">
      <dgm:prSet loTypeId="hierarchy" loCatId="hierarchy" qsTypeId="urn:microsoft.com/office/officeart/2005/8/quickstyle/simple5" qsCatId="simple" csTypeId="urn:microsoft.com/office/officeart/2005/8/colors/accent0_2" csCatId="mainScheme" phldr="1"/>
      <dgm:spPr/>
      <dgm:t>
        <a:bodyPr/>
        <a:lstStyle/>
        <a:p>
          <a:endParaRPr lang="zh-CN" altLang="en-US"/>
        </a:p>
      </dgm:t>
    </dgm:pt>
    <dgm:pt modelId="{7FF0C841-F9E9-480F-8527-0FD126035E81}">
      <dgm:prSet phldrT="[文本]" custT="1"/>
      <dgm:spPr/>
      <dgm:t>
        <a:bodyPr/>
        <a:lstStyle/>
        <a:p>
          <a:r>
            <a:rPr lang="en-US" sz="2000" b="1" kern="100" dirty="0">
              <a:solidFill>
                <a:srgbClr val="000000"/>
              </a:solidFill>
              <a:latin typeface="Times New Roman" panose="02020603050405020304" pitchFamily="18" charset="0"/>
              <a:ea typeface="宋体" pitchFamily="2" charset="-122"/>
              <a:cs typeface="Times New Roman" panose="02020603050405020304" pitchFamily="18" charset="0"/>
            </a:rPr>
            <a:t>Previous Studies on Actor-Network Theory in Translation</a:t>
          </a:r>
          <a:endParaRPr lang="zh-CN" altLang="en-US" sz="20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gm:t>
    </dgm:pt>
    <dgm:pt modelId="{735D4C07-2A38-46A5-A17E-B9C3F3C3C901}" cxnId="{DF09632C-1622-4FA9-B4A8-E4055F2A376A}" type="par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6B401930-3141-4F8A-B351-ACBC9C39AE2C}" cxnId="{DF09632C-1622-4FA9-B4A8-E4055F2A376A}"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6BF4BDC9-299A-46D4-BF13-C3901587CF8D}">
      <dgm:prSet phldrT="[文本]" custT="1"/>
      <dgm:spPr/>
      <dgm:t>
        <a:bodyPr/>
        <a:lstStyle/>
        <a:p>
          <a:pPr algn="ct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Theoretical Integration of ANT in Translation Studies </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gm:t>
    </dgm:pt>
    <dgm:pt modelId="{02730D56-9E9D-4932-8361-D51A0C7A044C}" cxnId="{0100C888-E012-434A-A1EF-E237E167839A}"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7DFC0A44-B80C-4E85-99EF-EF6018CCF230}" cxnId="{0100C888-E012-434A-A1EF-E237E167839A}"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ED325DA5-E5CA-4ADA-A19A-88088155CCB0}">
      <dgm:prSet phldrT="[文本]" custT="1"/>
      <dgm:spPr/>
      <dgm:t>
        <a:bodyPr/>
        <a:lstStyle/>
        <a:p>
          <a:pPr algn="ct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Application of ANT in Translation Case Studies</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gm:t>
    </dgm:pt>
    <dgm:pt modelId="{874D0541-453E-472E-83D7-EA0C60F3DD1A}" cxnId="{37981302-2C91-44FD-9191-EEE2D17D8AF7}"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E5184F52-3C76-4D92-A13C-DB5EB79E6F0C}" cxnId="{37981302-2C91-44FD-9191-EEE2D17D8AF7}"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1CE77907-223E-4926-A651-AC439F08B294}">
      <dgm:prSet custT="1"/>
      <dgm:spPr/>
      <dgm:t>
        <a:bodyPr/>
        <a:lstStyle/>
        <a:p>
          <a:pPr algn="just"/>
          <a:r>
            <a:rPr lang="en-US" sz="1800" b="1" kern="100" dirty="0" err="1">
              <a:solidFill>
                <a:srgbClr val="000000"/>
              </a:solidFill>
              <a:latin typeface="Times New Roman" panose="02020603050405020304" pitchFamily="18" charset="0"/>
              <a:ea typeface="宋体" pitchFamily="2" charset="-122"/>
              <a:cs typeface="Times New Roman" panose="02020603050405020304" pitchFamily="18" charset="0"/>
            </a:rPr>
            <a:t>Buzelin</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(2005), Chesterman(2006,2012), </a:t>
          </a:r>
          <a:r>
            <a:rPr lang="en-US" sz="1800" b="1" kern="100" dirty="0" err="1">
              <a:solidFill>
                <a:srgbClr val="000000"/>
              </a:solidFill>
              <a:latin typeface="Times New Roman" panose="02020603050405020304" pitchFamily="18" charset="0"/>
              <a:ea typeface="宋体" pitchFamily="2" charset="-122"/>
              <a:cs typeface="Times New Roman" panose="02020603050405020304" pitchFamily="18" charset="0"/>
            </a:rPr>
            <a:t>Tyulenev</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(2014), Marais (2014) , etc.</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gm:t>
    </dgm:pt>
    <dgm:pt modelId="{DC79C853-5D33-4491-9F58-98C3AECD6943}" cxnId="{E8303C9F-85F0-4D9C-BC2C-54D4166A23D1}"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A05CE0D0-2F8B-4B63-BF86-EA86977E5D56}" cxnId="{E8303C9F-85F0-4D9C-BC2C-54D4166A23D1}"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E9987F5E-0EF6-4A17-B25F-3BB3776E7596}">
      <dgm:prSet custT="1"/>
      <dgm:spPr/>
      <dgm:t>
        <a:bodyPr/>
        <a:lstStyle/>
        <a:p>
          <a:pPr algn="just"/>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黄德先</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2006);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邢杰等</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2019);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骆雯雁</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(2022);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王岫庐</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2019)</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；郑剑委</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2021)</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gm:t>
    </dgm:pt>
    <dgm:pt modelId="{A74589A1-BC78-4A0A-8E5D-1092AF9A9A9B}" cxnId="{15DA7D28-A4C2-414C-A4CF-46079D58272B}"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A772AED3-D9A3-4493-B16C-79AECA62182E}" cxnId="{15DA7D28-A4C2-414C-A4CF-46079D58272B}"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1DB09BA9-2814-47B2-A702-FA09275162B5}">
      <dgm:prSet custT="1"/>
      <dgm:spPr/>
      <dgm:t>
        <a:bodyPr/>
        <a:lstStyle/>
        <a:p>
          <a:pPr algn="just"/>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岑群霞</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2016);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张莹</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2019);</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汪宝荣</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2020);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刘毅</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2021);</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仲文明</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王亚旭</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2022);</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邢杰等</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 (2023);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詹成</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张晗</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2023)</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gm:t>
    </dgm:pt>
    <dgm:pt modelId="{6F447170-E5A6-4F08-A022-DF9945808B31}" cxnId="{2AA5DE5D-F5E5-4A81-94D0-ECD9089A3A3D}"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6CAB96D9-FEA0-4EB0-A650-388F962E67AB}" cxnId="{2AA5DE5D-F5E5-4A81-94D0-ECD9089A3A3D}"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1B3BC750-AA7F-4E50-BC2D-4FEC7E299F18}">
      <dgm:prSet custT="1"/>
      <dgm:spPr/>
      <dgm:t>
        <a:bodyPr/>
        <a:lstStyle/>
        <a:p>
          <a:pPr algn="just"/>
          <a:r>
            <a:rPr lang="en-US" sz="1800" b="1" kern="100" dirty="0" err="1">
              <a:solidFill>
                <a:srgbClr val="000000"/>
              </a:solidFill>
              <a:latin typeface="Times New Roman" panose="02020603050405020304" pitchFamily="18" charset="0"/>
              <a:ea typeface="宋体" pitchFamily="2" charset="-122"/>
              <a:cs typeface="Times New Roman" panose="02020603050405020304" pitchFamily="18" charset="0"/>
            </a:rPr>
            <a:t>Buzelin</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(2007), Abdallah(2011), </a:t>
          </a:r>
          <a:r>
            <a:rPr lang="en-US" sz="1800" b="1" kern="100" dirty="0" err="1">
              <a:solidFill>
                <a:srgbClr val="000000"/>
              </a:solidFill>
              <a:latin typeface="Times New Roman" panose="02020603050405020304" pitchFamily="18" charset="0"/>
              <a:ea typeface="宋体" pitchFamily="2" charset="-122"/>
              <a:cs typeface="Times New Roman" panose="02020603050405020304" pitchFamily="18" charset="0"/>
            </a:rPr>
            <a:t>Bogic</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(2010), Munday(2016), Luo and Zheng (2017), Stalling and Schleifer (2020)</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gm:t>
    </dgm:pt>
    <dgm:pt modelId="{D58E52FA-479B-4BE6-9B43-D252E53B54E9}" cxnId="{0213C569-3D80-4EAA-B3F2-BBB0445CBD08}"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6F8F2397-0196-46AD-8A1F-79A06A83DF30}" cxnId="{0213C569-3D80-4EAA-B3F2-BBB0445CBD08}"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34F9F2FF-326E-4A45-BFF4-F915FED53D0E}" type="pres">
      <dgm:prSet presAssocID="{00ADF2BB-E2BB-4FEB-BF2B-D0496E6784D8}" presName="Name0" presStyleCnt="0">
        <dgm:presLayoutVars>
          <dgm:chPref val="1"/>
          <dgm:dir/>
          <dgm:animOne val="branch"/>
          <dgm:animLvl val="lvl"/>
          <dgm:resizeHandles val="exact"/>
        </dgm:presLayoutVars>
      </dgm:prSet>
      <dgm:spPr/>
    </dgm:pt>
    <dgm:pt modelId="{DCD2FD4F-7F75-44AE-A088-2144DE3650D2}" type="pres">
      <dgm:prSet presAssocID="{7FF0C841-F9E9-480F-8527-0FD126035E81}" presName="root1" presStyleCnt="0"/>
      <dgm:spPr/>
    </dgm:pt>
    <dgm:pt modelId="{E3A22DDB-CC73-43F5-99AA-2B554F3DF815}" type="pres">
      <dgm:prSet presAssocID="{7FF0C841-F9E9-480F-8527-0FD126035E81}" presName="LevelOneTextNode" presStyleLbl="node0" presStyleIdx="0" presStyleCnt="1" custAng="5400000" custScaleX="376381" custScaleY="63713" custLinFactNeighborX="-19611" custLinFactNeighborY="-4192">
        <dgm:presLayoutVars>
          <dgm:chPref val="3"/>
        </dgm:presLayoutVars>
      </dgm:prSet>
      <dgm:spPr/>
    </dgm:pt>
    <dgm:pt modelId="{15E97223-7D49-4C51-9074-D7C4277F6DB3}" type="pres">
      <dgm:prSet presAssocID="{7FF0C841-F9E9-480F-8527-0FD126035E81}" presName="level2hierChild" presStyleCnt="0"/>
      <dgm:spPr/>
    </dgm:pt>
    <dgm:pt modelId="{AB495BDD-0E8F-4579-AE89-997FDF308A2D}" type="pres">
      <dgm:prSet presAssocID="{02730D56-9E9D-4932-8361-D51A0C7A044C}" presName="conn2-1" presStyleLbl="parChTrans1D2" presStyleIdx="0" presStyleCnt="2"/>
      <dgm:spPr/>
    </dgm:pt>
    <dgm:pt modelId="{1211FCA0-7F52-4CFF-A280-E16C3629FED3}" type="pres">
      <dgm:prSet presAssocID="{02730D56-9E9D-4932-8361-D51A0C7A044C}" presName="connTx" presStyleLbl="parChTrans1D2" presStyleIdx="0" presStyleCnt="2"/>
      <dgm:spPr/>
    </dgm:pt>
    <dgm:pt modelId="{14CC2BEC-7C92-496D-9016-27F261BEC2A2}" type="pres">
      <dgm:prSet presAssocID="{6BF4BDC9-299A-46D4-BF13-C3901587CF8D}" presName="root2" presStyleCnt="0"/>
      <dgm:spPr/>
    </dgm:pt>
    <dgm:pt modelId="{416064F3-852F-470B-85A9-3C2B722FFBC3}" type="pres">
      <dgm:prSet presAssocID="{6BF4BDC9-299A-46D4-BF13-C3901587CF8D}" presName="LevelTwoTextNode" presStyleLbl="node2" presStyleIdx="0" presStyleCnt="2" custScaleX="79208" custScaleY="244633" custLinFactY="-1812" custLinFactNeighborX="-2742" custLinFactNeighborY="-100000">
        <dgm:presLayoutVars>
          <dgm:chPref val="3"/>
        </dgm:presLayoutVars>
      </dgm:prSet>
      <dgm:spPr/>
    </dgm:pt>
    <dgm:pt modelId="{E027CC0A-5427-45B2-BA03-ED32A58EDDD8}" type="pres">
      <dgm:prSet presAssocID="{6BF4BDC9-299A-46D4-BF13-C3901587CF8D}" presName="level3hierChild" presStyleCnt="0"/>
      <dgm:spPr/>
    </dgm:pt>
    <dgm:pt modelId="{35AC7433-9A47-4E5D-83B8-B6BFBC3BECEA}" type="pres">
      <dgm:prSet presAssocID="{DC79C853-5D33-4491-9F58-98C3AECD6943}" presName="conn2-1" presStyleLbl="parChTrans1D3" presStyleIdx="0" presStyleCnt="4"/>
      <dgm:spPr/>
    </dgm:pt>
    <dgm:pt modelId="{052AA193-858B-4CA1-A96D-8BF3AEB18F02}" type="pres">
      <dgm:prSet presAssocID="{DC79C853-5D33-4491-9F58-98C3AECD6943}" presName="connTx" presStyleLbl="parChTrans1D3" presStyleIdx="0" presStyleCnt="4"/>
      <dgm:spPr/>
    </dgm:pt>
    <dgm:pt modelId="{9A35A4EF-92CB-4670-BF2D-9920E8A3BAEA}" type="pres">
      <dgm:prSet presAssocID="{1CE77907-223E-4926-A651-AC439F08B294}" presName="root2" presStyleCnt="0"/>
      <dgm:spPr/>
    </dgm:pt>
    <dgm:pt modelId="{C5BFA852-FD27-42CF-958C-A1AB70348AEE}" type="pres">
      <dgm:prSet presAssocID="{1CE77907-223E-4926-A651-AC439F08B294}" presName="LevelTwoTextNode" presStyleLbl="node3" presStyleIdx="0" presStyleCnt="4" custScaleX="348686" custScaleY="185529" custLinFactY="-78312" custLinFactNeighborX="-9664" custLinFactNeighborY="-100000">
        <dgm:presLayoutVars>
          <dgm:chPref val="3"/>
        </dgm:presLayoutVars>
      </dgm:prSet>
      <dgm:spPr/>
    </dgm:pt>
    <dgm:pt modelId="{0E86A645-CDB1-4EAB-B01B-568F78EA12EF}" type="pres">
      <dgm:prSet presAssocID="{1CE77907-223E-4926-A651-AC439F08B294}" presName="level3hierChild" presStyleCnt="0"/>
      <dgm:spPr/>
    </dgm:pt>
    <dgm:pt modelId="{520498D7-2AF0-4EAC-80EF-6CD102528F8B}" type="pres">
      <dgm:prSet presAssocID="{A74589A1-BC78-4A0A-8E5D-1092AF9A9A9B}" presName="conn2-1" presStyleLbl="parChTrans1D3" presStyleIdx="1" presStyleCnt="4"/>
      <dgm:spPr/>
    </dgm:pt>
    <dgm:pt modelId="{C53AB13D-A200-4893-A2F7-7FC856F6A59A}" type="pres">
      <dgm:prSet presAssocID="{A74589A1-BC78-4A0A-8E5D-1092AF9A9A9B}" presName="connTx" presStyleLbl="parChTrans1D3" presStyleIdx="1" presStyleCnt="4"/>
      <dgm:spPr/>
    </dgm:pt>
    <dgm:pt modelId="{302AD606-1FBF-4BE2-BDF4-C1870510F8BF}" type="pres">
      <dgm:prSet presAssocID="{E9987F5E-0EF6-4A17-B25F-3BB3776E7596}" presName="root2" presStyleCnt="0"/>
      <dgm:spPr/>
    </dgm:pt>
    <dgm:pt modelId="{1066FE95-D40B-4B19-A2F8-33BC1AEB667B}" type="pres">
      <dgm:prSet presAssocID="{E9987F5E-0EF6-4A17-B25F-3BB3776E7596}" presName="LevelTwoTextNode" presStyleLbl="node3" presStyleIdx="1" presStyleCnt="4" custScaleX="365322" custScaleY="115419" custLinFactNeighborX="957" custLinFactNeighborY="-89495">
        <dgm:presLayoutVars>
          <dgm:chPref val="3"/>
        </dgm:presLayoutVars>
      </dgm:prSet>
      <dgm:spPr/>
    </dgm:pt>
    <dgm:pt modelId="{C5786558-987B-4B93-82E3-9D730E27BC83}" type="pres">
      <dgm:prSet presAssocID="{E9987F5E-0EF6-4A17-B25F-3BB3776E7596}" presName="level3hierChild" presStyleCnt="0"/>
      <dgm:spPr/>
    </dgm:pt>
    <dgm:pt modelId="{0211911A-E4BD-46D6-BF8D-4BF454E2D22B}" type="pres">
      <dgm:prSet presAssocID="{874D0541-453E-472E-83D7-EA0C60F3DD1A}" presName="conn2-1" presStyleLbl="parChTrans1D2" presStyleIdx="1" presStyleCnt="2"/>
      <dgm:spPr/>
    </dgm:pt>
    <dgm:pt modelId="{5854687B-CF48-46FC-B54C-9CA6413283C5}" type="pres">
      <dgm:prSet presAssocID="{874D0541-453E-472E-83D7-EA0C60F3DD1A}" presName="connTx" presStyleLbl="parChTrans1D2" presStyleIdx="1" presStyleCnt="2"/>
      <dgm:spPr/>
    </dgm:pt>
    <dgm:pt modelId="{8727C5DB-D4F1-4473-AC17-1CA0EB695509}" type="pres">
      <dgm:prSet presAssocID="{ED325DA5-E5CA-4ADA-A19A-88088155CCB0}" presName="root2" presStyleCnt="0"/>
      <dgm:spPr/>
    </dgm:pt>
    <dgm:pt modelId="{9F74AD6C-F48F-4FE4-9561-21A96E4D512B}" type="pres">
      <dgm:prSet presAssocID="{ED325DA5-E5CA-4ADA-A19A-88088155CCB0}" presName="LevelTwoTextNode" presStyleLbl="node2" presStyleIdx="1" presStyleCnt="2" custScaleX="85547" custScaleY="204549" custLinFactNeighborX="-1048" custLinFactNeighborY="31282">
        <dgm:presLayoutVars>
          <dgm:chPref val="3"/>
        </dgm:presLayoutVars>
      </dgm:prSet>
      <dgm:spPr/>
    </dgm:pt>
    <dgm:pt modelId="{3E09603D-75FA-45FA-96F1-069658BDAFCD}" type="pres">
      <dgm:prSet presAssocID="{ED325DA5-E5CA-4ADA-A19A-88088155CCB0}" presName="level3hierChild" presStyleCnt="0"/>
      <dgm:spPr/>
    </dgm:pt>
    <dgm:pt modelId="{14D50039-5464-49BE-B322-E777C9A88789}" type="pres">
      <dgm:prSet presAssocID="{D58E52FA-479B-4BE6-9B43-D252E53B54E9}" presName="conn2-1" presStyleLbl="parChTrans1D3" presStyleIdx="2" presStyleCnt="4"/>
      <dgm:spPr/>
    </dgm:pt>
    <dgm:pt modelId="{FB556E6E-83DC-48B9-B4D5-48CA553E8FAA}" type="pres">
      <dgm:prSet presAssocID="{D58E52FA-479B-4BE6-9B43-D252E53B54E9}" presName="connTx" presStyleLbl="parChTrans1D3" presStyleIdx="2" presStyleCnt="4"/>
      <dgm:spPr/>
    </dgm:pt>
    <dgm:pt modelId="{F59D5E4A-8F0E-40F9-A3FD-E8BD770690F0}" type="pres">
      <dgm:prSet presAssocID="{1B3BC750-AA7F-4E50-BC2D-4FEC7E299F18}" presName="root2" presStyleCnt="0"/>
      <dgm:spPr/>
    </dgm:pt>
    <dgm:pt modelId="{B5AEA0BC-89C7-467B-8C76-AF9B4740A5B2}" type="pres">
      <dgm:prSet presAssocID="{1B3BC750-AA7F-4E50-BC2D-4FEC7E299F18}" presName="LevelTwoTextNode" presStyleLbl="node3" presStyleIdx="2" presStyleCnt="4" custScaleX="277096" custScaleY="172716" custLinFactNeighborX="20270" custLinFactNeighborY="2451">
        <dgm:presLayoutVars>
          <dgm:chPref val="3"/>
        </dgm:presLayoutVars>
      </dgm:prSet>
      <dgm:spPr/>
    </dgm:pt>
    <dgm:pt modelId="{39547D77-2804-4295-9B4D-7F570AD19A09}" type="pres">
      <dgm:prSet presAssocID="{1B3BC750-AA7F-4E50-BC2D-4FEC7E299F18}" presName="level3hierChild" presStyleCnt="0"/>
      <dgm:spPr/>
    </dgm:pt>
    <dgm:pt modelId="{641DA961-29AB-4F0A-AEED-A05AFF4E50C0}" type="pres">
      <dgm:prSet presAssocID="{6F447170-E5A6-4F08-A022-DF9945808B31}" presName="conn2-1" presStyleLbl="parChTrans1D3" presStyleIdx="3" presStyleCnt="4"/>
      <dgm:spPr/>
    </dgm:pt>
    <dgm:pt modelId="{390B983E-8BBC-4DC0-B4C2-8B2E88270A2A}" type="pres">
      <dgm:prSet presAssocID="{6F447170-E5A6-4F08-A022-DF9945808B31}" presName="connTx" presStyleLbl="parChTrans1D3" presStyleIdx="3" presStyleCnt="4"/>
      <dgm:spPr/>
    </dgm:pt>
    <dgm:pt modelId="{A47F910B-29AC-424C-A063-CC30738E50A7}" type="pres">
      <dgm:prSet presAssocID="{1DB09BA9-2814-47B2-A702-FA09275162B5}" presName="root2" presStyleCnt="0"/>
      <dgm:spPr/>
    </dgm:pt>
    <dgm:pt modelId="{DF5DD027-2F47-45BA-B79C-0E6A1DD3273F}" type="pres">
      <dgm:prSet presAssocID="{1DB09BA9-2814-47B2-A702-FA09275162B5}" presName="LevelTwoTextNode" presStyleLbl="node3" presStyleIdx="3" presStyleCnt="4" custScaleX="306852" custScaleY="164741" custLinFactNeighborX="2842" custLinFactNeighborY="39836">
        <dgm:presLayoutVars>
          <dgm:chPref val="3"/>
        </dgm:presLayoutVars>
      </dgm:prSet>
      <dgm:spPr/>
    </dgm:pt>
    <dgm:pt modelId="{BE2389FB-0FAF-4500-87A6-64D00FF50B52}" type="pres">
      <dgm:prSet presAssocID="{1DB09BA9-2814-47B2-A702-FA09275162B5}" presName="level3hierChild" presStyleCnt="0"/>
      <dgm:spPr/>
    </dgm:pt>
  </dgm:ptLst>
  <dgm:cxnLst>
    <dgm:cxn modelId="{37981302-2C91-44FD-9191-EEE2D17D8AF7}" srcId="{7FF0C841-F9E9-480F-8527-0FD126035E81}" destId="{ED325DA5-E5CA-4ADA-A19A-88088155CCB0}" srcOrd="1" destOrd="0" parTransId="{874D0541-453E-472E-83D7-EA0C60F3DD1A}" sibTransId="{E5184F52-3C76-4D92-A13C-DB5EB79E6F0C}"/>
    <dgm:cxn modelId="{C107A40B-9273-4DF2-87D5-5538E1CFE2CA}" type="presOf" srcId="{ED325DA5-E5CA-4ADA-A19A-88088155CCB0}" destId="{9F74AD6C-F48F-4FE4-9561-21A96E4D512B}" srcOrd="0" destOrd="0" presId="urn:microsoft.com/office/officeart/2008/layout/HorizontalMultiLevelHierarchy"/>
    <dgm:cxn modelId="{FBF7EE20-C92E-4041-9224-F4346FB2EC80}" type="presOf" srcId="{D58E52FA-479B-4BE6-9B43-D252E53B54E9}" destId="{FB556E6E-83DC-48B9-B4D5-48CA553E8FAA}" srcOrd="1" destOrd="0" presId="urn:microsoft.com/office/officeart/2008/layout/HorizontalMultiLevelHierarchy"/>
    <dgm:cxn modelId="{18FDD824-8E99-49BC-8215-C75B4C19F512}" type="presOf" srcId="{A74589A1-BC78-4A0A-8E5D-1092AF9A9A9B}" destId="{C53AB13D-A200-4893-A2F7-7FC856F6A59A}" srcOrd="1" destOrd="0" presId="urn:microsoft.com/office/officeart/2008/layout/HorizontalMultiLevelHierarchy"/>
    <dgm:cxn modelId="{15DA7D28-A4C2-414C-A4CF-46079D58272B}" srcId="{6BF4BDC9-299A-46D4-BF13-C3901587CF8D}" destId="{E9987F5E-0EF6-4A17-B25F-3BB3776E7596}" srcOrd="1" destOrd="0" parTransId="{A74589A1-BC78-4A0A-8E5D-1092AF9A9A9B}" sibTransId="{A772AED3-D9A3-4493-B16C-79AECA62182E}"/>
    <dgm:cxn modelId="{DF09632C-1622-4FA9-B4A8-E4055F2A376A}" srcId="{00ADF2BB-E2BB-4FEB-BF2B-D0496E6784D8}" destId="{7FF0C841-F9E9-480F-8527-0FD126035E81}" srcOrd="0" destOrd="0" parTransId="{735D4C07-2A38-46A5-A17E-B9C3F3C3C901}" sibTransId="{6B401930-3141-4F8A-B351-ACBC9C39AE2C}"/>
    <dgm:cxn modelId="{924AC832-26EB-47A8-96F2-0F9294F9DEF3}" type="presOf" srcId="{1B3BC750-AA7F-4E50-BC2D-4FEC7E299F18}" destId="{B5AEA0BC-89C7-467B-8C76-AF9B4740A5B2}" srcOrd="0" destOrd="0" presId="urn:microsoft.com/office/officeart/2008/layout/HorizontalMultiLevelHierarchy"/>
    <dgm:cxn modelId="{5083C245-10C8-4091-9B0C-C03E0F4CF7BA}" type="presOf" srcId="{6F447170-E5A6-4F08-A022-DF9945808B31}" destId="{641DA961-29AB-4F0A-AEED-A05AFF4E50C0}" srcOrd="0" destOrd="0" presId="urn:microsoft.com/office/officeart/2008/layout/HorizontalMultiLevelHierarchy"/>
    <dgm:cxn modelId="{0279AD4B-7C95-4631-A55F-53CE142FCFAA}" type="presOf" srcId="{6F447170-E5A6-4F08-A022-DF9945808B31}" destId="{390B983E-8BBC-4DC0-B4C2-8B2E88270A2A}" srcOrd="1" destOrd="0" presId="urn:microsoft.com/office/officeart/2008/layout/HorizontalMultiLevelHierarchy"/>
    <dgm:cxn modelId="{B1BCF64F-D523-403B-BB45-12D6B88F81E6}" type="presOf" srcId="{E9987F5E-0EF6-4A17-B25F-3BB3776E7596}" destId="{1066FE95-D40B-4B19-A2F8-33BC1AEB667B}" srcOrd="0" destOrd="0" presId="urn:microsoft.com/office/officeart/2008/layout/HorizontalMultiLevelHierarchy"/>
    <dgm:cxn modelId="{DF3F3150-E286-420E-AF1D-A935AECA210B}" type="presOf" srcId="{02730D56-9E9D-4932-8361-D51A0C7A044C}" destId="{1211FCA0-7F52-4CFF-A280-E16C3629FED3}" srcOrd="1" destOrd="0" presId="urn:microsoft.com/office/officeart/2008/layout/HorizontalMultiLevelHierarchy"/>
    <dgm:cxn modelId="{3602F755-0FD4-4D5F-BF21-2315AFACF83A}" type="presOf" srcId="{DC79C853-5D33-4491-9F58-98C3AECD6943}" destId="{052AA193-858B-4CA1-A96D-8BF3AEB18F02}" srcOrd="1" destOrd="0" presId="urn:microsoft.com/office/officeart/2008/layout/HorizontalMultiLevelHierarchy"/>
    <dgm:cxn modelId="{CFF58F5C-BA6C-411A-A4AC-97959E9C26D1}" type="presOf" srcId="{DC79C853-5D33-4491-9F58-98C3AECD6943}" destId="{35AC7433-9A47-4E5D-83B8-B6BFBC3BECEA}" srcOrd="0" destOrd="0" presId="urn:microsoft.com/office/officeart/2008/layout/HorizontalMultiLevelHierarchy"/>
    <dgm:cxn modelId="{2AA5DE5D-F5E5-4A81-94D0-ECD9089A3A3D}" srcId="{ED325DA5-E5CA-4ADA-A19A-88088155CCB0}" destId="{1DB09BA9-2814-47B2-A702-FA09275162B5}" srcOrd="1" destOrd="0" parTransId="{6F447170-E5A6-4F08-A022-DF9945808B31}" sibTransId="{6CAB96D9-FEA0-4EB0-A650-388F962E67AB}"/>
    <dgm:cxn modelId="{0213C569-3D80-4EAA-B3F2-BBB0445CBD08}" srcId="{ED325DA5-E5CA-4ADA-A19A-88088155CCB0}" destId="{1B3BC750-AA7F-4E50-BC2D-4FEC7E299F18}" srcOrd="0" destOrd="0" parTransId="{D58E52FA-479B-4BE6-9B43-D252E53B54E9}" sibTransId="{6F8F2397-0196-46AD-8A1F-79A06A83DF30}"/>
    <dgm:cxn modelId="{DC2D136E-028D-4CB3-9649-82637455D5C3}" type="presOf" srcId="{02730D56-9E9D-4932-8361-D51A0C7A044C}" destId="{AB495BDD-0E8F-4579-AE89-997FDF308A2D}" srcOrd="0" destOrd="0" presId="urn:microsoft.com/office/officeart/2008/layout/HorizontalMultiLevelHierarchy"/>
    <dgm:cxn modelId="{1EDDB67D-9045-42AD-8CAB-8D20C5CBA3B5}" type="presOf" srcId="{7FF0C841-F9E9-480F-8527-0FD126035E81}" destId="{E3A22DDB-CC73-43F5-99AA-2B554F3DF815}" srcOrd="0" destOrd="0" presId="urn:microsoft.com/office/officeart/2008/layout/HorizontalMultiLevelHierarchy"/>
    <dgm:cxn modelId="{4A06EA80-B7D4-4383-8445-2053F0D6D1FA}" type="presOf" srcId="{00ADF2BB-E2BB-4FEB-BF2B-D0496E6784D8}" destId="{34F9F2FF-326E-4A45-BFF4-F915FED53D0E}" srcOrd="0" destOrd="0" presId="urn:microsoft.com/office/officeart/2008/layout/HorizontalMultiLevelHierarchy"/>
    <dgm:cxn modelId="{2248B588-9227-4C0E-81C4-8D82BB9E44B3}" type="presOf" srcId="{6BF4BDC9-299A-46D4-BF13-C3901587CF8D}" destId="{416064F3-852F-470B-85A9-3C2B722FFBC3}" srcOrd="0" destOrd="0" presId="urn:microsoft.com/office/officeart/2008/layout/HorizontalMultiLevelHierarchy"/>
    <dgm:cxn modelId="{0100C888-E012-434A-A1EF-E237E167839A}" srcId="{7FF0C841-F9E9-480F-8527-0FD126035E81}" destId="{6BF4BDC9-299A-46D4-BF13-C3901587CF8D}" srcOrd="0" destOrd="0" parTransId="{02730D56-9E9D-4932-8361-D51A0C7A044C}" sibTransId="{7DFC0A44-B80C-4E85-99EF-EF6018CCF230}"/>
    <dgm:cxn modelId="{87372494-539C-4E15-BB00-E3ADADBB32D7}" type="presOf" srcId="{1DB09BA9-2814-47B2-A702-FA09275162B5}" destId="{DF5DD027-2F47-45BA-B79C-0E6A1DD3273F}" srcOrd="0" destOrd="0" presId="urn:microsoft.com/office/officeart/2008/layout/HorizontalMultiLevelHierarchy"/>
    <dgm:cxn modelId="{0F45269E-44BA-45D2-A707-12EF0368B2FF}" type="presOf" srcId="{874D0541-453E-472E-83D7-EA0C60F3DD1A}" destId="{5854687B-CF48-46FC-B54C-9CA6413283C5}" srcOrd="1" destOrd="0" presId="urn:microsoft.com/office/officeart/2008/layout/HorizontalMultiLevelHierarchy"/>
    <dgm:cxn modelId="{E8303C9F-85F0-4D9C-BC2C-54D4166A23D1}" srcId="{6BF4BDC9-299A-46D4-BF13-C3901587CF8D}" destId="{1CE77907-223E-4926-A651-AC439F08B294}" srcOrd="0" destOrd="0" parTransId="{DC79C853-5D33-4491-9F58-98C3AECD6943}" sibTransId="{A05CE0D0-2F8B-4B63-BF86-EA86977E5D56}"/>
    <dgm:cxn modelId="{7E1A72A3-96E6-4D3B-9329-4C19F761DED8}" type="presOf" srcId="{1CE77907-223E-4926-A651-AC439F08B294}" destId="{C5BFA852-FD27-42CF-958C-A1AB70348AEE}" srcOrd="0" destOrd="0" presId="urn:microsoft.com/office/officeart/2008/layout/HorizontalMultiLevelHierarchy"/>
    <dgm:cxn modelId="{46BCEEA5-E121-461C-AD08-BA7A76A8B57B}" type="presOf" srcId="{874D0541-453E-472E-83D7-EA0C60F3DD1A}" destId="{0211911A-E4BD-46D6-BF8D-4BF454E2D22B}" srcOrd="0" destOrd="0" presId="urn:microsoft.com/office/officeart/2008/layout/HorizontalMultiLevelHierarchy"/>
    <dgm:cxn modelId="{9A9B38D6-0AEF-459C-9FD1-5830BAE907F0}" type="presOf" srcId="{A74589A1-BC78-4A0A-8E5D-1092AF9A9A9B}" destId="{520498D7-2AF0-4EAC-80EF-6CD102528F8B}" srcOrd="0" destOrd="0" presId="urn:microsoft.com/office/officeart/2008/layout/HorizontalMultiLevelHierarchy"/>
    <dgm:cxn modelId="{C3F683FD-69F3-4BA3-AD96-88B75E5E0873}" type="presOf" srcId="{D58E52FA-479B-4BE6-9B43-D252E53B54E9}" destId="{14D50039-5464-49BE-B322-E777C9A88789}" srcOrd="0" destOrd="0" presId="urn:microsoft.com/office/officeart/2008/layout/HorizontalMultiLevelHierarchy"/>
    <dgm:cxn modelId="{B948B0A1-4377-4D9B-B50C-8C798616A038}" type="presParOf" srcId="{34F9F2FF-326E-4A45-BFF4-F915FED53D0E}" destId="{DCD2FD4F-7F75-44AE-A088-2144DE3650D2}" srcOrd="0" destOrd="0" presId="urn:microsoft.com/office/officeart/2008/layout/HorizontalMultiLevelHierarchy"/>
    <dgm:cxn modelId="{9BD1ACB3-1F07-4898-931B-622F5E8A7432}" type="presParOf" srcId="{DCD2FD4F-7F75-44AE-A088-2144DE3650D2}" destId="{E3A22DDB-CC73-43F5-99AA-2B554F3DF815}" srcOrd="0" destOrd="0" presId="urn:microsoft.com/office/officeart/2008/layout/HorizontalMultiLevelHierarchy"/>
    <dgm:cxn modelId="{C1DA800A-5D60-4044-9C9C-9AAEFAE10B1A}" type="presParOf" srcId="{DCD2FD4F-7F75-44AE-A088-2144DE3650D2}" destId="{15E97223-7D49-4C51-9074-D7C4277F6DB3}" srcOrd="1" destOrd="0" presId="urn:microsoft.com/office/officeart/2008/layout/HorizontalMultiLevelHierarchy"/>
    <dgm:cxn modelId="{40E46A6B-3578-47B4-979F-1C8FA895A646}" type="presParOf" srcId="{15E97223-7D49-4C51-9074-D7C4277F6DB3}" destId="{AB495BDD-0E8F-4579-AE89-997FDF308A2D}" srcOrd="0" destOrd="0" presId="urn:microsoft.com/office/officeart/2008/layout/HorizontalMultiLevelHierarchy"/>
    <dgm:cxn modelId="{C0A9BC2F-87F0-460A-B50E-CAE210D2DC0A}" type="presParOf" srcId="{AB495BDD-0E8F-4579-AE89-997FDF308A2D}" destId="{1211FCA0-7F52-4CFF-A280-E16C3629FED3}" srcOrd="0" destOrd="0" presId="urn:microsoft.com/office/officeart/2008/layout/HorizontalMultiLevelHierarchy"/>
    <dgm:cxn modelId="{A96F9ECD-E256-427F-B412-22EC3674BB4C}" type="presParOf" srcId="{15E97223-7D49-4C51-9074-D7C4277F6DB3}" destId="{14CC2BEC-7C92-496D-9016-27F261BEC2A2}" srcOrd="1" destOrd="0" presId="urn:microsoft.com/office/officeart/2008/layout/HorizontalMultiLevelHierarchy"/>
    <dgm:cxn modelId="{211EC0BF-8B43-4FE0-BA9C-E434C979B341}" type="presParOf" srcId="{14CC2BEC-7C92-496D-9016-27F261BEC2A2}" destId="{416064F3-852F-470B-85A9-3C2B722FFBC3}" srcOrd="0" destOrd="0" presId="urn:microsoft.com/office/officeart/2008/layout/HorizontalMultiLevelHierarchy"/>
    <dgm:cxn modelId="{E59EA34C-6123-4BB6-ACED-30120C4BC3A7}" type="presParOf" srcId="{14CC2BEC-7C92-496D-9016-27F261BEC2A2}" destId="{E027CC0A-5427-45B2-BA03-ED32A58EDDD8}" srcOrd="1" destOrd="0" presId="urn:microsoft.com/office/officeart/2008/layout/HorizontalMultiLevelHierarchy"/>
    <dgm:cxn modelId="{E0DF869F-71FF-47FB-8C4F-D2D275D9C7EE}" type="presParOf" srcId="{E027CC0A-5427-45B2-BA03-ED32A58EDDD8}" destId="{35AC7433-9A47-4E5D-83B8-B6BFBC3BECEA}" srcOrd="0" destOrd="0" presId="urn:microsoft.com/office/officeart/2008/layout/HorizontalMultiLevelHierarchy"/>
    <dgm:cxn modelId="{8E87B3BF-C216-4C3C-BB76-6DF44D6BD7D1}" type="presParOf" srcId="{35AC7433-9A47-4E5D-83B8-B6BFBC3BECEA}" destId="{052AA193-858B-4CA1-A96D-8BF3AEB18F02}" srcOrd="0" destOrd="0" presId="urn:microsoft.com/office/officeart/2008/layout/HorizontalMultiLevelHierarchy"/>
    <dgm:cxn modelId="{7685509B-6D1B-421F-B65E-97E0AF57C8BE}" type="presParOf" srcId="{E027CC0A-5427-45B2-BA03-ED32A58EDDD8}" destId="{9A35A4EF-92CB-4670-BF2D-9920E8A3BAEA}" srcOrd="1" destOrd="0" presId="urn:microsoft.com/office/officeart/2008/layout/HorizontalMultiLevelHierarchy"/>
    <dgm:cxn modelId="{F6410FDB-910C-4BBF-BEA7-174BF0CFC5B7}" type="presParOf" srcId="{9A35A4EF-92CB-4670-BF2D-9920E8A3BAEA}" destId="{C5BFA852-FD27-42CF-958C-A1AB70348AEE}" srcOrd="0" destOrd="0" presId="urn:microsoft.com/office/officeart/2008/layout/HorizontalMultiLevelHierarchy"/>
    <dgm:cxn modelId="{F5F047FD-4E66-47DE-87A9-E37B6B6A9F12}" type="presParOf" srcId="{9A35A4EF-92CB-4670-BF2D-9920E8A3BAEA}" destId="{0E86A645-CDB1-4EAB-B01B-568F78EA12EF}" srcOrd="1" destOrd="0" presId="urn:microsoft.com/office/officeart/2008/layout/HorizontalMultiLevelHierarchy"/>
    <dgm:cxn modelId="{BE7DAF1E-F424-402C-AFF9-3A2AC21E9BD7}" type="presParOf" srcId="{E027CC0A-5427-45B2-BA03-ED32A58EDDD8}" destId="{520498D7-2AF0-4EAC-80EF-6CD102528F8B}" srcOrd="2" destOrd="0" presId="urn:microsoft.com/office/officeart/2008/layout/HorizontalMultiLevelHierarchy"/>
    <dgm:cxn modelId="{AE7A4B6D-B29B-4BA5-B498-B02A4590829E}" type="presParOf" srcId="{520498D7-2AF0-4EAC-80EF-6CD102528F8B}" destId="{C53AB13D-A200-4893-A2F7-7FC856F6A59A}" srcOrd="0" destOrd="0" presId="urn:microsoft.com/office/officeart/2008/layout/HorizontalMultiLevelHierarchy"/>
    <dgm:cxn modelId="{6FC7178F-C3A6-4DDF-AFB5-9BAFE2FD5509}" type="presParOf" srcId="{E027CC0A-5427-45B2-BA03-ED32A58EDDD8}" destId="{302AD606-1FBF-4BE2-BDF4-C1870510F8BF}" srcOrd="3" destOrd="0" presId="urn:microsoft.com/office/officeart/2008/layout/HorizontalMultiLevelHierarchy"/>
    <dgm:cxn modelId="{B9F49A0C-5C13-4DA0-A947-38FEE9EBC9A8}" type="presParOf" srcId="{302AD606-1FBF-4BE2-BDF4-C1870510F8BF}" destId="{1066FE95-D40B-4B19-A2F8-33BC1AEB667B}" srcOrd="0" destOrd="0" presId="urn:microsoft.com/office/officeart/2008/layout/HorizontalMultiLevelHierarchy"/>
    <dgm:cxn modelId="{97294562-5BD8-4796-8EEC-DBC2C5C08F11}" type="presParOf" srcId="{302AD606-1FBF-4BE2-BDF4-C1870510F8BF}" destId="{C5786558-987B-4B93-82E3-9D730E27BC83}" srcOrd="1" destOrd="0" presId="urn:microsoft.com/office/officeart/2008/layout/HorizontalMultiLevelHierarchy"/>
    <dgm:cxn modelId="{09F78476-FF54-425F-9EA2-F6A9033CF9EB}" type="presParOf" srcId="{15E97223-7D49-4C51-9074-D7C4277F6DB3}" destId="{0211911A-E4BD-46D6-BF8D-4BF454E2D22B}" srcOrd="2" destOrd="0" presId="urn:microsoft.com/office/officeart/2008/layout/HorizontalMultiLevelHierarchy"/>
    <dgm:cxn modelId="{13354CBB-4244-4FC6-8087-F57C961B538F}" type="presParOf" srcId="{0211911A-E4BD-46D6-BF8D-4BF454E2D22B}" destId="{5854687B-CF48-46FC-B54C-9CA6413283C5}" srcOrd="0" destOrd="0" presId="urn:microsoft.com/office/officeart/2008/layout/HorizontalMultiLevelHierarchy"/>
    <dgm:cxn modelId="{DB17D8B2-0007-4D43-8437-4F7ECFCA0AD2}" type="presParOf" srcId="{15E97223-7D49-4C51-9074-D7C4277F6DB3}" destId="{8727C5DB-D4F1-4473-AC17-1CA0EB695509}" srcOrd="3" destOrd="0" presId="urn:microsoft.com/office/officeart/2008/layout/HorizontalMultiLevelHierarchy"/>
    <dgm:cxn modelId="{C60F0C47-FD1A-4AE8-B84B-85119E020EA8}" type="presParOf" srcId="{8727C5DB-D4F1-4473-AC17-1CA0EB695509}" destId="{9F74AD6C-F48F-4FE4-9561-21A96E4D512B}" srcOrd="0" destOrd="0" presId="urn:microsoft.com/office/officeart/2008/layout/HorizontalMultiLevelHierarchy"/>
    <dgm:cxn modelId="{623C2C60-1F95-456A-ADD9-C78992EA7418}" type="presParOf" srcId="{8727C5DB-D4F1-4473-AC17-1CA0EB695509}" destId="{3E09603D-75FA-45FA-96F1-069658BDAFCD}" srcOrd="1" destOrd="0" presId="urn:microsoft.com/office/officeart/2008/layout/HorizontalMultiLevelHierarchy"/>
    <dgm:cxn modelId="{E92008E9-F0F9-47A4-95CC-6DE937D96589}" type="presParOf" srcId="{3E09603D-75FA-45FA-96F1-069658BDAFCD}" destId="{14D50039-5464-49BE-B322-E777C9A88789}" srcOrd="0" destOrd="0" presId="urn:microsoft.com/office/officeart/2008/layout/HorizontalMultiLevelHierarchy"/>
    <dgm:cxn modelId="{A1182C87-4FCA-4F66-9540-AFF235251342}" type="presParOf" srcId="{14D50039-5464-49BE-B322-E777C9A88789}" destId="{FB556E6E-83DC-48B9-B4D5-48CA553E8FAA}" srcOrd="0" destOrd="0" presId="urn:microsoft.com/office/officeart/2008/layout/HorizontalMultiLevelHierarchy"/>
    <dgm:cxn modelId="{818D8A29-088D-4AF5-9E00-C134AFB88EA4}" type="presParOf" srcId="{3E09603D-75FA-45FA-96F1-069658BDAFCD}" destId="{F59D5E4A-8F0E-40F9-A3FD-E8BD770690F0}" srcOrd="1" destOrd="0" presId="urn:microsoft.com/office/officeart/2008/layout/HorizontalMultiLevelHierarchy"/>
    <dgm:cxn modelId="{AA466B0B-214C-45E0-A4BA-E032FEEE39A2}" type="presParOf" srcId="{F59D5E4A-8F0E-40F9-A3FD-E8BD770690F0}" destId="{B5AEA0BC-89C7-467B-8C76-AF9B4740A5B2}" srcOrd="0" destOrd="0" presId="urn:microsoft.com/office/officeart/2008/layout/HorizontalMultiLevelHierarchy"/>
    <dgm:cxn modelId="{C3F7B39A-3443-45A7-9CB7-09125057F43B}" type="presParOf" srcId="{F59D5E4A-8F0E-40F9-A3FD-E8BD770690F0}" destId="{39547D77-2804-4295-9B4D-7F570AD19A09}" srcOrd="1" destOrd="0" presId="urn:microsoft.com/office/officeart/2008/layout/HorizontalMultiLevelHierarchy"/>
    <dgm:cxn modelId="{C13D3C73-1FC3-4495-9A01-29B8253BDBC4}" type="presParOf" srcId="{3E09603D-75FA-45FA-96F1-069658BDAFCD}" destId="{641DA961-29AB-4F0A-AEED-A05AFF4E50C0}" srcOrd="2" destOrd="0" presId="urn:microsoft.com/office/officeart/2008/layout/HorizontalMultiLevelHierarchy"/>
    <dgm:cxn modelId="{BBCC9BEC-7CC6-44B7-BF7C-AD1F7CF3D154}" type="presParOf" srcId="{641DA961-29AB-4F0A-AEED-A05AFF4E50C0}" destId="{390B983E-8BBC-4DC0-B4C2-8B2E88270A2A}" srcOrd="0" destOrd="0" presId="urn:microsoft.com/office/officeart/2008/layout/HorizontalMultiLevelHierarchy"/>
    <dgm:cxn modelId="{CA5DAC6C-D1F3-4857-A927-FD9DF0D89D6F}" type="presParOf" srcId="{3E09603D-75FA-45FA-96F1-069658BDAFCD}" destId="{A47F910B-29AC-424C-A063-CC30738E50A7}" srcOrd="3" destOrd="0" presId="urn:microsoft.com/office/officeart/2008/layout/HorizontalMultiLevelHierarchy"/>
    <dgm:cxn modelId="{8CF58EA9-CCFA-490F-A2F2-AC84BA63D821}" type="presParOf" srcId="{A47F910B-29AC-424C-A063-CC30738E50A7}" destId="{DF5DD027-2F47-45BA-B79C-0E6A1DD3273F}" srcOrd="0" destOrd="0" presId="urn:microsoft.com/office/officeart/2008/layout/HorizontalMultiLevelHierarchy"/>
    <dgm:cxn modelId="{E420C174-4EFA-4CFB-B87A-9A452ECDAFF4}" type="presParOf" srcId="{A47F910B-29AC-424C-A063-CC30738E50A7}" destId="{BE2389FB-0FAF-4500-87A6-64D00FF50B52}" srcOrd="1" destOrd="0" presId="urn:microsoft.com/office/officeart/2008/layout/HorizontalMultiLevelHierarchy"/>
  </dgm:cxnLst>
  <dgm:bg>
    <a:solidFill>
      <a:schemeClr val="bg1"/>
    </a:solid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ADF2BB-E2BB-4FEB-BF2B-D0496E6784D8}" type="doc">
      <dgm:prSet loTypeId="urn:microsoft.com/office/officeart/2005/8/layout/hierarchy1" loCatId="hierarchy" qsTypeId="urn:microsoft.com/office/officeart/2005/8/quickstyle/simple5" qsCatId="simple" csTypeId="urn:microsoft.com/office/officeart/2005/8/colors/accent0_2" csCatId="mainScheme" phldr="1"/>
      <dgm:spPr/>
      <dgm:t>
        <a:bodyPr/>
        <a:lstStyle/>
        <a:p>
          <a:endParaRPr lang="zh-CN" altLang="en-US"/>
        </a:p>
      </dgm:t>
    </dgm:pt>
    <dgm:pt modelId="{7FF0C841-F9E9-480F-8527-0FD126035E81}">
      <dgm:prSet phldrT="[文本]" custT="1"/>
      <dgm:spPr/>
      <dgm: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Actor-network Theory</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dgm:t>
    </dgm:pt>
    <dgm:pt modelId="{735D4C07-2A38-46A5-A17E-B9C3F3C3C901}" cxnId="{DF09632C-1622-4FA9-B4A8-E4055F2A376A}" type="par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6B401930-3141-4F8A-B351-ACBC9C39AE2C}" cxnId="{DF09632C-1622-4FA9-B4A8-E4055F2A376A}"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6BF4BDC9-299A-46D4-BF13-C3901587CF8D}">
      <dgm:prSet phldrT="[文本]" custT="1"/>
      <dgm:spPr/>
      <dgm:t>
        <a:bodyPr/>
        <a:lstStyle/>
        <a:p>
          <a:pPr algn="ctr"/>
          <a:r>
            <a:rPr lang="en-US" altLang="zh-CN" sz="1800" b="0" dirty="0">
              <a:latin typeface="Times New Roman" panose="02020603050405020304" pitchFamily="18" charset="0"/>
              <a:ea typeface="楷体" panose="02010609060101010101" pitchFamily="49" charset="-122"/>
              <a:cs typeface="Times New Roman" panose="02020603050405020304" pitchFamily="18" charset="0"/>
            </a:rPr>
            <a:t>Actor</a:t>
          </a:r>
          <a:endParaRPr lang="zh-CN" altLang="en-US" sz="1800" b="0" dirty="0">
            <a:latin typeface="Times New Roman" panose="02020603050405020304" pitchFamily="18" charset="0"/>
            <a:ea typeface="楷体" panose="02010609060101010101" pitchFamily="49" charset="-122"/>
            <a:cs typeface="Times New Roman" panose="02020603050405020304" pitchFamily="18" charset="0"/>
          </a:endParaRPr>
        </a:p>
      </dgm:t>
    </dgm:pt>
    <dgm:pt modelId="{02730D56-9E9D-4932-8361-D51A0C7A044C}" cxnId="{0100C888-E012-434A-A1EF-E237E167839A}"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7DFC0A44-B80C-4E85-99EF-EF6018CCF230}" cxnId="{0100C888-E012-434A-A1EF-E237E167839A}"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ED325DA5-E5CA-4ADA-A19A-88088155CCB0}">
      <dgm:prSet phldrT="[文本]" custT="1"/>
      <dgm:spPr/>
      <dgm:t>
        <a:bodyPr/>
        <a:lstStyle/>
        <a:p>
          <a:pPr algn="ct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Network</a:t>
          </a:r>
          <a:endParaRPr lang="zh-CN" altLang="en-US" sz="1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74D0541-453E-472E-83D7-EA0C60F3DD1A}" cxnId="{37981302-2C91-44FD-9191-EEE2D17D8AF7}" type="parTrans">
      <dgm:prSet custT="1"/>
      <dgm:spPr/>
      <dgm:t>
        <a:bodyPr/>
        <a:lstStyle/>
        <a:p>
          <a:endParaRPr lang="zh-CN" altLang="en-US" sz="1600">
            <a:latin typeface="Calibri" pitchFamily="34" charset="0"/>
            <a:ea typeface="楷体" panose="02010609060101010101" pitchFamily="49" charset="-122"/>
            <a:cs typeface="Calibri" pitchFamily="34" charset="0"/>
          </a:endParaRPr>
        </a:p>
      </dgm:t>
    </dgm:pt>
    <dgm:pt modelId="{E5184F52-3C76-4D92-A13C-DB5EB79E6F0C}" cxnId="{37981302-2C91-44FD-9191-EEE2D17D8AF7}" type="sibTrans">
      <dgm:prSet/>
      <dgm:spPr/>
      <dgm:t>
        <a:bodyPr/>
        <a:lstStyle/>
        <a:p>
          <a:endParaRPr lang="zh-CN" altLang="en-US" sz="1600">
            <a:latin typeface="Calibri" pitchFamily="34" charset="0"/>
            <a:ea typeface="楷体" panose="02010609060101010101" pitchFamily="49" charset="-122"/>
            <a:cs typeface="Calibri" pitchFamily="34" charset="0"/>
          </a:endParaRPr>
        </a:p>
      </dgm:t>
    </dgm:pt>
    <dgm:pt modelId="{EC2C5AE8-2B69-A548-8674-7480BE3DFB4D}">
      <dgm:prSet custT="1"/>
      <dgm:spPr/>
      <dgm:t>
        <a:bodyPr/>
        <a:lstStyle/>
        <a:p>
          <a:r>
            <a:rPr lang="en-US" altLang="zh-CN" sz="1800" b="0" dirty="0">
              <a:latin typeface="Times New Roman" panose="02020603050405020304" pitchFamily="18" charset="0"/>
              <a:cs typeface="Times New Roman" panose="02020603050405020304" pitchFamily="18" charset="0"/>
            </a:rPr>
            <a:t>Translation</a:t>
          </a:r>
          <a:endParaRPr lang="zh-CN" altLang="en-US" sz="1800" b="0" dirty="0">
            <a:latin typeface="Times New Roman" panose="02020603050405020304" pitchFamily="18" charset="0"/>
            <a:cs typeface="Times New Roman" panose="02020603050405020304" pitchFamily="18" charset="0"/>
          </a:endParaRPr>
        </a:p>
      </dgm:t>
    </dgm:pt>
    <dgm:pt modelId="{304D1FD7-9D3B-E246-8B4A-5C623C2B1E5A}" cxnId="{9C51B7F7-1D72-D949-8543-F76DDC680F13}" type="parTrans">
      <dgm:prSet/>
      <dgm:spPr/>
      <dgm:t>
        <a:bodyPr/>
        <a:lstStyle/>
        <a:p>
          <a:endParaRPr lang="zh-CN" altLang="en-US"/>
        </a:p>
      </dgm:t>
    </dgm:pt>
    <dgm:pt modelId="{34B91B62-0DE0-0C44-A194-4CD235C1F5BC}" cxnId="{9C51B7F7-1D72-D949-8543-F76DDC680F13}" type="sibTrans">
      <dgm:prSet/>
      <dgm:spPr/>
      <dgm:t>
        <a:bodyPr/>
        <a:lstStyle/>
        <a:p>
          <a:endParaRPr lang="zh-CN" altLang="en-US"/>
        </a:p>
      </dgm:t>
    </dgm:pt>
    <dgm:pt modelId="{800DA6F3-7DB5-2743-9646-EFA0E1246602}" type="pres">
      <dgm:prSet presAssocID="{00ADF2BB-E2BB-4FEB-BF2B-D0496E6784D8}" presName="hierChild1" presStyleCnt="0">
        <dgm:presLayoutVars>
          <dgm:chPref val="1"/>
          <dgm:dir/>
          <dgm:animOne val="branch"/>
          <dgm:animLvl val="lvl"/>
          <dgm:resizeHandles/>
        </dgm:presLayoutVars>
      </dgm:prSet>
      <dgm:spPr/>
    </dgm:pt>
    <dgm:pt modelId="{7FF2A6C8-B2AD-E54F-BEF4-E17C0DC6C91E}" type="pres">
      <dgm:prSet presAssocID="{7FF0C841-F9E9-480F-8527-0FD126035E81}" presName="hierRoot1" presStyleCnt="0"/>
      <dgm:spPr/>
    </dgm:pt>
    <dgm:pt modelId="{158C6B33-80CB-1C4D-B3FC-60CE8A9E8C7E}" type="pres">
      <dgm:prSet presAssocID="{7FF0C841-F9E9-480F-8527-0FD126035E81}" presName="composite" presStyleCnt="0"/>
      <dgm:spPr/>
    </dgm:pt>
    <dgm:pt modelId="{1A4BC2F7-CD81-2D44-B03A-56874487ADE5}" type="pres">
      <dgm:prSet presAssocID="{7FF0C841-F9E9-480F-8527-0FD126035E81}" presName="background" presStyleLbl="node0" presStyleIdx="0" presStyleCnt="1"/>
      <dgm:spPr/>
    </dgm:pt>
    <dgm:pt modelId="{FB1C1EBB-7C0A-8341-A12C-49985F6F3BB0}" type="pres">
      <dgm:prSet presAssocID="{7FF0C841-F9E9-480F-8527-0FD126035E81}" presName="text" presStyleLbl="fgAcc0" presStyleIdx="0" presStyleCnt="1" custScaleX="223701">
        <dgm:presLayoutVars>
          <dgm:chPref val="3"/>
        </dgm:presLayoutVars>
      </dgm:prSet>
      <dgm:spPr/>
    </dgm:pt>
    <dgm:pt modelId="{AD142AB0-D009-7B41-B377-B9466B81C0B3}" type="pres">
      <dgm:prSet presAssocID="{7FF0C841-F9E9-480F-8527-0FD126035E81}" presName="hierChild2" presStyleCnt="0"/>
      <dgm:spPr/>
    </dgm:pt>
    <dgm:pt modelId="{823BE932-99AB-3045-8301-9D4FB825084D}" type="pres">
      <dgm:prSet presAssocID="{02730D56-9E9D-4932-8361-D51A0C7A044C}" presName="Name10" presStyleLbl="parChTrans1D2" presStyleIdx="0" presStyleCnt="3"/>
      <dgm:spPr/>
    </dgm:pt>
    <dgm:pt modelId="{F46E525F-FB44-8943-B106-804DE6386CE4}" type="pres">
      <dgm:prSet presAssocID="{6BF4BDC9-299A-46D4-BF13-C3901587CF8D}" presName="hierRoot2" presStyleCnt="0"/>
      <dgm:spPr/>
    </dgm:pt>
    <dgm:pt modelId="{F71C5A17-F93E-AC4A-A1C3-2D0A1D5B7402}" type="pres">
      <dgm:prSet presAssocID="{6BF4BDC9-299A-46D4-BF13-C3901587CF8D}" presName="composite2" presStyleCnt="0"/>
      <dgm:spPr/>
    </dgm:pt>
    <dgm:pt modelId="{2F3C6B74-EEBD-1B4C-B582-9A55981E1A57}" type="pres">
      <dgm:prSet presAssocID="{6BF4BDC9-299A-46D4-BF13-C3901587CF8D}" presName="background2" presStyleLbl="node2" presStyleIdx="0" presStyleCnt="3"/>
      <dgm:spPr/>
    </dgm:pt>
    <dgm:pt modelId="{3C229579-093D-7046-931C-2AB220C36AFE}" type="pres">
      <dgm:prSet presAssocID="{6BF4BDC9-299A-46D4-BF13-C3901587CF8D}" presName="text2" presStyleLbl="fgAcc2" presStyleIdx="0" presStyleCnt="3">
        <dgm:presLayoutVars>
          <dgm:chPref val="3"/>
        </dgm:presLayoutVars>
      </dgm:prSet>
      <dgm:spPr/>
    </dgm:pt>
    <dgm:pt modelId="{4688E9D0-1869-9A48-97A8-D68EE96440DC}" type="pres">
      <dgm:prSet presAssocID="{6BF4BDC9-299A-46D4-BF13-C3901587CF8D}" presName="hierChild3" presStyleCnt="0"/>
      <dgm:spPr/>
    </dgm:pt>
    <dgm:pt modelId="{C3BADF05-1B07-9B46-872C-C9F7839D39B0}" type="pres">
      <dgm:prSet presAssocID="{874D0541-453E-472E-83D7-EA0C60F3DD1A}" presName="Name10" presStyleLbl="parChTrans1D2" presStyleIdx="1" presStyleCnt="3"/>
      <dgm:spPr/>
    </dgm:pt>
    <dgm:pt modelId="{00872652-EBB7-0A42-871B-12328664DE70}" type="pres">
      <dgm:prSet presAssocID="{ED325DA5-E5CA-4ADA-A19A-88088155CCB0}" presName="hierRoot2" presStyleCnt="0"/>
      <dgm:spPr/>
    </dgm:pt>
    <dgm:pt modelId="{CCCC294F-8A81-1B49-9942-325834EA7525}" type="pres">
      <dgm:prSet presAssocID="{ED325DA5-E5CA-4ADA-A19A-88088155CCB0}" presName="composite2" presStyleCnt="0"/>
      <dgm:spPr/>
    </dgm:pt>
    <dgm:pt modelId="{1958B68A-5AEA-C043-BD3E-6988D87BBDE4}" type="pres">
      <dgm:prSet presAssocID="{ED325DA5-E5CA-4ADA-A19A-88088155CCB0}" presName="background2" presStyleLbl="node2" presStyleIdx="1" presStyleCnt="3"/>
      <dgm:spPr/>
    </dgm:pt>
    <dgm:pt modelId="{697293B0-D6D4-D143-9FE5-FA9DD54AD88A}" type="pres">
      <dgm:prSet presAssocID="{ED325DA5-E5CA-4ADA-A19A-88088155CCB0}" presName="text2" presStyleLbl="fgAcc2" presStyleIdx="1" presStyleCnt="3">
        <dgm:presLayoutVars>
          <dgm:chPref val="3"/>
        </dgm:presLayoutVars>
      </dgm:prSet>
      <dgm:spPr/>
    </dgm:pt>
    <dgm:pt modelId="{F0314326-F7FB-3E46-AA95-E8488645DDDC}" type="pres">
      <dgm:prSet presAssocID="{ED325DA5-E5CA-4ADA-A19A-88088155CCB0}" presName="hierChild3" presStyleCnt="0"/>
      <dgm:spPr/>
    </dgm:pt>
    <dgm:pt modelId="{D49F0354-C28D-8E46-9200-2BB1D79BC8BA}" type="pres">
      <dgm:prSet presAssocID="{304D1FD7-9D3B-E246-8B4A-5C623C2B1E5A}" presName="Name10" presStyleLbl="parChTrans1D2" presStyleIdx="2" presStyleCnt="3"/>
      <dgm:spPr/>
    </dgm:pt>
    <dgm:pt modelId="{6E309577-ADCC-C542-AC86-99051572AA2C}" type="pres">
      <dgm:prSet presAssocID="{EC2C5AE8-2B69-A548-8674-7480BE3DFB4D}" presName="hierRoot2" presStyleCnt="0"/>
      <dgm:spPr/>
    </dgm:pt>
    <dgm:pt modelId="{99E0849B-5AD7-514A-83FD-3EA28C8A1256}" type="pres">
      <dgm:prSet presAssocID="{EC2C5AE8-2B69-A548-8674-7480BE3DFB4D}" presName="composite2" presStyleCnt="0"/>
      <dgm:spPr/>
    </dgm:pt>
    <dgm:pt modelId="{04503DAD-B2FC-D240-872E-5071035AF603}" type="pres">
      <dgm:prSet presAssocID="{EC2C5AE8-2B69-A548-8674-7480BE3DFB4D}" presName="background2" presStyleLbl="node2" presStyleIdx="2" presStyleCnt="3"/>
      <dgm:spPr/>
    </dgm:pt>
    <dgm:pt modelId="{F96F901A-D814-4547-9567-D83F4AF9EDB6}" type="pres">
      <dgm:prSet presAssocID="{EC2C5AE8-2B69-A548-8674-7480BE3DFB4D}" presName="text2" presStyleLbl="fgAcc2" presStyleIdx="2" presStyleCnt="3" custScaleX="115355">
        <dgm:presLayoutVars>
          <dgm:chPref val="3"/>
        </dgm:presLayoutVars>
      </dgm:prSet>
      <dgm:spPr/>
    </dgm:pt>
    <dgm:pt modelId="{311C4324-EF29-0548-BDBB-3D6EC5673930}" type="pres">
      <dgm:prSet presAssocID="{EC2C5AE8-2B69-A548-8674-7480BE3DFB4D}" presName="hierChild3" presStyleCnt="0"/>
      <dgm:spPr/>
    </dgm:pt>
  </dgm:ptLst>
  <dgm:cxnLst>
    <dgm:cxn modelId="{37981302-2C91-44FD-9191-EEE2D17D8AF7}" srcId="{7FF0C841-F9E9-480F-8527-0FD126035E81}" destId="{ED325DA5-E5CA-4ADA-A19A-88088155CCB0}" srcOrd="1" destOrd="0" parTransId="{874D0541-453E-472E-83D7-EA0C60F3DD1A}" sibTransId="{E5184F52-3C76-4D92-A13C-DB5EB79E6F0C}"/>
    <dgm:cxn modelId="{00B4B01F-F321-B04D-97F7-5A4BB7E42581}" type="presOf" srcId="{02730D56-9E9D-4932-8361-D51A0C7A044C}" destId="{823BE932-99AB-3045-8301-9D4FB825084D}" srcOrd="0" destOrd="0" presId="urn:microsoft.com/office/officeart/2005/8/layout/hierarchy1"/>
    <dgm:cxn modelId="{F2B3F620-4665-9045-8CD8-D9632BAF2072}" type="presOf" srcId="{7FF0C841-F9E9-480F-8527-0FD126035E81}" destId="{FB1C1EBB-7C0A-8341-A12C-49985F6F3BB0}" srcOrd="0" destOrd="0" presId="urn:microsoft.com/office/officeart/2005/8/layout/hierarchy1"/>
    <dgm:cxn modelId="{DF09632C-1622-4FA9-B4A8-E4055F2A376A}" srcId="{00ADF2BB-E2BB-4FEB-BF2B-D0496E6784D8}" destId="{7FF0C841-F9E9-480F-8527-0FD126035E81}" srcOrd="0" destOrd="0" parTransId="{735D4C07-2A38-46A5-A17E-B9C3F3C3C901}" sibTransId="{6B401930-3141-4F8A-B351-ACBC9C39AE2C}"/>
    <dgm:cxn modelId="{99B42A2E-A014-AC4D-8D2E-D7DA98FB4ECD}" type="presOf" srcId="{00ADF2BB-E2BB-4FEB-BF2B-D0496E6784D8}" destId="{800DA6F3-7DB5-2743-9646-EFA0E1246602}" srcOrd="0" destOrd="0" presId="urn:microsoft.com/office/officeart/2005/8/layout/hierarchy1"/>
    <dgm:cxn modelId="{9F4B743A-00BF-3044-8AB8-69D89E9D20EC}" type="presOf" srcId="{874D0541-453E-472E-83D7-EA0C60F3DD1A}" destId="{C3BADF05-1B07-9B46-872C-C9F7839D39B0}" srcOrd="0" destOrd="0" presId="urn:microsoft.com/office/officeart/2005/8/layout/hierarchy1"/>
    <dgm:cxn modelId="{8A4B9874-E210-724A-81D8-6B90E602888A}" type="presOf" srcId="{6BF4BDC9-299A-46D4-BF13-C3901587CF8D}" destId="{3C229579-093D-7046-931C-2AB220C36AFE}" srcOrd="0" destOrd="0" presId="urn:microsoft.com/office/officeart/2005/8/layout/hierarchy1"/>
    <dgm:cxn modelId="{0100C888-E012-434A-A1EF-E237E167839A}" srcId="{7FF0C841-F9E9-480F-8527-0FD126035E81}" destId="{6BF4BDC9-299A-46D4-BF13-C3901587CF8D}" srcOrd="0" destOrd="0" parTransId="{02730D56-9E9D-4932-8361-D51A0C7A044C}" sibTransId="{7DFC0A44-B80C-4E85-99EF-EF6018CCF230}"/>
    <dgm:cxn modelId="{EB066391-37F1-0845-997B-9C24CA4154F5}" type="presOf" srcId="{EC2C5AE8-2B69-A548-8674-7480BE3DFB4D}" destId="{F96F901A-D814-4547-9567-D83F4AF9EDB6}" srcOrd="0" destOrd="0" presId="urn:microsoft.com/office/officeart/2005/8/layout/hierarchy1"/>
    <dgm:cxn modelId="{BB1308B2-F51D-B143-9FBB-8DF99E34BFBC}" type="presOf" srcId="{ED325DA5-E5CA-4ADA-A19A-88088155CCB0}" destId="{697293B0-D6D4-D143-9FE5-FA9DD54AD88A}" srcOrd="0" destOrd="0" presId="urn:microsoft.com/office/officeart/2005/8/layout/hierarchy1"/>
    <dgm:cxn modelId="{6A441FC2-F8E3-1843-9A2E-531438D48FCC}" type="presOf" srcId="{304D1FD7-9D3B-E246-8B4A-5C623C2B1E5A}" destId="{D49F0354-C28D-8E46-9200-2BB1D79BC8BA}" srcOrd="0" destOrd="0" presId="urn:microsoft.com/office/officeart/2005/8/layout/hierarchy1"/>
    <dgm:cxn modelId="{9C51B7F7-1D72-D949-8543-F76DDC680F13}" srcId="{7FF0C841-F9E9-480F-8527-0FD126035E81}" destId="{EC2C5AE8-2B69-A548-8674-7480BE3DFB4D}" srcOrd="2" destOrd="0" parTransId="{304D1FD7-9D3B-E246-8B4A-5C623C2B1E5A}" sibTransId="{34B91B62-0DE0-0C44-A194-4CD235C1F5BC}"/>
    <dgm:cxn modelId="{F2BA1475-D488-0647-9BF2-957C2273F5AD}" type="presParOf" srcId="{800DA6F3-7DB5-2743-9646-EFA0E1246602}" destId="{7FF2A6C8-B2AD-E54F-BEF4-E17C0DC6C91E}" srcOrd="0" destOrd="0" presId="urn:microsoft.com/office/officeart/2005/8/layout/hierarchy1"/>
    <dgm:cxn modelId="{8A74F9BF-DB65-C344-BE7E-6C50F87A299F}" type="presParOf" srcId="{7FF2A6C8-B2AD-E54F-BEF4-E17C0DC6C91E}" destId="{158C6B33-80CB-1C4D-B3FC-60CE8A9E8C7E}" srcOrd="0" destOrd="0" presId="urn:microsoft.com/office/officeart/2005/8/layout/hierarchy1"/>
    <dgm:cxn modelId="{AE42D969-3497-774E-9641-8895EB8716B3}" type="presParOf" srcId="{158C6B33-80CB-1C4D-B3FC-60CE8A9E8C7E}" destId="{1A4BC2F7-CD81-2D44-B03A-56874487ADE5}" srcOrd="0" destOrd="0" presId="urn:microsoft.com/office/officeart/2005/8/layout/hierarchy1"/>
    <dgm:cxn modelId="{4D873BF7-5C15-2D40-8D07-71A56067DC62}" type="presParOf" srcId="{158C6B33-80CB-1C4D-B3FC-60CE8A9E8C7E}" destId="{FB1C1EBB-7C0A-8341-A12C-49985F6F3BB0}" srcOrd="1" destOrd="0" presId="urn:microsoft.com/office/officeart/2005/8/layout/hierarchy1"/>
    <dgm:cxn modelId="{1A0B4599-9297-8842-8D6F-B9DF99CC9101}" type="presParOf" srcId="{7FF2A6C8-B2AD-E54F-BEF4-E17C0DC6C91E}" destId="{AD142AB0-D009-7B41-B377-B9466B81C0B3}" srcOrd="1" destOrd="0" presId="urn:microsoft.com/office/officeart/2005/8/layout/hierarchy1"/>
    <dgm:cxn modelId="{56CAFD23-BAAD-2041-905B-AB7AE347EE27}" type="presParOf" srcId="{AD142AB0-D009-7B41-B377-B9466B81C0B3}" destId="{823BE932-99AB-3045-8301-9D4FB825084D}" srcOrd="0" destOrd="0" presId="urn:microsoft.com/office/officeart/2005/8/layout/hierarchy1"/>
    <dgm:cxn modelId="{139DB882-B423-7A4B-AE36-02DE1F294C83}" type="presParOf" srcId="{AD142AB0-D009-7B41-B377-B9466B81C0B3}" destId="{F46E525F-FB44-8943-B106-804DE6386CE4}" srcOrd="1" destOrd="0" presId="urn:microsoft.com/office/officeart/2005/8/layout/hierarchy1"/>
    <dgm:cxn modelId="{A3A8739C-400B-BD4A-AB3F-3977C6278ECD}" type="presParOf" srcId="{F46E525F-FB44-8943-B106-804DE6386CE4}" destId="{F71C5A17-F93E-AC4A-A1C3-2D0A1D5B7402}" srcOrd="0" destOrd="0" presId="urn:microsoft.com/office/officeart/2005/8/layout/hierarchy1"/>
    <dgm:cxn modelId="{2929204E-4D52-834A-954F-0B862387FE88}" type="presParOf" srcId="{F71C5A17-F93E-AC4A-A1C3-2D0A1D5B7402}" destId="{2F3C6B74-EEBD-1B4C-B582-9A55981E1A57}" srcOrd="0" destOrd="0" presId="urn:microsoft.com/office/officeart/2005/8/layout/hierarchy1"/>
    <dgm:cxn modelId="{D8D51BFD-72EA-664E-9085-C0FF983CA634}" type="presParOf" srcId="{F71C5A17-F93E-AC4A-A1C3-2D0A1D5B7402}" destId="{3C229579-093D-7046-931C-2AB220C36AFE}" srcOrd="1" destOrd="0" presId="urn:microsoft.com/office/officeart/2005/8/layout/hierarchy1"/>
    <dgm:cxn modelId="{EB4DA085-7EAF-A844-8D7B-EA5017BB630E}" type="presParOf" srcId="{F46E525F-FB44-8943-B106-804DE6386CE4}" destId="{4688E9D0-1869-9A48-97A8-D68EE96440DC}" srcOrd="1" destOrd="0" presId="urn:microsoft.com/office/officeart/2005/8/layout/hierarchy1"/>
    <dgm:cxn modelId="{78DF6455-7F0D-6444-AB17-7F552047F3FA}" type="presParOf" srcId="{AD142AB0-D009-7B41-B377-B9466B81C0B3}" destId="{C3BADF05-1B07-9B46-872C-C9F7839D39B0}" srcOrd="2" destOrd="0" presId="urn:microsoft.com/office/officeart/2005/8/layout/hierarchy1"/>
    <dgm:cxn modelId="{4E2F3BF9-FAB9-364E-9F6F-B8FF551EDD0C}" type="presParOf" srcId="{AD142AB0-D009-7B41-B377-B9466B81C0B3}" destId="{00872652-EBB7-0A42-871B-12328664DE70}" srcOrd="3" destOrd="0" presId="urn:microsoft.com/office/officeart/2005/8/layout/hierarchy1"/>
    <dgm:cxn modelId="{14560DCF-B0C6-AA43-A181-929F0276896F}" type="presParOf" srcId="{00872652-EBB7-0A42-871B-12328664DE70}" destId="{CCCC294F-8A81-1B49-9942-325834EA7525}" srcOrd="0" destOrd="0" presId="urn:microsoft.com/office/officeart/2005/8/layout/hierarchy1"/>
    <dgm:cxn modelId="{CF19C32C-D1D0-F741-8A5B-5582DDDBAE6A}" type="presParOf" srcId="{CCCC294F-8A81-1B49-9942-325834EA7525}" destId="{1958B68A-5AEA-C043-BD3E-6988D87BBDE4}" srcOrd="0" destOrd="0" presId="urn:microsoft.com/office/officeart/2005/8/layout/hierarchy1"/>
    <dgm:cxn modelId="{E8A55881-B1EC-4840-899E-F568C251EC7E}" type="presParOf" srcId="{CCCC294F-8A81-1B49-9942-325834EA7525}" destId="{697293B0-D6D4-D143-9FE5-FA9DD54AD88A}" srcOrd="1" destOrd="0" presId="urn:microsoft.com/office/officeart/2005/8/layout/hierarchy1"/>
    <dgm:cxn modelId="{9EEE19D4-43F0-0C4D-9234-BC60444FC950}" type="presParOf" srcId="{00872652-EBB7-0A42-871B-12328664DE70}" destId="{F0314326-F7FB-3E46-AA95-E8488645DDDC}" srcOrd="1" destOrd="0" presId="urn:microsoft.com/office/officeart/2005/8/layout/hierarchy1"/>
    <dgm:cxn modelId="{7CBF1242-D674-EA45-AE61-BAB2C48CF85A}" type="presParOf" srcId="{AD142AB0-D009-7B41-B377-B9466B81C0B3}" destId="{D49F0354-C28D-8E46-9200-2BB1D79BC8BA}" srcOrd="4" destOrd="0" presId="urn:microsoft.com/office/officeart/2005/8/layout/hierarchy1"/>
    <dgm:cxn modelId="{05853244-31D5-A24B-B8F7-34D0FAD2DECA}" type="presParOf" srcId="{AD142AB0-D009-7B41-B377-B9466B81C0B3}" destId="{6E309577-ADCC-C542-AC86-99051572AA2C}" srcOrd="5" destOrd="0" presId="urn:microsoft.com/office/officeart/2005/8/layout/hierarchy1"/>
    <dgm:cxn modelId="{1BA696F6-848A-A64C-84B9-DBC9A479C345}" type="presParOf" srcId="{6E309577-ADCC-C542-AC86-99051572AA2C}" destId="{99E0849B-5AD7-514A-83FD-3EA28C8A1256}" srcOrd="0" destOrd="0" presId="urn:microsoft.com/office/officeart/2005/8/layout/hierarchy1"/>
    <dgm:cxn modelId="{EACF09D2-39D8-1142-BF14-B2192A8651AC}" type="presParOf" srcId="{99E0849B-5AD7-514A-83FD-3EA28C8A1256}" destId="{04503DAD-B2FC-D240-872E-5071035AF603}" srcOrd="0" destOrd="0" presId="urn:microsoft.com/office/officeart/2005/8/layout/hierarchy1"/>
    <dgm:cxn modelId="{8A171BF0-CEC4-BB43-A341-3386F5D0663B}" type="presParOf" srcId="{99E0849B-5AD7-514A-83FD-3EA28C8A1256}" destId="{F96F901A-D814-4547-9567-D83F4AF9EDB6}" srcOrd="1" destOrd="0" presId="urn:microsoft.com/office/officeart/2005/8/layout/hierarchy1"/>
    <dgm:cxn modelId="{EF915B40-DD1C-9D48-9FA5-DA37A5397B68}" type="presParOf" srcId="{6E309577-ADCC-C542-AC86-99051572AA2C}" destId="{311C4324-EF29-0548-BDBB-3D6EC5673930}" srcOrd="1" destOrd="0" presId="urn:microsoft.com/office/officeart/2005/8/layout/hierarchy1"/>
  </dgm:cxnLst>
  <dgm:bg>
    <a:solidFill>
      <a:schemeClr val="bg1"/>
    </a:solidFill>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269730" cy="5215548"/>
        <a:chOff x="0" y="0"/>
        <a:chExt cx="9269730" cy="5215548"/>
      </a:xfrm>
    </dsp:grpSpPr>
    <dsp:sp modelId="{AB495BDD-0E8F-4579-AE89-997FDF308A2D}">
      <dsp:nvSpPr>
        <dsp:cNvPr id="4" name="任意多边形 3"/>
        <dsp:cNvSpPr/>
      </dsp:nvSpPr>
      <dsp:spPr bwMode="white">
        <a:xfrm>
          <a:off x="1826143" y="391611"/>
          <a:ext cx="173635" cy="2190502"/>
        </a:xfrm>
        <a:custGeom>
          <a:avLst/>
          <a:gdLst/>
          <a:ahLst/>
          <a:cxnLst/>
          <a:pathLst>
            <a:path w="273" h="3450">
              <a:moveTo>
                <a:pt x="0" y="3450"/>
              </a:moveTo>
              <a:lnTo>
                <a:pt x="137" y="3450"/>
              </a:lnTo>
              <a:lnTo>
                <a:pt x="137" y="0"/>
              </a:lnTo>
              <a:lnTo>
                <a:pt x="273" y="0"/>
              </a:lnTo>
            </a:path>
          </a:pathLst>
        </a:custGeom>
      </dsp:spPr>
      <dsp:style>
        <a:lnRef idx="2">
          <a:schemeClr val="dk2">
            <a:shade val="6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solidFill>
              <a:schemeClr val="tx1"/>
            </a:solidFill>
            <a:latin typeface="Calibri" pitchFamily="34" charset="0"/>
            <a:ea typeface="楷体" panose="02010609060101010101" pitchFamily="49" charset="-122"/>
            <a:cs typeface="Calibri" pitchFamily="34" charset="0"/>
          </a:endParaRPr>
        </a:p>
      </dsp:txBody>
      <dsp:txXfrm>
        <a:off x="1826143" y="391611"/>
        <a:ext cx="173635" cy="2190502"/>
      </dsp:txXfrm>
    </dsp:sp>
    <dsp:sp modelId="{0211911A-E4BD-46D6-BF8D-4BF454E2D22B}">
      <dsp:nvSpPr>
        <dsp:cNvPr id="6" name="任意多边形 5"/>
        <dsp:cNvSpPr/>
      </dsp:nvSpPr>
      <dsp:spPr bwMode="white">
        <a:xfrm>
          <a:off x="1826143" y="1776981"/>
          <a:ext cx="174720" cy="805132"/>
        </a:xfrm>
        <a:custGeom>
          <a:avLst/>
          <a:gdLst/>
          <a:ahLst/>
          <a:cxnLst/>
          <a:pathLst>
            <a:path w="275" h="1268">
              <a:moveTo>
                <a:pt x="0" y="1268"/>
              </a:moveTo>
              <a:lnTo>
                <a:pt x="138" y="1268"/>
              </a:lnTo>
              <a:lnTo>
                <a:pt x="138" y="0"/>
              </a:lnTo>
              <a:lnTo>
                <a:pt x="275" y="0"/>
              </a:lnTo>
            </a:path>
          </a:pathLst>
        </a:custGeom>
      </dsp:spPr>
      <dsp:style>
        <a:lnRef idx="2">
          <a:schemeClr val="dk2">
            <a:shade val="6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solidFill>
              <a:schemeClr val="tx1"/>
            </a:solidFill>
            <a:latin typeface="Calibri" pitchFamily="34" charset="0"/>
            <a:ea typeface="楷体" panose="02010609060101010101" pitchFamily="49" charset="-122"/>
            <a:cs typeface="Calibri" pitchFamily="34" charset="0"/>
          </a:endParaRPr>
        </a:p>
      </dsp:txBody>
      <dsp:txXfrm>
        <a:off x="1826143" y="1776981"/>
        <a:ext cx="174720" cy="805132"/>
      </dsp:txXfrm>
    </dsp:sp>
    <dsp:sp modelId="{96168431-7098-344C-851A-37F06A5ED7A5}">
      <dsp:nvSpPr>
        <dsp:cNvPr id="8" name="任意多边形 7"/>
        <dsp:cNvSpPr/>
      </dsp:nvSpPr>
      <dsp:spPr bwMode="white">
        <a:xfrm>
          <a:off x="1826143" y="2582113"/>
          <a:ext cx="194202" cy="697743"/>
        </a:xfrm>
        <a:custGeom>
          <a:avLst/>
          <a:gdLst/>
          <a:ahLst/>
          <a:cxnLst/>
          <a:pathLst>
            <a:path w="306" h="1099">
              <a:moveTo>
                <a:pt x="0" y="0"/>
              </a:moveTo>
              <a:lnTo>
                <a:pt x="153" y="0"/>
              </a:lnTo>
              <a:lnTo>
                <a:pt x="153" y="1099"/>
              </a:lnTo>
              <a:lnTo>
                <a:pt x="306" y="1099"/>
              </a:lnTo>
            </a:path>
          </a:pathLst>
        </a:custGeom>
      </dsp:spPr>
      <dsp:style>
        <a:lnRef idx="2">
          <a:schemeClr val="dk2">
            <a:shade val="60000"/>
          </a:schemeClr>
        </a:lnRef>
        <a:fillRef idx="0">
          <a:schemeClr val="dk2"/>
        </a:fillRef>
        <a:effectRef idx="0">
          <a:scrgbClr r="0" g="0" b="0"/>
        </a:effectRef>
        <a:fontRef idx="minor"/>
      </dsp:style>
      <dsp:txBody>
        <a:bodyPr lIns="12700" tIns="0" rIns="12700" bIns="0" anchor="ctr"/>
        <a:lstStyle>
          <a:lvl1pPr algn="ctr">
            <a:defRPr sz="4100"/>
          </a:lvl1pPr>
          <a:lvl2pPr marL="285750" indent="-285750" algn="ctr">
            <a:defRPr sz="3200"/>
          </a:lvl2pPr>
          <a:lvl3pPr marL="571500" indent="-285750" algn="ctr">
            <a:defRPr sz="3200"/>
          </a:lvl3pPr>
          <a:lvl4pPr marL="857250" indent="-285750" algn="ctr">
            <a:defRPr sz="3200"/>
          </a:lvl4pPr>
          <a:lvl5pPr marL="1143000" indent="-285750" algn="ctr">
            <a:defRPr sz="3200"/>
          </a:lvl5pPr>
          <a:lvl6pPr marL="1428750" indent="-285750" algn="ctr">
            <a:defRPr sz="3200"/>
          </a:lvl6pPr>
          <a:lvl7pPr marL="1714500" indent="-285750" algn="ctr">
            <a:defRPr sz="3200"/>
          </a:lvl7pPr>
          <a:lvl8pPr marL="2000250" indent="-285750" algn="ctr">
            <a:defRPr sz="3200"/>
          </a:lvl8pPr>
          <a:lvl9pPr marL="2286000" indent="-285750" algn="ctr">
            <a:defRPr sz="3200"/>
          </a:lvl9pPr>
        </a:lstStyle>
        <a:p>
          <a:pPr lvl="0">
            <a:lnSpc>
              <a:spcPct val="100000"/>
            </a:lnSpc>
            <a:spcBef>
              <a:spcPct val="0"/>
            </a:spcBef>
            <a:spcAft>
              <a:spcPct val="35000"/>
            </a:spcAft>
          </a:pPr>
          <a:endParaRPr lang="zh-CN" altLang="en-US">
            <a:solidFill>
              <a:schemeClr val="tx1"/>
            </a:solidFill>
          </a:endParaRPr>
        </a:p>
      </dsp:txBody>
      <dsp:txXfrm>
        <a:off x="1826143" y="2582113"/>
        <a:ext cx="194202" cy="697743"/>
      </dsp:txXfrm>
    </dsp:sp>
    <dsp:sp modelId="{CE5E7B62-8E67-8042-A43D-B1F2033BBAF7}">
      <dsp:nvSpPr>
        <dsp:cNvPr id="10" name="任意多边形 9"/>
        <dsp:cNvSpPr/>
      </dsp:nvSpPr>
      <dsp:spPr bwMode="white">
        <a:xfrm>
          <a:off x="1826143" y="2582113"/>
          <a:ext cx="139516" cy="1883043"/>
        </a:xfrm>
        <a:custGeom>
          <a:avLst/>
          <a:gdLst/>
          <a:ahLst/>
          <a:cxnLst/>
          <a:pathLst>
            <a:path w="220" h="2965">
              <a:moveTo>
                <a:pt x="0" y="0"/>
              </a:moveTo>
              <a:lnTo>
                <a:pt x="110" y="0"/>
              </a:lnTo>
              <a:lnTo>
                <a:pt x="110" y="2965"/>
              </a:lnTo>
              <a:lnTo>
                <a:pt x="220" y="2965"/>
              </a:lnTo>
            </a:path>
          </a:pathLst>
        </a:custGeom>
      </dsp:spPr>
      <dsp:style>
        <a:lnRef idx="2">
          <a:schemeClr val="dk2">
            <a:shade val="60000"/>
          </a:schemeClr>
        </a:lnRef>
        <a:fillRef idx="0">
          <a:schemeClr val="dk2"/>
        </a:fillRef>
        <a:effectRef idx="0">
          <a:scrgbClr r="0" g="0" b="0"/>
        </a:effectRef>
        <a:fontRef idx="minor"/>
      </dsp:style>
      <dsp:txBody>
        <a:bodyPr lIns="12700" tIns="0" rIns="12700" bIns="0" anchor="ctr"/>
        <a:lstStyle>
          <a:lvl1pPr algn="ctr">
            <a:defRPr sz="5000"/>
          </a:lvl1pPr>
          <a:lvl2pPr marL="285750" indent="-285750" algn="ctr">
            <a:defRPr sz="3900"/>
          </a:lvl2pPr>
          <a:lvl3pPr marL="571500" indent="-285750" algn="ctr">
            <a:defRPr sz="3900"/>
          </a:lvl3pPr>
          <a:lvl4pPr marL="857250" indent="-285750" algn="ctr">
            <a:defRPr sz="3900"/>
          </a:lvl4pPr>
          <a:lvl5pPr marL="1143000" indent="-285750" algn="ctr">
            <a:defRPr sz="3900"/>
          </a:lvl5pPr>
          <a:lvl6pPr marL="1428750" indent="-285750" algn="ctr">
            <a:defRPr sz="3900"/>
          </a:lvl6pPr>
          <a:lvl7pPr marL="1714500" indent="-285750" algn="ctr">
            <a:defRPr sz="3900"/>
          </a:lvl7pPr>
          <a:lvl8pPr marL="2000250" indent="-285750" algn="ctr">
            <a:defRPr sz="3900"/>
          </a:lvl8pPr>
          <a:lvl9pPr marL="2286000" indent="-285750" algn="ctr">
            <a:defRPr sz="3900"/>
          </a:lvl9pPr>
        </a:lstStyle>
        <a:p>
          <a:pPr lvl="0">
            <a:lnSpc>
              <a:spcPct val="100000"/>
            </a:lnSpc>
            <a:spcBef>
              <a:spcPct val="0"/>
            </a:spcBef>
            <a:spcAft>
              <a:spcPct val="35000"/>
            </a:spcAft>
          </a:pPr>
          <a:endParaRPr lang="zh-CN" altLang="en-US">
            <a:solidFill>
              <a:schemeClr val="tx1"/>
            </a:solidFill>
          </a:endParaRPr>
        </a:p>
      </dsp:txBody>
      <dsp:txXfrm>
        <a:off x="1826143" y="2582113"/>
        <a:ext cx="139516" cy="1883043"/>
      </dsp:txXfrm>
    </dsp:sp>
    <dsp:sp modelId="{E3A22DDB-CC73-43F5-99AA-2B554F3DF815}">
      <dsp:nvSpPr>
        <dsp:cNvPr id="3" name="矩形 2"/>
        <dsp:cNvSpPr/>
      </dsp:nvSpPr>
      <dsp:spPr bwMode="white">
        <a:xfrm rot="21600000">
          <a:off x="136533" y="1669042"/>
          <a:ext cx="1553077" cy="1826143"/>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en-US" sz="2000" b="1" kern="100" dirty="0">
              <a:solidFill>
                <a:schemeClr val="tx1"/>
              </a:solidFill>
              <a:latin typeface="Times New Roman" panose="02020603050405020304" pitchFamily="18" charset="0"/>
              <a:ea typeface="宋体" pitchFamily="2" charset="-122"/>
              <a:cs typeface="Times New Roman" panose="02020603050405020304" pitchFamily="18" charset="0"/>
            </a:rPr>
            <a:t>Previous Translation Studies on Chinese Online Literature</a:t>
          </a:r>
          <a:endParaRPr lang="zh-CN" altLang="en-US" sz="2000" b="1" kern="100" dirty="0">
            <a:solidFill>
              <a:schemeClr val="tx1"/>
            </a:solidFill>
            <a:latin typeface="Times New Roman" panose="02020603050405020304" pitchFamily="18" charset="0"/>
            <a:ea typeface="宋体" pitchFamily="2" charset="-122"/>
            <a:cs typeface="Times New Roman" panose="02020603050405020304" pitchFamily="18" charset="0"/>
          </a:endParaRPr>
        </a:p>
      </dsp:txBody>
      <dsp:txXfrm rot="21600000">
        <a:off x="136533" y="1669042"/>
        <a:ext cx="1553077" cy="1826143"/>
      </dsp:txXfrm>
    </dsp:sp>
    <dsp:sp modelId="{416064F3-852F-470B-85A9-3C2B722FFBC3}">
      <dsp:nvSpPr>
        <dsp:cNvPr id="5" name="矩形 4"/>
        <dsp:cNvSpPr/>
      </dsp:nvSpPr>
      <dsp:spPr bwMode="white">
        <a:xfrm>
          <a:off x="1999778" y="0"/>
          <a:ext cx="7205672" cy="783222"/>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lack a clear theoretical foundation and primarily focus on summarizing the current scenario of Chinese online literature(</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董子铭</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刘肖</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2017</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；高纯娟</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2017</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；鲍娴</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；席志武</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付自强</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a:t>
          </a:r>
          <a:endParaRPr lang="zh-CN" altLang="en-US" sz="1800" b="1" kern="100" dirty="0">
            <a:solidFill>
              <a:schemeClr val="tx1"/>
            </a:solidFill>
            <a:latin typeface="Times New Roman" panose="02020603050405020304" pitchFamily="18" charset="0"/>
            <a:ea typeface="宋体" pitchFamily="2" charset="-122"/>
            <a:cs typeface="Times New Roman" panose="02020603050405020304" pitchFamily="18" charset="0"/>
          </a:endParaRPr>
        </a:p>
      </dsp:txBody>
      <dsp:txXfrm>
        <a:off x="1999778" y="0"/>
        <a:ext cx="7205672" cy="783222"/>
      </dsp:txXfrm>
    </dsp:sp>
    <dsp:sp modelId="{9F74AD6C-F48F-4FE4-9561-21A96E4D512B}">
      <dsp:nvSpPr>
        <dsp:cNvPr id="7" name="矩形 6"/>
        <dsp:cNvSpPr/>
      </dsp:nvSpPr>
      <dsp:spPr bwMode="white">
        <a:xfrm>
          <a:off x="2000863" y="1005713"/>
          <a:ext cx="7175599" cy="1542535"/>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adopt theoretical perspectives not primarily centered on translation but rather on the broader theme of the “international dissemination of Chinese online literature”, including communication studies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刘肖</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董子铭</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2017;</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彭石玉</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张慧英</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 media consumption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尤达</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2019), cultural consumption(</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王璐璐</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 and the global media revolution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邵燕君等</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a:t>
          </a:r>
          <a:endParaRPr lang="zh-CN" altLang="en-US" sz="1800" b="1" kern="100" dirty="0">
            <a:solidFill>
              <a:schemeClr val="tx1"/>
            </a:solidFill>
            <a:latin typeface="Times New Roman" panose="02020603050405020304" pitchFamily="18" charset="0"/>
            <a:ea typeface="宋体" pitchFamily="2" charset="-122"/>
            <a:cs typeface="Times New Roman" panose="02020603050405020304" pitchFamily="18" charset="0"/>
          </a:endParaRPr>
        </a:p>
      </dsp:txBody>
      <dsp:txXfrm>
        <a:off x="2000863" y="1005713"/>
        <a:ext cx="7175599" cy="1542535"/>
      </dsp:txXfrm>
    </dsp:sp>
    <dsp:sp modelId="{41F41CFF-0BF8-7341-8CDC-6910C04F4C9C}">
      <dsp:nvSpPr>
        <dsp:cNvPr id="9" name="矩形 8"/>
        <dsp:cNvSpPr/>
      </dsp:nvSpPr>
      <dsp:spPr bwMode="white">
        <a:xfrm>
          <a:off x="2020345" y="2786986"/>
          <a:ext cx="7238845" cy="985740"/>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despite addressing online literature translation and dissemination, there's a notable absence of integration between translation theory and translation practices of online literature(</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万金</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2017;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阮诗芸</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2019;</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尹倩</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曾军</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2019). </a:t>
          </a:r>
          <a:endParaRPr lang="zh-CN" altLang="en-US" sz="1800" b="1" kern="100" dirty="0">
            <a:solidFill>
              <a:schemeClr val="tx1"/>
            </a:solidFill>
            <a:latin typeface="Times New Roman" panose="02020603050405020304" pitchFamily="18" charset="0"/>
            <a:ea typeface="宋体" pitchFamily="2" charset="-122"/>
            <a:cs typeface="Times New Roman" panose="02020603050405020304" pitchFamily="18" charset="0"/>
          </a:endParaRPr>
        </a:p>
      </dsp:txBody>
      <dsp:txXfrm>
        <a:off x="2020345" y="2786986"/>
        <a:ext cx="7238845" cy="985740"/>
      </dsp:txXfrm>
    </dsp:sp>
    <dsp:sp modelId="{4171B43F-64B1-D040-BE39-F8325D42D918}">
      <dsp:nvSpPr>
        <dsp:cNvPr id="11" name="矩形 10"/>
        <dsp:cNvSpPr/>
      </dsp:nvSpPr>
      <dsp:spPr bwMode="white">
        <a:xfrm>
          <a:off x="1965659" y="4064690"/>
          <a:ext cx="7269952" cy="800932"/>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delve into translation and dissemination from a translation study perspective, conducting either broad or detailed analyses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林玲</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2018;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马孝幸</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赵梦源</a:t>
          </a:r>
          <a:r>
            <a:rPr lang="en-US" alt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2020; </a:t>
          </a:r>
          <a:r>
            <a:rPr lang="en-US" sz="1800" b="1" kern="100" dirty="0" err="1">
              <a:solidFill>
                <a:schemeClr val="tx1"/>
              </a:solidFill>
              <a:latin typeface="Times New Roman" panose="02020603050405020304" pitchFamily="18" charset="0"/>
              <a:ea typeface="宋体" pitchFamily="2" charset="-122"/>
              <a:cs typeface="Times New Roman" panose="02020603050405020304" pitchFamily="18" charset="0"/>
            </a:rPr>
            <a:t>张莹莹</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2020;</a:t>
          </a:r>
          <a:r>
            <a:rPr lang="zh-CN" sz="1800" b="1" kern="100" dirty="0">
              <a:solidFill>
                <a:schemeClr val="tx1"/>
              </a:solidFill>
              <a:latin typeface="Times New Roman" panose="02020603050405020304" pitchFamily="18" charset="0"/>
              <a:ea typeface="宋体" pitchFamily="2" charset="-122"/>
              <a:cs typeface="Times New Roman" panose="02020603050405020304" pitchFamily="18" charset="0"/>
            </a:rPr>
            <a:t>张雅雯</a:t>
          </a:r>
          <a:r>
            <a:rPr lang="en-US" sz="1800" b="1" kern="100" dirty="0">
              <a:solidFill>
                <a:schemeClr val="tx1"/>
              </a:solidFill>
              <a:latin typeface="Times New Roman" panose="02020603050405020304" pitchFamily="18" charset="0"/>
              <a:ea typeface="宋体" pitchFamily="2" charset="-122"/>
              <a:cs typeface="Times New Roman" panose="02020603050405020304" pitchFamily="18" charset="0"/>
            </a:rPr>
            <a:t>, 2024)</a:t>
          </a:r>
          <a:endParaRPr lang="zh-CN" altLang="en-US" sz="1800" b="1" kern="100" dirty="0">
            <a:solidFill>
              <a:schemeClr val="tx1"/>
            </a:solidFill>
            <a:latin typeface="Times New Roman" panose="02020603050405020304" pitchFamily="18" charset="0"/>
            <a:ea typeface="宋体" pitchFamily="2" charset="-122"/>
            <a:cs typeface="Times New Roman" panose="02020603050405020304" pitchFamily="18" charset="0"/>
          </a:endParaRPr>
        </a:p>
      </dsp:txBody>
      <dsp:txXfrm>
        <a:off x="1965659" y="4064690"/>
        <a:ext cx="7269952" cy="800932"/>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875521" cy="4929052"/>
        <a:chOff x="0" y="0"/>
        <a:chExt cx="9875521" cy="4929052"/>
      </a:xfrm>
    </dsp:grpSpPr>
    <dsp:sp modelId="{AB495BDD-0E8F-4579-AE89-997FDF308A2D}">
      <dsp:nvSpPr>
        <dsp:cNvPr id="4" name="任意多边形 3"/>
        <dsp:cNvSpPr/>
      </dsp:nvSpPr>
      <dsp:spPr bwMode="white">
        <a:xfrm>
          <a:off x="1890967" y="979708"/>
          <a:ext cx="284394" cy="1277769"/>
        </a:xfrm>
        <a:custGeom>
          <a:avLst/>
          <a:gdLst/>
          <a:ahLst/>
          <a:cxnLst/>
          <a:pathLst>
            <a:path w="448" h="2012">
              <a:moveTo>
                <a:pt x="0" y="2012"/>
              </a:moveTo>
              <a:lnTo>
                <a:pt x="224" y="2012"/>
              </a:lnTo>
              <a:lnTo>
                <a:pt x="224" y="0"/>
              </a:lnTo>
              <a:lnTo>
                <a:pt x="448" y="0"/>
              </a:lnTo>
            </a:path>
          </a:pathLst>
        </a:custGeom>
      </dsp:spPr>
      <dsp:style>
        <a:lnRef idx="2">
          <a:schemeClr val="dk2">
            <a:shade val="6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solidFill>
              <a:schemeClr val="tx1"/>
            </a:solidFill>
            <a:latin typeface="Calibri" pitchFamily="34" charset="0"/>
            <a:ea typeface="楷体" panose="02010609060101010101" pitchFamily="49" charset="-122"/>
            <a:cs typeface="Calibri" pitchFamily="34" charset="0"/>
          </a:endParaRPr>
        </a:p>
      </dsp:txBody>
      <dsp:txXfrm>
        <a:off x="1890967" y="979708"/>
        <a:ext cx="284394" cy="1277769"/>
      </dsp:txXfrm>
    </dsp:sp>
    <dsp:sp modelId="{35AC7433-9A47-4E5D-83B8-B6BFBC3BECEA}">
      <dsp:nvSpPr>
        <dsp:cNvPr id="6" name="任意多边形 5"/>
        <dsp:cNvSpPr/>
      </dsp:nvSpPr>
      <dsp:spPr bwMode="white">
        <a:xfrm>
          <a:off x="3480627" y="466056"/>
          <a:ext cx="215512" cy="513652"/>
        </a:xfrm>
        <a:custGeom>
          <a:avLst/>
          <a:gdLst/>
          <a:ahLst/>
          <a:cxnLst/>
          <a:pathLst>
            <a:path w="339" h="809">
              <a:moveTo>
                <a:pt x="0" y="809"/>
              </a:moveTo>
              <a:lnTo>
                <a:pt x="170" y="809"/>
              </a:lnTo>
              <a:lnTo>
                <a:pt x="170" y="0"/>
              </a:lnTo>
              <a:lnTo>
                <a:pt x="339" y="0"/>
              </a:lnTo>
            </a:path>
          </a:pathLst>
        </a:custGeom>
      </dsp:spPr>
      <dsp:style>
        <a:lnRef idx="2">
          <a:schemeClr val="dk2">
            <a:shade val="8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solidFill>
              <a:schemeClr val="tx1"/>
            </a:solidFill>
            <a:latin typeface="Calibri" pitchFamily="34" charset="0"/>
            <a:ea typeface="楷体" panose="02010609060101010101" pitchFamily="49" charset="-122"/>
            <a:cs typeface="Calibri" pitchFamily="34" charset="0"/>
          </a:endParaRPr>
        </a:p>
      </dsp:txBody>
      <dsp:txXfrm>
        <a:off x="3480627" y="466056"/>
        <a:ext cx="215512" cy="513652"/>
      </dsp:txXfrm>
    </dsp:sp>
    <dsp:sp modelId="{520498D7-2AF0-4EAC-80EF-6CD102528F8B}">
      <dsp:nvSpPr>
        <dsp:cNvPr id="8" name="任意多边形 7"/>
        <dsp:cNvSpPr/>
      </dsp:nvSpPr>
      <dsp:spPr bwMode="white">
        <a:xfrm>
          <a:off x="3480627" y="979708"/>
          <a:ext cx="374765" cy="590738"/>
        </a:xfrm>
        <a:custGeom>
          <a:avLst/>
          <a:gdLst/>
          <a:ahLst/>
          <a:cxnLst/>
          <a:pathLst>
            <a:path w="590" h="930">
              <a:moveTo>
                <a:pt x="0" y="0"/>
              </a:moveTo>
              <a:lnTo>
                <a:pt x="295" y="0"/>
              </a:lnTo>
              <a:lnTo>
                <a:pt x="295" y="930"/>
              </a:lnTo>
              <a:lnTo>
                <a:pt x="590" y="930"/>
              </a:lnTo>
            </a:path>
          </a:pathLst>
        </a:custGeom>
      </dsp:spPr>
      <dsp:style>
        <a:lnRef idx="2">
          <a:schemeClr val="dk2">
            <a:shade val="8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solidFill>
              <a:schemeClr val="tx1"/>
            </a:solidFill>
            <a:latin typeface="Calibri" pitchFamily="34" charset="0"/>
            <a:ea typeface="楷体" panose="02010609060101010101" pitchFamily="49" charset="-122"/>
            <a:cs typeface="Calibri" pitchFamily="34" charset="0"/>
          </a:endParaRPr>
        </a:p>
      </dsp:txBody>
      <dsp:txXfrm>
        <a:off x="3480627" y="979708"/>
        <a:ext cx="374765" cy="590738"/>
      </dsp:txXfrm>
    </dsp:sp>
    <dsp:sp modelId="{0211911A-E4BD-46D6-BF8D-4BF454E2D22B}">
      <dsp:nvSpPr>
        <dsp:cNvPr id="10" name="任意多边形 9"/>
        <dsp:cNvSpPr/>
      </dsp:nvSpPr>
      <dsp:spPr bwMode="white">
        <a:xfrm>
          <a:off x="1890967" y="2257477"/>
          <a:ext cx="312309" cy="1245807"/>
        </a:xfrm>
        <a:custGeom>
          <a:avLst/>
          <a:gdLst/>
          <a:ahLst/>
          <a:cxnLst/>
          <a:pathLst>
            <a:path w="492" h="1962">
              <a:moveTo>
                <a:pt x="0" y="0"/>
              </a:moveTo>
              <a:lnTo>
                <a:pt x="246" y="0"/>
              </a:lnTo>
              <a:lnTo>
                <a:pt x="246" y="1962"/>
              </a:lnTo>
              <a:lnTo>
                <a:pt x="492" y="1962"/>
              </a:lnTo>
            </a:path>
          </a:pathLst>
        </a:custGeom>
      </dsp:spPr>
      <dsp:style>
        <a:lnRef idx="2">
          <a:schemeClr val="dk2">
            <a:shade val="6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solidFill>
              <a:schemeClr val="tx1"/>
            </a:solidFill>
            <a:latin typeface="Calibri" pitchFamily="34" charset="0"/>
            <a:ea typeface="楷体" panose="02010609060101010101" pitchFamily="49" charset="-122"/>
            <a:cs typeface="Calibri" pitchFamily="34" charset="0"/>
          </a:endParaRPr>
        </a:p>
      </dsp:txBody>
      <dsp:txXfrm>
        <a:off x="1890967" y="2257477"/>
        <a:ext cx="312309" cy="1245807"/>
      </dsp:txXfrm>
    </dsp:sp>
    <dsp:sp modelId="{14D50039-5464-49BE-B322-E777C9A88789}">
      <dsp:nvSpPr>
        <dsp:cNvPr id="12" name="任意多边形 11"/>
        <dsp:cNvSpPr/>
      </dsp:nvSpPr>
      <dsp:spPr bwMode="white">
        <a:xfrm>
          <a:off x="3613002" y="2881798"/>
          <a:ext cx="680878" cy="621486"/>
        </a:xfrm>
        <a:custGeom>
          <a:avLst/>
          <a:gdLst/>
          <a:ahLst/>
          <a:cxnLst/>
          <a:pathLst>
            <a:path w="1072" h="979">
              <a:moveTo>
                <a:pt x="0" y="979"/>
              </a:moveTo>
              <a:lnTo>
                <a:pt x="536" y="979"/>
              </a:lnTo>
              <a:lnTo>
                <a:pt x="536" y="0"/>
              </a:lnTo>
              <a:lnTo>
                <a:pt x="1072" y="0"/>
              </a:lnTo>
            </a:path>
          </a:pathLst>
        </a:custGeom>
      </dsp:spPr>
      <dsp:style>
        <a:lnRef idx="2">
          <a:schemeClr val="dk2">
            <a:shade val="8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solidFill>
              <a:schemeClr val="tx1"/>
            </a:solidFill>
            <a:latin typeface="Calibri" pitchFamily="34" charset="0"/>
            <a:ea typeface="楷体" panose="02010609060101010101" pitchFamily="49" charset="-122"/>
            <a:cs typeface="Calibri" pitchFamily="34" charset="0"/>
          </a:endParaRPr>
        </a:p>
      </dsp:txBody>
      <dsp:txXfrm>
        <a:off x="3613002" y="2881798"/>
        <a:ext cx="680878" cy="621486"/>
      </dsp:txXfrm>
    </dsp:sp>
    <dsp:sp modelId="{641DA961-29AB-4F0A-AEED-A05AFF4E50C0}">
      <dsp:nvSpPr>
        <dsp:cNvPr id="14" name="任意多边形 13"/>
        <dsp:cNvSpPr/>
      </dsp:nvSpPr>
      <dsp:spPr bwMode="white">
        <a:xfrm>
          <a:off x="3613002" y="3503284"/>
          <a:ext cx="393683" cy="539646"/>
        </a:xfrm>
        <a:custGeom>
          <a:avLst/>
          <a:gdLst/>
          <a:ahLst/>
          <a:cxnLst/>
          <a:pathLst>
            <a:path w="620" h="850">
              <a:moveTo>
                <a:pt x="0" y="0"/>
              </a:moveTo>
              <a:lnTo>
                <a:pt x="310" y="0"/>
              </a:lnTo>
              <a:lnTo>
                <a:pt x="310" y="850"/>
              </a:lnTo>
              <a:lnTo>
                <a:pt x="620" y="850"/>
              </a:lnTo>
            </a:path>
          </a:pathLst>
        </a:custGeom>
      </dsp:spPr>
      <dsp:style>
        <a:lnRef idx="2">
          <a:schemeClr val="dk2">
            <a:shade val="8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solidFill>
              <a:schemeClr val="tx1"/>
            </a:solidFill>
            <a:latin typeface="Calibri" pitchFamily="34" charset="0"/>
            <a:ea typeface="楷体" panose="02010609060101010101" pitchFamily="49" charset="-122"/>
            <a:cs typeface="Calibri" pitchFamily="34" charset="0"/>
          </a:endParaRPr>
        </a:p>
      </dsp:txBody>
      <dsp:txXfrm>
        <a:off x="3613002" y="3503284"/>
        <a:ext cx="393683" cy="539646"/>
      </dsp:txXfrm>
    </dsp:sp>
    <dsp:sp modelId="{E3A22DDB-CC73-43F5-99AA-2B554F3DF815}">
      <dsp:nvSpPr>
        <dsp:cNvPr id="3" name="矩形 2"/>
        <dsp:cNvSpPr/>
      </dsp:nvSpPr>
      <dsp:spPr bwMode="white">
        <a:xfrm rot="21600000">
          <a:off x="103118" y="1311993"/>
          <a:ext cx="1684731" cy="1890967"/>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b="1" kern="100" dirty="0">
              <a:solidFill>
                <a:srgbClr val="000000"/>
              </a:solidFill>
              <a:latin typeface="Times New Roman" panose="02020603050405020304" pitchFamily="18" charset="0"/>
              <a:ea typeface="宋体" pitchFamily="2" charset="-122"/>
              <a:cs typeface="Times New Roman" panose="02020603050405020304" pitchFamily="18" charset="0"/>
            </a:rPr>
            <a:t>Previous Studies on Actor-Network Theory in Translation</a:t>
          </a:r>
          <a:endParaRPr lang="zh-CN" altLang="en-US" sz="20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sp:txBody>
      <dsp:txXfrm rot="21600000">
        <a:off x="103118" y="1311993"/>
        <a:ext cx="1684731" cy="1890967"/>
      </dsp:txXfrm>
    </dsp:sp>
    <dsp:sp modelId="{416064F3-852F-470B-85A9-3C2B722FFBC3}">
      <dsp:nvSpPr>
        <dsp:cNvPr id="5" name="矩形 4"/>
        <dsp:cNvSpPr/>
      </dsp:nvSpPr>
      <dsp:spPr bwMode="white">
        <a:xfrm>
          <a:off x="2175361" y="365181"/>
          <a:ext cx="1305266" cy="1229055"/>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Theoretical Integration of ANT in Translation Studies </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sp:txBody>
      <dsp:txXfrm>
        <a:off x="2175361" y="365181"/>
        <a:ext cx="1305266" cy="1229055"/>
      </dsp:txXfrm>
    </dsp:sp>
    <dsp:sp modelId="{C5BFA852-FD27-42CF-958C-A1AB70348AEE}">
      <dsp:nvSpPr>
        <dsp:cNvPr id="7" name="矩形 6"/>
        <dsp:cNvSpPr/>
      </dsp:nvSpPr>
      <dsp:spPr bwMode="white">
        <a:xfrm>
          <a:off x="3696139" y="0"/>
          <a:ext cx="5745985" cy="932112"/>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en-US" sz="1800" b="1" kern="100" dirty="0" err="1">
              <a:solidFill>
                <a:srgbClr val="000000"/>
              </a:solidFill>
              <a:latin typeface="Times New Roman" panose="02020603050405020304" pitchFamily="18" charset="0"/>
              <a:ea typeface="宋体" pitchFamily="2" charset="-122"/>
              <a:cs typeface="Times New Roman" panose="02020603050405020304" pitchFamily="18" charset="0"/>
            </a:rPr>
            <a:t>Buzelin</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(2005), Chesterman(2006,2012), </a:t>
          </a:r>
          <a:r>
            <a:rPr lang="en-US" sz="1800" b="1" kern="100" dirty="0" err="1">
              <a:solidFill>
                <a:srgbClr val="000000"/>
              </a:solidFill>
              <a:latin typeface="Times New Roman" panose="02020603050405020304" pitchFamily="18" charset="0"/>
              <a:ea typeface="宋体" pitchFamily="2" charset="-122"/>
              <a:cs typeface="Times New Roman" panose="02020603050405020304" pitchFamily="18" charset="0"/>
            </a:rPr>
            <a:t>Tyulenev</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(2014), Marais (2014) , etc.</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sp:txBody>
      <dsp:txXfrm>
        <a:off x="3696139" y="0"/>
        <a:ext cx="5745985" cy="932112"/>
      </dsp:txXfrm>
    </dsp:sp>
    <dsp:sp modelId="{1066FE95-D40B-4B19-A2F8-33BC1AEB667B}">
      <dsp:nvSpPr>
        <dsp:cNvPr id="9" name="矩形 8"/>
        <dsp:cNvSpPr/>
      </dsp:nvSpPr>
      <dsp:spPr bwMode="white">
        <a:xfrm>
          <a:off x="3855391" y="1280510"/>
          <a:ext cx="6020130" cy="579874"/>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黄德先</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2006);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邢杰等</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2019);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骆雯雁</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(2022);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王岫庐</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2019)</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；郑剑委</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2021)</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sp:txBody>
      <dsp:txXfrm>
        <a:off x="3855391" y="1280510"/>
        <a:ext cx="6020130" cy="579874"/>
      </dsp:txXfrm>
    </dsp:sp>
    <dsp:sp modelId="{9F74AD6C-F48F-4FE4-9561-21A96E4D512B}">
      <dsp:nvSpPr>
        <dsp:cNvPr id="11" name="矩形 10"/>
        <dsp:cNvSpPr/>
      </dsp:nvSpPr>
      <dsp:spPr bwMode="white">
        <a:xfrm>
          <a:off x="2203276" y="2989449"/>
          <a:ext cx="1409726" cy="1027670"/>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Application of ANT in Translation Case Studies</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sp:txBody>
      <dsp:txXfrm>
        <a:off x="2203276" y="2989449"/>
        <a:ext cx="1409726" cy="1027670"/>
      </dsp:txXfrm>
    </dsp:sp>
    <dsp:sp modelId="{B5AEA0BC-89C7-467B-8C76-AF9B4740A5B2}">
      <dsp:nvSpPr>
        <dsp:cNvPr id="13" name="矩形 12"/>
        <dsp:cNvSpPr/>
      </dsp:nvSpPr>
      <dsp:spPr bwMode="white">
        <a:xfrm>
          <a:off x="4293880" y="2447929"/>
          <a:ext cx="4566256" cy="867738"/>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en-US" sz="1800" b="1" kern="100" dirty="0" err="1">
              <a:solidFill>
                <a:srgbClr val="000000"/>
              </a:solidFill>
              <a:latin typeface="Times New Roman" panose="02020603050405020304" pitchFamily="18" charset="0"/>
              <a:ea typeface="宋体" pitchFamily="2" charset="-122"/>
              <a:cs typeface="Times New Roman" panose="02020603050405020304" pitchFamily="18" charset="0"/>
            </a:rPr>
            <a:t>Buzelin</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(2007), Abdallah(2011), </a:t>
          </a:r>
          <a:r>
            <a:rPr lang="en-US" sz="1800" b="1" kern="100" dirty="0" err="1">
              <a:solidFill>
                <a:srgbClr val="000000"/>
              </a:solidFill>
              <a:latin typeface="Times New Roman" panose="02020603050405020304" pitchFamily="18" charset="0"/>
              <a:ea typeface="宋体" pitchFamily="2" charset="-122"/>
              <a:cs typeface="Times New Roman" panose="02020603050405020304" pitchFamily="18" charset="0"/>
            </a:rPr>
            <a:t>Bogic</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(2010), Munday(2016), Luo and Zheng (2017), Stalling and Schleifer (2020)</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sp:txBody>
      <dsp:txXfrm>
        <a:off x="4293880" y="2447929"/>
        <a:ext cx="4566256" cy="867738"/>
      </dsp:txXfrm>
    </dsp:sp>
    <dsp:sp modelId="{DF5DD027-2F47-45BA-B79C-0E6A1DD3273F}">
      <dsp:nvSpPr>
        <dsp:cNvPr id="15" name="矩形 14"/>
        <dsp:cNvSpPr/>
      </dsp:nvSpPr>
      <dsp:spPr bwMode="white">
        <a:xfrm>
          <a:off x="4006685" y="3629094"/>
          <a:ext cx="5056604" cy="827671"/>
        </a:xfrm>
        <a:prstGeom prst="rect">
          <a:avLst/>
        </a:prstGeom>
      </dsp:spPr>
      <dsp:style>
        <a:lnRef idx="0">
          <a:schemeClr val="dk2">
            <a:shade val="80000"/>
          </a:schemeClr>
        </a:lnRef>
        <a:fillRef idx="3">
          <a:schemeClr val="lt1"/>
        </a:fillRef>
        <a:effectRef idx="3">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岑群霞</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2016);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张莹</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2019);</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汪宝荣</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2020);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刘毅</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2021);</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仲文明</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王亚旭</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2022);</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邢杰等</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 (2023); </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詹成</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张晗</a:t>
          </a: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1800" b="1" kern="100" dirty="0">
              <a:solidFill>
                <a:srgbClr val="000000"/>
              </a:solidFill>
              <a:latin typeface="Times New Roman" panose="02020603050405020304" pitchFamily="18" charset="0"/>
              <a:ea typeface="宋体" pitchFamily="2" charset="-122"/>
              <a:cs typeface="Times New Roman" panose="02020603050405020304" pitchFamily="18" charset="0"/>
            </a:rPr>
            <a:t>2023)</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dsp:txBody>
      <dsp:txXfrm>
        <a:off x="4006685" y="3629094"/>
        <a:ext cx="5056604" cy="827671"/>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217920" cy="2298843"/>
        <a:chOff x="0" y="0"/>
        <a:chExt cx="6217920" cy="2298843"/>
      </a:xfrm>
    </dsp:grpSpPr>
    <dsp:sp modelId="{823BE932-99AB-3045-8301-9D4FB825084D}">
      <dsp:nvSpPr>
        <dsp:cNvPr id="5" name="任意多边形 4"/>
        <dsp:cNvSpPr/>
      </dsp:nvSpPr>
      <dsp:spPr bwMode="white">
        <a:xfrm>
          <a:off x="1240929" y="875713"/>
          <a:ext cx="1791416" cy="401464"/>
        </a:xfrm>
        <a:custGeom>
          <a:avLst/>
          <a:gdLst/>
          <a:ahLst/>
          <a:cxnLst/>
          <a:pathLst>
            <a:path w="2821" h="632">
              <a:moveTo>
                <a:pt x="2821" y="0"/>
              </a:moveTo>
              <a:lnTo>
                <a:pt x="2821" y="377"/>
              </a:lnTo>
              <a:lnTo>
                <a:pt x="0" y="377"/>
              </a:lnTo>
              <a:lnTo>
                <a:pt x="0" y="632"/>
              </a:lnTo>
            </a:path>
          </a:pathLst>
        </a:custGeom>
      </dsp:spPr>
      <dsp:style>
        <a:lnRef idx="2">
          <a:schemeClr val="dk2">
            <a:shade val="60000"/>
          </a:schemeClr>
        </a:lnRef>
        <a:fillRef idx="0">
          <a:schemeClr val="dk2"/>
        </a:fillRef>
        <a:effectRef idx="0">
          <a:scrgbClr r="0" g="0" b="0"/>
        </a:effectRef>
        <a:fontRef idx="minor"/>
      </dsp:style>
      <dsp:txXfrm>
        <a:off x="1240929" y="875713"/>
        <a:ext cx="1791416" cy="401464"/>
      </dsp:txXfrm>
    </dsp:sp>
    <dsp:sp modelId="{C3BADF05-1B07-9B46-872C-C9F7839D39B0}">
      <dsp:nvSpPr>
        <dsp:cNvPr id="8" name="任意多边形 7"/>
        <dsp:cNvSpPr/>
      </dsp:nvSpPr>
      <dsp:spPr bwMode="white">
        <a:xfrm>
          <a:off x="2926466" y="875713"/>
          <a:ext cx="105879" cy="401464"/>
        </a:xfrm>
        <a:custGeom>
          <a:avLst/>
          <a:gdLst/>
          <a:ahLst/>
          <a:cxnLst/>
          <a:pathLst>
            <a:path w="167" h="632">
              <a:moveTo>
                <a:pt x="167" y="0"/>
              </a:moveTo>
              <a:lnTo>
                <a:pt x="167" y="377"/>
              </a:lnTo>
              <a:lnTo>
                <a:pt x="0" y="377"/>
              </a:lnTo>
              <a:lnTo>
                <a:pt x="0" y="632"/>
              </a:lnTo>
            </a:path>
          </a:pathLst>
        </a:custGeom>
      </dsp:spPr>
      <dsp:style>
        <a:lnRef idx="2">
          <a:schemeClr val="dk2">
            <a:shade val="60000"/>
          </a:schemeClr>
        </a:lnRef>
        <a:fillRef idx="0">
          <a:schemeClr val="dk2"/>
        </a:fillRef>
        <a:effectRef idx="0">
          <a:scrgbClr r="0" g="0" b="0"/>
        </a:effectRef>
        <a:fontRef idx="minor"/>
      </dsp:style>
      <dsp:txXfrm>
        <a:off x="2926466" y="875713"/>
        <a:ext cx="105879" cy="401464"/>
      </dsp:txXfrm>
    </dsp:sp>
    <dsp:sp modelId="{D49F0354-C28D-8E46-9200-2BB1D79BC8BA}">
      <dsp:nvSpPr>
        <dsp:cNvPr id="11" name="任意多边形 10"/>
        <dsp:cNvSpPr/>
      </dsp:nvSpPr>
      <dsp:spPr bwMode="white">
        <a:xfrm>
          <a:off x="3032345" y="875713"/>
          <a:ext cx="1685537" cy="401081"/>
        </a:xfrm>
        <a:custGeom>
          <a:avLst/>
          <a:gdLst/>
          <a:ahLst/>
          <a:cxnLst/>
          <a:pathLst>
            <a:path w="2654" h="632">
              <a:moveTo>
                <a:pt x="0" y="0"/>
              </a:moveTo>
              <a:lnTo>
                <a:pt x="0" y="377"/>
              </a:lnTo>
              <a:lnTo>
                <a:pt x="2654" y="377"/>
              </a:lnTo>
              <a:lnTo>
                <a:pt x="2654" y="632"/>
              </a:lnTo>
            </a:path>
          </a:pathLst>
        </a:custGeom>
      </dsp:spPr>
      <dsp:style>
        <a:lnRef idx="2">
          <a:schemeClr val="dk2">
            <a:shade val="60000"/>
          </a:schemeClr>
        </a:lnRef>
        <a:fillRef idx="0">
          <a:schemeClr val="dk2"/>
        </a:fillRef>
        <a:effectRef idx="0">
          <a:scrgbClr r="0" g="0" b="0"/>
        </a:effectRef>
        <a:fontRef idx="minor"/>
      </dsp:style>
      <dsp:txXfrm>
        <a:off x="3032345" y="875713"/>
        <a:ext cx="1685537" cy="401081"/>
      </dsp:txXfrm>
    </dsp:sp>
    <dsp:sp modelId="{1A4BC2F7-CD81-2D44-B03A-56874487ADE5}">
      <dsp:nvSpPr>
        <dsp:cNvPr id="3" name="圆角矩形 2"/>
        <dsp:cNvSpPr/>
      </dsp:nvSpPr>
      <dsp:spPr bwMode="white">
        <a:xfrm>
          <a:off x="1489841" y="0"/>
          <a:ext cx="3085007" cy="875713"/>
        </a:xfrm>
        <a:prstGeom prst="roundRect">
          <a:avLst>
            <a:gd name="adj" fmla="val 10000"/>
          </a:avLst>
        </a:prstGeom>
      </dsp:spPr>
      <dsp:style>
        <a:lnRef idx="0">
          <a:schemeClr val="dk2">
            <a:shade val="80000"/>
          </a:schemeClr>
        </a:lnRef>
        <a:fillRef idx="3">
          <a:schemeClr val="lt1"/>
        </a:fillRef>
        <a:effectRef idx="3">
          <a:scrgbClr r="0" g="0" b="0"/>
        </a:effectRef>
        <a:fontRef idx="minor">
          <a:schemeClr val="lt1"/>
        </a:fontRef>
      </dsp:style>
      <dsp:txXfrm>
        <a:off x="1489841" y="0"/>
        <a:ext cx="3085007" cy="875713"/>
      </dsp:txXfrm>
    </dsp:sp>
    <dsp:sp modelId="{FB1C1EBB-7C0A-8341-A12C-49985F6F3BB0}">
      <dsp:nvSpPr>
        <dsp:cNvPr id="4" name="圆角矩形 3"/>
        <dsp:cNvSpPr/>
      </dsp:nvSpPr>
      <dsp:spPr bwMode="white">
        <a:xfrm>
          <a:off x="1643072" y="145569"/>
          <a:ext cx="3085007" cy="875713"/>
        </a:xfrm>
        <a:prstGeom prst="roundRect">
          <a:avLst>
            <a:gd name="adj" fmla="val 10000"/>
          </a:avLst>
        </a:prstGeom>
      </dsp:spPr>
      <dsp:style>
        <a:lnRef idx="1">
          <a:schemeClr val="dk2"/>
        </a:lnRef>
        <a:fillRef idx="1">
          <a:schemeClr val="dk2">
            <a:alpha val="90000"/>
            <a:tint val="40000"/>
          </a:schemeClr>
        </a:fillRef>
        <a:effectRef idx="2">
          <a:scrgbClr r="0" g="0" b="0"/>
        </a:effectRef>
        <a:fontRef idx="minor"/>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000" b="1" dirty="0">
              <a:solidFill>
                <a:schemeClr val="dk2"/>
              </a:solidFill>
              <a:latin typeface="Times New Roman" panose="02020603050405020304" pitchFamily="18" charset="0"/>
              <a:ea typeface="楷体" panose="02010609060101010101" pitchFamily="49" charset="-122"/>
              <a:cs typeface="Times New Roman" panose="02020603050405020304" pitchFamily="18" charset="0"/>
            </a:rPr>
            <a:t>Actor-network Theory</a:t>
          </a:r>
          <a:endParaRPr lang="zh-CN" altLang="en-US" sz="2000" b="1" dirty="0">
            <a:solidFill>
              <a:schemeClr val="dk2"/>
            </a:solidFill>
            <a:latin typeface="Times New Roman" panose="02020603050405020304" pitchFamily="18" charset="0"/>
            <a:ea typeface="楷体" panose="02010609060101010101" pitchFamily="49" charset="-122"/>
            <a:cs typeface="Times New Roman" panose="02020603050405020304" pitchFamily="18" charset="0"/>
          </a:endParaRPr>
        </a:p>
      </dsp:txBody>
      <dsp:txXfrm>
        <a:off x="1643072" y="145569"/>
        <a:ext cx="3085007" cy="875713"/>
      </dsp:txXfrm>
    </dsp:sp>
    <dsp:sp modelId="{2F3C6B74-EEBD-1B4C-B582-9A55981E1A57}">
      <dsp:nvSpPr>
        <dsp:cNvPr id="6" name="圆角矩形 5"/>
        <dsp:cNvSpPr/>
      </dsp:nvSpPr>
      <dsp:spPr bwMode="white">
        <a:xfrm>
          <a:off x="551391" y="1277178"/>
          <a:ext cx="1379076" cy="875713"/>
        </a:xfrm>
        <a:prstGeom prst="roundRect">
          <a:avLst>
            <a:gd name="adj" fmla="val 10000"/>
          </a:avLst>
        </a:prstGeom>
      </dsp:spPr>
      <dsp:style>
        <a:lnRef idx="0">
          <a:schemeClr val="dk2">
            <a:shade val="80000"/>
          </a:schemeClr>
        </a:lnRef>
        <a:fillRef idx="3">
          <a:schemeClr val="lt1"/>
        </a:fillRef>
        <a:effectRef idx="3">
          <a:scrgbClr r="0" g="0" b="0"/>
        </a:effectRef>
        <a:fontRef idx="minor">
          <a:schemeClr val="lt1"/>
        </a:fontRef>
      </dsp:style>
      <dsp:txXfrm>
        <a:off x="551391" y="1277178"/>
        <a:ext cx="1379076" cy="875713"/>
      </dsp:txXfrm>
    </dsp:sp>
    <dsp:sp modelId="{3C229579-093D-7046-931C-2AB220C36AFE}">
      <dsp:nvSpPr>
        <dsp:cNvPr id="7" name="圆角矩形 6"/>
        <dsp:cNvSpPr/>
      </dsp:nvSpPr>
      <dsp:spPr bwMode="white">
        <a:xfrm>
          <a:off x="704622" y="1422747"/>
          <a:ext cx="1379076" cy="875713"/>
        </a:xfrm>
        <a:prstGeom prst="roundRect">
          <a:avLst>
            <a:gd name="adj" fmla="val 10000"/>
          </a:avLst>
        </a:prstGeom>
      </dsp:spPr>
      <dsp:style>
        <a:lnRef idx="1">
          <a:schemeClr val="dk2"/>
        </a:lnRef>
        <a:fillRef idx="1">
          <a:schemeClr val="dk2">
            <a:alpha val="90000"/>
            <a:tint val="4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en-US" altLang="zh-CN" sz="1800" b="0" dirty="0">
              <a:solidFill>
                <a:schemeClr val="dk2"/>
              </a:solidFill>
              <a:latin typeface="Times New Roman" panose="02020603050405020304" pitchFamily="18" charset="0"/>
              <a:ea typeface="楷体" panose="02010609060101010101" pitchFamily="49" charset="-122"/>
              <a:cs typeface="Times New Roman" panose="02020603050405020304" pitchFamily="18" charset="0"/>
            </a:rPr>
            <a:t>Actor</a:t>
          </a:r>
          <a:endParaRPr lang="zh-CN" altLang="en-US" sz="1800" b="0" dirty="0">
            <a:solidFill>
              <a:schemeClr val="dk2"/>
            </a:solidFill>
            <a:latin typeface="Times New Roman" panose="02020603050405020304" pitchFamily="18" charset="0"/>
            <a:ea typeface="楷体" panose="02010609060101010101" pitchFamily="49" charset="-122"/>
            <a:cs typeface="Times New Roman" panose="02020603050405020304" pitchFamily="18" charset="0"/>
          </a:endParaRPr>
        </a:p>
      </dsp:txBody>
      <dsp:txXfrm>
        <a:off x="704622" y="1422747"/>
        <a:ext cx="1379076" cy="875713"/>
      </dsp:txXfrm>
    </dsp:sp>
    <dsp:sp modelId="{1958B68A-5AEA-C043-BD3E-6988D87BBDE4}">
      <dsp:nvSpPr>
        <dsp:cNvPr id="9" name="圆角矩形 8"/>
        <dsp:cNvSpPr/>
      </dsp:nvSpPr>
      <dsp:spPr bwMode="white">
        <a:xfrm>
          <a:off x="2236928" y="1277178"/>
          <a:ext cx="1379076" cy="875713"/>
        </a:xfrm>
        <a:prstGeom prst="roundRect">
          <a:avLst>
            <a:gd name="adj" fmla="val 10000"/>
          </a:avLst>
        </a:prstGeom>
      </dsp:spPr>
      <dsp:style>
        <a:lnRef idx="0">
          <a:schemeClr val="dk2">
            <a:shade val="80000"/>
          </a:schemeClr>
        </a:lnRef>
        <a:fillRef idx="3">
          <a:schemeClr val="lt1"/>
        </a:fillRef>
        <a:effectRef idx="3">
          <a:scrgbClr r="0" g="0" b="0"/>
        </a:effectRef>
        <a:fontRef idx="minor">
          <a:schemeClr val="lt1"/>
        </a:fontRef>
      </dsp:style>
      <dsp:txXfrm>
        <a:off x="2236928" y="1277178"/>
        <a:ext cx="1379076" cy="875713"/>
      </dsp:txXfrm>
    </dsp:sp>
    <dsp:sp modelId="{697293B0-D6D4-D143-9FE5-FA9DD54AD88A}">
      <dsp:nvSpPr>
        <dsp:cNvPr id="10" name="圆角矩形 9"/>
        <dsp:cNvSpPr/>
      </dsp:nvSpPr>
      <dsp:spPr bwMode="white">
        <a:xfrm>
          <a:off x="2390159" y="1422747"/>
          <a:ext cx="1379076" cy="875713"/>
        </a:xfrm>
        <a:prstGeom prst="roundRect">
          <a:avLst>
            <a:gd name="adj" fmla="val 10000"/>
          </a:avLst>
        </a:prstGeom>
      </dsp:spPr>
      <dsp:style>
        <a:lnRef idx="1">
          <a:schemeClr val="dk2"/>
        </a:lnRef>
        <a:fillRef idx="1">
          <a:schemeClr val="dk2">
            <a:alpha val="90000"/>
            <a:tint val="4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en-US" altLang="zh-CN" sz="1800" dirty="0">
              <a:solidFill>
                <a:schemeClr val="dk2"/>
              </a:solidFill>
              <a:latin typeface="Times New Roman" panose="02020603050405020304" pitchFamily="18" charset="0"/>
              <a:ea typeface="楷体" panose="02010609060101010101" pitchFamily="49" charset="-122"/>
              <a:cs typeface="Times New Roman" panose="02020603050405020304" pitchFamily="18" charset="0"/>
            </a:rPr>
            <a:t>Network</a:t>
          </a:r>
          <a:endParaRPr lang="zh-CN" altLang="en-US" sz="1800" dirty="0">
            <a:solidFill>
              <a:schemeClr val="dk2"/>
            </a:solidFill>
            <a:latin typeface="Times New Roman" panose="02020603050405020304" pitchFamily="18" charset="0"/>
            <a:ea typeface="楷体" panose="02010609060101010101" pitchFamily="49" charset="-122"/>
            <a:cs typeface="Times New Roman" panose="02020603050405020304" pitchFamily="18" charset="0"/>
          </a:endParaRPr>
        </a:p>
      </dsp:txBody>
      <dsp:txXfrm>
        <a:off x="2390159" y="1422747"/>
        <a:ext cx="1379076" cy="875713"/>
      </dsp:txXfrm>
    </dsp:sp>
    <dsp:sp modelId="{04503DAD-B2FC-D240-872E-5071035AF603}">
      <dsp:nvSpPr>
        <dsp:cNvPr id="12" name="圆角矩形 11"/>
        <dsp:cNvSpPr/>
      </dsp:nvSpPr>
      <dsp:spPr bwMode="white">
        <a:xfrm>
          <a:off x="3922465" y="1276794"/>
          <a:ext cx="1590833" cy="875713"/>
        </a:xfrm>
        <a:prstGeom prst="roundRect">
          <a:avLst>
            <a:gd name="adj" fmla="val 10000"/>
          </a:avLst>
        </a:prstGeom>
      </dsp:spPr>
      <dsp:style>
        <a:lnRef idx="0">
          <a:schemeClr val="dk2">
            <a:shade val="80000"/>
          </a:schemeClr>
        </a:lnRef>
        <a:fillRef idx="3">
          <a:schemeClr val="lt1"/>
        </a:fillRef>
        <a:effectRef idx="3">
          <a:scrgbClr r="0" g="0" b="0"/>
        </a:effectRef>
        <a:fontRef idx="minor">
          <a:schemeClr val="lt1"/>
        </a:fontRef>
      </dsp:style>
      <dsp:txXfrm>
        <a:off x="3922465" y="1276794"/>
        <a:ext cx="1590833" cy="875713"/>
      </dsp:txXfrm>
    </dsp:sp>
    <dsp:sp modelId="{F96F901A-D814-4547-9567-D83F4AF9EDB6}">
      <dsp:nvSpPr>
        <dsp:cNvPr id="13" name="圆角矩形 12"/>
        <dsp:cNvSpPr/>
      </dsp:nvSpPr>
      <dsp:spPr bwMode="white">
        <a:xfrm>
          <a:off x="4075696" y="1422364"/>
          <a:ext cx="1590833" cy="875713"/>
        </a:xfrm>
        <a:prstGeom prst="roundRect">
          <a:avLst>
            <a:gd name="adj" fmla="val 10000"/>
          </a:avLst>
        </a:prstGeom>
      </dsp:spPr>
      <dsp:style>
        <a:lnRef idx="1">
          <a:schemeClr val="dk2"/>
        </a:lnRef>
        <a:fillRef idx="1">
          <a:schemeClr val="dk2">
            <a:alpha val="90000"/>
            <a:tint val="4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800" b="0" dirty="0">
              <a:solidFill>
                <a:schemeClr val="dk2"/>
              </a:solidFill>
              <a:latin typeface="Times New Roman" panose="02020603050405020304" pitchFamily="18" charset="0"/>
              <a:cs typeface="Times New Roman" panose="02020603050405020304" pitchFamily="18" charset="0"/>
            </a:rPr>
            <a:t>Translation</a:t>
          </a:r>
          <a:endParaRPr lang="zh-CN" altLang="en-US" sz="1800" b="0" dirty="0">
            <a:solidFill>
              <a:schemeClr val="dk2"/>
            </a:solidFill>
            <a:latin typeface="Times New Roman" panose="02020603050405020304" pitchFamily="18" charset="0"/>
            <a:cs typeface="Times New Roman" panose="02020603050405020304" pitchFamily="18" charset="0"/>
          </a:endParaRPr>
        </a:p>
      </dsp:txBody>
      <dsp:txXfrm>
        <a:off x="4075696" y="1422364"/>
        <a:ext cx="1590833" cy="875713"/>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type="rect" r:blip="" rot="270">
                  <dgm:adjLst/>
                </dgm:shape>
              </dgm:if>
              <dgm:else name="Name11">
                <dgm:shape xmlns:r="http://schemas.openxmlformats.org/officeDocument/2006/relationships" type="rect" r:blip="" rot="90">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type="rect" r:blip="" rot="270">
                  <dgm:adjLst/>
                </dgm:shape>
              </dgm:if>
              <dgm:else name="Name11">
                <dgm:shape xmlns:r="http://schemas.openxmlformats.org/officeDocument/2006/relationships" type="rect" r:blip="" rot="90">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CAC0297D-D677-4448-97E9-2F9F600EE185}"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eaLnBrk="1" hangingPunct="1">
              <a:buNone/>
            </a:pPr>
            <a:fld id="{9A0DB2DC-4C9A-4742-B13C-FB6460FD3503}" type="slidenum">
              <a:rPr lang="zh-CN" altLang="en-US" sz="1200"/>
            </a:fld>
            <a:endParaRPr lang="zh-CN" altLang="en-US" sz="120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idx="2"/>
          </p:nvPr>
        </p:nvSpPr>
        <p:spPr>
          <a:ln>
            <a:solidFill>
              <a:srgbClr val="000000">
                <a:alpha val="100000"/>
              </a:srgbClr>
            </a:solidFill>
            <a:miter lim="800000"/>
          </a:ln>
        </p:spPr>
      </p:sp>
      <p:sp>
        <p:nvSpPr>
          <p:cNvPr id="23554" name="文本占位符 2"/>
          <p:cNvSpPr>
            <a:spLocks noGrp="1"/>
          </p:cNvSpPr>
          <p:nvPr>
            <p:ph type="body" idx="3"/>
          </p:nvPr>
        </p:nvSpPr>
        <p:spPr>
          <a:noFill/>
          <a:ln>
            <a:noFill/>
          </a:ln>
        </p:spPr>
        <p:txBody>
          <a:bodyPr wrap="square" lIns="91440" tIns="45720" rIns="91440" bIns="45720" anchor="t" anchorCtr="0"/>
          <a:p>
            <a:pPr lvl="0" eaLnBrk="1" hangingPunct="1">
              <a:spcBef>
                <a:spcPct val="0"/>
              </a:spcBef>
            </a:pPr>
            <a:r>
              <a:rPr lang="zh-CN" altLang="en-US"/>
              <a:t>亮亮图文旗舰店</a:t>
            </a:r>
            <a:r>
              <a:rPr lang="en-US" altLang="zh-CN"/>
              <a:t>https://liangliangtuwen.tmall.com</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幻灯片图像占位符 1"/>
          <p:cNvSpPr>
            <a:spLocks noGrp="1" noRot="1" noChangeAspect="1" noTextEdit="1"/>
          </p:cNvSpPr>
          <p:nvPr>
            <p:ph type="sldImg"/>
          </p:nvPr>
        </p:nvSpPr>
        <p:spPr>
          <a:ln>
            <a:solidFill>
              <a:srgbClr val="000000">
                <a:alpha val="100000"/>
              </a:srgbClr>
            </a:solidFill>
            <a:miter lim="800000"/>
          </a:ln>
        </p:spPr>
      </p:sp>
      <p:sp>
        <p:nvSpPr>
          <p:cNvPr id="26626"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26627"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noRot="1" noChangeAspect="1" noTextEdit="1"/>
          </p:cNvSpPr>
          <p:nvPr>
            <p:ph type="sldImg"/>
          </p:nvPr>
        </p:nvSpPr>
        <p:spPr>
          <a:ln>
            <a:solidFill>
              <a:srgbClr val="000000">
                <a:alpha val="100000"/>
              </a:srgbClr>
            </a:solidFill>
            <a:miter lim="800000"/>
          </a:ln>
        </p:spPr>
      </p:sp>
      <p:sp>
        <p:nvSpPr>
          <p:cNvPr id="28674"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28675"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幻灯片图像占位符 1"/>
          <p:cNvSpPr>
            <a:spLocks noGrp="1" noRot="1" noChangeAspect="1" noTextEdit="1"/>
          </p:cNvSpPr>
          <p:nvPr>
            <p:ph type="sldImg"/>
          </p:nvPr>
        </p:nvSpPr>
        <p:spPr>
          <a:ln>
            <a:solidFill>
              <a:srgbClr val="000000">
                <a:alpha val="100000"/>
              </a:srgbClr>
            </a:solidFill>
            <a:miter lim="800000"/>
          </a:ln>
        </p:spPr>
      </p:sp>
      <p:sp>
        <p:nvSpPr>
          <p:cNvPr id="30722"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30723"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幻灯片图像占位符 1"/>
          <p:cNvSpPr>
            <a:spLocks noGrp="1" noRot="1" noChangeAspect="1" noTextEdit="1"/>
          </p:cNvSpPr>
          <p:nvPr>
            <p:ph type="sldImg"/>
          </p:nvPr>
        </p:nvSpPr>
        <p:spPr>
          <a:ln>
            <a:solidFill>
              <a:srgbClr val="000000">
                <a:alpha val="100000"/>
              </a:srgbClr>
            </a:solidFill>
            <a:miter lim="800000"/>
          </a:ln>
        </p:spPr>
      </p:sp>
      <p:sp>
        <p:nvSpPr>
          <p:cNvPr id="32770"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32771"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幻灯片图像占位符 1"/>
          <p:cNvSpPr>
            <a:spLocks noGrp="1" noRot="1" noChangeAspect="1" noTextEdit="1"/>
          </p:cNvSpPr>
          <p:nvPr>
            <p:ph type="sldImg"/>
          </p:nvPr>
        </p:nvSpPr>
        <p:spPr>
          <a:ln>
            <a:solidFill>
              <a:srgbClr val="000000">
                <a:alpha val="100000"/>
              </a:srgbClr>
            </a:solidFill>
            <a:miter lim="800000"/>
          </a:ln>
        </p:spPr>
      </p:sp>
      <p:sp>
        <p:nvSpPr>
          <p:cNvPr id="34818"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34819"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幻灯片图像占位符 1"/>
          <p:cNvSpPr>
            <a:spLocks noGrp="1" noRot="1" noChangeAspect="1" noTextEdit="1"/>
          </p:cNvSpPr>
          <p:nvPr>
            <p:ph type="sldImg"/>
          </p:nvPr>
        </p:nvSpPr>
        <p:spPr>
          <a:ln>
            <a:solidFill>
              <a:srgbClr val="000000">
                <a:alpha val="100000"/>
              </a:srgbClr>
            </a:solidFill>
            <a:miter lim="800000"/>
          </a:ln>
        </p:spPr>
      </p:sp>
      <p:sp>
        <p:nvSpPr>
          <p:cNvPr id="38914"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38915"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幻灯片图像占位符 1"/>
          <p:cNvSpPr>
            <a:spLocks noGrp="1" noRot="1" noChangeAspect="1" noTextEdit="1"/>
          </p:cNvSpPr>
          <p:nvPr>
            <p:ph type="sldImg"/>
          </p:nvPr>
        </p:nvSpPr>
        <p:spPr>
          <a:ln>
            <a:solidFill>
              <a:srgbClr val="000000">
                <a:alpha val="100000"/>
              </a:srgbClr>
            </a:solidFill>
            <a:miter lim="800000"/>
          </a:ln>
        </p:spPr>
      </p:sp>
      <p:sp>
        <p:nvSpPr>
          <p:cNvPr id="40962"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40963"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Grp="1" noRot="1" noChangeAspect="1" noTextEdit="1"/>
          </p:cNvSpPr>
          <p:nvPr>
            <p:ph type="sldImg"/>
          </p:nvPr>
        </p:nvSpPr>
        <p:spPr>
          <a:ln>
            <a:solidFill>
              <a:srgbClr val="000000">
                <a:alpha val="100000"/>
              </a:srgbClr>
            </a:solidFill>
            <a:miter lim="800000"/>
          </a:ln>
        </p:spPr>
      </p:sp>
      <p:sp>
        <p:nvSpPr>
          <p:cNvPr id="43010"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43011"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幻灯片图像占位符 1"/>
          <p:cNvSpPr>
            <a:spLocks noGrp="1" noRot="1" noChangeAspect="1" noTextEdit="1"/>
          </p:cNvSpPr>
          <p:nvPr>
            <p:ph type="sldImg"/>
          </p:nvPr>
        </p:nvSpPr>
        <p:spPr>
          <a:ln>
            <a:solidFill>
              <a:srgbClr val="000000">
                <a:alpha val="100000"/>
              </a:srgbClr>
            </a:solidFill>
            <a:miter lim="800000"/>
          </a:ln>
        </p:spPr>
      </p:sp>
      <p:sp>
        <p:nvSpPr>
          <p:cNvPr id="45058"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45059"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幻灯片图像占位符 1"/>
          <p:cNvSpPr>
            <a:spLocks noGrp="1" noRot="1" noChangeAspect="1" noTextEdit="1"/>
          </p:cNvSpPr>
          <p:nvPr>
            <p:ph type="sldImg"/>
          </p:nvPr>
        </p:nvSpPr>
        <p:spPr>
          <a:ln>
            <a:solidFill>
              <a:srgbClr val="000000">
                <a:alpha val="100000"/>
              </a:srgbClr>
            </a:solidFill>
            <a:miter lim="800000"/>
          </a:ln>
        </p:spPr>
      </p:sp>
      <p:sp>
        <p:nvSpPr>
          <p:cNvPr id="47106"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47107"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幻灯片图像占位符 1"/>
          <p:cNvSpPr>
            <a:spLocks noGrp="1" noRot="1" noChangeAspect="1" noTextEdit="1"/>
          </p:cNvSpPr>
          <p:nvPr>
            <p:ph type="sldImg"/>
          </p:nvPr>
        </p:nvSpPr>
        <p:spPr>
          <a:ln>
            <a:solidFill>
              <a:srgbClr val="000000">
                <a:alpha val="100000"/>
              </a:srgbClr>
            </a:solidFill>
            <a:miter lim="800000"/>
          </a:ln>
        </p:spPr>
      </p:sp>
      <p:sp>
        <p:nvSpPr>
          <p:cNvPr id="49154"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49155"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幻灯片图像占位符 1"/>
          <p:cNvSpPr>
            <a:spLocks noGrp="1" noRot="1" noChangeAspect="1" noTextEdit="1"/>
          </p:cNvSpPr>
          <p:nvPr>
            <p:ph type="sldImg"/>
          </p:nvPr>
        </p:nvSpPr>
        <p:spPr>
          <a:ln>
            <a:solidFill>
              <a:srgbClr val="000000">
                <a:alpha val="100000"/>
              </a:srgbClr>
            </a:solidFill>
            <a:miter lim="800000"/>
          </a:ln>
        </p:spPr>
      </p:sp>
      <p:sp>
        <p:nvSpPr>
          <p:cNvPr id="51202"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51203"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幻灯片图像占位符 1"/>
          <p:cNvSpPr>
            <a:spLocks noGrp="1" noRot="1" noChangeAspect="1" noTextEdit="1"/>
          </p:cNvSpPr>
          <p:nvPr>
            <p:ph type="sldImg"/>
          </p:nvPr>
        </p:nvSpPr>
        <p:spPr>
          <a:ln>
            <a:solidFill>
              <a:srgbClr val="000000">
                <a:alpha val="100000"/>
              </a:srgbClr>
            </a:solidFill>
            <a:miter lim="800000"/>
          </a:ln>
        </p:spPr>
      </p:sp>
      <p:sp>
        <p:nvSpPr>
          <p:cNvPr id="51202"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51203"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幻灯片图像占位符 1"/>
          <p:cNvSpPr>
            <a:spLocks noGrp="1" noRot="1" noChangeAspect="1" noTextEdit="1"/>
          </p:cNvSpPr>
          <p:nvPr>
            <p:ph type="sldImg"/>
          </p:nvPr>
        </p:nvSpPr>
        <p:spPr>
          <a:ln>
            <a:solidFill>
              <a:srgbClr val="000000">
                <a:alpha val="100000"/>
              </a:srgbClr>
            </a:solidFill>
            <a:miter lim="800000"/>
          </a:ln>
        </p:spPr>
      </p:sp>
      <p:sp>
        <p:nvSpPr>
          <p:cNvPr id="51202"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51203"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幻灯片图像占位符 1"/>
          <p:cNvSpPr>
            <a:spLocks noGrp="1" noRot="1" noChangeAspect="1" noTextEdit="1"/>
          </p:cNvSpPr>
          <p:nvPr>
            <p:ph type="sldImg"/>
          </p:nvPr>
        </p:nvSpPr>
        <p:spPr>
          <a:ln>
            <a:solidFill>
              <a:srgbClr val="000000">
                <a:alpha val="100000"/>
              </a:srgbClr>
            </a:solidFill>
            <a:miter lim="800000"/>
          </a:ln>
        </p:spPr>
      </p:sp>
      <p:sp>
        <p:nvSpPr>
          <p:cNvPr id="53250"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53251"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幻灯片图像占位符 1"/>
          <p:cNvSpPr>
            <a:spLocks noGrp="1" noRot="1" noChangeAspect="1" noTextEdit="1"/>
          </p:cNvSpPr>
          <p:nvPr>
            <p:ph type="sldImg"/>
          </p:nvPr>
        </p:nvSpPr>
        <p:spPr>
          <a:ln>
            <a:solidFill>
              <a:srgbClr val="000000">
                <a:alpha val="100000"/>
              </a:srgbClr>
            </a:solidFill>
            <a:miter lim="800000"/>
          </a:ln>
        </p:spPr>
      </p:sp>
      <p:sp>
        <p:nvSpPr>
          <p:cNvPr id="55298"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55299"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幻灯片图像占位符 1"/>
          <p:cNvSpPr>
            <a:spLocks noGrp="1" noRot="1" noChangeAspect="1" noTextEdit="1"/>
          </p:cNvSpPr>
          <p:nvPr>
            <p:ph type="sldImg"/>
          </p:nvPr>
        </p:nvSpPr>
        <p:spPr>
          <a:ln>
            <a:solidFill>
              <a:srgbClr val="000000">
                <a:alpha val="100000"/>
              </a:srgbClr>
            </a:solidFill>
            <a:miter lim="800000"/>
          </a:ln>
        </p:spPr>
      </p:sp>
      <p:sp>
        <p:nvSpPr>
          <p:cNvPr id="57346"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a:p>
        </p:txBody>
      </p:sp>
      <p:sp>
        <p:nvSpPr>
          <p:cNvPr id="57347"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a:solidFill>
                  <a:srgbClr val="000000"/>
                </a:solidFill>
                <a:latin typeface="Calibri" pitchFamily="34" charset="0"/>
                <a:ea typeface="宋体" pitchFamily="2" charset="-122"/>
              </a:rPr>
            </a:fld>
            <a:endParaRPr lang="zh-CN" altLang="en-US" sz="1200">
              <a:solidFill>
                <a:srgbClr val="000000"/>
              </a:solidFill>
              <a:latin typeface="Calibri"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4.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9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绪论2">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0"/>
            <a:ext cx="205898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3" name="直接连接符 12"/>
          <p:cNvCxnSpPr/>
          <p:nvPr/>
        </p:nvCxnSpPr>
        <p:spPr>
          <a:xfrm>
            <a:off x="2058988" y="908050"/>
            <a:ext cx="83121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五边形 3"/>
          <p:cNvSpPr/>
          <p:nvPr/>
        </p:nvSpPr>
        <p:spPr>
          <a:xfrm flipH="1">
            <a:off x="11212513" y="5949950"/>
            <a:ext cx="985838" cy="504825"/>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anchor="ctr"/>
          <a:p>
            <a:pPr lvl="0" algn="ctr" eaLnBrk="1" hangingPunct="1">
              <a:buNone/>
            </a:pPr>
            <a:fld id="{9A0DB2DC-4C9A-4742-B13C-FB6460FD3503}" type="slidenum">
              <a:rPr lang="zh-CN" altLang="en-US">
                <a:solidFill>
                  <a:schemeClr val="bg1"/>
                </a:solidFill>
                <a:latin typeface="Arial Unicode MS" panose="020B0604020202020204" pitchFamily="34" charset="-128"/>
                <a:ea typeface="Arial Unicode MS" panose="020B0604020202020204" pitchFamily="34" charset="-128"/>
              </a:rPr>
            </a:fld>
            <a:endParaRPr lang="zh-CN" altLang="en-US">
              <a:solidFill>
                <a:schemeClr val="bg1"/>
              </a:solidFill>
              <a:latin typeface="Arial Unicode MS" panose="020B0604020202020204" pitchFamily="34" charset="-128"/>
              <a:ea typeface="Arial Unicode MS" panose="020B0604020202020204" pitchFamily="34" charset="-128"/>
            </a:endParaRPr>
          </a:p>
        </p:txBody>
      </p:sp>
      <p:graphicFrame>
        <p:nvGraphicFramePr>
          <p:cNvPr id="5" name="表格 4"/>
          <p:cNvGraphicFramePr>
            <a:graphicFrameLocks noGrp="1"/>
          </p:cNvGraphicFramePr>
          <p:nvPr/>
        </p:nvGraphicFramePr>
        <p:xfrm>
          <a:off x="0" y="1268413"/>
          <a:ext cx="1960563" cy="3806825"/>
        </p:xfrm>
        <a:graphic>
          <a:graphicData uri="http://schemas.openxmlformats.org/drawingml/2006/table">
            <a:tbl>
              <a:tblPr>
                <a:tableStyleId>{2D5ABB26-0587-4C30-8999-92F81FD0307C}</a:tableStyleId>
              </a:tblPr>
              <a:tblGrid>
                <a:gridCol w="1960563"/>
              </a:tblGrid>
              <a:tr h="464960">
                <a:tc>
                  <a:txBody>
                    <a:bodyPr/>
                    <a:lstStyle/>
                    <a:p>
                      <a:pPr algn="ctr"/>
                      <a:endParaRPr lang="zh-CN" altLang="en-US" sz="1800" dirty="0">
                        <a:latin typeface="Calibri" pitchFamily="34" charset="0"/>
                        <a:cs typeface="Calibri" pitchFamily="34" charset="0"/>
                      </a:endParaRPr>
                    </a:p>
                  </a:txBody>
                  <a:tcPr marL="91405" marR="9140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5466">
                <a:tc>
                  <a:txBody>
                    <a:bodyPr/>
                    <a:lstStyle/>
                    <a:p>
                      <a:pPr algn="ct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LITERATURE REVIEW</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05" marR="9140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5466">
                <a:tc>
                  <a:txBody>
                    <a:bodyPr/>
                    <a:lstStyle/>
                    <a:p>
                      <a:pPr algn="ct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THEORETICAL FRAMEWORK</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05" marR="9140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5466">
                <a:tc>
                  <a:txBody>
                    <a:bodyPr/>
                    <a:lstStyle/>
                    <a:p>
                      <a:pPr algn="ct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RESEARCH CONTENT</a:t>
                      </a:r>
                      <a:endPar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05" marR="9140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5466">
                <a:tc>
                  <a:txBody>
                    <a:bodyPr/>
                    <a:lstStyle/>
                    <a:p>
                      <a:pPr algn="ct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CONCLUSION</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05" marR="9140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61458" name="组合 6"/>
          <p:cNvGrpSpPr/>
          <p:nvPr userDrawn="1"/>
        </p:nvGrpSpPr>
        <p:grpSpPr>
          <a:xfrm>
            <a:off x="0" y="908050"/>
            <a:ext cx="3567113" cy="828675"/>
            <a:chOff x="-1272478" y="1265418"/>
            <a:chExt cx="3216865" cy="909112"/>
          </a:xfrm>
        </p:grpSpPr>
        <p:sp>
          <p:nvSpPr>
            <p:cNvPr id="7" name="矩形 6"/>
            <p:cNvSpPr/>
            <p:nvPr/>
          </p:nvSpPr>
          <p:spPr>
            <a:xfrm>
              <a:off x="-1272478" y="1265418"/>
              <a:ext cx="1856820" cy="90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INTRODUCTION</a:t>
              </a:r>
              <a:endParaRPr kumimoji="0" lang="zh-CN" altLang="en-US"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8" name="等腰三角形 33"/>
            <p:cNvSpPr/>
            <p:nvPr/>
          </p:nvSpPr>
          <p:spPr>
            <a:xfrm rot="16200000">
              <a:off x="1747597" y="1526666"/>
              <a:ext cx="160227" cy="23335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9" name="图片 8" descr="C:\Users\xin\Desktop\01564.jpg01564"/>
          <p:cNvSpPr>
            <a:spLocks noChangeAspect="1" noChangeArrowheads="1"/>
          </p:cNvSpPr>
          <p:nvPr>
            <p:custDataLst>
              <p:tags r:id="rId2"/>
            </p:custDataLst>
          </p:nvPr>
        </p:nvSpPr>
        <p:spPr bwMode="auto">
          <a:xfrm>
            <a:off x="11010900" y="17463"/>
            <a:ext cx="1187450" cy="1152525"/>
          </a:xfrm>
          <a:prstGeom prst="rect">
            <a:avLst/>
          </a:prstGeom>
          <a:noFill/>
          <a:ln>
            <a:noFill/>
          </a:ln>
        </p:spPr>
        <p:txBody>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eaLnBrk="0" fontAlgn="base" hangingPunct="0">
              <a:spcBef>
                <a:spcPct val="0"/>
              </a:spcBef>
              <a:spcAft>
                <a:spcPct val="0"/>
              </a:spcAft>
              <a:defRPr>
                <a:solidFill>
                  <a:schemeClr val="tx1"/>
                </a:solidFill>
                <a:latin typeface="等线" pitchFamily="2" charset="-122"/>
                <a:ea typeface="等线" pitchFamily="2" charset="-122"/>
              </a:defRPr>
            </a:lvl6pPr>
            <a:lvl7pPr marL="2971800" indent="-228600" eaLnBrk="0" fontAlgn="base" hangingPunct="0">
              <a:spcBef>
                <a:spcPct val="0"/>
              </a:spcBef>
              <a:spcAft>
                <a:spcPct val="0"/>
              </a:spcAft>
              <a:defRPr>
                <a:solidFill>
                  <a:schemeClr val="tx1"/>
                </a:solidFill>
                <a:latin typeface="等线" pitchFamily="2" charset="-122"/>
                <a:ea typeface="等线" pitchFamily="2" charset="-122"/>
              </a:defRPr>
            </a:lvl7pPr>
            <a:lvl8pPr marL="3429000" indent="-228600" eaLnBrk="0" fontAlgn="base" hangingPunct="0">
              <a:spcBef>
                <a:spcPct val="0"/>
              </a:spcBef>
              <a:spcAft>
                <a:spcPct val="0"/>
              </a:spcAft>
              <a:defRPr>
                <a:solidFill>
                  <a:schemeClr val="tx1"/>
                </a:solidFill>
                <a:latin typeface="等线" pitchFamily="2" charset="-122"/>
                <a:ea typeface="等线" pitchFamily="2" charset="-122"/>
              </a:defRPr>
            </a:lvl8pPr>
            <a:lvl9pPr marL="3886200" indent="-228600" eaLnBrk="0" fontAlgn="base" hangingPunct="0">
              <a:spcBef>
                <a:spcPct val="0"/>
              </a:spcBef>
              <a:spcAft>
                <a:spcPct val="0"/>
              </a:spcAft>
              <a:defRPr>
                <a:solidFill>
                  <a:schemeClr val="tx1"/>
                </a:solidFill>
                <a:latin typeface="等线" pitchFamily="2" charset="-122"/>
                <a:ea typeface="等线"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界定与表征">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238125" y="0"/>
            <a:ext cx="196532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3" name="直接连接符 29"/>
          <p:cNvCxnSpPr/>
          <p:nvPr/>
        </p:nvCxnSpPr>
        <p:spPr>
          <a:xfrm>
            <a:off x="1657350" y="900113"/>
            <a:ext cx="83121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五边形 3"/>
          <p:cNvSpPr/>
          <p:nvPr/>
        </p:nvSpPr>
        <p:spPr>
          <a:xfrm flipH="1">
            <a:off x="11212513" y="5949950"/>
            <a:ext cx="985838" cy="504825"/>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anchor="ctr"/>
          <a:p>
            <a:pPr lvl="0" algn="ctr" eaLnBrk="1" hangingPunct="1">
              <a:buNone/>
            </a:pPr>
            <a:fld id="{9A0DB2DC-4C9A-4742-B13C-FB6460FD3503}" type="slidenum">
              <a:rPr lang="zh-CN" altLang="en-US">
                <a:solidFill>
                  <a:schemeClr val="bg1"/>
                </a:solidFill>
                <a:latin typeface="Arial Unicode MS" panose="020B0604020202020204" pitchFamily="34" charset="-128"/>
                <a:ea typeface="Arial Unicode MS" panose="020B0604020202020204" pitchFamily="34" charset="-128"/>
              </a:rPr>
            </a:fld>
            <a:endParaRPr lang="zh-CN" altLang="en-US">
              <a:solidFill>
                <a:schemeClr val="bg1"/>
              </a:solidFill>
              <a:latin typeface="Arial Unicode MS" panose="020B0604020202020204" pitchFamily="34" charset="-128"/>
              <a:ea typeface="Arial Unicode MS" panose="020B0604020202020204" pitchFamily="34" charset="-128"/>
            </a:endParaRPr>
          </a:p>
        </p:txBody>
      </p:sp>
      <p:graphicFrame>
        <p:nvGraphicFramePr>
          <p:cNvPr id="5" name="表格 4"/>
          <p:cNvGraphicFramePr>
            <a:graphicFrameLocks noGrp="1"/>
          </p:cNvGraphicFramePr>
          <p:nvPr/>
        </p:nvGraphicFramePr>
        <p:xfrm>
          <a:off x="-238125" y="900113"/>
          <a:ext cx="1895475" cy="4287838"/>
        </p:xfrm>
        <a:graphic>
          <a:graphicData uri="http://schemas.openxmlformats.org/drawingml/2006/table">
            <a:tbl>
              <a:tblPr>
                <a:tableStyleId>{2D5ABB26-0587-4C30-8999-92F81FD0307C}</a:tableStyleId>
              </a:tblPr>
              <a:tblGrid>
                <a:gridCol w="1895475"/>
              </a:tblGrid>
              <a:tr h="1207050">
                <a:tc>
                  <a:txBody>
                    <a:bodyPr/>
                    <a:lstStyle/>
                    <a:p>
                      <a:pPr algn="ctr"/>
                      <a:endParaRPr lang="zh-CN" altLang="en-US" sz="2000" dirty="0">
                        <a:latin typeface="Calibri" pitchFamily="34" charset="0"/>
                        <a:cs typeface="Calibri" pitchFamily="34" charset="0"/>
                      </a:endParaRPr>
                    </a:p>
                  </a:txBody>
                  <a:tcPr marL="91420" marR="91420" marT="45712" marB="457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429173">
                <a:tc>
                  <a:txBody>
                    <a:bodyPr/>
                    <a:lstStyle/>
                    <a:p>
                      <a:pPr algn="ctr"/>
                      <a:endParaRPr lang="zh-CN" altLang="en-US" sz="2000" dirty="0">
                        <a:solidFill>
                          <a:schemeClr val="tx1">
                            <a:lumMod val="65000"/>
                            <a:lumOff val="35000"/>
                          </a:schemeClr>
                        </a:solidFill>
                        <a:latin typeface="Calibri" pitchFamily="34" charset="0"/>
                        <a:ea typeface="微软雅黑" pitchFamily="34" charset="-122"/>
                        <a:cs typeface="Calibri" pitchFamily="34" charset="0"/>
                      </a:endParaRPr>
                    </a:p>
                  </a:txBody>
                  <a:tcPr marL="91420" marR="91420" marT="45712" marB="457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937384">
                <a:tc>
                  <a:txBody>
                    <a:bodyPr/>
                    <a:lstStyle/>
                    <a:p>
                      <a:pPr algn="ct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THEORETICAL FRAMEWORK</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20" marR="91420" marT="45712" marB="457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13126">
                <a:tc>
                  <a:txBody>
                    <a:bodyPr/>
                    <a:lstStyle/>
                    <a:p>
                      <a:pPr algn="ctr"/>
                      <a:r>
                        <a:rPr lang="en-US" altLang="zh-CN" sz="1800" b="1" dirty="0">
                          <a:latin typeface="Times New Roman" panose="02020603050405020304" pitchFamily="18" charset="0"/>
                          <a:ea typeface="微软雅黑" pitchFamily="34" charset="-122"/>
                          <a:cs typeface="Times New Roman" panose="02020603050405020304" pitchFamily="18" charset="0"/>
                          <a:sym typeface="+mn-ea"/>
                        </a:rPr>
                        <a:t>RESEARCH CONTENT</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20" marR="91420" marT="45712" marB="457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1001104">
                <a:tc>
                  <a:txBody>
                    <a:bodyPr/>
                    <a:lstStyle/>
                    <a:p>
                      <a:pPr algn="ct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CONCLUSION</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20" marR="91420" marT="45712" marB="457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6" name="矩形 5"/>
          <p:cNvSpPr/>
          <p:nvPr/>
        </p:nvSpPr>
        <p:spPr>
          <a:xfrm>
            <a:off x="-277812" y="900113"/>
            <a:ext cx="2071688" cy="788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 name="矩形 6"/>
          <p:cNvSpPr/>
          <p:nvPr/>
        </p:nvSpPr>
        <p:spPr>
          <a:xfrm>
            <a:off x="-238125" y="1670050"/>
            <a:ext cx="1925638" cy="8556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LITERATURE</a:t>
            </a:r>
            <a:endPar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REVIEW</a:t>
            </a:r>
            <a:endParaRPr kumimoji="0" lang="zh-CN" altLang="en-US"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8" name="图片 7" descr="C:\Users\xin\Desktop\01564.jpg01564"/>
          <p:cNvSpPr>
            <a:spLocks noChangeAspect="1" noChangeArrowheads="1"/>
          </p:cNvSpPr>
          <p:nvPr>
            <p:custDataLst>
              <p:tags r:id="rId2"/>
            </p:custDataLst>
          </p:nvPr>
        </p:nvSpPr>
        <p:spPr bwMode="auto">
          <a:xfrm>
            <a:off x="11010900" y="17463"/>
            <a:ext cx="1187450" cy="1152525"/>
          </a:xfrm>
          <a:prstGeom prst="rect">
            <a:avLst/>
          </a:prstGeom>
          <a:noFill/>
          <a:ln>
            <a:noFill/>
          </a:ln>
        </p:spPr>
        <p:txBody>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eaLnBrk="0" fontAlgn="base" hangingPunct="0">
              <a:spcBef>
                <a:spcPct val="0"/>
              </a:spcBef>
              <a:spcAft>
                <a:spcPct val="0"/>
              </a:spcAft>
              <a:defRPr>
                <a:solidFill>
                  <a:schemeClr val="tx1"/>
                </a:solidFill>
                <a:latin typeface="等线" pitchFamily="2" charset="-122"/>
                <a:ea typeface="等线" pitchFamily="2" charset="-122"/>
              </a:defRPr>
            </a:lvl6pPr>
            <a:lvl7pPr marL="2971800" indent="-228600" eaLnBrk="0" fontAlgn="base" hangingPunct="0">
              <a:spcBef>
                <a:spcPct val="0"/>
              </a:spcBef>
              <a:spcAft>
                <a:spcPct val="0"/>
              </a:spcAft>
              <a:defRPr>
                <a:solidFill>
                  <a:schemeClr val="tx1"/>
                </a:solidFill>
                <a:latin typeface="等线" pitchFamily="2" charset="-122"/>
                <a:ea typeface="等线" pitchFamily="2" charset="-122"/>
              </a:defRPr>
            </a:lvl7pPr>
            <a:lvl8pPr marL="3429000" indent="-228600" eaLnBrk="0" fontAlgn="base" hangingPunct="0">
              <a:spcBef>
                <a:spcPct val="0"/>
              </a:spcBef>
              <a:spcAft>
                <a:spcPct val="0"/>
              </a:spcAft>
              <a:defRPr>
                <a:solidFill>
                  <a:schemeClr val="tx1"/>
                </a:solidFill>
                <a:latin typeface="等线" pitchFamily="2" charset="-122"/>
                <a:ea typeface="等线" pitchFamily="2" charset="-122"/>
              </a:defRPr>
            </a:lvl8pPr>
            <a:lvl9pPr marL="3886200" indent="-228600" eaLnBrk="0" fontAlgn="base" hangingPunct="0">
              <a:spcBef>
                <a:spcPct val="0"/>
              </a:spcBef>
              <a:spcAft>
                <a:spcPct val="0"/>
              </a:spcAft>
              <a:defRPr>
                <a:solidFill>
                  <a:schemeClr val="tx1"/>
                </a:solidFill>
                <a:latin typeface="等线" pitchFamily="2" charset="-122"/>
                <a:ea typeface="等线"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合理交通结构">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0"/>
            <a:ext cx="2011363"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3" name="表格 2"/>
          <p:cNvGraphicFramePr>
            <a:graphicFrameLocks noGrp="1"/>
          </p:cNvGraphicFramePr>
          <p:nvPr/>
        </p:nvGraphicFramePr>
        <p:xfrm>
          <a:off x="0" y="846138"/>
          <a:ext cx="2011363" cy="4319588"/>
        </p:xfrm>
        <a:graphic>
          <a:graphicData uri="http://schemas.openxmlformats.org/drawingml/2006/table">
            <a:tbl>
              <a:tblPr>
                <a:tableStyleId>{2D5ABB26-0587-4C30-8999-92F81FD0307C}</a:tableStyleId>
              </a:tblPr>
              <a:tblGrid>
                <a:gridCol w="2011363"/>
              </a:tblGrid>
              <a:tr h="83733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kern="1200" dirty="0">
                          <a:solidFill>
                            <a:schemeClr val="tx1"/>
                          </a:solidFill>
                          <a:latin typeface="Times New Roman" panose="02020603050405020304" pitchFamily="18" charset="0"/>
                          <a:ea typeface="微软雅黑" pitchFamily="34" charset="-122"/>
                          <a:cs typeface="Times New Roman" panose="02020603050405020304" pitchFamily="18" charset="0"/>
                        </a:rPr>
                        <a:t>INTRODUCTION</a:t>
                      </a:r>
                      <a:endParaRPr lang="zh-CN" altLang="en-US" sz="1800" b="1" kern="1200"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26" marR="91426"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7332">
                <a:tc>
                  <a:txBody>
                    <a:bodyPr/>
                    <a:lstStyle/>
                    <a:p>
                      <a:pPr algn="ctr"/>
                      <a:endParaRPr lang="zh-CN" altLang="en-US" sz="2000" dirty="0">
                        <a:latin typeface="Calibri" pitchFamily="34" charset="0"/>
                        <a:cs typeface="Calibri" pitchFamily="34" charset="0"/>
                      </a:endParaRPr>
                    </a:p>
                  </a:txBody>
                  <a:tcPr marL="91426" marR="91426"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7332">
                <a:tc>
                  <a:txBody>
                    <a:bodyPr/>
                    <a:lstStyle/>
                    <a:p>
                      <a:pPr algn="ctr"/>
                      <a:endParaRPr lang="zh-CN" altLang="en-US" sz="2000" dirty="0">
                        <a:solidFill>
                          <a:schemeClr val="bg1"/>
                        </a:solidFill>
                        <a:latin typeface="Calibri" pitchFamily="34" charset="0"/>
                        <a:ea typeface="微软雅黑" pitchFamily="34" charset="-122"/>
                        <a:cs typeface="Calibri" pitchFamily="34" charset="0"/>
                      </a:endParaRPr>
                    </a:p>
                  </a:txBody>
                  <a:tcPr marL="91426" marR="91426"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71908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latin typeface="Times New Roman" panose="02020603050405020304" pitchFamily="18" charset="0"/>
                          <a:ea typeface="微软雅黑" pitchFamily="34" charset="-122"/>
                          <a:cs typeface="Times New Roman" panose="02020603050405020304" pitchFamily="18" charset="0"/>
                          <a:sym typeface="+mn-ea"/>
                        </a:rPr>
                        <a:t>RESEARCH CONTENT</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26" marR="91426"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108850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CONCLUSION</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26" marR="91426"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4" name="矩形 3"/>
          <p:cNvSpPr/>
          <p:nvPr/>
        </p:nvSpPr>
        <p:spPr>
          <a:xfrm>
            <a:off x="0" y="1744663"/>
            <a:ext cx="2011363" cy="78898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LITERATURE</a:t>
            </a:r>
            <a:endPar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REVIEW</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cxnSp>
        <p:nvCxnSpPr>
          <p:cNvPr id="5" name="直接连接符 29"/>
          <p:cNvCxnSpPr/>
          <p:nvPr/>
        </p:nvCxnSpPr>
        <p:spPr>
          <a:xfrm>
            <a:off x="2011363" y="850900"/>
            <a:ext cx="83121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五边形 5"/>
          <p:cNvSpPr/>
          <p:nvPr/>
        </p:nvSpPr>
        <p:spPr>
          <a:xfrm flipH="1">
            <a:off x="11212513" y="5949950"/>
            <a:ext cx="985838" cy="504825"/>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anchor="ctr"/>
          <a:p>
            <a:pPr lvl="0" algn="ctr" eaLnBrk="1" hangingPunct="1">
              <a:buNone/>
            </a:pPr>
            <a:fld id="{9A0DB2DC-4C9A-4742-B13C-FB6460FD3503}" type="slidenum">
              <a:rPr lang="zh-CN" altLang="en-US">
                <a:solidFill>
                  <a:schemeClr val="bg1"/>
                </a:solidFill>
                <a:latin typeface="Arial Unicode MS" panose="020B0604020202020204" pitchFamily="34" charset="-128"/>
                <a:ea typeface="Arial Unicode MS" panose="020B0604020202020204" pitchFamily="34" charset="-128"/>
              </a:rPr>
            </a:fld>
            <a:endParaRPr lang="zh-CN" altLang="en-US">
              <a:solidFill>
                <a:schemeClr val="bg1"/>
              </a:solidFill>
              <a:latin typeface="Arial Unicode MS" panose="020B0604020202020204" pitchFamily="34" charset="-128"/>
              <a:ea typeface="Arial Unicode MS" panose="020B0604020202020204" pitchFamily="34" charset="-128"/>
            </a:endParaRPr>
          </a:p>
        </p:txBody>
      </p:sp>
      <p:sp>
        <p:nvSpPr>
          <p:cNvPr id="7" name="等腰三角形 11"/>
          <p:cNvSpPr/>
          <p:nvPr/>
        </p:nvSpPr>
        <p:spPr>
          <a:xfrm rot="16200000">
            <a:off x="1548606" y="3174206"/>
            <a:ext cx="142875" cy="14446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0" y="2533650"/>
            <a:ext cx="2011363" cy="8461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THEORETICAL</a:t>
            </a:r>
            <a:endPar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FRAMEWORK</a:t>
            </a:r>
            <a:endParaRPr kumimoji="0" lang="zh-CN" altLang="en-US"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9" name="图片 8" descr="C:\Users\xin\Desktop\01564.jpg01564"/>
          <p:cNvSpPr>
            <a:spLocks noChangeAspect="1" noChangeArrowheads="1"/>
          </p:cNvSpPr>
          <p:nvPr>
            <p:custDataLst>
              <p:tags r:id="rId2"/>
            </p:custDataLst>
          </p:nvPr>
        </p:nvSpPr>
        <p:spPr bwMode="auto">
          <a:xfrm>
            <a:off x="11010900" y="17463"/>
            <a:ext cx="1187450" cy="1152525"/>
          </a:xfrm>
          <a:prstGeom prst="rect">
            <a:avLst/>
          </a:prstGeom>
          <a:noFill/>
          <a:ln>
            <a:noFill/>
          </a:ln>
        </p:spPr>
        <p:txBody>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eaLnBrk="0" fontAlgn="base" hangingPunct="0">
              <a:spcBef>
                <a:spcPct val="0"/>
              </a:spcBef>
              <a:spcAft>
                <a:spcPct val="0"/>
              </a:spcAft>
              <a:defRPr>
                <a:solidFill>
                  <a:schemeClr val="tx1"/>
                </a:solidFill>
                <a:latin typeface="等线" pitchFamily="2" charset="-122"/>
                <a:ea typeface="等线" pitchFamily="2" charset="-122"/>
              </a:defRPr>
            </a:lvl6pPr>
            <a:lvl7pPr marL="2971800" indent="-228600" eaLnBrk="0" fontAlgn="base" hangingPunct="0">
              <a:spcBef>
                <a:spcPct val="0"/>
              </a:spcBef>
              <a:spcAft>
                <a:spcPct val="0"/>
              </a:spcAft>
              <a:defRPr>
                <a:solidFill>
                  <a:schemeClr val="tx1"/>
                </a:solidFill>
                <a:latin typeface="等线" pitchFamily="2" charset="-122"/>
                <a:ea typeface="等线" pitchFamily="2" charset="-122"/>
              </a:defRPr>
            </a:lvl7pPr>
            <a:lvl8pPr marL="3429000" indent="-228600" eaLnBrk="0" fontAlgn="base" hangingPunct="0">
              <a:spcBef>
                <a:spcPct val="0"/>
              </a:spcBef>
              <a:spcAft>
                <a:spcPct val="0"/>
              </a:spcAft>
              <a:defRPr>
                <a:solidFill>
                  <a:schemeClr val="tx1"/>
                </a:solidFill>
                <a:latin typeface="等线" pitchFamily="2" charset="-122"/>
                <a:ea typeface="等线" pitchFamily="2" charset="-122"/>
              </a:defRPr>
            </a:lvl8pPr>
            <a:lvl9pPr marL="3886200" indent="-228600" eaLnBrk="0" fontAlgn="base" hangingPunct="0">
              <a:spcBef>
                <a:spcPct val="0"/>
              </a:spcBef>
              <a:spcAft>
                <a:spcPct val="0"/>
              </a:spcAft>
              <a:defRPr>
                <a:solidFill>
                  <a:schemeClr val="tx1"/>
                </a:solidFill>
                <a:latin typeface="等线" pitchFamily="2" charset="-122"/>
                <a:ea typeface="等线"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影响因素辨识">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0"/>
            <a:ext cx="202247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3" name="表格 2"/>
          <p:cNvGraphicFramePr>
            <a:graphicFrameLocks noGrp="1"/>
          </p:cNvGraphicFramePr>
          <p:nvPr/>
        </p:nvGraphicFramePr>
        <p:xfrm>
          <a:off x="0" y="879475"/>
          <a:ext cx="2022475" cy="4097338"/>
        </p:xfrm>
        <a:graphic>
          <a:graphicData uri="http://schemas.openxmlformats.org/drawingml/2006/table">
            <a:tbl>
              <a:tblPr>
                <a:tableStyleId>{2D5ABB26-0587-4C30-8999-92F81FD0307C}</a:tableStyleId>
              </a:tblPr>
              <a:tblGrid>
                <a:gridCol w="2022475"/>
              </a:tblGrid>
              <a:tr h="797644">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latin typeface="Times New Roman" panose="02020603050405020304" pitchFamily="18" charset="0"/>
                          <a:ea typeface="微软雅黑" pitchFamily="34" charset="-122"/>
                          <a:cs typeface="Times New Roman" panose="02020603050405020304" pitchFamily="18" charset="0"/>
                        </a:rPr>
                        <a:t>INTRODUCTION</a:t>
                      </a:r>
                      <a:endParaRPr lang="zh-CN" altLang="en-US" sz="1800" b="1" dirty="0">
                        <a:latin typeface="Times New Roman" panose="02020603050405020304" pitchFamily="18" charset="0"/>
                        <a:ea typeface="微软雅黑" pitchFamily="34" charset="-122"/>
                        <a:cs typeface="Times New Roman" panose="02020603050405020304" pitchFamily="18" charset="0"/>
                      </a:endParaRPr>
                    </a:p>
                  </a:txBody>
                  <a:tcPr marL="91411" marR="91411" marT="45731" marB="4573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24923">
                <a:tc>
                  <a:txBody>
                    <a:bodyPr/>
                    <a:lstStyle/>
                    <a:p>
                      <a:pPr algn="ctr"/>
                      <a:endParaRPr lang="zh-CN" altLang="en-US" sz="1800" dirty="0">
                        <a:solidFill>
                          <a:schemeClr val="tx1"/>
                        </a:solidFill>
                      </a:endParaRPr>
                    </a:p>
                  </a:txBody>
                  <a:tcPr marL="91411" marR="91411" marT="45731" marB="4573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2492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THEORETICAL FRAMEWORK</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11" marR="91411" marT="45731" marB="4573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r>
              <a:tr h="824923">
                <a:tc>
                  <a:txBody>
                    <a:bodyPr/>
                    <a:lstStyle/>
                    <a:p>
                      <a:pPr algn="ctr"/>
                      <a:endParaRPr lang="zh-CN" altLang="en-US" sz="1800" dirty="0">
                        <a:solidFill>
                          <a:schemeClr val="bg1"/>
                        </a:solidFill>
                        <a:latin typeface="微软雅黑" pitchFamily="34" charset="-122"/>
                        <a:ea typeface="微软雅黑" pitchFamily="34" charset="-122"/>
                      </a:endParaRPr>
                    </a:p>
                  </a:txBody>
                  <a:tcPr marL="91411" marR="91411" marT="45731" marB="4573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82492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CONCLUSION</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11" marR="91411" marT="45731" marB="4573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4" name="矩形 3"/>
          <p:cNvSpPr/>
          <p:nvPr/>
        </p:nvSpPr>
        <p:spPr>
          <a:xfrm>
            <a:off x="0" y="1724025"/>
            <a:ext cx="2022475" cy="7683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LITERATURE </a:t>
            </a:r>
            <a:endPar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REVIEW</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5" name="五边形 4"/>
          <p:cNvSpPr/>
          <p:nvPr/>
        </p:nvSpPr>
        <p:spPr>
          <a:xfrm flipH="1">
            <a:off x="11212513" y="5949950"/>
            <a:ext cx="985838" cy="504825"/>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anchor="ctr"/>
          <a:p>
            <a:pPr lvl="0" algn="ctr" eaLnBrk="1" hangingPunct="1">
              <a:buNone/>
            </a:pPr>
            <a:fld id="{9A0DB2DC-4C9A-4742-B13C-FB6460FD3503}" type="slidenum">
              <a:rPr lang="zh-CN" altLang="en-US">
                <a:solidFill>
                  <a:schemeClr val="bg1"/>
                </a:solidFill>
                <a:latin typeface="Arial Unicode MS" panose="020B0604020202020204" pitchFamily="34" charset="-128"/>
                <a:ea typeface="Arial Unicode MS" panose="020B0604020202020204" pitchFamily="34" charset="-128"/>
              </a:rPr>
            </a:fld>
            <a:endParaRPr lang="zh-CN" altLang="en-US">
              <a:solidFill>
                <a:schemeClr val="bg1"/>
              </a:solidFill>
              <a:latin typeface="Arial Unicode MS" panose="020B0604020202020204" pitchFamily="34" charset="-128"/>
              <a:ea typeface="Arial Unicode MS" panose="020B0604020202020204" pitchFamily="34" charset="-128"/>
            </a:endParaRPr>
          </a:p>
        </p:txBody>
      </p:sp>
      <p:sp>
        <p:nvSpPr>
          <p:cNvPr id="6" name="等腰三角形 9"/>
          <p:cNvSpPr/>
          <p:nvPr/>
        </p:nvSpPr>
        <p:spPr>
          <a:xfrm rot="16200000">
            <a:off x="1548606" y="3948906"/>
            <a:ext cx="142875" cy="14446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0" y="3336925"/>
            <a:ext cx="2022475" cy="8016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noProof="0" dirty="0">
                <a:ln>
                  <a:noFill/>
                </a:ln>
                <a:effectLst/>
                <a:uLnTx/>
                <a:uFillTx/>
                <a:latin typeface="Times New Roman" panose="02020603050405020304" pitchFamily="18" charset="0"/>
                <a:cs typeface="Times New Roman" panose="02020603050405020304" pitchFamily="18" charset="0"/>
                <a:sym typeface="+mn-ea"/>
              </a:rPr>
              <a:t>RESEARCH CONTENT</a:t>
            </a:r>
            <a:endPar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cxnSp>
        <p:nvCxnSpPr>
          <p:cNvPr id="8" name="直接连接符 17"/>
          <p:cNvCxnSpPr/>
          <p:nvPr/>
        </p:nvCxnSpPr>
        <p:spPr>
          <a:xfrm>
            <a:off x="1939925" y="879475"/>
            <a:ext cx="83121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等腰三角形 12"/>
          <p:cNvSpPr/>
          <p:nvPr/>
        </p:nvSpPr>
        <p:spPr>
          <a:xfrm rot="16200000">
            <a:off x="2008188" y="4811713"/>
            <a:ext cx="144463" cy="18573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图片 9" descr="C:\Users\xin\Desktop\01564.jpg01564"/>
          <p:cNvSpPr>
            <a:spLocks noChangeAspect="1" noChangeArrowheads="1"/>
          </p:cNvSpPr>
          <p:nvPr>
            <p:custDataLst>
              <p:tags r:id="rId2"/>
            </p:custDataLst>
          </p:nvPr>
        </p:nvSpPr>
        <p:spPr bwMode="auto">
          <a:xfrm>
            <a:off x="11010900" y="17463"/>
            <a:ext cx="1187450" cy="1152525"/>
          </a:xfrm>
          <a:prstGeom prst="rect">
            <a:avLst/>
          </a:prstGeom>
          <a:noFill/>
          <a:ln>
            <a:noFill/>
          </a:ln>
        </p:spPr>
        <p:txBody>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eaLnBrk="0" fontAlgn="base" hangingPunct="0">
              <a:spcBef>
                <a:spcPct val="0"/>
              </a:spcBef>
              <a:spcAft>
                <a:spcPct val="0"/>
              </a:spcAft>
              <a:defRPr>
                <a:solidFill>
                  <a:schemeClr val="tx1"/>
                </a:solidFill>
                <a:latin typeface="等线" pitchFamily="2" charset="-122"/>
                <a:ea typeface="等线" pitchFamily="2" charset="-122"/>
              </a:defRPr>
            </a:lvl6pPr>
            <a:lvl7pPr marL="2971800" indent="-228600" eaLnBrk="0" fontAlgn="base" hangingPunct="0">
              <a:spcBef>
                <a:spcPct val="0"/>
              </a:spcBef>
              <a:spcAft>
                <a:spcPct val="0"/>
              </a:spcAft>
              <a:defRPr>
                <a:solidFill>
                  <a:schemeClr val="tx1"/>
                </a:solidFill>
                <a:latin typeface="等线" pitchFamily="2" charset="-122"/>
                <a:ea typeface="等线" pitchFamily="2" charset="-122"/>
              </a:defRPr>
            </a:lvl7pPr>
            <a:lvl8pPr marL="3429000" indent="-228600" eaLnBrk="0" fontAlgn="base" hangingPunct="0">
              <a:spcBef>
                <a:spcPct val="0"/>
              </a:spcBef>
              <a:spcAft>
                <a:spcPct val="0"/>
              </a:spcAft>
              <a:defRPr>
                <a:solidFill>
                  <a:schemeClr val="tx1"/>
                </a:solidFill>
                <a:latin typeface="等线" pitchFamily="2" charset="-122"/>
                <a:ea typeface="等线" pitchFamily="2" charset="-122"/>
              </a:defRPr>
            </a:lvl8pPr>
            <a:lvl9pPr marL="3886200" indent="-228600" eaLnBrk="0" fontAlgn="base" hangingPunct="0">
              <a:spcBef>
                <a:spcPct val="0"/>
              </a:spcBef>
              <a:spcAft>
                <a:spcPct val="0"/>
              </a:spcAft>
              <a:defRPr>
                <a:solidFill>
                  <a:schemeClr val="tx1"/>
                </a:solidFill>
                <a:latin typeface="等线" pitchFamily="2" charset="-122"/>
                <a:ea typeface="等线"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pic>
        <p:nvPicPr>
          <p:cNvPr id="64535" name="图片 11" descr="徽标, 公司名称&#10;&#10;描述已自动生成"/>
          <p:cNvPicPr>
            <a:picLocks noChangeAspect="1"/>
          </p:cNvPicPr>
          <p:nvPr userDrawn="1"/>
        </p:nvPicPr>
        <p:blipFill>
          <a:blip r:embed="rId3"/>
          <a:stretch>
            <a:fillRect/>
          </a:stretch>
        </p:blipFill>
        <p:spPr>
          <a:xfrm>
            <a:off x="10912475" y="17463"/>
            <a:ext cx="1279525" cy="1279525"/>
          </a:xfrm>
          <a:prstGeom prst="rect">
            <a:avLst/>
          </a:prstGeom>
          <a:noFill/>
          <a:ln w="9525">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影响因素辨识1">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17463"/>
            <a:ext cx="2066925" cy="68405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3" name="直接连接符 29"/>
          <p:cNvCxnSpPr/>
          <p:nvPr/>
        </p:nvCxnSpPr>
        <p:spPr>
          <a:xfrm>
            <a:off x="2058988" y="822325"/>
            <a:ext cx="83121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五边形 3"/>
          <p:cNvSpPr/>
          <p:nvPr/>
        </p:nvSpPr>
        <p:spPr>
          <a:xfrm flipH="1">
            <a:off x="11212513" y="5949950"/>
            <a:ext cx="985838" cy="504825"/>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anchor="ctr"/>
          <a:p>
            <a:pPr lvl="0" algn="ctr" eaLnBrk="1" hangingPunct="1">
              <a:buNone/>
            </a:pPr>
            <a:fld id="{9A0DB2DC-4C9A-4742-B13C-FB6460FD3503}" type="slidenum">
              <a:rPr lang="zh-CN" altLang="en-US">
                <a:solidFill>
                  <a:schemeClr val="bg1"/>
                </a:solidFill>
                <a:latin typeface="Arial Unicode MS" panose="020B0604020202020204" pitchFamily="34" charset="-128"/>
                <a:ea typeface="Arial Unicode MS" panose="020B0604020202020204" pitchFamily="34" charset="-128"/>
              </a:rPr>
            </a:fld>
            <a:endParaRPr lang="zh-CN" altLang="en-US">
              <a:solidFill>
                <a:schemeClr val="bg1"/>
              </a:solidFill>
              <a:latin typeface="Arial Unicode MS" panose="020B0604020202020204" pitchFamily="34" charset="-128"/>
              <a:ea typeface="Arial Unicode MS" panose="020B0604020202020204" pitchFamily="34" charset="-128"/>
            </a:endParaRPr>
          </a:p>
        </p:txBody>
      </p:sp>
      <p:graphicFrame>
        <p:nvGraphicFramePr>
          <p:cNvPr id="5" name="表格 4"/>
          <p:cNvGraphicFramePr>
            <a:graphicFrameLocks noGrp="1"/>
          </p:cNvGraphicFramePr>
          <p:nvPr/>
        </p:nvGraphicFramePr>
        <p:xfrm>
          <a:off x="11113" y="822325"/>
          <a:ext cx="2039938" cy="4046538"/>
        </p:xfrm>
        <a:graphic>
          <a:graphicData uri="http://schemas.openxmlformats.org/drawingml/2006/table">
            <a:tbl>
              <a:tblPr>
                <a:tableStyleId>{2D5ABB26-0587-4C30-8999-92F81FD0307C}</a:tableStyleId>
              </a:tblPr>
              <a:tblGrid>
                <a:gridCol w="2039937"/>
              </a:tblGrid>
              <a:tr h="838268">
                <a:tc>
                  <a:txBody>
                    <a:bodyPr/>
                    <a:lstStyle/>
                    <a:p>
                      <a:pPr algn="ctr"/>
                      <a:endParaRPr lang="zh-CN" altLang="en-US" sz="2000" dirty="0">
                        <a:latin typeface="Calibri" pitchFamily="34" charset="0"/>
                        <a:cs typeface="Calibri" pitchFamily="34" charset="0"/>
                      </a:endParaRPr>
                    </a:p>
                  </a:txBody>
                  <a:tcPr marL="91439" marR="91439" marT="45724" marB="4572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45299">
                <a:tc>
                  <a:txBody>
                    <a:bodyPr/>
                    <a:lstStyle/>
                    <a:p>
                      <a:pPr algn="ctr"/>
                      <a:endParaRPr lang="zh-CN" altLang="en-US" sz="2000" dirty="0">
                        <a:solidFill>
                          <a:schemeClr val="tx1"/>
                        </a:solidFill>
                        <a:latin typeface="Calibri" pitchFamily="34" charset="0"/>
                        <a:ea typeface="微软雅黑" pitchFamily="34" charset="-122"/>
                        <a:cs typeface="Calibri" pitchFamily="34" charset="0"/>
                      </a:endParaRPr>
                    </a:p>
                  </a:txBody>
                  <a:tcPr marL="91439" marR="91439" marT="45724" marB="4572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826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tx1"/>
                          </a:solidFill>
                          <a:latin typeface="Times New Roman" panose="02020603050405020304" pitchFamily="18" charset="0"/>
                          <a:ea typeface="微软雅黑" pitchFamily="34" charset="-122"/>
                          <a:cs typeface="Times New Roman" panose="02020603050405020304" pitchFamily="18" charset="0"/>
                        </a:rPr>
                        <a:t>THEORETICAL FRAMEWORK</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39" marR="91439" marT="45724" marB="4572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86435">
                <a:tc>
                  <a:txBody>
                    <a:bodyPr/>
                    <a:lstStyle/>
                    <a:p>
                      <a:pPr algn="ctr"/>
                      <a:r>
                        <a:rPr lang="en-US" altLang="zh-CN" sz="1800" b="1" dirty="0">
                          <a:latin typeface="Times New Roman" panose="02020603050405020304" pitchFamily="18" charset="0"/>
                          <a:ea typeface="微软雅黑" pitchFamily="34" charset="-122"/>
                          <a:cs typeface="Times New Roman" panose="02020603050405020304" pitchFamily="18" charset="0"/>
                          <a:sym typeface="+mn-ea"/>
                        </a:rPr>
                        <a:t>RESEARCH CONTENT</a:t>
                      </a:r>
                      <a:endParaRPr lang="zh-CN" altLang="en-US" sz="1800" b="1" dirty="0">
                        <a:solidFill>
                          <a:schemeClr val="tx1"/>
                        </a:solidFill>
                        <a:latin typeface="Times New Roman" panose="02020603050405020304" pitchFamily="18" charset="0"/>
                        <a:ea typeface="微软雅黑" pitchFamily="34" charset="-122"/>
                        <a:cs typeface="Times New Roman" panose="02020603050405020304" pitchFamily="18" charset="0"/>
                      </a:endParaRPr>
                    </a:p>
                  </a:txBody>
                  <a:tcPr marL="91439" marR="91439" marT="45724" marB="4572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8268">
                <a:tc>
                  <a:txBody>
                    <a:bodyPr/>
                    <a:lstStyle/>
                    <a:p>
                      <a:pPr algn="ctr"/>
                      <a:endParaRPr lang="zh-CN" altLang="en-US" sz="2000" dirty="0">
                        <a:solidFill>
                          <a:schemeClr val="tx1">
                            <a:lumMod val="65000"/>
                            <a:lumOff val="35000"/>
                          </a:schemeClr>
                        </a:solidFill>
                        <a:latin typeface="Calibri" pitchFamily="34" charset="0"/>
                        <a:ea typeface="微软雅黑" pitchFamily="34" charset="-122"/>
                        <a:cs typeface="Calibri" pitchFamily="34" charset="0"/>
                      </a:endParaRPr>
                    </a:p>
                  </a:txBody>
                  <a:tcPr marL="91439" marR="91439" marT="45724" marB="4572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6" name="矩形 5"/>
          <p:cNvSpPr/>
          <p:nvPr/>
        </p:nvSpPr>
        <p:spPr>
          <a:xfrm>
            <a:off x="11113" y="922338"/>
            <a:ext cx="2058988" cy="7000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 name="矩形 6"/>
          <p:cNvSpPr/>
          <p:nvPr/>
        </p:nvSpPr>
        <p:spPr>
          <a:xfrm>
            <a:off x="-4762" y="1685925"/>
            <a:ext cx="2063750" cy="788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LITERATURE</a:t>
            </a:r>
            <a:endPar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REVIEW</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8" name="矩形 7"/>
          <p:cNvSpPr/>
          <p:nvPr/>
        </p:nvSpPr>
        <p:spPr>
          <a:xfrm>
            <a:off x="11113" y="4057650"/>
            <a:ext cx="2047875" cy="911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  CONCLUSION</a:t>
            </a:r>
            <a:endParaRPr kumimoji="0" lang="zh-CN" altLang="en-US" sz="18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9" name="图片 8" descr="C:\Users\xin\Desktop\01564.jpg01564"/>
          <p:cNvSpPr>
            <a:spLocks noChangeAspect="1" noChangeArrowheads="1"/>
          </p:cNvSpPr>
          <p:nvPr>
            <p:custDataLst>
              <p:tags r:id="rId2"/>
            </p:custDataLst>
          </p:nvPr>
        </p:nvSpPr>
        <p:spPr bwMode="auto">
          <a:xfrm>
            <a:off x="11010900" y="17463"/>
            <a:ext cx="1187450" cy="1152525"/>
          </a:xfrm>
          <a:prstGeom prst="rect">
            <a:avLst/>
          </a:prstGeom>
          <a:noFill/>
          <a:ln>
            <a:noFill/>
          </a:ln>
        </p:spPr>
        <p:txBody>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eaLnBrk="0" fontAlgn="base" hangingPunct="0">
              <a:spcBef>
                <a:spcPct val="0"/>
              </a:spcBef>
              <a:spcAft>
                <a:spcPct val="0"/>
              </a:spcAft>
              <a:defRPr>
                <a:solidFill>
                  <a:schemeClr val="tx1"/>
                </a:solidFill>
                <a:latin typeface="等线" pitchFamily="2" charset="-122"/>
                <a:ea typeface="等线" pitchFamily="2" charset="-122"/>
              </a:defRPr>
            </a:lvl6pPr>
            <a:lvl7pPr marL="2971800" indent="-228600" eaLnBrk="0" fontAlgn="base" hangingPunct="0">
              <a:spcBef>
                <a:spcPct val="0"/>
              </a:spcBef>
              <a:spcAft>
                <a:spcPct val="0"/>
              </a:spcAft>
              <a:defRPr>
                <a:solidFill>
                  <a:schemeClr val="tx1"/>
                </a:solidFill>
                <a:latin typeface="等线" pitchFamily="2" charset="-122"/>
                <a:ea typeface="等线" pitchFamily="2" charset="-122"/>
              </a:defRPr>
            </a:lvl7pPr>
            <a:lvl8pPr marL="3429000" indent="-228600" eaLnBrk="0" fontAlgn="base" hangingPunct="0">
              <a:spcBef>
                <a:spcPct val="0"/>
              </a:spcBef>
              <a:spcAft>
                <a:spcPct val="0"/>
              </a:spcAft>
              <a:defRPr>
                <a:solidFill>
                  <a:schemeClr val="tx1"/>
                </a:solidFill>
                <a:latin typeface="等线" pitchFamily="2" charset="-122"/>
                <a:ea typeface="等线" pitchFamily="2" charset="-122"/>
              </a:defRPr>
            </a:lvl8pPr>
            <a:lvl9pPr marL="3886200" indent="-228600" eaLnBrk="0" fontAlgn="base" hangingPunct="0">
              <a:spcBef>
                <a:spcPct val="0"/>
              </a:spcBef>
              <a:spcAft>
                <a:spcPct val="0"/>
              </a:spcAft>
              <a:defRPr>
                <a:solidFill>
                  <a:schemeClr val="tx1"/>
                </a:solidFill>
                <a:latin typeface="等线" pitchFamily="2" charset="-122"/>
                <a:ea typeface="等线"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图片 1"/>
          <p:cNvSpPr>
            <a:spLocks noChangeAspect="1" noChangeArrowheads="1"/>
          </p:cNvSpPr>
          <p:nvPr/>
        </p:nvSpPr>
        <p:spPr bwMode="auto">
          <a:xfrm>
            <a:off x="0" y="0"/>
            <a:ext cx="12199938" cy="6858000"/>
          </a:xfrm>
          <a:prstGeom prst="rect">
            <a:avLst/>
          </a:prstGeom>
          <a:noFill/>
          <a:ln>
            <a:noFill/>
          </a:ln>
        </p:spPr>
        <p:txBody>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eaLnBrk="0" fontAlgn="base" hangingPunct="0">
              <a:spcBef>
                <a:spcPct val="0"/>
              </a:spcBef>
              <a:spcAft>
                <a:spcPct val="0"/>
              </a:spcAft>
              <a:defRPr>
                <a:solidFill>
                  <a:schemeClr val="tx1"/>
                </a:solidFill>
                <a:latin typeface="等线" pitchFamily="2" charset="-122"/>
                <a:ea typeface="等线" pitchFamily="2" charset="-122"/>
              </a:defRPr>
            </a:lvl6pPr>
            <a:lvl7pPr marL="2971800" indent="-228600" eaLnBrk="0" fontAlgn="base" hangingPunct="0">
              <a:spcBef>
                <a:spcPct val="0"/>
              </a:spcBef>
              <a:spcAft>
                <a:spcPct val="0"/>
              </a:spcAft>
              <a:defRPr>
                <a:solidFill>
                  <a:schemeClr val="tx1"/>
                </a:solidFill>
                <a:latin typeface="等线" pitchFamily="2" charset="-122"/>
                <a:ea typeface="等线" pitchFamily="2" charset="-122"/>
              </a:defRPr>
            </a:lvl7pPr>
            <a:lvl8pPr marL="3429000" indent="-228600" eaLnBrk="0" fontAlgn="base" hangingPunct="0">
              <a:spcBef>
                <a:spcPct val="0"/>
              </a:spcBef>
              <a:spcAft>
                <a:spcPct val="0"/>
              </a:spcAft>
              <a:defRPr>
                <a:solidFill>
                  <a:schemeClr val="tx1"/>
                </a:solidFill>
                <a:latin typeface="等线" pitchFamily="2" charset="-122"/>
                <a:ea typeface="等线" pitchFamily="2" charset="-122"/>
              </a:defRPr>
            </a:lvl8pPr>
            <a:lvl9pPr marL="3886200" indent="-228600" eaLnBrk="0" fontAlgn="base" hangingPunct="0">
              <a:spcBef>
                <a:spcPct val="0"/>
              </a:spcBef>
              <a:spcAft>
                <a:spcPct val="0"/>
              </a:spcAft>
              <a:defRPr>
                <a:solidFill>
                  <a:schemeClr val="tx1"/>
                </a:solidFill>
                <a:latin typeface="等线" pitchFamily="2" charset="-122"/>
                <a:ea typeface="等线"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标题幻灯片">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246063" y="252413"/>
            <a:ext cx="11699875" cy="6353175"/>
          </a:xfrm>
          <a:prstGeom prst="rect">
            <a:avLst/>
          </a:prstGeom>
          <a:noFill/>
          <a:ln w="12700">
            <a:solidFill>
              <a:srgbClr val="1D35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7588" name="Freeform 5"/>
          <p:cNvSpPr/>
          <p:nvPr userDrawn="1"/>
        </p:nvSpPr>
        <p:spPr>
          <a:xfrm rot="-8100000">
            <a:off x="5946775" y="79375"/>
            <a:ext cx="296863" cy="295275"/>
          </a:xfrm>
          <a:custGeom>
            <a:avLst/>
            <a:gdLst/>
            <a:ahLst/>
            <a:cxnLst>
              <a:cxn ang="0">
                <a:pos x="0" y="2147483646"/>
              </a:cxn>
              <a:cxn ang="0">
                <a:pos x="0" y="0"/>
              </a:cxn>
              <a:cxn ang="0">
                <a:pos x="2147483646" y="0"/>
              </a:cxn>
              <a:cxn ang="0">
                <a:pos x="0" y="2147483646"/>
              </a:cxn>
            </a:cxnLst>
            <a:pathLst>
              <a:path w="570" h="570">
                <a:moveTo>
                  <a:pt x="0" y="570"/>
                </a:moveTo>
                <a:lnTo>
                  <a:pt x="0" y="0"/>
                </a:lnTo>
                <a:lnTo>
                  <a:pt x="570" y="0"/>
                </a:lnTo>
                <a:lnTo>
                  <a:pt x="0" y="570"/>
                </a:lnTo>
                <a:close/>
              </a:path>
            </a:pathLst>
          </a:custGeom>
          <a:solidFill>
            <a:srgbClr val="1D3559">
              <a:alpha val="100000"/>
            </a:srgbClr>
          </a:solidFill>
          <a:ln w="25400" cap="flat" cmpd="sng">
            <a:solidFill>
              <a:schemeClr val="bg1">
                <a:alpha val="100000"/>
              </a:schemeClr>
            </a:solidFill>
            <a:prstDash val="solid"/>
            <a:round/>
            <a:headEnd type="none" w="med" len="med"/>
            <a:tailEnd type="none" w="med" len="med"/>
          </a:ln>
        </p:spPr>
        <p:txBody>
          <a:bodyPr/>
          <a:p>
            <a:endParaRPr lang="zh-CN" altLang="en-US"/>
          </a:p>
        </p:txBody>
      </p:sp>
      <p:sp>
        <p:nvSpPr>
          <p:cNvPr id="67589" name="Freeform 5"/>
          <p:cNvSpPr/>
          <p:nvPr userDrawn="1"/>
        </p:nvSpPr>
        <p:spPr>
          <a:xfrm rot="2700000">
            <a:off x="5948363" y="6500813"/>
            <a:ext cx="295275" cy="295275"/>
          </a:xfrm>
          <a:custGeom>
            <a:avLst/>
            <a:gdLst/>
            <a:ahLst/>
            <a:cxnLst>
              <a:cxn ang="0">
                <a:pos x="0" y="2147483646"/>
              </a:cxn>
              <a:cxn ang="0">
                <a:pos x="0" y="0"/>
              </a:cxn>
              <a:cxn ang="0">
                <a:pos x="2147483646" y="0"/>
              </a:cxn>
              <a:cxn ang="0">
                <a:pos x="0" y="2147483646"/>
              </a:cxn>
            </a:cxnLst>
            <a:pathLst>
              <a:path w="570" h="570">
                <a:moveTo>
                  <a:pt x="0" y="570"/>
                </a:moveTo>
                <a:lnTo>
                  <a:pt x="0" y="0"/>
                </a:lnTo>
                <a:lnTo>
                  <a:pt x="570" y="0"/>
                </a:lnTo>
                <a:lnTo>
                  <a:pt x="0" y="570"/>
                </a:lnTo>
                <a:close/>
              </a:path>
            </a:pathLst>
          </a:custGeom>
          <a:solidFill>
            <a:srgbClr val="1D3559">
              <a:alpha val="100000"/>
            </a:srgbClr>
          </a:solidFill>
          <a:ln w="25400" cap="flat" cmpd="sng">
            <a:solidFill>
              <a:schemeClr val="bg1">
                <a:alpha val="100000"/>
              </a:schemeClr>
            </a:solidFill>
            <a:prstDash val="solid"/>
            <a:round/>
            <a:headEnd type="none" w="med" len="med"/>
            <a:tailEnd type="none" w="med" len="med"/>
          </a:ln>
        </p:spPr>
        <p:txBody>
          <a:bodyPr/>
          <a:p>
            <a:endParaRPr lang="zh-CN" altLang="en-US"/>
          </a:p>
        </p:txBody>
      </p:sp>
      <p:sp>
        <p:nvSpPr>
          <p:cNvPr id="11" name="副标题 2"/>
          <p:cNvSpPr>
            <a:spLocks noGrp="1"/>
          </p:cNvSpPr>
          <p:nvPr>
            <p:ph type="subTitle" idx="1"/>
          </p:nvPr>
        </p:nvSpPr>
        <p:spPr>
          <a:xfrm>
            <a:off x="669925" y="2848384"/>
            <a:ext cx="7855511" cy="558799"/>
          </a:xfr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4" name="标题 1"/>
          <p:cNvSpPr>
            <a:spLocks noGrp="1"/>
          </p:cNvSpPr>
          <p:nvPr>
            <p:ph type="ctrTitle"/>
          </p:nvPr>
        </p:nvSpPr>
        <p:spPr>
          <a:xfrm>
            <a:off x="669925" y="2149793"/>
            <a:ext cx="7855511" cy="698591"/>
          </a:xfr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15" name="文本占位符 13"/>
          <p:cNvSpPr>
            <a:spLocks noGrp="1"/>
          </p:cNvSpPr>
          <p:nvPr>
            <p:ph type="body" sz="quarter" idx="10"/>
          </p:nvPr>
        </p:nvSpPr>
        <p:spPr>
          <a:xfrm>
            <a:off x="669925" y="4611692"/>
            <a:ext cx="7855511" cy="296271"/>
          </a:xfr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16" name="文本占位符 13"/>
          <p:cNvSpPr>
            <a:spLocks noGrp="1"/>
          </p:cNvSpPr>
          <p:nvPr>
            <p:ph type="body" sz="quarter" idx="11"/>
          </p:nvPr>
        </p:nvSpPr>
        <p:spPr>
          <a:xfrm>
            <a:off x="669925" y="4907963"/>
            <a:ext cx="7855511" cy="296271"/>
          </a:xfr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0"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2"/>
          <p:cNvSpPr>
            <a:spLocks noGrp="1"/>
          </p:cNvSpPr>
          <p:nvPr>
            <p:ph type="body" idx="1"/>
          </p:nvPr>
        </p:nvSpPr>
        <p:spPr>
          <a:xfrm>
            <a:off x="838200" y="1825625"/>
            <a:ext cx="10515600" cy="4351338"/>
          </a:xfrm>
          <a:prstGeom prst="rect">
            <a:avLst/>
          </a:prstGeom>
          <a:noFill/>
          <a:ln w="9525">
            <a:noFill/>
          </a:ln>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53C20D7-BB8D-964B-B0A3-FD900497568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a:latin typeface="等线" pitchFamily="2" charset="-122"/>
              </a:rPr>
            </a:fld>
            <a:endParaRPr lang="zh-CN" altLang="en-US">
              <a:latin typeface="等线" pitchFamily="2" charset="-122"/>
            </a:endParaRPr>
          </a:p>
        </p:txBody>
      </p:sp>
      <p:pic>
        <p:nvPicPr>
          <p:cNvPr id="1031" name="图片 1" descr="徽标, 公司名称&#10;&#10;描述已自动生成"/>
          <p:cNvPicPr>
            <a:picLocks noChangeAspect="1"/>
          </p:cNvPicPr>
          <p:nvPr userDrawn="1"/>
        </p:nvPicPr>
        <p:blipFill>
          <a:blip r:embed="rId12"/>
          <a:stretch>
            <a:fillRect/>
          </a:stretch>
        </p:blipFill>
        <p:spPr>
          <a:xfrm>
            <a:off x="11061700" y="17463"/>
            <a:ext cx="1130300" cy="11303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itchFamily="2" charset="-122"/>
          <a:ea typeface="等线 Light" pitchFamily="2" charset="-122"/>
        </a:defRPr>
      </a:lvl2pPr>
      <a:lvl3pPr algn="l" rtl="0" eaLnBrk="0" fontAlgn="base" hangingPunct="0">
        <a:lnSpc>
          <a:spcPct val="90000"/>
        </a:lnSpc>
        <a:spcBef>
          <a:spcPct val="0"/>
        </a:spcBef>
        <a:spcAft>
          <a:spcPct val="0"/>
        </a:spcAft>
        <a:defRPr sz="4400">
          <a:solidFill>
            <a:schemeClr val="tx1"/>
          </a:solidFill>
          <a:latin typeface="等线 Light" pitchFamily="2" charset="-122"/>
          <a:ea typeface="等线 Light" pitchFamily="2" charset="-122"/>
        </a:defRPr>
      </a:lvl3pPr>
      <a:lvl4pPr algn="l" rtl="0" eaLnBrk="0" fontAlgn="base" hangingPunct="0">
        <a:lnSpc>
          <a:spcPct val="90000"/>
        </a:lnSpc>
        <a:spcBef>
          <a:spcPct val="0"/>
        </a:spcBef>
        <a:spcAft>
          <a:spcPct val="0"/>
        </a:spcAft>
        <a:defRPr sz="4400">
          <a:solidFill>
            <a:schemeClr val="tx1"/>
          </a:solidFill>
          <a:latin typeface="等线 Light" pitchFamily="2" charset="-122"/>
          <a:ea typeface="等线 Light" pitchFamily="2" charset="-122"/>
        </a:defRPr>
      </a:lvl4pPr>
      <a:lvl5pPr algn="l" rtl="0" eaLnBrk="0" fontAlgn="base" hangingPunct="0">
        <a:lnSpc>
          <a:spcPct val="90000"/>
        </a:lnSpc>
        <a:spcBef>
          <a:spcPct val="0"/>
        </a:spcBef>
        <a:spcAft>
          <a:spcPct val="0"/>
        </a:spcAft>
        <a:defRPr sz="4400">
          <a:solidFill>
            <a:schemeClr val="tx1"/>
          </a:solidFill>
          <a:latin typeface="等线 Light" pitchFamily="2" charset="-122"/>
          <a:ea typeface="等线 Light" pitchFamily="2" charset="-122"/>
        </a:defRPr>
      </a:lvl5pPr>
      <a:lvl6pPr marL="457200" algn="l" rtl="0" fontAlgn="base">
        <a:lnSpc>
          <a:spcPct val="90000"/>
        </a:lnSpc>
        <a:spcBef>
          <a:spcPct val="0"/>
        </a:spcBef>
        <a:spcAft>
          <a:spcPct val="0"/>
        </a:spcAft>
        <a:defRPr sz="4400">
          <a:solidFill>
            <a:schemeClr val="tx1"/>
          </a:solidFill>
          <a:latin typeface="等线 Light" pitchFamily="2" charset="-122"/>
          <a:ea typeface="等线 Light" pitchFamily="2" charset="-122"/>
        </a:defRPr>
      </a:lvl6pPr>
      <a:lvl7pPr marL="914400" algn="l" rtl="0" fontAlgn="base">
        <a:lnSpc>
          <a:spcPct val="90000"/>
        </a:lnSpc>
        <a:spcBef>
          <a:spcPct val="0"/>
        </a:spcBef>
        <a:spcAft>
          <a:spcPct val="0"/>
        </a:spcAft>
        <a:defRPr sz="4400">
          <a:solidFill>
            <a:schemeClr val="tx1"/>
          </a:solidFill>
          <a:latin typeface="等线 Light" pitchFamily="2" charset="-122"/>
          <a:ea typeface="等线 Light" pitchFamily="2" charset="-122"/>
        </a:defRPr>
      </a:lvl7pPr>
      <a:lvl8pPr marL="1371600" algn="l" rtl="0" fontAlgn="base">
        <a:lnSpc>
          <a:spcPct val="90000"/>
        </a:lnSpc>
        <a:spcBef>
          <a:spcPct val="0"/>
        </a:spcBef>
        <a:spcAft>
          <a:spcPct val="0"/>
        </a:spcAft>
        <a:defRPr sz="4400">
          <a:solidFill>
            <a:schemeClr val="tx1"/>
          </a:solidFill>
          <a:latin typeface="等线 Light" pitchFamily="2" charset="-122"/>
          <a:ea typeface="等线 Light" pitchFamily="2" charset="-122"/>
        </a:defRPr>
      </a:lvl8pPr>
      <a:lvl9pPr marL="1828800" algn="l" rtl="0" fontAlgn="base">
        <a:lnSpc>
          <a:spcPct val="90000"/>
        </a:lnSpc>
        <a:spcBef>
          <a:spcPct val="0"/>
        </a:spcBef>
        <a:spcAft>
          <a:spcPct val="0"/>
        </a:spcAft>
        <a:defRPr sz="4400">
          <a:solidFill>
            <a:schemeClr val="tx1"/>
          </a:solidFill>
          <a:latin typeface="等线 Light" pitchFamily="2" charset="-122"/>
          <a:ea typeface="等线 Light"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3314" name="图片 1" descr="徽标, 公司名称&#10;&#10;描述已自动生成"/>
          <p:cNvPicPr>
            <a:picLocks noChangeAspect="1"/>
          </p:cNvPicPr>
          <p:nvPr userDrawn="1"/>
        </p:nvPicPr>
        <p:blipFill>
          <a:blip r:embed="rId9"/>
          <a:stretch>
            <a:fillRect/>
          </a:stretch>
        </p:blipFill>
        <p:spPr>
          <a:xfrm>
            <a:off x="10912475" y="17463"/>
            <a:ext cx="1279525" cy="12795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Lao UI" pitchFamily="34" charset="0"/>
          <a:ea typeface="微软雅黑" pitchFamily="34" charset="-122"/>
        </a:defRPr>
      </a:lvl2pPr>
      <a:lvl3pPr algn="l" rtl="0" eaLnBrk="0" fontAlgn="base" hangingPunct="0">
        <a:lnSpc>
          <a:spcPct val="90000"/>
        </a:lnSpc>
        <a:spcBef>
          <a:spcPct val="0"/>
        </a:spcBef>
        <a:spcAft>
          <a:spcPct val="0"/>
        </a:spcAft>
        <a:defRPr sz="4400">
          <a:solidFill>
            <a:schemeClr val="tx1"/>
          </a:solidFill>
          <a:latin typeface="Lao UI" pitchFamily="34" charset="0"/>
          <a:ea typeface="微软雅黑" pitchFamily="34" charset="-122"/>
        </a:defRPr>
      </a:lvl3pPr>
      <a:lvl4pPr algn="l" rtl="0" eaLnBrk="0" fontAlgn="base" hangingPunct="0">
        <a:lnSpc>
          <a:spcPct val="90000"/>
        </a:lnSpc>
        <a:spcBef>
          <a:spcPct val="0"/>
        </a:spcBef>
        <a:spcAft>
          <a:spcPct val="0"/>
        </a:spcAft>
        <a:defRPr sz="4400">
          <a:solidFill>
            <a:schemeClr val="tx1"/>
          </a:solidFill>
          <a:latin typeface="Lao UI" pitchFamily="34" charset="0"/>
          <a:ea typeface="微软雅黑" pitchFamily="34" charset="-122"/>
        </a:defRPr>
      </a:lvl4pPr>
      <a:lvl5pPr algn="l" rtl="0" eaLnBrk="0" fontAlgn="base" hangingPunct="0">
        <a:lnSpc>
          <a:spcPct val="90000"/>
        </a:lnSpc>
        <a:spcBef>
          <a:spcPct val="0"/>
        </a:spcBef>
        <a:spcAft>
          <a:spcPct val="0"/>
        </a:spcAft>
        <a:defRPr sz="4400">
          <a:solidFill>
            <a:schemeClr val="tx1"/>
          </a:solidFill>
          <a:latin typeface="Lao UI" pitchFamily="34" charset="0"/>
          <a:ea typeface="微软雅黑" pitchFamily="34" charset="-122"/>
        </a:defRPr>
      </a:lvl5pPr>
      <a:lvl6pPr marL="457200" algn="l" rtl="0" fontAlgn="base">
        <a:lnSpc>
          <a:spcPct val="90000"/>
        </a:lnSpc>
        <a:spcBef>
          <a:spcPct val="0"/>
        </a:spcBef>
        <a:spcAft>
          <a:spcPct val="0"/>
        </a:spcAft>
        <a:defRPr sz="4400">
          <a:solidFill>
            <a:schemeClr val="tx1"/>
          </a:solidFill>
          <a:latin typeface="Lao UI" pitchFamily="34" charset="0"/>
          <a:ea typeface="微软雅黑" pitchFamily="34" charset="-122"/>
        </a:defRPr>
      </a:lvl6pPr>
      <a:lvl7pPr marL="914400" algn="l" rtl="0" fontAlgn="base">
        <a:lnSpc>
          <a:spcPct val="90000"/>
        </a:lnSpc>
        <a:spcBef>
          <a:spcPct val="0"/>
        </a:spcBef>
        <a:spcAft>
          <a:spcPct val="0"/>
        </a:spcAft>
        <a:defRPr sz="4400">
          <a:solidFill>
            <a:schemeClr val="tx1"/>
          </a:solidFill>
          <a:latin typeface="Lao UI" pitchFamily="34" charset="0"/>
          <a:ea typeface="微软雅黑" pitchFamily="34" charset="-122"/>
        </a:defRPr>
      </a:lvl7pPr>
      <a:lvl8pPr marL="1371600" algn="l" rtl="0" fontAlgn="base">
        <a:lnSpc>
          <a:spcPct val="90000"/>
        </a:lnSpc>
        <a:spcBef>
          <a:spcPct val="0"/>
        </a:spcBef>
        <a:spcAft>
          <a:spcPct val="0"/>
        </a:spcAft>
        <a:defRPr sz="4400">
          <a:solidFill>
            <a:schemeClr val="tx1"/>
          </a:solidFill>
          <a:latin typeface="Lao UI" pitchFamily="34" charset="0"/>
          <a:ea typeface="微软雅黑" pitchFamily="34" charset="-122"/>
        </a:defRPr>
      </a:lvl8pPr>
      <a:lvl9pPr marL="1828800" algn="l" rtl="0" fontAlgn="base">
        <a:lnSpc>
          <a:spcPct val="90000"/>
        </a:lnSpc>
        <a:spcBef>
          <a:spcPct val="0"/>
        </a:spcBef>
        <a:spcAft>
          <a:spcPct val="0"/>
        </a:spcAft>
        <a:defRPr sz="4400">
          <a:solidFill>
            <a:schemeClr val="tx1"/>
          </a:solidFill>
          <a:latin typeface="Lao UI" pitchFamily="34" charset="0"/>
          <a:ea typeface="微软雅黑"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9.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5.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矩形 30"/>
          <p:cNvSpPr/>
          <p:nvPr/>
        </p:nvSpPr>
        <p:spPr bwMode="auto">
          <a:xfrm>
            <a:off x="900113" y="2154238"/>
            <a:ext cx="10947400" cy="2399665"/>
          </a:xfrm>
          <a:prstGeom prst="rect">
            <a:avLst/>
          </a:prstGeom>
        </p:spPr>
        <p:txBody>
          <a:bodyPr>
            <a:spAutoFit/>
          </a:bodyPr>
          <a:p>
            <a:pPr algn="ctr" eaLnBrk="1" hangingPunct="1">
              <a:buNone/>
            </a:pPr>
            <a:endParaRPr lang="en-US" altLang="zh-CN" sz="6600">
              <a:solidFill>
                <a:schemeClr val="accent1"/>
              </a:solidFill>
              <a:latin typeface="微软雅黑" pitchFamily="34" charset="-122"/>
              <a:ea typeface="微软雅黑" pitchFamily="34" charset="-122"/>
              <a:sym typeface="+mn-ea"/>
            </a:endParaRPr>
          </a:p>
          <a:p>
            <a:pPr algn="ctr" eaLnBrk="1" hangingPunct="1">
              <a:lnSpc>
                <a:spcPct val="150000"/>
              </a:lnSpc>
              <a:buNone/>
            </a:pPr>
            <a:r>
              <a:rPr lang="zh-CN" altLang="zh-CN" sz="2800" b="1">
                <a:latin typeface="微软雅黑" pitchFamily="34" charset="-122"/>
                <a:ea typeface="微软雅黑" pitchFamily="34" charset="-122"/>
              </a:rPr>
              <a:t>行动者网络视域下中国网络文学的译介与</a:t>
            </a:r>
            <a:r>
              <a:rPr lang="zh-CN" altLang="zh-CN" sz="2800" b="1">
                <a:latin typeface="微软雅黑" pitchFamily="34" charset="-122"/>
                <a:ea typeface="微软雅黑" pitchFamily="34" charset="-122"/>
              </a:rPr>
              <a:t>传播</a:t>
            </a:r>
            <a:endParaRPr lang="zh-CN" altLang="zh-CN" sz="2800" b="1">
              <a:latin typeface="微软雅黑" pitchFamily="34" charset="-122"/>
              <a:ea typeface="微软雅黑" pitchFamily="34" charset="-122"/>
            </a:endParaRPr>
          </a:p>
          <a:p>
            <a:pPr algn="ctr" eaLnBrk="1" hangingPunct="1">
              <a:lnSpc>
                <a:spcPct val="150000"/>
              </a:lnSpc>
              <a:buNone/>
            </a:pPr>
            <a:r>
              <a:rPr lang="zh-CN" altLang="zh-CN" sz="2800" b="1">
                <a:latin typeface="微软雅黑" pitchFamily="34" charset="-122"/>
                <a:ea typeface="微软雅黑" pitchFamily="34" charset="-122"/>
              </a:rPr>
              <a:t>——以起点国际平台《诡秘之主》英译为例</a:t>
            </a:r>
            <a:endParaRPr lang="zh-CN" altLang="zh-CN" sz="2800" b="1">
              <a:latin typeface="微软雅黑" pitchFamily="34" charset="-122"/>
              <a:ea typeface="微软雅黑" pitchFamily="34" charset="-122"/>
            </a:endParaRPr>
          </a:p>
        </p:txBody>
      </p:sp>
      <p:sp>
        <p:nvSpPr>
          <p:cNvPr id="45" name="矩形 44"/>
          <p:cNvSpPr/>
          <p:nvPr/>
        </p:nvSpPr>
        <p:spPr bwMode="auto">
          <a:xfrm>
            <a:off x="4870450" y="5500688"/>
            <a:ext cx="3006725" cy="708025"/>
          </a:xfrm>
          <a:prstGeom prst="rect">
            <a:avLst/>
          </a:prstGeom>
        </p:spPr>
        <p:txBody>
          <a:bodyPr wrap="none">
            <a:spAutoFit/>
          </a:bodyPr>
          <a:p>
            <a:pPr algn="r" eaLnBrk="1" hangingPunct="1">
              <a:buNone/>
            </a:pPr>
            <a:r>
              <a:rPr lang="zh-CN" altLang="en-US" sz="2000" b="1">
                <a:latin typeface="Lao UI" pitchFamily="34" charset="0"/>
                <a:ea typeface="微软雅黑" pitchFamily="34" charset="-122"/>
              </a:rPr>
              <a:t>研究方向：文学翻译研究</a:t>
            </a:r>
            <a:endParaRPr lang="zh-CN" altLang="en-US" sz="2000" b="1">
              <a:latin typeface="Lao UI" pitchFamily="34" charset="0"/>
              <a:ea typeface="微软雅黑" pitchFamily="34" charset="-122"/>
            </a:endParaRPr>
          </a:p>
          <a:p>
            <a:pPr algn="r" eaLnBrk="1" hangingPunct="1">
              <a:buNone/>
            </a:pPr>
            <a:endParaRPr lang="zh-CN" altLang="en-US" sz="2000">
              <a:solidFill>
                <a:schemeClr val="accent1"/>
              </a:solidFill>
              <a:latin typeface="微软雅黑" pitchFamily="34" charset="-122"/>
              <a:ea typeface="微软雅黑" pitchFamily="34" charset="-122"/>
            </a:endParaRPr>
          </a:p>
        </p:txBody>
      </p:sp>
      <p:sp>
        <p:nvSpPr>
          <p:cNvPr id="22" name="矩形 21"/>
          <p:cNvSpPr/>
          <p:nvPr/>
        </p:nvSpPr>
        <p:spPr bwMode="auto">
          <a:xfrm>
            <a:off x="5180013" y="5103813"/>
            <a:ext cx="2576513" cy="70802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schemeClr val="tx1"/>
                </a:solidFill>
                <a:effectLst/>
                <a:uLnTx/>
                <a:uFillTx/>
                <a:latin typeface="+mn-lt"/>
                <a:ea typeface="+mn-ea"/>
                <a:cs typeface="+mn-cs"/>
              </a:rPr>
              <a:t>学号：</a:t>
            </a:r>
            <a:r>
              <a:rPr kumimoji="1" lang="en-US" altLang="zh-CN" sz="2000" b="1" i="0" u="none" strike="noStrike" kern="1200" cap="none" spc="0" normalizeH="0" baseline="0" noProof="0" dirty="0">
                <a:ln>
                  <a:noFill/>
                </a:ln>
                <a:solidFill>
                  <a:schemeClr val="tx1"/>
                </a:solidFill>
                <a:effectLst/>
                <a:uLnTx/>
                <a:uFillTx/>
                <a:latin typeface="+mn-lt"/>
                <a:ea typeface="+mn-ea"/>
                <a:cs typeface="+mn-cs"/>
              </a:rPr>
              <a:t>20221210031</a:t>
            </a:r>
            <a:endParaRPr kumimoji="1"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00" cap="none" spc="0" normalizeH="0" baseline="0" noProof="0" dirty="0">
              <a:ln>
                <a:noFill/>
              </a:ln>
              <a:solidFill>
                <a:schemeClr val="accent1"/>
              </a:solidFill>
              <a:effectLst/>
              <a:uLnTx/>
              <a:uFillTx/>
              <a:latin typeface="微软雅黑" pitchFamily="34" charset="-122"/>
              <a:ea typeface="微软雅黑" pitchFamily="34" charset="-122"/>
              <a:cs typeface="Times New Roman" panose="02020603050405020304" pitchFamily="18" charset="0"/>
            </a:endParaRPr>
          </a:p>
        </p:txBody>
      </p:sp>
      <p:sp>
        <p:nvSpPr>
          <p:cNvPr id="4" name="文本框 3"/>
          <p:cNvSpPr txBox="1"/>
          <p:nvPr/>
        </p:nvSpPr>
        <p:spPr>
          <a:xfrm>
            <a:off x="5345113" y="4703763"/>
            <a:ext cx="2676525" cy="892175"/>
          </a:xfrm>
          <a:prstGeom prst="rect">
            <a:avLst/>
          </a:prstGeom>
          <a:noFill/>
        </p:spPr>
        <p:txBody>
          <a:bodyPr>
            <a:spAutoFit/>
          </a:bodyPr>
          <a:p>
            <a:pPr eaLnBrk="1" hangingPunct="1">
              <a:buNone/>
            </a:pPr>
            <a:r>
              <a:rPr lang="zh-CN" altLang="en-US" sz="2000" b="1">
                <a:latin typeface="Lao UI" pitchFamily="34" charset="0"/>
                <a:ea typeface="微软雅黑" pitchFamily="34" charset="-122"/>
              </a:rPr>
              <a:t>答辩人：彭杰敏</a:t>
            </a:r>
            <a:endParaRPr lang="en-US" altLang="zh-CN" sz="2000" b="1">
              <a:latin typeface="Lao UI" pitchFamily="34" charset="0"/>
              <a:ea typeface="微软雅黑" pitchFamily="34" charset="-122"/>
            </a:endParaRPr>
          </a:p>
          <a:p>
            <a:pPr eaLnBrk="1" hangingPunct="1">
              <a:buNone/>
            </a:pPr>
            <a:endParaRPr lang="en-US" altLang="zh-CN" sz="1600" b="1">
              <a:latin typeface="Lao UI" pitchFamily="34" charset="0"/>
              <a:ea typeface="微软雅黑" pitchFamily="34" charset="-122"/>
            </a:endParaRPr>
          </a:p>
          <a:p>
            <a:pPr eaLnBrk="1" hangingPunct="1">
              <a:buNone/>
            </a:pPr>
            <a:endParaRPr lang="zh-CN" altLang="en-US" sz="1600">
              <a:solidFill>
                <a:schemeClr val="accent1"/>
              </a:solidFill>
              <a:latin typeface="微软雅黑" pitchFamily="34" charset="-122"/>
              <a:ea typeface="微软雅黑" pitchFamily="34" charset="-122"/>
              <a:sym typeface="+mn-ea"/>
            </a:endParaRPr>
          </a:p>
        </p:txBody>
      </p:sp>
      <p:sp>
        <p:nvSpPr>
          <p:cNvPr id="5" name="文本框 4"/>
          <p:cNvSpPr txBox="1"/>
          <p:nvPr/>
        </p:nvSpPr>
        <p:spPr>
          <a:xfrm>
            <a:off x="725805" y="1211580"/>
            <a:ext cx="10947400" cy="2061210"/>
          </a:xfrm>
          <a:prstGeom prst="rect">
            <a:avLst/>
          </a:prstGeom>
          <a:noFill/>
        </p:spPr>
        <p:txBody>
          <a:bodyPr wrap="square">
            <a:spAutoFit/>
          </a:bodyPr>
          <a:lstStyle/>
          <a:p>
            <a:pPr marR="0" algn="ctr" defTabSz="914400" eaLnBrk="1" fontAlgn="auto" hangingPunct="1">
              <a:spcBef>
                <a:spcPts val="0"/>
              </a:spcBef>
              <a:spcAft>
                <a:spcPts val="0"/>
              </a:spcAft>
              <a:buClrTx/>
              <a:buSzTx/>
              <a:buFontTx/>
              <a:buNone/>
              <a:defRPr/>
            </a:pPr>
            <a:r>
              <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rPr>
              <a:t>Translation and Dissemination of Chinese Online Literature </a:t>
            </a:r>
            <a:endPar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endParaRPr>
          </a:p>
          <a:p>
            <a:pPr marR="0" algn="ctr" defTabSz="914400" eaLnBrk="1" fontAlgn="auto" hangingPunct="1">
              <a:spcBef>
                <a:spcPts val="0"/>
              </a:spcBef>
              <a:spcAft>
                <a:spcPts val="0"/>
              </a:spcAft>
              <a:buClrTx/>
              <a:buSzTx/>
              <a:buFontTx/>
              <a:buNone/>
              <a:defRPr/>
            </a:pPr>
            <a:r>
              <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rPr>
              <a:t>from the Perspective of Actor-Network Theory: Taking the </a:t>
            </a:r>
            <a:endPar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endParaRPr>
          </a:p>
          <a:p>
            <a:pPr marR="0" algn="ctr" defTabSz="914400" eaLnBrk="1" fontAlgn="auto" hangingPunct="1">
              <a:spcBef>
                <a:spcPts val="0"/>
              </a:spcBef>
              <a:spcAft>
                <a:spcPts val="0"/>
              </a:spcAft>
              <a:buClrTx/>
              <a:buSzTx/>
              <a:buFontTx/>
              <a:buNone/>
              <a:defRPr/>
            </a:pPr>
            <a:r>
              <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rPr>
              <a:t>English Translation of </a:t>
            </a:r>
            <a:r>
              <a:rPr kumimoji="0" lang="en-US" altLang="zh-CN" sz="3200" b="1" i="1" kern="1200" cap="none" spc="0" normalizeH="0" baseline="0" noProof="0" dirty="0">
                <a:latin typeface="Times New Roman" panose="02020603050405020304" pitchFamily="18" charset="0"/>
                <a:ea typeface="+mj-ea"/>
                <a:cs typeface="Times New Roman" panose="02020603050405020304" pitchFamily="18" charset="0"/>
              </a:rPr>
              <a:t>Lord of Mysteries</a:t>
            </a:r>
            <a:r>
              <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rPr>
              <a:t> </a:t>
            </a:r>
            <a:endPar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endParaRPr>
          </a:p>
          <a:p>
            <a:pPr marR="0" algn="ctr" defTabSz="914400" eaLnBrk="1" fontAlgn="auto" hangingPunct="1">
              <a:spcBef>
                <a:spcPts val="0"/>
              </a:spcBef>
              <a:spcAft>
                <a:spcPts val="0"/>
              </a:spcAft>
              <a:buClrTx/>
              <a:buSzTx/>
              <a:buFontTx/>
              <a:buNone/>
              <a:defRPr/>
            </a:pPr>
            <a:r>
              <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rPr>
              <a:t>on </a:t>
            </a:r>
            <a:r>
              <a:rPr kumimoji="0" lang="en-US" altLang="zh-CN" sz="3200" b="1" kern="1200" cap="none" spc="0" normalizeH="0" baseline="0" noProof="0" dirty="0" err="1">
                <a:latin typeface="Times New Roman" panose="02020603050405020304" pitchFamily="18" charset="0"/>
                <a:ea typeface="+mj-ea"/>
                <a:cs typeface="Times New Roman" panose="02020603050405020304" pitchFamily="18" charset="0"/>
              </a:rPr>
              <a:t>Webnovel</a:t>
            </a:r>
            <a:r>
              <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rPr>
              <a:t> as an Example</a:t>
            </a:r>
            <a:endParaRPr kumimoji="0" lang="en-US" altLang="zh-CN" sz="3200" b="1" kern="1200" cap="none" spc="0" normalizeH="0" baseline="0" noProof="0" dirty="0">
              <a:latin typeface="Times New Roman" panose="02020603050405020304" pitchFamily="18" charset="0"/>
              <a:ea typeface="+mj-ea"/>
              <a:cs typeface="Times New Roman" panose="02020603050405020304" pitchFamily="18" charset="0"/>
            </a:endParaRPr>
          </a:p>
        </p:txBody>
      </p:sp>
      <p:sp>
        <p:nvSpPr>
          <p:cNvPr id="22534" name="图片 1" descr="C:\Users\xin\Desktop\01564.jpg01564"/>
          <p:cNvSpPr>
            <a:spLocks noChangeAspect="1"/>
          </p:cNvSpPr>
          <p:nvPr>
            <p:custDataLst>
              <p:tags r:id="rId1"/>
            </p:custDataLst>
          </p:nvPr>
        </p:nvSpPr>
        <p:spPr>
          <a:xfrm>
            <a:off x="10868025" y="106363"/>
            <a:ext cx="1195388" cy="1158875"/>
          </a:xfrm>
          <a:prstGeom prst="rect">
            <a:avLst/>
          </a:prstGeom>
          <a:noFill/>
          <a:ln w="9525">
            <a:noFill/>
          </a:ln>
        </p:spPr>
        <p:txBody>
          <a:bodyPr/>
          <a:p>
            <a:endParaRPr lang="zh-CN" altLang="en-US">
              <a:latin typeface="等线"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 name="矩形 61"/>
          <p:cNvSpPr/>
          <p:nvPr/>
        </p:nvSpPr>
        <p:spPr>
          <a:xfrm>
            <a:off x="5895975" y="1249363"/>
            <a:ext cx="6011863" cy="522288"/>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 </a:t>
            </a:r>
            <a:r>
              <a:rPr kumimoji="0" lang="en-US" altLang="zh-CN" sz="2800"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INTRODUCTION</a:t>
            </a:r>
            <a:endParaRPr kumimoji="0" lang="zh-CN" altLang="en-US" sz="2800"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endParaRPr>
          </a:p>
        </p:txBody>
      </p:sp>
      <p:sp>
        <p:nvSpPr>
          <p:cNvPr id="63" name="椭圆 62"/>
          <p:cNvSpPr/>
          <p:nvPr/>
        </p:nvSpPr>
        <p:spPr>
          <a:xfrm>
            <a:off x="5211763" y="1204913"/>
            <a:ext cx="587375" cy="5873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0" i="0" u="none" strike="noStrike" kern="1200" cap="none" spc="0" normalizeH="0" baseline="0" noProof="0" dirty="0">
                <a:ln>
                  <a:noFill/>
                </a:ln>
                <a:solidFill>
                  <a:schemeClr val="lt1"/>
                </a:solidFill>
                <a:effectLst/>
                <a:uLnTx/>
                <a:uFillTx/>
                <a:latin typeface="+mj-lt"/>
                <a:ea typeface="+mn-ea"/>
                <a:cs typeface="+mn-cs"/>
              </a:rPr>
              <a:t>1</a:t>
            </a:r>
            <a:endParaRPr kumimoji="0" lang="zh-CN" altLang="en-US" sz="2135" b="0" i="0" u="none" strike="noStrike" kern="1200" cap="none" spc="0" normalizeH="0" baseline="0" noProof="0" dirty="0">
              <a:ln>
                <a:noFill/>
              </a:ln>
              <a:solidFill>
                <a:schemeClr val="lt1"/>
              </a:solidFill>
              <a:effectLst/>
              <a:uLnTx/>
              <a:uFillTx/>
              <a:latin typeface="+mj-lt"/>
              <a:ea typeface="+mn-ea"/>
              <a:cs typeface="+mn-cs"/>
            </a:endParaRPr>
          </a:p>
        </p:txBody>
      </p:sp>
      <p:sp>
        <p:nvSpPr>
          <p:cNvPr id="66" name="椭圆 65"/>
          <p:cNvSpPr/>
          <p:nvPr/>
        </p:nvSpPr>
        <p:spPr>
          <a:xfrm>
            <a:off x="5211763" y="2105025"/>
            <a:ext cx="587375" cy="5873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0" i="0" u="none" strike="noStrike" kern="1200" cap="none" spc="0" normalizeH="0" baseline="0" noProof="0">
                <a:ln>
                  <a:noFill/>
                </a:ln>
                <a:solidFill>
                  <a:schemeClr val="lt1"/>
                </a:solidFill>
                <a:effectLst/>
                <a:uLnTx/>
                <a:uFillTx/>
                <a:latin typeface="+mj-lt"/>
                <a:ea typeface="+mn-ea"/>
                <a:cs typeface="+mn-cs"/>
              </a:rPr>
              <a:t>2</a:t>
            </a:r>
            <a:endParaRPr kumimoji="0" lang="zh-CN" altLang="en-US" sz="2135" b="0" i="0" u="none" strike="noStrike" kern="1200" cap="none" spc="0" normalizeH="0" baseline="0" noProof="0">
              <a:ln>
                <a:noFill/>
              </a:ln>
              <a:solidFill>
                <a:schemeClr val="lt1"/>
              </a:solidFill>
              <a:effectLst/>
              <a:uLnTx/>
              <a:uFillTx/>
              <a:latin typeface="+mj-lt"/>
              <a:ea typeface="+mn-ea"/>
              <a:cs typeface="+mn-cs"/>
            </a:endParaRPr>
          </a:p>
        </p:txBody>
      </p:sp>
      <p:sp>
        <p:nvSpPr>
          <p:cNvPr id="69" name="矩形 68"/>
          <p:cNvSpPr/>
          <p:nvPr/>
        </p:nvSpPr>
        <p:spPr>
          <a:xfrm>
            <a:off x="6013450" y="2162175"/>
            <a:ext cx="5778500" cy="5238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LITERATURE REVIEW</a:t>
            </a:r>
            <a:endParaRPr kumimoji="0" lang="zh-CN" altLang="en-US" sz="2800"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endParaRPr>
          </a:p>
        </p:txBody>
      </p:sp>
      <p:sp>
        <p:nvSpPr>
          <p:cNvPr id="19" name="菱形 18"/>
          <p:cNvSpPr/>
          <p:nvPr/>
        </p:nvSpPr>
        <p:spPr>
          <a:xfrm>
            <a:off x="1189038" y="1511300"/>
            <a:ext cx="3692525" cy="3692525"/>
          </a:xfrm>
          <a:prstGeom prst="diamond">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0" name="矩形 19"/>
          <p:cNvSpPr/>
          <p:nvPr/>
        </p:nvSpPr>
        <p:spPr bwMode="auto">
          <a:xfrm>
            <a:off x="1793875" y="3063875"/>
            <a:ext cx="2481263" cy="58578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CONTENTS</a:t>
            </a:r>
            <a:endParaRPr kumimoji="0" lang="en-US" altLang="zh-CN" sz="3200" b="1" i="0" u="none" strike="noStrike" kern="1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endParaRPr>
          </a:p>
        </p:txBody>
      </p:sp>
      <p:sp>
        <p:nvSpPr>
          <p:cNvPr id="2" name="椭圆 1"/>
          <p:cNvSpPr/>
          <p:nvPr/>
        </p:nvSpPr>
        <p:spPr>
          <a:xfrm>
            <a:off x="5211763" y="3063875"/>
            <a:ext cx="587375" cy="58896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0" i="0" u="none" strike="noStrike" kern="1200" cap="none" spc="0" normalizeH="0" baseline="0" noProof="0" dirty="0">
                <a:ln>
                  <a:noFill/>
                </a:ln>
                <a:solidFill>
                  <a:schemeClr val="lt1"/>
                </a:solidFill>
                <a:effectLst/>
                <a:uLnTx/>
                <a:uFillTx/>
                <a:latin typeface="+mj-lt"/>
                <a:ea typeface="+mn-ea"/>
                <a:cs typeface="+mn-cs"/>
              </a:rPr>
              <a:t>3</a:t>
            </a:r>
            <a:endParaRPr kumimoji="0" lang="en-US" altLang="zh-CN" sz="2135" b="0" i="0" u="none" strike="noStrike" kern="1200" cap="none" spc="0" normalizeH="0" baseline="0" noProof="0" dirty="0">
              <a:ln>
                <a:noFill/>
              </a:ln>
              <a:solidFill>
                <a:schemeClr val="lt1"/>
              </a:solidFill>
              <a:effectLst/>
              <a:uLnTx/>
              <a:uFillTx/>
              <a:latin typeface="+mj-lt"/>
              <a:ea typeface="+mn-ea"/>
              <a:cs typeface="+mn-cs"/>
            </a:endParaRPr>
          </a:p>
        </p:txBody>
      </p:sp>
      <p:sp>
        <p:nvSpPr>
          <p:cNvPr id="3" name="文本框 2"/>
          <p:cNvSpPr txBox="1"/>
          <p:nvPr/>
        </p:nvSpPr>
        <p:spPr>
          <a:xfrm>
            <a:off x="6005513" y="3114675"/>
            <a:ext cx="5430838" cy="5222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200" cap="none" spc="0" normalizeH="0" baseline="0" noProof="0" dirty="0">
                <a:latin typeface="Times New Roman" panose="02020603050405020304" pitchFamily="18" charset="0"/>
                <a:ea typeface="+mj-ea"/>
                <a:cs typeface="Times New Roman" panose="02020603050405020304" pitchFamily="18" charset="0"/>
              </a:rPr>
              <a:t>THEORETICAL FRAMEWORK</a:t>
            </a:r>
            <a:endParaRPr kumimoji="0" lang="zh-CN" altLang="en-US" sz="2800" b="1" kern="1200" cap="none" spc="0" normalizeH="0" baseline="0" noProof="0" dirty="0">
              <a:latin typeface="Times New Roman" panose="02020603050405020304" pitchFamily="18" charset="0"/>
              <a:ea typeface="+mj-ea"/>
              <a:cs typeface="Times New Roman" panose="02020603050405020304" pitchFamily="18" charset="0"/>
            </a:endParaRPr>
          </a:p>
        </p:txBody>
      </p:sp>
      <p:sp>
        <p:nvSpPr>
          <p:cNvPr id="24585" name="图片 3" descr="C:\Users\xin\Desktop\01564.jpg01564"/>
          <p:cNvSpPr>
            <a:spLocks noChangeAspect="1"/>
          </p:cNvSpPr>
          <p:nvPr>
            <p:custDataLst>
              <p:tags r:id="rId1"/>
            </p:custDataLst>
          </p:nvPr>
        </p:nvSpPr>
        <p:spPr>
          <a:xfrm>
            <a:off x="10868025" y="106363"/>
            <a:ext cx="1195388" cy="1158875"/>
          </a:xfrm>
          <a:prstGeom prst="rect">
            <a:avLst/>
          </a:prstGeom>
          <a:noFill/>
          <a:ln w="9525">
            <a:noFill/>
          </a:ln>
        </p:spPr>
        <p:txBody>
          <a:bodyPr/>
          <a:p>
            <a:endParaRPr lang="zh-CN" altLang="en-US">
              <a:latin typeface="等线" pitchFamily="2" charset="-122"/>
            </a:endParaRPr>
          </a:p>
        </p:txBody>
      </p:sp>
      <p:sp>
        <p:nvSpPr>
          <p:cNvPr id="5" name="椭圆 4"/>
          <p:cNvSpPr/>
          <p:nvPr/>
        </p:nvSpPr>
        <p:spPr>
          <a:xfrm>
            <a:off x="5211763" y="4024313"/>
            <a:ext cx="587375" cy="58896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0" i="0" u="none" strike="noStrike" kern="1200" cap="none" spc="0" normalizeH="0" baseline="0" noProof="0" dirty="0">
                <a:ln>
                  <a:noFill/>
                </a:ln>
                <a:solidFill>
                  <a:schemeClr val="lt1"/>
                </a:solidFill>
                <a:effectLst/>
                <a:uLnTx/>
                <a:uFillTx/>
                <a:latin typeface="+mj-lt"/>
                <a:ea typeface="+mn-ea"/>
                <a:cs typeface="+mn-cs"/>
              </a:rPr>
              <a:t>4</a:t>
            </a:r>
            <a:endParaRPr kumimoji="0" lang="en-US" altLang="zh-CN" sz="2135" b="0" i="0" u="none" strike="noStrike" kern="1200" cap="none" spc="0" normalizeH="0" baseline="0" noProof="0" dirty="0">
              <a:ln>
                <a:noFill/>
              </a:ln>
              <a:solidFill>
                <a:schemeClr val="lt1"/>
              </a:solidFill>
              <a:effectLst/>
              <a:uLnTx/>
              <a:uFillTx/>
              <a:latin typeface="+mj-lt"/>
              <a:ea typeface="+mn-ea"/>
              <a:cs typeface="+mn-cs"/>
            </a:endParaRPr>
          </a:p>
        </p:txBody>
      </p:sp>
      <p:sp>
        <p:nvSpPr>
          <p:cNvPr id="7" name="文本框 6"/>
          <p:cNvSpPr txBox="1"/>
          <p:nvPr/>
        </p:nvSpPr>
        <p:spPr>
          <a:xfrm>
            <a:off x="6013450" y="4086225"/>
            <a:ext cx="4333875" cy="52197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200" cap="none" spc="0" normalizeH="0" baseline="0" noProof="0" dirty="0">
                <a:latin typeface="Times New Roman" panose="02020603050405020304" pitchFamily="18" charset="0"/>
                <a:ea typeface="+mj-ea"/>
                <a:cs typeface="Times New Roman" panose="02020603050405020304" pitchFamily="18" charset="0"/>
              </a:rPr>
              <a:t>RESEARCH CONTENT</a:t>
            </a:r>
            <a:endParaRPr kumimoji="0" lang="zh-CN" altLang="en-US" sz="2800" b="1" kern="1200" cap="none" spc="0" normalizeH="0" baseline="0" noProof="0" dirty="0">
              <a:latin typeface="Times New Roman" panose="02020603050405020304" pitchFamily="18" charset="0"/>
              <a:ea typeface="+mj-ea"/>
              <a:cs typeface="Times New Roman" panose="02020603050405020304" pitchFamily="18" charset="0"/>
            </a:endParaRPr>
          </a:p>
        </p:txBody>
      </p:sp>
      <p:sp>
        <p:nvSpPr>
          <p:cNvPr id="8" name="椭圆 7"/>
          <p:cNvSpPr/>
          <p:nvPr/>
        </p:nvSpPr>
        <p:spPr>
          <a:xfrm>
            <a:off x="5211763" y="4984750"/>
            <a:ext cx="587375" cy="58896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0" i="0" u="none" strike="noStrike" kern="1200" cap="none" spc="0" normalizeH="0" baseline="0" noProof="0" dirty="0">
                <a:ln>
                  <a:noFill/>
                </a:ln>
                <a:solidFill>
                  <a:schemeClr val="lt1"/>
                </a:solidFill>
                <a:effectLst/>
                <a:uLnTx/>
                <a:uFillTx/>
                <a:latin typeface="+mj-lt"/>
                <a:ea typeface="+mn-ea"/>
                <a:cs typeface="+mn-cs"/>
              </a:rPr>
              <a:t>5</a:t>
            </a:r>
            <a:endParaRPr kumimoji="0" lang="en-US" altLang="zh-CN" sz="2135" b="0" i="0" u="none" strike="noStrike" kern="1200" cap="none" spc="0" normalizeH="0" baseline="0" noProof="0" dirty="0">
              <a:ln>
                <a:noFill/>
              </a:ln>
              <a:solidFill>
                <a:schemeClr val="lt1"/>
              </a:solidFill>
              <a:effectLst/>
              <a:uLnTx/>
              <a:uFillTx/>
              <a:latin typeface="+mj-lt"/>
              <a:ea typeface="+mn-ea"/>
              <a:cs typeface="+mn-cs"/>
            </a:endParaRPr>
          </a:p>
        </p:txBody>
      </p:sp>
      <p:sp>
        <p:nvSpPr>
          <p:cNvPr id="10" name="文本框 9"/>
          <p:cNvSpPr txBox="1"/>
          <p:nvPr/>
        </p:nvSpPr>
        <p:spPr>
          <a:xfrm>
            <a:off x="6005513" y="5038725"/>
            <a:ext cx="4862513" cy="52197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200" cap="none" spc="0" normalizeH="0" baseline="0" noProof="0" dirty="0">
                <a:latin typeface="Times New Roman" panose="02020603050405020304" pitchFamily="18" charset="0"/>
                <a:ea typeface="+mn-ea"/>
                <a:cs typeface="Times New Roman" panose="02020603050405020304" pitchFamily="18" charset="0"/>
              </a:rPr>
              <a:t>CONCLUSION</a:t>
            </a:r>
            <a:endParaRPr kumimoji="0" lang="zh-CN" altLang="en-US" sz="2800" kern="1200" cap="none" spc="0" normalizeH="0" baseline="0" noProof="0" dirty="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椭圆 5"/>
          <p:cNvSpPr/>
          <p:nvPr/>
        </p:nvSpPr>
        <p:spPr>
          <a:xfrm>
            <a:off x="4645025" y="252413"/>
            <a:ext cx="822325" cy="5651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1.1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7" name="文本框 6"/>
          <p:cNvSpPr txBox="1"/>
          <p:nvPr/>
        </p:nvSpPr>
        <p:spPr>
          <a:xfrm>
            <a:off x="5559425" y="304800"/>
            <a:ext cx="3333750" cy="522288"/>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Research Rationale</a:t>
            </a:r>
            <a:endParaRPr kumimoji="1" lang="zh-CN" altLang="en-US" sz="2800" kern="1200" cap="none" spc="0" normalizeH="0" baseline="0" noProof="0" dirty="0">
              <a:latin typeface="Times New Roman" panose="02020603050405020304" pitchFamily="18" charset="0"/>
              <a:ea typeface="+mn-ea"/>
              <a:cs typeface="Times New Roman" panose="02020603050405020304" pitchFamily="18" charset="0"/>
            </a:endParaRPr>
          </a:p>
        </p:txBody>
      </p:sp>
      <p:grpSp>
        <p:nvGrpSpPr>
          <p:cNvPr id="25603" name="c7d3f25f-9773-4ae9-a5ea-c079049c46c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p:cNvGrpSpPr>
            <a:grpSpLocks noChangeAspect="1"/>
          </p:cNvGrpSpPr>
          <p:nvPr/>
        </p:nvGrpSpPr>
        <p:grpSpPr>
          <a:xfrm>
            <a:off x="2874645" y="1329055"/>
            <a:ext cx="8535670" cy="4800600"/>
            <a:chOff x="-312808" y="131978"/>
            <a:chExt cx="10507911" cy="6823046"/>
          </a:xfrm>
        </p:grpSpPr>
        <p:sp>
          <p:nvSpPr>
            <p:cNvPr id="5" name="îṣ1iḓê"/>
            <p:cNvSpPr/>
            <p:nvPr/>
          </p:nvSpPr>
          <p:spPr>
            <a:xfrm>
              <a:off x="3980246" y="3483771"/>
              <a:ext cx="3589207" cy="1998670"/>
            </a:xfrm>
            <a:prstGeom prst="ellipse">
              <a:avLst/>
            </a:prstGeom>
            <a:solidFill>
              <a:schemeClr val="tx2">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700" b="0"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rPr>
                <a:t>From a cultural and</a:t>
              </a:r>
              <a:endParaRPr kumimoji="0" lang="en-US" altLang="zh-CN" sz="18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90000"/>
                </a:lnSpc>
                <a:spcBef>
                  <a:spcPts val="0"/>
                </a:spcBef>
                <a:spcAft>
                  <a:spcPts val="0"/>
                </a:spcAft>
                <a:buClrTx/>
                <a:buSzTx/>
                <a:buFontTx/>
                <a:buNone/>
                <a:defRPr/>
              </a:pPr>
              <a:r>
                <a:rPr kumimoji="0" lang="en-US" altLang="zh-CN" sz="1800" b="1" i="0" u="none" strike="noStrike" kern="100" cap="none" spc="0" normalizeH="0" baseline="0" noProof="0" dirty="0">
                  <a:ln>
                    <a:noFill/>
                  </a:ln>
                  <a:solidFill>
                    <a:schemeClr val="lt1"/>
                  </a:solidFill>
                  <a:effectLst/>
                  <a:uLnTx/>
                  <a:uFillTx/>
                  <a:latin typeface="Times New Roman" panose="02020603050405020304" pitchFamily="18" charset="0"/>
                  <a:ea typeface="宋体" pitchFamily="2" charset="-122"/>
                  <a:cs typeface="+mn-cs"/>
                </a:rPr>
                <a:t> </a:t>
              </a:r>
              <a:r>
                <a:rPr kumimoji="0" lang="en-US" altLang="zh-CN" sz="18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rPr>
                <a:t>historical perspective</a:t>
              </a:r>
              <a:endParaRPr kumimoji="0" lang="en-US" altLang="zh-CN" sz="18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0" b="0"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p:txBody>
        </p:sp>
        <p:sp>
          <p:nvSpPr>
            <p:cNvPr id="8" name="íṥľïďê"/>
            <p:cNvSpPr/>
            <p:nvPr/>
          </p:nvSpPr>
          <p:spPr>
            <a:xfrm>
              <a:off x="2175352" y="1792942"/>
              <a:ext cx="3762082" cy="2207726"/>
            </a:xfrm>
            <a:prstGeom prst="ellipse">
              <a:avLst/>
            </a:prstGeom>
            <a:solidFill>
              <a:schemeClr val="tx2">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rPr>
                <a:t>From</a:t>
              </a:r>
              <a:r>
                <a:rPr kumimoji="0" lang="zh-CN" altLang="en-US" sz="19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rPr>
                <a:t> </a:t>
              </a:r>
              <a:r>
                <a:rPr kumimoji="0" lang="en-US" altLang="zh-CN" sz="19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rPr>
                <a:t>a political</a:t>
              </a:r>
              <a:endParaRPr kumimoji="0" lang="en-US" altLang="zh-CN" sz="19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rPr>
                <a:t> perspective</a:t>
              </a:r>
              <a:endParaRPr kumimoji="0" lang="en-US" altLang="zh-CN" sz="1900" b="1"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9" name="îsḷîďê"/>
            <p:cNvSpPr/>
            <p:nvPr/>
          </p:nvSpPr>
          <p:spPr>
            <a:xfrm>
              <a:off x="5320024" y="1792942"/>
              <a:ext cx="3587150" cy="2200834"/>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00" cap="none" spc="0" normalizeH="0" baseline="0" noProof="0" dirty="0">
                <a:ln>
                  <a:noFill/>
                </a:ln>
                <a:solidFill>
                  <a:schemeClr val="lt1"/>
                </a:solidFill>
                <a:effectLst/>
                <a:uLnTx/>
                <a:uFillTx/>
                <a:latin typeface="Times New Roman" panose="02020603050405020304" pitchFamily="18" charset="0"/>
                <a:ea typeface="宋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00" cap="none" spc="0" normalizeH="0" baseline="0" noProof="0" dirty="0">
                  <a:ln>
                    <a:noFill/>
                  </a:ln>
                  <a:solidFill>
                    <a:schemeClr val="lt1"/>
                  </a:solidFill>
                  <a:effectLst/>
                  <a:uLnTx/>
                  <a:uFillTx/>
                  <a:latin typeface="Times New Roman" panose="02020603050405020304" pitchFamily="18" charset="0"/>
                  <a:ea typeface="宋体" pitchFamily="2" charset="-122"/>
                  <a:cs typeface="+mn-cs"/>
                </a:rPr>
                <a:t>From an economical </a:t>
              </a:r>
              <a:endParaRPr kumimoji="0" lang="en-US" altLang="zh-CN" sz="1800" b="1" i="0" u="none" strike="noStrike" kern="100" cap="none" spc="0" normalizeH="0" baseline="0" noProof="0" dirty="0">
                <a:ln>
                  <a:noFill/>
                </a:ln>
                <a:solidFill>
                  <a:schemeClr val="lt1"/>
                </a:solidFill>
                <a:effectLst/>
                <a:uLnTx/>
                <a:uFillTx/>
                <a:latin typeface="Times New Roman" panose="02020603050405020304" pitchFamily="18" charset="0"/>
                <a:ea typeface="宋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00" cap="none" spc="0" normalizeH="0" baseline="0" noProof="0" dirty="0">
                  <a:ln>
                    <a:noFill/>
                  </a:ln>
                  <a:solidFill>
                    <a:schemeClr val="lt1"/>
                  </a:solidFill>
                  <a:effectLst/>
                  <a:uLnTx/>
                  <a:uFillTx/>
                  <a:latin typeface="Times New Roman" panose="02020603050405020304" pitchFamily="18" charset="0"/>
                  <a:ea typeface="宋体" pitchFamily="2" charset="-122"/>
                  <a:cs typeface="+mn-cs"/>
                </a:rPr>
                <a:t>perspective</a:t>
              </a:r>
              <a:endParaRPr kumimoji="0" lang="en-US" altLang="zh-CN" sz="1800" b="1" i="0" u="none" strike="noStrike" kern="100" cap="none" spc="0" normalizeH="0" baseline="0" noProof="0" dirty="0">
                <a:ln>
                  <a:noFill/>
                </a:ln>
                <a:solidFill>
                  <a:schemeClr val="lt1"/>
                </a:solidFill>
                <a:effectLst/>
                <a:uLnTx/>
                <a:uFillTx/>
                <a:latin typeface="Times New Roman" panose="02020603050405020304" pitchFamily="18" charset="0"/>
                <a:ea typeface="宋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íṥľïďé"/>
            <p:cNvSpPr txBox="1"/>
            <p:nvPr/>
          </p:nvSpPr>
          <p:spPr bwMode="auto">
            <a:xfrm>
              <a:off x="-312808" y="131978"/>
              <a:ext cx="2879186" cy="1265825"/>
            </a:xfrm>
            <a:prstGeom prst="rect">
              <a:avLst/>
            </a:prstGeom>
            <a:noFill/>
            <a:ln>
              <a:noFill/>
            </a:ln>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marR="0" lvl="0" indent="-342900" algn="l" defTabSz="914400" rtl="0" eaLnBrk="1" fontAlgn="auto" latinLnBrk="0" hangingPunct="1">
                <a:lnSpc>
                  <a:spcPct val="100000"/>
                </a:lnSpc>
                <a:spcBef>
                  <a:spcPct val="0"/>
                </a:spcBef>
                <a:spcAft>
                  <a:spcPts val="0"/>
                </a:spcAft>
                <a:buClrTx/>
                <a:buSzTx/>
                <a:buFont typeface="Wingdings" panose="05000000000000000000" pitchFamily="2" charset="2"/>
                <a:buChar char="n"/>
                <a:defRPr/>
              </a:pPr>
              <a:r>
                <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rPr>
                <a:t>strategy of Chinese culture “going out”</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3" name="ïśľïḋè"/>
            <p:cNvSpPr txBox="1"/>
            <p:nvPr/>
          </p:nvSpPr>
          <p:spPr bwMode="auto">
            <a:xfrm>
              <a:off x="841747" y="6513938"/>
              <a:ext cx="2669268" cy="441086"/>
            </a:xfrm>
            <a:prstGeom prst="rect">
              <a:avLst/>
            </a:prstGeom>
            <a:noFill/>
            <a:ln>
              <a:noFill/>
            </a:ln>
          </p:spPr>
          <p:txBody>
            <a:bodyPr wrap="none" lIns="90000" tIns="46800" rIns="90000" bIns="46800" anchor="b"/>
            <a:p>
              <a:pPr marL="342900" indent="-342900" eaLnBrk="1" hangingPunct="1">
                <a:buFont typeface="Wingdings" panose="05000000000000000000" pitchFamily="2" charset="2"/>
                <a:buChar char="n"/>
              </a:pPr>
              <a:r>
                <a:rPr lang="en-US" altLang="zh-CN">
                  <a:latin typeface="Times New Roman" panose="02020603050405020304" pitchFamily="18" charset="0"/>
                  <a:ea typeface="宋体" pitchFamily="2" charset="-122"/>
                </a:rPr>
                <a:t>One of the  “Four Cultural Wonders of the World” (</a:t>
              </a:r>
              <a:r>
                <a:rPr lang="zh-CN" altLang="zh-CN">
                  <a:latin typeface="Lao UI" pitchFamily="34" charset="0"/>
                  <a:ea typeface="宋体" pitchFamily="2" charset="-122"/>
                </a:rPr>
                <a:t>解辰巽</a:t>
              </a:r>
              <a:r>
                <a:rPr lang="en-US" altLang="zh-CN">
                  <a:latin typeface="Lao UI" pitchFamily="34" charset="0"/>
                  <a:ea typeface="宋体" pitchFamily="2" charset="-122"/>
                </a:rPr>
                <a:t>, </a:t>
              </a:r>
              <a:r>
                <a:rPr lang="en-US" altLang="zh-CN">
                  <a:latin typeface="Times New Roman" panose="02020603050405020304" pitchFamily="18" charset="0"/>
                  <a:ea typeface="宋体" pitchFamily="2" charset="-122"/>
                </a:rPr>
                <a:t>2016)</a:t>
              </a:r>
              <a:r>
                <a:rPr lang="zh-CN" altLang="zh-CN">
                  <a:latin typeface="Lao UI" pitchFamily="34" charset="0"/>
                  <a:ea typeface="微软雅黑" pitchFamily="34" charset="-122"/>
                </a:rPr>
                <a:t> </a:t>
              </a:r>
              <a:r>
                <a:rPr lang="zh-CN" altLang="en-US">
                  <a:latin typeface="Times New Roman" panose="02020603050405020304" pitchFamily="18" charset="0"/>
                  <a:ea typeface="宋体" pitchFamily="2" charset="-122"/>
                </a:rPr>
                <a:t>；</a:t>
              </a:r>
              <a:r>
                <a:rPr lang="en-US" altLang="zh-CN">
                  <a:latin typeface="Times New Roman" panose="02020603050405020304" pitchFamily="18" charset="0"/>
                  <a:ea typeface="宋体" pitchFamily="2" charset="-122"/>
                </a:rPr>
                <a:t> </a:t>
              </a:r>
              <a:endParaRPr lang="en-US" altLang="zh-CN">
                <a:latin typeface="Times New Roman" panose="02020603050405020304" pitchFamily="18" charset="0"/>
                <a:ea typeface="宋体" pitchFamily="2" charset="-122"/>
              </a:endParaRPr>
            </a:p>
            <a:p>
              <a:pPr marL="342900" indent="-342900" eaLnBrk="1" hangingPunct="1">
                <a:buNone/>
              </a:pPr>
              <a:r>
                <a:rPr lang="en-US" altLang="zh-CN">
                  <a:latin typeface="Times New Roman" panose="02020603050405020304" pitchFamily="18" charset="0"/>
                  <a:ea typeface="宋体" pitchFamily="2" charset="-122"/>
                </a:rPr>
                <a:t>China’s “New Fifth Great Invention” in the cultural field (</a:t>
              </a:r>
              <a:r>
                <a:rPr lang="zh-CN" altLang="zh-CN">
                  <a:latin typeface="Lao UI" pitchFamily="34" charset="0"/>
                  <a:ea typeface="宋体" pitchFamily="2" charset="-122"/>
                </a:rPr>
                <a:t>张颐武</a:t>
              </a:r>
              <a:r>
                <a:rPr lang="en-US" altLang="zh-CN">
                  <a:latin typeface="Times New Roman" panose="02020603050405020304" pitchFamily="18" charset="0"/>
                  <a:ea typeface="宋体" pitchFamily="2" charset="-122"/>
                </a:rPr>
                <a:t>, 2018)</a:t>
              </a:r>
              <a:r>
                <a:rPr lang="zh-CN" altLang="en-US">
                  <a:latin typeface="Times New Roman" panose="02020603050405020304" pitchFamily="18" charset="0"/>
                  <a:ea typeface="宋体" pitchFamily="2" charset="-122"/>
                </a:rPr>
                <a:t>；</a:t>
              </a:r>
              <a:endParaRPr lang="en-US" altLang="zh-CN">
                <a:latin typeface="Times New Roman" panose="02020603050405020304" pitchFamily="18" charset="0"/>
                <a:ea typeface="宋体" pitchFamily="2" charset="-122"/>
              </a:endParaRPr>
            </a:p>
            <a:p>
              <a:pPr marL="342900" indent="-342900" eaLnBrk="1" hangingPunct="1">
                <a:buNone/>
              </a:pPr>
              <a:r>
                <a:rPr lang="zh-CN" altLang="en-US">
                  <a:latin typeface="Times New Roman" panose="02020603050405020304" pitchFamily="18" charset="0"/>
                  <a:ea typeface="宋体" pitchFamily="2" charset="-122"/>
                </a:rPr>
                <a:t> </a:t>
              </a:r>
              <a:r>
                <a:rPr lang="en-US" altLang="zh-CN">
                  <a:latin typeface="Times New Roman" panose="02020603050405020304" pitchFamily="18" charset="0"/>
                  <a:ea typeface="宋体" pitchFamily="2" charset="-122"/>
                </a:rPr>
                <a:t>a high point in the 70-year history of Chinese culture “going out”</a:t>
              </a:r>
              <a:r>
                <a:rPr lang="zh-CN" altLang="zh-CN">
                  <a:latin typeface="Lao UI" pitchFamily="34" charset="0"/>
                  <a:ea typeface="微软雅黑" pitchFamily="34" charset="-122"/>
                </a:rPr>
                <a:t> </a:t>
              </a:r>
              <a:endParaRPr lang="zh-CN" altLang="en-US" b="1">
                <a:latin typeface="Lao UI" pitchFamily="34" charset="0"/>
                <a:ea typeface="微软雅黑" pitchFamily="34" charset="-122"/>
              </a:endParaRPr>
            </a:p>
          </p:txBody>
        </p:sp>
        <p:sp>
          <p:nvSpPr>
            <p:cNvPr id="16" name="ïṣľîdé"/>
            <p:cNvSpPr txBox="1"/>
            <p:nvPr/>
          </p:nvSpPr>
          <p:spPr bwMode="auto">
            <a:xfrm>
              <a:off x="5653236" y="969134"/>
              <a:ext cx="4541867" cy="758313"/>
            </a:xfrm>
            <a:prstGeom prst="rect">
              <a:avLst/>
            </a:prstGeom>
            <a:noFill/>
            <a:ln>
              <a:noFill/>
            </a:ln>
          </p:spPr>
          <p:txBody>
            <a:bodyPr wrap="none" lIns="90000" tIns="46800" rIns="90000" bIns="46800" anchor="b"/>
            <a:p>
              <a:pPr marL="342900" indent="-342900" eaLnBrk="1" hangingPunct="1">
                <a:buFont typeface="Wingdings" panose="05000000000000000000" pitchFamily="2" charset="2"/>
                <a:buChar char="n"/>
              </a:pPr>
              <a:r>
                <a:rPr lang="en-US" altLang="zh-CN">
                  <a:latin typeface="Times New Roman" panose="02020603050405020304" pitchFamily="18" charset="0"/>
                  <a:ea typeface="宋体" pitchFamily="2" charset="-122"/>
                </a:rPr>
                <a:t> huge domestic and overseas market</a:t>
              </a:r>
              <a:endParaRPr lang="en-US" altLang="zh-CN">
                <a:latin typeface="Times New Roman" panose="02020603050405020304" pitchFamily="18" charset="0"/>
                <a:ea typeface="宋体" pitchFamily="2" charset="-122"/>
              </a:endParaRPr>
            </a:p>
            <a:p>
              <a:pPr marL="342900" indent="-342900" eaLnBrk="1" hangingPunct="1">
                <a:buNone/>
              </a:pPr>
              <a:r>
                <a:rPr lang="en-US" altLang="zh-CN">
                  <a:latin typeface="Times New Roman" panose="02020603050405020304" pitchFamily="18" charset="0"/>
                  <a:ea typeface="宋体" pitchFamily="2" charset="-122"/>
                </a:rPr>
                <a:t> (</a:t>
              </a:r>
              <a:r>
                <a:rPr lang="zh-CN" altLang="en-US">
                  <a:latin typeface="Times New Roman" panose="02020603050405020304" pitchFamily="18" charset="0"/>
                  <a:ea typeface="宋体" pitchFamily="2" charset="-122"/>
                </a:rPr>
                <a:t>中国互联网中心信息中心，</a:t>
              </a:r>
              <a:r>
                <a:rPr lang="en-US" altLang="zh-CN">
                  <a:latin typeface="Times New Roman" panose="02020603050405020304" pitchFamily="18" charset="0"/>
                  <a:ea typeface="宋体" pitchFamily="2" charset="-122"/>
                </a:rPr>
                <a:t>2025</a:t>
              </a:r>
              <a:r>
                <a:rPr lang="zh-CN" altLang="en-US">
                  <a:latin typeface="Times New Roman" panose="02020603050405020304" pitchFamily="18" charset="0"/>
                  <a:ea typeface="宋体" pitchFamily="2" charset="-122"/>
                </a:rPr>
                <a:t>；</a:t>
              </a:r>
              <a:endParaRPr lang="en-US" altLang="zh-CN">
                <a:latin typeface="Times New Roman" panose="02020603050405020304" pitchFamily="18" charset="0"/>
                <a:ea typeface="宋体" pitchFamily="2" charset="-122"/>
              </a:endParaRPr>
            </a:p>
            <a:p>
              <a:pPr marL="342900" indent="-342900" eaLnBrk="1" hangingPunct="1">
                <a:buNone/>
              </a:pPr>
              <a:r>
                <a:rPr lang="zh-CN" altLang="en-US">
                  <a:latin typeface="Times New Roman" panose="02020603050405020304" pitchFamily="18" charset="0"/>
                  <a:ea typeface="宋体" pitchFamily="2" charset="-122"/>
                </a:rPr>
                <a:t>中国社会科学院文学研究所，</a:t>
              </a:r>
              <a:r>
                <a:rPr lang="en-US" altLang="zh-CN">
                  <a:latin typeface="Times New Roman" panose="02020603050405020304" pitchFamily="18" charset="0"/>
                  <a:ea typeface="宋体" pitchFamily="2" charset="-122"/>
                </a:rPr>
                <a:t>2024</a:t>
              </a:r>
              <a:r>
                <a:rPr lang="zh-CN" altLang="en-US">
                  <a:latin typeface="Times New Roman" panose="02020603050405020304" pitchFamily="18" charset="0"/>
                  <a:ea typeface="宋体" pitchFamily="2" charset="-122"/>
                </a:rPr>
                <a:t>）</a:t>
              </a:r>
              <a:endParaRPr lang="zh-CN" altLang="en-US" b="1">
                <a:latin typeface="Times New Roman" panose="02020603050405020304" pitchFamily="18" charset="0"/>
                <a:ea typeface="微软雅黑" pitchFamily="34" charset="-122"/>
              </a:endParaRPr>
            </a:p>
          </p:txBody>
        </p:sp>
      </p:grpSp>
      <p:sp>
        <p:nvSpPr>
          <p:cNvPr id="24" name="文本框 23"/>
          <p:cNvSpPr txBox="1"/>
          <p:nvPr/>
        </p:nvSpPr>
        <p:spPr>
          <a:xfrm>
            <a:off x="2405063" y="1143000"/>
            <a:ext cx="8712200" cy="706755"/>
          </a:xfrm>
          <a:prstGeom prst="rect">
            <a:avLst/>
          </a:prstGeom>
          <a:noFill/>
        </p:spPr>
        <p:txBody>
          <a:bodyPr>
            <a:spAutoFit/>
          </a:bodyPr>
          <a:lstStyle/>
          <a:p>
            <a:pPr marL="342900" marR="0" indent="-342900" defTabSz="914400" eaLnBrk="1" fontAlgn="auto" hangingPunct="1">
              <a:spcBef>
                <a:spcPts val="0"/>
              </a:spcBef>
              <a:spcAft>
                <a:spcPts val="0"/>
              </a:spcAft>
              <a:buClrTx/>
              <a:buSzTx/>
              <a:buFont typeface="Wingdings" panose="05000000000000000000" pitchFamily="2" charset="2"/>
              <a:buChar char="Ø"/>
              <a:defRPr/>
            </a:pPr>
            <a:r>
              <a:rPr kumimoji="0" lang="en-US" altLang="zh-CN" sz="2000" kern="100" cap="none" spc="0" normalizeH="0" baseline="0" noProof="0" dirty="0">
                <a:latin typeface="Times New Roman" panose="02020603050405020304" pitchFamily="18" charset="0"/>
                <a:ea typeface="宋体" pitchFamily="2" charset="-122"/>
                <a:cs typeface="+mn-cs"/>
              </a:rPr>
              <a:t>Chinese online literature going global : a focal point of research for the government and society</a:t>
            </a:r>
            <a:endParaRPr kumimoji="1" lang="zh-CN" altLang="en-US" sz="2000" kern="1200" cap="none" spc="0" normalizeH="0" baseline="0" noProof="0" dirty="0">
              <a:latin typeface="+mn-lt"/>
              <a:ea typeface="+mn-ea"/>
              <a:cs typeface="+mn-cs"/>
            </a:endParaRPr>
          </a:p>
        </p:txBody>
      </p:sp>
      <p:sp>
        <p:nvSpPr>
          <p:cNvPr id="14" name="文本框 13"/>
          <p:cNvSpPr txBox="1"/>
          <p:nvPr/>
        </p:nvSpPr>
        <p:spPr>
          <a:xfrm>
            <a:off x="676275" y="4410710"/>
            <a:ext cx="4064000" cy="368300"/>
          </a:xfrm>
          <a:prstGeom prst="rect">
            <a:avLst/>
          </a:prstGeom>
          <a:noFill/>
        </p:spPr>
        <p:txBody>
          <a:bodyPr wrap="square" rtlCol="0">
            <a:spAutoFit/>
          </a:bodyPr>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406650" y="3019425"/>
            <a:ext cx="9024938" cy="1444625"/>
          </a:xfrm>
          <a:prstGeom prst="rect">
            <a:avLst/>
          </a:prstGeom>
          <a:noFill/>
        </p:spPr>
        <p:txBody>
          <a:bodyPr>
            <a:spAutoFit/>
          </a:bodyPr>
          <a:lstStyle/>
          <a:p>
            <a:pPr marL="342900" marR="0" indent="-342900" algn="just" defTabSz="914400" eaLnBrk="1" fontAlgn="auto" hangingPunct="1">
              <a:lnSpc>
                <a:spcPct val="125000"/>
              </a:lnSpc>
              <a:spcBef>
                <a:spcPts val="0"/>
              </a:spcBef>
              <a:spcAft>
                <a:spcPts val="0"/>
              </a:spcAft>
              <a:buClrTx/>
              <a:buSzTx/>
              <a:buFont typeface="Wingdings" panose="05000000000000000000" pitchFamily="2" charset="2"/>
              <a:buChar char="l"/>
              <a:defRPr/>
            </a:pPr>
            <a:r>
              <a:rPr kumimoji="0" lang="en-US" altLang="zh-CN" kern="100" cap="none" spc="0" normalizeH="0" baseline="0" noProof="0" dirty="0">
                <a:latin typeface="Times New Roman" panose="02020603050405020304" pitchFamily="18" charset="0"/>
                <a:ea typeface="宋体" pitchFamily="2" charset="-122"/>
                <a:cs typeface="+mn-cs"/>
              </a:rPr>
              <a:t>Existing research, which takes </a:t>
            </a:r>
            <a:r>
              <a:rPr kumimoji="0" lang="en-US" altLang="zh-CN" u="sng" kern="100" cap="none" spc="0" normalizeH="0" baseline="0" noProof="0" dirty="0" err="1">
                <a:latin typeface="Times New Roman" panose="02020603050405020304" pitchFamily="18" charset="0"/>
                <a:ea typeface="宋体" pitchFamily="2" charset="-122"/>
                <a:cs typeface="+mn-cs"/>
              </a:rPr>
              <a:t>Webnovel</a:t>
            </a:r>
            <a:r>
              <a:rPr kumimoji="0" lang="en-US" altLang="zh-CN" kern="100" cap="none" spc="0" normalizeH="0" baseline="0" noProof="0" dirty="0">
                <a:latin typeface="Times New Roman" panose="02020603050405020304" pitchFamily="18" charset="0"/>
                <a:ea typeface="宋体" pitchFamily="2" charset="-122"/>
                <a:cs typeface="+mn-cs"/>
              </a:rPr>
              <a:t>, </a:t>
            </a:r>
            <a:r>
              <a:rPr kumimoji="0" lang="en-US" altLang="zh-CN" u="sng" kern="100" cap="none" spc="0" normalizeH="0" baseline="0" noProof="0" dirty="0">
                <a:latin typeface="Times New Roman" panose="02020603050405020304" pitchFamily="18" charset="0"/>
                <a:ea typeface="宋体" pitchFamily="2" charset="-122"/>
                <a:cs typeface="+mn-cs"/>
              </a:rPr>
              <a:t>the largest domestic and official website for Chinese online literature going global</a:t>
            </a:r>
            <a:r>
              <a:rPr kumimoji="0" lang="en-US" altLang="zh-CN" kern="100" cap="none" spc="0" normalizeH="0" baseline="0" noProof="0" dirty="0">
                <a:latin typeface="Times New Roman" panose="02020603050405020304" pitchFamily="18" charset="0"/>
                <a:ea typeface="宋体" pitchFamily="2" charset="-122"/>
                <a:cs typeface="+mn-cs"/>
              </a:rPr>
              <a:t>, as the research subject, mainly focuses on perspectives such as media technology</a:t>
            </a:r>
            <a:r>
              <a:rPr kumimoji="0" lang="zh-CN" altLang="en-US" kern="100" cap="none" spc="0" normalizeH="0" baseline="0" noProof="0" dirty="0">
                <a:latin typeface="Times New Roman" panose="02020603050405020304" pitchFamily="18" charset="0"/>
                <a:ea typeface="宋体" pitchFamily="2" charset="-122"/>
                <a:cs typeface="+mn-cs"/>
              </a:rPr>
              <a:t> </a:t>
            </a:r>
            <a:r>
              <a:rPr kumimoji="0" lang="en-US" altLang="zh-CN" kern="100" cap="none" spc="0" normalizeH="0" baseline="0" noProof="0" dirty="0">
                <a:latin typeface="Times New Roman" panose="02020603050405020304" pitchFamily="18" charset="0"/>
                <a:ea typeface="宋体" pitchFamily="2" charset="-122"/>
                <a:cs typeface="+mn-cs"/>
              </a:rPr>
              <a:t>or cross-cultural communication, </a:t>
            </a:r>
            <a:r>
              <a:rPr kumimoji="0" lang="en-US" altLang="zh-CN" u="sng" kern="100" cap="none" spc="0" normalizeH="0" baseline="0" noProof="0" dirty="0">
                <a:latin typeface="Times New Roman" panose="02020603050405020304" pitchFamily="18" charset="0"/>
                <a:ea typeface="宋体" pitchFamily="2" charset="-122"/>
                <a:cs typeface="+mn-cs"/>
              </a:rPr>
              <a:t>with little systematic study on its translation mechanism</a:t>
            </a:r>
            <a:r>
              <a:rPr kumimoji="0" lang="en-US" altLang="zh-CN" kern="100" cap="none" spc="0" normalizeH="0" baseline="0" noProof="0" dirty="0">
                <a:latin typeface="Times New Roman" panose="02020603050405020304" pitchFamily="18" charset="0"/>
                <a:ea typeface="宋体" pitchFamily="2" charset="-122"/>
                <a:cs typeface="+mn-cs"/>
              </a:rPr>
              <a:t>.</a:t>
            </a:r>
            <a:r>
              <a:rPr kumimoji="0" lang="zh-CN" altLang="zh-CN" kern="1200" cap="none" spc="0" normalizeH="0" baseline="0" noProof="0" dirty="0">
                <a:latin typeface="+mn-lt"/>
                <a:ea typeface="+mn-ea"/>
                <a:cs typeface="+mn-cs"/>
              </a:rPr>
              <a:t> </a:t>
            </a:r>
            <a:endParaRPr kumimoji="0" lang="en-US" altLang="zh-CN" kern="100" cap="none" spc="0" normalizeH="0" baseline="0" noProof="0" dirty="0">
              <a:latin typeface="Times New Roman" panose="02020603050405020304" pitchFamily="18" charset="0"/>
              <a:ea typeface="宋体" pitchFamily="2" charset="-122"/>
              <a:cs typeface="+mn-cs"/>
            </a:endParaRPr>
          </a:p>
        </p:txBody>
      </p:sp>
      <p:sp>
        <p:nvSpPr>
          <p:cNvPr id="6" name="椭圆 5"/>
          <p:cNvSpPr/>
          <p:nvPr/>
        </p:nvSpPr>
        <p:spPr>
          <a:xfrm>
            <a:off x="4645025" y="252413"/>
            <a:ext cx="822325" cy="5651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1.1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7" name="文本框 6"/>
          <p:cNvSpPr txBox="1"/>
          <p:nvPr/>
        </p:nvSpPr>
        <p:spPr>
          <a:xfrm>
            <a:off x="5559425" y="304800"/>
            <a:ext cx="3333750" cy="522288"/>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Research Rationale</a:t>
            </a:r>
            <a:endParaRPr kumimoji="1" lang="zh-CN" altLang="en-US" sz="2800"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4" name="文本框 3"/>
          <p:cNvSpPr txBox="1"/>
          <p:nvPr/>
        </p:nvSpPr>
        <p:spPr>
          <a:xfrm>
            <a:off x="2406650" y="1057275"/>
            <a:ext cx="9467850" cy="790575"/>
          </a:xfrm>
          <a:prstGeom prst="rect">
            <a:avLst/>
          </a:prstGeom>
          <a:noFill/>
        </p:spPr>
        <p:txBody>
          <a:bodyPr>
            <a:spAutoFit/>
          </a:bodyPr>
          <a:lstStyle/>
          <a:p>
            <a:pPr marL="342900" marR="0" indent="-342900" algn="just" defTabSz="914400" eaLnBrk="1" fontAlgn="auto" hangingPunct="1">
              <a:lnSpc>
                <a:spcPct val="125000"/>
              </a:lnSpc>
              <a:spcBef>
                <a:spcPts val="0"/>
              </a:spcBef>
              <a:spcAft>
                <a:spcPts val="0"/>
              </a:spcAft>
              <a:buClrTx/>
              <a:buSzTx/>
              <a:buFont typeface="Wingdings" panose="05000000000000000000" pitchFamily="2" charset="2"/>
              <a:buChar char="Ø"/>
              <a:defRPr/>
            </a:pPr>
            <a:r>
              <a:rPr kumimoji="0" lang="en-US" altLang="zh-CN" sz="2000" b="1" kern="100" cap="none" spc="0" normalizeH="0" baseline="0" noProof="0" dirty="0">
                <a:latin typeface="Times New Roman" panose="02020603050405020304" pitchFamily="18" charset="0"/>
                <a:ea typeface="宋体" pitchFamily="2" charset="-122"/>
                <a:cs typeface="+mn-cs"/>
              </a:rPr>
              <a:t>From a research perspective</a:t>
            </a:r>
            <a:endParaRPr kumimoji="0" lang="en-US" altLang="zh-CN" sz="2000" b="1" kern="100" cap="none" spc="0" normalizeH="0" baseline="0" noProof="0" dirty="0">
              <a:latin typeface="Times New Roman" panose="02020603050405020304" pitchFamily="18" charset="0"/>
              <a:ea typeface="宋体" pitchFamily="2" charset="-122"/>
              <a:cs typeface="+mn-cs"/>
            </a:endParaRPr>
          </a:p>
          <a:p>
            <a:pPr marR="0" algn="just" defTabSz="914400" eaLnBrk="1" fontAlgn="auto" hangingPunct="1">
              <a:lnSpc>
                <a:spcPct val="125000"/>
              </a:lnSpc>
              <a:spcBef>
                <a:spcPts val="0"/>
              </a:spcBef>
              <a:spcAft>
                <a:spcPts val="0"/>
              </a:spcAft>
              <a:buClrTx/>
              <a:buSzTx/>
              <a:buFontTx/>
              <a:buNone/>
              <a:defRPr/>
            </a:pPr>
            <a:r>
              <a:rPr kumimoji="0" lang="en-US" altLang="zh-CN" kern="100" cap="none" spc="0" normalizeH="0" baseline="0" noProof="0" dirty="0">
                <a:latin typeface="Times New Roman" panose="02020603050405020304" pitchFamily="18" charset="0"/>
                <a:ea typeface="宋体" pitchFamily="2" charset="-122"/>
                <a:cs typeface="+mn-cs"/>
              </a:rPr>
              <a:t>    </a:t>
            </a:r>
            <a:endParaRPr kumimoji="0" lang="en-US" altLang="zh-CN" sz="2000" b="1" kern="100" cap="none" spc="0" normalizeH="0" baseline="0" noProof="0" dirty="0">
              <a:latin typeface="Times New Roman" panose="02020603050405020304" pitchFamily="18" charset="0"/>
              <a:ea typeface="宋体" pitchFamily="2" charset="-122"/>
              <a:cs typeface="+mn-cs"/>
            </a:endParaRPr>
          </a:p>
        </p:txBody>
      </p:sp>
      <p:sp>
        <p:nvSpPr>
          <p:cNvPr id="22" name="文本框 21"/>
          <p:cNvSpPr txBox="1"/>
          <p:nvPr/>
        </p:nvSpPr>
        <p:spPr>
          <a:xfrm>
            <a:off x="2457450" y="4511675"/>
            <a:ext cx="9024938" cy="1337945"/>
          </a:xfrm>
          <a:prstGeom prst="rect">
            <a:avLst/>
          </a:prstGeom>
          <a:noFill/>
        </p:spPr>
        <p:txBody>
          <a:bodyPr>
            <a:spAutoFit/>
          </a:bodyPr>
          <a:lstStyle/>
          <a:p>
            <a:pPr marL="342900" marR="0" indent="-342900" defTabSz="914400" eaLnBrk="1" fontAlgn="auto" hangingPunct="1">
              <a:lnSpc>
                <a:spcPct val="150000"/>
              </a:lnSpc>
              <a:spcBef>
                <a:spcPts val="0"/>
              </a:spcBef>
              <a:spcAft>
                <a:spcPts val="0"/>
              </a:spcAft>
              <a:buClrTx/>
              <a:buSzTx/>
              <a:buFont typeface="Wingdings" panose="05000000000000000000" pitchFamily="2" charset="2"/>
              <a:buChar char="l"/>
              <a:defRPr/>
            </a:pPr>
            <a:r>
              <a:rPr kumimoji="0" lang="en-US" altLang="zh-CN" kern="100" cap="none" spc="0" normalizeH="0" baseline="0" noProof="0" dirty="0">
                <a:latin typeface="Times New Roman" panose="02020603050405020304" pitchFamily="18" charset="0"/>
                <a:ea typeface="宋体" pitchFamily="2" charset="-122"/>
                <a:cs typeface="+mn-cs"/>
              </a:rPr>
              <a:t>Hence, this paper selects the successful work </a:t>
            </a:r>
            <a:r>
              <a:rPr kumimoji="0" lang="en-US" altLang="zh-CN" i="1" u="sng" kern="100" cap="none" spc="0" normalizeH="0" baseline="0" noProof="0" dirty="0">
                <a:latin typeface="Times New Roman" panose="02020603050405020304" pitchFamily="18" charset="0"/>
                <a:ea typeface="宋体" pitchFamily="2" charset="-122"/>
                <a:cs typeface="+mn-cs"/>
              </a:rPr>
              <a:t>Lord of Mysteries</a:t>
            </a:r>
            <a:r>
              <a:rPr kumimoji="0" lang="en-US" altLang="zh-CN" u="sng" kern="100" cap="none" spc="0" normalizeH="0" baseline="0" noProof="0" dirty="0">
                <a:latin typeface="Times New Roman" panose="02020603050405020304" pitchFamily="18" charset="0"/>
                <a:ea typeface="宋体" pitchFamily="2" charset="-122"/>
                <a:cs typeface="+mn-cs"/>
              </a:rPr>
              <a:t> on </a:t>
            </a:r>
            <a:r>
              <a:rPr kumimoji="0" lang="en-US" altLang="zh-CN" u="sng" kern="100" cap="none" spc="0" normalizeH="0" baseline="0" noProof="0" dirty="0" err="1">
                <a:latin typeface="Times New Roman" panose="02020603050405020304" pitchFamily="18" charset="0"/>
                <a:ea typeface="宋体" pitchFamily="2" charset="-122"/>
                <a:cs typeface="+mn-cs"/>
              </a:rPr>
              <a:t>Webnovel</a:t>
            </a:r>
            <a:r>
              <a:rPr kumimoji="0" lang="en-US" altLang="zh-CN" u="sng" kern="100" cap="none" spc="0" normalizeH="0" baseline="0" noProof="0" dirty="0">
                <a:latin typeface="Times New Roman" panose="02020603050405020304" pitchFamily="18" charset="0"/>
                <a:ea typeface="宋体" pitchFamily="2" charset="-122"/>
                <a:cs typeface="+mn-cs"/>
              </a:rPr>
              <a:t> </a:t>
            </a:r>
            <a:r>
              <a:rPr kumimoji="0" lang="en-US" altLang="zh-CN" kern="100" cap="none" spc="0" normalizeH="0" baseline="0" noProof="0" dirty="0">
                <a:latin typeface="Times New Roman" panose="02020603050405020304" pitchFamily="18" charset="0"/>
                <a:ea typeface="宋体" pitchFamily="2" charset="-122"/>
                <a:cs typeface="+mn-cs"/>
              </a:rPr>
              <a:t>as a typical case, starting from the perspective of </a:t>
            </a:r>
            <a:r>
              <a:rPr kumimoji="0" lang="en-US" altLang="zh-CN" u="sng" kern="100" cap="none" spc="0" normalizeH="0" baseline="0" noProof="0" dirty="0">
                <a:latin typeface="Times New Roman" panose="02020603050405020304" pitchFamily="18" charset="0"/>
                <a:ea typeface="宋体" pitchFamily="2" charset="-122"/>
                <a:cs typeface="+mn-cs"/>
              </a:rPr>
              <a:t>Actor-Network Theory </a:t>
            </a:r>
            <a:r>
              <a:rPr kumimoji="0" lang="en-US" altLang="zh-CN" kern="100" cap="none" spc="0" normalizeH="0" baseline="0" noProof="0" dirty="0">
                <a:latin typeface="Times New Roman" panose="02020603050405020304" pitchFamily="18" charset="0"/>
                <a:ea typeface="宋体" pitchFamily="2" charset="-122"/>
                <a:cs typeface="+mn-cs"/>
              </a:rPr>
              <a:t>to </a:t>
            </a:r>
            <a:r>
              <a:rPr kumimoji="0" lang="en-US" altLang="zh-CN" u="sng" kern="100" cap="none" spc="0" normalizeH="0" baseline="0" noProof="0" dirty="0">
                <a:latin typeface="Times New Roman" panose="02020603050405020304" pitchFamily="18" charset="0"/>
                <a:ea typeface="宋体" pitchFamily="2" charset="-122"/>
                <a:cs typeface="+mn-cs"/>
              </a:rPr>
              <a:t>analyze the translation and dissemination network of  Chinese online literature. </a:t>
            </a:r>
            <a:endParaRPr kumimoji="1" lang="zh-CN" altLang="en-US" kern="1200" cap="none" spc="0" normalizeH="0" baseline="0" noProof="0" dirty="0">
              <a:latin typeface="+mn-lt"/>
              <a:ea typeface="+mn-ea"/>
              <a:cs typeface="+mn-cs"/>
            </a:endParaRPr>
          </a:p>
        </p:txBody>
      </p:sp>
      <p:sp>
        <p:nvSpPr>
          <p:cNvPr id="2" name="文本框 1"/>
          <p:cNvSpPr txBox="1"/>
          <p:nvPr/>
        </p:nvSpPr>
        <p:spPr>
          <a:xfrm>
            <a:off x="2457450" y="1663700"/>
            <a:ext cx="9075738" cy="1289050"/>
          </a:xfrm>
          <a:prstGeom prst="rect">
            <a:avLst/>
          </a:prstGeom>
          <a:noFill/>
        </p:spPr>
        <p:txBody>
          <a:bodyPr>
            <a:spAutoFit/>
          </a:bodyPr>
          <a:lstStyle/>
          <a:p>
            <a:pPr marL="285750" marR="0" indent="-285750" algn="just" defTabSz="914400" eaLnBrk="1" fontAlgn="auto" hangingPunct="1">
              <a:lnSpc>
                <a:spcPct val="150000"/>
              </a:lnSpc>
              <a:spcBef>
                <a:spcPts val="0"/>
              </a:spcBef>
              <a:spcAft>
                <a:spcPts val="0"/>
              </a:spcAft>
              <a:buClrTx/>
              <a:buSzTx/>
              <a:buFont typeface="Wingdings" panose="05000000000000000000" pitchFamily="2" charset="2"/>
              <a:buChar char="l"/>
              <a:defRPr/>
            </a:pPr>
            <a:r>
              <a:rPr kumimoji="0" lang="en-US" altLang="zh-CN" kern="100" cap="none" spc="0" normalizeH="0" baseline="0" noProof="0" dirty="0">
                <a:latin typeface="Times New Roman" panose="02020603050405020304" pitchFamily="18" charset="0"/>
                <a:ea typeface="宋体" pitchFamily="2" charset="-122"/>
                <a:cs typeface="+mn-cs"/>
              </a:rPr>
              <a:t>Currently, although the achievements of Chinese online literature going global are significant,</a:t>
            </a:r>
            <a:endParaRPr kumimoji="0" lang="en-US" altLang="zh-CN" kern="100" cap="none" spc="0" normalizeH="0" baseline="0" noProof="0" dirty="0">
              <a:latin typeface="Times New Roman" panose="02020603050405020304" pitchFamily="18" charset="0"/>
              <a:ea typeface="宋体" pitchFamily="2" charset="-122"/>
              <a:cs typeface="+mn-cs"/>
            </a:endParaRPr>
          </a:p>
          <a:p>
            <a:pPr marR="0" algn="just" defTabSz="914400" eaLnBrk="1" fontAlgn="auto" hangingPunct="1">
              <a:lnSpc>
                <a:spcPct val="150000"/>
              </a:lnSpc>
              <a:spcBef>
                <a:spcPts val="0"/>
              </a:spcBef>
              <a:spcAft>
                <a:spcPts val="0"/>
              </a:spcAft>
              <a:buClrTx/>
              <a:buSzTx/>
              <a:buFontTx/>
              <a:buNone/>
              <a:defRPr/>
            </a:pPr>
            <a:r>
              <a:rPr kumimoji="0" lang="en-US" altLang="zh-CN" kern="100" cap="none" spc="0" normalizeH="0" baseline="0" noProof="0" dirty="0">
                <a:latin typeface="Times New Roman" panose="02020603050405020304" pitchFamily="18" charset="0"/>
                <a:ea typeface="宋体" pitchFamily="2" charset="-122"/>
                <a:cs typeface="+mn-cs"/>
              </a:rPr>
              <a:t>     the process is still in its infancy, and </a:t>
            </a:r>
            <a:r>
              <a:rPr kumimoji="0" lang="en-US" altLang="zh-CN" u="sng" kern="100" cap="none" spc="0" normalizeH="0" baseline="0" noProof="0" dirty="0">
                <a:latin typeface="Times New Roman" panose="02020603050405020304" pitchFamily="18" charset="0"/>
                <a:ea typeface="宋体" pitchFamily="2" charset="-122"/>
                <a:cs typeface="+mn-cs"/>
              </a:rPr>
              <a:t>its production and dissemination mechanisms have not</a:t>
            </a:r>
            <a:endParaRPr kumimoji="0" lang="en-US" altLang="zh-CN" u="sng" kern="100" cap="none" spc="0" normalizeH="0" baseline="0" noProof="0" dirty="0">
              <a:latin typeface="Times New Roman" panose="02020603050405020304" pitchFamily="18" charset="0"/>
              <a:ea typeface="宋体" pitchFamily="2" charset="-122"/>
              <a:cs typeface="+mn-cs"/>
            </a:endParaRPr>
          </a:p>
          <a:p>
            <a:pPr marR="0" algn="just" defTabSz="914400" eaLnBrk="1" fontAlgn="auto" hangingPunct="1">
              <a:lnSpc>
                <a:spcPct val="150000"/>
              </a:lnSpc>
              <a:spcBef>
                <a:spcPts val="0"/>
              </a:spcBef>
              <a:spcAft>
                <a:spcPts val="0"/>
              </a:spcAft>
              <a:buClrTx/>
              <a:buSzTx/>
              <a:buFontTx/>
              <a:buNone/>
              <a:defRPr/>
            </a:pPr>
            <a:r>
              <a:rPr kumimoji="0" lang="en-US" altLang="zh-CN" kern="100" cap="none" spc="0" normalizeH="0" baseline="0" noProof="0" dirty="0">
                <a:latin typeface="Times New Roman" panose="02020603050405020304" pitchFamily="18" charset="0"/>
                <a:ea typeface="宋体" pitchFamily="2" charset="-122"/>
                <a:cs typeface="+mn-cs"/>
              </a:rPr>
              <a:t>    </a:t>
            </a:r>
            <a:r>
              <a:rPr kumimoji="0" lang="en-US" altLang="zh-CN" u="sng" kern="100" cap="none" spc="0" normalizeH="0" baseline="0" noProof="0" dirty="0">
                <a:latin typeface="Times New Roman" panose="02020603050405020304" pitchFamily="18" charset="0"/>
                <a:ea typeface="宋体" pitchFamily="2" charset="-122"/>
                <a:cs typeface="+mn-cs"/>
              </a:rPr>
              <a:t> been fully clarified. </a:t>
            </a:r>
            <a:endParaRPr kumimoji="0" lang="zh-CN" altLang="en-US" u="sng" kern="100" cap="none" spc="0" normalizeH="0" baseline="0" noProof="0" dirty="0">
              <a:latin typeface="Times New Roman" panose="02020603050405020304" pitchFamily="18" charset="0"/>
              <a:ea typeface="宋体"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椭圆 5"/>
          <p:cNvSpPr/>
          <p:nvPr/>
        </p:nvSpPr>
        <p:spPr>
          <a:xfrm>
            <a:off x="3868738" y="284163"/>
            <a:ext cx="822325"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1.2</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7" name="文本框 6"/>
          <p:cNvSpPr txBox="1"/>
          <p:nvPr/>
        </p:nvSpPr>
        <p:spPr>
          <a:xfrm>
            <a:off x="3868738" y="304800"/>
            <a:ext cx="7200900" cy="523875"/>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en-US" altLang="zh-CN" sz="2800" b="1" kern="100" cap="none" spc="0" normalizeH="0" baseline="0" noProof="0" dirty="0">
                <a:solidFill>
                  <a:srgbClr val="000000"/>
                </a:solidFill>
                <a:latin typeface="Times New Roman" panose="02020603050405020304" pitchFamily="18" charset="0"/>
                <a:ea typeface="+mn-ea"/>
                <a:cs typeface="Times New Roman (标题 CS)"/>
              </a:rPr>
              <a:t>Methodology and Data Collection</a:t>
            </a:r>
            <a:endParaRPr kumimoji="0" lang="zh-CN" altLang="zh-CN" sz="2800" b="1" kern="100" cap="none" spc="0" normalizeH="0" baseline="0" noProof="0" dirty="0">
              <a:solidFill>
                <a:srgbClr val="000000"/>
              </a:solidFill>
              <a:latin typeface="Times New Roman" panose="02020603050405020304" pitchFamily="18" charset="0"/>
              <a:ea typeface="+mn-ea"/>
              <a:cs typeface="Times New Roman (标题 CS)"/>
            </a:endParaRPr>
          </a:p>
        </p:txBody>
      </p:sp>
      <p:grpSp>
        <p:nvGrpSpPr>
          <p:cNvPr id="29699" name="ec536571-3649-404f-99d0-33be6ba8bd4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p:cNvGrpSpPr>
            <a:grpSpLocks noChangeAspect="1"/>
          </p:cNvGrpSpPr>
          <p:nvPr/>
        </p:nvGrpSpPr>
        <p:grpSpPr>
          <a:xfrm>
            <a:off x="2252345" y="2146300"/>
            <a:ext cx="9398635" cy="4037965"/>
            <a:chOff x="-142253" y="1130300"/>
            <a:chExt cx="11662740" cy="5006975"/>
          </a:xfrm>
        </p:grpSpPr>
        <p:cxnSp>
          <p:nvCxnSpPr>
            <p:cNvPr id="5" name="直接连接符 8"/>
            <p:cNvCxnSpPr/>
            <p:nvPr/>
          </p:nvCxnSpPr>
          <p:spPr>
            <a:xfrm>
              <a:off x="6095124" y="1130300"/>
              <a:ext cx="0" cy="5006975"/>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iṡlíḓè"/>
            <p:cNvSpPr/>
            <p:nvPr/>
          </p:nvSpPr>
          <p:spPr>
            <a:xfrm flipH="1">
              <a:off x="4045503" y="1435010"/>
              <a:ext cx="2049621" cy="521071"/>
            </a:xfrm>
            <a:prstGeom prst="homePlate">
              <a:avLst>
                <a:gd name="adj" fmla="val 802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fontScale="87500"/>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rPr>
                <a:t>Step</a:t>
              </a:r>
              <a:r>
                <a:rPr kumimoji="0" lang="zh-CN" altLang="en-US"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rPr>
                <a:t> </a:t>
              </a:r>
              <a:r>
                <a:rPr kumimoji="0" lang="en-US" altLang="zh-CN"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rPr>
                <a:t>1</a:t>
              </a:r>
              <a:endParaRPr kumimoji="0" lang="zh-CN" altLang="en-US"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endParaRPr>
            </a:p>
          </p:txBody>
        </p:sp>
        <p:sp>
          <p:nvSpPr>
            <p:cNvPr id="9" name="iṡlîdê"/>
            <p:cNvSpPr/>
            <p:nvPr/>
          </p:nvSpPr>
          <p:spPr>
            <a:xfrm>
              <a:off x="6095124" y="3039694"/>
              <a:ext cx="2747864" cy="521071"/>
            </a:xfrm>
            <a:prstGeom prst="homePlate">
              <a:avLst>
                <a:gd name="adj" fmla="val 8028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875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rPr>
                <a:t>Step</a:t>
              </a:r>
              <a:r>
                <a:rPr kumimoji="0" lang="zh-CN" altLang="en-US"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rPr>
                <a:t> </a:t>
              </a:r>
              <a:r>
                <a:rPr kumimoji="0" lang="en-US" altLang="zh-CN"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rPr>
                <a:t>2</a:t>
              </a:r>
              <a:endParaRPr kumimoji="0" lang="zh-CN" altLang="en-US"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endParaRPr>
            </a:p>
          </p:txBody>
        </p:sp>
        <p:sp>
          <p:nvSpPr>
            <p:cNvPr id="10" name="ïśļîḑé"/>
            <p:cNvSpPr/>
            <p:nvPr/>
          </p:nvSpPr>
          <p:spPr>
            <a:xfrm flipH="1">
              <a:off x="3733369" y="5091526"/>
              <a:ext cx="2361755" cy="521071"/>
            </a:xfrm>
            <a:prstGeom prst="homePlate">
              <a:avLst>
                <a:gd name="adj" fmla="val 8028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77500"/>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rPr>
                <a:t>Step 3</a:t>
              </a:r>
              <a:r>
                <a:rPr kumimoji="0" lang="zh-CN" altLang="zh-CN" sz="2400" b="0" i="0" u="none" strike="noStrike" kern="1200" cap="none" spc="0" normalizeH="0" baseline="0" noProof="0" dirty="0">
                  <a:ln>
                    <a:noFill/>
                  </a:ln>
                  <a:solidFill>
                    <a:schemeClr val="lt1"/>
                  </a:solidFill>
                  <a:effectLst/>
                  <a:uLnTx/>
                  <a:uFillTx/>
                  <a:latin typeface="+mn-lt"/>
                  <a:ea typeface="+mn-ea"/>
                  <a:cs typeface="+mn-cs"/>
                </a:rPr>
                <a:t> </a:t>
              </a:r>
              <a:endParaRPr kumimoji="0" lang="zh-CN" altLang="en-US" sz="2400" b="0" i="0" u="none" strike="noStrike" kern="1200" cap="none" spc="0" normalizeH="0" baseline="0" noProof="0" dirty="0">
                <a:ln>
                  <a:noFill/>
                </a:ln>
                <a:solidFill>
                  <a:schemeClr val="bg1"/>
                </a:solidFill>
                <a:effectLst/>
                <a:uLnTx/>
                <a:uFillTx/>
                <a:latin typeface="Impact" panose="020B0806030902050204" pitchFamily="34" charset="0"/>
                <a:ea typeface="+mn-ea"/>
                <a:cs typeface="+mn-cs"/>
              </a:endParaRPr>
            </a:p>
          </p:txBody>
        </p:sp>
        <p:sp>
          <p:nvSpPr>
            <p:cNvPr id="11" name="îSlîḍé"/>
            <p:cNvSpPr/>
            <p:nvPr/>
          </p:nvSpPr>
          <p:spPr bwMode="auto">
            <a:xfrm>
              <a:off x="-142253" y="1222424"/>
              <a:ext cx="3875516" cy="1128688"/>
            </a:xfrm>
            <a:prstGeom prst="rect">
              <a:avLst/>
            </a:prstGeom>
            <a:noFill/>
            <a:ln>
              <a:noFill/>
            </a:ln>
          </p:spPr>
          <p:txBody>
            <a:bodyPr lIns="90000" tIns="46800" rIns="90000" bIns="4680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kumimoji="0" lang="en-US" altLang="zh-CN" sz="1800" b="0" i="0" u="none" strike="noStrike" kern="100" cap="none" spc="0" normalizeH="0" baseline="0" noProof="0" dirty="0">
                  <a:ln>
                    <a:noFill/>
                  </a:ln>
                  <a:solidFill>
                    <a:schemeClr val="tx1"/>
                  </a:solidFill>
                  <a:effectLst/>
                  <a:uLnTx/>
                  <a:uFillTx/>
                  <a:latin typeface="Times New Roman" panose="02020603050405020304" pitchFamily="18" charset="0"/>
                  <a:ea typeface="宋体" pitchFamily="2" charset="-122"/>
                  <a:cs typeface="+mn-cs"/>
                </a:rPr>
                <a:t>relevant research materials are consulted</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29710" name="îṡľîḑé"/>
            <p:cNvSpPr/>
            <p:nvPr/>
          </p:nvSpPr>
          <p:spPr>
            <a:xfrm>
              <a:off x="9123924" y="1882829"/>
              <a:ext cx="2396563" cy="2066620"/>
            </a:xfrm>
            <a:prstGeom prst="rect">
              <a:avLst/>
            </a:prstGeom>
            <a:noFill/>
            <a:ln w="9525">
              <a:noFill/>
            </a:ln>
          </p:spPr>
          <p:txBody>
            <a:bodyPr lIns="90000" tIns="46800" rIns="90000" bIns="46800" anchor="ctr" anchorCtr="0"/>
            <a:p>
              <a:pPr marL="171450" indent="-171450" eaLnBrk="1" hangingPunct="1">
                <a:lnSpc>
                  <a:spcPct val="150000"/>
                </a:lnSpc>
                <a:buFont typeface="Arial" panose="020B0604020202090204" pitchFamily="34" charset="0"/>
                <a:buChar char="•"/>
              </a:pPr>
              <a:endParaRPr lang="en-US" altLang="zh-CN" sz="1100">
                <a:latin typeface="Lao UI" pitchFamily="34" charset="0"/>
                <a:ea typeface="微软雅黑" pitchFamily="34" charset="-122"/>
              </a:endParaRPr>
            </a:p>
          </p:txBody>
        </p:sp>
      </p:grpSp>
      <p:sp>
        <p:nvSpPr>
          <p:cNvPr id="18" name="文本框 17"/>
          <p:cNvSpPr txBox="1"/>
          <p:nvPr/>
        </p:nvSpPr>
        <p:spPr>
          <a:xfrm>
            <a:off x="2103438" y="1035050"/>
            <a:ext cx="9242425" cy="1229995"/>
          </a:xfrm>
          <a:prstGeom prst="rect">
            <a:avLst/>
          </a:prstGeom>
          <a:noFill/>
        </p:spPr>
        <p:txBody>
          <a:bodyPr>
            <a:spAutoFit/>
          </a:bodyPr>
          <a:lstStyle/>
          <a:p>
            <a:pPr marR="0" algn="just" defTabSz="914400" eaLnBrk="1" fontAlgn="auto" hangingPunct="1">
              <a:spcBef>
                <a:spcPts val="0"/>
              </a:spcBef>
              <a:spcAft>
                <a:spcPts val="0"/>
              </a:spcAft>
              <a:buClrTx/>
              <a:buSzTx/>
              <a:buFontTx/>
              <a:buNone/>
              <a:defRPr/>
            </a:pPr>
            <a:r>
              <a:rPr kumimoji="0" lang="en-US" altLang="zh-CN" sz="2000" b="1" kern="100" cap="none" spc="0" normalizeH="0" baseline="0" noProof="0" dirty="0">
                <a:latin typeface="Times New Roman Bold" panose="02020603050405020304" charset="0"/>
                <a:ea typeface="宋体" pitchFamily="2" charset="-122"/>
                <a:cs typeface="Times New Roman Bold" panose="02020603050405020304" charset="0"/>
              </a:rPr>
              <a:t>Methodology</a:t>
            </a:r>
            <a:r>
              <a:rPr kumimoji="0" lang="en-US" altLang="zh-CN" sz="2000" kern="100" cap="none" spc="0" normalizeH="0" baseline="0" noProof="0" dirty="0">
                <a:latin typeface="Times New Roman" panose="02020603050405020304" pitchFamily="18" charset="0"/>
                <a:ea typeface="宋体" pitchFamily="2" charset="-122"/>
                <a:cs typeface="+mn-cs"/>
              </a:rPr>
              <a:t>:  </a:t>
            </a:r>
            <a:r>
              <a:rPr kumimoji="0" lang="en-US" altLang="zh-CN" sz="2000" b="1" kern="100" cap="none" spc="0" normalizeH="0" baseline="0" noProof="0" dirty="0" err="1">
                <a:latin typeface="Times New Roman Bold" panose="02020603050405020304" charset="0"/>
                <a:ea typeface="宋体" pitchFamily="2" charset="-122"/>
                <a:cs typeface="Times New Roman Bold" panose="02020603050405020304" charset="0"/>
              </a:rPr>
              <a:t>netnography</a:t>
            </a:r>
            <a:r>
              <a:rPr kumimoji="0" lang="en-US" altLang="zh-CN" sz="2000" kern="100" cap="none" spc="0" normalizeH="0" baseline="0" noProof="0" dirty="0">
                <a:latin typeface="Times New Roman" panose="02020603050405020304" pitchFamily="18" charset="0"/>
                <a:ea typeface="宋体" pitchFamily="2" charset="-122"/>
                <a:cs typeface="+mn-cs"/>
              </a:rPr>
              <a:t>, </a:t>
            </a:r>
            <a:r>
              <a:rPr kumimoji="0" lang="en-US" altLang="zh-CN" kern="100" cap="none" spc="0" normalizeH="0" baseline="0" noProof="0" dirty="0">
                <a:latin typeface="Times New Roman" panose="02020603050405020304" pitchFamily="18" charset="0"/>
                <a:ea typeface="宋体" pitchFamily="2" charset="-122"/>
                <a:cs typeface="+mn-cs"/>
              </a:rPr>
              <a:t>a specific set of related data collection, analysis, research practice, where a significant amount of the data collected and participant-observational research conducted originates in and manifests through the data shared freely on the Internet (</a:t>
            </a:r>
            <a:r>
              <a:rPr kumimoji="0" lang="en-US" altLang="zh-CN" kern="100" cap="none" spc="0" normalizeH="0" baseline="0" noProof="0" dirty="0" err="1">
                <a:latin typeface="Times New Roman" panose="02020603050405020304" pitchFamily="18" charset="0"/>
                <a:ea typeface="宋体" pitchFamily="2" charset="-122"/>
                <a:cs typeface="+mn-cs"/>
              </a:rPr>
              <a:t>Kozinets</a:t>
            </a:r>
            <a:r>
              <a:rPr kumimoji="0" lang="en-US" altLang="zh-CN" kern="100" cap="none" spc="0" normalizeH="0" baseline="0" noProof="0" dirty="0">
                <a:latin typeface="Times New Roman" panose="02020603050405020304" pitchFamily="18" charset="0"/>
                <a:ea typeface="宋体" pitchFamily="2" charset="-122"/>
                <a:cs typeface="+mn-cs"/>
              </a:rPr>
              <a:t>, 2015).</a:t>
            </a:r>
            <a:r>
              <a:rPr kumimoji="0" lang="zh-CN" altLang="zh-CN" kern="100" cap="none" spc="0" normalizeH="0" baseline="0" noProof="0" dirty="0">
                <a:latin typeface="Times New Roman" panose="02020603050405020304" pitchFamily="18" charset="0"/>
                <a:ea typeface="宋体" pitchFamily="2" charset="-122"/>
                <a:cs typeface="+mn-cs"/>
              </a:rPr>
              <a:t> </a:t>
            </a:r>
            <a:endParaRPr kumimoji="0" lang="zh-CN" altLang="en-US" kern="100" cap="none" spc="0" normalizeH="0" baseline="0" noProof="0" dirty="0">
              <a:latin typeface="Times New Roman" panose="02020603050405020304" pitchFamily="18" charset="0"/>
              <a:ea typeface="宋体" pitchFamily="2" charset="-122"/>
              <a:cs typeface="+mn-cs"/>
            </a:endParaRPr>
          </a:p>
        </p:txBody>
      </p:sp>
      <p:sp>
        <p:nvSpPr>
          <p:cNvPr id="19" name="文本框 18"/>
          <p:cNvSpPr txBox="1"/>
          <p:nvPr/>
        </p:nvSpPr>
        <p:spPr>
          <a:xfrm>
            <a:off x="4501515" y="2925763"/>
            <a:ext cx="5218113" cy="646113"/>
          </a:xfrm>
          <a:prstGeom prst="rect">
            <a:avLst/>
          </a:prstGeom>
          <a:noFill/>
        </p:spPr>
        <p:txBody>
          <a:bodyPr wrap="none">
            <a:spAutoFit/>
          </a:bodyPr>
          <a:lstStyle/>
          <a:p>
            <a:pPr marR="0" algn="ctr" defTabSz="914400" eaLnBrk="1" fontAlgn="auto" hangingPunct="1">
              <a:spcBef>
                <a:spcPts val="0"/>
              </a:spcBef>
              <a:spcAft>
                <a:spcPts val="0"/>
              </a:spcAft>
              <a:buClrTx/>
              <a:buSzTx/>
              <a:buFontTx/>
              <a:buNone/>
              <a:defRPr/>
            </a:pPr>
            <a:r>
              <a:rPr kumimoji="1" lang="en-US" altLang="zh-CN" b="1" kern="1200" cap="none" spc="0" normalizeH="0" baseline="0" noProof="0" dirty="0">
                <a:latin typeface="Times New Roman" panose="02020603050405020304" pitchFamily="18" charset="0"/>
                <a:ea typeface="+mn-ea"/>
                <a:cs typeface="Times New Roman" panose="02020603050405020304" pitchFamily="18" charset="0"/>
              </a:rPr>
              <a:t>A Comprehensive Review </a:t>
            </a:r>
            <a:r>
              <a:rPr kumimoji="1" lang="en-US" altLang="zh-CN" kern="1200" cap="none" spc="0" normalizeH="0" baseline="0" noProof="0" dirty="0">
                <a:latin typeface="Times New Roman" panose="02020603050405020304" pitchFamily="18" charset="0"/>
                <a:ea typeface="+mn-ea"/>
                <a:cs typeface="Times New Roman" panose="02020603050405020304" pitchFamily="18" charset="0"/>
              </a:rPr>
              <a:t>is formed</a:t>
            </a:r>
            <a:r>
              <a:rPr kumimoji="1" lang="en-US" altLang="zh-CN" b="1" kern="1200" cap="none" spc="0" normalizeH="0" baseline="0" noProof="0" dirty="0">
                <a:latin typeface="Times New Roman" panose="02020603050405020304" pitchFamily="18" charset="0"/>
                <a:ea typeface="+mn-ea"/>
                <a:cs typeface="Times New Roman" panose="02020603050405020304" pitchFamily="18" charset="0"/>
              </a:rPr>
              <a:t>;</a:t>
            </a:r>
            <a:endParaRPr kumimoji="1" lang="en-US" altLang="zh-CN" b="1" kern="1200" cap="none" spc="0" normalizeH="0" baseline="0" noProof="0" dirty="0">
              <a:latin typeface="Times New Roman" panose="02020603050405020304" pitchFamily="18" charset="0"/>
              <a:ea typeface="+mn-ea"/>
              <a:cs typeface="Times New Roman" panose="02020603050405020304" pitchFamily="18" charset="0"/>
            </a:endParaRPr>
          </a:p>
          <a:p>
            <a:pPr marR="0" defTabSz="914400" eaLnBrk="1" fontAlgn="auto" hangingPunct="1">
              <a:spcBef>
                <a:spcPts val="0"/>
              </a:spcBef>
              <a:spcAft>
                <a:spcPts val="0"/>
              </a:spcAft>
              <a:buClrTx/>
              <a:buSzTx/>
              <a:buFontTx/>
              <a:buNone/>
              <a:defRPr/>
            </a:pPr>
            <a:r>
              <a:rPr kumimoji="0" lang="en-US" altLang="zh-CN" kern="100" cap="none" spc="0" normalizeH="0" baseline="0" noProof="0" dirty="0" err="1">
                <a:latin typeface="Times New Roman" panose="02020603050405020304" pitchFamily="18" charset="0"/>
                <a:ea typeface="宋体" pitchFamily="2" charset="-122"/>
                <a:cs typeface="+mn-cs"/>
              </a:rPr>
              <a:t>Webnovel</a:t>
            </a:r>
            <a:r>
              <a:rPr kumimoji="0" lang="en-US" altLang="zh-CN" kern="100" cap="none" spc="0" normalizeH="0" baseline="0" noProof="0" dirty="0">
                <a:latin typeface="Times New Roman" panose="02020603050405020304" pitchFamily="18" charset="0"/>
                <a:ea typeface="宋体" pitchFamily="2" charset="-122"/>
                <a:cs typeface="+mn-cs"/>
              </a:rPr>
              <a:t> —</a:t>
            </a:r>
            <a:r>
              <a:rPr kumimoji="0" lang="zh-CN" altLang="en-US" kern="100" cap="none" spc="0" normalizeH="0" baseline="0" noProof="0" dirty="0">
                <a:latin typeface="Times New Roman" panose="02020603050405020304" pitchFamily="18" charset="0"/>
                <a:ea typeface="宋体" pitchFamily="2" charset="-122"/>
                <a:cs typeface="+mn-cs"/>
              </a:rPr>
              <a:t> </a:t>
            </a:r>
            <a:r>
              <a:rPr kumimoji="0" lang="en-US" altLang="zh-CN" kern="100" cap="none" spc="0" normalizeH="0" baseline="0" noProof="0" dirty="0">
                <a:latin typeface="Times New Roman" panose="02020603050405020304" pitchFamily="18" charset="0"/>
                <a:ea typeface="宋体" pitchFamily="2" charset="-122"/>
                <a:cs typeface="+mn-cs"/>
              </a:rPr>
              <a:t>the research platform</a:t>
            </a:r>
            <a:r>
              <a:rPr kumimoji="0" lang="zh-CN" altLang="en-US" kern="100" cap="none" spc="0" normalizeH="0" baseline="0" noProof="0" dirty="0">
                <a:latin typeface="Times New Roman" panose="02020603050405020304" pitchFamily="18" charset="0"/>
                <a:ea typeface="宋体" pitchFamily="2" charset="-122"/>
                <a:cs typeface="+mn-cs"/>
              </a:rPr>
              <a:t> </a:t>
            </a:r>
            <a:r>
              <a:rPr kumimoji="0" lang="en-US" altLang="zh-CN" kern="100" cap="none" spc="0" normalizeH="0" baseline="0" noProof="0" dirty="0">
                <a:latin typeface="Times New Roman" panose="02020603050405020304" pitchFamily="18" charset="0"/>
                <a:ea typeface="宋体" pitchFamily="2" charset="-122"/>
                <a:cs typeface="+mn-cs"/>
              </a:rPr>
              <a:t>&amp;</a:t>
            </a:r>
            <a:r>
              <a:rPr kumimoji="0" lang="zh-CN" altLang="en-US" kern="100" cap="none" spc="0" normalizeH="0" baseline="0" noProof="0" dirty="0">
                <a:latin typeface="Times New Roman" panose="02020603050405020304" pitchFamily="18" charset="0"/>
                <a:ea typeface="宋体" pitchFamily="2" charset="-122"/>
                <a:cs typeface="+mn-cs"/>
              </a:rPr>
              <a:t> </a:t>
            </a:r>
            <a:r>
              <a:rPr kumimoji="0" lang="en-US" altLang="zh-CN" kern="100" cap="none" spc="0" normalizeH="0" baseline="0" noProof="0" dirty="0">
                <a:latin typeface="Times New Roman" panose="02020603050405020304" pitchFamily="18" charset="0"/>
                <a:ea typeface="宋体" pitchFamily="2" charset="-122"/>
                <a:cs typeface="+mn-cs"/>
              </a:rPr>
              <a:t>online field site</a:t>
            </a:r>
            <a:r>
              <a:rPr kumimoji="0" lang="zh-CN" altLang="zh-CN" kern="1200" cap="none" spc="0" normalizeH="0" baseline="0" noProof="0" dirty="0">
                <a:latin typeface="+mn-lt"/>
                <a:ea typeface="+mn-ea"/>
                <a:cs typeface="+mn-cs"/>
              </a:rPr>
              <a:t> </a:t>
            </a:r>
            <a:endParaRPr kumimoji="1" lang="zh-CN" altLang="en-US" b="1"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21" name="文本框 20"/>
          <p:cNvSpPr txBox="1"/>
          <p:nvPr/>
        </p:nvSpPr>
        <p:spPr>
          <a:xfrm>
            <a:off x="9521190" y="3571875"/>
            <a:ext cx="2369820" cy="1198880"/>
          </a:xfrm>
          <a:prstGeom prst="rect">
            <a:avLst/>
          </a:prstGeom>
          <a:noFill/>
        </p:spPr>
        <p:txBody>
          <a:bodyPr wrap="square">
            <a:spAutoFit/>
          </a:bodyPr>
          <a:lstStyle/>
          <a:p>
            <a:pPr marR="0" algn="l" defTabSz="914400" eaLnBrk="1" fontAlgn="auto" hangingPunct="1">
              <a:spcBef>
                <a:spcPts val="0"/>
              </a:spcBef>
              <a:spcAft>
                <a:spcPts val="0"/>
              </a:spcAft>
              <a:buClrTx/>
              <a:buSzTx/>
              <a:buFontTx/>
              <a:buNone/>
              <a:defRPr/>
            </a:pPr>
            <a:r>
              <a:rPr kumimoji="0" lang="en-US" altLang="zh-CN" kern="100" cap="none" spc="0" normalizeH="0" baseline="0" noProof="0" dirty="0">
                <a:latin typeface="Times New Roman" panose="02020603050405020304" pitchFamily="18" charset="0"/>
                <a:ea typeface="宋体" pitchFamily="2" charset="-122"/>
                <a:cs typeface="+mn-cs"/>
              </a:rPr>
              <a:t>the entire translation community of W</a:t>
            </a:r>
            <a:r>
              <a:rPr kumimoji="0" lang="en-US" altLang="zh-CN" kern="100" cap="none" spc="0" normalizeH="0" baseline="0" noProof="0" dirty="0" err="1">
                <a:latin typeface="Times New Roman" panose="02020603050405020304" pitchFamily="18" charset="0"/>
                <a:ea typeface="宋体" pitchFamily="2" charset="-122"/>
                <a:cs typeface="+mn-cs"/>
              </a:rPr>
              <a:t>ebnovel</a:t>
            </a:r>
            <a:r>
              <a:rPr kumimoji="0" lang="zh-CN" altLang="en-US" kern="100" cap="none" spc="0" normalizeH="0" baseline="0" noProof="0" dirty="0">
                <a:latin typeface="Times New Roman" panose="02020603050405020304" pitchFamily="18" charset="0"/>
                <a:ea typeface="宋体" pitchFamily="2" charset="-122"/>
                <a:cs typeface="+mn-cs"/>
              </a:rPr>
              <a:t> </a:t>
            </a:r>
            <a:r>
              <a:rPr kumimoji="0" lang="en-US" altLang="zh-CN" kern="100" cap="none" spc="0" normalizeH="0" baseline="0" noProof="0" dirty="0">
                <a:latin typeface="Times New Roman" panose="02020603050405020304" pitchFamily="18" charset="0"/>
                <a:ea typeface="宋体" pitchFamily="2" charset="-122"/>
                <a:cs typeface="+mn-cs"/>
              </a:rPr>
              <a:t>is overviewed </a:t>
            </a:r>
            <a:r>
              <a:rPr kumimoji="0" lang="zh-CN" altLang="zh-CN" kern="1200" cap="none" spc="0" normalizeH="0" baseline="0" noProof="0" dirty="0">
                <a:latin typeface="+mn-lt"/>
                <a:ea typeface="+mn-ea"/>
                <a:cs typeface="+mn-cs"/>
              </a:rPr>
              <a:t> </a:t>
            </a:r>
            <a:endParaRPr kumimoji="0" lang="zh-CN" altLang="en-US" kern="1200" cap="none" spc="0" normalizeH="0" baseline="0" noProof="0" dirty="0">
              <a:latin typeface="+mn-lt"/>
              <a:ea typeface="+mn-ea"/>
              <a:cs typeface="+mn-cs"/>
            </a:endParaRPr>
          </a:p>
        </p:txBody>
      </p:sp>
      <p:sp>
        <p:nvSpPr>
          <p:cNvPr id="23" name="文本框 22"/>
          <p:cNvSpPr txBox="1"/>
          <p:nvPr/>
        </p:nvSpPr>
        <p:spPr>
          <a:xfrm>
            <a:off x="4691063" y="4557395"/>
            <a:ext cx="4953000" cy="64516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en-US" altLang="zh-CN" b="1" i="1" kern="100" cap="none" spc="0" normalizeH="0" baseline="0" noProof="0" dirty="0">
                <a:latin typeface="Times New Roman" panose="02020603050405020304" pitchFamily="18" charset="0"/>
                <a:ea typeface="宋体" pitchFamily="2" charset="-122"/>
                <a:cs typeface="+mn-cs"/>
              </a:rPr>
              <a:t>Lord of Mysteries</a:t>
            </a:r>
            <a:r>
              <a:rPr kumimoji="0" lang="en-US" altLang="zh-CN" b="1" kern="100" cap="none" spc="0" normalizeH="0" baseline="0" noProof="0" dirty="0">
                <a:latin typeface="Times New Roman" panose="02020603050405020304" pitchFamily="18" charset="0"/>
                <a:ea typeface="宋体" pitchFamily="2" charset="-122"/>
                <a:cs typeface="+mn-cs"/>
              </a:rPr>
              <a:t> —</a:t>
            </a:r>
            <a:r>
              <a:rPr kumimoji="0" lang="zh-CN" altLang="en-US" b="1" kern="100" cap="none" spc="0" normalizeH="0" baseline="0" noProof="0" dirty="0">
                <a:latin typeface="Times New Roman" panose="02020603050405020304" pitchFamily="18" charset="0"/>
                <a:ea typeface="宋体" pitchFamily="2" charset="-122"/>
                <a:cs typeface="+mn-cs"/>
              </a:rPr>
              <a:t> </a:t>
            </a:r>
            <a:r>
              <a:rPr kumimoji="0" lang="en-US" altLang="zh-CN" kern="100" cap="none" spc="0" normalizeH="0" baseline="0" noProof="0" dirty="0">
                <a:latin typeface="Times New Roman" panose="02020603050405020304" pitchFamily="18" charset="0"/>
                <a:ea typeface="宋体" pitchFamily="2" charset="-122"/>
                <a:cs typeface="+mn-cs"/>
              </a:rPr>
              <a:t>the entry point;</a:t>
            </a:r>
            <a:endParaRPr kumimoji="0" lang="en-US" altLang="zh-CN" kern="100" cap="none" spc="0" normalizeH="0" baseline="0" noProof="0" dirty="0">
              <a:latin typeface="Times New Roman" panose="02020603050405020304" pitchFamily="18" charset="0"/>
              <a:ea typeface="宋体" pitchFamily="2" charset="-122"/>
              <a:cs typeface="+mn-cs"/>
            </a:endParaRPr>
          </a:p>
          <a:p>
            <a:pPr marR="0" algn="ctr" defTabSz="914400" eaLnBrk="1" fontAlgn="auto" hangingPunct="1">
              <a:spcBef>
                <a:spcPts val="0"/>
              </a:spcBef>
              <a:spcAft>
                <a:spcPts val="0"/>
              </a:spcAft>
              <a:buClrTx/>
              <a:buSzTx/>
              <a:buFontTx/>
              <a:buNone/>
              <a:defRPr/>
            </a:pPr>
            <a:r>
              <a:rPr kumimoji="0" lang="en-US" altLang="zh-CN" kern="100" cap="none" spc="0" normalizeH="0" baseline="0" noProof="0" dirty="0">
                <a:latin typeface="Times New Roman" panose="02020603050405020304" pitchFamily="18" charset="0"/>
                <a:ea typeface="宋体" pitchFamily="2" charset="-122"/>
                <a:cs typeface="+mn-cs"/>
              </a:rPr>
              <a:t>its data collection and filtering are conducted</a:t>
            </a:r>
            <a:r>
              <a:rPr kumimoji="0" lang="zh-CN" altLang="zh-CN" kern="1200" cap="none" spc="0" normalizeH="0" baseline="0" noProof="0" dirty="0">
                <a:latin typeface="+mn-lt"/>
                <a:ea typeface="+mn-ea"/>
                <a:cs typeface="+mn-cs"/>
              </a:rPr>
              <a:t> </a:t>
            </a:r>
            <a:endParaRPr kumimoji="0" lang="zh-CN" altLang="en-US" kern="1200" cap="none" spc="0" normalizeH="0" baseline="0" noProof="0" dirty="0">
              <a:latin typeface="+mn-lt"/>
              <a:ea typeface="+mn-ea"/>
              <a:cs typeface="+mn-cs"/>
            </a:endParaRPr>
          </a:p>
        </p:txBody>
      </p:sp>
      <p:sp>
        <p:nvSpPr>
          <p:cNvPr id="25" name="文本框 24"/>
          <p:cNvSpPr txBox="1"/>
          <p:nvPr/>
        </p:nvSpPr>
        <p:spPr>
          <a:xfrm>
            <a:off x="2252028" y="5209223"/>
            <a:ext cx="3133725" cy="119888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kern="100" cap="none" spc="0" normalizeH="0" baseline="0" noProof="0" dirty="0">
                <a:latin typeface="Times New Roman" panose="02020603050405020304" pitchFamily="18" charset="0"/>
                <a:ea typeface="宋体" pitchFamily="2" charset="-122"/>
                <a:cs typeface="+mn-cs"/>
              </a:rPr>
              <a:t>The data </a:t>
            </a:r>
            <a:r>
              <a:rPr kumimoji="0" lang="en-US" altLang="zh-CN" kern="100" cap="none" spc="0" normalizeH="0" baseline="0" noProof="0" dirty="0">
                <a:latin typeface="Times New Roman" panose="02020603050405020304" pitchFamily="18" charset="0"/>
                <a:ea typeface="宋体" pitchFamily="2" charset="-122"/>
                <a:cs typeface="+mn-cs"/>
              </a:rPr>
              <a:t>are analyzed and organized based on the research questions and the conceptual framework of ANT</a:t>
            </a:r>
            <a:r>
              <a:rPr kumimoji="0" lang="zh-CN" altLang="zh-CN" kern="1200" cap="none" spc="0" normalizeH="0" baseline="0" noProof="0" dirty="0">
                <a:latin typeface="+mn-lt"/>
                <a:ea typeface="+mn-ea"/>
                <a:cs typeface="+mn-cs"/>
              </a:rPr>
              <a:t> </a:t>
            </a:r>
            <a:endParaRPr kumimoji="0" lang="zh-CN" altLang="en-US" kern="1200" cap="none" spc="0" normalizeH="0" baseline="0" noProof="0" dirty="0">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椭圆 5"/>
          <p:cNvSpPr/>
          <p:nvPr/>
        </p:nvSpPr>
        <p:spPr>
          <a:xfrm>
            <a:off x="2536825" y="261938"/>
            <a:ext cx="820738"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1.3</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7" name="文本框 6"/>
          <p:cNvSpPr txBox="1"/>
          <p:nvPr/>
        </p:nvSpPr>
        <p:spPr>
          <a:xfrm>
            <a:off x="3357563" y="261938"/>
            <a:ext cx="7200900" cy="522288"/>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Research Objective and Research Questions</a:t>
            </a:r>
            <a:r>
              <a:rPr kumimoji="0" lang="zh-CN"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 </a:t>
            </a:r>
            <a:endParaRPr kumimoji="0" lang="zh-CN" altLang="en-US" sz="2800" b="1" kern="100" cap="none" spc="0" normalizeH="0" baseline="0" noProof="0" dirty="0">
              <a:latin typeface="Times New Roman" panose="02020603050405020304" pitchFamily="18" charset="0"/>
              <a:ea typeface="宋体" pitchFamily="2" charset="-122"/>
              <a:cs typeface="Times New Roman" panose="02020603050405020304" pitchFamily="18" charset="0"/>
            </a:endParaRPr>
          </a:p>
        </p:txBody>
      </p:sp>
      <p:sp>
        <p:nvSpPr>
          <p:cNvPr id="2" name="圆角矩形 1"/>
          <p:cNvSpPr/>
          <p:nvPr/>
        </p:nvSpPr>
        <p:spPr>
          <a:xfrm>
            <a:off x="2686050" y="1331913"/>
            <a:ext cx="3881438" cy="168433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mn-cs"/>
              </a:rPr>
              <a:t>To reveal W</a:t>
            </a:r>
            <a:r>
              <a:rPr kumimoji="0" lang="en-US" altLang="zh-CN" sz="2000" b="0" i="0" u="none" strike="noStrike" kern="1200" cap="none" spc="0" normalizeH="0" baseline="0" noProof="0" dirty="0" err="1">
                <a:ln>
                  <a:noFill/>
                </a:ln>
                <a:solidFill>
                  <a:schemeClr val="dk1"/>
                </a:solidFill>
                <a:effectLst/>
                <a:uLnTx/>
                <a:uFillTx/>
                <a:latin typeface="Times New Roman" panose="02020603050405020304" pitchFamily="18" charset="0"/>
                <a:ea typeface="宋体" pitchFamily="2" charset="-122"/>
                <a:cs typeface="+mn-cs"/>
              </a:rPr>
              <a:t>ebnovel’s</a:t>
            </a:r>
            <a:r>
              <a:rPr kumimoji="0" lang="en-US"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mn-cs"/>
              </a:rPr>
              <a:t> translation and dissemination mechanisms.</a:t>
            </a:r>
            <a:r>
              <a:rPr kumimoji="0" lang="zh-CN" altLang="zh-CN" sz="2000" b="0" i="0" u="none" strike="noStrike" kern="1200" cap="none" spc="0" normalizeH="0" baseline="0" noProof="0" dirty="0">
                <a:ln>
                  <a:noFill/>
                </a:ln>
                <a:solidFill>
                  <a:schemeClr val="dk1"/>
                </a:solidFill>
                <a:effectLst/>
                <a:uLnTx/>
                <a:uFillTx/>
                <a:latin typeface="+mn-lt"/>
                <a:ea typeface="+mn-ea"/>
                <a:cs typeface="+mn-cs"/>
              </a:rPr>
              <a:t> </a:t>
            </a:r>
            <a:endParaRPr kumimoji="0" lang="zh-CN" altLang="en-US" sz="2000" b="0" i="0" u="none" strike="noStrike" kern="1200" cap="none" spc="0" normalizeH="0" baseline="0" noProof="0" dirty="0">
              <a:ln>
                <a:noFill/>
              </a:ln>
              <a:solidFill>
                <a:schemeClr val="dk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dk1"/>
              </a:solidFill>
              <a:effectLst/>
              <a:uLnTx/>
              <a:uFillTx/>
              <a:latin typeface="+mn-lt"/>
              <a:ea typeface="+mn-ea"/>
              <a:cs typeface="+mn-cs"/>
            </a:endParaRPr>
          </a:p>
        </p:txBody>
      </p:sp>
      <p:sp>
        <p:nvSpPr>
          <p:cNvPr id="3" name="圆角矩形 2"/>
          <p:cNvSpPr/>
          <p:nvPr/>
        </p:nvSpPr>
        <p:spPr>
          <a:xfrm>
            <a:off x="3236913" y="2514600"/>
            <a:ext cx="295275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lt1"/>
                </a:solidFill>
                <a:effectLst/>
                <a:uLnTx/>
                <a:uFillTx/>
                <a:latin typeface="Times New Roman" panose="02020603050405020304" pitchFamily="18" charset="0"/>
                <a:ea typeface="宋体" pitchFamily="2" charset="-122"/>
                <a:cs typeface="+mn-cs"/>
              </a:rPr>
              <a:t>Research Objective</a:t>
            </a:r>
            <a:endParaRPr kumimoji="0" lang="zh-CN" altLang="en-US" sz="2400" b="0" i="0" u="none" strike="noStrike" kern="1200" cap="none" spc="0" normalizeH="0" baseline="0" noProof="0" dirty="0">
              <a:ln>
                <a:noFill/>
              </a:ln>
              <a:solidFill>
                <a:schemeClr val="lt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 name="圆角矩形 3"/>
          <p:cNvSpPr/>
          <p:nvPr/>
        </p:nvSpPr>
        <p:spPr>
          <a:xfrm>
            <a:off x="7628890" y="2034540"/>
            <a:ext cx="3579495" cy="4109720"/>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800" b="0" i="0" u="none" strike="noStrike" kern="1200" cap="none" spc="0" normalizeH="0" baseline="0" noProof="0" dirty="0">
                <a:ln>
                  <a:noFill/>
                </a:ln>
                <a:solidFill>
                  <a:schemeClr val="dk1"/>
                </a:solidFill>
                <a:effectLst/>
                <a:uLnTx/>
                <a:uFillTx/>
                <a:latin typeface="Times New Roman" panose="02020603050405020304" pitchFamily="18" charset="0"/>
                <a:ea typeface="DengXian" panose="02010600030101010101" pitchFamily="2" charset="-122"/>
                <a:cs typeface="Times New Roman" panose="02020603050405020304" pitchFamily="18" charset="0"/>
              </a:rPr>
              <a:t> (1) </a:t>
            </a:r>
            <a:r>
              <a:rPr kumimoji="0" lang="en-US"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rPr>
              <a:t>Which actors are involved in the translation of </a:t>
            </a:r>
            <a:r>
              <a:rPr kumimoji="0" lang="en-US" altLang="zh-CN" sz="2000" b="0" i="1"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rPr>
              <a:t>Lord of Mysteries</a:t>
            </a:r>
            <a:r>
              <a:rPr kumimoji="0" lang="zh-CN"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rPr>
              <a:t>？</a:t>
            </a:r>
            <a:endParaRPr kumimoji="0" lang="zh-CN"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endParaRPr kumimoji="0" lang="en-US" altLang="zh-CN" sz="2000" b="0" i="0" u="none" strike="noStrike" kern="1200" cap="none" spc="0" normalizeH="0" baseline="0" noProof="0" dirty="0">
              <a:ln>
                <a:noFill/>
              </a:ln>
              <a:solidFill>
                <a:schemeClr val="dk1"/>
              </a:solidFill>
              <a:effectLst/>
              <a:uLnTx/>
              <a:uFillTx/>
              <a:latin typeface="DengXian" panose="02010600030101010101" pitchFamily="2" charset="-122"/>
              <a:ea typeface="DengXian"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rPr>
              <a:t>(2) How do these actors interact and collaborate to form a translation network?</a:t>
            </a:r>
            <a:endParaRPr kumimoji="0" lang="en-US"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endParaRPr kumimoji="0" lang="en-US"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rPr>
              <a:t>(3) What translation and dissemination paradigm does </a:t>
            </a:r>
            <a:r>
              <a:rPr kumimoji="0" lang="en-US" altLang="zh-CN" sz="2000" b="0" i="0" u="none" strike="noStrike" kern="1200" cap="none" spc="0" normalizeH="0" baseline="0" noProof="0" dirty="0" err="1">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rPr>
              <a:t>Webnovel</a:t>
            </a:r>
            <a:r>
              <a:rPr kumimoji="0" lang="en-US" altLang="zh-CN" sz="20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rPr>
              <a:t> adopt?</a:t>
            </a:r>
            <a:endParaRPr kumimoji="0" lang="zh-CN" altLang="zh-CN" sz="2000" b="0" i="0" u="none" strike="noStrike" kern="1200" cap="none" spc="0" normalizeH="0" baseline="0" noProof="0" dirty="0">
              <a:ln>
                <a:noFill/>
              </a:ln>
              <a:solidFill>
                <a:schemeClr val="dk1"/>
              </a:solidFill>
              <a:effectLst/>
              <a:uLnTx/>
              <a:uFillTx/>
              <a:latin typeface="DengXian" panose="02010600030101010101" pitchFamily="2" charset="-122"/>
              <a:ea typeface="DengXian" panose="02010600030101010101" pitchFamily="2" charset="-122"/>
              <a:cs typeface="Times New Roman" panose="02020603050405020304" pitchFamily="18" charset="0"/>
            </a:endParaRPr>
          </a:p>
        </p:txBody>
      </p:sp>
      <p:sp>
        <p:nvSpPr>
          <p:cNvPr id="5" name="圆角矩形 4"/>
          <p:cNvSpPr/>
          <p:nvPr/>
        </p:nvSpPr>
        <p:spPr>
          <a:xfrm>
            <a:off x="7878763" y="1163638"/>
            <a:ext cx="2865438" cy="8699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lt1"/>
                </a:solidFill>
                <a:effectLst/>
                <a:uLnTx/>
                <a:uFillTx/>
                <a:latin typeface="Times New Roman" panose="02020603050405020304" pitchFamily="18" charset="0"/>
                <a:ea typeface="宋体" pitchFamily="2" charset="-122"/>
                <a:cs typeface="Times New Roman" panose="02020603050405020304" pitchFamily="18" charset="0"/>
              </a:rPr>
              <a:t>Research Questions</a:t>
            </a:r>
            <a:endParaRPr kumimoji="0" lang="zh-CN" alt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16" name="上弧形箭头 15"/>
          <p:cNvSpPr/>
          <p:nvPr/>
        </p:nvSpPr>
        <p:spPr>
          <a:xfrm>
            <a:off x="4030663" y="3443288"/>
            <a:ext cx="3597275" cy="1306513"/>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图示 2"/>
          <p:cNvGraphicFramePr/>
          <p:nvPr/>
        </p:nvGraphicFramePr>
        <p:xfrm>
          <a:off x="1912556" y="1139805"/>
          <a:ext cx="9269730" cy="521554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文本框 3"/>
          <p:cNvSpPr txBox="1"/>
          <p:nvPr/>
        </p:nvSpPr>
        <p:spPr>
          <a:xfrm>
            <a:off x="2174875" y="0"/>
            <a:ext cx="9269730" cy="937895"/>
          </a:xfrm>
          <a:prstGeom prst="rect">
            <a:avLst/>
          </a:prstGeom>
          <a:noFill/>
        </p:spPr>
        <p:txBody>
          <a:bodyPr wrap="square">
            <a:noAutofit/>
          </a:bodyPr>
          <a:lstStyle/>
          <a:p>
            <a:pPr marR="0" defTabSz="914400" eaLnBrk="1" fontAlgn="auto" hangingPunct="1">
              <a:lnSpc>
                <a:spcPct val="200000"/>
              </a:lnSpc>
              <a:spcBef>
                <a:spcPts val="0"/>
              </a:spcBef>
              <a:spcAft>
                <a:spcPts val="0"/>
              </a:spcAft>
              <a:buClrTx/>
              <a:buSzTx/>
              <a:buFontTx/>
              <a:buNone/>
              <a:defRPr/>
            </a:pPr>
            <a:r>
              <a:rPr kumimoji="0" lang="en-US" altLang="zh-CN" sz="2400" b="1" kern="100" cap="none" spc="0" normalizeH="0" baseline="0" noProof="0" dirty="0">
                <a:latin typeface="Times New Roman" panose="02020603050405020304" pitchFamily="18" charset="0"/>
                <a:ea typeface="宋体" pitchFamily="2" charset="-122"/>
                <a:cs typeface="Times New Roman" panose="02020603050405020304" pitchFamily="18" charset="0"/>
              </a:rPr>
              <a:t>A Brief Review on Chinese Online Literature and Its Translation </a:t>
            </a:r>
            <a:endParaRPr kumimoji="0" lang="zh-CN" altLang="zh-CN" sz="2400" b="1" kern="100" cap="none" spc="0" normalizeH="0" baseline="0" noProof="0" dirty="0">
              <a:latin typeface="Times New Roman" panose="02020603050405020304" pitchFamily="18" charset="0"/>
              <a:ea typeface="宋体" pitchFamily="2" charset="-122"/>
              <a:cs typeface="Times New Roman" panose="02020603050405020304" pitchFamily="18" charset="0"/>
            </a:endParaRPr>
          </a:p>
        </p:txBody>
      </p:sp>
      <p:sp>
        <p:nvSpPr>
          <p:cNvPr id="5" name="椭圆 4"/>
          <p:cNvSpPr/>
          <p:nvPr/>
        </p:nvSpPr>
        <p:spPr>
          <a:xfrm>
            <a:off x="1353820" y="260668"/>
            <a:ext cx="820738"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2.1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图示 8"/>
          <p:cNvGraphicFramePr/>
          <p:nvPr/>
        </p:nvGraphicFramePr>
        <p:xfrm>
          <a:off x="1853233" y="1335804"/>
          <a:ext cx="9875521" cy="492905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椭圆 9"/>
          <p:cNvSpPr/>
          <p:nvPr/>
        </p:nvSpPr>
        <p:spPr>
          <a:xfrm>
            <a:off x="2135188" y="255588"/>
            <a:ext cx="822325" cy="5651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2.2</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12" name="文本框 11"/>
          <p:cNvSpPr txBox="1"/>
          <p:nvPr/>
        </p:nvSpPr>
        <p:spPr>
          <a:xfrm>
            <a:off x="3060700" y="358775"/>
            <a:ext cx="8107363" cy="461963"/>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400" b="1" kern="100" cap="none" spc="0" normalizeH="0" baseline="0" noProof="0" dirty="0">
                <a:latin typeface="Times New Roman" panose="02020603050405020304" pitchFamily="18" charset="0"/>
                <a:ea typeface="宋体" pitchFamily="2" charset="-122"/>
                <a:cs typeface="Times New Roman" panose="02020603050405020304" pitchFamily="18" charset="0"/>
              </a:rPr>
              <a:t>Previous Studies on Actor-Network Theory in Translation</a:t>
            </a:r>
            <a:endParaRPr kumimoji="0" lang="zh-CN" altLang="en-US" sz="2400" b="1" kern="100" cap="none" spc="0" normalizeH="0" baseline="0" noProof="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椭圆 9"/>
          <p:cNvSpPr/>
          <p:nvPr/>
        </p:nvSpPr>
        <p:spPr>
          <a:xfrm>
            <a:off x="3943350" y="312738"/>
            <a:ext cx="822325"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2.3</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12" name="文本框 11"/>
          <p:cNvSpPr txBox="1"/>
          <p:nvPr/>
        </p:nvSpPr>
        <p:spPr>
          <a:xfrm>
            <a:off x="4765675" y="333375"/>
            <a:ext cx="5026025" cy="5222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Summary of Previous Studies </a:t>
            </a:r>
            <a:endParaRPr kumimoji="0" lang="zh-CN" altLang="en-US" sz="2800" b="1" kern="100" cap="none" spc="0" normalizeH="0" baseline="0" noProof="0" dirty="0">
              <a:latin typeface="Times New Roman" panose="02020603050405020304" pitchFamily="18" charset="0"/>
              <a:ea typeface="宋体" pitchFamily="2" charset="-122"/>
              <a:cs typeface="Times New Roman" panose="02020603050405020304" pitchFamily="18" charset="0"/>
            </a:endParaRPr>
          </a:p>
        </p:txBody>
      </p:sp>
      <p:graphicFrame>
        <p:nvGraphicFramePr>
          <p:cNvPr id="15" name="表格 14"/>
          <p:cNvGraphicFramePr>
            <a:graphicFrameLocks noGrp="1"/>
          </p:cNvGraphicFramePr>
          <p:nvPr/>
        </p:nvGraphicFramePr>
        <p:xfrm>
          <a:off x="2470150" y="1304925"/>
          <a:ext cx="8372475" cy="4419601"/>
        </p:xfrm>
        <a:graphic>
          <a:graphicData uri="http://schemas.openxmlformats.org/drawingml/2006/table">
            <a:tbl>
              <a:tblPr firstRow="1" bandRow="1">
                <a:tableStyleId>{5C22544A-7EE6-4342-B048-85BDC9FD1C3A}</a:tableStyleId>
              </a:tblPr>
              <a:tblGrid>
                <a:gridCol w="1920850"/>
                <a:gridCol w="6451625"/>
              </a:tblGrid>
              <a:tr h="1603261">
                <a:tc>
                  <a:txBody>
                    <a:bodyPr/>
                    <a:lstStyle/>
                    <a:p>
                      <a:pPr algn="ctr"/>
                      <a:r>
                        <a:rPr lang="en-US" altLang="zh-CN" sz="1800" dirty="0">
                          <a:latin typeface="Times New Roman" panose="02020603050405020304" pitchFamily="18" charset="0"/>
                          <a:cs typeface="Times New Roman" panose="02020603050405020304" pitchFamily="18" charset="0"/>
                        </a:rPr>
                        <a:t>Previous Translation Studies On </a:t>
                      </a:r>
                      <a:endParaRPr lang="en-US" altLang="zh-CN" sz="1800" dirty="0">
                        <a:latin typeface="Times New Roman" panose="02020603050405020304" pitchFamily="18" charset="0"/>
                        <a:cs typeface="Times New Roman" panose="02020603050405020304" pitchFamily="18" charset="0"/>
                      </a:endParaRPr>
                    </a:p>
                    <a:p>
                      <a:pPr algn="ctr"/>
                      <a:r>
                        <a:rPr lang="en-US" altLang="zh-CN" sz="1800" dirty="0">
                          <a:latin typeface="Times New Roman" panose="02020603050405020304" pitchFamily="18" charset="0"/>
                          <a:cs typeface="Times New Roman" panose="02020603050405020304" pitchFamily="18" charset="0"/>
                        </a:rPr>
                        <a:t>Chinese Online Literature</a:t>
                      </a:r>
                      <a:endParaRPr lang="zh-CN" altLang="en-US" sz="1800" dirty="0">
                        <a:latin typeface="Times New Roman" panose="02020603050405020304" pitchFamily="18" charset="0"/>
                        <a:cs typeface="Times New Roman" panose="02020603050405020304" pitchFamily="18" charset="0"/>
                      </a:endParaRPr>
                    </a:p>
                  </a:txBody>
                  <a:tcPr marL="91444" marR="91444" marT="45727" marB="45727"/>
                </a:tc>
                <a:tc>
                  <a:txBody>
                    <a:bodyPr/>
                    <a:lstStyle/>
                    <a:p>
                      <a:pPr marL="285750" indent="-285750">
                        <a:buFont typeface="Arial" panose="020B0604020202090204" pitchFamily="34" charset="0"/>
                        <a:buChar char="•"/>
                      </a:pPr>
                      <a:endParaRPr lang="en-US" altLang="zh-CN" sz="1800" b="1" kern="100" dirty="0">
                        <a:solidFill>
                          <a:schemeClr val="lt1"/>
                        </a:solidFill>
                        <a:effectLst/>
                        <a:latin typeface="Times New Roman" panose="02020603050405020304" pitchFamily="18" charset="0"/>
                        <a:ea typeface="宋体" pitchFamily="2" charset="-122"/>
                        <a:cs typeface="+mn-cs"/>
                      </a:endParaRPr>
                    </a:p>
                    <a:p>
                      <a:pPr marL="285750" indent="-285750">
                        <a:buFont typeface="Arial" panose="020B0604020202090204" pitchFamily="34" charset="0"/>
                        <a:buChar char="•"/>
                      </a:pPr>
                      <a:r>
                        <a:rPr lang="en-US" altLang="zh-CN" sz="1800" b="1" kern="100" dirty="0">
                          <a:solidFill>
                            <a:schemeClr val="lt1"/>
                          </a:solidFill>
                          <a:effectLst/>
                          <a:latin typeface="Times New Roman" panose="02020603050405020304" pitchFamily="18" charset="0"/>
                          <a:ea typeface="宋体" pitchFamily="2" charset="-122"/>
                          <a:cs typeface="+mn-cs"/>
                        </a:rPr>
                        <a:t>emphasize macro-level analysis over micro-level investigation</a:t>
                      </a:r>
                      <a:endParaRPr lang="en-US" altLang="zh-CN" sz="1800" b="1" kern="100" dirty="0">
                        <a:solidFill>
                          <a:schemeClr val="lt1"/>
                        </a:solidFill>
                        <a:effectLst/>
                        <a:latin typeface="Times New Roman" panose="02020603050405020304" pitchFamily="18" charset="0"/>
                        <a:ea typeface="宋体" pitchFamily="2" charset="-122"/>
                        <a:cs typeface="+mn-cs"/>
                      </a:endParaRPr>
                    </a:p>
                    <a:p>
                      <a:pPr marL="285750" indent="-285750">
                        <a:buFont typeface="Arial" panose="020B0604020202090204" pitchFamily="34" charset="0"/>
                        <a:buChar char="•"/>
                      </a:pPr>
                      <a:r>
                        <a:rPr lang="en-US" altLang="zh-CN" sz="1800" kern="100" dirty="0">
                          <a:effectLst/>
                          <a:latin typeface="Times New Roman" panose="02020603050405020304" pitchFamily="18" charset="0"/>
                          <a:ea typeface="宋体" pitchFamily="2" charset="-122"/>
                        </a:rPr>
                        <a:t>a notable shortage of quantitative approaches and a lack of methodological rigor</a:t>
                      </a:r>
                      <a:endParaRPr lang="en-US" altLang="zh-CN" sz="1800" kern="100" dirty="0">
                        <a:effectLst/>
                        <a:latin typeface="Times New Roman" panose="02020603050405020304" pitchFamily="18" charset="0"/>
                        <a:ea typeface="宋体" pitchFamily="2" charset="-122"/>
                      </a:endParaRPr>
                    </a:p>
                    <a:p>
                      <a:pPr marL="285750" indent="-285750">
                        <a:buFont typeface="Arial" panose="020B0604020202090204" pitchFamily="34" charset="0"/>
                        <a:buChar char="•"/>
                      </a:pPr>
                      <a:r>
                        <a:rPr lang="en-US" altLang="zh-CN" sz="1800" kern="100" dirty="0">
                          <a:effectLst/>
                          <a:latin typeface="Times New Roman" panose="02020603050405020304" pitchFamily="18" charset="0"/>
                          <a:ea typeface="宋体" pitchFamily="2" charset="-122"/>
                        </a:rPr>
                        <a:t>a deficiency in theoretical basis of translation study</a:t>
                      </a:r>
                      <a:endParaRPr lang="en-US" altLang="zh-CN" sz="1800" kern="100" dirty="0">
                        <a:effectLst/>
                        <a:latin typeface="Times New Roman" panose="02020603050405020304" pitchFamily="18" charset="0"/>
                        <a:ea typeface="宋体" pitchFamily="2" charset="-122"/>
                      </a:endParaRPr>
                    </a:p>
                  </a:txBody>
                  <a:tcPr marL="91444" marR="91444" marT="45727" marB="45727"/>
                </a:tc>
              </a:tr>
              <a:tr h="15663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kern="100" dirty="0">
                          <a:solidFill>
                            <a:srgbClr val="000000"/>
                          </a:solidFill>
                          <a:latin typeface="Times New Roman" panose="02020603050405020304" pitchFamily="18" charset="0"/>
                          <a:ea typeface="宋体" pitchFamily="2" charset="-122"/>
                          <a:cs typeface="Times New Roman" panose="02020603050405020304" pitchFamily="18" charset="0"/>
                        </a:rPr>
                        <a:t>Previous Studies on Actor-Network Theory in Translation</a:t>
                      </a:r>
                      <a:endParaRPr lang="zh-CN" altLang="en-US" sz="1800" b="1" kern="100" dirty="0">
                        <a:solidFill>
                          <a:srgbClr val="000000"/>
                        </a:solidFill>
                        <a:latin typeface="Times New Roman" panose="02020603050405020304" pitchFamily="18" charset="0"/>
                        <a:ea typeface="宋体" pitchFamily="2" charset="-122"/>
                        <a:cs typeface="Times New Roman" panose="02020603050405020304" pitchFamily="18" charset="0"/>
                      </a:endParaRPr>
                    </a:p>
                    <a:p>
                      <a:endParaRPr lang="zh-CN" altLang="en-US" sz="1800" dirty="0"/>
                    </a:p>
                  </a:txBody>
                  <a:tcPr marL="91444" marR="91444" marT="45727" marB="45727"/>
                </a:tc>
                <a:tc>
                  <a:txBody>
                    <a:bodyPr/>
                    <a:lstStyle/>
                    <a:p>
                      <a:pPr marL="285750" indent="-285750">
                        <a:buFont typeface="Arial" panose="020B0604020202090204" pitchFamily="34" charset="0"/>
                        <a:buChar char="•"/>
                      </a:pPr>
                      <a:endParaRPr lang="en-US" altLang="zh-CN" sz="18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US" altLang="zh-CN" sz="1800" dirty="0">
                          <a:latin typeface="Times New Roman" panose="02020603050405020304" pitchFamily="18" charset="0"/>
                          <a:cs typeface="Times New Roman" panose="02020603050405020304" pitchFamily="18" charset="0"/>
                        </a:rPr>
                        <a:t>remain insufficient</a:t>
                      </a:r>
                      <a:endParaRPr lang="en-US" altLang="zh-CN" sz="18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US" altLang="zh-CN" sz="1800" dirty="0">
                          <a:latin typeface="Times New Roman" panose="02020603050405020304" pitchFamily="18" charset="0"/>
                          <a:cs typeface="Times New Roman" panose="02020603050405020304" pitchFamily="18" charset="0"/>
                        </a:rPr>
                        <a:t>focus on </a:t>
                      </a:r>
                      <a:r>
                        <a:rPr lang="en-US" altLang="zh-CN" sz="1800" kern="100" dirty="0">
                          <a:effectLst/>
                          <a:latin typeface="Times New Roman" panose="02020603050405020304" pitchFamily="18" charset="0"/>
                          <a:ea typeface="宋体" pitchFamily="2" charset="-122"/>
                          <a:cs typeface="Times New Roman" panose="02020603050405020304" pitchFamily="18" charset="0"/>
                        </a:rPr>
                        <a:t>classic texts, emerging genres, such as Chinese online literature are relatively overlooked.</a:t>
                      </a:r>
                      <a:endParaRPr lang="zh-CN" altLang="en-US" sz="1800" dirty="0">
                        <a:latin typeface="Times New Roman" panose="02020603050405020304" pitchFamily="18" charset="0"/>
                        <a:cs typeface="Times New Roman" panose="02020603050405020304" pitchFamily="18" charset="0"/>
                      </a:endParaRPr>
                    </a:p>
                  </a:txBody>
                  <a:tcPr marL="91444" marR="91444" marT="45727" marB="45727"/>
                </a:tc>
              </a:tr>
              <a:tr h="1249980">
                <a:tc gridSpan="2">
                  <a:txBody>
                    <a:bodyPr/>
                    <a:lstStyle/>
                    <a:p>
                      <a:pPr marL="285750" indent="-285750" algn="just">
                        <a:buFont typeface="Arial" panose="020B0604020202090204" pitchFamily="34" charset="0"/>
                        <a:buChar char="•"/>
                      </a:pPr>
                      <a:endParaRPr lang="en-US" altLang="zh-CN" sz="1800" kern="1200" dirty="0">
                        <a:solidFill>
                          <a:schemeClr val="dk1"/>
                        </a:solidFill>
                        <a:latin typeface="Times New Roman" panose="02020603050405020304" pitchFamily="18" charset="0"/>
                        <a:ea typeface="+mn-ea"/>
                        <a:cs typeface="Times New Roman" panose="02020603050405020304" pitchFamily="18" charset="0"/>
                      </a:endParaRPr>
                    </a:p>
                    <a:p>
                      <a:pPr marL="285750" indent="-285750" algn="just">
                        <a:buFont typeface="Arial" panose="020B0604020202090204" pitchFamily="34" charset="0"/>
                        <a:buChar char="•"/>
                      </a:pPr>
                      <a:r>
                        <a:rPr lang="en-US" altLang="zh-CN" sz="1800" kern="1200" dirty="0">
                          <a:solidFill>
                            <a:schemeClr val="dk1"/>
                          </a:solidFill>
                          <a:latin typeface="Times New Roman" panose="02020603050405020304" pitchFamily="18" charset="0"/>
                          <a:ea typeface="+mn-ea"/>
                          <a:cs typeface="Times New Roman" panose="02020603050405020304" pitchFamily="18" charset="0"/>
                        </a:rPr>
                        <a:t>This</a:t>
                      </a:r>
                      <a:r>
                        <a:rPr lang="zh-CN" altLang="en-US" sz="1800" kern="1200" dirty="0">
                          <a:solidFill>
                            <a:schemeClr val="dk1"/>
                          </a:solidFill>
                          <a:latin typeface="Times New Roman" panose="02020603050405020304" pitchFamily="18" charset="0"/>
                          <a:ea typeface="+mn-ea"/>
                          <a:cs typeface="Times New Roman" panose="02020603050405020304" pitchFamily="18" charset="0"/>
                        </a:rPr>
                        <a:t> </a:t>
                      </a:r>
                      <a:r>
                        <a:rPr lang="en-US" altLang="zh-CN" sz="1800" kern="1200" dirty="0">
                          <a:solidFill>
                            <a:schemeClr val="dk1"/>
                          </a:solidFill>
                          <a:latin typeface="Times New Roman" panose="02020603050405020304" pitchFamily="18" charset="0"/>
                          <a:ea typeface="+mn-ea"/>
                          <a:cs typeface="Times New Roman" panose="02020603050405020304" pitchFamily="18" charset="0"/>
                        </a:rPr>
                        <a:t>study employs ANT as the theoretical basis to analyze the translation of </a:t>
                      </a:r>
                      <a:r>
                        <a:rPr lang="en-US" altLang="zh-CN" sz="1800" i="1" kern="1200" dirty="0">
                          <a:solidFill>
                            <a:schemeClr val="dk1"/>
                          </a:solidFill>
                          <a:latin typeface="Times New Roman" panose="02020603050405020304" pitchFamily="18" charset="0"/>
                          <a:ea typeface="+mn-ea"/>
                          <a:cs typeface="Times New Roman" panose="02020603050405020304" pitchFamily="18" charset="0"/>
                        </a:rPr>
                        <a:t>Lord of Mysteries </a:t>
                      </a:r>
                      <a:r>
                        <a:rPr lang="en-US" altLang="zh-CN" sz="1800" kern="1200" dirty="0">
                          <a:solidFill>
                            <a:schemeClr val="dk1"/>
                          </a:solidFill>
                          <a:latin typeface="Times New Roman" panose="02020603050405020304" pitchFamily="18" charset="0"/>
                          <a:ea typeface="+mn-ea"/>
                          <a:cs typeface="Times New Roman" panose="02020603050405020304" pitchFamily="18" charset="0"/>
                        </a:rPr>
                        <a:t>on </a:t>
                      </a:r>
                      <a:r>
                        <a:rPr lang="en-US" altLang="zh-CN" sz="1800" kern="1200" dirty="0" err="1">
                          <a:solidFill>
                            <a:schemeClr val="dk1"/>
                          </a:solidFill>
                          <a:latin typeface="Times New Roman" panose="02020603050405020304" pitchFamily="18" charset="0"/>
                          <a:ea typeface="+mn-ea"/>
                          <a:cs typeface="Times New Roman" panose="02020603050405020304" pitchFamily="18" charset="0"/>
                        </a:rPr>
                        <a:t>Webnovel</a:t>
                      </a:r>
                      <a:r>
                        <a:rPr lang="en-US" altLang="zh-CN" sz="1800" kern="1200" dirty="0">
                          <a:solidFill>
                            <a:schemeClr val="dk1"/>
                          </a:solidFill>
                          <a:latin typeface="Times New Roman" panose="02020603050405020304" pitchFamily="18" charset="0"/>
                          <a:ea typeface="+mn-ea"/>
                          <a:cs typeface="Times New Roman" panose="02020603050405020304" pitchFamily="18" charset="0"/>
                        </a:rPr>
                        <a:t>, trying to figure out the translation and dissemination paradigm of </a:t>
                      </a:r>
                      <a:r>
                        <a:rPr lang="en-US" altLang="zh-CN" sz="1800" kern="1200" dirty="0" err="1">
                          <a:solidFill>
                            <a:schemeClr val="dk1"/>
                          </a:solidFill>
                          <a:latin typeface="Times New Roman" panose="02020603050405020304" pitchFamily="18" charset="0"/>
                          <a:ea typeface="+mn-ea"/>
                          <a:cs typeface="Times New Roman" panose="02020603050405020304" pitchFamily="18" charset="0"/>
                        </a:rPr>
                        <a:t>Webnovel</a:t>
                      </a:r>
                      <a:r>
                        <a:rPr lang="en-US" altLang="zh-CN" sz="1800" kern="1200" dirty="0">
                          <a:solidFill>
                            <a:schemeClr val="dk1"/>
                          </a:solidFill>
                          <a:latin typeface="Times New Roman" panose="02020603050405020304" pitchFamily="18" charset="0"/>
                          <a:ea typeface="+mn-ea"/>
                          <a:cs typeface="Times New Roman" panose="02020603050405020304" pitchFamily="18" charset="0"/>
                        </a:rPr>
                        <a:t>. </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marL="91444" marR="91444" marT="45727" marB="45727"/>
                </a:tc>
                <a:tc hMerge="1">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椭圆 1"/>
          <p:cNvSpPr/>
          <p:nvPr/>
        </p:nvSpPr>
        <p:spPr>
          <a:xfrm>
            <a:off x="4200525" y="185738"/>
            <a:ext cx="822325"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3.1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5" name="文本框 4"/>
          <p:cNvSpPr txBox="1"/>
          <p:nvPr/>
        </p:nvSpPr>
        <p:spPr>
          <a:xfrm>
            <a:off x="5227638" y="227013"/>
            <a:ext cx="3360738" cy="5222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Working Definition</a:t>
            </a:r>
            <a:r>
              <a:rPr kumimoji="0" lang="zh-CN"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 </a:t>
            </a:r>
            <a:endParaRPr kumimoji="0" lang="zh-CN" altLang="en-US" sz="2800" b="1" kern="100" cap="none" spc="0" normalizeH="0" baseline="0" noProof="0" dirty="0">
              <a:latin typeface="Times New Roman" panose="02020603050405020304" pitchFamily="18" charset="0"/>
              <a:ea typeface="宋体" pitchFamily="2" charset="-122"/>
              <a:cs typeface="Times New Roman" panose="02020603050405020304" pitchFamily="18" charset="0"/>
            </a:endParaRPr>
          </a:p>
        </p:txBody>
      </p:sp>
      <p:graphicFrame>
        <p:nvGraphicFramePr>
          <p:cNvPr id="10" name="图示 9"/>
          <p:cNvGraphicFramePr/>
          <p:nvPr/>
        </p:nvGraphicFramePr>
        <p:xfrm>
          <a:off x="3643389" y="908655"/>
          <a:ext cx="6217920" cy="229884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圆角矩形 3"/>
          <p:cNvSpPr/>
          <p:nvPr/>
        </p:nvSpPr>
        <p:spPr>
          <a:xfrm>
            <a:off x="2570163" y="3316288"/>
            <a:ext cx="2452688" cy="2741613"/>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800" b="0" i="0" u="none" strike="noStrike" kern="1200" cap="none" spc="0" normalizeH="0" baseline="0" noProof="0" dirty="0">
                <a:ln>
                  <a:noFill/>
                </a:ln>
                <a:solidFill>
                  <a:schemeClr val="dk1"/>
                </a:solidFill>
                <a:effectLst/>
                <a:uLnTx/>
                <a:uFillTx/>
                <a:latin typeface="Times New Roman" panose="02020603050405020304" pitchFamily="18" charset="0"/>
                <a:ea typeface="DengXian" panose="02010600030101010101" pitchFamily="2" charset="-122"/>
                <a:cs typeface="Times New Roman" panose="02020603050405020304" pitchFamily="18" charset="0"/>
              </a:rPr>
              <a:t>“may be anything: people, crowds, microbes, machines, ideas, technologies, even fate” (Latour, 1988: 252) . </a:t>
            </a:r>
            <a:endParaRPr kumimoji="0" lang="zh-CN" altLang="en-US" sz="1800" b="0"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sp>
        <p:nvSpPr>
          <p:cNvPr id="6" name="圆角矩形 5"/>
          <p:cNvSpPr/>
          <p:nvPr/>
        </p:nvSpPr>
        <p:spPr>
          <a:xfrm>
            <a:off x="2759075" y="5678488"/>
            <a:ext cx="2074863" cy="5413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Actor</a:t>
            </a:r>
            <a:endParaRPr kumimoji="1" lang="zh-CN" altLang="en-US" sz="20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8" name="圆角矩形 7"/>
          <p:cNvSpPr/>
          <p:nvPr/>
        </p:nvSpPr>
        <p:spPr>
          <a:xfrm>
            <a:off x="5492750" y="3729990"/>
            <a:ext cx="2931795" cy="2826385"/>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8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mn-cs"/>
              </a:rPr>
              <a:t>It is not “a thing out there”, but functions as a tool to describe the connections among these entities, with emphasis on the process of their “work, movement, flow, and change” (ibid:143)</a:t>
            </a:r>
            <a:endParaRPr kumimoji="0" lang="zh-CN" altLang="en-US" sz="18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圆角矩形 8"/>
          <p:cNvSpPr/>
          <p:nvPr/>
        </p:nvSpPr>
        <p:spPr>
          <a:xfrm>
            <a:off x="5994400" y="3309620"/>
            <a:ext cx="1928813" cy="6111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Network</a:t>
            </a:r>
            <a:endParaRPr kumimoji="1" lang="zh-CN" altLang="en-US" sz="20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11" name="圆角矩形 10"/>
          <p:cNvSpPr/>
          <p:nvPr/>
        </p:nvSpPr>
        <p:spPr>
          <a:xfrm>
            <a:off x="8882063" y="3921125"/>
            <a:ext cx="2246313" cy="2635250"/>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8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Times New Roman" panose="02020603050405020304" pitchFamily="18" charset="0"/>
              </a:rPr>
              <a:t>denotes the process whereby focal actors align their interests and objectives with those of other actors. </a:t>
            </a:r>
            <a:endParaRPr kumimoji="0" lang="zh-CN" altLang="en-US" sz="1800" b="0" i="0" u="none" strike="noStrike" kern="1200" cap="none" spc="0" normalizeH="0" baseline="0" noProof="0" dirty="0">
              <a:ln>
                <a:noFill/>
              </a:ln>
              <a:solidFill>
                <a:schemeClr val="dk1"/>
              </a:solidFill>
              <a:effectLst/>
              <a:uLnTx/>
              <a:uFillTx/>
              <a:latin typeface="+mn-lt"/>
              <a:ea typeface="+mn-ea"/>
              <a:cs typeface="+mn-cs"/>
            </a:endParaRPr>
          </a:p>
        </p:txBody>
      </p:sp>
      <p:sp>
        <p:nvSpPr>
          <p:cNvPr id="12" name="圆角矩形 11"/>
          <p:cNvSpPr/>
          <p:nvPr/>
        </p:nvSpPr>
        <p:spPr>
          <a:xfrm>
            <a:off x="9118600" y="3436938"/>
            <a:ext cx="1773238" cy="7254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err="1">
                <a:ln>
                  <a:noFill/>
                </a:ln>
                <a:solidFill>
                  <a:schemeClr val="lt1"/>
                </a:solidFill>
                <a:effectLst/>
                <a:uLnTx/>
                <a:uFillTx/>
                <a:latin typeface="Times New Roman" panose="02020603050405020304" pitchFamily="18" charset="0"/>
                <a:ea typeface="+mn-ea"/>
                <a:cs typeface="Times New Roman" panose="02020603050405020304" pitchFamily="18" charset="0"/>
              </a:rPr>
              <a:t>Translation</a:t>
            </a:r>
            <a:r>
              <a:rPr kumimoji="1" lang="en-US" altLang="zh-CN" sz="1800" b="1" i="0" u="none" strike="noStrike" kern="1200" cap="none" spc="0" normalizeH="0" baseline="30000" noProof="0" dirty="0" err="1">
                <a:ln>
                  <a:noFill/>
                </a:ln>
                <a:solidFill>
                  <a:schemeClr val="lt1"/>
                </a:solidFill>
                <a:effectLst/>
                <a:uLnTx/>
                <a:uFillTx/>
                <a:latin typeface="Times New Roman" panose="02020603050405020304" pitchFamily="18" charset="0"/>
                <a:ea typeface="+mn-ea"/>
                <a:cs typeface="Times New Roman" panose="02020603050405020304" pitchFamily="18" charset="0"/>
              </a:rPr>
              <a:t>ANT</a:t>
            </a:r>
            <a:endParaRPr kumimoji="1" lang="zh-CN" altLang="en-US" sz="1800" b="1" i="0" u="none" strike="noStrike" kern="1200" cap="none" spc="0" normalizeH="0" baseline="3000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框 3"/>
          <p:cNvSpPr txBox="1"/>
          <p:nvPr/>
        </p:nvSpPr>
        <p:spPr>
          <a:xfrm>
            <a:off x="4298950" y="1073150"/>
            <a:ext cx="5154613" cy="533400"/>
          </a:xfrm>
          <a:prstGeom prst="rect">
            <a:avLst/>
          </a:prstGeom>
          <a:noFill/>
          <a:ln w="9525">
            <a:noFill/>
          </a:ln>
        </p:spPr>
        <p:txBody>
          <a:bodyPr>
            <a:spAutoFit/>
          </a:bodyPr>
          <a:p>
            <a:pPr marL="342900" indent="-342900" algn="just" eaLnBrk="1" hangingPunct="1">
              <a:lnSpc>
                <a:spcPct val="130000"/>
              </a:lnSpc>
              <a:buFont typeface="Wingdings" panose="05000000000000000000" pitchFamily="2" charset="2"/>
              <a:buChar char="Ø"/>
            </a:pPr>
            <a:r>
              <a:rPr lang="en-US" altLang="zh-CN" sz="2400" b="1">
                <a:latin typeface="Times New Roman" panose="02020603050405020304" pitchFamily="18" charset="0"/>
                <a:ea typeface="宋体" pitchFamily="2" charset="-122"/>
              </a:rPr>
              <a:t>The four stages of Translation</a:t>
            </a:r>
            <a:r>
              <a:rPr lang="en-US" altLang="zh-CN" sz="2400" b="1" baseline="30000">
                <a:latin typeface="Times New Roman" panose="02020603050405020304" pitchFamily="18" charset="0"/>
                <a:ea typeface="宋体" pitchFamily="2" charset="-122"/>
              </a:rPr>
              <a:t>ANT</a:t>
            </a:r>
            <a:endParaRPr lang="zh-CN" altLang="zh-CN" sz="2400">
              <a:latin typeface="等线" pitchFamily="2" charset="-122"/>
              <a:ea typeface="宋体" pitchFamily="2" charset="-122"/>
            </a:endParaRPr>
          </a:p>
        </p:txBody>
      </p:sp>
      <p:sp>
        <p:nvSpPr>
          <p:cNvPr id="2" name="椭圆 1"/>
          <p:cNvSpPr/>
          <p:nvPr/>
        </p:nvSpPr>
        <p:spPr>
          <a:xfrm>
            <a:off x="4102100" y="168275"/>
            <a:ext cx="820738" cy="5651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3.1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5" name="文本框 4"/>
          <p:cNvSpPr txBox="1"/>
          <p:nvPr/>
        </p:nvSpPr>
        <p:spPr>
          <a:xfrm>
            <a:off x="5080000" y="268288"/>
            <a:ext cx="3359150" cy="5222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Working Definition</a:t>
            </a:r>
            <a:r>
              <a:rPr kumimoji="0" lang="zh-CN"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 </a:t>
            </a:r>
            <a:endParaRPr kumimoji="0" lang="zh-CN" altLang="en-US" sz="2800" b="1" kern="100" cap="none" spc="0" normalizeH="0" baseline="0" noProof="0" dirty="0">
              <a:latin typeface="Times New Roman" panose="02020603050405020304" pitchFamily="18" charset="0"/>
              <a:ea typeface="宋体" pitchFamily="2" charset="-122"/>
              <a:cs typeface="Times New Roman" panose="02020603050405020304" pitchFamily="18" charset="0"/>
            </a:endParaRPr>
          </a:p>
        </p:txBody>
      </p:sp>
      <p:graphicFrame>
        <p:nvGraphicFramePr>
          <p:cNvPr id="7" name="表格 6"/>
          <p:cNvGraphicFramePr>
            <a:graphicFrameLocks noGrp="1"/>
          </p:cNvGraphicFramePr>
          <p:nvPr/>
        </p:nvGraphicFramePr>
        <p:xfrm>
          <a:off x="2670175" y="1887538"/>
          <a:ext cx="8412163" cy="3919538"/>
        </p:xfrm>
        <a:graphic>
          <a:graphicData uri="http://schemas.openxmlformats.org/drawingml/2006/table">
            <a:tbl>
              <a:tblPr firstRow="1" bandRow="1">
                <a:tableStyleId>{5C22544A-7EE6-4342-B048-85BDC9FD1C3A}</a:tableStyleId>
              </a:tblPr>
              <a:tblGrid>
                <a:gridCol w="2139281"/>
                <a:gridCol w="6272882"/>
              </a:tblGrid>
              <a:tr h="1262104">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800" b="1" kern="1200" dirty="0">
                        <a:solidFill>
                          <a:schemeClr val="lt1"/>
                        </a:solidFill>
                        <a:effectLst/>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kern="1200" dirty="0">
                          <a:solidFill>
                            <a:schemeClr val="lt1"/>
                          </a:solidFill>
                          <a:effectLst/>
                          <a:latin typeface="Times New Roman" panose="02020603050405020304" pitchFamily="18" charset="0"/>
                          <a:ea typeface="+mn-ea"/>
                          <a:cs typeface="Times New Roman" panose="02020603050405020304" pitchFamily="18" charset="0"/>
                        </a:rPr>
                        <a:t>Problematization</a:t>
                      </a:r>
                      <a:endParaRPr lang="zh-CN" altLang="zh-CN" sz="1800" b="1" kern="1200" dirty="0">
                        <a:solidFill>
                          <a:schemeClr val="lt1"/>
                        </a:solidFill>
                        <a:effectLst/>
                        <a:latin typeface="Times New Roman" panose="02020603050405020304" pitchFamily="18" charset="0"/>
                        <a:ea typeface="+mn-ea"/>
                        <a:cs typeface="Times New Roman" panose="02020603050405020304" pitchFamily="18" charset="0"/>
                      </a:endParaRPr>
                    </a:p>
                    <a:p>
                      <a:pPr algn="ctr"/>
                      <a:endParaRPr lang="zh-CN" altLang="en-US" sz="1800" dirty="0"/>
                    </a:p>
                  </a:txBody>
                  <a:tcPr marL="91442" marR="91442" marT="45728" marB="45728"/>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b="0" dirty="0">
                          <a:latin typeface="Times New Roman" panose="02020603050405020304" pitchFamily="18" charset="0"/>
                          <a:cs typeface="Times New Roman" panose="02020603050405020304" pitchFamily="18" charset="0"/>
                        </a:rPr>
                        <a:t>initiates the establishment of actor-netw</a:t>
                      </a:r>
                      <a:r>
                        <a:rPr lang="en-US" altLang="zh-CN" sz="1800" b="0" kern="1200" dirty="0">
                          <a:solidFill>
                            <a:schemeClr val="lt1"/>
                          </a:solidFill>
                          <a:latin typeface="Times New Roman" panose="02020603050405020304" pitchFamily="18" charset="0"/>
                          <a:ea typeface="+mn-ea"/>
                          <a:cs typeface="Times New Roman" panose="02020603050405020304" pitchFamily="18" charset="0"/>
                        </a:rPr>
                        <a:t>ork, during which focal actors depict their essence, and identify human and non-human actors relevant to the activity</a:t>
                      </a:r>
                      <a:endParaRPr lang="zh-CN" altLang="en-US" sz="1800" b="0" kern="1200" dirty="0">
                        <a:solidFill>
                          <a:schemeClr val="lt1"/>
                        </a:solidFill>
                        <a:latin typeface="Times New Roman" panose="02020603050405020304" pitchFamily="18" charset="0"/>
                        <a:ea typeface="+mn-ea"/>
                        <a:cs typeface="Times New Roman" panose="02020603050405020304" pitchFamily="18" charset="0"/>
                      </a:endParaRPr>
                    </a:p>
                  </a:txBody>
                  <a:tcPr marL="91442" marR="91442" marT="45728" marB="45728"/>
                </a:tc>
              </a:tr>
              <a:tr h="1262104">
                <a:tc>
                  <a:txBody>
                    <a:bodyPr/>
                    <a:lstStyle/>
                    <a:p>
                      <a:pPr algn="ctr"/>
                      <a:endParaRPr lang="en-US" altLang="zh-CN" sz="1800" b="1" dirty="0">
                        <a:latin typeface="Times New Roman" panose="02020603050405020304" pitchFamily="18" charset="0"/>
                        <a:cs typeface="Times New Roman" panose="02020603050405020304" pitchFamily="18" charset="0"/>
                      </a:endParaRPr>
                    </a:p>
                    <a:p>
                      <a:pPr algn="ctr"/>
                      <a:r>
                        <a:rPr lang="en-US" altLang="zh-CN" sz="1800" b="1" dirty="0" err="1">
                          <a:latin typeface="Times New Roman" panose="02020603050405020304" pitchFamily="18" charset="0"/>
                          <a:cs typeface="Times New Roman" panose="02020603050405020304" pitchFamily="18" charset="0"/>
                        </a:rPr>
                        <a:t>Interessment</a:t>
                      </a:r>
                      <a:endParaRPr lang="zh-CN" altLang="en-US" sz="1800" b="1" dirty="0">
                        <a:latin typeface="Times New Roman" panose="02020603050405020304" pitchFamily="18" charset="0"/>
                        <a:cs typeface="Times New Roman" panose="02020603050405020304" pitchFamily="18" charset="0"/>
                      </a:endParaRPr>
                    </a:p>
                  </a:txBody>
                  <a:tcPr marL="91442" marR="91442" marT="45728" marB="45728"/>
                </a:tc>
                <a:tc>
                  <a:txBody>
                    <a:bodyPr/>
                    <a:lstStyle/>
                    <a:p>
                      <a:r>
                        <a:rPr lang="en-US" altLang="zh-CN" sz="1800" kern="1200" dirty="0">
                          <a:solidFill>
                            <a:schemeClr val="dk1"/>
                          </a:solidFill>
                          <a:latin typeface="Times New Roman" panose="02020603050405020304" pitchFamily="18" charset="0"/>
                          <a:ea typeface="+mn-ea"/>
                          <a:cs typeface="Times New Roman" panose="02020603050405020304" pitchFamily="18" charset="0"/>
                        </a:rPr>
                        <a:t> a strategy used by actors to strengthen their relationships with other actors; by giving interests to others, potential competitive dynamics can be dismantled</a:t>
                      </a:r>
                      <a:r>
                        <a:rPr lang="zh-CN" altLang="zh-CN" sz="1800" kern="1200" dirty="0">
                          <a:solidFill>
                            <a:schemeClr val="dk1"/>
                          </a:solidFill>
                          <a:latin typeface="Times New Roman" panose="02020603050405020304" pitchFamily="18" charset="0"/>
                          <a:ea typeface="+mn-ea"/>
                          <a:cs typeface="Times New Roman" panose="02020603050405020304" pitchFamily="18" charset="0"/>
                        </a:rPr>
                        <a:t> </a:t>
                      </a:r>
                      <a:endParaRPr lang="zh-CN" altLang="en-US" sz="1800" dirty="0"/>
                    </a:p>
                  </a:txBody>
                  <a:tcPr marL="91442" marR="91442" marT="45728" marB="45728"/>
                </a:tc>
              </a:tr>
              <a:tr h="511854">
                <a:tc>
                  <a:txBody>
                    <a:bodyPr/>
                    <a:lstStyle/>
                    <a:p>
                      <a:pPr algn="ctr"/>
                      <a:r>
                        <a:rPr lang="en-US" altLang="zh-CN" sz="1800" b="1" dirty="0">
                          <a:latin typeface="Times New Roman" panose="02020603050405020304" pitchFamily="18" charset="0"/>
                          <a:cs typeface="Times New Roman" panose="02020603050405020304" pitchFamily="18" charset="0"/>
                        </a:rPr>
                        <a:t>Enrollment</a:t>
                      </a:r>
                      <a:endParaRPr lang="zh-CN" altLang="en-US" sz="1800" b="1" dirty="0">
                        <a:latin typeface="Times New Roman" panose="02020603050405020304" pitchFamily="18" charset="0"/>
                        <a:cs typeface="Times New Roman" panose="02020603050405020304" pitchFamily="18" charset="0"/>
                      </a:endParaRPr>
                    </a:p>
                  </a:txBody>
                  <a:tcPr marL="91442" marR="91442" marT="45728" marB="45728"/>
                </a:tc>
                <a:tc>
                  <a:txBody>
                    <a:bodyPr/>
                    <a:lstStyle/>
                    <a:p>
                      <a:r>
                        <a:rPr lang="en-US" altLang="zh-CN" sz="1800" kern="1200" dirty="0">
                          <a:solidFill>
                            <a:schemeClr val="dk1"/>
                          </a:solidFill>
                          <a:latin typeface="Times New Roman" panose="02020603050405020304" pitchFamily="18" charset="0"/>
                          <a:ea typeface="+mn-ea"/>
                          <a:cs typeface="Times New Roman" panose="02020603050405020304" pitchFamily="18" charset="0"/>
                        </a:rPr>
                        <a:t>result from endowing actors with interests</a:t>
                      </a:r>
                      <a:r>
                        <a:rPr lang="zh-CN" altLang="zh-CN" sz="1800" kern="1200" dirty="0">
                          <a:solidFill>
                            <a:schemeClr val="dk1"/>
                          </a:solidFill>
                          <a:latin typeface="Times New Roman" panose="02020603050405020304" pitchFamily="18" charset="0"/>
                          <a:ea typeface="+mn-ea"/>
                          <a:cs typeface="Times New Roman" panose="02020603050405020304" pitchFamily="18" charset="0"/>
                        </a:rPr>
                        <a:t> </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marL="91442" marR="91442" marT="45728" marB="45728"/>
                </a:tc>
              </a:tr>
              <a:tr h="883474">
                <a:tc>
                  <a:txBody>
                    <a:bodyPr/>
                    <a:lstStyle/>
                    <a:p>
                      <a:pPr algn="ctr"/>
                      <a:endParaRPr lang="en-US" altLang="zh-CN" sz="1800" b="1" kern="1200" dirty="0">
                        <a:solidFill>
                          <a:schemeClr val="dk1"/>
                        </a:solidFill>
                        <a:latin typeface="Times New Roman" panose="02020603050405020304" pitchFamily="18" charset="0"/>
                        <a:ea typeface="+mn-ea"/>
                        <a:cs typeface="Times New Roman" panose="02020603050405020304" pitchFamily="18" charset="0"/>
                      </a:endParaRPr>
                    </a:p>
                    <a:p>
                      <a:pPr algn="ctr"/>
                      <a:r>
                        <a:rPr lang="en-US" altLang="zh-CN" sz="1800" b="1" kern="1200" dirty="0">
                          <a:solidFill>
                            <a:schemeClr val="dk1"/>
                          </a:solidFill>
                          <a:latin typeface="Times New Roman" panose="02020603050405020304" pitchFamily="18" charset="0"/>
                          <a:ea typeface="+mn-ea"/>
                          <a:cs typeface="Times New Roman" panose="02020603050405020304" pitchFamily="18" charset="0"/>
                        </a:rPr>
                        <a:t>Mobilization</a:t>
                      </a:r>
                      <a:r>
                        <a:rPr lang="zh-CN" altLang="zh-CN" sz="1800" b="1" kern="1200" dirty="0">
                          <a:solidFill>
                            <a:schemeClr val="lt1"/>
                          </a:solidFill>
                          <a:latin typeface="Times New Roman" panose="02020603050405020304" pitchFamily="18" charset="0"/>
                          <a:ea typeface="+mn-ea"/>
                          <a:cs typeface="Times New Roman" panose="02020603050405020304" pitchFamily="18" charset="0"/>
                        </a:rPr>
                        <a:t> </a:t>
                      </a:r>
                      <a:endParaRPr lang="zh-CN" altLang="en-US" sz="1800" b="1" kern="1200" dirty="0">
                        <a:solidFill>
                          <a:schemeClr val="lt1"/>
                        </a:solidFill>
                        <a:latin typeface="Times New Roman" panose="02020603050405020304" pitchFamily="18" charset="0"/>
                        <a:ea typeface="+mn-ea"/>
                        <a:cs typeface="Times New Roman" panose="02020603050405020304" pitchFamily="18" charset="0"/>
                      </a:endParaRPr>
                    </a:p>
                  </a:txBody>
                  <a:tcPr marL="91442" marR="91442" marT="45728" marB="45728"/>
                </a:tc>
                <a:tc>
                  <a:txBody>
                    <a:bodyPr/>
                    <a:lstStyle/>
                    <a:p>
                      <a:r>
                        <a:rPr lang="en-US" altLang="zh-CN" sz="1800" kern="1200" dirty="0">
                          <a:solidFill>
                            <a:schemeClr val="dk1"/>
                          </a:solidFill>
                          <a:latin typeface="Times New Roman" panose="02020603050405020304" pitchFamily="18" charset="0"/>
                          <a:ea typeface="+mn-ea"/>
                          <a:cs typeface="Times New Roman" panose="02020603050405020304" pitchFamily="18" charset="0"/>
                        </a:rPr>
                        <a:t>marks the leadership exerted by focal actors to coordinate the entire network alliance for operation</a:t>
                      </a:r>
                      <a:r>
                        <a:rPr lang="zh-CN" altLang="zh-CN" sz="1800" kern="1200" dirty="0">
                          <a:solidFill>
                            <a:schemeClr val="dk1"/>
                          </a:solidFill>
                          <a:latin typeface="Times New Roman" panose="02020603050405020304" pitchFamily="18" charset="0"/>
                          <a:ea typeface="+mn-ea"/>
                          <a:cs typeface="Times New Roman" panose="02020603050405020304" pitchFamily="18" charset="0"/>
                        </a:rPr>
                        <a:t> </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marL="91442" marR="91442" marT="45728" marB="45728"/>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 name="文本框 40"/>
          <p:cNvSpPr txBox="1"/>
          <p:nvPr/>
        </p:nvSpPr>
        <p:spPr>
          <a:xfrm>
            <a:off x="5105400" y="287338"/>
            <a:ext cx="3663950" cy="523875"/>
          </a:xfrm>
          <a:prstGeom prst="rect">
            <a:avLst/>
          </a:prstGeom>
          <a:noFill/>
        </p:spPr>
        <p:txBody>
          <a:bodyPr wrap="none">
            <a:spAutoFit/>
          </a:bodyPr>
          <a:lstStyle/>
          <a:p>
            <a:pPr marR="0"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宋体" pitchFamily="2" charset="-122"/>
                <a:cs typeface="Times New Roman" panose="02020603050405020304" pitchFamily="18" charset="0"/>
              </a:rPr>
              <a:t>Analytical Framework</a:t>
            </a:r>
            <a:endParaRPr kumimoji="0" lang="zh-CN" altLang="en-US" sz="2800" b="1" kern="100" cap="none" spc="0" normalizeH="0" baseline="0" noProof="0" dirty="0">
              <a:latin typeface="Times New Roman" panose="02020603050405020304" pitchFamily="18" charset="0"/>
              <a:ea typeface="宋体" pitchFamily="2" charset="-122"/>
              <a:cs typeface="Times New Roman" panose="02020603050405020304" pitchFamily="18" charset="0"/>
            </a:endParaRPr>
          </a:p>
        </p:txBody>
      </p:sp>
      <p:sp>
        <p:nvSpPr>
          <p:cNvPr id="4" name="椭圆 3"/>
          <p:cNvSpPr/>
          <p:nvPr/>
        </p:nvSpPr>
        <p:spPr>
          <a:xfrm>
            <a:off x="4084638" y="246063"/>
            <a:ext cx="820738" cy="5651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3.2</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pic>
        <p:nvPicPr>
          <p:cNvPr id="3" name="图片 2" descr="/private/var/folders/0g/m56by0hd62b0l44c7_mfklzh0000gn/T/com.kingsoft.wpsoffice.mac/photoeditapp/20250520110054/temp.pngtemp"/>
          <p:cNvPicPr>
            <a:picLocks noChangeAspect="1"/>
          </p:cNvPicPr>
          <p:nvPr/>
        </p:nvPicPr>
        <p:blipFill>
          <a:blip r:embed="rId1"/>
          <a:stretch>
            <a:fillRect/>
          </a:stretch>
        </p:blipFill>
        <p:spPr>
          <a:xfrm>
            <a:off x="2427605" y="811530"/>
            <a:ext cx="8629650" cy="60940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3927475" y="325438"/>
            <a:ext cx="5886450" cy="460375"/>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400" b="1" kern="100" cap="none" spc="0" normalizeH="0" baseline="0" noProof="0" dirty="0">
                <a:latin typeface="Times New Roman" panose="02020603050405020304" pitchFamily="18" charset="0"/>
                <a:ea typeface="+mn-ea"/>
                <a:cs typeface="Times New Roman" panose="02020603050405020304" pitchFamily="18" charset="0"/>
              </a:rPr>
              <a:t>Initiation Network of </a:t>
            </a:r>
            <a:r>
              <a:rPr kumimoji="0" lang="en-US" altLang="zh-CN" sz="2400" b="1" i="1" kern="100" cap="none" spc="0" normalizeH="0" baseline="0" noProof="0" dirty="0">
                <a:latin typeface="Times New Roman" panose="02020603050405020304" pitchFamily="18" charset="0"/>
                <a:ea typeface="+mn-ea"/>
                <a:cs typeface="Times New Roman" panose="02020603050405020304" pitchFamily="18" charset="0"/>
              </a:rPr>
              <a:t> Lord of Mysteries</a:t>
            </a:r>
            <a:endParaRPr kumimoji="0" lang="zh-CN" altLang="en-US" sz="2400" b="1" kern="1200" cap="none" spc="0" normalizeH="0" baseline="0" noProof="0" dirty="0">
              <a:solidFill>
                <a:srgbClr val="000000"/>
              </a:solidFill>
              <a:latin typeface="Times New Roman" panose="02020603050405020304" pitchFamily="18" charset="0"/>
              <a:ea typeface="黑体" pitchFamily="49" charset="-122"/>
              <a:cs typeface="Times New Roman" panose="02020603050405020304" pitchFamily="18" charset="0"/>
            </a:endParaRPr>
          </a:p>
        </p:txBody>
      </p:sp>
      <p:sp>
        <p:nvSpPr>
          <p:cNvPr id="3" name="椭圆 2"/>
          <p:cNvSpPr/>
          <p:nvPr/>
        </p:nvSpPr>
        <p:spPr>
          <a:xfrm>
            <a:off x="2998788" y="222250"/>
            <a:ext cx="822325"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4.1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pic>
        <p:nvPicPr>
          <p:cNvPr id="7" name="图片 6" descr="Flowcharts-3"/>
          <p:cNvPicPr>
            <a:picLocks noChangeAspect="1"/>
          </p:cNvPicPr>
          <p:nvPr/>
        </p:nvPicPr>
        <p:blipFill>
          <a:blip r:embed="rId1"/>
          <a:srcRect l="1499" t="2043" r="1225" b="1973"/>
          <a:stretch>
            <a:fillRect/>
          </a:stretch>
        </p:blipFill>
        <p:spPr>
          <a:xfrm>
            <a:off x="2394585" y="919480"/>
            <a:ext cx="8500745" cy="5730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椭圆 1"/>
          <p:cNvSpPr/>
          <p:nvPr/>
        </p:nvSpPr>
        <p:spPr>
          <a:xfrm>
            <a:off x="3059113" y="263525"/>
            <a:ext cx="822325" cy="5651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4.2</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9" name="文本框 8"/>
          <p:cNvSpPr txBox="1"/>
          <p:nvPr/>
        </p:nvSpPr>
        <p:spPr>
          <a:xfrm>
            <a:off x="3984625" y="-317"/>
            <a:ext cx="6135688" cy="829945"/>
          </a:xfrm>
          <a:prstGeom prst="rect">
            <a:avLst/>
          </a:prstGeom>
          <a:noFill/>
        </p:spPr>
        <p:txBody>
          <a:bodyPr>
            <a:spAutoFit/>
          </a:bodyPr>
          <a:lstStyle/>
          <a:p>
            <a:pPr marR="0" defTabSz="914400" eaLnBrk="1" fontAlgn="auto" hangingPunct="1">
              <a:lnSpc>
                <a:spcPct val="200000"/>
              </a:lnSpc>
              <a:spcBef>
                <a:spcPts val="0"/>
              </a:spcBef>
              <a:spcAft>
                <a:spcPts val="0"/>
              </a:spcAft>
              <a:buClrTx/>
              <a:buSzTx/>
              <a:buFontTx/>
              <a:buNone/>
              <a:defRPr/>
            </a:pPr>
            <a:r>
              <a:rPr kumimoji="0" lang="en-US" altLang="zh-CN" sz="2400" b="1" kern="100" cap="none" spc="0" normalizeH="0" baseline="0" noProof="0" dirty="0">
                <a:latin typeface="Times New Roman" panose="02020603050405020304" pitchFamily="18" charset="0"/>
                <a:ea typeface="+mn-ea"/>
                <a:cs typeface="Times New Roman" panose="02020603050405020304" pitchFamily="18" charset="0"/>
              </a:rPr>
              <a:t>Translation Network of</a:t>
            </a:r>
            <a:r>
              <a:rPr kumimoji="0" lang="en-US" altLang="zh-CN" sz="2400" b="1" i="1" kern="100" cap="none" spc="0" normalizeH="0" baseline="0" noProof="0" dirty="0">
                <a:latin typeface="Times New Roman" panose="02020603050405020304" pitchFamily="18" charset="0"/>
                <a:ea typeface="+mn-ea"/>
                <a:cs typeface="Times New Roman" panose="02020603050405020304" pitchFamily="18" charset="0"/>
              </a:rPr>
              <a:t> Lord of Mysteries</a:t>
            </a:r>
            <a:endParaRPr kumimoji="0" lang="zh-CN" altLang="zh-CN" sz="2400" b="1" i="1" kern="100" cap="none" spc="0" normalizeH="0" baseline="0" noProof="0" dirty="0">
              <a:latin typeface="Times New Roman" panose="02020603050405020304" pitchFamily="18" charset="0"/>
              <a:ea typeface="+mn-ea"/>
              <a:cs typeface="Times New Roman" panose="02020603050405020304" pitchFamily="18" charset="0"/>
            </a:endParaRPr>
          </a:p>
        </p:txBody>
      </p:sp>
      <p:pic>
        <p:nvPicPr>
          <p:cNvPr id="5" name="图片 4" descr="Flowcharts-6"/>
          <p:cNvPicPr>
            <a:picLocks noChangeAspect="1"/>
          </p:cNvPicPr>
          <p:nvPr/>
        </p:nvPicPr>
        <p:blipFill>
          <a:blip r:embed="rId1"/>
          <a:srcRect l="1854" t="2980" r="1770" b="2773"/>
          <a:stretch>
            <a:fillRect/>
          </a:stretch>
        </p:blipFill>
        <p:spPr>
          <a:xfrm>
            <a:off x="2107565" y="918845"/>
            <a:ext cx="8875395" cy="57492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478530" y="294005"/>
            <a:ext cx="6496050" cy="460375"/>
          </a:xfrm>
          <a:prstGeom prst="rect">
            <a:avLst/>
          </a:prstGeom>
          <a:noFill/>
        </p:spPr>
        <p:txBody>
          <a:bodyPr wrap="square">
            <a:spAutoFit/>
          </a:bodyPr>
          <a:lstStyle/>
          <a:p>
            <a:pPr marR="0" defTabSz="914400" eaLnBrk="1" fontAlgn="auto" hangingPunct="1">
              <a:spcBef>
                <a:spcPts val="0"/>
              </a:spcBef>
              <a:spcAft>
                <a:spcPts val="0"/>
              </a:spcAft>
              <a:buClrTx/>
              <a:buSzTx/>
              <a:buFontTx/>
              <a:buNone/>
              <a:defRPr/>
            </a:pPr>
            <a:r>
              <a:rPr kumimoji="0" lang="en-US" altLang="zh-CN" sz="2400" b="1" kern="100" cap="none" spc="0" normalizeH="0" baseline="0" noProof="0" dirty="0">
                <a:latin typeface="Times New Roman" panose="02020603050405020304" pitchFamily="18" charset="0"/>
                <a:ea typeface="+mn-ea"/>
                <a:cs typeface="Times New Roman" panose="02020603050405020304" pitchFamily="18" charset="0"/>
              </a:rPr>
              <a:t>Dissemination Network of</a:t>
            </a:r>
            <a:r>
              <a:rPr kumimoji="0" lang="en-US" altLang="zh-CN" sz="2400" b="1" i="1" kern="100" cap="none" spc="0" normalizeH="0" baseline="0" noProof="0" dirty="0">
                <a:latin typeface="Times New Roman" panose="02020603050405020304" pitchFamily="18" charset="0"/>
                <a:ea typeface="+mn-ea"/>
                <a:cs typeface="Times New Roman" panose="02020603050405020304" pitchFamily="18" charset="0"/>
              </a:rPr>
              <a:t> Lord of Mysteries</a:t>
            </a:r>
            <a:r>
              <a:rPr kumimoji="0" lang="zh-CN" altLang="zh-CN" sz="2400" b="1" kern="1200" cap="none" spc="0" normalizeH="0" baseline="0" noProof="0" dirty="0">
                <a:latin typeface="Times New Roman" panose="02020603050405020304" pitchFamily="18" charset="0"/>
                <a:ea typeface="+mn-ea"/>
                <a:cs typeface="Times New Roman" panose="02020603050405020304" pitchFamily="18" charset="0"/>
              </a:rPr>
              <a:t> </a:t>
            </a:r>
            <a:endPar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5" name="椭圆 4"/>
          <p:cNvSpPr/>
          <p:nvPr/>
        </p:nvSpPr>
        <p:spPr>
          <a:xfrm>
            <a:off x="2579688" y="188913"/>
            <a:ext cx="820738" cy="5651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4.3</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pic>
        <p:nvPicPr>
          <p:cNvPr id="2" name="图片 1" descr="Flowcharts-7"/>
          <p:cNvPicPr>
            <a:picLocks noChangeAspect="1"/>
          </p:cNvPicPr>
          <p:nvPr/>
        </p:nvPicPr>
        <p:blipFill>
          <a:blip r:embed="rId1"/>
          <a:srcRect l="1757" t="3275" r="1298" b="2774"/>
          <a:stretch>
            <a:fillRect/>
          </a:stretch>
        </p:blipFill>
        <p:spPr>
          <a:xfrm>
            <a:off x="2069465" y="1361440"/>
            <a:ext cx="9322435" cy="46710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nvSpPr>
        <p:spPr>
          <a:xfrm>
            <a:off x="5180013" y="244475"/>
            <a:ext cx="3286125" cy="5222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mn-ea"/>
                <a:cs typeface="Times New Roman" panose="02020603050405020304" pitchFamily="18" charset="0"/>
              </a:rPr>
              <a:t>Major Findings</a:t>
            </a:r>
            <a:endParaRPr kumimoji="0" lang="zh-CN" altLang="en-US" sz="2800" b="1" kern="100" cap="none" spc="0" normalizeH="0" baseline="0" noProof="0" dirty="0">
              <a:latin typeface="Times New Roman" panose="02020603050405020304" pitchFamily="18" charset="0"/>
              <a:ea typeface="+mn-ea"/>
              <a:cs typeface="Times New Roman" panose="02020603050405020304" pitchFamily="18" charset="0"/>
            </a:endParaRPr>
          </a:p>
        </p:txBody>
      </p:sp>
      <p:sp>
        <p:nvSpPr>
          <p:cNvPr id="21" name="矩形 20"/>
          <p:cNvSpPr/>
          <p:nvPr/>
        </p:nvSpPr>
        <p:spPr>
          <a:xfrm>
            <a:off x="2851150" y="3349625"/>
            <a:ext cx="3478213" cy="800100"/>
          </a:xfrm>
          <a:prstGeom prst="rect">
            <a:avLst/>
          </a:prstGeom>
          <a:noFill/>
          <a:ln w="9525">
            <a:noFill/>
          </a:ln>
        </p:spPr>
        <p:txBody>
          <a:bodyPr lIns="68580" tIns="34290" rIns="68580" bIns="34290">
            <a:spAutoFit/>
          </a:bodyPr>
          <a:p>
            <a:pPr eaLnBrk="1" hangingPunct="1">
              <a:lnSpc>
                <a:spcPct val="150000"/>
              </a:lnSpc>
            </a:pPr>
            <a:r>
              <a:rPr lang="zh-CN" altLang="en-US" sz="1100">
                <a:solidFill>
                  <a:srgbClr val="FFFFFF"/>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a:t>
            </a:r>
            <a:endParaRPr lang="en-US" altLang="zh-CN" sz="1100">
              <a:solidFill>
                <a:srgbClr val="FFFFFF"/>
              </a:solidFill>
              <a:latin typeface="微软雅黑" pitchFamily="34" charset="-122"/>
              <a:ea typeface="微软雅黑" pitchFamily="34" charset="-122"/>
            </a:endParaRPr>
          </a:p>
        </p:txBody>
      </p:sp>
      <p:sp>
        <p:nvSpPr>
          <p:cNvPr id="22" name="矩形 21"/>
          <p:cNvSpPr/>
          <p:nvPr/>
        </p:nvSpPr>
        <p:spPr>
          <a:xfrm>
            <a:off x="2851150" y="4384675"/>
            <a:ext cx="3478213" cy="801688"/>
          </a:xfrm>
          <a:prstGeom prst="rect">
            <a:avLst/>
          </a:prstGeom>
          <a:noFill/>
          <a:ln w="9525">
            <a:noFill/>
          </a:ln>
        </p:spPr>
        <p:txBody>
          <a:bodyPr lIns="68580" tIns="34290" rIns="68580" bIns="34290">
            <a:spAutoFit/>
          </a:bodyPr>
          <a:p>
            <a:pPr eaLnBrk="1" hangingPunct="1">
              <a:lnSpc>
                <a:spcPct val="150000"/>
              </a:lnSpc>
            </a:pPr>
            <a:r>
              <a:rPr lang="zh-CN" altLang="en-US" sz="1100">
                <a:solidFill>
                  <a:srgbClr val="FFFFFF"/>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a:t>
            </a:r>
            <a:endParaRPr lang="en-US" altLang="zh-CN" sz="1100">
              <a:solidFill>
                <a:srgbClr val="FFFFFF"/>
              </a:solidFill>
              <a:latin typeface="微软雅黑" pitchFamily="34" charset="-122"/>
              <a:ea typeface="微软雅黑" pitchFamily="34" charset="-122"/>
            </a:endParaRPr>
          </a:p>
        </p:txBody>
      </p:sp>
      <p:sp>
        <p:nvSpPr>
          <p:cNvPr id="3" name="文本框 2"/>
          <p:cNvSpPr txBox="1"/>
          <p:nvPr/>
        </p:nvSpPr>
        <p:spPr>
          <a:xfrm>
            <a:off x="2284413" y="1185545"/>
            <a:ext cx="8712200" cy="553085"/>
          </a:xfrm>
          <a:prstGeom prst="rect">
            <a:avLst/>
          </a:prstGeom>
          <a:noFill/>
        </p:spPr>
        <p:txBody>
          <a:bodyPr>
            <a:spAutoFit/>
          </a:bodyPr>
          <a:lstStyle/>
          <a:p>
            <a:pPr marL="285750" marR="0" indent="-285750" defTabSz="914400" eaLnBrk="1" fontAlgn="auto" hangingPunct="1">
              <a:lnSpc>
                <a:spcPct val="150000"/>
              </a:lnSpc>
              <a:spcBef>
                <a:spcPts val="0"/>
              </a:spcBef>
              <a:spcAft>
                <a:spcPts val="0"/>
              </a:spcAft>
              <a:buClrTx/>
              <a:buSzTx/>
              <a:buFont typeface="Wingdings" panose="05000000000000000000" pitchFamily="2" charset="2"/>
              <a:buChar char="Ø"/>
              <a:defRPr/>
            </a:pPr>
            <a:r>
              <a:rPr kumimoji="0" lang="en-US" altLang="zh-CN" sz="2000" b="1" kern="1200" cap="none" spc="0" normalizeH="0" baseline="0" noProof="0" dirty="0">
                <a:latin typeface="Times New Roman Bold" panose="02020603050405020304" charset="0"/>
                <a:ea typeface="+mn-ea"/>
                <a:cs typeface="Times New Roman Bold" panose="02020603050405020304" charset="0"/>
              </a:rPr>
              <a:t>Key Actors in the Translation and Dissemination Network</a:t>
            </a:r>
            <a:endParaRPr kumimoji="0" lang="en-US" altLang="zh-CN" sz="2000" b="1" kern="1200" cap="none" spc="0" normalizeH="0" baseline="0" noProof="0" dirty="0">
              <a:latin typeface="Times New Roman Bold" panose="02020603050405020304" charset="0"/>
              <a:ea typeface="+mn-ea"/>
              <a:cs typeface="Times New Roman Bold" panose="02020603050405020304" charset="0"/>
            </a:endParaRPr>
          </a:p>
        </p:txBody>
      </p:sp>
      <p:sp>
        <p:nvSpPr>
          <p:cNvPr id="7" name="椭圆 6"/>
          <p:cNvSpPr/>
          <p:nvPr/>
        </p:nvSpPr>
        <p:spPr>
          <a:xfrm>
            <a:off x="4262438" y="223838"/>
            <a:ext cx="820738"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5.1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50182" name="文本框 8"/>
          <p:cNvSpPr txBox="1"/>
          <p:nvPr/>
        </p:nvSpPr>
        <p:spPr>
          <a:xfrm>
            <a:off x="2395855" y="2105343"/>
            <a:ext cx="8302625" cy="1014730"/>
          </a:xfrm>
          <a:prstGeom prst="rect">
            <a:avLst/>
          </a:prstGeom>
          <a:noFill/>
          <a:ln w="9525">
            <a:noFill/>
          </a:ln>
        </p:spPr>
        <p:txBody>
          <a:bodyPr>
            <a:spAutoFit/>
          </a:bodyPr>
          <a:p>
            <a:pPr algn="just" eaLnBrk="1" hangingPunct="1">
              <a:lnSpc>
                <a:spcPct val="150000"/>
              </a:lnSpc>
              <a:buNone/>
            </a:pPr>
            <a:r>
              <a:rPr lang="en-US" altLang="zh-CN" sz="2000">
                <a:latin typeface="Times New Roman" panose="02020603050405020304" pitchFamily="18" charset="0"/>
                <a:ea typeface="宋体" pitchFamily="2" charset="-122"/>
                <a:cs typeface="Times New Roman" panose="02020603050405020304" pitchFamily="18" charset="0"/>
              </a:rPr>
              <a:t>Three types of actors:</a:t>
            </a:r>
            <a:endParaRPr lang="en-US" altLang="zh-CN" sz="2000">
              <a:latin typeface="Times New Roman" panose="02020603050405020304" pitchFamily="18" charset="0"/>
              <a:ea typeface="宋体" pitchFamily="2" charset="-122"/>
              <a:cs typeface="Times New Roman" panose="02020603050405020304" pitchFamily="18" charset="0"/>
            </a:endParaRPr>
          </a:p>
          <a:p>
            <a:pPr algn="just" eaLnBrk="1" hangingPunct="1">
              <a:lnSpc>
                <a:spcPct val="150000"/>
              </a:lnSpc>
              <a:buNone/>
            </a:pPr>
            <a:endParaRPr lang="en-US" altLang="zh-CN" sz="2000">
              <a:latin typeface="Times New Roman" panose="02020603050405020304" pitchFamily="18" charset="0"/>
              <a:ea typeface="宋体" pitchFamily="2" charset="-122"/>
              <a:cs typeface="Times New Roman" panose="02020603050405020304" pitchFamily="18" charset="0"/>
            </a:endParaRPr>
          </a:p>
        </p:txBody>
      </p:sp>
      <p:sp>
        <p:nvSpPr>
          <p:cNvPr id="2" name="圆角矩形 1"/>
          <p:cNvSpPr/>
          <p:nvPr/>
        </p:nvSpPr>
        <p:spPr>
          <a:xfrm>
            <a:off x="2284413" y="3222625"/>
            <a:ext cx="2273300" cy="2049463"/>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圆角矩形 3"/>
          <p:cNvSpPr/>
          <p:nvPr/>
        </p:nvSpPr>
        <p:spPr>
          <a:xfrm>
            <a:off x="2395538" y="3282950"/>
            <a:ext cx="2603500" cy="22177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1. Human actors within Webnovel’s translation and dissemination network primarily include </a:t>
            </a:r>
            <a:r>
              <a:rPr kumimoji="0" lang="en-US" altLang="zh-CN" sz="1800" b="0" i="0" u="sng"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authors, translators, and readers</a:t>
            </a:r>
            <a:r>
              <a:rPr kumimoji="0" lang="en-US"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a:t>
            </a:r>
            <a:endParaRPr kumimoji="0" lang="zh-CN"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5" name="圆角矩形 4"/>
          <p:cNvSpPr/>
          <p:nvPr/>
        </p:nvSpPr>
        <p:spPr>
          <a:xfrm>
            <a:off x="5607050" y="3282950"/>
            <a:ext cx="2432050" cy="210978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6" name="圆角矩形 5"/>
          <p:cNvSpPr/>
          <p:nvPr/>
        </p:nvSpPr>
        <p:spPr>
          <a:xfrm>
            <a:off x="5703888" y="3365500"/>
            <a:ext cx="2647950" cy="218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2. Non-human actors primarily include </a:t>
            </a:r>
            <a:r>
              <a:rPr kumimoji="0" lang="en-US" altLang="zh-CN" sz="1800" b="0" i="0" u="sng"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the source text, the translated text, technological systems, UGC, and IP &amp; its derivative transmedia products</a:t>
            </a:r>
            <a:r>
              <a:rPr kumimoji="0" lang="en-US"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a:t>
            </a:r>
            <a:endParaRPr kumimoji="0" lang="zh-CN"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8" name="圆角矩形 7"/>
          <p:cNvSpPr/>
          <p:nvPr/>
        </p:nvSpPr>
        <p:spPr>
          <a:xfrm>
            <a:off x="8945563" y="3259138"/>
            <a:ext cx="2273300" cy="21082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0" name="圆角矩形 9"/>
          <p:cNvSpPr/>
          <p:nvPr/>
        </p:nvSpPr>
        <p:spPr>
          <a:xfrm>
            <a:off x="9056688" y="3332163"/>
            <a:ext cx="2647950" cy="218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3. </a:t>
            </a:r>
            <a:r>
              <a:rPr kumimoji="0" lang="en-US"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 The main hybrid actors include </a:t>
            </a:r>
            <a:r>
              <a:rPr kumimoji="0" lang="en-US" altLang="zh-CN" sz="1800" b="0" i="0" u="sng"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Yuewen Group, social platforms, and commercial enterprises</a:t>
            </a:r>
            <a:endParaRPr kumimoji="0" lang="en-US" altLang="zh-CN" sz="1800" b="0" i="0" u="sng"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12" name="右箭头 11"/>
          <p:cNvSpPr/>
          <p:nvPr/>
        </p:nvSpPr>
        <p:spPr>
          <a:xfrm>
            <a:off x="5068888" y="4005263"/>
            <a:ext cx="468313" cy="485775"/>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右箭头 12"/>
          <p:cNvSpPr/>
          <p:nvPr/>
        </p:nvSpPr>
        <p:spPr>
          <a:xfrm>
            <a:off x="8399463" y="4037013"/>
            <a:ext cx="468313" cy="484188"/>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5000"/>
                                  </p:iterate>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par>
                                <p:cTn id="8" presetID="10" presetClass="entr" presetSubtype="0" fill="hold" nodeType="withEffect">
                                  <p:stCondLst>
                                    <p:cond delay="0"/>
                                  </p:stCondLst>
                                  <p:iterate type="lt">
                                    <p:tmPct val="15000"/>
                                  </p:iterate>
                                  <p:childTnLst>
                                    <p:set>
                                      <p:cBhvr>
                                        <p:cTn id="9" dur="1" fill="hold">
                                          <p:stCondLst>
                                            <p:cond delay="0"/>
                                          </p:stCondLst>
                                        </p:cTn>
                                        <p:tgtEl>
                                          <p:spTgt spid="22"/>
                                        </p:tgtEl>
                                        <p:attrNameLst>
                                          <p:attrName>style.visibility</p:attrName>
                                        </p:attrNameLst>
                                      </p:cBhvr>
                                      <p:to>
                                        <p:strVal val="visible"/>
                                      </p:to>
                                    </p:set>
                                    <p:animEffect transition="in" filter="fade">
                                      <p:cBhvr>
                                        <p:cTn id="10"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nvSpPr>
        <p:spPr>
          <a:xfrm>
            <a:off x="5180013" y="244475"/>
            <a:ext cx="3286125" cy="5222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mn-ea"/>
                <a:cs typeface="Times New Roman" panose="02020603050405020304" pitchFamily="18" charset="0"/>
              </a:rPr>
              <a:t>Major Findings</a:t>
            </a:r>
            <a:endParaRPr kumimoji="0" lang="zh-CN" altLang="en-US" sz="2800" b="1" kern="100" cap="none" spc="0" normalizeH="0" baseline="0" noProof="0" dirty="0">
              <a:latin typeface="Times New Roman" panose="02020603050405020304" pitchFamily="18" charset="0"/>
              <a:ea typeface="+mn-ea"/>
              <a:cs typeface="Times New Roman" panose="02020603050405020304" pitchFamily="18" charset="0"/>
            </a:endParaRPr>
          </a:p>
        </p:txBody>
      </p:sp>
      <p:sp>
        <p:nvSpPr>
          <p:cNvPr id="21" name="矩形 20"/>
          <p:cNvSpPr/>
          <p:nvPr/>
        </p:nvSpPr>
        <p:spPr>
          <a:xfrm>
            <a:off x="2851150" y="3349625"/>
            <a:ext cx="3478213" cy="800100"/>
          </a:xfrm>
          <a:prstGeom prst="rect">
            <a:avLst/>
          </a:prstGeom>
          <a:noFill/>
          <a:ln w="9525">
            <a:noFill/>
          </a:ln>
        </p:spPr>
        <p:txBody>
          <a:bodyPr lIns="68580" tIns="34290" rIns="68580" bIns="34290">
            <a:spAutoFit/>
          </a:bodyPr>
          <a:p>
            <a:pPr eaLnBrk="1" hangingPunct="1">
              <a:lnSpc>
                <a:spcPct val="150000"/>
              </a:lnSpc>
            </a:pPr>
            <a:r>
              <a:rPr lang="zh-CN" altLang="en-US" sz="1100">
                <a:solidFill>
                  <a:srgbClr val="FFFFFF"/>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a:t>
            </a:r>
            <a:endParaRPr lang="en-US" altLang="zh-CN" sz="1100">
              <a:solidFill>
                <a:srgbClr val="FFFFFF"/>
              </a:solidFill>
              <a:latin typeface="微软雅黑" pitchFamily="34" charset="-122"/>
              <a:ea typeface="微软雅黑" pitchFamily="34" charset="-122"/>
            </a:endParaRPr>
          </a:p>
        </p:txBody>
      </p:sp>
      <p:sp>
        <p:nvSpPr>
          <p:cNvPr id="22" name="矩形 21"/>
          <p:cNvSpPr/>
          <p:nvPr/>
        </p:nvSpPr>
        <p:spPr>
          <a:xfrm>
            <a:off x="2851150" y="4384675"/>
            <a:ext cx="3478213" cy="801688"/>
          </a:xfrm>
          <a:prstGeom prst="rect">
            <a:avLst/>
          </a:prstGeom>
          <a:noFill/>
          <a:ln w="9525">
            <a:noFill/>
          </a:ln>
        </p:spPr>
        <p:txBody>
          <a:bodyPr lIns="68580" tIns="34290" rIns="68580" bIns="34290">
            <a:spAutoFit/>
          </a:bodyPr>
          <a:p>
            <a:pPr eaLnBrk="1" hangingPunct="1">
              <a:lnSpc>
                <a:spcPct val="150000"/>
              </a:lnSpc>
            </a:pPr>
            <a:r>
              <a:rPr lang="zh-CN" altLang="en-US" sz="1100">
                <a:solidFill>
                  <a:srgbClr val="FFFFFF"/>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a:t>
            </a:r>
            <a:endParaRPr lang="en-US" altLang="zh-CN" sz="1100">
              <a:solidFill>
                <a:srgbClr val="FFFFFF"/>
              </a:solidFill>
              <a:latin typeface="微软雅黑" pitchFamily="34" charset="-122"/>
              <a:ea typeface="微软雅黑" pitchFamily="34" charset="-122"/>
            </a:endParaRPr>
          </a:p>
        </p:txBody>
      </p:sp>
      <p:sp>
        <p:nvSpPr>
          <p:cNvPr id="3" name="文本框 2"/>
          <p:cNvSpPr txBox="1"/>
          <p:nvPr/>
        </p:nvSpPr>
        <p:spPr>
          <a:xfrm>
            <a:off x="2332038" y="864870"/>
            <a:ext cx="8712200" cy="506730"/>
          </a:xfrm>
          <a:prstGeom prst="rect">
            <a:avLst/>
          </a:prstGeom>
          <a:noFill/>
        </p:spPr>
        <p:txBody>
          <a:bodyPr>
            <a:spAutoFit/>
          </a:bodyPr>
          <a:lstStyle/>
          <a:p>
            <a:pPr marL="285750" marR="0" indent="-285750" defTabSz="914400" eaLnBrk="1" fontAlgn="auto" hangingPunct="1">
              <a:lnSpc>
                <a:spcPct val="150000"/>
              </a:lnSpc>
              <a:spcBef>
                <a:spcPts val="0"/>
              </a:spcBef>
              <a:spcAft>
                <a:spcPts val="0"/>
              </a:spcAft>
              <a:buClrTx/>
              <a:buSzTx/>
              <a:buFont typeface="Wingdings" panose="05000000000000000000" pitchFamily="2" charset="2"/>
              <a:buChar char="Ø"/>
              <a:defRPr/>
            </a:pPr>
            <a:r>
              <a:rPr kumimoji="0" lang="en-US" altLang="zh-CN" sz="1800" b="1" kern="1200" cap="none" spc="0" normalizeH="0" baseline="0" noProof="0" dirty="0">
                <a:latin typeface="Times New Roman Bold" panose="02020603050405020304" charset="0"/>
                <a:ea typeface="+mn-ea"/>
                <a:cs typeface="Times New Roman Bold" panose="02020603050405020304" charset="0"/>
              </a:rPr>
              <a:t>Network Construction </a:t>
            </a:r>
            <a:endParaRPr kumimoji="0" lang="en-US" altLang="zh-CN" sz="1800" b="1" kern="1200" cap="none" spc="0" normalizeH="0" baseline="0" noProof="0" dirty="0">
              <a:latin typeface="Times New Roman Bold" panose="02020603050405020304" charset="0"/>
              <a:ea typeface="+mn-ea"/>
              <a:cs typeface="Times New Roman Bold" panose="02020603050405020304" charset="0"/>
            </a:endParaRPr>
          </a:p>
        </p:txBody>
      </p:sp>
      <p:sp>
        <p:nvSpPr>
          <p:cNvPr id="7" name="椭圆 6"/>
          <p:cNvSpPr/>
          <p:nvPr/>
        </p:nvSpPr>
        <p:spPr>
          <a:xfrm>
            <a:off x="4262438" y="223838"/>
            <a:ext cx="820738"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5.1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50182" name="文本框 8"/>
          <p:cNvSpPr txBox="1"/>
          <p:nvPr/>
        </p:nvSpPr>
        <p:spPr>
          <a:xfrm>
            <a:off x="2332355" y="1286193"/>
            <a:ext cx="8302625" cy="1753235"/>
          </a:xfrm>
          <a:prstGeom prst="rect">
            <a:avLst/>
          </a:prstGeom>
          <a:noFill/>
          <a:ln w="9525">
            <a:noFill/>
          </a:ln>
        </p:spPr>
        <p:txBody>
          <a:bodyPr>
            <a:spAutoFit/>
          </a:bodyPr>
          <a:p>
            <a:pPr algn="just" eaLnBrk="1" hangingPunct="1">
              <a:lnSpc>
                <a:spcPct val="150000"/>
              </a:lnSpc>
              <a:buNone/>
            </a:pPr>
            <a:r>
              <a:rPr lang="en-US" altLang="zh-CN" sz="1800">
                <a:latin typeface="Times New Roman Regular" panose="02020603050405020304" charset="0"/>
                <a:ea typeface="宋体" pitchFamily="2" charset="-122"/>
                <a:cs typeface="Times New Roman Regular" panose="02020603050405020304" charset="0"/>
              </a:rPr>
              <a:t>These actors collectively form a complex cross-cultural communication network. </a:t>
            </a:r>
            <a:r>
              <a:rPr lang="en-US" altLang="zh-CN" sz="1800" u="sng">
                <a:latin typeface="Times New Roman Regular" panose="02020603050405020304" charset="0"/>
                <a:ea typeface="宋体" pitchFamily="2" charset="-122"/>
                <a:cs typeface="Times New Roman Regular" panose="02020603050405020304" charset="0"/>
              </a:rPr>
              <a:t> Webnovel have constructed an ecosystem that spans translation production, dissemination, and reproduction, centered on copyright licensing, technological mediation, and management mechanisms.</a:t>
            </a:r>
            <a:r>
              <a:rPr lang="en-US" altLang="zh-CN" sz="1800" u="sng">
                <a:latin typeface="等线" pitchFamily="2" charset="-122"/>
                <a:ea typeface="宋体" pitchFamily="2" charset="-122"/>
              </a:rPr>
              <a:t> </a:t>
            </a:r>
            <a:endParaRPr lang="en-US" altLang="zh-CN" sz="1800" u="sng">
              <a:latin typeface="等线" pitchFamily="2" charset="-122"/>
              <a:ea typeface="宋体" pitchFamily="2" charset="-122"/>
            </a:endParaRPr>
          </a:p>
        </p:txBody>
      </p:sp>
      <p:sp>
        <p:nvSpPr>
          <p:cNvPr id="2" name="圆角矩形 1"/>
          <p:cNvSpPr/>
          <p:nvPr/>
        </p:nvSpPr>
        <p:spPr>
          <a:xfrm>
            <a:off x="2234565" y="3134360"/>
            <a:ext cx="2498090" cy="319087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圆角矩形 3"/>
          <p:cNvSpPr/>
          <p:nvPr/>
        </p:nvSpPr>
        <p:spPr>
          <a:xfrm>
            <a:off x="2332355" y="3222625"/>
            <a:ext cx="2273300" cy="30657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1. not only enhances creative and translational efficiency but also reshapes the labor ecology of both authors and translators.</a:t>
            </a:r>
            <a:endParaRPr kumimoji="0" lang="zh-CN"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5" name="圆角矩形 4"/>
          <p:cNvSpPr/>
          <p:nvPr/>
        </p:nvSpPr>
        <p:spPr>
          <a:xfrm>
            <a:off x="5209540" y="2968625"/>
            <a:ext cx="2937510" cy="346583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6" name="圆角矩形 5"/>
          <p:cNvSpPr/>
          <p:nvPr/>
        </p:nvSpPr>
        <p:spPr>
          <a:xfrm>
            <a:off x="5299710" y="3039745"/>
            <a:ext cx="2738120" cy="330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2. Readers are embedded into the platform’s governance logic through participatory mechanisms . Their UGC, produced both on the platform and via social media, contributes to content evaluation and dissemination.</a:t>
            </a:r>
            <a:endParaRPr kumimoji="0" lang="en-US"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8" name="圆角矩形 7"/>
          <p:cNvSpPr/>
          <p:nvPr/>
        </p:nvSpPr>
        <p:spPr>
          <a:xfrm>
            <a:off x="8545830" y="2587625"/>
            <a:ext cx="3362325" cy="401637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0" name="圆角矩形 9"/>
          <p:cNvSpPr/>
          <p:nvPr/>
        </p:nvSpPr>
        <p:spPr>
          <a:xfrm>
            <a:off x="8604885" y="2665095"/>
            <a:ext cx="3202305" cy="38595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3. </a:t>
            </a:r>
            <a:r>
              <a:rPr kumimoji="0" lang="en-US"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Yuewen Group and Webnovel  </a:t>
            </a:r>
            <a:r>
              <a:rPr kumimoji="0" lang="en-US"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also act as institutional spokespersons who coordinate resources and rules while commercial companies participate in the reproduction and global dissemination of IPs.  IPs and their derivatives transcend textual boundaries to generate diverse forms of media, driving the translation network toward a co-creative value system. </a:t>
            </a:r>
            <a:endParaRPr kumimoji="0" lang="en-US" altLang="zh-CN"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12" name="右箭头 11"/>
          <p:cNvSpPr/>
          <p:nvPr/>
        </p:nvSpPr>
        <p:spPr>
          <a:xfrm>
            <a:off x="4745038" y="4276408"/>
            <a:ext cx="468313" cy="485775"/>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右箭头 12"/>
          <p:cNvSpPr/>
          <p:nvPr/>
        </p:nvSpPr>
        <p:spPr>
          <a:xfrm>
            <a:off x="8072120" y="4276725"/>
            <a:ext cx="506095" cy="484505"/>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5000"/>
                                  </p:iterate>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par>
                                <p:cTn id="8" presetID="10" presetClass="entr" presetSubtype="0" fill="hold" nodeType="withEffect">
                                  <p:stCondLst>
                                    <p:cond delay="0"/>
                                  </p:stCondLst>
                                  <p:iterate type="lt">
                                    <p:tmPct val="15000"/>
                                  </p:iterate>
                                  <p:childTnLst>
                                    <p:set>
                                      <p:cBhvr>
                                        <p:cTn id="9" dur="1" fill="hold">
                                          <p:stCondLst>
                                            <p:cond delay="0"/>
                                          </p:stCondLst>
                                        </p:cTn>
                                        <p:tgtEl>
                                          <p:spTgt spid="22"/>
                                        </p:tgtEl>
                                        <p:attrNameLst>
                                          <p:attrName>style.visibility</p:attrName>
                                        </p:attrNameLst>
                                      </p:cBhvr>
                                      <p:to>
                                        <p:strVal val="visible"/>
                                      </p:to>
                                    </p:set>
                                    <p:animEffect transition="in" filter="fade">
                                      <p:cBhvr>
                                        <p:cTn id="10"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nvSpPr>
        <p:spPr>
          <a:xfrm>
            <a:off x="5180013" y="244475"/>
            <a:ext cx="3286125" cy="5222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2800" b="1" kern="100" cap="none" spc="0" normalizeH="0" baseline="0" noProof="0" dirty="0">
                <a:latin typeface="Times New Roman" panose="02020603050405020304" pitchFamily="18" charset="0"/>
                <a:ea typeface="+mn-ea"/>
                <a:cs typeface="Times New Roman" panose="02020603050405020304" pitchFamily="18" charset="0"/>
              </a:rPr>
              <a:t>Major Findings</a:t>
            </a:r>
            <a:endParaRPr kumimoji="0" lang="zh-CN" altLang="en-US" sz="2800" b="1" kern="100" cap="none" spc="0" normalizeH="0" baseline="0" noProof="0" dirty="0">
              <a:latin typeface="Times New Roman" panose="02020603050405020304" pitchFamily="18" charset="0"/>
              <a:ea typeface="+mn-ea"/>
              <a:cs typeface="Times New Roman" panose="02020603050405020304" pitchFamily="18" charset="0"/>
            </a:endParaRPr>
          </a:p>
        </p:txBody>
      </p:sp>
      <p:sp>
        <p:nvSpPr>
          <p:cNvPr id="21" name="矩形 20"/>
          <p:cNvSpPr/>
          <p:nvPr/>
        </p:nvSpPr>
        <p:spPr>
          <a:xfrm>
            <a:off x="2851150" y="3349625"/>
            <a:ext cx="3478213" cy="800100"/>
          </a:xfrm>
          <a:prstGeom prst="rect">
            <a:avLst/>
          </a:prstGeom>
          <a:noFill/>
          <a:ln w="9525">
            <a:noFill/>
          </a:ln>
        </p:spPr>
        <p:txBody>
          <a:bodyPr lIns="68580" tIns="34290" rIns="68580" bIns="34290">
            <a:spAutoFit/>
          </a:bodyPr>
          <a:p>
            <a:pPr eaLnBrk="1" hangingPunct="1">
              <a:lnSpc>
                <a:spcPct val="150000"/>
              </a:lnSpc>
            </a:pPr>
            <a:r>
              <a:rPr lang="zh-CN" altLang="en-US" sz="1100">
                <a:solidFill>
                  <a:srgbClr val="FFFFFF"/>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a:t>
            </a:r>
            <a:endParaRPr lang="en-US" altLang="zh-CN" sz="1100">
              <a:solidFill>
                <a:srgbClr val="FFFFFF"/>
              </a:solidFill>
              <a:latin typeface="微软雅黑" pitchFamily="34" charset="-122"/>
              <a:ea typeface="微软雅黑" pitchFamily="34" charset="-122"/>
            </a:endParaRPr>
          </a:p>
        </p:txBody>
      </p:sp>
      <p:sp>
        <p:nvSpPr>
          <p:cNvPr id="22" name="矩形 21"/>
          <p:cNvSpPr/>
          <p:nvPr/>
        </p:nvSpPr>
        <p:spPr>
          <a:xfrm>
            <a:off x="2851150" y="4384675"/>
            <a:ext cx="3478213" cy="801688"/>
          </a:xfrm>
          <a:prstGeom prst="rect">
            <a:avLst/>
          </a:prstGeom>
          <a:noFill/>
          <a:ln w="9525">
            <a:noFill/>
          </a:ln>
        </p:spPr>
        <p:txBody>
          <a:bodyPr lIns="68580" tIns="34290" rIns="68580" bIns="34290">
            <a:spAutoFit/>
          </a:bodyPr>
          <a:p>
            <a:pPr eaLnBrk="1" hangingPunct="1">
              <a:lnSpc>
                <a:spcPct val="150000"/>
              </a:lnSpc>
            </a:pPr>
            <a:r>
              <a:rPr lang="zh-CN" altLang="en-US" sz="1100">
                <a:solidFill>
                  <a:srgbClr val="FFFFFF"/>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a:t>
            </a:r>
            <a:endParaRPr lang="en-US" altLang="zh-CN" sz="1100">
              <a:solidFill>
                <a:srgbClr val="FFFFFF"/>
              </a:solidFill>
              <a:latin typeface="微软雅黑" pitchFamily="34" charset="-122"/>
              <a:ea typeface="微软雅黑" pitchFamily="34" charset="-122"/>
            </a:endParaRPr>
          </a:p>
        </p:txBody>
      </p:sp>
      <p:sp>
        <p:nvSpPr>
          <p:cNvPr id="3" name="文本框 2"/>
          <p:cNvSpPr txBox="1"/>
          <p:nvPr/>
        </p:nvSpPr>
        <p:spPr>
          <a:xfrm>
            <a:off x="2332038" y="1120775"/>
            <a:ext cx="8712200" cy="506730"/>
          </a:xfrm>
          <a:prstGeom prst="rect">
            <a:avLst/>
          </a:prstGeom>
          <a:noFill/>
        </p:spPr>
        <p:txBody>
          <a:bodyPr>
            <a:spAutoFit/>
          </a:bodyPr>
          <a:lstStyle/>
          <a:p>
            <a:pPr marL="285750" marR="0" indent="-285750" defTabSz="914400" eaLnBrk="1" fontAlgn="auto" hangingPunct="1">
              <a:lnSpc>
                <a:spcPct val="150000"/>
              </a:lnSpc>
              <a:spcBef>
                <a:spcPts val="0"/>
              </a:spcBef>
              <a:spcAft>
                <a:spcPts val="0"/>
              </a:spcAft>
              <a:buClrTx/>
              <a:buSzTx/>
              <a:buFont typeface="Wingdings" panose="05000000000000000000" pitchFamily="2" charset="2"/>
              <a:buChar char="Ø"/>
              <a:defRPr/>
            </a:pPr>
            <a:r>
              <a:rPr kumimoji="0" lang="en-US" altLang="zh-CN" sz="1800" b="1" kern="1200" cap="none" spc="0" normalizeH="0" baseline="0" noProof="0" dirty="0">
                <a:latin typeface="Times New Roman Bold" panose="02020603050405020304" charset="0"/>
                <a:ea typeface="+mn-ea"/>
                <a:cs typeface="Times New Roman Bold" panose="02020603050405020304" charset="0"/>
              </a:rPr>
              <a:t>Translation-Dissemination Mechanisms </a:t>
            </a:r>
            <a:endParaRPr kumimoji="0" lang="en-US" altLang="zh-CN" sz="1800" b="1" kern="1200" cap="none" spc="0" normalizeH="0" baseline="0" noProof="0" dirty="0">
              <a:latin typeface="Times New Roman Bold" panose="02020603050405020304" charset="0"/>
              <a:ea typeface="+mn-ea"/>
              <a:cs typeface="Times New Roman Bold" panose="02020603050405020304" charset="0"/>
            </a:endParaRPr>
          </a:p>
        </p:txBody>
      </p:sp>
      <p:sp>
        <p:nvSpPr>
          <p:cNvPr id="7" name="椭圆 6"/>
          <p:cNvSpPr/>
          <p:nvPr/>
        </p:nvSpPr>
        <p:spPr>
          <a:xfrm>
            <a:off x="4262438" y="223838"/>
            <a:ext cx="820738"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5.1</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50182" name="文本框 8"/>
          <p:cNvSpPr txBox="1"/>
          <p:nvPr/>
        </p:nvSpPr>
        <p:spPr>
          <a:xfrm>
            <a:off x="2395855" y="1748790"/>
            <a:ext cx="8302625" cy="2776855"/>
          </a:xfrm>
          <a:prstGeom prst="rect">
            <a:avLst/>
          </a:prstGeom>
          <a:noFill/>
          <a:ln w="9525">
            <a:noFill/>
          </a:ln>
        </p:spPr>
        <p:txBody>
          <a:bodyPr>
            <a:noAutofit/>
          </a:bodyPr>
          <a:p>
            <a:pPr marL="285750" indent="-285750" algn="just" eaLnBrk="1" hangingPunct="1">
              <a:lnSpc>
                <a:spcPct val="150000"/>
              </a:lnSpc>
              <a:buFont typeface="Wingdings" panose="05000000000000000000" charset="0"/>
              <a:buChar char=""/>
            </a:pPr>
            <a:r>
              <a:rPr lang="en-US" altLang="zh-CN" sz="1800">
                <a:latin typeface="Times New Roman Regular" panose="02020603050405020304" charset="0"/>
                <a:ea typeface="宋体" pitchFamily="2" charset="-122"/>
                <a:cs typeface="Times New Roman Regular" panose="02020603050405020304" charset="0"/>
              </a:rPr>
              <a:t>Webnovel has developed a digital translation and dissemination model </a:t>
            </a:r>
            <a:r>
              <a:rPr lang="en-US" altLang="zh-CN" sz="1800" b="1" u="sng">
                <a:latin typeface="Times New Roman Bold" panose="02020603050405020304" charset="0"/>
                <a:ea typeface="宋体" pitchFamily="2" charset="-122"/>
                <a:cs typeface="Times New Roman Bold" panose="02020603050405020304" charset="0"/>
              </a:rPr>
              <a:t>characterized by a deep coupling of institutional, technological, community, and commercial elements</a:t>
            </a:r>
            <a:r>
              <a:rPr lang="en-US" altLang="zh-CN" sz="1800" u="sng">
                <a:latin typeface="Times New Roman Bold" panose="02020603050405020304" charset="0"/>
                <a:ea typeface="宋体" pitchFamily="2" charset="-122"/>
                <a:cs typeface="Times New Roman Bold" panose="02020603050405020304" charset="0"/>
              </a:rPr>
              <a:t>.</a:t>
            </a:r>
            <a:r>
              <a:rPr lang="en-US" altLang="zh-CN" sz="1800">
                <a:latin typeface="Times New Roman Regular" panose="02020603050405020304" charset="0"/>
                <a:ea typeface="宋体" pitchFamily="2" charset="-122"/>
                <a:cs typeface="Times New Roman Regular" panose="02020603050405020304" charset="0"/>
              </a:rPr>
              <a:t> </a:t>
            </a:r>
            <a:endParaRPr lang="en-US" altLang="zh-CN" sz="1800">
              <a:latin typeface="Times New Roman Regular" panose="02020603050405020304" charset="0"/>
              <a:ea typeface="宋体" pitchFamily="2" charset="-122"/>
              <a:cs typeface="Times New Roman Regular" panose="02020603050405020304" charset="0"/>
            </a:endParaRPr>
          </a:p>
          <a:p>
            <a:pPr marL="285750" indent="-285750" algn="just" eaLnBrk="1" hangingPunct="1">
              <a:lnSpc>
                <a:spcPct val="150000"/>
              </a:lnSpc>
              <a:buFont typeface="Wingdings" panose="05000000000000000000" charset="0"/>
              <a:buChar char=""/>
            </a:pPr>
            <a:r>
              <a:rPr lang="en-US" altLang="zh-CN" sz="1800">
                <a:latin typeface="Times New Roman Regular" panose="02020603050405020304" charset="0"/>
                <a:ea typeface="宋体" pitchFamily="2" charset="-122"/>
                <a:cs typeface="Times New Roman Regular" panose="02020603050405020304" charset="0"/>
              </a:rPr>
              <a:t>Acting as a mediator through systems of governance, technological infrastructure, and capital investment, the platform embeds itself in all key stages—content production and curation, translator organization and output, reader participation and feedback, IP operation, and multi-platform dissemination—thereby </a:t>
            </a:r>
            <a:r>
              <a:rPr lang="en-US" altLang="zh-CN" sz="1800" b="1" u="sng">
                <a:latin typeface="Times New Roman Bold" panose="02020603050405020304" charset="0"/>
                <a:ea typeface="宋体" pitchFamily="2" charset="-122"/>
                <a:cs typeface="Times New Roman Bold" panose="02020603050405020304" charset="0"/>
              </a:rPr>
              <a:t>driving the standardization and scaling-up of the translation production process</a:t>
            </a:r>
            <a:r>
              <a:rPr lang="en-US" altLang="zh-CN" sz="1800" u="sng">
                <a:latin typeface="Times New Roman Regular" panose="02020603050405020304" charset="0"/>
                <a:ea typeface="宋体" pitchFamily="2" charset="-122"/>
                <a:cs typeface="Times New Roman Regular" panose="02020603050405020304" charset="0"/>
              </a:rPr>
              <a:t>. </a:t>
            </a:r>
            <a:endParaRPr lang="en-US" altLang="zh-CN" sz="1800" u="sng">
              <a:latin typeface="Times New Roman Regular" panose="02020603050405020304" charset="0"/>
              <a:ea typeface="宋体" pitchFamily="2" charset="-122"/>
              <a:cs typeface="Times New Roman Regular" panose="02020603050405020304" charset="0"/>
            </a:endParaRPr>
          </a:p>
          <a:p>
            <a:pPr marL="285750" indent="-285750" algn="just" eaLnBrk="1" hangingPunct="1">
              <a:lnSpc>
                <a:spcPct val="150000"/>
              </a:lnSpc>
              <a:buFont typeface="Wingdings" panose="05000000000000000000" charset="0"/>
              <a:buChar char=""/>
            </a:pPr>
            <a:r>
              <a:rPr lang="en-US" altLang="zh-CN" sz="1800">
                <a:latin typeface="Times New Roman Regular" panose="02020603050405020304" charset="0"/>
                <a:ea typeface="宋体" pitchFamily="2" charset="-122"/>
                <a:cs typeface="Times New Roman Regular" panose="02020603050405020304" charset="0"/>
              </a:rPr>
              <a:t>This </a:t>
            </a:r>
            <a:r>
              <a:rPr lang="en-US" altLang="zh-CN" sz="1800" b="1" u="sng">
                <a:latin typeface="Times New Roman Bold" panose="02020603050405020304" charset="0"/>
                <a:ea typeface="宋体" pitchFamily="2" charset="-122"/>
                <a:cs typeface="Times New Roman Bold" panose="02020603050405020304" charset="0"/>
              </a:rPr>
              <a:t>“institutionalized model of commercial community translation”</a:t>
            </a:r>
            <a:r>
              <a:rPr lang="en-US" altLang="zh-CN" sz="1800">
                <a:latin typeface="Times New Roman Regular" panose="02020603050405020304" charset="0"/>
                <a:ea typeface="宋体" pitchFamily="2" charset="-122"/>
                <a:cs typeface="Times New Roman Regular" panose="02020603050405020304" charset="0"/>
              </a:rPr>
              <a:t> marks a paradigmatic shift from textual transfer to the transplantation of cultural ecosystems.</a:t>
            </a:r>
            <a:endParaRPr lang="en-US" altLang="zh-CN" sz="1800">
              <a:latin typeface="Times New Roman Regular" panose="02020603050405020304" charset="0"/>
              <a:ea typeface="宋体" pitchFamily="2" charset="-122"/>
              <a:cs typeface="Times New Roman Regular"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5000"/>
                                  </p:iterate>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par>
                                <p:cTn id="8" presetID="10" presetClass="entr" presetSubtype="0" fill="hold" nodeType="withEffect">
                                  <p:stCondLst>
                                    <p:cond delay="0"/>
                                  </p:stCondLst>
                                  <p:iterate type="lt">
                                    <p:tmPct val="15000"/>
                                  </p:iterate>
                                  <p:childTnLst>
                                    <p:set>
                                      <p:cBhvr>
                                        <p:cTn id="9" dur="1" fill="hold">
                                          <p:stCondLst>
                                            <p:cond delay="0"/>
                                          </p:stCondLst>
                                        </p:cTn>
                                        <p:tgtEl>
                                          <p:spTgt spid="22"/>
                                        </p:tgtEl>
                                        <p:attrNameLst>
                                          <p:attrName>style.visibility</p:attrName>
                                        </p:attrNameLst>
                                      </p:cBhvr>
                                      <p:to>
                                        <p:strVal val="visible"/>
                                      </p:to>
                                    </p:set>
                                    <p:animEffect transition="in" filter="fade">
                                      <p:cBhvr>
                                        <p:cTn id="10"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文本框 48"/>
          <p:cNvSpPr txBox="1"/>
          <p:nvPr/>
        </p:nvSpPr>
        <p:spPr>
          <a:xfrm>
            <a:off x="5467350" y="263525"/>
            <a:ext cx="1960563" cy="522288"/>
          </a:xfrm>
          <a:prstGeom prst="rect">
            <a:avLst/>
          </a:prstGeom>
          <a:noFill/>
          <a:ln w="9525">
            <a:noFill/>
          </a:ln>
        </p:spPr>
        <p:txBody>
          <a:bodyPr wrap="none">
            <a:spAutoFit/>
          </a:bodyPr>
          <a:p>
            <a:pPr eaLnBrk="1" hangingPunct="1">
              <a:buNone/>
            </a:pPr>
            <a:r>
              <a:rPr lang="en-US" altLang="zh-CN" sz="2800" b="1">
                <a:solidFill>
                  <a:srgbClr val="000000"/>
                </a:solidFill>
                <a:latin typeface="Times New Roman" panose="02020603050405020304" pitchFamily="18" charset="0"/>
                <a:ea typeface="黑体" pitchFamily="49" charset="-122"/>
              </a:rPr>
              <a:t>Limitations</a:t>
            </a:r>
            <a:endParaRPr lang="zh-CN" altLang="en-US" sz="2800" b="1">
              <a:solidFill>
                <a:srgbClr val="000000"/>
              </a:solidFill>
              <a:latin typeface="Times New Roman" panose="02020603050405020304" pitchFamily="18" charset="0"/>
              <a:ea typeface="黑体" pitchFamily="49" charset="-122"/>
            </a:endParaRPr>
          </a:p>
        </p:txBody>
      </p:sp>
      <p:sp>
        <p:nvSpPr>
          <p:cNvPr id="3" name="椭圆 2"/>
          <p:cNvSpPr/>
          <p:nvPr/>
        </p:nvSpPr>
        <p:spPr>
          <a:xfrm>
            <a:off x="4529138" y="222250"/>
            <a:ext cx="820738" cy="5635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5.2</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4" name="圆角矩形 3"/>
          <p:cNvSpPr/>
          <p:nvPr/>
        </p:nvSpPr>
        <p:spPr>
          <a:xfrm>
            <a:off x="2386013" y="2514600"/>
            <a:ext cx="953452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圆角矩形 1"/>
          <p:cNvSpPr/>
          <p:nvPr/>
        </p:nvSpPr>
        <p:spPr>
          <a:xfrm>
            <a:off x="2830513" y="1182688"/>
            <a:ext cx="8474075" cy="193198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603050405020304" pitchFamily="18" charset="0"/>
                <a:ea typeface="宋体" pitchFamily="2" charset="-122"/>
                <a:cs typeface="+mn-cs"/>
              </a:rPr>
              <a:t>1. </a:t>
            </a:r>
            <a:r>
              <a:rPr lang="en-US" altLang="zh-CN" sz="180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Due to constraints of </a:t>
            </a:r>
            <a:r>
              <a:rPr lang="en-US" altLang="zh-CN" sz="1800" b="1" u="sng"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time and content volume</a:t>
            </a:r>
            <a:r>
              <a:rPr lang="en-US" altLang="zh-CN" sz="180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 this study is unable to perform a comprehensive textual analysis of the entire translation of</a:t>
            </a:r>
            <a:r>
              <a:rPr lang="en-US" altLang="zh-CN" sz="1800" i="1" noProof="0" dirty="0">
                <a:ln>
                  <a:noFill/>
                </a:ln>
                <a:solidFill>
                  <a:schemeClr val="tx1"/>
                </a:solidFill>
                <a:effectLst/>
                <a:uLnTx/>
                <a:uFillTx/>
                <a:latin typeface="Times New Roman Italic" panose="02020603050405020304" charset="0"/>
                <a:ea typeface="宋体" pitchFamily="2" charset="-122"/>
                <a:cs typeface="Times New Roman Italic" panose="02020603050405020304" charset="0"/>
                <a:sym typeface="+mn-ea"/>
              </a:rPr>
              <a:t> Lord of the Mysteries</a:t>
            </a:r>
            <a:r>
              <a:rPr lang="en-US" altLang="zh-CN" sz="180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 and instead will provide an overview through the analysis of </a:t>
            </a:r>
            <a:r>
              <a:rPr lang="en-US" altLang="zh-CN" sz="1800" b="1" u="sng"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typical cases</a:t>
            </a:r>
            <a:r>
              <a:rPr lang="en-US" altLang="zh-CN" sz="180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a:t>
            </a:r>
            <a:r>
              <a:rPr lang="zh-CN" altLang="zh-CN" sz="180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endParaRPr>
          </a:p>
        </p:txBody>
      </p:sp>
      <p:sp>
        <p:nvSpPr>
          <p:cNvPr id="8" name="圆角矩形 7"/>
          <p:cNvSpPr/>
          <p:nvPr/>
        </p:nvSpPr>
        <p:spPr>
          <a:xfrm>
            <a:off x="2471738" y="4895850"/>
            <a:ext cx="953452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圆角矩形 5"/>
          <p:cNvSpPr/>
          <p:nvPr/>
        </p:nvSpPr>
        <p:spPr>
          <a:xfrm>
            <a:off x="2830513" y="3922713"/>
            <a:ext cx="8647113" cy="1630363"/>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rPr>
              <a:t>2. </a:t>
            </a:r>
            <a:r>
              <a:rPr lang="en-US" altLang="zh-CN" sz="180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Most of the data presented in the thesis, aside from the compilation of works using software tools, was manually collected by the author through web.archive, relevant social media platforms, and pertinent literature, and</a:t>
            </a:r>
            <a:r>
              <a:rPr lang="en-US" altLang="zh-CN" sz="1800" b="1" noProof="0" dirty="0">
                <a:ln>
                  <a:noFill/>
                </a:ln>
                <a:solidFill>
                  <a:schemeClr val="tx1"/>
                </a:solidFill>
                <a:effectLst/>
                <a:uLnTx/>
                <a:uFillTx/>
                <a:latin typeface="Times New Roman Bold" panose="02020603050405020304" charset="0"/>
                <a:ea typeface="宋体" pitchFamily="2" charset="-122"/>
                <a:cs typeface="Times New Roman Bold" panose="02020603050405020304" charset="0"/>
                <a:sym typeface="+mn-ea"/>
              </a:rPr>
              <a:t> </a:t>
            </a:r>
            <a:r>
              <a:rPr lang="en-US" altLang="zh-CN" sz="1800" b="1" u="sng" noProof="0" dirty="0">
                <a:ln>
                  <a:noFill/>
                </a:ln>
                <a:solidFill>
                  <a:schemeClr val="tx1"/>
                </a:solidFill>
                <a:effectLst/>
                <a:uLnTx/>
                <a:uFillTx/>
                <a:latin typeface="Times New Roman Bold" panose="02020603050405020304" charset="0"/>
                <a:ea typeface="宋体" pitchFamily="2" charset="-122"/>
                <a:cs typeface="Times New Roman Bold" panose="02020603050405020304" charset="0"/>
                <a:sym typeface="+mn-ea"/>
              </a:rPr>
              <a:t>thus there may be omissions</a:t>
            </a:r>
            <a:r>
              <a:rPr lang="en-US" altLang="zh-CN" sz="1800" noProof="0" dirty="0">
                <a:ln>
                  <a:noFill/>
                </a:ln>
                <a:solidFill>
                  <a:schemeClr val="tx1"/>
                </a:solidFill>
                <a:effectLst/>
                <a:uLnTx/>
                <a:uFillTx/>
                <a:latin typeface="Times New Roman" panose="02020603050405020304" pitchFamily="18" charset="0"/>
                <a:ea typeface="宋体" pitchFamily="2" charset="-122"/>
                <a:cs typeface="Times New Roman" panose="02020603050405020304" pitchFamily="18" charset="0"/>
                <a:sym typeface="+mn-ea"/>
              </a:rPr>
              <a:t>.</a:t>
            </a:r>
            <a:endParaRPr kumimoji="1" lang="zh-CN" altLang="en-US" sz="18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框 23"/>
          <p:cNvSpPr txBox="1"/>
          <p:nvPr/>
        </p:nvSpPr>
        <p:spPr>
          <a:xfrm>
            <a:off x="4573588" y="222250"/>
            <a:ext cx="4657725" cy="523875"/>
          </a:xfrm>
          <a:prstGeom prst="rect">
            <a:avLst/>
          </a:prstGeom>
          <a:noFill/>
          <a:ln w="9525">
            <a:noFill/>
          </a:ln>
        </p:spPr>
        <p:txBody>
          <a:bodyPr wrap="none">
            <a:spAutoFit/>
          </a:bodyPr>
          <a:p>
            <a:pPr eaLnBrk="1" hangingPunct="1">
              <a:buNone/>
            </a:pPr>
            <a:r>
              <a:rPr lang="en-US" altLang="zh-CN" sz="2800" b="1">
                <a:solidFill>
                  <a:srgbClr val="000000"/>
                </a:solidFill>
                <a:latin typeface="Times New Roman" panose="02020603050405020304" pitchFamily="18" charset="0"/>
                <a:ea typeface="黑体" pitchFamily="49" charset="-122"/>
              </a:rPr>
              <a:t>Implications and Suggestions</a:t>
            </a:r>
            <a:endParaRPr lang="zh-CN" altLang="en-US" sz="2800" b="1">
              <a:solidFill>
                <a:srgbClr val="000000"/>
              </a:solidFill>
              <a:latin typeface="Times New Roman" panose="02020603050405020304" pitchFamily="18" charset="0"/>
              <a:ea typeface="黑体" pitchFamily="49" charset="-122"/>
            </a:endParaRPr>
          </a:p>
        </p:txBody>
      </p:sp>
      <p:sp>
        <p:nvSpPr>
          <p:cNvPr id="54274" name="文本框 2"/>
          <p:cNvSpPr txBox="1"/>
          <p:nvPr/>
        </p:nvSpPr>
        <p:spPr>
          <a:xfrm>
            <a:off x="2347913" y="1119188"/>
            <a:ext cx="9328150" cy="5053965"/>
          </a:xfrm>
          <a:prstGeom prst="rect">
            <a:avLst/>
          </a:prstGeom>
          <a:noFill/>
          <a:ln w="9525">
            <a:noFill/>
          </a:ln>
        </p:spPr>
        <p:txBody>
          <a:bodyPr>
            <a:spAutoFit/>
          </a:bodyPr>
          <a:p>
            <a:pPr eaLnBrk="1" hangingPunct="1">
              <a:lnSpc>
                <a:spcPct val="125000"/>
              </a:lnSpc>
              <a:buNone/>
            </a:pPr>
            <a:r>
              <a:rPr lang="en-US" altLang="zh-CN" sz="2400" b="1">
                <a:solidFill>
                  <a:srgbClr val="0070C0"/>
                </a:solidFill>
                <a:latin typeface="Times New Roman" panose="02020603050405020304" pitchFamily="18" charset="0"/>
                <a:ea typeface="宋体" pitchFamily="2" charset="-122"/>
              </a:rPr>
              <a:t>Implications</a:t>
            </a:r>
            <a:endParaRPr lang="en-US" altLang="zh-CN" sz="2000">
              <a:latin typeface="Calibri" pitchFamily="34" charset="0"/>
              <a:ea typeface="宋体" pitchFamily="2" charset="-122"/>
            </a:endParaRPr>
          </a:p>
          <a:p>
            <a:pPr eaLnBrk="1" hangingPunct="1">
              <a:lnSpc>
                <a:spcPct val="125000"/>
              </a:lnSpc>
              <a:buNone/>
            </a:pPr>
            <a:r>
              <a:rPr lang="en-US" altLang="zh-CN">
                <a:latin typeface="Times New Roman" panose="02020603050405020304" pitchFamily="18" charset="0"/>
                <a:ea typeface="宋体" pitchFamily="2" charset="-122"/>
              </a:rPr>
              <a:t>     The innovative translation community of Webnovel</a:t>
            </a:r>
            <a:r>
              <a:rPr lang="en-US" altLang="zh-CN" b="1" u="sng">
                <a:latin typeface="Times New Roman" panose="02020603050405020304" pitchFamily="18" charset="0"/>
                <a:ea typeface="宋体" pitchFamily="2" charset="-122"/>
              </a:rPr>
              <a:t> provides a valuable site for reflecting on  professional translation practices</a:t>
            </a:r>
            <a:r>
              <a:rPr lang="en-US" altLang="zh-CN">
                <a:latin typeface="Times New Roman" panose="02020603050405020304" pitchFamily="18" charset="0"/>
                <a:ea typeface="宋体" pitchFamily="2" charset="-122"/>
              </a:rPr>
              <a:t>, including operational models, industry standards, quality assessment, and translation norms. Through theoretical exploration and empirical research, </a:t>
            </a:r>
            <a:r>
              <a:rPr lang="en-US" altLang="zh-CN" b="1" u="sng">
                <a:latin typeface="Times New Roman" panose="02020603050405020304" pitchFamily="18" charset="0"/>
                <a:ea typeface="宋体" pitchFamily="2" charset="-122"/>
              </a:rPr>
              <a:t>it inspires new theoretical methodologies for translation studies</a:t>
            </a:r>
            <a:r>
              <a:rPr lang="en-US" altLang="zh-CN">
                <a:latin typeface="Times New Roman" panose="02020603050405020304" pitchFamily="18" charset="0"/>
                <a:ea typeface="宋体" pitchFamily="2" charset="-122"/>
              </a:rPr>
              <a:t>, with findings </a:t>
            </a:r>
            <a:r>
              <a:rPr lang="en-US" altLang="zh-CN" b="1" u="sng">
                <a:latin typeface="Times New Roman" panose="02020603050405020304" pitchFamily="18" charset="0"/>
                <a:ea typeface="宋体" pitchFamily="2" charset="-122"/>
              </a:rPr>
              <a:t>offering practical insights for translation practice</a:t>
            </a:r>
            <a:r>
              <a:rPr lang="en-US" altLang="zh-CN" u="sng">
                <a:latin typeface="Times New Roman" panose="02020603050405020304" pitchFamily="18" charset="0"/>
                <a:ea typeface="宋体" pitchFamily="2" charset="-122"/>
              </a:rPr>
              <a:t> </a:t>
            </a:r>
            <a:r>
              <a:rPr lang="en-US" altLang="zh-CN">
                <a:latin typeface="Times New Roman" panose="02020603050405020304" pitchFamily="18" charset="0"/>
                <a:ea typeface="宋体" pitchFamily="2" charset="-122"/>
              </a:rPr>
              <a:t>of Chinese literature and Chinese culture “going out” .</a:t>
            </a:r>
            <a:r>
              <a:rPr lang="zh-CN" altLang="zh-CN" sz="2000">
                <a:latin typeface="Lao UI" pitchFamily="34" charset="0"/>
                <a:ea typeface="微软雅黑" pitchFamily="34" charset="-122"/>
              </a:rPr>
              <a:t> </a:t>
            </a:r>
            <a:endParaRPr lang="en-US" altLang="zh-CN" sz="2000">
              <a:latin typeface="Lao UI" pitchFamily="34" charset="0"/>
              <a:ea typeface="微软雅黑" pitchFamily="34" charset="-122"/>
            </a:endParaRPr>
          </a:p>
          <a:p>
            <a:pPr eaLnBrk="1" hangingPunct="1">
              <a:lnSpc>
                <a:spcPct val="125000"/>
              </a:lnSpc>
              <a:buNone/>
            </a:pPr>
            <a:endParaRPr lang="en-US" altLang="zh-CN" sz="2400" b="1">
              <a:solidFill>
                <a:srgbClr val="0070C0"/>
              </a:solidFill>
              <a:latin typeface="Times New Roman" panose="02020603050405020304" pitchFamily="18" charset="0"/>
              <a:cs typeface="Times New Roman" panose="02020603050405020304" pitchFamily="18" charset="0"/>
            </a:endParaRPr>
          </a:p>
          <a:p>
            <a:pPr eaLnBrk="1" hangingPunct="1">
              <a:lnSpc>
                <a:spcPct val="125000"/>
              </a:lnSpc>
              <a:buNone/>
            </a:pPr>
            <a:r>
              <a:rPr lang="en-US" altLang="zh-CN" sz="2400" b="1">
                <a:solidFill>
                  <a:srgbClr val="0070C0"/>
                </a:solidFill>
                <a:latin typeface="Times New Roman" panose="02020603050405020304" pitchFamily="18" charset="0"/>
                <a:cs typeface="Times New Roman" panose="02020603050405020304" pitchFamily="18" charset="0"/>
              </a:rPr>
              <a:t>Suggestions</a:t>
            </a:r>
            <a:endParaRPr lang="en-US" altLang="zh-CN" sz="2000">
              <a:latin typeface="Calibri" pitchFamily="34" charset="0"/>
              <a:cs typeface="Times New Roman" panose="02020603050405020304" pitchFamily="18" charset="0"/>
            </a:endParaRPr>
          </a:p>
          <a:p>
            <a:pPr eaLnBrk="1" hangingPunct="1">
              <a:lnSpc>
                <a:spcPct val="125000"/>
              </a:lnSpc>
              <a:buNone/>
            </a:pPr>
            <a:r>
              <a:rPr lang="en-US" altLang="zh-CN" sz="2000">
                <a:latin typeface="Calibri" pitchFamily="34" charset="0"/>
                <a:ea typeface="宋体" pitchFamily="2" charset="-122"/>
              </a:rPr>
              <a:t>    </a:t>
            </a:r>
            <a:r>
              <a:rPr lang="en-US" altLang="zh-CN">
                <a:latin typeface="Times New Roman" panose="02020603050405020304" pitchFamily="18" charset="0"/>
                <a:ea typeface="宋体" pitchFamily="2" charset="-122"/>
              </a:rPr>
              <a:t>The translation activities of Chinese online literature in cyberspace carry practical and theoretical significance, calling for greater scholarly attention and encouraging more researchers to engage in this field.</a:t>
            </a:r>
            <a:r>
              <a:rPr lang="zh-CN" altLang="zh-CN" sz="2000">
                <a:latin typeface="Lao UI" pitchFamily="34" charset="0"/>
                <a:ea typeface="微软雅黑" pitchFamily="34" charset="-122"/>
              </a:rPr>
              <a:t> </a:t>
            </a:r>
            <a:r>
              <a:rPr lang="en-US" altLang="zh-CN">
                <a:latin typeface="Times New Roman" panose="02020603050405020304" pitchFamily="18" charset="0"/>
                <a:ea typeface="宋体" pitchFamily="2" charset="-122"/>
              </a:rPr>
              <a:t>Moving forward, scholars </a:t>
            </a:r>
            <a:r>
              <a:rPr lang="en-US" altLang="zh-CN" u="sng">
                <a:latin typeface="Times New Roman" panose="02020603050405020304" pitchFamily="18" charset="0"/>
                <a:ea typeface="宋体" pitchFamily="2" charset="-122"/>
              </a:rPr>
              <a:t>can </a:t>
            </a:r>
            <a:r>
              <a:rPr lang="en-US" altLang="zh-CN" b="1" u="sng">
                <a:latin typeface="Times New Roman" panose="02020603050405020304" pitchFamily="18" charset="0"/>
                <a:ea typeface="宋体" pitchFamily="2" charset="-122"/>
              </a:rPr>
              <a:t>further enhance the research content, perspectives, and methodologies employed in studying the translation of Chinese online literature</a:t>
            </a:r>
            <a:r>
              <a:rPr lang="en-US" altLang="zh-CN" u="sng">
                <a:latin typeface="Times New Roman" panose="02020603050405020304" pitchFamily="18" charset="0"/>
                <a:ea typeface="宋体" pitchFamily="2" charset="-122"/>
              </a:rPr>
              <a:t>.</a:t>
            </a:r>
            <a:endParaRPr lang="zh-CN" altLang="zh-CN" u="sng">
              <a:latin typeface="等线" pitchFamily="2" charset="-122"/>
              <a:ea typeface="Times New Roman" panose="02020603050405020304" pitchFamily="18" charset="0"/>
            </a:endParaRPr>
          </a:p>
        </p:txBody>
      </p:sp>
      <p:sp>
        <p:nvSpPr>
          <p:cNvPr id="2" name="椭圆 1"/>
          <p:cNvSpPr/>
          <p:nvPr/>
        </p:nvSpPr>
        <p:spPr>
          <a:xfrm>
            <a:off x="3752850" y="180975"/>
            <a:ext cx="820738" cy="5651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5.3</a:t>
            </a:r>
            <a:endParaRPr kumimoji="0" lang="zh-CN" altLang="en-US" sz="2135"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框 1"/>
          <p:cNvSpPr txBox="1"/>
          <p:nvPr/>
        </p:nvSpPr>
        <p:spPr>
          <a:xfrm>
            <a:off x="4676775" y="0"/>
            <a:ext cx="3089275" cy="584200"/>
          </a:xfrm>
          <a:prstGeom prst="rect">
            <a:avLst/>
          </a:prstGeom>
          <a:noFill/>
          <a:ln w="9525">
            <a:noFill/>
          </a:ln>
        </p:spPr>
        <p:txBody>
          <a:bodyPr>
            <a:spAutoFit/>
          </a:bodyPr>
          <a:p>
            <a:pPr algn="ctr" eaLnBrk="1" hangingPunct="1">
              <a:buNone/>
            </a:pPr>
            <a:r>
              <a:rPr lang="en-US" altLang="zh-CN" sz="3200" b="1">
                <a:solidFill>
                  <a:srgbClr val="262626"/>
                </a:solidFill>
                <a:latin typeface="Times New Roman" panose="02020603050405020304" pitchFamily="18" charset="0"/>
                <a:ea typeface="微软雅黑" pitchFamily="34" charset="-122"/>
              </a:rPr>
              <a:t>References</a:t>
            </a:r>
            <a:endParaRPr lang="zh-CN" altLang="en-US" sz="2400" b="1">
              <a:solidFill>
                <a:srgbClr val="262626"/>
              </a:solidFill>
              <a:latin typeface="Times New Roman" panose="02020603050405020304" pitchFamily="18" charset="0"/>
              <a:ea typeface="微软雅黑" pitchFamily="34" charset="-122"/>
            </a:endParaRPr>
          </a:p>
        </p:txBody>
      </p:sp>
      <p:sp>
        <p:nvSpPr>
          <p:cNvPr id="3" name="文本框 2"/>
          <p:cNvSpPr txBox="1"/>
          <p:nvPr/>
        </p:nvSpPr>
        <p:spPr>
          <a:xfrm>
            <a:off x="420688" y="579438"/>
            <a:ext cx="11350625" cy="6339205"/>
          </a:xfrm>
          <a:prstGeom prst="rect">
            <a:avLst/>
          </a:prstGeom>
          <a:noFill/>
        </p:spPr>
        <p:txBody>
          <a:bodyPr>
            <a:spAutoFit/>
          </a:bodyPr>
          <a:lstStyle/>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[1] Abdallah, Kristiina. Quality Problems in AVT Production Networks: Reconstructing an Actor-network in the Subtitling Industry [A]. In Alina Serban, Anna Matamala &amp; Jean-Marc Lavaur (eds). Audiovisual Translation in Close-up: Practical and Theoretical Approaches [C]. Bern: Peter Lang, 2011: 173-186.</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[2] Abdallah, Kristiina. Translators in Production Networks. Reflections on Agency, Quality and Ethics [M]. Dissertations in Education, Humanities and Theology, Joensuu: University of Eastern Finland, 2012. </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[3] Bogic, Anna. Uncovering the hidden actors with the help of Latour: the ‘making’ of The Second Sex [J]. MonTI. Monograf</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í</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as de Traducci</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ó</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ne Interpretaci</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ó</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n, 2010, (2): 173-192.</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[4] Buzelin, H</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é</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l</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è</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ne. Independent publisher in the networks of translation [J]. TTR: Traduction, Terminologie, R</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é</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daction, 2006, 19(1): 135-173.</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[5] Buzelin, H</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é</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l</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è</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ne. Sociology and Translation Studies [A]. In Carmen Mill</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á</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n-Varela &amp; Francesca Bartrina (eds). The Routledge Handbook of Translation Studies [C]. London: Routledge, 2013: 186-200.</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[6] Buzelin, H</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é</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l</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è</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ne. Translations “in the making” [A]. In Michaela Wolf &amp; Alexandra Fukari (eds). Constructing A Sociology of Translation[C]. Amsterdam/Philadelphia: John Benjamins, 2007:135-169.</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[7] Buzelin, H</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é</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l</a:t>
            </a:r>
            <a:r>
              <a:rPr kumimoji="0" lang="en-US" altLang="en-US" sz="1600" kern="100" cap="none" spc="0" normalizeH="0" baseline="0" noProof="0" dirty="0">
                <a:latin typeface="Times New Roman" panose="02020603050405020304" pitchFamily="18" charset="0"/>
                <a:ea typeface="宋体" pitchFamily="2" charset="-122"/>
                <a:cs typeface="Times New Roman" panose="02020603050405020304" pitchFamily="18" charset="0"/>
              </a:rPr>
              <a:t>è</a:t>
            </a: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ne. Unexpected Allies: How Latour’s Network Theory Could Complement Bourdieusian Analyses in Translation Studies [J]. The Translator, 2005, 11(2): 193-218. </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[8] Boll, Tom. Penguin Books and the translation of Spanish and Latin American poetry, 1956-1979 [J]. Translation and Literature, 2016, 25(1): 28-57.</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[9] Chesterman, Andrew. A Causal Model for Translation Studies [A]. In Maeve Olohan (ed). Intercultural Fault-lines: Research Models in Translation Studies I. Textual and Cognitive Aspects [C]. Manchester: St Jerome Publishing, 2000: 15-27.</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[10] Chesterman, Andrew. Models in translation studies [A]. In Yves Gambier and Luc Van Doorslaer (eds). Handbook of Translation Studies [C]. Amsterdam &amp; Philadelphia: John Benjamins, 2012: 108-114.</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rPr>
              <a:t>[11] Chesterman, Andrew. On explanation [A]. In Anthony Pym, Miriam Shlesinger &amp; Daniel Simeoni (eds). Beyond Descriptive Translation Studies: Investigations in Homage to Gideon Toury [C]. Amsterdam &amp; Philadelphia: John Benjamins, 2008: 363-377. </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30225" y="628650"/>
            <a:ext cx="11131550" cy="6247130"/>
          </a:xfrm>
          <a:prstGeom prst="rect">
            <a:avLst/>
          </a:prstGeom>
          <a:noFill/>
        </p:spPr>
        <p:txBody>
          <a:bodyPr>
            <a:spAutoFit/>
          </a:bodyPr>
          <a:p>
            <a:pPr marR="0" indent="-457200" algn="just" defTabSz="914400" eaLnBrk="1" fontAlgn="auto" hangingPunct="1">
              <a:spcBef>
                <a:spcPts val="240"/>
              </a:spcBef>
              <a:spcAft>
                <a:spcPts val="0"/>
              </a:spcAft>
              <a:buClrTx/>
              <a:buSzTx/>
              <a:buFontTx/>
              <a:buNone/>
              <a:defRPr/>
            </a:pPr>
            <a:r>
              <a:rPr lang="en-US" altLang="zh-CN" sz="1600" kern="100" noProof="0" dirty="0">
                <a:latin typeface="Times New Roman" panose="02020603050405020304" pitchFamily="18" charset="0"/>
                <a:ea typeface="宋体" pitchFamily="2" charset="-122"/>
                <a:cs typeface="Times New Roman" panose="02020603050405020304" pitchFamily="18" charset="0"/>
                <a:sym typeface="+mn-ea"/>
              </a:rPr>
              <a:t>[12] Chesterman, Andrew. Questions in the Sociology of Translation [A]. In Jo</a:t>
            </a:r>
            <a:r>
              <a:rPr lang="en-US" altLang="en-US" sz="1600" kern="100" noProof="0" dirty="0">
                <a:latin typeface="Times New Roman" panose="02020603050405020304" pitchFamily="18" charset="0"/>
                <a:ea typeface="宋体" pitchFamily="2" charset="-122"/>
                <a:cs typeface="Times New Roman" panose="02020603050405020304" pitchFamily="18" charset="0"/>
                <a:sym typeface="+mn-ea"/>
              </a:rPr>
              <a:t>ã</a:t>
            </a:r>
            <a:r>
              <a:rPr lang="en-US" altLang="zh-CN" sz="1600" kern="100" noProof="0" dirty="0">
                <a:latin typeface="Times New Roman" panose="02020603050405020304" pitchFamily="18" charset="0"/>
                <a:ea typeface="宋体" pitchFamily="2" charset="-122"/>
                <a:cs typeface="Times New Roman" panose="02020603050405020304" pitchFamily="18" charset="0"/>
                <a:sym typeface="+mn-ea"/>
              </a:rPr>
              <a:t>o Ferreira Duarte, Alexandra Assis Rosa &amp; Teresa Seruya (eds). Translation Studies at the Interface of Disciplines [C]. Amsterdam and Philadelphia: John Benjamins, 2006: 9-27.</a:t>
            </a:r>
            <a:endParaRPr kumimoji="0" lang="en-US" altLang="zh-CN" sz="1600" kern="100" cap="none" spc="0" normalizeH="0" baseline="0" noProof="0" dirty="0">
              <a:latin typeface="Times New Roman" panose="02020603050405020304" pitchFamily="18" charset="0"/>
              <a:ea typeface="宋体" pitchFamily="2" charset="-122"/>
              <a:cs typeface="Times New Roman" panose="02020603050405020304" pitchFamily="18" charset="0"/>
            </a:endParaRPr>
          </a:p>
          <a:p>
            <a:pPr marR="0" indent="-457200" algn="just" defTabSz="914400" eaLnBrk="1" fontAlgn="auto" hangingPunct="1">
              <a:spcBef>
                <a:spcPts val="240"/>
              </a:spcBef>
              <a:spcAft>
                <a:spcPts val="0"/>
              </a:spcAft>
              <a:buClrTx/>
              <a:buSzTx/>
              <a:buFontTx/>
              <a:buNone/>
              <a:defRPr/>
            </a:pPr>
            <a:r>
              <a:rPr lang="en-US" altLang="zh-CN" sz="1600" kern="100" noProof="0" dirty="0">
                <a:latin typeface="Times New Roman" panose="02020603050405020304" pitchFamily="18" charset="0"/>
                <a:ea typeface="宋体" pitchFamily="2" charset="-122"/>
                <a:cs typeface="Times New Roman" panose="02020603050405020304" pitchFamily="18" charset="0"/>
                <a:sym typeface="+mn-ea"/>
              </a:rPr>
              <a:t>[13] </a:t>
            </a:r>
            <a:r>
              <a:rPr lang="en-US" altLang="zh-CN" sz="1600">
                <a:latin typeface="Times New Roman" panose="02020603050405020304" pitchFamily="18" charset="0"/>
                <a:ea typeface="宋体" pitchFamily="2" charset="-122"/>
              </a:rPr>
              <a:t>Callon, Michel. Some elements of a sociology of translation: domestication of the scallops and the fishermen of Saint Brieuc Bay [A]. In John Law (ed). Power, Action and Belief: A New Sociology of Knowledge? [C]. London: Routledge, 1986: 196-233.</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[14] Latour, Bruno. Reassembling the Social: An Introduction to Actor-Network Theory [M]. Oxford: Oxford University Press, 2005.</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[15] Latour, Bruno. The Pasteurization of France [M]. Translated by Alan Sheridan and John Law. Cambridge, Massachusetts &amp; London, England: Harvard University Press, 1988.</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Tyulenev, Sergey. Translation as a social fact [J]. Translation and Interpreting Studies, 2014, 9(2): 179-196.</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[16] Venuti, Lawrence. The Translator’s Invisibility: A History of Translation (2nd ed) [M]. London: Routledge, 2008.</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[17] Wolf, Michaela. Introduction: The emergence of a sociology of translation [A]. In Michaela Wolf &amp; Alexandra Fukari (eds). Constructing a Sociology of Translation [C]. Amsterdam/ Philadelphia: John Benjamins, 2007: 1-36.</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[18] </a:t>
            </a:r>
            <a:r>
              <a:rPr lang="zh-CN" altLang="en-US" sz="1600">
                <a:latin typeface="Times New Roman" panose="02020603050405020304" pitchFamily="18" charset="0"/>
                <a:ea typeface="宋体" pitchFamily="2" charset="-122"/>
              </a:rPr>
              <a:t>吉云飞</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起点国际</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模式与</a:t>
            </a:r>
            <a:r>
              <a:rPr lang="en-US" altLang="zh-CN" sz="1600">
                <a:latin typeface="Times New Roman" panose="02020603050405020304" pitchFamily="18" charset="0"/>
                <a:ea typeface="宋体" pitchFamily="2" charset="-122"/>
              </a:rPr>
              <a:t>“Wuxiaworld”</a:t>
            </a:r>
            <a:r>
              <a:rPr lang="zh-CN" altLang="en-US" sz="1600">
                <a:latin typeface="Times New Roman" panose="02020603050405020304" pitchFamily="18" charset="0"/>
                <a:ea typeface="宋体" pitchFamily="2" charset="-122"/>
              </a:rPr>
              <a:t>模式</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中国网络文学海外传播的两条道路</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中国文学批评</a:t>
            </a:r>
            <a:r>
              <a:rPr lang="en-US" altLang="zh-CN" sz="1600">
                <a:latin typeface="Times New Roman" panose="02020603050405020304" pitchFamily="18" charset="0"/>
                <a:ea typeface="宋体" pitchFamily="2" charset="-122"/>
              </a:rPr>
              <a:t>, 2019, (2): 102-108.</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[19] </a:t>
            </a:r>
            <a:r>
              <a:rPr lang="zh-CN" altLang="en-US" sz="1600">
                <a:latin typeface="Times New Roman" panose="02020603050405020304" pitchFamily="18" charset="0"/>
                <a:ea typeface="宋体" pitchFamily="2" charset="-122"/>
              </a:rPr>
              <a:t>林玲</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从译介学理论看中国网络文学的海外输出</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以</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盘龙</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的海外走红为例</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三峡大学学报</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人文社会科学版</a:t>
            </a:r>
            <a:r>
              <a:rPr lang="en-US" altLang="zh-CN" sz="1600">
                <a:latin typeface="Times New Roman" panose="02020603050405020304" pitchFamily="18" charset="0"/>
                <a:ea typeface="宋体" pitchFamily="2" charset="-122"/>
              </a:rPr>
              <a:t>), 2018, (2): 94-97.</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[20] </a:t>
            </a:r>
            <a:r>
              <a:rPr lang="zh-CN" altLang="en-US" sz="1600">
                <a:latin typeface="Times New Roman" panose="02020603050405020304" pitchFamily="18" charset="0"/>
                <a:ea typeface="宋体" pitchFamily="2" charset="-122"/>
              </a:rPr>
              <a:t>骆雯雁</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行动者网络理论的</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翻译</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模式与铭文概念及其对社会翻译学研究的意义</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外语研究</a:t>
            </a:r>
            <a:r>
              <a:rPr lang="en-US" altLang="zh-CN" sz="1600">
                <a:latin typeface="Times New Roman" panose="02020603050405020304" pitchFamily="18" charset="0"/>
                <a:ea typeface="宋体" pitchFamily="2" charset="-122"/>
              </a:rPr>
              <a:t>, 2022, (3): 86-91.</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[21] </a:t>
            </a:r>
            <a:r>
              <a:rPr lang="zh-CN" altLang="en-US" sz="1600">
                <a:latin typeface="Times New Roman" panose="02020603050405020304" pitchFamily="18" charset="0"/>
                <a:ea typeface="宋体" pitchFamily="2" charset="-122"/>
              </a:rPr>
              <a:t>骆雯雁</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行动者网络理论在翻译生产述研究中的应用</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以亚瑟</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韦利英译《西游记》为例</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外语研究</a:t>
            </a:r>
            <a:r>
              <a:rPr lang="en-US" altLang="zh-CN" sz="1600">
                <a:latin typeface="Times New Roman" panose="02020603050405020304" pitchFamily="18" charset="0"/>
                <a:ea typeface="宋体" pitchFamily="2" charset="-122"/>
              </a:rPr>
              <a:t>, 2020, (2): 84-90.</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[22] </a:t>
            </a:r>
            <a:r>
              <a:rPr lang="zh-CN" altLang="en-US" sz="1600">
                <a:latin typeface="Times New Roman" panose="02020603050405020304" pitchFamily="18" charset="0"/>
                <a:ea typeface="宋体" pitchFamily="2" charset="-122"/>
              </a:rPr>
              <a:t>刘肖</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董子铭</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一带一路</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视野下我国网络文学对外传播研究</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出版发行研究</a:t>
            </a:r>
            <a:r>
              <a:rPr lang="en-US" altLang="zh-CN" sz="1600">
                <a:latin typeface="Times New Roman" panose="02020603050405020304" pitchFamily="18" charset="0"/>
                <a:ea typeface="宋体" pitchFamily="2" charset="-122"/>
              </a:rPr>
              <a:t>, 2017, (5): 78-81.</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zh-CN" altLang="en-US" sz="1600">
                <a:latin typeface="Times New Roman" panose="02020603050405020304" pitchFamily="18" charset="0"/>
                <a:ea typeface="宋体" pitchFamily="2" charset="-122"/>
              </a:rPr>
              <a:t>刘毅</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《射雕英雄传》在西方的译介传播：行动者网络、译者惯习与翻译策略</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解放军外国语学院学报</a:t>
            </a:r>
            <a:r>
              <a:rPr lang="en-US" altLang="zh-CN" sz="1600">
                <a:latin typeface="Times New Roman" panose="02020603050405020304" pitchFamily="18" charset="0"/>
                <a:ea typeface="宋体" pitchFamily="2" charset="-122"/>
              </a:rPr>
              <a:t>, 2021, 44 (2): 58-65.</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[23] </a:t>
            </a:r>
            <a:r>
              <a:rPr lang="zh-CN" altLang="en-US" sz="1600">
                <a:latin typeface="Times New Roman" panose="02020603050405020304" pitchFamily="18" charset="0"/>
                <a:ea typeface="宋体" pitchFamily="2" charset="-122"/>
              </a:rPr>
              <a:t>刘毅</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网络文学外译版权输出的角力、变局与前景</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出版发行研究</a:t>
            </a:r>
            <a:r>
              <a:rPr lang="en-US" altLang="zh-CN" sz="1600">
                <a:latin typeface="Times New Roman" panose="02020603050405020304" pitchFamily="18" charset="0"/>
                <a:ea typeface="宋体" pitchFamily="2" charset="-122"/>
              </a:rPr>
              <a:t>, 2017, (12): 94-97.</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[24] </a:t>
            </a:r>
            <a:r>
              <a:rPr lang="zh-CN" altLang="en-US" sz="1600">
                <a:latin typeface="Times New Roman" panose="02020603050405020304" pitchFamily="18" charset="0"/>
                <a:ea typeface="宋体" pitchFamily="2" charset="-122"/>
              </a:rPr>
              <a:t>刘毅</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张佐堂</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网络文学中武术文化的译介与传播</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以北美网络翻译平台</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武侠世界</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为例</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西南交通大学学报（社会科学版）</a:t>
            </a:r>
            <a:r>
              <a:rPr lang="en-US" altLang="zh-CN" sz="1600">
                <a:latin typeface="Times New Roman" panose="02020603050405020304" pitchFamily="18" charset="0"/>
                <a:ea typeface="宋体" pitchFamily="2" charset="-122"/>
              </a:rPr>
              <a:t>, 2018 , (6): 98-104.</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[25] </a:t>
            </a:r>
            <a:r>
              <a:rPr lang="zh-CN" altLang="en-US" sz="1600">
                <a:latin typeface="Times New Roman" panose="02020603050405020304" pitchFamily="18" charset="0"/>
                <a:ea typeface="宋体" pitchFamily="2" charset="-122"/>
              </a:rPr>
              <a:t>李彦</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中国网络文学在虚拟社区中的译介</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基于</a:t>
            </a:r>
            <a:r>
              <a:rPr lang="en-US" altLang="zh-CN" sz="1600">
                <a:latin typeface="Times New Roman" panose="02020603050405020304" pitchFamily="18" charset="0"/>
                <a:ea typeface="宋体" pitchFamily="2" charset="-122"/>
              </a:rPr>
              <a:t> Wuxiaworld </a:t>
            </a:r>
            <a:r>
              <a:rPr lang="zh-CN" altLang="en-US" sz="1600">
                <a:latin typeface="Times New Roman" panose="02020603050405020304" pitchFamily="18" charset="0"/>
                <a:ea typeface="宋体" pitchFamily="2" charset="-122"/>
              </a:rPr>
              <a:t>的网络志研究</a:t>
            </a:r>
            <a:r>
              <a:rPr lang="en-US" altLang="zh-CN" sz="1600">
                <a:latin typeface="Times New Roman" panose="02020603050405020304" pitchFamily="18" charset="0"/>
                <a:ea typeface="宋体" pitchFamily="2" charset="-122"/>
              </a:rPr>
              <a:t>[D]. </a:t>
            </a:r>
            <a:r>
              <a:rPr lang="zh-CN" altLang="en-US" sz="1600">
                <a:latin typeface="Times New Roman" panose="02020603050405020304" pitchFamily="18" charset="0"/>
                <a:ea typeface="宋体" pitchFamily="2" charset="-122"/>
              </a:rPr>
              <a:t>上海外国语大学</a:t>
            </a:r>
            <a:r>
              <a:rPr lang="en-US" altLang="zh-CN" sz="1600">
                <a:latin typeface="Times New Roman" panose="02020603050405020304" pitchFamily="18" charset="0"/>
                <a:ea typeface="宋体" pitchFamily="2" charset="-122"/>
              </a:rPr>
              <a:t>, 2019.</a:t>
            </a:r>
            <a:endParaRPr lang="en-US" altLang="zh-CN" sz="1600">
              <a:latin typeface="Times New Roman" panose="02020603050405020304" pitchFamily="18" charset="0"/>
              <a:ea typeface="宋体" pitchFamily="2" charset="-122"/>
            </a:endParaRPr>
          </a:p>
          <a:p>
            <a:pPr algn="just" eaLnBrk="1" hangingPunct="1">
              <a:spcBef>
                <a:spcPts val="240"/>
              </a:spcBef>
              <a:buNone/>
            </a:pPr>
            <a:endParaRPr lang="en-US" altLang="zh-CN" sz="1600">
              <a:latin typeface="Times New Roman" panose="02020603050405020304" pitchFamily="18" charset="0"/>
              <a:ea typeface="宋体" pitchFamily="2" charset="-122"/>
            </a:endParaRPr>
          </a:p>
        </p:txBody>
      </p:sp>
      <p:sp>
        <p:nvSpPr>
          <p:cNvPr id="58370" name="文本框 1"/>
          <p:cNvSpPr txBox="1"/>
          <p:nvPr/>
        </p:nvSpPr>
        <p:spPr>
          <a:xfrm>
            <a:off x="4551363" y="44450"/>
            <a:ext cx="3089275" cy="584200"/>
          </a:xfrm>
          <a:prstGeom prst="rect">
            <a:avLst/>
          </a:prstGeom>
          <a:noFill/>
          <a:ln w="9525">
            <a:noFill/>
          </a:ln>
        </p:spPr>
        <p:txBody>
          <a:bodyPr>
            <a:spAutoFit/>
          </a:bodyPr>
          <a:p>
            <a:pPr algn="ctr" eaLnBrk="1" hangingPunct="1">
              <a:buNone/>
            </a:pPr>
            <a:r>
              <a:rPr lang="en-US" altLang="zh-CN" sz="3200" b="1">
                <a:solidFill>
                  <a:srgbClr val="262626"/>
                </a:solidFill>
                <a:latin typeface="Times New Roman" panose="02020603050405020304" pitchFamily="18" charset="0"/>
                <a:ea typeface="微软雅黑" pitchFamily="34" charset="-122"/>
              </a:rPr>
              <a:t>References</a:t>
            </a:r>
            <a:endParaRPr lang="zh-CN" altLang="en-US" sz="2400" b="1">
              <a:solidFill>
                <a:srgbClr val="262626"/>
              </a:solidFill>
              <a:latin typeface="Times New Roman" panose="02020603050405020304" pitchFamily="18" charset="0"/>
              <a:ea typeface="微软雅黑"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39750" y="585788"/>
            <a:ext cx="10812463" cy="374015"/>
          </a:xfrm>
          <a:prstGeom prst="rect">
            <a:avLst/>
          </a:prstGeom>
          <a:noFill/>
        </p:spPr>
        <p:txBody>
          <a:bodyPr>
            <a:spAutoFit/>
          </a:bodyPr>
          <a:p>
            <a:pPr algn="just" eaLnBrk="1" hangingPunct="1">
              <a:lnSpc>
                <a:spcPct val="115000"/>
              </a:lnSpc>
              <a:spcBef>
                <a:spcPts val="240"/>
              </a:spcBef>
              <a:buNone/>
            </a:pPr>
            <a:endParaRPr lang="en-US" altLang="zh-CN" sz="1600">
              <a:latin typeface="Times New Roman" panose="02020603050405020304" pitchFamily="18" charset="0"/>
              <a:ea typeface="宋体" pitchFamily="2" charset="-122"/>
            </a:endParaRPr>
          </a:p>
        </p:txBody>
      </p:sp>
      <p:sp>
        <p:nvSpPr>
          <p:cNvPr id="59394" name="文本框 1"/>
          <p:cNvSpPr txBox="1"/>
          <p:nvPr/>
        </p:nvSpPr>
        <p:spPr>
          <a:xfrm>
            <a:off x="4551363" y="20638"/>
            <a:ext cx="3089275" cy="585787"/>
          </a:xfrm>
          <a:prstGeom prst="rect">
            <a:avLst/>
          </a:prstGeom>
          <a:noFill/>
          <a:ln w="9525">
            <a:noFill/>
          </a:ln>
        </p:spPr>
        <p:txBody>
          <a:bodyPr>
            <a:spAutoFit/>
          </a:bodyPr>
          <a:p>
            <a:pPr algn="ctr" eaLnBrk="1" hangingPunct="1">
              <a:buNone/>
            </a:pPr>
            <a:r>
              <a:rPr lang="en-US" altLang="zh-CN" sz="3200" b="1">
                <a:solidFill>
                  <a:srgbClr val="262626"/>
                </a:solidFill>
                <a:latin typeface="Times New Roman" panose="02020603050405020304" pitchFamily="18" charset="0"/>
                <a:ea typeface="微软雅黑" pitchFamily="34" charset="-122"/>
              </a:rPr>
              <a:t>References</a:t>
            </a:r>
            <a:endParaRPr lang="zh-CN" altLang="en-US" sz="2400" b="1">
              <a:solidFill>
                <a:srgbClr val="262626"/>
              </a:solidFill>
              <a:latin typeface="Times New Roman" panose="02020603050405020304" pitchFamily="18" charset="0"/>
              <a:ea typeface="微软雅黑" pitchFamily="34" charset="-122"/>
            </a:endParaRPr>
          </a:p>
        </p:txBody>
      </p:sp>
      <p:sp>
        <p:nvSpPr>
          <p:cNvPr id="2" name="文本框 1"/>
          <p:cNvSpPr txBox="1"/>
          <p:nvPr/>
        </p:nvSpPr>
        <p:spPr>
          <a:xfrm>
            <a:off x="739140" y="585470"/>
            <a:ext cx="10227310" cy="3796665"/>
          </a:xfrm>
          <a:prstGeom prst="rect">
            <a:avLst/>
          </a:prstGeom>
          <a:noFill/>
        </p:spPr>
        <p:txBody>
          <a:bodyPr wrap="square" rtlCol="0" anchor="t">
            <a:noAutofit/>
          </a:bodyPr>
          <a:p>
            <a:pPr algn="just" eaLnBrk="1" hangingPunct="1">
              <a:spcBef>
                <a:spcPts val="240"/>
              </a:spcBef>
              <a:buNone/>
            </a:pPr>
            <a:r>
              <a:rPr lang="en-US" altLang="zh-CN" sz="1600">
                <a:latin typeface="Times New Roman" panose="02020603050405020304" pitchFamily="18" charset="0"/>
                <a:ea typeface="宋体" pitchFamily="2" charset="-122"/>
                <a:sym typeface="+mn-ea"/>
              </a:rPr>
              <a:t>[26] </a:t>
            </a:r>
            <a:r>
              <a:rPr lang="zh-CN" altLang="en-US" sz="1600">
                <a:latin typeface="Times New Roman" panose="02020603050405020304" pitchFamily="18" charset="0"/>
                <a:ea typeface="宋体" pitchFamily="2" charset="-122"/>
                <a:sym typeface="+mn-ea"/>
              </a:rPr>
              <a:t>马孝幸</a:t>
            </a:r>
            <a:r>
              <a:rPr lang="en-US" altLang="zh-CN" sz="1600">
                <a:latin typeface="Times New Roman" panose="02020603050405020304" pitchFamily="18" charset="0"/>
                <a:ea typeface="宋体" pitchFamily="2" charset="-122"/>
                <a:sym typeface="+mn-ea"/>
              </a:rPr>
              <a:t>, </a:t>
            </a:r>
            <a:r>
              <a:rPr lang="zh-CN" altLang="en-US" sz="1600">
                <a:latin typeface="Times New Roman" panose="02020603050405020304" pitchFamily="18" charset="0"/>
                <a:ea typeface="宋体" pitchFamily="2" charset="-122"/>
                <a:sym typeface="+mn-ea"/>
              </a:rPr>
              <a:t>赵梦源</a:t>
            </a:r>
            <a:r>
              <a:rPr lang="en-US" altLang="zh-CN" sz="1600">
                <a:latin typeface="Times New Roman" panose="02020603050405020304" pitchFamily="18" charset="0"/>
                <a:ea typeface="宋体" pitchFamily="2" charset="-122"/>
                <a:sym typeface="+mn-ea"/>
              </a:rPr>
              <a:t>. </a:t>
            </a:r>
            <a:r>
              <a:rPr lang="zh-CN" altLang="en-US" sz="1600">
                <a:latin typeface="Times New Roman" panose="02020603050405020304" pitchFamily="18" charset="0"/>
                <a:ea typeface="宋体" pitchFamily="2" charset="-122"/>
                <a:sym typeface="+mn-ea"/>
              </a:rPr>
              <a:t>中国文化</a:t>
            </a:r>
            <a:r>
              <a:rPr lang="en-US" altLang="zh-CN" sz="1600">
                <a:latin typeface="Times New Roman" panose="02020603050405020304" pitchFamily="18" charset="0"/>
                <a:ea typeface="宋体" pitchFamily="2" charset="-122"/>
                <a:sym typeface="+mn-ea"/>
              </a:rPr>
              <a:t> “</a:t>
            </a:r>
            <a:r>
              <a:rPr lang="zh-CN" altLang="en-US" sz="1600">
                <a:latin typeface="Times New Roman" panose="02020603050405020304" pitchFamily="18" charset="0"/>
                <a:ea typeface="宋体" pitchFamily="2" charset="-122"/>
                <a:sym typeface="+mn-ea"/>
              </a:rPr>
              <a:t>走出去</a:t>
            </a:r>
            <a:r>
              <a:rPr lang="en-US" altLang="zh-CN" sz="1600">
                <a:latin typeface="Times New Roman" panose="02020603050405020304" pitchFamily="18" charset="0"/>
                <a:ea typeface="宋体" pitchFamily="2" charset="-122"/>
                <a:sym typeface="+mn-ea"/>
              </a:rPr>
              <a:t>” </a:t>
            </a:r>
            <a:r>
              <a:rPr lang="zh-CN" altLang="en-US" sz="1600">
                <a:latin typeface="Times New Roman" panose="02020603050405020304" pitchFamily="18" charset="0"/>
                <a:ea typeface="宋体" pitchFamily="2" charset="-122"/>
                <a:sym typeface="+mn-ea"/>
              </a:rPr>
              <a:t>背景下的网文出海研究</a:t>
            </a:r>
            <a:r>
              <a:rPr lang="en-US" altLang="zh-CN" sz="1600">
                <a:latin typeface="Times New Roman" panose="02020603050405020304" pitchFamily="18" charset="0"/>
                <a:ea typeface="宋体" pitchFamily="2" charset="-122"/>
                <a:sym typeface="+mn-ea"/>
              </a:rPr>
              <a:t>——</a:t>
            </a:r>
            <a:r>
              <a:rPr lang="zh-CN" altLang="en-US" sz="1600">
                <a:latin typeface="Times New Roman" panose="02020603050405020304" pitchFamily="18" charset="0"/>
                <a:ea typeface="宋体" pitchFamily="2" charset="-122"/>
                <a:sym typeface="+mn-ea"/>
              </a:rPr>
              <a:t>以《三生三世十里桃花》外译为例</a:t>
            </a:r>
            <a:r>
              <a:rPr lang="en-US" altLang="zh-CN" sz="1600">
                <a:latin typeface="Times New Roman" panose="02020603050405020304" pitchFamily="18" charset="0"/>
                <a:ea typeface="宋体" pitchFamily="2" charset="-122"/>
                <a:sym typeface="+mn-ea"/>
              </a:rPr>
              <a:t>[J]. </a:t>
            </a:r>
            <a:r>
              <a:rPr lang="zh-CN" altLang="en-US" sz="1600">
                <a:latin typeface="Times New Roman" panose="02020603050405020304" pitchFamily="18" charset="0"/>
                <a:ea typeface="宋体" pitchFamily="2" charset="-122"/>
                <a:sym typeface="+mn-ea"/>
              </a:rPr>
              <a:t>新阅读</a:t>
            </a:r>
            <a:r>
              <a:rPr lang="en-US" altLang="zh-CN" sz="1600">
                <a:latin typeface="Times New Roman" panose="02020603050405020304" pitchFamily="18" charset="0"/>
                <a:ea typeface="宋体" pitchFamily="2" charset="-122"/>
                <a:sym typeface="+mn-ea"/>
              </a:rPr>
              <a:t>, 2020, (8): 59-62.</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sym typeface="+mn-ea"/>
              </a:rPr>
              <a:t>[27] </a:t>
            </a:r>
            <a:r>
              <a:rPr lang="zh-CN" altLang="en-US" sz="1600">
                <a:latin typeface="Times New Roman" panose="02020603050405020304" pitchFamily="18" charset="0"/>
                <a:ea typeface="宋体" pitchFamily="2" charset="-122"/>
                <a:sym typeface="+mn-ea"/>
              </a:rPr>
              <a:t>欧阳友权</a:t>
            </a:r>
            <a:r>
              <a:rPr lang="en-US" altLang="zh-CN" sz="1600">
                <a:latin typeface="Times New Roman" panose="02020603050405020304" pitchFamily="18" charset="0"/>
                <a:ea typeface="宋体" pitchFamily="2" charset="-122"/>
                <a:sym typeface="+mn-ea"/>
              </a:rPr>
              <a:t>. </a:t>
            </a:r>
            <a:r>
              <a:rPr lang="zh-CN" altLang="en-US" sz="1600">
                <a:latin typeface="Times New Roman" panose="02020603050405020304" pitchFamily="18" charset="0"/>
                <a:ea typeface="宋体" pitchFamily="2" charset="-122"/>
                <a:sym typeface="+mn-ea"/>
              </a:rPr>
              <a:t>重写文学史与网络文学</a:t>
            </a:r>
            <a:r>
              <a:rPr lang="en-US" altLang="zh-CN" sz="1600">
                <a:latin typeface="Times New Roman" panose="02020603050405020304" pitchFamily="18" charset="0"/>
                <a:ea typeface="宋体" pitchFamily="2" charset="-122"/>
                <a:sym typeface="+mn-ea"/>
              </a:rPr>
              <a:t>“</a:t>
            </a:r>
            <a:r>
              <a:rPr lang="zh-CN" altLang="en-US" sz="1600">
                <a:latin typeface="Times New Roman" panose="02020603050405020304" pitchFamily="18" charset="0"/>
                <a:ea typeface="宋体" pitchFamily="2" charset="-122"/>
                <a:sym typeface="+mn-ea"/>
              </a:rPr>
              <a:t>入史</a:t>
            </a:r>
            <a:r>
              <a:rPr lang="en-US" altLang="zh-CN" sz="1600">
                <a:latin typeface="Times New Roman" panose="02020603050405020304" pitchFamily="18" charset="0"/>
                <a:ea typeface="宋体" pitchFamily="2" charset="-122"/>
                <a:sym typeface="+mn-ea"/>
              </a:rPr>
              <a:t>”</a:t>
            </a:r>
            <a:r>
              <a:rPr lang="zh-CN" altLang="en-US" sz="1600">
                <a:latin typeface="Times New Roman" panose="02020603050405020304" pitchFamily="18" charset="0"/>
                <a:ea typeface="宋体" pitchFamily="2" charset="-122"/>
                <a:sym typeface="+mn-ea"/>
              </a:rPr>
              <a:t>问题</a:t>
            </a:r>
            <a:r>
              <a:rPr lang="en-US" altLang="zh-CN" sz="1600">
                <a:latin typeface="Times New Roman" panose="02020603050405020304" pitchFamily="18" charset="0"/>
                <a:ea typeface="宋体" pitchFamily="2" charset="-122"/>
                <a:sym typeface="+mn-ea"/>
              </a:rPr>
              <a:t>[J]. </a:t>
            </a:r>
            <a:r>
              <a:rPr lang="zh-CN" altLang="en-US" sz="1600">
                <a:latin typeface="Times New Roman" panose="02020603050405020304" pitchFamily="18" charset="0"/>
                <a:ea typeface="宋体" pitchFamily="2" charset="-122"/>
                <a:sym typeface="+mn-ea"/>
              </a:rPr>
              <a:t>河北学刊</a:t>
            </a:r>
            <a:r>
              <a:rPr lang="en-US" altLang="zh-CN" sz="1600">
                <a:latin typeface="Times New Roman" panose="02020603050405020304" pitchFamily="18" charset="0"/>
                <a:ea typeface="宋体" pitchFamily="2" charset="-122"/>
                <a:sym typeface="+mn-ea"/>
              </a:rPr>
              <a:t>, 2013, (5): 8-12.</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sym typeface="+mn-ea"/>
              </a:rPr>
              <a:t>[28] </a:t>
            </a:r>
            <a:r>
              <a:rPr lang="zh-CN" altLang="en-US" sz="1600">
                <a:latin typeface="Times New Roman" panose="02020603050405020304" pitchFamily="18" charset="0"/>
                <a:ea typeface="宋体" pitchFamily="2" charset="-122"/>
                <a:sym typeface="+mn-ea"/>
              </a:rPr>
              <a:t>欧阳友权</a:t>
            </a:r>
            <a:r>
              <a:rPr lang="en-US" altLang="zh-CN" sz="1600">
                <a:latin typeface="Times New Roman" panose="02020603050405020304" pitchFamily="18" charset="0"/>
                <a:ea typeface="宋体" pitchFamily="2" charset="-122"/>
                <a:sym typeface="+mn-ea"/>
              </a:rPr>
              <a:t>. </a:t>
            </a:r>
            <a:r>
              <a:rPr lang="zh-CN" altLang="en-US" sz="1600">
                <a:latin typeface="Times New Roman" panose="02020603050405020304" pitchFamily="18" charset="0"/>
                <a:ea typeface="宋体" pitchFamily="2" charset="-122"/>
                <a:sym typeface="+mn-ea"/>
              </a:rPr>
              <a:t>网络文学概论</a:t>
            </a:r>
            <a:r>
              <a:rPr lang="en-US" altLang="zh-CN" sz="1600">
                <a:latin typeface="Times New Roman" panose="02020603050405020304" pitchFamily="18" charset="0"/>
                <a:ea typeface="宋体" pitchFamily="2" charset="-122"/>
                <a:sym typeface="+mn-ea"/>
              </a:rPr>
              <a:t>[M]. </a:t>
            </a:r>
            <a:r>
              <a:rPr lang="zh-CN" altLang="en-US" sz="1600">
                <a:latin typeface="Times New Roman" panose="02020603050405020304" pitchFamily="18" charset="0"/>
                <a:ea typeface="宋体" pitchFamily="2" charset="-122"/>
                <a:sym typeface="+mn-ea"/>
              </a:rPr>
              <a:t>北京</a:t>
            </a:r>
            <a:r>
              <a:rPr lang="en-US" altLang="zh-CN" sz="1600">
                <a:latin typeface="Times New Roman" panose="02020603050405020304" pitchFamily="18" charset="0"/>
                <a:ea typeface="宋体" pitchFamily="2" charset="-122"/>
                <a:sym typeface="+mn-ea"/>
              </a:rPr>
              <a:t>: </a:t>
            </a:r>
            <a:r>
              <a:rPr lang="zh-CN" altLang="en-US" sz="1600">
                <a:latin typeface="Times New Roman" panose="02020603050405020304" pitchFamily="18" charset="0"/>
                <a:ea typeface="宋体" pitchFamily="2" charset="-122"/>
                <a:sym typeface="+mn-ea"/>
              </a:rPr>
              <a:t>北京大学出版社</a:t>
            </a:r>
            <a:r>
              <a:rPr lang="en-US" altLang="zh-CN" sz="1600">
                <a:latin typeface="Times New Roman" panose="02020603050405020304" pitchFamily="18" charset="0"/>
                <a:ea typeface="宋体" pitchFamily="2" charset="-122"/>
                <a:sym typeface="+mn-ea"/>
              </a:rPr>
              <a:t>, 2008.</a:t>
            </a:r>
            <a:endParaRPr lang="en-US" altLang="zh-CN" sz="1600">
              <a:latin typeface="Times New Roman" panose="02020603050405020304" pitchFamily="18" charset="0"/>
              <a:ea typeface="宋体" pitchFamily="2" charset="-122"/>
              <a:sym typeface="+mn-ea"/>
            </a:endParaRPr>
          </a:p>
          <a:p>
            <a:pPr algn="just" eaLnBrk="1" hangingPunct="1">
              <a:spcBef>
                <a:spcPts val="240"/>
              </a:spcBef>
              <a:buNone/>
            </a:pPr>
            <a:r>
              <a:rPr lang="en-US" altLang="zh-CN" sz="1600">
                <a:latin typeface="Times New Roman" panose="02020603050405020304" pitchFamily="18" charset="0"/>
                <a:ea typeface="宋体" pitchFamily="2" charset="-122"/>
                <a:sym typeface="+mn-ea"/>
              </a:rPr>
              <a:t>[29] </a:t>
            </a:r>
            <a:r>
              <a:rPr lang="zh-CN" altLang="en-US" sz="1600">
                <a:latin typeface="Times New Roman" panose="02020603050405020304" pitchFamily="18" charset="0"/>
                <a:ea typeface="宋体" pitchFamily="2" charset="-122"/>
              </a:rPr>
              <a:t>王璐璐</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全球文化消费视角下中国网络文学海外传播研究</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以</a:t>
            </a:r>
            <a:r>
              <a:rPr lang="en-US" altLang="zh-CN" sz="1600">
                <a:latin typeface="Times New Roman" panose="02020603050405020304" pitchFamily="18" charset="0"/>
                <a:ea typeface="宋体" pitchFamily="2" charset="-122"/>
              </a:rPr>
              <a:t> Wuxiaworld</a:t>
            </a:r>
            <a:r>
              <a:rPr lang="zh-CN" altLang="en-US" sz="1600">
                <a:latin typeface="Times New Roman" panose="02020603050405020304" pitchFamily="18" charset="0"/>
                <a:ea typeface="宋体" pitchFamily="2" charset="-122"/>
              </a:rPr>
              <a:t>为例</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出版发行研究</a:t>
            </a:r>
            <a:r>
              <a:rPr lang="en-US" altLang="zh-CN" sz="1600">
                <a:latin typeface="Times New Roman" panose="02020603050405020304" pitchFamily="18" charset="0"/>
                <a:ea typeface="宋体" pitchFamily="2" charset="-122"/>
              </a:rPr>
              <a:t>, 2018, (1): 74-78.</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[30] </a:t>
            </a:r>
            <a:r>
              <a:rPr lang="zh-CN" altLang="en-US" sz="1600">
                <a:latin typeface="Times New Roman" panose="02020603050405020304" pitchFamily="18" charset="0"/>
                <a:ea typeface="宋体" pitchFamily="2" charset="-122"/>
              </a:rPr>
              <a:t>万金</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网络武侠小说在英语世界的传播</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以翻译网站</a:t>
            </a:r>
            <a:r>
              <a:rPr lang="en-US" altLang="zh-CN" sz="1600">
                <a:latin typeface="Times New Roman" panose="02020603050405020304" pitchFamily="18" charset="0"/>
                <a:ea typeface="宋体" pitchFamily="2" charset="-122"/>
              </a:rPr>
              <a:t>Wuxiaworld</a:t>
            </a:r>
            <a:r>
              <a:rPr lang="zh-CN" altLang="en-US" sz="1600">
                <a:latin typeface="Times New Roman" panose="02020603050405020304" pitchFamily="18" charset="0"/>
                <a:ea typeface="宋体" pitchFamily="2" charset="-122"/>
              </a:rPr>
              <a:t>为例</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东方翻译</a:t>
            </a:r>
            <a:r>
              <a:rPr lang="en-US" altLang="zh-CN" sz="1600">
                <a:latin typeface="Times New Roman" panose="02020603050405020304" pitchFamily="18" charset="0"/>
                <a:ea typeface="宋体" pitchFamily="2" charset="-122"/>
              </a:rPr>
              <a:t>, 2017, (5): 27-33.</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[31] </a:t>
            </a:r>
            <a:r>
              <a:rPr lang="zh-CN" altLang="en-US" sz="1600">
                <a:latin typeface="Times New Roman" panose="02020603050405020304" pitchFamily="18" charset="0"/>
                <a:ea typeface="宋体" pitchFamily="2" charset="-122"/>
              </a:rPr>
              <a:t>王岫庐</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行动者网络翻译研究</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上海翻译</a:t>
            </a:r>
            <a:r>
              <a:rPr lang="en-US" altLang="zh-CN" sz="1600">
                <a:latin typeface="Times New Roman" panose="02020603050405020304" pitchFamily="18" charset="0"/>
                <a:ea typeface="宋体" pitchFamily="2" charset="-122"/>
              </a:rPr>
              <a:t>, 2019, (2): 14-20.</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[32] </a:t>
            </a:r>
            <a:r>
              <a:rPr lang="zh-CN" altLang="en-US" sz="1600">
                <a:latin typeface="Times New Roman" panose="02020603050405020304" pitchFamily="18" charset="0"/>
                <a:ea typeface="宋体" pitchFamily="2" charset="-122"/>
              </a:rPr>
              <a:t>王岫庐</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行动者网络理论视角下的田汉译剧《沙乐美》研究</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翻译季刊</a:t>
            </a:r>
            <a:r>
              <a:rPr lang="en-US" altLang="zh-CN" sz="1600">
                <a:latin typeface="Times New Roman" panose="02020603050405020304" pitchFamily="18" charset="0"/>
                <a:ea typeface="宋体" pitchFamily="2" charset="-122"/>
              </a:rPr>
              <a:t>, 2017, (85): 51-70.</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[33] </a:t>
            </a:r>
            <a:r>
              <a:rPr lang="zh-CN" altLang="en-US" sz="1600">
                <a:latin typeface="Times New Roman" panose="02020603050405020304" pitchFamily="18" charset="0"/>
                <a:ea typeface="宋体" pitchFamily="2" charset="-122"/>
              </a:rPr>
              <a:t>解辰巽</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中国网文与韩国偶像剧等并称为</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世界四大文化奇观</a:t>
            </a:r>
            <a:r>
              <a:rPr lang="en-US" altLang="zh-CN" sz="1600">
                <a:latin typeface="Times New Roman" panose="02020603050405020304" pitchFamily="18" charset="0"/>
                <a:ea typeface="宋体" pitchFamily="2" charset="-122"/>
              </a:rPr>
              <a:t>”[N]. </a:t>
            </a:r>
            <a:r>
              <a:rPr lang="zh-CN" altLang="en-US" sz="1600">
                <a:latin typeface="Times New Roman" panose="02020603050405020304" pitchFamily="18" charset="0"/>
                <a:ea typeface="宋体" pitchFamily="2" charset="-122"/>
              </a:rPr>
              <a:t>北京晨报</a:t>
            </a:r>
            <a:r>
              <a:rPr lang="en-US" altLang="zh-CN" sz="1600">
                <a:latin typeface="Times New Roman" panose="02020603050405020304" pitchFamily="18" charset="0"/>
                <a:ea typeface="宋体" pitchFamily="2" charset="-122"/>
              </a:rPr>
              <a:t>, 2016-12-20.</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[34] </a:t>
            </a:r>
            <a:r>
              <a:rPr lang="zh-CN" altLang="en-US" sz="1600">
                <a:latin typeface="Times New Roman" panose="02020603050405020304" pitchFamily="18" charset="0"/>
                <a:ea typeface="宋体" pitchFamily="2" charset="-122"/>
              </a:rPr>
              <a:t>邢杰</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黎壹平</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张其帆</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拉图尔行动者网络理论对翻译研究的效用</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中国翻译</a:t>
            </a:r>
            <a:r>
              <a:rPr lang="en-US" altLang="zh-CN" sz="1600">
                <a:latin typeface="Times New Roman" panose="02020603050405020304" pitchFamily="18" charset="0"/>
                <a:ea typeface="宋体" pitchFamily="2" charset="-122"/>
              </a:rPr>
              <a:t>, 2019, (5) : 28-36.</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[35] </a:t>
            </a:r>
            <a:r>
              <a:rPr lang="zh-CN" altLang="en-US" sz="1600">
                <a:latin typeface="Times New Roman" panose="02020603050405020304" pitchFamily="18" charset="0"/>
                <a:ea typeface="宋体" pitchFamily="2" charset="-122"/>
              </a:rPr>
              <a:t>邢杰</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袁婉</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黄静怡</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构建翻译社会生产网络</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以英译外交部网站新闻合作项目为例</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燕山大学学报</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哲学社会科学版</a:t>
            </a:r>
            <a:r>
              <a:rPr lang="en-US" altLang="zh-CN" sz="1600">
                <a:latin typeface="Times New Roman" panose="02020603050405020304" pitchFamily="18" charset="0"/>
                <a:ea typeface="宋体" pitchFamily="2" charset="-122"/>
              </a:rPr>
              <a:t>), 2023, 24(1): 44-50.</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zh-CN" altLang="en-US" sz="1600">
                <a:latin typeface="Times New Roman" panose="02020603050405020304" pitchFamily="18" charset="0"/>
                <a:ea typeface="宋体" pitchFamily="2" charset="-122"/>
              </a:rPr>
              <a:t>杨宇</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中国网络文学海外传播的思考</a:t>
            </a:r>
            <a:r>
              <a:rPr lang="en-US" altLang="zh-CN" sz="1600">
                <a:latin typeface="Times New Roman" panose="02020603050405020304" pitchFamily="18" charset="0"/>
                <a:ea typeface="宋体" pitchFamily="2" charset="-122"/>
              </a:rPr>
              <a:t>——</a:t>
            </a:r>
            <a:r>
              <a:rPr lang="zh-CN" altLang="en-US" sz="1600">
                <a:latin typeface="Times New Roman" panose="02020603050405020304" pitchFamily="18" charset="0"/>
                <a:ea typeface="宋体" pitchFamily="2" charset="-122"/>
              </a:rPr>
              <a:t>以</a:t>
            </a:r>
            <a:r>
              <a:rPr lang="en-US" altLang="zh-CN" sz="1600">
                <a:latin typeface="Times New Roman" panose="02020603050405020304" pitchFamily="18" charset="0"/>
                <a:ea typeface="宋体" pitchFamily="2" charset="-122"/>
              </a:rPr>
              <a:t>Wuxiaworld</a:t>
            </a:r>
            <a:r>
              <a:rPr lang="zh-CN" altLang="en-US" sz="1600">
                <a:latin typeface="Times New Roman" panose="02020603050405020304" pitchFamily="18" charset="0"/>
                <a:ea typeface="宋体" pitchFamily="2" charset="-122"/>
              </a:rPr>
              <a:t>为例</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传播与版权</a:t>
            </a:r>
            <a:r>
              <a:rPr lang="en-US" altLang="zh-CN" sz="1600">
                <a:latin typeface="Times New Roman" panose="02020603050405020304" pitchFamily="18" charset="0"/>
                <a:ea typeface="宋体" pitchFamily="2" charset="-122"/>
              </a:rPr>
              <a:t>, 2020, (2): 8-10.</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[36] </a:t>
            </a:r>
            <a:r>
              <a:rPr lang="zh-CN" altLang="en-US" sz="1600">
                <a:latin typeface="Times New Roman" panose="02020603050405020304" pitchFamily="18" charset="0"/>
                <a:ea typeface="宋体" pitchFamily="2" charset="-122"/>
              </a:rPr>
              <a:t>詹成</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张晗</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行动者网络理论视阈下的国家翻译实践研究</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中国外语</a:t>
            </a:r>
            <a:r>
              <a:rPr lang="en-US" altLang="zh-CN" sz="1600">
                <a:latin typeface="Times New Roman" panose="02020603050405020304" pitchFamily="18" charset="0"/>
                <a:ea typeface="宋体" pitchFamily="2" charset="-122"/>
              </a:rPr>
              <a:t>, 2023, 20(5): 96-102.</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[37] </a:t>
            </a:r>
            <a:r>
              <a:rPr lang="zh-CN" altLang="en-US" sz="1600">
                <a:latin typeface="Times New Roman" panose="02020603050405020304" pitchFamily="18" charset="0"/>
                <a:ea typeface="宋体" pitchFamily="2" charset="-122"/>
              </a:rPr>
              <a:t>中国互联网信息中心</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第</a:t>
            </a:r>
            <a:r>
              <a:rPr lang="en-US" altLang="zh-CN" sz="1600">
                <a:latin typeface="Times New Roman" panose="02020603050405020304" pitchFamily="18" charset="0"/>
                <a:ea typeface="宋体" pitchFamily="2" charset="-122"/>
              </a:rPr>
              <a:t>55</a:t>
            </a:r>
            <a:r>
              <a:rPr lang="zh-CN" altLang="en-US" sz="1600">
                <a:latin typeface="Times New Roman" panose="02020603050405020304" pitchFamily="18" charset="0"/>
                <a:ea typeface="宋体" pitchFamily="2" charset="-122"/>
              </a:rPr>
              <a:t>次中国互联网络发展状况统计报告</a:t>
            </a:r>
            <a:r>
              <a:rPr lang="en-US" altLang="zh-CN" sz="1600">
                <a:latin typeface="Times New Roman" panose="02020603050405020304" pitchFamily="18" charset="0"/>
                <a:ea typeface="宋体" pitchFamily="2" charset="-122"/>
              </a:rPr>
              <a:t>[R]. (2025-01-17) [2025-02-21]. https://cnnic.cn/n4/2025/0117/c208-11228.html</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[38] </a:t>
            </a:r>
            <a:r>
              <a:rPr lang="zh-CN" altLang="en-US" sz="1600">
                <a:latin typeface="Times New Roman" panose="02020603050405020304" pitchFamily="18" charset="0"/>
                <a:ea typeface="宋体" pitchFamily="2" charset="-122"/>
              </a:rPr>
              <a:t>中国社会科学院文学研究所</a:t>
            </a:r>
            <a:r>
              <a:rPr lang="en-US" altLang="zh-CN" sz="1600">
                <a:latin typeface="Times New Roman" panose="02020603050405020304" pitchFamily="18" charset="0"/>
                <a:ea typeface="宋体" pitchFamily="2" charset="-122"/>
              </a:rPr>
              <a:t>.2023</a:t>
            </a:r>
            <a:r>
              <a:rPr lang="zh-CN" altLang="en-US" sz="1600">
                <a:latin typeface="Times New Roman" panose="02020603050405020304" pitchFamily="18" charset="0"/>
                <a:ea typeface="宋体" pitchFamily="2" charset="-122"/>
              </a:rPr>
              <a:t>中国网络文学发展研究报告</a:t>
            </a:r>
            <a:r>
              <a:rPr lang="en-US" altLang="zh-CN" sz="1600">
                <a:latin typeface="Times New Roman" panose="02020603050405020304" pitchFamily="18" charset="0"/>
                <a:ea typeface="宋体" pitchFamily="2" charset="-122"/>
              </a:rPr>
              <a:t>[R]. (2024-2-27) [2024-5-21]. http://literature.cass.cn/xjdt/lbt/202402/t20240229_5735756.shtml</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[39] </a:t>
            </a:r>
            <a:r>
              <a:rPr lang="zh-CN" altLang="en-US" sz="1600">
                <a:latin typeface="Times New Roman" panose="02020603050405020304" pitchFamily="18" charset="0"/>
                <a:ea typeface="宋体" pitchFamily="2" charset="-122"/>
              </a:rPr>
              <a:t>郑剑委</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翻译出版生产中的译者行为体系研究</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解放军外国语学院学报</a:t>
            </a:r>
            <a:r>
              <a:rPr lang="en-US" altLang="zh-CN" sz="1600">
                <a:latin typeface="Times New Roman" panose="02020603050405020304" pitchFamily="18" charset="0"/>
                <a:ea typeface="宋体" pitchFamily="2" charset="-122"/>
              </a:rPr>
              <a:t>, 2021, (1): 113-120.</a:t>
            </a:r>
            <a:endParaRPr lang="en-US" altLang="zh-CN" sz="1600">
              <a:latin typeface="Times New Roman" panose="02020603050405020304" pitchFamily="18" charset="0"/>
              <a:ea typeface="宋体" pitchFamily="2" charset="-122"/>
            </a:endParaRPr>
          </a:p>
          <a:p>
            <a:pPr algn="just" eaLnBrk="1" hangingPunct="1">
              <a:spcBef>
                <a:spcPts val="240"/>
              </a:spcBef>
              <a:buNone/>
            </a:pPr>
            <a:r>
              <a:rPr lang="en-US" altLang="zh-CN" sz="1600">
                <a:latin typeface="Times New Roman" panose="02020603050405020304" pitchFamily="18" charset="0"/>
                <a:ea typeface="宋体" pitchFamily="2" charset="-122"/>
              </a:rPr>
              <a:t>[40] </a:t>
            </a:r>
            <a:r>
              <a:rPr lang="zh-CN" altLang="en-US" sz="1600">
                <a:latin typeface="Times New Roman" panose="02020603050405020304" pitchFamily="18" charset="0"/>
                <a:ea typeface="宋体" pitchFamily="2" charset="-122"/>
              </a:rPr>
              <a:t>仲伟合</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冯曼</a:t>
            </a:r>
            <a:r>
              <a:rPr lang="en-US" altLang="zh-CN" sz="1600">
                <a:latin typeface="Times New Roman" panose="02020603050405020304" pitchFamily="18" charset="0"/>
                <a:ea typeface="宋体" pitchFamily="2" charset="-122"/>
              </a:rPr>
              <a:t>. </a:t>
            </a:r>
            <a:r>
              <a:rPr lang="zh-CN" altLang="en-US" sz="1600">
                <a:latin typeface="Times New Roman" panose="02020603050405020304" pitchFamily="18" charset="0"/>
                <a:ea typeface="宋体" pitchFamily="2" charset="-122"/>
              </a:rPr>
              <a:t>翻译社会学视角下文化外译研究体系的建构</a:t>
            </a:r>
            <a:r>
              <a:rPr lang="en-US" altLang="zh-CN" sz="1600">
                <a:latin typeface="Times New Roman" panose="02020603050405020304" pitchFamily="18" charset="0"/>
                <a:ea typeface="宋体" pitchFamily="2" charset="-122"/>
              </a:rPr>
              <a:t>[J]. </a:t>
            </a:r>
            <a:r>
              <a:rPr lang="zh-CN" altLang="en-US" sz="1600">
                <a:latin typeface="Times New Roman" panose="02020603050405020304" pitchFamily="18" charset="0"/>
                <a:ea typeface="宋体" pitchFamily="2" charset="-122"/>
              </a:rPr>
              <a:t>外语研究</a:t>
            </a:r>
            <a:r>
              <a:rPr lang="en-US" altLang="zh-CN" sz="1600">
                <a:latin typeface="Times New Roman" panose="02020603050405020304" pitchFamily="18" charset="0"/>
                <a:ea typeface="宋体" pitchFamily="2" charset="-122"/>
              </a:rPr>
              <a:t>, 2014, (3): 57-62. </a:t>
            </a:r>
            <a:endParaRPr lang="en-US" altLang="zh-CN" sz="1600">
              <a:latin typeface="Times New Roman" panose="02020603050405020304" pitchFamily="18" charset="0"/>
              <a:ea typeface="宋体" pitchFamily="2" charset="-122"/>
            </a:endParaRPr>
          </a:p>
          <a:p>
            <a:pPr algn="just" eaLnBrk="1" hangingPunct="1">
              <a:spcBef>
                <a:spcPts val="240"/>
              </a:spcBef>
              <a:buNone/>
            </a:pPr>
            <a:endParaRPr lang="en-US" altLang="zh-CN" sz="1600">
              <a:latin typeface="Times New Roman" panose="02020603050405020304" pitchFamily="18" charset="0"/>
              <a:ea typeface="宋体" pitchFamily="2" charset="-122"/>
            </a:endParaRPr>
          </a:p>
          <a:p>
            <a:pPr algn="just" eaLnBrk="1" hangingPunct="1">
              <a:spcBef>
                <a:spcPts val="240"/>
              </a:spcBef>
              <a:buNone/>
            </a:pPr>
            <a:endParaRPr lang="en-US" altLang="zh-CN" sz="1600">
              <a:latin typeface="Times New Roman" panose="02020603050405020304" pitchFamily="18" charset="0"/>
              <a:ea typeface="宋体" pitchFamily="2" charset="-122"/>
            </a:endParaRPr>
          </a:p>
          <a:p>
            <a:pPr algn="just" eaLnBrk="1" hangingPunct="1">
              <a:spcBef>
                <a:spcPts val="240"/>
              </a:spcBef>
              <a:buNone/>
            </a:pPr>
            <a:endParaRPr lang="en-US" altLang="zh-CN" sz="1600">
              <a:latin typeface="Times New Roman" panose="02020603050405020304" pitchFamily="18" charset="0"/>
              <a:ea typeface="宋体"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314700" y="2125663"/>
            <a:ext cx="5995988" cy="2009775"/>
          </a:xfrm>
          <a:prstGeom prst="rect">
            <a:avLst/>
          </a:prstGeom>
          <a:noFill/>
          <a:ln w="9525">
            <a:noFill/>
          </a:ln>
        </p:spPr>
        <p:txBody>
          <a:bodyPr>
            <a:spAutoFit/>
          </a:bodyPr>
          <a:p>
            <a:pPr algn="ctr" eaLnBrk="1" hangingPunct="1">
              <a:lnSpc>
                <a:spcPct val="150000"/>
              </a:lnSpc>
            </a:pPr>
            <a:r>
              <a:rPr lang="en-US" altLang="zh-CN" sz="9600">
                <a:solidFill>
                  <a:srgbClr val="2A3D52"/>
                </a:solidFill>
                <a:latin typeface="Impact" panose="020B0806030902050204" pitchFamily="34" charset="0"/>
                <a:ea typeface="微软雅黑" pitchFamily="34" charset="-122"/>
              </a:rPr>
              <a:t>THANK</a:t>
            </a:r>
            <a:r>
              <a:rPr lang="zh-CN" altLang="en-US" sz="9600">
                <a:solidFill>
                  <a:srgbClr val="2A3D52"/>
                </a:solidFill>
                <a:latin typeface="Impact" panose="020B0806030902050204" pitchFamily="34" charset="0"/>
                <a:ea typeface="微软雅黑" pitchFamily="34" charset="-122"/>
              </a:rPr>
              <a:t> </a:t>
            </a:r>
            <a:r>
              <a:rPr lang="en-US" altLang="zh-CN" sz="9600">
                <a:solidFill>
                  <a:srgbClr val="2A3D52"/>
                </a:solidFill>
                <a:latin typeface="Impact" panose="020B0806030902050204" pitchFamily="34" charset="0"/>
                <a:ea typeface="微软雅黑" pitchFamily="34" charset="-122"/>
              </a:rPr>
              <a:t>YOU</a:t>
            </a:r>
            <a:endParaRPr lang="en-US" altLang="zh-CN" sz="9600">
              <a:solidFill>
                <a:srgbClr val="2A3D52"/>
              </a:solidFill>
              <a:latin typeface="Impact" panose="020B0806030902050204" pitchFamily="34" charset="0"/>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nodeType="afterEffect">
                                  <p:stCondLst>
                                    <p:cond delay="0"/>
                                  </p:stCondLst>
                                  <p:iterate type="lt">
                                    <p:tmPct val="40000"/>
                                  </p:iterate>
                                  <p:childTnLst>
                                    <p:set>
                                      <p:cBhvr>
                                        <p:cTn id="6" dur="1" fill="hold">
                                          <p:stCondLst>
                                            <p:cond delay="0"/>
                                          </p:stCondLst>
                                        </p:cTn>
                                        <p:tgtEl>
                                          <p:spTgt spid="2"/>
                                        </p:tgtEl>
                                        <p:attrNameLst>
                                          <p:attrName>style.visibility</p:attrName>
                                        </p:attrNameLst>
                                      </p:cBhvr>
                                      <p:to>
                                        <p:strVal val="visible"/>
                                      </p:to>
                                    </p:set>
                                    <p:anim calcmode="lin" valueType="num">
                                      <p:cBhvr>
                                        <p:cTn id="7" dur="250" fill="hold"/>
                                        <p:tgtEl>
                                          <p:spTgt spid="2"/>
                                        </p:tgtEl>
                                        <p:attrNameLst>
                                          <p:attrName>ppt_x</p:attrName>
                                        </p:attrNameLst>
                                      </p:cBhvr>
                                      <p:tavLst>
                                        <p:tav tm="0">
                                          <p:val>
                                            <p:strVal val="#ppt_x"/>
                                          </p:val>
                                        </p:tav>
                                        <p:tav tm="100000">
                                          <p:val>
                                            <p:strVal val="#ppt_x"/>
                                          </p:val>
                                        </p:tav>
                                      </p:tavLst>
                                    </p:anim>
                                    <p:anim calcmode="lin" valueType="num">
                                      <p:cBhvr>
                                        <p:cTn id="8" dur="250" fill="hold"/>
                                        <p:tgtEl>
                                          <p:spTgt spid="2"/>
                                        </p:tgtEl>
                                        <p:attrNameLst>
                                          <p:attrName>ppt_y</p:attrName>
                                        </p:attrNameLst>
                                      </p:cBhvr>
                                      <p:tavLst>
                                        <p:tav tm="0">
                                          <p:val>
                                            <p:strVal val="#ppt_y-#ppt_h/2"/>
                                          </p:val>
                                        </p:tav>
                                        <p:tav tm="100000">
                                          <p:val>
                                            <p:strVal val="#ppt_y"/>
                                          </p:val>
                                        </p:tav>
                                      </p:tavLst>
                                    </p:anim>
                                    <p:anim calcmode="lin" valueType="num">
                                      <p:cBhvr>
                                        <p:cTn id="9" dur="250" fill="hold"/>
                                        <p:tgtEl>
                                          <p:spTgt spid="2"/>
                                        </p:tgtEl>
                                        <p:attrNameLst>
                                          <p:attrName>ppt_w</p:attrName>
                                        </p:attrNameLst>
                                      </p:cBhvr>
                                      <p:tavLst>
                                        <p:tav tm="0">
                                          <p:val>
                                            <p:strVal val="#ppt_w"/>
                                          </p:val>
                                        </p:tav>
                                        <p:tav tm="100000">
                                          <p:val>
                                            <p:strVal val="#ppt_w"/>
                                          </p:val>
                                        </p:tav>
                                      </p:tavLst>
                                    </p:anim>
                                    <p:anim calcmode="lin" valueType="num">
                                      <p:cBhvr>
                                        <p:cTn id="10" dur="25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p="http://schemas.openxmlformats.org/presentationml/2006/main">
  <p:tag name="KSO_WM_UNIT_PLACING_PICTURE_USER_VIEWPORT" val="{&quot;height&quot;:1672,&quot;width&quot;:1723}"/>
</p:tagLst>
</file>

<file path=ppt/tags/tag2.xml><?xml version="1.0" encoding="utf-8"?>
<p:tagLst xmlns:p="http://schemas.openxmlformats.org/presentationml/2006/main">
  <p:tag name="KSO_WM_UNIT_PLACING_PICTURE_USER_VIEWPORT" val="{&quot;height&quot;:1672,&quot;width&quot;:1723}"/>
</p:tagLst>
</file>

<file path=ppt/tags/tag3.xml><?xml version="1.0" encoding="utf-8"?>
<p:tagLst xmlns:p="http://schemas.openxmlformats.org/presentationml/2006/main">
  <p:tag name="KSO_WM_UNIT_PLACING_PICTURE_USER_VIEWPORT" val="{&quot;height&quot;:1672,&quot;width&quot;:1723}"/>
</p:tagLst>
</file>

<file path=ppt/tags/tag4.xml><?xml version="1.0" encoding="utf-8"?>
<p:tagLst xmlns:p="http://schemas.openxmlformats.org/presentationml/2006/main">
  <p:tag name="KSO_WM_UNIT_PLACING_PICTURE_USER_VIEWPORT" val="{&quot;height&quot;:1672,&quot;width&quot;:1723}"/>
</p:tagLst>
</file>

<file path=ppt/tags/tag5.xml><?xml version="1.0" encoding="utf-8"?>
<p:tagLst xmlns:p="http://schemas.openxmlformats.org/presentationml/2006/main">
  <p:tag name="KSO_WM_UNIT_PLACING_PICTURE_USER_VIEWPORT" val="{&quot;height&quot;:1672,&quot;width&quot;:1723}"/>
</p:tagLst>
</file>

<file path=ppt/tags/tag6.xml><?xml version="1.0" encoding="utf-8"?>
<p:tagLst xmlns:p="http://schemas.openxmlformats.org/presentationml/2006/main">
  <p:tag name="KSO_WM_UNIT_PLACING_PICTURE_USER_VIEWPORT" val="{&quot;height&quot;:1672,&quot;width&quot;:1723}"/>
</p:tagLst>
</file>

<file path=ppt/tags/tag7.xml><?xml version="1.0" encoding="utf-8"?>
<p:tagLst xmlns:p="http://schemas.openxmlformats.org/presentationml/2006/main">
  <p:tag name="KSO_WM_UNIT_PLACING_PICTURE_USER_VIEWPORT" val="{&quot;height&quot;:1672,&quot;width&quot;:172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达芬奇的左手">
      <a:dk1>
        <a:srgbClr val="000000"/>
      </a:dk1>
      <a:lt1>
        <a:srgbClr val="FFFFFF"/>
      </a:lt1>
      <a:dk2>
        <a:srgbClr val="44546A"/>
      </a:dk2>
      <a:lt2>
        <a:srgbClr val="E7E6E6"/>
      </a:lt2>
      <a:accent1>
        <a:srgbClr val="2A3D52"/>
      </a:accent1>
      <a:accent2>
        <a:srgbClr val="C4AF99"/>
      </a:accent2>
      <a:accent3>
        <a:srgbClr val="5B6C83"/>
      </a:accent3>
      <a:accent4>
        <a:srgbClr val="D7CCB8"/>
      </a:accent4>
      <a:accent5>
        <a:srgbClr val="38526E"/>
      </a:accent5>
      <a:accent6>
        <a:srgbClr val="BFBFBF"/>
      </a:accent6>
      <a:hlink>
        <a:srgbClr val="2A3D52"/>
      </a:hlink>
      <a:folHlink>
        <a:srgbClr val="C4AF99"/>
      </a:folHlink>
    </a:clrScheme>
    <a:fontScheme name="Lao UI">
      <a:majorFont>
        <a:latin typeface="Lao UI"/>
        <a:ea typeface="微软雅黑"/>
        <a:cs typeface=""/>
      </a:majorFont>
      <a:minorFont>
        <a:latin typeface="Lao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14216</Words>
  <Application>WPS 文字</Application>
  <PresentationFormat>宽屏</PresentationFormat>
  <Paragraphs>340</Paragraphs>
  <Slides>24</Slides>
  <Notes>16</Notes>
  <HiddenSlides>0</HiddenSlides>
  <MMClips>0</MMClips>
  <ScaleCrop>false</ScaleCrop>
  <HeadingPairs>
    <vt:vector size="6" baseType="variant">
      <vt:variant>
        <vt:lpstr>已用的字体</vt:lpstr>
      </vt:variant>
      <vt:variant>
        <vt:i4>34</vt:i4>
      </vt:variant>
      <vt:variant>
        <vt:lpstr>主题</vt:lpstr>
      </vt:variant>
      <vt:variant>
        <vt:i4>2</vt:i4>
      </vt:variant>
      <vt:variant>
        <vt:lpstr>幻灯片标题</vt:lpstr>
      </vt:variant>
      <vt:variant>
        <vt:i4>24</vt:i4>
      </vt:variant>
    </vt:vector>
  </HeadingPairs>
  <TitlesOfParts>
    <vt:vector size="60" baseType="lpstr">
      <vt:lpstr>Arial</vt:lpstr>
      <vt:lpstr>宋体</vt:lpstr>
      <vt:lpstr>Wingdings</vt:lpstr>
      <vt:lpstr>等线</vt:lpstr>
      <vt:lpstr>汉仪中等线KW</vt:lpstr>
      <vt:lpstr>等线 Light</vt:lpstr>
      <vt:lpstr>Lao UI</vt:lpstr>
      <vt:lpstr>苹方-简</vt:lpstr>
      <vt:lpstr>微软雅黑</vt:lpstr>
      <vt:lpstr>汉仪旗黑</vt:lpstr>
      <vt:lpstr>Arial Unicode MS</vt:lpstr>
      <vt:lpstr>Calibri</vt:lpstr>
      <vt:lpstr>Times New Roman</vt:lpstr>
      <vt:lpstr>汉仪书宋二KW</vt:lpstr>
      <vt:lpstr>Times New Roman (标题 CS)</vt:lpstr>
      <vt:lpstr>Impact</vt:lpstr>
      <vt:lpstr>Times New Roman Bold</vt:lpstr>
      <vt:lpstr>DengXian</vt:lpstr>
      <vt:lpstr>楷体</vt:lpstr>
      <vt:lpstr>宋体</vt:lpstr>
      <vt:lpstr>Arial Unicode MS</vt:lpstr>
      <vt:lpstr>黑体</vt:lpstr>
      <vt:lpstr>汉仪中黑KW</vt:lpstr>
      <vt:lpstr>Times New Roman Regular</vt:lpstr>
      <vt:lpstr>Wingdings</vt:lpstr>
      <vt:lpstr>Times New Roman Italic</vt:lpstr>
      <vt:lpstr>Helvetica Neue</vt:lpstr>
      <vt:lpstr>汉仪楷体KW</vt:lpstr>
      <vt:lpstr>DengXian</vt:lpstr>
      <vt:lpstr>Times New Roman (标题 CS)</vt:lpstr>
      <vt:lpstr>微软雅黑</vt:lpstr>
      <vt:lpstr>楷体</vt:lpstr>
      <vt:lpstr>等线</vt:lpstr>
      <vt:lpstr>黑体</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ʾĸ�</dc:title>
  <dc:creator>�</dc:creator>
  <cp:lastModifiedBy>墨脱</cp:lastModifiedBy>
  <cp:revision>70</cp:revision>
  <dcterms:created xsi:type="dcterms:W3CDTF">2025-05-21T14:28:16Z</dcterms:created>
  <dcterms:modified xsi:type="dcterms:W3CDTF">2025-05-21T14:28:16Z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92419126A680F19667462B688AAF3E5E_43</vt:lpwstr>
  </property>
  <property fmtid="{D5CDD505-2E9C-101B-9397-08002B2CF9AE}" pid="3" name="KSOProductBuildVer">
    <vt:lpwstr>2052-7.2.2.8955</vt:lpwstr>
  </property>
</Properties>
</file>