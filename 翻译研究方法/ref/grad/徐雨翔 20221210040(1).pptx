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8.xml" ContentType="application/vnd.openxmlformats-officedocument.themeOverride+xml"/>
  <Override PartName="/ppt/notesSlides/notesSlide14.xml" ContentType="application/vnd.openxmlformats-officedocument.presentationml.notesSlide+xml"/>
  <Override PartName="/ppt/theme/themeOverride9.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40"/>
  </p:notesMasterIdLst>
  <p:sldIdLst>
    <p:sldId id="486" r:id="rId3"/>
    <p:sldId id="487" r:id="rId4"/>
    <p:sldId id="488" r:id="rId5"/>
    <p:sldId id="489" r:id="rId6"/>
    <p:sldId id="528" r:id="rId7"/>
    <p:sldId id="490" r:id="rId8"/>
    <p:sldId id="491" r:id="rId9"/>
    <p:sldId id="529" r:id="rId10"/>
    <p:sldId id="530" r:id="rId11"/>
    <p:sldId id="492" r:id="rId12"/>
    <p:sldId id="531" r:id="rId13"/>
    <p:sldId id="533" r:id="rId14"/>
    <p:sldId id="534" r:id="rId15"/>
    <p:sldId id="495" r:id="rId16"/>
    <p:sldId id="493" r:id="rId17"/>
    <p:sldId id="536" r:id="rId18"/>
    <p:sldId id="537" r:id="rId19"/>
    <p:sldId id="538" r:id="rId20"/>
    <p:sldId id="544" r:id="rId21"/>
    <p:sldId id="545" r:id="rId22"/>
    <p:sldId id="546" r:id="rId23"/>
    <p:sldId id="547" r:id="rId24"/>
    <p:sldId id="548" r:id="rId25"/>
    <p:sldId id="553" r:id="rId26"/>
    <p:sldId id="552" r:id="rId27"/>
    <p:sldId id="554" r:id="rId28"/>
    <p:sldId id="555" r:id="rId29"/>
    <p:sldId id="541" r:id="rId30"/>
    <p:sldId id="539" r:id="rId31"/>
    <p:sldId id="540" r:id="rId32"/>
    <p:sldId id="542" r:id="rId33"/>
    <p:sldId id="543" r:id="rId34"/>
    <p:sldId id="549" r:id="rId35"/>
    <p:sldId id="550" r:id="rId36"/>
    <p:sldId id="551" r:id="rId37"/>
    <p:sldId id="556" r:id="rId38"/>
    <p:sldId id="557" r:id="rId39"/>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BEA2D3E8-5105-4115-B743-87307FDCB181}">
          <p14:sldIdLst>
            <p14:sldId id="486"/>
            <p14:sldId id="487"/>
            <p14:sldId id="488"/>
            <p14:sldId id="489"/>
            <p14:sldId id="528"/>
            <p14:sldId id="490"/>
            <p14:sldId id="491"/>
            <p14:sldId id="529"/>
            <p14:sldId id="530"/>
            <p14:sldId id="492"/>
            <p14:sldId id="531"/>
            <p14:sldId id="533"/>
            <p14:sldId id="534"/>
            <p14:sldId id="495"/>
            <p14:sldId id="493"/>
            <p14:sldId id="536"/>
            <p14:sldId id="537"/>
            <p14:sldId id="538"/>
            <p14:sldId id="544"/>
            <p14:sldId id="545"/>
            <p14:sldId id="546"/>
            <p14:sldId id="547"/>
            <p14:sldId id="548"/>
            <p14:sldId id="553"/>
            <p14:sldId id="552"/>
            <p14:sldId id="554"/>
            <p14:sldId id="555"/>
            <p14:sldId id="541"/>
            <p14:sldId id="539"/>
            <p14:sldId id="540"/>
            <p14:sldId id="542"/>
            <p14:sldId id="543"/>
            <p14:sldId id="549"/>
            <p14:sldId id="550"/>
            <p14:sldId id="551"/>
            <p14:sldId id="556"/>
            <p14:sldId id="5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499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856" autoAdjust="0"/>
  </p:normalViewPr>
  <p:slideViewPr>
    <p:cSldViewPr snapToGrid="0">
      <p:cViewPr varScale="1">
        <p:scale>
          <a:sx n="104" d="100"/>
          <a:sy n="104" d="100"/>
        </p:scale>
        <p:origin x="816" y="96"/>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5AE98-7D00-4823-BC6C-0B3CD84CA38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43785172-4C2D-4C10-A59E-7967C3FDD141}">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Image-Text Status</a:t>
          </a:r>
          <a:endParaRPr lang="zh-CN" altLang="en-US" sz="1600" dirty="0">
            <a:latin typeface="Times New Roman" panose="02020603050405020304" pitchFamily="18" charset="0"/>
            <a:cs typeface="Times New Roman" panose="02020603050405020304" pitchFamily="18" charset="0"/>
          </a:endParaRPr>
        </a:p>
      </dgm:t>
    </dgm:pt>
    <dgm:pt modelId="{8A315576-BF94-4582-A813-E113FEAA7F72}" type="parTrans" cxnId="{1F1672AE-24F4-4D90-9683-2542BD2EA9CC}">
      <dgm:prSet/>
      <dgm:spPr/>
      <dgm:t>
        <a:bodyPr/>
        <a:lstStyle/>
        <a:p>
          <a:endParaRPr lang="zh-CN" altLang="en-US"/>
        </a:p>
      </dgm:t>
    </dgm:pt>
    <dgm:pt modelId="{B2D17866-878D-4C97-A781-49B580B1FE2B}" type="sibTrans" cxnId="{1F1672AE-24F4-4D90-9683-2542BD2EA9CC}">
      <dgm:prSet/>
      <dgm:spPr/>
      <dgm:t>
        <a:bodyPr/>
        <a:lstStyle/>
        <a:p>
          <a:endParaRPr lang="zh-CN" altLang="en-US"/>
        </a:p>
      </dgm:t>
    </dgm:pt>
    <dgm:pt modelId="{2C447B2D-35D7-4B0F-8ADD-3582D6507784}">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Equal</a:t>
          </a:r>
          <a:endParaRPr lang="zh-CN" altLang="en-US" sz="1600" dirty="0">
            <a:latin typeface="Times New Roman" panose="02020603050405020304" pitchFamily="18" charset="0"/>
            <a:cs typeface="Times New Roman" panose="02020603050405020304" pitchFamily="18" charset="0"/>
          </a:endParaRPr>
        </a:p>
      </dgm:t>
    </dgm:pt>
    <dgm:pt modelId="{57B97048-5A21-4D97-834F-85A00F15665F}" type="parTrans" cxnId="{910E3C33-9929-49E4-83D9-6CE9D4507A1E}">
      <dgm:prSet/>
      <dgm:spPr/>
      <dgm:t>
        <a:bodyPr/>
        <a:lstStyle/>
        <a:p>
          <a:endParaRPr lang="zh-CN" altLang="en-US"/>
        </a:p>
      </dgm:t>
    </dgm:pt>
    <dgm:pt modelId="{E750B6FC-A6DC-443E-A596-BA1ABCFE220C}" type="sibTrans" cxnId="{910E3C33-9929-49E4-83D9-6CE9D4507A1E}">
      <dgm:prSet/>
      <dgm:spPr/>
      <dgm:t>
        <a:bodyPr/>
        <a:lstStyle/>
        <a:p>
          <a:endParaRPr lang="zh-CN" altLang="en-US"/>
        </a:p>
      </dgm:t>
    </dgm:pt>
    <dgm:pt modelId="{9E8C524E-2997-4550-95D9-E84BE8490A4A}">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Independent</a:t>
          </a:r>
          <a:endParaRPr lang="zh-CN" altLang="en-US" sz="1600" dirty="0">
            <a:latin typeface="Times New Roman" panose="02020603050405020304" pitchFamily="18" charset="0"/>
            <a:cs typeface="Times New Roman" panose="02020603050405020304" pitchFamily="18" charset="0"/>
          </a:endParaRPr>
        </a:p>
      </dgm:t>
    </dgm:pt>
    <dgm:pt modelId="{C10093B7-D6DC-4FF4-BB67-83B7D4DE61D5}" type="parTrans" cxnId="{38C43E7A-3852-4591-9EA0-CDD2E1E8C65F}">
      <dgm:prSet>
        <dgm:style>
          <a:lnRef idx="1">
            <a:schemeClr val="dk1"/>
          </a:lnRef>
          <a:fillRef idx="0">
            <a:schemeClr val="dk1"/>
          </a:fillRef>
          <a:effectRef idx="0">
            <a:schemeClr val="dk1"/>
          </a:effectRef>
          <a:fontRef idx="minor">
            <a:schemeClr val="tx1"/>
          </a:fontRef>
        </dgm:style>
      </dgm:prSet>
      <dgm:spPr/>
      <dgm:t>
        <a:bodyPr/>
        <a:lstStyle/>
        <a:p>
          <a:endParaRPr lang="zh-CN" altLang="en-US"/>
        </a:p>
      </dgm:t>
    </dgm:pt>
    <dgm:pt modelId="{E1906B80-CDB8-4DFE-92AC-F8FE708B1348}" type="sibTrans" cxnId="{38C43E7A-3852-4591-9EA0-CDD2E1E8C65F}">
      <dgm:prSet/>
      <dgm:spPr/>
      <dgm:t>
        <a:bodyPr/>
        <a:lstStyle/>
        <a:p>
          <a:endParaRPr lang="zh-CN" altLang="en-US"/>
        </a:p>
      </dgm:t>
    </dgm:pt>
    <dgm:pt modelId="{FD2E004D-1FBF-45D3-A9C4-3E40FD1683D5}">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Complementary</a:t>
          </a:r>
          <a:endParaRPr lang="zh-CN" altLang="en-US" sz="1600" dirty="0">
            <a:latin typeface="Times New Roman" panose="02020603050405020304" pitchFamily="18" charset="0"/>
            <a:cs typeface="Times New Roman" panose="02020603050405020304" pitchFamily="18" charset="0"/>
          </a:endParaRPr>
        </a:p>
      </dgm:t>
    </dgm:pt>
    <dgm:pt modelId="{E9515863-0784-4C7B-8C62-6AD2F50735F3}" type="parTrans" cxnId="{FCCB664C-8186-4F10-A30A-C8A7BB77288B}">
      <dgm:prSet>
        <dgm:style>
          <a:lnRef idx="1">
            <a:schemeClr val="dk1"/>
          </a:lnRef>
          <a:fillRef idx="0">
            <a:schemeClr val="dk1"/>
          </a:fillRef>
          <a:effectRef idx="0">
            <a:schemeClr val="dk1"/>
          </a:effectRef>
          <a:fontRef idx="minor">
            <a:schemeClr val="tx1"/>
          </a:fontRef>
        </dgm:style>
      </dgm:prSet>
      <dgm:spPr/>
      <dgm:t>
        <a:bodyPr/>
        <a:lstStyle/>
        <a:p>
          <a:endParaRPr lang="zh-CN" altLang="en-US"/>
        </a:p>
      </dgm:t>
    </dgm:pt>
    <dgm:pt modelId="{E038D8CD-E4F3-4C03-A5CA-2E1BE41735CD}" type="sibTrans" cxnId="{FCCB664C-8186-4F10-A30A-C8A7BB77288B}">
      <dgm:prSet/>
      <dgm:spPr/>
      <dgm:t>
        <a:bodyPr/>
        <a:lstStyle/>
        <a:p>
          <a:endParaRPr lang="zh-CN" altLang="en-US"/>
        </a:p>
      </dgm:t>
    </dgm:pt>
    <dgm:pt modelId="{14A1967D-1A0A-46DF-A814-CFB4F379F919}">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Unequal</a:t>
          </a:r>
          <a:endParaRPr lang="zh-CN" altLang="en-US" sz="1600" dirty="0">
            <a:latin typeface="Times New Roman" panose="02020603050405020304" pitchFamily="18" charset="0"/>
            <a:cs typeface="Times New Roman" panose="02020603050405020304" pitchFamily="18" charset="0"/>
          </a:endParaRPr>
        </a:p>
      </dgm:t>
    </dgm:pt>
    <dgm:pt modelId="{D79D05A9-BD19-4E6B-B3FE-EFB449D8C062}" type="parTrans" cxnId="{FE236129-DAD2-4C2A-80FE-20F2964A1622}">
      <dgm:prSet/>
      <dgm:spPr/>
      <dgm:t>
        <a:bodyPr/>
        <a:lstStyle/>
        <a:p>
          <a:endParaRPr lang="zh-CN" altLang="en-US"/>
        </a:p>
      </dgm:t>
    </dgm:pt>
    <dgm:pt modelId="{A5793E28-3CF9-409E-B52E-4428DE13E842}" type="sibTrans" cxnId="{FE236129-DAD2-4C2A-80FE-20F2964A1622}">
      <dgm:prSet/>
      <dgm:spPr/>
      <dgm:t>
        <a:bodyPr/>
        <a:lstStyle/>
        <a:p>
          <a:endParaRPr lang="zh-CN" altLang="en-US"/>
        </a:p>
      </dgm:t>
    </dgm:pt>
    <dgm:pt modelId="{B0570A27-0280-4453-954C-7CB2089BE423}">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Image Subordination</a:t>
          </a:r>
          <a:endParaRPr lang="zh-CN" altLang="en-US" sz="1600" dirty="0">
            <a:latin typeface="Times New Roman" panose="02020603050405020304" pitchFamily="18" charset="0"/>
            <a:cs typeface="Times New Roman" panose="02020603050405020304" pitchFamily="18" charset="0"/>
          </a:endParaRPr>
        </a:p>
      </dgm:t>
    </dgm:pt>
    <dgm:pt modelId="{454781D8-68FB-4D49-987F-59FAC158057B}" type="parTrans" cxnId="{50C4AA21-729D-4081-8E4E-DFB0AA9155F7}">
      <dgm:prSet>
        <dgm:style>
          <a:lnRef idx="1">
            <a:schemeClr val="dk1"/>
          </a:lnRef>
          <a:fillRef idx="0">
            <a:schemeClr val="dk1"/>
          </a:fillRef>
          <a:effectRef idx="0">
            <a:schemeClr val="dk1"/>
          </a:effectRef>
          <a:fontRef idx="minor">
            <a:schemeClr val="tx1"/>
          </a:fontRef>
        </dgm:style>
      </dgm:prSet>
      <dgm:spPr/>
      <dgm:t>
        <a:bodyPr/>
        <a:lstStyle/>
        <a:p>
          <a:endParaRPr lang="zh-CN" altLang="en-US"/>
        </a:p>
      </dgm:t>
    </dgm:pt>
    <dgm:pt modelId="{063413CB-E580-40E6-9979-CBD797ED02F6}" type="sibTrans" cxnId="{50C4AA21-729D-4081-8E4E-DFB0AA9155F7}">
      <dgm:prSet/>
      <dgm:spPr/>
      <dgm:t>
        <a:bodyPr/>
        <a:lstStyle/>
        <a:p>
          <a:endParaRPr lang="zh-CN" altLang="en-US"/>
        </a:p>
      </dgm:t>
    </dgm:pt>
    <dgm:pt modelId="{C49F4174-B2CC-49EB-BFF1-98910B3B5A7F}">
      <dgm:prSet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Text Subordination</a:t>
          </a:r>
          <a:endParaRPr lang="zh-CN" altLang="en-US" sz="1600" dirty="0">
            <a:latin typeface="Times New Roman" panose="02020603050405020304" pitchFamily="18" charset="0"/>
            <a:cs typeface="Times New Roman" panose="02020603050405020304" pitchFamily="18" charset="0"/>
          </a:endParaRPr>
        </a:p>
      </dgm:t>
    </dgm:pt>
    <dgm:pt modelId="{06D6CA3C-52D1-4465-8247-B8534C2E667F}" type="parTrans" cxnId="{7FAC95D6-8219-4B06-A9AC-C4E099614FB9}">
      <dgm:prSet>
        <dgm:style>
          <a:lnRef idx="1">
            <a:schemeClr val="dk1"/>
          </a:lnRef>
          <a:fillRef idx="0">
            <a:schemeClr val="dk1"/>
          </a:fillRef>
          <a:effectRef idx="0">
            <a:schemeClr val="dk1"/>
          </a:effectRef>
          <a:fontRef idx="minor">
            <a:schemeClr val="tx1"/>
          </a:fontRef>
        </dgm:style>
      </dgm:prSet>
      <dgm:spPr/>
      <dgm:t>
        <a:bodyPr/>
        <a:lstStyle/>
        <a:p>
          <a:endParaRPr lang="zh-CN" altLang="en-US"/>
        </a:p>
      </dgm:t>
    </dgm:pt>
    <dgm:pt modelId="{E8143382-DB67-4454-BAB6-0194C6093433}" type="sibTrans" cxnId="{7FAC95D6-8219-4B06-A9AC-C4E099614FB9}">
      <dgm:prSet/>
      <dgm:spPr/>
      <dgm:t>
        <a:bodyPr/>
        <a:lstStyle/>
        <a:p>
          <a:endParaRPr lang="zh-CN" altLang="en-US"/>
        </a:p>
      </dgm:t>
    </dgm:pt>
    <dgm:pt modelId="{8B5ADD04-8551-44E6-97BB-0FB736F1EF38}" type="pres">
      <dgm:prSet presAssocID="{D555AE98-7D00-4823-BC6C-0B3CD84CA387}" presName="diagram" presStyleCnt="0">
        <dgm:presLayoutVars>
          <dgm:chPref val="1"/>
          <dgm:dir/>
          <dgm:animOne val="branch"/>
          <dgm:animLvl val="lvl"/>
          <dgm:resizeHandles val="exact"/>
        </dgm:presLayoutVars>
      </dgm:prSet>
      <dgm:spPr/>
    </dgm:pt>
    <dgm:pt modelId="{932893A4-7320-4E76-96F8-3227F95A9F30}" type="pres">
      <dgm:prSet presAssocID="{43785172-4C2D-4C10-A59E-7967C3FDD141}" presName="root1" presStyleCnt="0"/>
      <dgm:spPr/>
    </dgm:pt>
    <dgm:pt modelId="{4C9F443F-7E83-41C9-A183-596417453D96}" type="pres">
      <dgm:prSet presAssocID="{43785172-4C2D-4C10-A59E-7967C3FDD141}" presName="LevelOneTextNode" presStyleLbl="node0" presStyleIdx="0" presStyleCnt="1">
        <dgm:presLayoutVars>
          <dgm:chPref val="3"/>
        </dgm:presLayoutVars>
      </dgm:prSet>
      <dgm:spPr/>
    </dgm:pt>
    <dgm:pt modelId="{C1855A3C-67B1-4431-8C29-212B23327EA0}" type="pres">
      <dgm:prSet presAssocID="{43785172-4C2D-4C10-A59E-7967C3FDD141}" presName="level2hierChild" presStyleCnt="0"/>
      <dgm:spPr/>
    </dgm:pt>
    <dgm:pt modelId="{FFA4DC21-FA41-43D1-877E-D9222CBAA376}" type="pres">
      <dgm:prSet presAssocID="{57B97048-5A21-4D97-834F-85A00F15665F}" presName="conn2-1" presStyleLbl="parChTrans1D2" presStyleIdx="0" presStyleCnt="2"/>
      <dgm:spPr/>
    </dgm:pt>
    <dgm:pt modelId="{BEBB7114-A415-4768-BCE8-DD558361B584}" type="pres">
      <dgm:prSet presAssocID="{57B97048-5A21-4D97-834F-85A00F15665F}" presName="connTx" presStyleLbl="parChTrans1D2" presStyleIdx="0" presStyleCnt="2"/>
      <dgm:spPr/>
    </dgm:pt>
    <dgm:pt modelId="{58B4FF4E-06F6-4751-BF8D-3E91AD254ECD}" type="pres">
      <dgm:prSet presAssocID="{2C447B2D-35D7-4B0F-8ADD-3582D6507784}" presName="root2" presStyleCnt="0"/>
      <dgm:spPr/>
    </dgm:pt>
    <dgm:pt modelId="{40A49199-8819-4B3C-944A-394B22C651D5}" type="pres">
      <dgm:prSet presAssocID="{2C447B2D-35D7-4B0F-8ADD-3582D6507784}" presName="LevelTwoTextNode" presStyleLbl="node2" presStyleIdx="0" presStyleCnt="2">
        <dgm:presLayoutVars>
          <dgm:chPref val="3"/>
        </dgm:presLayoutVars>
      </dgm:prSet>
      <dgm:spPr/>
    </dgm:pt>
    <dgm:pt modelId="{7200A645-2E75-434B-A6D0-0EBA01E4BCD0}" type="pres">
      <dgm:prSet presAssocID="{2C447B2D-35D7-4B0F-8ADD-3582D6507784}" presName="level3hierChild" presStyleCnt="0"/>
      <dgm:spPr/>
    </dgm:pt>
    <dgm:pt modelId="{8CAE29DF-CB18-4EEB-9CEE-E0327894CFF2}" type="pres">
      <dgm:prSet presAssocID="{C10093B7-D6DC-4FF4-BB67-83B7D4DE61D5}" presName="conn2-1" presStyleLbl="parChTrans1D3" presStyleIdx="0" presStyleCnt="4"/>
      <dgm:spPr/>
    </dgm:pt>
    <dgm:pt modelId="{84D8C3B1-846F-4819-AE21-6AF62C428C90}" type="pres">
      <dgm:prSet presAssocID="{C10093B7-D6DC-4FF4-BB67-83B7D4DE61D5}" presName="connTx" presStyleLbl="parChTrans1D3" presStyleIdx="0" presStyleCnt="4"/>
      <dgm:spPr/>
    </dgm:pt>
    <dgm:pt modelId="{6E3877CF-E213-4499-B4DE-6FD35220B714}" type="pres">
      <dgm:prSet presAssocID="{9E8C524E-2997-4550-95D9-E84BE8490A4A}" presName="root2" presStyleCnt="0"/>
      <dgm:spPr/>
    </dgm:pt>
    <dgm:pt modelId="{65C48FD0-ACF6-4BE8-B778-705EC75A261C}" type="pres">
      <dgm:prSet presAssocID="{9E8C524E-2997-4550-95D9-E84BE8490A4A}" presName="LevelTwoTextNode" presStyleLbl="node3" presStyleIdx="0" presStyleCnt="4">
        <dgm:presLayoutVars>
          <dgm:chPref val="3"/>
        </dgm:presLayoutVars>
      </dgm:prSet>
      <dgm:spPr/>
    </dgm:pt>
    <dgm:pt modelId="{0FD6574A-786D-465E-AF60-EA6D55735668}" type="pres">
      <dgm:prSet presAssocID="{9E8C524E-2997-4550-95D9-E84BE8490A4A}" presName="level3hierChild" presStyleCnt="0"/>
      <dgm:spPr/>
    </dgm:pt>
    <dgm:pt modelId="{0DE48EC2-BEE2-4618-A0EE-300BA05A5342}" type="pres">
      <dgm:prSet presAssocID="{E9515863-0784-4C7B-8C62-6AD2F50735F3}" presName="conn2-1" presStyleLbl="parChTrans1D3" presStyleIdx="1" presStyleCnt="4"/>
      <dgm:spPr/>
    </dgm:pt>
    <dgm:pt modelId="{52740B20-B6E2-40F5-8F09-709D6A300604}" type="pres">
      <dgm:prSet presAssocID="{E9515863-0784-4C7B-8C62-6AD2F50735F3}" presName="connTx" presStyleLbl="parChTrans1D3" presStyleIdx="1" presStyleCnt="4"/>
      <dgm:spPr/>
    </dgm:pt>
    <dgm:pt modelId="{69C14C68-FB4F-4E6C-9A9C-1F53C9A727FC}" type="pres">
      <dgm:prSet presAssocID="{FD2E004D-1FBF-45D3-A9C4-3E40FD1683D5}" presName="root2" presStyleCnt="0"/>
      <dgm:spPr/>
    </dgm:pt>
    <dgm:pt modelId="{E23A290E-AEBA-4F75-A2CC-A35A56F10CA0}" type="pres">
      <dgm:prSet presAssocID="{FD2E004D-1FBF-45D3-A9C4-3E40FD1683D5}" presName="LevelTwoTextNode" presStyleLbl="node3" presStyleIdx="1" presStyleCnt="4" custScaleX="105675">
        <dgm:presLayoutVars>
          <dgm:chPref val="3"/>
        </dgm:presLayoutVars>
      </dgm:prSet>
      <dgm:spPr/>
    </dgm:pt>
    <dgm:pt modelId="{D480344E-E2CF-4DC6-9432-A69572B455D8}" type="pres">
      <dgm:prSet presAssocID="{FD2E004D-1FBF-45D3-A9C4-3E40FD1683D5}" presName="level3hierChild" presStyleCnt="0"/>
      <dgm:spPr/>
    </dgm:pt>
    <dgm:pt modelId="{D5009222-8B26-4639-90F3-A53DF2AE0949}" type="pres">
      <dgm:prSet presAssocID="{D79D05A9-BD19-4E6B-B3FE-EFB449D8C062}" presName="conn2-1" presStyleLbl="parChTrans1D2" presStyleIdx="1" presStyleCnt="2"/>
      <dgm:spPr/>
    </dgm:pt>
    <dgm:pt modelId="{5A6A4C03-0EB0-4A77-A7D0-F91F04E714EC}" type="pres">
      <dgm:prSet presAssocID="{D79D05A9-BD19-4E6B-B3FE-EFB449D8C062}" presName="connTx" presStyleLbl="parChTrans1D2" presStyleIdx="1" presStyleCnt="2"/>
      <dgm:spPr/>
    </dgm:pt>
    <dgm:pt modelId="{593A6CE9-E940-4A09-9221-1CED795A2992}" type="pres">
      <dgm:prSet presAssocID="{14A1967D-1A0A-46DF-A814-CFB4F379F919}" presName="root2" presStyleCnt="0"/>
      <dgm:spPr/>
    </dgm:pt>
    <dgm:pt modelId="{7443734E-1D74-4864-9695-AA5D81EBF0F5}" type="pres">
      <dgm:prSet presAssocID="{14A1967D-1A0A-46DF-A814-CFB4F379F919}" presName="LevelTwoTextNode" presStyleLbl="node2" presStyleIdx="1" presStyleCnt="2">
        <dgm:presLayoutVars>
          <dgm:chPref val="3"/>
        </dgm:presLayoutVars>
      </dgm:prSet>
      <dgm:spPr/>
    </dgm:pt>
    <dgm:pt modelId="{31BE723B-AB69-4264-BB0A-B75C5EFBA6FB}" type="pres">
      <dgm:prSet presAssocID="{14A1967D-1A0A-46DF-A814-CFB4F379F919}" presName="level3hierChild" presStyleCnt="0"/>
      <dgm:spPr/>
    </dgm:pt>
    <dgm:pt modelId="{6C2A1A55-9B6C-4DE1-8539-E7AF13E22DF0}" type="pres">
      <dgm:prSet presAssocID="{454781D8-68FB-4D49-987F-59FAC158057B}" presName="conn2-1" presStyleLbl="parChTrans1D3" presStyleIdx="2" presStyleCnt="4"/>
      <dgm:spPr/>
    </dgm:pt>
    <dgm:pt modelId="{F684F32E-FBDB-4ACA-ABDA-FB9B302D7886}" type="pres">
      <dgm:prSet presAssocID="{454781D8-68FB-4D49-987F-59FAC158057B}" presName="connTx" presStyleLbl="parChTrans1D3" presStyleIdx="2" presStyleCnt="4"/>
      <dgm:spPr/>
    </dgm:pt>
    <dgm:pt modelId="{5F2D1C55-E6BF-4625-89B1-E7F743BC1388}" type="pres">
      <dgm:prSet presAssocID="{B0570A27-0280-4453-954C-7CB2089BE423}" presName="root2" presStyleCnt="0"/>
      <dgm:spPr/>
    </dgm:pt>
    <dgm:pt modelId="{D7CE79A9-701D-448F-A593-F7191B64ED51}" type="pres">
      <dgm:prSet presAssocID="{B0570A27-0280-4453-954C-7CB2089BE423}" presName="LevelTwoTextNode" presStyleLbl="node3" presStyleIdx="2" presStyleCnt="4">
        <dgm:presLayoutVars>
          <dgm:chPref val="3"/>
        </dgm:presLayoutVars>
      </dgm:prSet>
      <dgm:spPr/>
    </dgm:pt>
    <dgm:pt modelId="{77926297-50B8-4FD7-BFA0-B8FE4011E42D}" type="pres">
      <dgm:prSet presAssocID="{B0570A27-0280-4453-954C-7CB2089BE423}" presName="level3hierChild" presStyleCnt="0"/>
      <dgm:spPr/>
    </dgm:pt>
    <dgm:pt modelId="{65EA52A6-260D-4630-A30C-0BE9865B38A2}" type="pres">
      <dgm:prSet presAssocID="{06D6CA3C-52D1-4465-8247-B8534C2E667F}" presName="conn2-1" presStyleLbl="parChTrans1D3" presStyleIdx="3" presStyleCnt="4"/>
      <dgm:spPr/>
    </dgm:pt>
    <dgm:pt modelId="{56CEA43C-A363-4A6C-B895-0724E4D156D9}" type="pres">
      <dgm:prSet presAssocID="{06D6CA3C-52D1-4465-8247-B8534C2E667F}" presName="connTx" presStyleLbl="parChTrans1D3" presStyleIdx="3" presStyleCnt="4"/>
      <dgm:spPr/>
    </dgm:pt>
    <dgm:pt modelId="{12E1B295-17D4-439C-97A4-CE96976F52E7}" type="pres">
      <dgm:prSet presAssocID="{C49F4174-B2CC-49EB-BFF1-98910B3B5A7F}" presName="root2" presStyleCnt="0"/>
      <dgm:spPr/>
    </dgm:pt>
    <dgm:pt modelId="{BCB6E81C-829A-4291-8D41-B3B7AB21D15C}" type="pres">
      <dgm:prSet presAssocID="{C49F4174-B2CC-49EB-BFF1-98910B3B5A7F}" presName="LevelTwoTextNode" presStyleLbl="node3" presStyleIdx="3" presStyleCnt="4">
        <dgm:presLayoutVars>
          <dgm:chPref val="3"/>
        </dgm:presLayoutVars>
      </dgm:prSet>
      <dgm:spPr/>
    </dgm:pt>
    <dgm:pt modelId="{104CFCE2-7D51-4AAA-AE21-6A385BB9A7B5}" type="pres">
      <dgm:prSet presAssocID="{C49F4174-B2CC-49EB-BFF1-98910B3B5A7F}" presName="level3hierChild" presStyleCnt="0"/>
      <dgm:spPr/>
    </dgm:pt>
  </dgm:ptLst>
  <dgm:cxnLst>
    <dgm:cxn modelId="{9CDBD006-DFA4-472A-A54A-348A7BFCFF55}" type="presOf" srcId="{C49F4174-B2CC-49EB-BFF1-98910B3B5A7F}" destId="{BCB6E81C-829A-4291-8D41-B3B7AB21D15C}" srcOrd="0" destOrd="0" presId="urn:microsoft.com/office/officeart/2005/8/layout/hierarchy2"/>
    <dgm:cxn modelId="{50C4AA21-729D-4081-8E4E-DFB0AA9155F7}" srcId="{14A1967D-1A0A-46DF-A814-CFB4F379F919}" destId="{B0570A27-0280-4453-954C-7CB2089BE423}" srcOrd="0" destOrd="0" parTransId="{454781D8-68FB-4D49-987F-59FAC158057B}" sibTransId="{063413CB-E580-40E6-9979-CBD797ED02F6}"/>
    <dgm:cxn modelId="{E2B5D725-EE36-4AE9-B4AC-CD91C95E5D59}" type="presOf" srcId="{D79D05A9-BD19-4E6B-B3FE-EFB449D8C062}" destId="{5A6A4C03-0EB0-4A77-A7D0-F91F04E714EC}" srcOrd="1" destOrd="0" presId="urn:microsoft.com/office/officeart/2005/8/layout/hierarchy2"/>
    <dgm:cxn modelId="{FE236129-DAD2-4C2A-80FE-20F2964A1622}" srcId="{43785172-4C2D-4C10-A59E-7967C3FDD141}" destId="{14A1967D-1A0A-46DF-A814-CFB4F379F919}" srcOrd="1" destOrd="0" parTransId="{D79D05A9-BD19-4E6B-B3FE-EFB449D8C062}" sibTransId="{A5793E28-3CF9-409E-B52E-4428DE13E842}"/>
    <dgm:cxn modelId="{910E3C33-9929-49E4-83D9-6CE9D4507A1E}" srcId="{43785172-4C2D-4C10-A59E-7967C3FDD141}" destId="{2C447B2D-35D7-4B0F-8ADD-3582D6507784}" srcOrd="0" destOrd="0" parTransId="{57B97048-5A21-4D97-834F-85A00F15665F}" sibTransId="{E750B6FC-A6DC-443E-A596-BA1ABCFE220C}"/>
    <dgm:cxn modelId="{FCCB664C-8186-4F10-A30A-C8A7BB77288B}" srcId="{2C447B2D-35D7-4B0F-8ADD-3582D6507784}" destId="{FD2E004D-1FBF-45D3-A9C4-3E40FD1683D5}" srcOrd="1" destOrd="0" parTransId="{E9515863-0784-4C7B-8C62-6AD2F50735F3}" sibTransId="{E038D8CD-E4F3-4C03-A5CA-2E1BE41735CD}"/>
    <dgm:cxn modelId="{CAAC7253-386A-4FEB-A8A3-53AFA2118E30}" type="presOf" srcId="{C10093B7-D6DC-4FF4-BB67-83B7D4DE61D5}" destId="{84D8C3B1-846F-4819-AE21-6AF62C428C90}" srcOrd="1" destOrd="0" presId="urn:microsoft.com/office/officeart/2005/8/layout/hierarchy2"/>
    <dgm:cxn modelId="{416B7E78-361F-40A0-8A4C-DC226982B9BB}" type="presOf" srcId="{43785172-4C2D-4C10-A59E-7967C3FDD141}" destId="{4C9F443F-7E83-41C9-A183-596417453D96}" srcOrd="0" destOrd="0" presId="urn:microsoft.com/office/officeart/2005/8/layout/hierarchy2"/>
    <dgm:cxn modelId="{38C43E7A-3852-4591-9EA0-CDD2E1E8C65F}" srcId="{2C447B2D-35D7-4B0F-8ADD-3582D6507784}" destId="{9E8C524E-2997-4550-95D9-E84BE8490A4A}" srcOrd="0" destOrd="0" parTransId="{C10093B7-D6DC-4FF4-BB67-83B7D4DE61D5}" sibTransId="{E1906B80-CDB8-4DFE-92AC-F8FE708B1348}"/>
    <dgm:cxn modelId="{3E6DC37F-9E80-4DB8-9913-C25D038A37AE}" type="presOf" srcId="{B0570A27-0280-4453-954C-7CB2089BE423}" destId="{D7CE79A9-701D-448F-A593-F7191B64ED51}" srcOrd="0" destOrd="0" presId="urn:microsoft.com/office/officeart/2005/8/layout/hierarchy2"/>
    <dgm:cxn modelId="{D735F97F-50C5-4975-A12F-3558BB6ABBA9}" type="presOf" srcId="{454781D8-68FB-4D49-987F-59FAC158057B}" destId="{6C2A1A55-9B6C-4DE1-8539-E7AF13E22DF0}" srcOrd="0" destOrd="0" presId="urn:microsoft.com/office/officeart/2005/8/layout/hierarchy2"/>
    <dgm:cxn modelId="{4CEFA184-DC8F-48A3-B38E-161933224563}" type="presOf" srcId="{E9515863-0784-4C7B-8C62-6AD2F50735F3}" destId="{52740B20-B6E2-40F5-8F09-709D6A300604}" srcOrd="1" destOrd="0" presId="urn:microsoft.com/office/officeart/2005/8/layout/hierarchy2"/>
    <dgm:cxn modelId="{3D4F2D94-B5CE-41EA-95B4-09F95B8A87B7}" type="presOf" srcId="{E9515863-0784-4C7B-8C62-6AD2F50735F3}" destId="{0DE48EC2-BEE2-4618-A0EE-300BA05A5342}" srcOrd="0" destOrd="0" presId="urn:microsoft.com/office/officeart/2005/8/layout/hierarchy2"/>
    <dgm:cxn modelId="{B7B92795-D7BC-4631-84C2-2B76955BB109}" type="presOf" srcId="{D555AE98-7D00-4823-BC6C-0B3CD84CA387}" destId="{8B5ADD04-8551-44E6-97BB-0FB736F1EF38}" srcOrd="0" destOrd="0" presId="urn:microsoft.com/office/officeart/2005/8/layout/hierarchy2"/>
    <dgm:cxn modelId="{3D8BCD9E-3C17-4FE7-8C24-6289CC915997}" type="presOf" srcId="{9E8C524E-2997-4550-95D9-E84BE8490A4A}" destId="{65C48FD0-ACF6-4BE8-B778-705EC75A261C}" srcOrd="0" destOrd="0" presId="urn:microsoft.com/office/officeart/2005/8/layout/hierarchy2"/>
    <dgm:cxn modelId="{2BB59FA5-7E6D-482E-9F73-2002B3A93030}" type="presOf" srcId="{57B97048-5A21-4D97-834F-85A00F15665F}" destId="{FFA4DC21-FA41-43D1-877E-D9222CBAA376}" srcOrd="0" destOrd="0" presId="urn:microsoft.com/office/officeart/2005/8/layout/hierarchy2"/>
    <dgm:cxn modelId="{D222CBA7-F1C2-4969-8BA3-1A2EE205EABC}" type="presOf" srcId="{06D6CA3C-52D1-4465-8247-B8534C2E667F}" destId="{65EA52A6-260D-4630-A30C-0BE9865B38A2}" srcOrd="0" destOrd="0" presId="urn:microsoft.com/office/officeart/2005/8/layout/hierarchy2"/>
    <dgm:cxn modelId="{FE7F1DA8-FE48-46F7-9BBE-2FB6BFDE5D81}" type="presOf" srcId="{D79D05A9-BD19-4E6B-B3FE-EFB449D8C062}" destId="{D5009222-8B26-4639-90F3-A53DF2AE0949}" srcOrd="0" destOrd="0" presId="urn:microsoft.com/office/officeart/2005/8/layout/hierarchy2"/>
    <dgm:cxn modelId="{1F1672AE-24F4-4D90-9683-2542BD2EA9CC}" srcId="{D555AE98-7D00-4823-BC6C-0B3CD84CA387}" destId="{43785172-4C2D-4C10-A59E-7967C3FDD141}" srcOrd="0" destOrd="0" parTransId="{8A315576-BF94-4582-A813-E113FEAA7F72}" sibTransId="{B2D17866-878D-4C97-A781-49B580B1FE2B}"/>
    <dgm:cxn modelId="{27CB41B1-6CB3-4779-B011-AAB3A659B4F6}" type="presOf" srcId="{FD2E004D-1FBF-45D3-A9C4-3E40FD1683D5}" destId="{E23A290E-AEBA-4F75-A2CC-A35A56F10CA0}" srcOrd="0" destOrd="0" presId="urn:microsoft.com/office/officeart/2005/8/layout/hierarchy2"/>
    <dgm:cxn modelId="{DA9F3EBE-B845-44B2-AB15-134BD61F696A}" type="presOf" srcId="{06D6CA3C-52D1-4465-8247-B8534C2E667F}" destId="{56CEA43C-A363-4A6C-B895-0724E4D156D9}" srcOrd="1" destOrd="0" presId="urn:microsoft.com/office/officeart/2005/8/layout/hierarchy2"/>
    <dgm:cxn modelId="{4C19D8D2-659C-43B1-9930-85F3655DF0DF}" type="presOf" srcId="{14A1967D-1A0A-46DF-A814-CFB4F379F919}" destId="{7443734E-1D74-4864-9695-AA5D81EBF0F5}" srcOrd="0" destOrd="0" presId="urn:microsoft.com/office/officeart/2005/8/layout/hierarchy2"/>
    <dgm:cxn modelId="{7FAC95D6-8219-4B06-A9AC-C4E099614FB9}" srcId="{14A1967D-1A0A-46DF-A814-CFB4F379F919}" destId="{C49F4174-B2CC-49EB-BFF1-98910B3B5A7F}" srcOrd="1" destOrd="0" parTransId="{06D6CA3C-52D1-4465-8247-B8534C2E667F}" sibTransId="{E8143382-DB67-4454-BAB6-0194C6093433}"/>
    <dgm:cxn modelId="{6B1CEADF-7D1F-48F1-9B6C-B8982B8038DD}" type="presOf" srcId="{C10093B7-D6DC-4FF4-BB67-83B7D4DE61D5}" destId="{8CAE29DF-CB18-4EEB-9CEE-E0327894CFF2}" srcOrd="0" destOrd="0" presId="urn:microsoft.com/office/officeart/2005/8/layout/hierarchy2"/>
    <dgm:cxn modelId="{8A6C51E5-91A0-403C-A39E-516C91D443D1}" type="presOf" srcId="{454781D8-68FB-4D49-987F-59FAC158057B}" destId="{F684F32E-FBDB-4ACA-ABDA-FB9B302D7886}" srcOrd="1" destOrd="0" presId="urn:microsoft.com/office/officeart/2005/8/layout/hierarchy2"/>
    <dgm:cxn modelId="{394DFAEB-96B3-49BD-B88E-C0172E1AF3BB}" type="presOf" srcId="{2C447B2D-35D7-4B0F-8ADD-3582D6507784}" destId="{40A49199-8819-4B3C-944A-394B22C651D5}" srcOrd="0" destOrd="0" presId="urn:microsoft.com/office/officeart/2005/8/layout/hierarchy2"/>
    <dgm:cxn modelId="{C327B0EF-6D71-429A-BB9F-DAD0F804238F}" type="presOf" srcId="{57B97048-5A21-4D97-834F-85A00F15665F}" destId="{BEBB7114-A415-4768-BCE8-DD558361B584}" srcOrd="1" destOrd="0" presId="urn:microsoft.com/office/officeart/2005/8/layout/hierarchy2"/>
    <dgm:cxn modelId="{9400B88D-025B-42BB-A123-89DF6216C371}" type="presParOf" srcId="{8B5ADD04-8551-44E6-97BB-0FB736F1EF38}" destId="{932893A4-7320-4E76-96F8-3227F95A9F30}" srcOrd="0" destOrd="0" presId="urn:microsoft.com/office/officeart/2005/8/layout/hierarchy2"/>
    <dgm:cxn modelId="{67E2C38A-B77D-4475-A414-F19C2916F253}" type="presParOf" srcId="{932893A4-7320-4E76-96F8-3227F95A9F30}" destId="{4C9F443F-7E83-41C9-A183-596417453D96}" srcOrd="0" destOrd="0" presId="urn:microsoft.com/office/officeart/2005/8/layout/hierarchy2"/>
    <dgm:cxn modelId="{07950646-392B-4C80-BC5E-B2C3072F64A9}" type="presParOf" srcId="{932893A4-7320-4E76-96F8-3227F95A9F30}" destId="{C1855A3C-67B1-4431-8C29-212B23327EA0}" srcOrd="1" destOrd="0" presId="urn:microsoft.com/office/officeart/2005/8/layout/hierarchy2"/>
    <dgm:cxn modelId="{E528C87D-E590-4F27-9CEE-212AC848C2DF}" type="presParOf" srcId="{C1855A3C-67B1-4431-8C29-212B23327EA0}" destId="{FFA4DC21-FA41-43D1-877E-D9222CBAA376}" srcOrd="0" destOrd="0" presId="urn:microsoft.com/office/officeart/2005/8/layout/hierarchy2"/>
    <dgm:cxn modelId="{DE130F86-E452-4844-B54B-365B5795DEE4}" type="presParOf" srcId="{FFA4DC21-FA41-43D1-877E-D9222CBAA376}" destId="{BEBB7114-A415-4768-BCE8-DD558361B584}" srcOrd="0" destOrd="0" presId="urn:microsoft.com/office/officeart/2005/8/layout/hierarchy2"/>
    <dgm:cxn modelId="{24326819-0B1D-4EDA-A007-809D4DA43F64}" type="presParOf" srcId="{C1855A3C-67B1-4431-8C29-212B23327EA0}" destId="{58B4FF4E-06F6-4751-BF8D-3E91AD254ECD}" srcOrd="1" destOrd="0" presId="urn:microsoft.com/office/officeart/2005/8/layout/hierarchy2"/>
    <dgm:cxn modelId="{980B856D-CC72-4D20-8E11-9D8DCE87595B}" type="presParOf" srcId="{58B4FF4E-06F6-4751-BF8D-3E91AD254ECD}" destId="{40A49199-8819-4B3C-944A-394B22C651D5}" srcOrd="0" destOrd="0" presId="urn:microsoft.com/office/officeart/2005/8/layout/hierarchy2"/>
    <dgm:cxn modelId="{DCEA3795-B07D-49A7-9D41-5443D3381207}" type="presParOf" srcId="{58B4FF4E-06F6-4751-BF8D-3E91AD254ECD}" destId="{7200A645-2E75-434B-A6D0-0EBA01E4BCD0}" srcOrd="1" destOrd="0" presId="urn:microsoft.com/office/officeart/2005/8/layout/hierarchy2"/>
    <dgm:cxn modelId="{1F26B905-AF9B-4D0C-9DFB-C15F6E2B23CA}" type="presParOf" srcId="{7200A645-2E75-434B-A6D0-0EBA01E4BCD0}" destId="{8CAE29DF-CB18-4EEB-9CEE-E0327894CFF2}" srcOrd="0" destOrd="0" presId="urn:microsoft.com/office/officeart/2005/8/layout/hierarchy2"/>
    <dgm:cxn modelId="{BA9DBD99-A7D4-479D-8AF4-7B59513E0900}" type="presParOf" srcId="{8CAE29DF-CB18-4EEB-9CEE-E0327894CFF2}" destId="{84D8C3B1-846F-4819-AE21-6AF62C428C90}" srcOrd="0" destOrd="0" presId="urn:microsoft.com/office/officeart/2005/8/layout/hierarchy2"/>
    <dgm:cxn modelId="{44F54AFC-688B-4425-8103-8B7348BA45B8}" type="presParOf" srcId="{7200A645-2E75-434B-A6D0-0EBA01E4BCD0}" destId="{6E3877CF-E213-4499-B4DE-6FD35220B714}" srcOrd="1" destOrd="0" presId="urn:microsoft.com/office/officeart/2005/8/layout/hierarchy2"/>
    <dgm:cxn modelId="{2EBE3D1D-8870-4528-BA14-2E82736709B5}" type="presParOf" srcId="{6E3877CF-E213-4499-B4DE-6FD35220B714}" destId="{65C48FD0-ACF6-4BE8-B778-705EC75A261C}" srcOrd="0" destOrd="0" presId="urn:microsoft.com/office/officeart/2005/8/layout/hierarchy2"/>
    <dgm:cxn modelId="{977404F0-DD97-4DC2-84F9-2CCEA02334CD}" type="presParOf" srcId="{6E3877CF-E213-4499-B4DE-6FD35220B714}" destId="{0FD6574A-786D-465E-AF60-EA6D55735668}" srcOrd="1" destOrd="0" presId="urn:microsoft.com/office/officeart/2005/8/layout/hierarchy2"/>
    <dgm:cxn modelId="{A9D28C91-C61B-4CE9-A6DC-C1211E652A7B}" type="presParOf" srcId="{7200A645-2E75-434B-A6D0-0EBA01E4BCD0}" destId="{0DE48EC2-BEE2-4618-A0EE-300BA05A5342}" srcOrd="2" destOrd="0" presId="urn:microsoft.com/office/officeart/2005/8/layout/hierarchy2"/>
    <dgm:cxn modelId="{04034DCB-BA1D-4C46-BC54-ECCB4C89CABA}" type="presParOf" srcId="{0DE48EC2-BEE2-4618-A0EE-300BA05A5342}" destId="{52740B20-B6E2-40F5-8F09-709D6A300604}" srcOrd="0" destOrd="0" presId="urn:microsoft.com/office/officeart/2005/8/layout/hierarchy2"/>
    <dgm:cxn modelId="{EBE3E5F8-98AF-4847-9C80-32E8A605FE78}" type="presParOf" srcId="{7200A645-2E75-434B-A6D0-0EBA01E4BCD0}" destId="{69C14C68-FB4F-4E6C-9A9C-1F53C9A727FC}" srcOrd="3" destOrd="0" presId="urn:microsoft.com/office/officeart/2005/8/layout/hierarchy2"/>
    <dgm:cxn modelId="{BA96B0BD-E174-483F-BDE6-088114CCB61B}" type="presParOf" srcId="{69C14C68-FB4F-4E6C-9A9C-1F53C9A727FC}" destId="{E23A290E-AEBA-4F75-A2CC-A35A56F10CA0}" srcOrd="0" destOrd="0" presId="urn:microsoft.com/office/officeart/2005/8/layout/hierarchy2"/>
    <dgm:cxn modelId="{A37DFCA3-B21C-4AFD-AD78-4F4826B3D8A9}" type="presParOf" srcId="{69C14C68-FB4F-4E6C-9A9C-1F53C9A727FC}" destId="{D480344E-E2CF-4DC6-9432-A69572B455D8}" srcOrd="1" destOrd="0" presId="urn:microsoft.com/office/officeart/2005/8/layout/hierarchy2"/>
    <dgm:cxn modelId="{079F7FDF-B7A9-473E-9DD0-C113DACCEF1F}" type="presParOf" srcId="{C1855A3C-67B1-4431-8C29-212B23327EA0}" destId="{D5009222-8B26-4639-90F3-A53DF2AE0949}" srcOrd="2" destOrd="0" presId="urn:microsoft.com/office/officeart/2005/8/layout/hierarchy2"/>
    <dgm:cxn modelId="{5739AAA4-CCBB-415B-ACF0-C7EE5C705CFD}" type="presParOf" srcId="{D5009222-8B26-4639-90F3-A53DF2AE0949}" destId="{5A6A4C03-0EB0-4A77-A7D0-F91F04E714EC}" srcOrd="0" destOrd="0" presId="urn:microsoft.com/office/officeart/2005/8/layout/hierarchy2"/>
    <dgm:cxn modelId="{4A3492F0-67B7-474B-843E-2558D7712536}" type="presParOf" srcId="{C1855A3C-67B1-4431-8C29-212B23327EA0}" destId="{593A6CE9-E940-4A09-9221-1CED795A2992}" srcOrd="3" destOrd="0" presId="urn:microsoft.com/office/officeart/2005/8/layout/hierarchy2"/>
    <dgm:cxn modelId="{B5B17A09-2A27-442C-B628-ED64344BA01D}" type="presParOf" srcId="{593A6CE9-E940-4A09-9221-1CED795A2992}" destId="{7443734E-1D74-4864-9695-AA5D81EBF0F5}" srcOrd="0" destOrd="0" presId="urn:microsoft.com/office/officeart/2005/8/layout/hierarchy2"/>
    <dgm:cxn modelId="{899778B5-C490-457A-AA20-39CD05605C3A}" type="presParOf" srcId="{593A6CE9-E940-4A09-9221-1CED795A2992}" destId="{31BE723B-AB69-4264-BB0A-B75C5EFBA6FB}" srcOrd="1" destOrd="0" presId="urn:microsoft.com/office/officeart/2005/8/layout/hierarchy2"/>
    <dgm:cxn modelId="{51997FA9-DE7D-4619-96B9-504CAB0314CA}" type="presParOf" srcId="{31BE723B-AB69-4264-BB0A-B75C5EFBA6FB}" destId="{6C2A1A55-9B6C-4DE1-8539-E7AF13E22DF0}" srcOrd="0" destOrd="0" presId="urn:microsoft.com/office/officeart/2005/8/layout/hierarchy2"/>
    <dgm:cxn modelId="{9BAF9932-D4D9-4C32-945D-26658C5DEAE4}" type="presParOf" srcId="{6C2A1A55-9B6C-4DE1-8539-E7AF13E22DF0}" destId="{F684F32E-FBDB-4ACA-ABDA-FB9B302D7886}" srcOrd="0" destOrd="0" presId="urn:microsoft.com/office/officeart/2005/8/layout/hierarchy2"/>
    <dgm:cxn modelId="{44639F6F-81FB-4FE4-B01E-8FDE5A43E254}" type="presParOf" srcId="{31BE723B-AB69-4264-BB0A-B75C5EFBA6FB}" destId="{5F2D1C55-E6BF-4625-89B1-E7F743BC1388}" srcOrd="1" destOrd="0" presId="urn:microsoft.com/office/officeart/2005/8/layout/hierarchy2"/>
    <dgm:cxn modelId="{0C18F14C-DDAA-423F-9AA8-F07A5C878C9E}" type="presParOf" srcId="{5F2D1C55-E6BF-4625-89B1-E7F743BC1388}" destId="{D7CE79A9-701D-448F-A593-F7191B64ED51}" srcOrd="0" destOrd="0" presId="urn:microsoft.com/office/officeart/2005/8/layout/hierarchy2"/>
    <dgm:cxn modelId="{FE594FE7-6527-4C79-A6D8-3475F05EB92B}" type="presParOf" srcId="{5F2D1C55-E6BF-4625-89B1-E7F743BC1388}" destId="{77926297-50B8-4FD7-BFA0-B8FE4011E42D}" srcOrd="1" destOrd="0" presId="urn:microsoft.com/office/officeart/2005/8/layout/hierarchy2"/>
    <dgm:cxn modelId="{DBE38AD7-78C1-44EA-9F66-E6A920DF422D}" type="presParOf" srcId="{31BE723B-AB69-4264-BB0A-B75C5EFBA6FB}" destId="{65EA52A6-260D-4630-A30C-0BE9865B38A2}" srcOrd="2" destOrd="0" presId="urn:microsoft.com/office/officeart/2005/8/layout/hierarchy2"/>
    <dgm:cxn modelId="{D5ACA7FC-2433-4B62-A09F-CAD298765F52}" type="presParOf" srcId="{65EA52A6-260D-4630-A30C-0BE9865B38A2}" destId="{56CEA43C-A363-4A6C-B895-0724E4D156D9}" srcOrd="0" destOrd="0" presId="urn:microsoft.com/office/officeart/2005/8/layout/hierarchy2"/>
    <dgm:cxn modelId="{DE1A786F-526E-4528-9F09-820FFA995B18}" type="presParOf" srcId="{31BE723B-AB69-4264-BB0A-B75C5EFBA6FB}" destId="{12E1B295-17D4-439C-97A4-CE96976F52E7}" srcOrd="3" destOrd="0" presId="urn:microsoft.com/office/officeart/2005/8/layout/hierarchy2"/>
    <dgm:cxn modelId="{F2717472-0F05-42B6-8FD5-6E39A81C8746}" type="presParOf" srcId="{12E1B295-17D4-439C-97A4-CE96976F52E7}" destId="{BCB6E81C-829A-4291-8D41-B3B7AB21D15C}" srcOrd="0" destOrd="0" presId="urn:microsoft.com/office/officeart/2005/8/layout/hierarchy2"/>
    <dgm:cxn modelId="{4E65A625-1659-4581-9499-486EFC854F57}" type="presParOf" srcId="{12E1B295-17D4-439C-97A4-CE96976F52E7}" destId="{104CFCE2-7D51-4AAA-AE21-6A385BB9A7B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6EEA03-5B8F-4138-AFC0-8C4C48E06FFF}"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677C6594-F28B-46D1-A479-E73578BB474B}">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Logico-Semantic Relations</a:t>
          </a:r>
          <a:endParaRPr lang="zh-CN" altLang="en-US" sz="1600" dirty="0">
            <a:latin typeface="Times New Roman" panose="02020603050405020304" pitchFamily="18" charset="0"/>
            <a:cs typeface="Times New Roman" panose="02020603050405020304" pitchFamily="18" charset="0"/>
          </a:endParaRPr>
        </a:p>
      </dgm:t>
    </dgm:pt>
    <dgm:pt modelId="{C3D3B702-E0F3-4A7D-ACCA-538D76FEA454}" type="parTrans" cxnId="{564CE5E0-A361-460E-BDF5-D0FBDF474C9E}">
      <dgm:prSet/>
      <dgm:spPr/>
      <dgm:t>
        <a:bodyPr/>
        <a:lstStyle/>
        <a:p>
          <a:endParaRPr lang="zh-CN" altLang="en-US"/>
        </a:p>
      </dgm:t>
    </dgm:pt>
    <dgm:pt modelId="{14E52BD1-833D-40DE-AB96-291BD4B67712}" type="sibTrans" cxnId="{564CE5E0-A361-460E-BDF5-D0FBDF474C9E}">
      <dgm:prSet/>
      <dgm:spPr/>
      <dgm:t>
        <a:bodyPr/>
        <a:lstStyle/>
        <a:p>
          <a:endParaRPr lang="zh-CN" altLang="en-US"/>
        </a:p>
      </dgm:t>
    </dgm:pt>
    <dgm:pt modelId="{CB9A5B06-CB55-4B0F-BDDE-C024C9600B44}">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Elaboration</a:t>
          </a:r>
          <a:endParaRPr lang="zh-CN" altLang="en-US" sz="1600" dirty="0">
            <a:latin typeface="Times New Roman" panose="02020603050405020304" pitchFamily="18" charset="0"/>
            <a:cs typeface="Times New Roman" panose="02020603050405020304" pitchFamily="18" charset="0"/>
          </a:endParaRPr>
        </a:p>
      </dgm:t>
    </dgm:pt>
    <dgm:pt modelId="{8213EDA5-4FBE-4D8C-A257-DEB1473ECD66}" type="parTrans" cxnId="{399FA93F-EC62-47F3-9678-508107438B3B}">
      <dgm:prSet/>
      <dgm:spPr/>
      <dgm:t>
        <a:bodyPr/>
        <a:lstStyle/>
        <a:p>
          <a:endParaRPr lang="zh-CN" altLang="en-US"/>
        </a:p>
      </dgm:t>
    </dgm:pt>
    <dgm:pt modelId="{F4CE686B-3A7E-487B-BB44-44CE4851DCD0}" type="sibTrans" cxnId="{399FA93F-EC62-47F3-9678-508107438B3B}">
      <dgm:prSet/>
      <dgm:spPr/>
      <dgm:t>
        <a:bodyPr/>
        <a:lstStyle/>
        <a:p>
          <a:endParaRPr lang="zh-CN" altLang="en-US"/>
        </a:p>
      </dgm:t>
    </dgm:pt>
    <dgm:pt modelId="{079505B0-CCB2-4D4D-B268-5C4072A22913}">
      <dgm:prSet phldrT="[文本]">
        <dgm:style>
          <a:lnRef idx="2">
            <a:schemeClr val="dk1"/>
          </a:lnRef>
          <a:fillRef idx="1">
            <a:schemeClr val="lt1"/>
          </a:fillRef>
          <a:effectRef idx="0">
            <a:schemeClr val="dk1"/>
          </a:effectRef>
          <a:fontRef idx="minor">
            <a:schemeClr val="dk1"/>
          </a:fontRef>
        </dgm:style>
      </dgm:prSet>
      <dgm:spPr/>
      <dgm:t>
        <a:bodyPr/>
        <a:lstStyle/>
        <a:p>
          <a:r>
            <a:rPr lang="en-US" altLang="zh-CN" dirty="0">
              <a:latin typeface="Times New Roman" panose="02020603050405020304" pitchFamily="18" charset="0"/>
              <a:cs typeface="Times New Roman" panose="02020603050405020304" pitchFamily="18" charset="0"/>
            </a:rPr>
            <a:t>Exposition</a:t>
          </a:r>
          <a:endParaRPr lang="zh-CN" altLang="en-US" dirty="0">
            <a:latin typeface="Times New Roman" panose="02020603050405020304" pitchFamily="18" charset="0"/>
            <a:cs typeface="Times New Roman" panose="02020603050405020304" pitchFamily="18" charset="0"/>
          </a:endParaRPr>
        </a:p>
      </dgm:t>
    </dgm:pt>
    <dgm:pt modelId="{5663487F-96CC-4723-A29E-D6FAD088C076}" type="parTrans" cxnId="{A892E091-E1D6-4B22-B163-69594EC65F39}">
      <dgm:prSet/>
      <dgm:spPr/>
      <dgm:t>
        <a:bodyPr/>
        <a:lstStyle/>
        <a:p>
          <a:endParaRPr lang="zh-CN" altLang="en-US"/>
        </a:p>
      </dgm:t>
    </dgm:pt>
    <dgm:pt modelId="{82C06C6D-DDB8-4518-ABF1-8C8B987A94EF}" type="sibTrans" cxnId="{A892E091-E1D6-4B22-B163-69594EC65F39}">
      <dgm:prSet/>
      <dgm:spPr/>
      <dgm:t>
        <a:bodyPr/>
        <a:lstStyle/>
        <a:p>
          <a:endParaRPr lang="zh-CN" altLang="en-US"/>
        </a:p>
      </dgm:t>
    </dgm:pt>
    <dgm:pt modelId="{8E09CC02-C22D-4AD9-9D99-05BE9670F7A1}">
      <dgm:prSet phldrT="[文本]">
        <dgm:style>
          <a:lnRef idx="2">
            <a:schemeClr val="dk1"/>
          </a:lnRef>
          <a:fillRef idx="1">
            <a:schemeClr val="lt1"/>
          </a:fillRef>
          <a:effectRef idx="0">
            <a:schemeClr val="dk1"/>
          </a:effectRef>
          <a:fontRef idx="minor">
            <a:schemeClr val="dk1"/>
          </a:fontRef>
        </dgm:style>
      </dgm:prSet>
      <dgm:spPr/>
      <dgm:t>
        <a:bodyPr/>
        <a:lstStyle/>
        <a:p>
          <a:r>
            <a:rPr lang="en-US" altLang="zh-CN" dirty="0">
              <a:latin typeface="Times New Roman" panose="02020603050405020304" pitchFamily="18" charset="0"/>
              <a:cs typeface="Times New Roman" panose="02020603050405020304" pitchFamily="18" charset="0"/>
            </a:rPr>
            <a:t>Exemplification</a:t>
          </a:r>
          <a:endParaRPr lang="zh-CN" altLang="en-US" dirty="0">
            <a:latin typeface="Times New Roman" panose="02020603050405020304" pitchFamily="18" charset="0"/>
            <a:cs typeface="Times New Roman" panose="02020603050405020304" pitchFamily="18" charset="0"/>
          </a:endParaRPr>
        </a:p>
      </dgm:t>
    </dgm:pt>
    <dgm:pt modelId="{75D517F8-4A81-4BE8-9441-BB0F1030D9DA}" type="parTrans" cxnId="{6CA15E54-A9C9-41D4-9D27-EF2B494BF32A}">
      <dgm:prSet/>
      <dgm:spPr/>
      <dgm:t>
        <a:bodyPr/>
        <a:lstStyle/>
        <a:p>
          <a:endParaRPr lang="zh-CN" altLang="en-US"/>
        </a:p>
      </dgm:t>
    </dgm:pt>
    <dgm:pt modelId="{EB9C6D1C-8D74-4D51-AC4D-78D4F51879AA}" type="sibTrans" cxnId="{6CA15E54-A9C9-41D4-9D27-EF2B494BF32A}">
      <dgm:prSet/>
      <dgm:spPr/>
      <dgm:t>
        <a:bodyPr/>
        <a:lstStyle/>
        <a:p>
          <a:endParaRPr lang="zh-CN" altLang="en-US"/>
        </a:p>
      </dgm:t>
    </dgm:pt>
    <dgm:pt modelId="{B77D455E-F4AA-4358-8B99-6C1299D8C88A}">
      <dgm:prSet phldrT="[文本]"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Extension</a:t>
          </a:r>
          <a:endParaRPr lang="zh-CN" altLang="en-US" sz="1600" dirty="0">
            <a:latin typeface="Times New Roman" panose="02020603050405020304" pitchFamily="18" charset="0"/>
            <a:cs typeface="Times New Roman" panose="02020603050405020304" pitchFamily="18" charset="0"/>
          </a:endParaRPr>
        </a:p>
      </dgm:t>
    </dgm:pt>
    <dgm:pt modelId="{E61D4725-DF88-4BED-AFAB-6EE459B6A35C}" type="parTrans" cxnId="{8FD57C13-ED28-45E7-AB67-A60B2BDB2A6B}">
      <dgm:prSet/>
      <dgm:spPr/>
      <dgm:t>
        <a:bodyPr/>
        <a:lstStyle/>
        <a:p>
          <a:endParaRPr lang="zh-CN" altLang="en-US"/>
        </a:p>
      </dgm:t>
    </dgm:pt>
    <dgm:pt modelId="{B046790E-F8DE-456D-8BB9-DC0FEB350050}" type="sibTrans" cxnId="{8FD57C13-ED28-45E7-AB67-A60B2BDB2A6B}">
      <dgm:prSet/>
      <dgm:spPr/>
      <dgm:t>
        <a:bodyPr/>
        <a:lstStyle/>
        <a:p>
          <a:endParaRPr lang="zh-CN" altLang="en-US"/>
        </a:p>
      </dgm:t>
    </dgm:pt>
    <dgm:pt modelId="{E3F8D9F2-E9F1-4005-A6E0-5A328455710D}">
      <dgm:prSet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Enhancement</a:t>
          </a:r>
          <a:endParaRPr lang="zh-CN" altLang="en-US" sz="1600" dirty="0">
            <a:latin typeface="Times New Roman" panose="02020603050405020304" pitchFamily="18" charset="0"/>
            <a:cs typeface="Times New Roman" panose="02020603050405020304" pitchFamily="18" charset="0"/>
          </a:endParaRPr>
        </a:p>
      </dgm:t>
    </dgm:pt>
    <dgm:pt modelId="{9D9D477C-273C-4647-BEDE-05D7CBDD37DC}" type="parTrans" cxnId="{EA57F1C2-4C44-4118-A2EE-CC441CFEEBAF}">
      <dgm:prSet/>
      <dgm:spPr/>
      <dgm:t>
        <a:bodyPr/>
        <a:lstStyle/>
        <a:p>
          <a:endParaRPr lang="zh-CN" altLang="en-US"/>
        </a:p>
      </dgm:t>
    </dgm:pt>
    <dgm:pt modelId="{50387920-F840-4C0D-95FA-3A6B72EEBAE6}" type="sibTrans" cxnId="{EA57F1C2-4C44-4118-A2EE-CC441CFEEBAF}">
      <dgm:prSet/>
      <dgm:spPr/>
      <dgm:t>
        <a:bodyPr/>
        <a:lstStyle/>
        <a:p>
          <a:endParaRPr lang="zh-CN" altLang="en-US"/>
        </a:p>
      </dgm:t>
    </dgm:pt>
    <dgm:pt modelId="{2D8C9DFA-433F-4836-8EE7-66852CCA5847}">
      <dgm:prSet>
        <dgm:style>
          <a:lnRef idx="2">
            <a:schemeClr val="dk1"/>
          </a:lnRef>
          <a:fillRef idx="1">
            <a:schemeClr val="lt1"/>
          </a:fillRef>
          <a:effectRef idx="0">
            <a:schemeClr val="dk1"/>
          </a:effectRef>
          <a:fontRef idx="minor">
            <a:schemeClr val="dk1"/>
          </a:fontRef>
        </dgm:style>
      </dgm:prSet>
      <dgm:spPr/>
      <dgm:t>
        <a:bodyPr/>
        <a:lstStyle/>
        <a:p>
          <a:r>
            <a:rPr lang="en-US" altLang="zh-CN">
              <a:latin typeface="Times New Roman" panose="02020603050405020304" pitchFamily="18" charset="0"/>
              <a:cs typeface="Times New Roman" panose="02020603050405020304" pitchFamily="18" charset="0"/>
            </a:rPr>
            <a:t>Time</a:t>
          </a:r>
          <a:endParaRPr lang="zh-CN" altLang="en-US">
            <a:latin typeface="Times New Roman" panose="02020603050405020304" pitchFamily="18" charset="0"/>
            <a:cs typeface="Times New Roman" panose="02020603050405020304" pitchFamily="18" charset="0"/>
          </a:endParaRPr>
        </a:p>
      </dgm:t>
    </dgm:pt>
    <dgm:pt modelId="{B2812673-E74F-417A-B912-E2DC1E1FE891}" type="parTrans" cxnId="{B08CD73F-D1B7-4463-A5B9-D52E1CD942D6}">
      <dgm:prSet/>
      <dgm:spPr/>
      <dgm:t>
        <a:bodyPr/>
        <a:lstStyle/>
        <a:p>
          <a:endParaRPr lang="zh-CN" altLang="en-US"/>
        </a:p>
      </dgm:t>
    </dgm:pt>
    <dgm:pt modelId="{B7B5BC58-B841-45E8-9A1C-E955F9856C3E}" type="sibTrans" cxnId="{B08CD73F-D1B7-4463-A5B9-D52E1CD942D6}">
      <dgm:prSet/>
      <dgm:spPr/>
      <dgm:t>
        <a:bodyPr/>
        <a:lstStyle/>
        <a:p>
          <a:endParaRPr lang="zh-CN" altLang="en-US"/>
        </a:p>
      </dgm:t>
    </dgm:pt>
    <dgm:pt modelId="{653E14C7-773C-40C9-AF80-B0CEE878FE8B}">
      <dgm:prSet>
        <dgm:style>
          <a:lnRef idx="2">
            <a:schemeClr val="dk1"/>
          </a:lnRef>
          <a:fillRef idx="1">
            <a:schemeClr val="lt1"/>
          </a:fillRef>
          <a:effectRef idx="0">
            <a:schemeClr val="dk1"/>
          </a:effectRef>
          <a:fontRef idx="minor">
            <a:schemeClr val="dk1"/>
          </a:fontRef>
        </dgm:style>
      </dgm:prSet>
      <dgm:spPr/>
      <dgm:t>
        <a:bodyPr/>
        <a:lstStyle/>
        <a:p>
          <a:r>
            <a:rPr lang="en-US" altLang="zh-CN">
              <a:latin typeface="Times New Roman" panose="02020603050405020304" pitchFamily="18" charset="0"/>
              <a:cs typeface="Times New Roman" panose="02020603050405020304" pitchFamily="18" charset="0"/>
            </a:rPr>
            <a:t>Place</a:t>
          </a:r>
          <a:endParaRPr lang="zh-CN" altLang="en-US">
            <a:latin typeface="Times New Roman" panose="02020603050405020304" pitchFamily="18" charset="0"/>
            <a:cs typeface="Times New Roman" panose="02020603050405020304" pitchFamily="18" charset="0"/>
          </a:endParaRPr>
        </a:p>
      </dgm:t>
    </dgm:pt>
    <dgm:pt modelId="{076F1BAC-5B4F-4062-A319-ED1C41DB5E7C}" type="parTrans" cxnId="{412497C4-F292-4270-8524-1E2B43449C08}">
      <dgm:prSet/>
      <dgm:spPr/>
      <dgm:t>
        <a:bodyPr/>
        <a:lstStyle/>
        <a:p>
          <a:endParaRPr lang="zh-CN" altLang="en-US"/>
        </a:p>
      </dgm:t>
    </dgm:pt>
    <dgm:pt modelId="{5D29C57A-7D0A-420A-A561-BD275710F61E}" type="sibTrans" cxnId="{412497C4-F292-4270-8524-1E2B43449C08}">
      <dgm:prSet/>
      <dgm:spPr/>
      <dgm:t>
        <a:bodyPr/>
        <a:lstStyle/>
        <a:p>
          <a:endParaRPr lang="zh-CN" altLang="en-US"/>
        </a:p>
      </dgm:t>
    </dgm:pt>
    <dgm:pt modelId="{5EF10B7F-9869-4FA1-B849-682B4DF4F6C0}">
      <dgm:prSet custT="1">
        <dgm:style>
          <a:lnRef idx="2">
            <a:schemeClr val="dk1"/>
          </a:lnRef>
          <a:fillRef idx="1">
            <a:schemeClr val="lt1"/>
          </a:fillRef>
          <a:effectRef idx="0">
            <a:schemeClr val="dk1"/>
          </a:effectRef>
          <a:fontRef idx="minor">
            <a:schemeClr val="dk1"/>
          </a:fontRef>
        </dgm:style>
      </dgm:prSet>
      <dgm:spPr/>
      <dgm:t>
        <a:bodyPr/>
        <a:lstStyle/>
        <a:p>
          <a:r>
            <a:rPr lang="en-US" altLang="zh-CN" sz="1600" dirty="0">
              <a:latin typeface="Times New Roman" panose="02020603050405020304" pitchFamily="18" charset="0"/>
              <a:cs typeface="Times New Roman" panose="02020603050405020304" pitchFamily="18" charset="0"/>
            </a:rPr>
            <a:t>Reason/Purpose</a:t>
          </a:r>
          <a:endParaRPr lang="zh-CN" altLang="en-US" sz="1600" dirty="0">
            <a:latin typeface="Times New Roman" panose="02020603050405020304" pitchFamily="18" charset="0"/>
            <a:cs typeface="Times New Roman" panose="02020603050405020304" pitchFamily="18" charset="0"/>
          </a:endParaRPr>
        </a:p>
      </dgm:t>
    </dgm:pt>
    <dgm:pt modelId="{DC220F49-A594-4038-B3D5-6606227A31FE}" type="parTrans" cxnId="{1C98456C-FE13-48D4-B3DA-C5EFCB5AC2EF}">
      <dgm:prSet/>
      <dgm:spPr/>
      <dgm:t>
        <a:bodyPr/>
        <a:lstStyle/>
        <a:p>
          <a:endParaRPr lang="zh-CN" altLang="en-US"/>
        </a:p>
      </dgm:t>
    </dgm:pt>
    <dgm:pt modelId="{DFB918DE-A24F-4366-A618-5AA52C3B6E3A}" type="sibTrans" cxnId="{1C98456C-FE13-48D4-B3DA-C5EFCB5AC2EF}">
      <dgm:prSet/>
      <dgm:spPr/>
      <dgm:t>
        <a:bodyPr/>
        <a:lstStyle/>
        <a:p>
          <a:endParaRPr lang="zh-CN" altLang="en-US"/>
        </a:p>
      </dgm:t>
    </dgm:pt>
    <dgm:pt modelId="{CA899458-4ACE-4F50-9148-F5D328683B82}" type="pres">
      <dgm:prSet presAssocID="{786EEA03-5B8F-4138-AFC0-8C4C48E06FFF}" presName="diagram" presStyleCnt="0">
        <dgm:presLayoutVars>
          <dgm:chPref val="1"/>
          <dgm:dir/>
          <dgm:animOne val="branch"/>
          <dgm:animLvl val="lvl"/>
          <dgm:resizeHandles val="exact"/>
        </dgm:presLayoutVars>
      </dgm:prSet>
      <dgm:spPr/>
    </dgm:pt>
    <dgm:pt modelId="{A6725E6B-330F-4650-AF26-58768E3CBF12}" type="pres">
      <dgm:prSet presAssocID="{677C6594-F28B-46D1-A479-E73578BB474B}" presName="root1" presStyleCnt="0"/>
      <dgm:spPr/>
    </dgm:pt>
    <dgm:pt modelId="{33ADD655-FF1F-4552-BC90-8CC408F9C71A}" type="pres">
      <dgm:prSet presAssocID="{677C6594-F28B-46D1-A479-E73578BB474B}" presName="LevelOneTextNode" presStyleLbl="node0" presStyleIdx="0" presStyleCnt="1" custScaleX="127805">
        <dgm:presLayoutVars>
          <dgm:chPref val="3"/>
        </dgm:presLayoutVars>
      </dgm:prSet>
      <dgm:spPr/>
    </dgm:pt>
    <dgm:pt modelId="{B632CB28-9FA7-4192-BEEA-9CB5766A6057}" type="pres">
      <dgm:prSet presAssocID="{677C6594-F28B-46D1-A479-E73578BB474B}" presName="level2hierChild" presStyleCnt="0"/>
      <dgm:spPr/>
    </dgm:pt>
    <dgm:pt modelId="{5EE37576-5B9D-487C-99AD-87E63214D386}" type="pres">
      <dgm:prSet presAssocID="{8213EDA5-4FBE-4D8C-A257-DEB1473ECD66}" presName="conn2-1" presStyleLbl="parChTrans1D2" presStyleIdx="0" presStyleCnt="3"/>
      <dgm:spPr/>
    </dgm:pt>
    <dgm:pt modelId="{2D6F263A-B00E-40A1-90DA-59C97FF3E146}" type="pres">
      <dgm:prSet presAssocID="{8213EDA5-4FBE-4D8C-A257-DEB1473ECD66}" presName="connTx" presStyleLbl="parChTrans1D2" presStyleIdx="0" presStyleCnt="3"/>
      <dgm:spPr/>
    </dgm:pt>
    <dgm:pt modelId="{2E66CE75-8F86-45E7-A817-F7F0E92B8640}" type="pres">
      <dgm:prSet presAssocID="{CB9A5B06-CB55-4B0F-BDDE-C024C9600B44}" presName="root2" presStyleCnt="0"/>
      <dgm:spPr/>
    </dgm:pt>
    <dgm:pt modelId="{E7255538-1F62-4F39-9579-93D382D1B730}" type="pres">
      <dgm:prSet presAssocID="{CB9A5B06-CB55-4B0F-BDDE-C024C9600B44}" presName="LevelTwoTextNode" presStyleLbl="node2" presStyleIdx="0" presStyleCnt="3">
        <dgm:presLayoutVars>
          <dgm:chPref val="3"/>
        </dgm:presLayoutVars>
      </dgm:prSet>
      <dgm:spPr/>
    </dgm:pt>
    <dgm:pt modelId="{7858DE14-FC6F-4923-AA47-B675A7F84BB3}" type="pres">
      <dgm:prSet presAssocID="{CB9A5B06-CB55-4B0F-BDDE-C024C9600B44}" presName="level3hierChild" presStyleCnt="0"/>
      <dgm:spPr/>
    </dgm:pt>
    <dgm:pt modelId="{4A56956A-684E-4BA0-9CD3-C2B981ACB2A8}" type="pres">
      <dgm:prSet presAssocID="{5663487F-96CC-4723-A29E-D6FAD088C076}" presName="conn2-1" presStyleLbl="parChTrans1D3" presStyleIdx="0" presStyleCnt="5"/>
      <dgm:spPr/>
    </dgm:pt>
    <dgm:pt modelId="{4675D96C-9F91-40EA-89BD-B8BE0D6FE1A3}" type="pres">
      <dgm:prSet presAssocID="{5663487F-96CC-4723-A29E-D6FAD088C076}" presName="connTx" presStyleLbl="parChTrans1D3" presStyleIdx="0" presStyleCnt="5"/>
      <dgm:spPr/>
    </dgm:pt>
    <dgm:pt modelId="{2A8F8E52-77EE-4F65-A912-41442B79E3DF}" type="pres">
      <dgm:prSet presAssocID="{079505B0-CCB2-4D4D-B268-5C4072A22913}" presName="root2" presStyleCnt="0"/>
      <dgm:spPr/>
    </dgm:pt>
    <dgm:pt modelId="{5F5BB9F2-2351-4B3C-94A7-C79F4B009BEB}" type="pres">
      <dgm:prSet presAssocID="{079505B0-CCB2-4D4D-B268-5C4072A22913}" presName="LevelTwoTextNode" presStyleLbl="node3" presStyleIdx="0" presStyleCnt="5">
        <dgm:presLayoutVars>
          <dgm:chPref val="3"/>
        </dgm:presLayoutVars>
      </dgm:prSet>
      <dgm:spPr/>
    </dgm:pt>
    <dgm:pt modelId="{1B0C6432-2B9E-45F6-8239-72462852F10F}" type="pres">
      <dgm:prSet presAssocID="{079505B0-CCB2-4D4D-B268-5C4072A22913}" presName="level3hierChild" presStyleCnt="0"/>
      <dgm:spPr/>
    </dgm:pt>
    <dgm:pt modelId="{C621EA79-6523-4FAE-9DDF-800F5F96925E}" type="pres">
      <dgm:prSet presAssocID="{75D517F8-4A81-4BE8-9441-BB0F1030D9DA}" presName="conn2-1" presStyleLbl="parChTrans1D3" presStyleIdx="1" presStyleCnt="5"/>
      <dgm:spPr/>
    </dgm:pt>
    <dgm:pt modelId="{38C92392-272B-4A6D-99FA-AF7FFFD38AA5}" type="pres">
      <dgm:prSet presAssocID="{75D517F8-4A81-4BE8-9441-BB0F1030D9DA}" presName="connTx" presStyleLbl="parChTrans1D3" presStyleIdx="1" presStyleCnt="5"/>
      <dgm:spPr/>
    </dgm:pt>
    <dgm:pt modelId="{957BDE85-4F61-497C-A76F-486C50AEBECB}" type="pres">
      <dgm:prSet presAssocID="{8E09CC02-C22D-4AD9-9D99-05BE9670F7A1}" presName="root2" presStyleCnt="0"/>
      <dgm:spPr/>
    </dgm:pt>
    <dgm:pt modelId="{331E04EF-9791-4BEE-9C14-68B470A6C1B0}" type="pres">
      <dgm:prSet presAssocID="{8E09CC02-C22D-4AD9-9D99-05BE9670F7A1}" presName="LevelTwoTextNode" presStyleLbl="node3" presStyleIdx="1" presStyleCnt="5">
        <dgm:presLayoutVars>
          <dgm:chPref val="3"/>
        </dgm:presLayoutVars>
      </dgm:prSet>
      <dgm:spPr/>
    </dgm:pt>
    <dgm:pt modelId="{4998C6AA-28D6-4CBD-8F11-58C8E708EB15}" type="pres">
      <dgm:prSet presAssocID="{8E09CC02-C22D-4AD9-9D99-05BE9670F7A1}" presName="level3hierChild" presStyleCnt="0"/>
      <dgm:spPr/>
    </dgm:pt>
    <dgm:pt modelId="{A66EFB21-398E-4370-9886-5F9FD2427BF0}" type="pres">
      <dgm:prSet presAssocID="{E61D4725-DF88-4BED-AFAB-6EE459B6A35C}" presName="conn2-1" presStyleLbl="parChTrans1D2" presStyleIdx="1" presStyleCnt="3"/>
      <dgm:spPr/>
    </dgm:pt>
    <dgm:pt modelId="{15124708-95EE-4D09-8E6A-06E4B82970D7}" type="pres">
      <dgm:prSet presAssocID="{E61D4725-DF88-4BED-AFAB-6EE459B6A35C}" presName="connTx" presStyleLbl="parChTrans1D2" presStyleIdx="1" presStyleCnt="3"/>
      <dgm:spPr/>
    </dgm:pt>
    <dgm:pt modelId="{75A678E2-063F-476F-B500-DDA540F55987}" type="pres">
      <dgm:prSet presAssocID="{B77D455E-F4AA-4358-8B99-6C1299D8C88A}" presName="root2" presStyleCnt="0"/>
      <dgm:spPr/>
    </dgm:pt>
    <dgm:pt modelId="{51A8DDC4-8596-482F-A075-93A64C5B4F6F}" type="pres">
      <dgm:prSet presAssocID="{B77D455E-F4AA-4358-8B99-6C1299D8C88A}" presName="LevelTwoTextNode" presStyleLbl="node2" presStyleIdx="1" presStyleCnt="3">
        <dgm:presLayoutVars>
          <dgm:chPref val="3"/>
        </dgm:presLayoutVars>
      </dgm:prSet>
      <dgm:spPr/>
    </dgm:pt>
    <dgm:pt modelId="{307C1887-A3CD-4782-A7D5-05956FF71B52}" type="pres">
      <dgm:prSet presAssocID="{B77D455E-F4AA-4358-8B99-6C1299D8C88A}" presName="level3hierChild" presStyleCnt="0"/>
      <dgm:spPr/>
    </dgm:pt>
    <dgm:pt modelId="{6D1C4BD5-8962-49EE-B73D-4037D7039CB8}" type="pres">
      <dgm:prSet presAssocID="{9D9D477C-273C-4647-BEDE-05D7CBDD37DC}" presName="conn2-1" presStyleLbl="parChTrans1D2" presStyleIdx="2" presStyleCnt="3"/>
      <dgm:spPr/>
    </dgm:pt>
    <dgm:pt modelId="{BF22710A-E359-4517-92C8-2324E926372E}" type="pres">
      <dgm:prSet presAssocID="{9D9D477C-273C-4647-BEDE-05D7CBDD37DC}" presName="connTx" presStyleLbl="parChTrans1D2" presStyleIdx="2" presStyleCnt="3"/>
      <dgm:spPr/>
    </dgm:pt>
    <dgm:pt modelId="{AB30A467-5FA3-4912-880E-DAC5CDB4CBC7}" type="pres">
      <dgm:prSet presAssocID="{E3F8D9F2-E9F1-4005-A6E0-5A328455710D}" presName="root2" presStyleCnt="0"/>
      <dgm:spPr/>
    </dgm:pt>
    <dgm:pt modelId="{E6CD3EE1-0258-4910-BF8B-CE8BCCD77B8E}" type="pres">
      <dgm:prSet presAssocID="{E3F8D9F2-E9F1-4005-A6E0-5A328455710D}" presName="LevelTwoTextNode" presStyleLbl="node2" presStyleIdx="2" presStyleCnt="3">
        <dgm:presLayoutVars>
          <dgm:chPref val="3"/>
        </dgm:presLayoutVars>
      </dgm:prSet>
      <dgm:spPr/>
    </dgm:pt>
    <dgm:pt modelId="{31A6445E-BB90-4563-BCF4-2DA9DB10B92B}" type="pres">
      <dgm:prSet presAssocID="{E3F8D9F2-E9F1-4005-A6E0-5A328455710D}" presName="level3hierChild" presStyleCnt="0"/>
      <dgm:spPr/>
    </dgm:pt>
    <dgm:pt modelId="{5EB59B97-3D82-430C-BB31-8C2373D432D7}" type="pres">
      <dgm:prSet presAssocID="{B2812673-E74F-417A-B912-E2DC1E1FE891}" presName="conn2-1" presStyleLbl="parChTrans1D3" presStyleIdx="2" presStyleCnt="5"/>
      <dgm:spPr/>
    </dgm:pt>
    <dgm:pt modelId="{22DB6277-787F-4F81-991A-C85ABC68E476}" type="pres">
      <dgm:prSet presAssocID="{B2812673-E74F-417A-B912-E2DC1E1FE891}" presName="connTx" presStyleLbl="parChTrans1D3" presStyleIdx="2" presStyleCnt="5"/>
      <dgm:spPr/>
    </dgm:pt>
    <dgm:pt modelId="{2B0ECD6C-7ADB-4D1D-A059-2B00451C9133}" type="pres">
      <dgm:prSet presAssocID="{2D8C9DFA-433F-4836-8EE7-66852CCA5847}" presName="root2" presStyleCnt="0"/>
      <dgm:spPr/>
    </dgm:pt>
    <dgm:pt modelId="{2E4C7C43-7580-469E-9B48-7C3C4D846F83}" type="pres">
      <dgm:prSet presAssocID="{2D8C9DFA-433F-4836-8EE7-66852CCA5847}" presName="LevelTwoTextNode" presStyleLbl="node3" presStyleIdx="2" presStyleCnt="5">
        <dgm:presLayoutVars>
          <dgm:chPref val="3"/>
        </dgm:presLayoutVars>
      </dgm:prSet>
      <dgm:spPr/>
    </dgm:pt>
    <dgm:pt modelId="{C69F21DA-5068-4426-8385-66BEEA23FE4C}" type="pres">
      <dgm:prSet presAssocID="{2D8C9DFA-433F-4836-8EE7-66852CCA5847}" presName="level3hierChild" presStyleCnt="0"/>
      <dgm:spPr/>
    </dgm:pt>
    <dgm:pt modelId="{06ABEF56-BEFA-4972-80EA-E9A0CDE371F1}" type="pres">
      <dgm:prSet presAssocID="{076F1BAC-5B4F-4062-A319-ED1C41DB5E7C}" presName="conn2-1" presStyleLbl="parChTrans1D3" presStyleIdx="3" presStyleCnt="5"/>
      <dgm:spPr/>
    </dgm:pt>
    <dgm:pt modelId="{91415F7F-3EC1-4982-94B2-46BE9A2EE74B}" type="pres">
      <dgm:prSet presAssocID="{076F1BAC-5B4F-4062-A319-ED1C41DB5E7C}" presName="connTx" presStyleLbl="parChTrans1D3" presStyleIdx="3" presStyleCnt="5"/>
      <dgm:spPr/>
    </dgm:pt>
    <dgm:pt modelId="{735B00AD-3B54-4563-905F-5FCAEC4ECF52}" type="pres">
      <dgm:prSet presAssocID="{653E14C7-773C-40C9-AF80-B0CEE878FE8B}" presName="root2" presStyleCnt="0"/>
      <dgm:spPr/>
    </dgm:pt>
    <dgm:pt modelId="{266E2736-8917-4172-80EA-53A146FA0193}" type="pres">
      <dgm:prSet presAssocID="{653E14C7-773C-40C9-AF80-B0CEE878FE8B}" presName="LevelTwoTextNode" presStyleLbl="node3" presStyleIdx="3" presStyleCnt="5">
        <dgm:presLayoutVars>
          <dgm:chPref val="3"/>
        </dgm:presLayoutVars>
      </dgm:prSet>
      <dgm:spPr/>
    </dgm:pt>
    <dgm:pt modelId="{B241B8DF-7263-40AC-8CCC-AD7F226C0F73}" type="pres">
      <dgm:prSet presAssocID="{653E14C7-773C-40C9-AF80-B0CEE878FE8B}" presName="level3hierChild" presStyleCnt="0"/>
      <dgm:spPr/>
    </dgm:pt>
    <dgm:pt modelId="{E16DBD9C-9E54-4B20-A7C7-3E5E1AD07477}" type="pres">
      <dgm:prSet presAssocID="{DC220F49-A594-4038-B3D5-6606227A31FE}" presName="conn2-1" presStyleLbl="parChTrans1D3" presStyleIdx="4" presStyleCnt="5"/>
      <dgm:spPr/>
    </dgm:pt>
    <dgm:pt modelId="{940A0E6A-A131-4D7D-8492-A80BD447642F}" type="pres">
      <dgm:prSet presAssocID="{DC220F49-A594-4038-B3D5-6606227A31FE}" presName="connTx" presStyleLbl="parChTrans1D3" presStyleIdx="4" presStyleCnt="5"/>
      <dgm:spPr/>
    </dgm:pt>
    <dgm:pt modelId="{9BE9A9B6-AA7C-4876-8FA2-57A5B86C9ED2}" type="pres">
      <dgm:prSet presAssocID="{5EF10B7F-9869-4FA1-B849-682B4DF4F6C0}" presName="root2" presStyleCnt="0"/>
      <dgm:spPr/>
    </dgm:pt>
    <dgm:pt modelId="{565C976F-6293-4F06-B5E4-05342F4EB8DB}" type="pres">
      <dgm:prSet presAssocID="{5EF10B7F-9869-4FA1-B849-682B4DF4F6C0}" presName="LevelTwoTextNode" presStyleLbl="node3" presStyleIdx="4" presStyleCnt="5" custScaleX="111730">
        <dgm:presLayoutVars>
          <dgm:chPref val="3"/>
        </dgm:presLayoutVars>
      </dgm:prSet>
      <dgm:spPr/>
    </dgm:pt>
    <dgm:pt modelId="{F2A116C8-CCBA-4066-ACF2-71D31730E742}" type="pres">
      <dgm:prSet presAssocID="{5EF10B7F-9869-4FA1-B849-682B4DF4F6C0}" presName="level3hierChild" presStyleCnt="0"/>
      <dgm:spPr/>
    </dgm:pt>
  </dgm:ptLst>
  <dgm:cxnLst>
    <dgm:cxn modelId="{05F20D02-1FA4-4321-9814-3A1188AEC864}" type="presOf" srcId="{B2812673-E74F-417A-B912-E2DC1E1FE891}" destId="{5EB59B97-3D82-430C-BB31-8C2373D432D7}" srcOrd="0" destOrd="0" presId="urn:microsoft.com/office/officeart/2005/8/layout/hierarchy2"/>
    <dgm:cxn modelId="{E082B804-D639-4E47-8302-C675B0A706A4}" type="presOf" srcId="{653E14C7-773C-40C9-AF80-B0CEE878FE8B}" destId="{266E2736-8917-4172-80EA-53A146FA0193}" srcOrd="0" destOrd="0" presId="urn:microsoft.com/office/officeart/2005/8/layout/hierarchy2"/>
    <dgm:cxn modelId="{A5553309-5ED3-466D-87E8-A613C2FEFB1E}" type="presOf" srcId="{5663487F-96CC-4723-A29E-D6FAD088C076}" destId="{4A56956A-684E-4BA0-9CD3-C2B981ACB2A8}" srcOrd="0" destOrd="0" presId="urn:microsoft.com/office/officeart/2005/8/layout/hierarchy2"/>
    <dgm:cxn modelId="{A982520D-CC7F-4FBD-943F-44B44C67084F}" type="presOf" srcId="{E3F8D9F2-E9F1-4005-A6E0-5A328455710D}" destId="{E6CD3EE1-0258-4910-BF8B-CE8BCCD77B8E}" srcOrd="0" destOrd="0" presId="urn:microsoft.com/office/officeart/2005/8/layout/hierarchy2"/>
    <dgm:cxn modelId="{8FD57C13-ED28-45E7-AB67-A60B2BDB2A6B}" srcId="{677C6594-F28B-46D1-A479-E73578BB474B}" destId="{B77D455E-F4AA-4358-8B99-6C1299D8C88A}" srcOrd="1" destOrd="0" parTransId="{E61D4725-DF88-4BED-AFAB-6EE459B6A35C}" sibTransId="{B046790E-F8DE-456D-8BB9-DC0FEB350050}"/>
    <dgm:cxn modelId="{2641E413-7385-4B8F-A082-6CC05077DC9B}" type="presOf" srcId="{9D9D477C-273C-4647-BEDE-05D7CBDD37DC}" destId="{6D1C4BD5-8962-49EE-B73D-4037D7039CB8}" srcOrd="0" destOrd="0" presId="urn:microsoft.com/office/officeart/2005/8/layout/hierarchy2"/>
    <dgm:cxn modelId="{2B194C2D-1DD6-4956-9AEF-CB2530A967C1}" type="presOf" srcId="{75D517F8-4A81-4BE8-9441-BB0F1030D9DA}" destId="{C621EA79-6523-4FAE-9DDF-800F5F96925E}" srcOrd="0" destOrd="0" presId="urn:microsoft.com/office/officeart/2005/8/layout/hierarchy2"/>
    <dgm:cxn modelId="{2D07E831-3042-4B63-8083-7FCB06A97E4F}" type="presOf" srcId="{786EEA03-5B8F-4138-AFC0-8C4C48E06FFF}" destId="{CA899458-4ACE-4F50-9148-F5D328683B82}" srcOrd="0" destOrd="0" presId="urn:microsoft.com/office/officeart/2005/8/layout/hierarchy2"/>
    <dgm:cxn modelId="{E0A83834-05D9-40D2-A717-8A7092B63B67}" type="presOf" srcId="{5663487F-96CC-4723-A29E-D6FAD088C076}" destId="{4675D96C-9F91-40EA-89BD-B8BE0D6FE1A3}" srcOrd="1" destOrd="0" presId="urn:microsoft.com/office/officeart/2005/8/layout/hierarchy2"/>
    <dgm:cxn modelId="{8B766E3B-7EA9-4AD5-9AD3-F75FCA7DCF86}" type="presOf" srcId="{5EF10B7F-9869-4FA1-B849-682B4DF4F6C0}" destId="{565C976F-6293-4F06-B5E4-05342F4EB8DB}" srcOrd="0" destOrd="0" presId="urn:microsoft.com/office/officeart/2005/8/layout/hierarchy2"/>
    <dgm:cxn modelId="{399FA93F-EC62-47F3-9678-508107438B3B}" srcId="{677C6594-F28B-46D1-A479-E73578BB474B}" destId="{CB9A5B06-CB55-4B0F-BDDE-C024C9600B44}" srcOrd="0" destOrd="0" parTransId="{8213EDA5-4FBE-4D8C-A257-DEB1473ECD66}" sibTransId="{F4CE686B-3A7E-487B-BB44-44CE4851DCD0}"/>
    <dgm:cxn modelId="{B08CD73F-D1B7-4463-A5B9-D52E1CD942D6}" srcId="{E3F8D9F2-E9F1-4005-A6E0-5A328455710D}" destId="{2D8C9DFA-433F-4836-8EE7-66852CCA5847}" srcOrd="0" destOrd="0" parTransId="{B2812673-E74F-417A-B912-E2DC1E1FE891}" sibTransId="{B7B5BC58-B841-45E8-9A1C-E955F9856C3E}"/>
    <dgm:cxn modelId="{D74D765E-8F6A-4984-8FF2-0E7C66F0749B}" type="presOf" srcId="{CB9A5B06-CB55-4B0F-BDDE-C024C9600B44}" destId="{E7255538-1F62-4F39-9579-93D382D1B730}" srcOrd="0" destOrd="0" presId="urn:microsoft.com/office/officeart/2005/8/layout/hierarchy2"/>
    <dgm:cxn modelId="{E564495F-BA72-483B-B97C-29D4EA4EA248}" type="presOf" srcId="{076F1BAC-5B4F-4062-A319-ED1C41DB5E7C}" destId="{06ABEF56-BEFA-4972-80EA-E9A0CDE371F1}" srcOrd="0" destOrd="0" presId="urn:microsoft.com/office/officeart/2005/8/layout/hierarchy2"/>
    <dgm:cxn modelId="{80928D61-1C79-4BBE-9196-DF25EDDB4B2E}" type="presOf" srcId="{B77D455E-F4AA-4358-8B99-6C1299D8C88A}" destId="{51A8DDC4-8596-482F-A075-93A64C5B4F6F}" srcOrd="0" destOrd="0" presId="urn:microsoft.com/office/officeart/2005/8/layout/hierarchy2"/>
    <dgm:cxn modelId="{79A14067-2259-4F84-8D1F-05BF95D53753}" type="presOf" srcId="{677C6594-F28B-46D1-A479-E73578BB474B}" destId="{33ADD655-FF1F-4552-BC90-8CC408F9C71A}" srcOrd="0" destOrd="0" presId="urn:microsoft.com/office/officeart/2005/8/layout/hierarchy2"/>
    <dgm:cxn modelId="{EFC3B047-B07F-4310-948B-B05D4D50DE42}" type="presOf" srcId="{8213EDA5-4FBE-4D8C-A257-DEB1473ECD66}" destId="{5EE37576-5B9D-487C-99AD-87E63214D386}" srcOrd="0" destOrd="0" presId="urn:microsoft.com/office/officeart/2005/8/layout/hierarchy2"/>
    <dgm:cxn modelId="{1C98456C-FE13-48D4-B3DA-C5EFCB5AC2EF}" srcId="{E3F8D9F2-E9F1-4005-A6E0-5A328455710D}" destId="{5EF10B7F-9869-4FA1-B849-682B4DF4F6C0}" srcOrd="2" destOrd="0" parTransId="{DC220F49-A594-4038-B3D5-6606227A31FE}" sibTransId="{DFB918DE-A24F-4366-A618-5AA52C3B6E3A}"/>
    <dgm:cxn modelId="{8B4E294E-C2C5-4A20-B64A-C9B53A815671}" type="presOf" srcId="{9D9D477C-273C-4647-BEDE-05D7CBDD37DC}" destId="{BF22710A-E359-4517-92C8-2324E926372E}" srcOrd="1" destOrd="0" presId="urn:microsoft.com/office/officeart/2005/8/layout/hierarchy2"/>
    <dgm:cxn modelId="{6CA15E54-A9C9-41D4-9D27-EF2B494BF32A}" srcId="{CB9A5B06-CB55-4B0F-BDDE-C024C9600B44}" destId="{8E09CC02-C22D-4AD9-9D99-05BE9670F7A1}" srcOrd="1" destOrd="0" parTransId="{75D517F8-4A81-4BE8-9441-BB0F1030D9DA}" sibTransId="{EB9C6D1C-8D74-4D51-AC4D-78D4F51879AA}"/>
    <dgm:cxn modelId="{E6967458-B02F-4695-92DB-8DC6A4EF4458}" type="presOf" srcId="{E61D4725-DF88-4BED-AFAB-6EE459B6A35C}" destId="{15124708-95EE-4D09-8E6A-06E4B82970D7}" srcOrd="1" destOrd="0" presId="urn:microsoft.com/office/officeart/2005/8/layout/hierarchy2"/>
    <dgm:cxn modelId="{BD4AA580-C026-4F01-B48C-3744618CAA4F}" type="presOf" srcId="{8213EDA5-4FBE-4D8C-A257-DEB1473ECD66}" destId="{2D6F263A-B00E-40A1-90DA-59C97FF3E146}" srcOrd="1" destOrd="0" presId="urn:microsoft.com/office/officeart/2005/8/layout/hierarchy2"/>
    <dgm:cxn modelId="{D6AED988-F469-47A5-A595-56E1F076AF9A}" type="presOf" srcId="{E61D4725-DF88-4BED-AFAB-6EE459B6A35C}" destId="{A66EFB21-398E-4370-9886-5F9FD2427BF0}" srcOrd="0" destOrd="0" presId="urn:microsoft.com/office/officeart/2005/8/layout/hierarchy2"/>
    <dgm:cxn modelId="{A892E091-E1D6-4B22-B163-69594EC65F39}" srcId="{CB9A5B06-CB55-4B0F-BDDE-C024C9600B44}" destId="{079505B0-CCB2-4D4D-B268-5C4072A22913}" srcOrd="0" destOrd="0" parTransId="{5663487F-96CC-4723-A29E-D6FAD088C076}" sibTransId="{82C06C6D-DDB8-4518-ABF1-8C8B987A94EF}"/>
    <dgm:cxn modelId="{03E7A995-FC2C-4A2B-A609-C7AEDDCA78D8}" type="presOf" srcId="{2D8C9DFA-433F-4836-8EE7-66852CCA5847}" destId="{2E4C7C43-7580-469E-9B48-7C3C4D846F83}" srcOrd="0" destOrd="0" presId="urn:microsoft.com/office/officeart/2005/8/layout/hierarchy2"/>
    <dgm:cxn modelId="{C0008F9B-E09F-4AAD-A1E5-28B008203D51}" type="presOf" srcId="{B2812673-E74F-417A-B912-E2DC1E1FE891}" destId="{22DB6277-787F-4F81-991A-C85ABC68E476}" srcOrd="1" destOrd="0" presId="urn:microsoft.com/office/officeart/2005/8/layout/hierarchy2"/>
    <dgm:cxn modelId="{D41793BF-6FDE-4F48-B06A-0A61D5BB7BF8}" type="presOf" srcId="{076F1BAC-5B4F-4062-A319-ED1C41DB5E7C}" destId="{91415F7F-3EC1-4982-94B2-46BE9A2EE74B}" srcOrd="1" destOrd="0" presId="urn:microsoft.com/office/officeart/2005/8/layout/hierarchy2"/>
    <dgm:cxn modelId="{EA57F1C2-4C44-4118-A2EE-CC441CFEEBAF}" srcId="{677C6594-F28B-46D1-A479-E73578BB474B}" destId="{E3F8D9F2-E9F1-4005-A6E0-5A328455710D}" srcOrd="2" destOrd="0" parTransId="{9D9D477C-273C-4647-BEDE-05D7CBDD37DC}" sibTransId="{50387920-F840-4C0D-95FA-3A6B72EEBAE6}"/>
    <dgm:cxn modelId="{412497C4-F292-4270-8524-1E2B43449C08}" srcId="{E3F8D9F2-E9F1-4005-A6E0-5A328455710D}" destId="{653E14C7-773C-40C9-AF80-B0CEE878FE8B}" srcOrd="1" destOrd="0" parTransId="{076F1BAC-5B4F-4062-A319-ED1C41DB5E7C}" sibTransId="{5D29C57A-7D0A-420A-A561-BD275710F61E}"/>
    <dgm:cxn modelId="{88110CCA-97B0-468E-9F00-13ED7AC93863}" type="presOf" srcId="{8E09CC02-C22D-4AD9-9D99-05BE9670F7A1}" destId="{331E04EF-9791-4BEE-9C14-68B470A6C1B0}" srcOrd="0" destOrd="0" presId="urn:microsoft.com/office/officeart/2005/8/layout/hierarchy2"/>
    <dgm:cxn modelId="{08EA48CE-5AC9-4E71-B14F-A4D02E469B26}" type="presOf" srcId="{DC220F49-A594-4038-B3D5-6606227A31FE}" destId="{940A0E6A-A131-4D7D-8492-A80BD447642F}" srcOrd="1" destOrd="0" presId="urn:microsoft.com/office/officeart/2005/8/layout/hierarchy2"/>
    <dgm:cxn modelId="{4BB4F0D0-88E0-4FD2-AC63-75C04A6FD931}" type="presOf" srcId="{079505B0-CCB2-4D4D-B268-5C4072A22913}" destId="{5F5BB9F2-2351-4B3C-94A7-C79F4B009BEB}" srcOrd="0" destOrd="0" presId="urn:microsoft.com/office/officeart/2005/8/layout/hierarchy2"/>
    <dgm:cxn modelId="{564CE5E0-A361-460E-BDF5-D0FBDF474C9E}" srcId="{786EEA03-5B8F-4138-AFC0-8C4C48E06FFF}" destId="{677C6594-F28B-46D1-A479-E73578BB474B}" srcOrd="0" destOrd="0" parTransId="{C3D3B702-E0F3-4A7D-ACCA-538D76FEA454}" sibTransId="{14E52BD1-833D-40DE-AB96-291BD4B67712}"/>
    <dgm:cxn modelId="{0E94C8E1-94BE-44B8-9D54-86041DEE1736}" type="presOf" srcId="{DC220F49-A594-4038-B3D5-6606227A31FE}" destId="{E16DBD9C-9E54-4B20-A7C7-3E5E1AD07477}" srcOrd="0" destOrd="0" presId="urn:microsoft.com/office/officeart/2005/8/layout/hierarchy2"/>
    <dgm:cxn modelId="{F9CE12E5-9823-498B-A921-7DA7911AAEC5}" type="presOf" srcId="{75D517F8-4A81-4BE8-9441-BB0F1030D9DA}" destId="{38C92392-272B-4A6D-99FA-AF7FFFD38AA5}" srcOrd="1" destOrd="0" presId="urn:microsoft.com/office/officeart/2005/8/layout/hierarchy2"/>
    <dgm:cxn modelId="{64DCD03F-FE30-42EC-A064-6935C1EFEE22}" type="presParOf" srcId="{CA899458-4ACE-4F50-9148-F5D328683B82}" destId="{A6725E6B-330F-4650-AF26-58768E3CBF12}" srcOrd="0" destOrd="0" presId="urn:microsoft.com/office/officeart/2005/8/layout/hierarchy2"/>
    <dgm:cxn modelId="{2DFB2941-DBEC-408C-8156-445FCD96131A}" type="presParOf" srcId="{A6725E6B-330F-4650-AF26-58768E3CBF12}" destId="{33ADD655-FF1F-4552-BC90-8CC408F9C71A}" srcOrd="0" destOrd="0" presId="urn:microsoft.com/office/officeart/2005/8/layout/hierarchy2"/>
    <dgm:cxn modelId="{D697688E-4578-44B6-9245-D624E4E67150}" type="presParOf" srcId="{A6725E6B-330F-4650-AF26-58768E3CBF12}" destId="{B632CB28-9FA7-4192-BEEA-9CB5766A6057}" srcOrd="1" destOrd="0" presId="urn:microsoft.com/office/officeart/2005/8/layout/hierarchy2"/>
    <dgm:cxn modelId="{4FAD705F-2451-47C7-B9A2-A9BAB0EF5A5C}" type="presParOf" srcId="{B632CB28-9FA7-4192-BEEA-9CB5766A6057}" destId="{5EE37576-5B9D-487C-99AD-87E63214D386}" srcOrd="0" destOrd="0" presId="urn:microsoft.com/office/officeart/2005/8/layout/hierarchy2"/>
    <dgm:cxn modelId="{50C7894C-9A03-45B8-9D4D-722DCED272E5}" type="presParOf" srcId="{5EE37576-5B9D-487C-99AD-87E63214D386}" destId="{2D6F263A-B00E-40A1-90DA-59C97FF3E146}" srcOrd="0" destOrd="0" presId="urn:microsoft.com/office/officeart/2005/8/layout/hierarchy2"/>
    <dgm:cxn modelId="{DC173F9E-408A-4A7A-AEC7-1B3827DB33BC}" type="presParOf" srcId="{B632CB28-9FA7-4192-BEEA-9CB5766A6057}" destId="{2E66CE75-8F86-45E7-A817-F7F0E92B8640}" srcOrd="1" destOrd="0" presId="urn:microsoft.com/office/officeart/2005/8/layout/hierarchy2"/>
    <dgm:cxn modelId="{347B60B4-5D5D-44C9-9F21-96A94753E3DF}" type="presParOf" srcId="{2E66CE75-8F86-45E7-A817-F7F0E92B8640}" destId="{E7255538-1F62-4F39-9579-93D382D1B730}" srcOrd="0" destOrd="0" presId="urn:microsoft.com/office/officeart/2005/8/layout/hierarchy2"/>
    <dgm:cxn modelId="{96B5A513-8E11-42B3-8E7D-5ABA5333D4D3}" type="presParOf" srcId="{2E66CE75-8F86-45E7-A817-F7F0E92B8640}" destId="{7858DE14-FC6F-4923-AA47-B675A7F84BB3}" srcOrd="1" destOrd="0" presId="urn:microsoft.com/office/officeart/2005/8/layout/hierarchy2"/>
    <dgm:cxn modelId="{B6B5FEEC-59C8-4CA2-8388-4014EDAA5231}" type="presParOf" srcId="{7858DE14-FC6F-4923-AA47-B675A7F84BB3}" destId="{4A56956A-684E-4BA0-9CD3-C2B981ACB2A8}" srcOrd="0" destOrd="0" presId="urn:microsoft.com/office/officeart/2005/8/layout/hierarchy2"/>
    <dgm:cxn modelId="{BA5C93D3-5A66-47DF-8FF3-41D18B33B51A}" type="presParOf" srcId="{4A56956A-684E-4BA0-9CD3-C2B981ACB2A8}" destId="{4675D96C-9F91-40EA-89BD-B8BE0D6FE1A3}" srcOrd="0" destOrd="0" presId="urn:microsoft.com/office/officeart/2005/8/layout/hierarchy2"/>
    <dgm:cxn modelId="{CDBDCE0A-3CB8-4510-B8F8-F283338907F5}" type="presParOf" srcId="{7858DE14-FC6F-4923-AA47-B675A7F84BB3}" destId="{2A8F8E52-77EE-4F65-A912-41442B79E3DF}" srcOrd="1" destOrd="0" presId="urn:microsoft.com/office/officeart/2005/8/layout/hierarchy2"/>
    <dgm:cxn modelId="{162D6F49-0564-469D-A906-BF95E1C995CC}" type="presParOf" srcId="{2A8F8E52-77EE-4F65-A912-41442B79E3DF}" destId="{5F5BB9F2-2351-4B3C-94A7-C79F4B009BEB}" srcOrd="0" destOrd="0" presId="urn:microsoft.com/office/officeart/2005/8/layout/hierarchy2"/>
    <dgm:cxn modelId="{7ED6A105-9048-429E-A0E5-467AD9173B5A}" type="presParOf" srcId="{2A8F8E52-77EE-4F65-A912-41442B79E3DF}" destId="{1B0C6432-2B9E-45F6-8239-72462852F10F}" srcOrd="1" destOrd="0" presId="urn:microsoft.com/office/officeart/2005/8/layout/hierarchy2"/>
    <dgm:cxn modelId="{54855463-75EC-4294-960F-0B1890178C97}" type="presParOf" srcId="{7858DE14-FC6F-4923-AA47-B675A7F84BB3}" destId="{C621EA79-6523-4FAE-9DDF-800F5F96925E}" srcOrd="2" destOrd="0" presId="urn:microsoft.com/office/officeart/2005/8/layout/hierarchy2"/>
    <dgm:cxn modelId="{F4174725-3694-4DE6-94E4-B5757749F1CD}" type="presParOf" srcId="{C621EA79-6523-4FAE-9DDF-800F5F96925E}" destId="{38C92392-272B-4A6D-99FA-AF7FFFD38AA5}" srcOrd="0" destOrd="0" presId="urn:microsoft.com/office/officeart/2005/8/layout/hierarchy2"/>
    <dgm:cxn modelId="{B8B30CE2-9A81-4D4B-A96E-C590FA31561A}" type="presParOf" srcId="{7858DE14-FC6F-4923-AA47-B675A7F84BB3}" destId="{957BDE85-4F61-497C-A76F-486C50AEBECB}" srcOrd="3" destOrd="0" presId="urn:microsoft.com/office/officeart/2005/8/layout/hierarchy2"/>
    <dgm:cxn modelId="{5B92434E-33F7-4803-B24F-B243E48BE174}" type="presParOf" srcId="{957BDE85-4F61-497C-A76F-486C50AEBECB}" destId="{331E04EF-9791-4BEE-9C14-68B470A6C1B0}" srcOrd="0" destOrd="0" presId="urn:microsoft.com/office/officeart/2005/8/layout/hierarchy2"/>
    <dgm:cxn modelId="{2185FABD-655E-41C0-84CC-1A630B9C2BDD}" type="presParOf" srcId="{957BDE85-4F61-497C-A76F-486C50AEBECB}" destId="{4998C6AA-28D6-4CBD-8F11-58C8E708EB15}" srcOrd="1" destOrd="0" presId="urn:microsoft.com/office/officeart/2005/8/layout/hierarchy2"/>
    <dgm:cxn modelId="{5F6FDC99-06AC-4A40-8612-BEC949CB765A}" type="presParOf" srcId="{B632CB28-9FA7-4192-BEEA-9CB5766A6057}" destId="{A66EFB21-398E-4370-9886-5F9FD2427BF0}" srcOrd="2" destOrd="0" presId="urn:microsoft.com/office/officeart/2005/8/layout/hierarchy2"/>
    <dgm:cxn modelId="{C6973BC0-816B-472B-B343-6A759D9DC2F3}" type="presParOf" srcId="{A66EFB21-398E-4370-9886-5F9FD2427BF0}" destId="{15124708-95EE-4D09-8E6A-06E4B82970D7}" srcOrd="0" destOrd="0" presId="urn:microsoft.com/office/officeart/2005/8/layout/hierarchy2"/>
    <dgm:cxn modelId="{3A1E8655-970D-4C4D-B3AB-66A9DB0260C7}" type="presParOf" srcId="{B632CB28-9FA7-4192-BEEA-9CB5766A6057}" destId="{75A678E2-063F-476F-B500-DDA540F55987}" srcOrd="3" destOrd="0" presId="urn:microsoft.com/office/officeart/2005/8/layout/hierarchy2"/>
    <dgm:cxn modelId="{FBF0994A-0E00-448D-B832-018383EC2183}" type="presParOf" srcId="{75A678E2-063F-476F-B500-DDA540F55987}" destId="{51A8DDC4-8596-482F-A075-93A64C5B4F6F}" srcOrd="0" destOrd="0" presId="urn:microsoft.com/office/officeart/2005/8/layout/hierarchy2"/>
    <dgm:cxn modelId="{28773FAE-BBCA-4B75-A0D9-53C435EB6211}" type="presParOf" srcId="{75A678E2-063F-476F-B500-DDA540F55987}" destId="{307C1887-A3CD-4782-A7D5-05956FF71B52}" srcOrd="1" destOrd="0" presId="urn:microsoft.com/office/officeart/2005/8/layout/hierarchy2"/>
    <dgm:cxn modelId="{AB8E7FBC-C23D-4BB6-B1E2-79C504D915B6}" type="presParOf" srcId="{B632CB28-9FA7-4192-BEEA-9CB5766A6057}" destId="{6D1C4BD5-8962-49EE-B73D-4037D7039CB8}" srcOrd="4" destOrd="0" presId="urn:microsoft.com/office/officeart/2005/8/layout/hierarchy2"/>
    <dgm:cxn modelId="{345F062C-CB49-40CA-984E-C64B88E56036}" type="presParOf" srcId="{6D1C4BD5-8962-49EE-B73D-4037D7039CB8}" destId="{BF22710A-E359-4517-92C8-2324E926372E}" srcOrd="0" destOrd="0" presId="urn:microsoft.com/office/officeart/2005/8/layout/hierarchy2"/>
    <dgm:cxn modelId="{6AA226C6-44C5-4C28-85BD-B8B4B7D4A3B7}" type="presParOf" srcId="{B632CB28-9FA7-4192-BEEA-9CB5766A6057}" destId="{AB30A467-5FA3-4912-880E-DAC5CDB4CBC7}" srcOrd="5" destOrd="0" presId="urn:microsoft.com/office/officeart/2005/8/layout/hierarchy2"/>
    <dgm:cxn modelId="{67F2B336-198A-47EF-A26D-46E51829529E}" type="presParOf" srcId="{AB30A467-5FA3-4912-880E-DAC5CDB4CBC7}" destId="{E6CD3EE1-0258-4910-BF8B-CE8BCCD77B8E}" srcOrd="0" destOrd="0" presId="urn:microsoft.com/office/officeart/2005/8/layout/hierarchy2"/>
    <dgm:cxn modelId="{AC9907DB-A029-4782-977C-335420E801AE}" type="presParOf" srcId="{AB30A467-5FA3-4912-880E-DAC5CDB4CBC7}" destId="{31A6445E-BB90-4563-BCF4-2DA9DB10B92B}" srcOrd="1" destOrd="0" presId="urn:microsoft.com/office/officeart/2005/8/layout/hierarchy2"/>
    <dgm:cxn modelId="{ADB08D66-9701-473F-90C6-C3D11DB5BC88}" type="presParOf" srcId="{31A6445E-BB90-4563-BCF4-2DA9DB10B92B}" destId="{5EB59B97-3D82-430C-BB31-8C2373D432D7}" srcOrd="0" destOrd="0" presId="urn:microsoft.com/office/officeart/2005/8/layout/hierarchy2"/>
    <dgm:cxn modelId="{611F3C0B-7B62-4BB5-BC30-70FFA0B236C7}" type="presParOf" srcId="{5EB59B97-3D82-430C-BB31-8C2373D432D7}" destId="{22DB6277-787F-4F81-991A-C85ABC68E476}" srcOrd="0" destOrd="0" presId="urn:microsoft.com/office/officeart/2005/8/layout/hierarchy2"/>
    <dgm:cxn modelId="{E88986DE-8557-4C41-AFA6-835BF29D4CCC}" type="presParOf" srcId="{31A6445E-BB90-4563-BCF4-2DA9DB10B92B}" destId="{2B0ECD6C-7ADB-4D1D-A059-2B00451C9133}" srcOrd="1" destOrd="0" presId="urn:microsoft.com/office/officeart/2005/8/layout/hierarchy2"/>
    <dgm:cxn modelId="{06B5A9EA-E17B-4365-BDEA-EEBB6AE7925E}" type="presParOf" srcId="{2B0ECD6C-7ADB-4D1D-A059-2B00451C9133}" destId="{2E4C7C43-7580-469E-9B48-7C3C4D846F83}" srcOrd="0" destOrd="0" presId="urn:microsoft.com/office/officeart/2005/8/layout/hierarchy2"/>
    <dgm:cxn modelId="{AC41D853-73E8-4217-9B45-E0E295FFE517}" type="presParOf" srcId="{2B0ECD6C-7ADB-4D1D-A059-2B00451C9133}" destId="{C69F21DA-5068-4426-8385-66BEEA23FE4C}" srcOrd="1" destOrd="0" presId="urn:microsoft.com/office/officeart/2005/8/layout/hierarchy2"/>
    <dgm:cxn modelId="{02F85384-503A-4812-89F9-BE5037ECC9B6}" type="presParOf" srcId="{31A6445E-BB90-4563-BCF4-2DA9DB10B92B}" destId="{06ABEF56-BEFA-4972-80EA-E9A0CDE371F1}" srcOrd="2" destOrd="0" presId="urn:microsoft.com/office/officeart/2005/8/layout/hierarchy2"/>
    <dgm:cxn modelId="{B054F549-5681-4EA6-A3FC-9DCB18B4F7D9}" type="presParOf" srcId="{06ABEF56-BEFA-4972-80EA-E9A0CDE371F1}" destId="{91415F7F-3EC1-4982-94B2-46BE9A2EE74B}" srcOrd="0" destOrd="0" presId="urn:microsoft.com/office/officeart/2005/8/layout/hierarchy2"/>
    <dgm:cxn modelId="{D741B5C5-FE7D-4859-ADB1-0A5AA41DDD53}" type="presParOf" srcId="{31A6445E-BB90-4563-BCF4-2DA9DB10B92B}" destId="{735B00AD-3B54-4563-905F-5FCAEC4ECF52}" srcOrd="3" destOrd="0" presId="urn:microsoft.com/office/officeart/2005/8/layout/hierarchy2"/>
    <dgm:cxn modelId="{35FFF882-C794-407B-8039-3B9C1839F1FE}" type="presParOf" srcId="{735B00AD-3B54-4563-905F-5FCAEC4ECF52}" destId="{266E2736-8917-4172-80EA-53A146FA0193}" srcOrd="0" destOrd="0" presId="urn:microsoft.com/office/officeart/2005/8/layout/hierarchy2"/>
    <dgm:cxn modelId="{A672003A-7033-4124-A6DB-CBE691A0F967}" type="presParOf" srcId="{735B00AD-3B54-4563-905F-5FCAEC4ECF52}" destId="{B241B8DF-7263-40AC-8CCC-AD7F226C0F73}" srcOrd="1" destOrd="0" presId="urn:microsoft.com/office/officeart/2005/8/layout/hierarchy2"/>
    <dgm:cxn modelId="{79326BEC-357C-47A7-8287-C16123F36109}" type="presParOf" srcId="{31A6445E-BB90-4563-BCF4-2DA9DB10B92B}" destId="{E16DBD9C-9E54-4B20-A7C7-3E5E1AD07477}" srcOrd="4" destOrd="0" presId="urn:microsoft.com/office/officeart/2005/8/layout/hierarchy2"/>
    <dgm:cxn modelId="{93E2E0EC-AB44-4640-91ED-ADF54F2C33F8}" type="presParOf" srcId="{E16DBD9C-9E54-4B20-A7C7-3E5E1AD07477}" destId="{940A0E6A-A131-4D7D-8492-A80BD447642F}" srcOrd="0" destOrd="0" presId="urn:microsoft.com/office/officeart/2005/8/layout/hierarchy2"/>
    <dgm:cxn modelId="{A10420D1-EC80-464B-9ACC-183D99323648}" type="presParOf" srcId="{31A6445E-BB90-4563-BCF4-2DA9DB10B92B}" destId="{9BE9A9B6-AA7C-4876-8FA2-57A5B86C9ED2}" srcOrd="5" destOrd="0" presId="urn:microsoft.com/office/officeart/2005/8/layout/hierarchy2"/>
    <dgm:cxn modelId="{578B7B93-4EC2-487C-8E9A-EC9D24AF2791}" type="presParOf" srcId="{9BE9A9B6-AA7C-4876-8FA2-57A5B86C9ED2}" destId="{565C976F-6293-4F06-B5E4-05342F4EB8DB}" srcOrd="0" destOrd="0" presId="urn:microsoft.com/office/officeart/2005/8/layout/hierarchy2"/>
    <dgm:cxn modelId="{FE5552A1-0672-412C-9F07-813DE9C91D27}" type="presParOf" srcId="{9BE9A9B6-AA7C-4876-8FA2-57A5B86C9ED2}" destId="{F2A116C8-CCBA-4066-ACF2-71D31730E742}"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F443F-7E83-41C9-A183-596417453D96}">
      <dsp:nvSpPr>
        <dsp:cNvPr id="0" name=""/>
        <dsp:cNvSpPr/>
      </dsp:nvSpPr>
      <dsp:spPr>
        <a:xfrm>
          <a:off x="426127" y="1143735"/>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Image-Text Status</a:t>
          </a:r>
          <a:endParaRPr lang="zh-CN" altLang="en-US" sz="1600" kern="1200" dirty="0">
            <a:latin typeface="Times New Roman" panose="02020603050405020304" pitchFamily="18" charset="0"/>
            <a:cs typeface="Times New Roman" panose="02020603050405020304" pitchFamily="18" charset="0"/>
          </a:endParaRPr>
        </a:p>
      </dsp:txBody>
      <dsp:txXfrm>
        <a:off x="445510" y="1163118"/>
        <a:ext cx="1284799" cy="623016"/>
      </dsp:txXfrm>
    </dsp:sp>
    <dsp:sp modelId="{FFA4DC21-FA41-43D1-877E-D9222CBAA376}">
      <dsp:nvSpPr>
        <dsp:cNvPr id="0" name=""/>
        <dsp:cNvSpPr/>
      </dsp:nvSpPr>
      <dsp:spPr>
        <a:xfrm rot="18289469">
          <a:off x="1550862" y="1073906"/>
          <a:ext cx="927086" cy="40390"/>
        </a:xfrm>
        <a:custGeom>
          <a:avLst/>
          <a:gdLst/>
          <a:ahLst/>
          <a:cxnLst/>
          <a:rect l="0" t="0" r="0" b="0"/>
          <a:pathLst>
            <a:path>
              <a:moveTo>
                <a:pt x="0" y="20195"/>
              </a:moveTo>
              <a:lnTo>
                <a:pt x="927086" y="201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1228" y="1070924"/>
        <a:ext cx="46354" cy="46354"/>
      </dsp:txXfrm>
    </dsp:sp>
    <dsp:sp modelId="{40A49199-8819-4B3C-944A-394B22C651D5}">
      <dsp:nvSpPr>
        <dsp:cNvPr id="0" name=""/>
        <dsp:cNvSpPr/>
      </dsp:nvSpPr>
      <dsp:spPr>
        <a:xfrm>
          <a:off x="2279119" y="382684"/>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Equal</a:t>
          </a:r>
          <a:endParaRPr lang="zh-CN" altLang="en-US" sz="1600" kern="1200" dirty="0">
            <a:latin typeface="Times New Roman" panose="02020603050405020304" pitchFamily="18" charset="0"/>
            <a:cs typeface="Times New Roman" panose="02020603050405020304" pitchFamily="18" charset="0"/>
          </a:endParaRPr>
        </a:p>
      </dsp:txBody>
      <dsp:txXfrm>
        <a:off x="2298502" y="402067"/>
        <a:ext cx="1284799" cy="623016"/>
      </dsp:txXfrm>
    </dsp:sp>
    <dsp:sp modelId="{8CAE29DF-CB18-4EEB-9CEE-E0327894CFF2}">
      <dsp:nvSpPr>
        <dsp:cNvPr id="0" name=""/>
        <dsp:cNvSpPr/>
      </dsp:nvSpPr>
      <dsp:spPr>
        <a:xfrm rot="19457599">
          <a:off x="3541403" y="503118"/>
          <a:ext cx="651990" cy="40390"/>
        </a:xfrm>
        <a:custGeom>
          <a:avLst/>
          <a:gdLst/>
          <a:ahLst/>
          <a:cxnLst/>
          <a:rect l="0" t="0" r="0" b="0"/>
          <a:pathLst>
            <a:path>
              <a:moveTo>
                <a:pt x="0" y="20195"/>
              </a:moveTo>
              <a:lnTo>
                <a:pt x="651990" y="20195"/>
              </a:lnTo>
            </a:path>
          </a:pathLst>
        </a:custGeom>
        <a:noFill/>
        <a:ln w="6350" cap="flat" cmpd="sng" algn="ctr">
          <a:solidFill>
            <a:schemeClr val="dk1"/>
          </a:solidFill>
          <a:prstDash val="solid"/>
          <a:miter lim="800000"/>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51098" y="507013"/>
        <a:ext cx="32599" cy="32599"/>
      </dsp:txXfrm>
    </dsp:sp>
    <dsp:sp modelId="{65C48FD0-ACF6-4BE8-B778-705EC75A261C}">
      <dsp:nvSpPr>
        <dsp:cNvPr id="0" name=""/>
        <dsp:cNvSpPr/>
      </dsp:nvSpPr>
      <dsp:spPr>
        <a:xfrm>
          <a:off x="4132111" y="2159"/>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Independent</a:t>
          </a:r>
          <a:endParaRPr lang="zh-CN" altLang="en-US" sz="1600" kern="1200" dirty="0">
            <a:latin typeface="Times New Roman" panose="02020603050405020304" pitchFamily="18" charset="0"/>
            <a:cs typeface="Times New Roman" panose="02020603050405020304" pitchFamily="18" charset="0"/>
          </a:endParaRPr>
        </a:p>
      </dsp:txBody>
      <dsp:txXfrm>
        <a:off x="4151494" y="21542"/>
        <a:ext cx="1284799" cy="623016"/>
      </dsp:txXfrm>
    </dsp:sp>
    <dsp:sp modelId="{0DE48EC2-BEE2-4618-A0EE-300BA05A5342}">
      <dsp:nvSpPr>
        <dsp:cNvPr id="0" name=""/>
        <dsp:cNvSpPr/>
      </dsp:nvSpPr>
      <dsp:spPr>
        <a:xfrm rot="2142401">
          <a:off x="3541403" y="883643"/>
          <a:ext cx="651990" cy="40390"/>
        </a:xfrm>
        <a:custGeom>
          <a:avLst/>
          <a:gdLst/>
          <a:ahLst/>
          <a:cxnLst/>
          <a:rect l="0" t="0" r="0" b="0"/>
          <a:pathLst>
            <a:path>
              <a:moveTo>
                <a:pt x="0" y="20195"/>
              </a:moveTo>
              <a:lnTo>
                <a:pt x="651990" y="20195"/>
              </a:lnTo>
            </a:path>
          </a:pathLst>
        </a:custGeom>
        <a:noFill/>
        <a:ln w="6350" cap="flat" cmpd="sng" algn="ctr">
          <a:solidFill>
            <a:schemeClr val="dk1"/>
          </a:solidFill>
          <a:prstDash val="solid"/>
          <a:miter lim="800000"/>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51098" y="887538"/>
        <a:ext cx="32599" cy="32599"/>
      </dsp:txXfrm>
    </dsp:sp>
    <dsp:sp modelId="{E23A290E-AEBA-4F75-A2CC-A35A56F10CA0}">
      <dsp:nvSpPr>
        <dsp:cNvPr id="0" name=""/>
        <dsp:cNvSpPr/>
      </dsp:nvSpPr>
      <dsp:spPr>
        <a:xfrm>
          <a:off x="4132111" y="763209"/>
          <a:ext cx="1398678"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Complementary</a:t>
          </a:r>
          <a:endParaRPr lang="zh-CN" altLang="en-US" sz="1600" kern="1200" dirty="0">
            <a:latin typeface="Times New Roman" panose="02020603050405020304" pitchFamily="18" charset="0"/>
            <a:cs typeface="Times New Roman" panose="02020603050405020304" pitchFamily="18" charset="0"/>
          </a:endParaRPr>
        </a:p>
      </dsp:txBody>
      <dsp:txXfrm>
        <a:off x="4151494" y="782592"/>
        <a:ext cx="1359912" cy="623016"/>
      </dsp:txXfrm>
    </dsp:sp>
    <dsp:sp modelId="{D5009222-8B26-4639-90F3-A53DF2AE0949}">
      <dsp:nvSpPr>
        <dsp:cNvPr id="0" name=""/>
        <dsp:cNvSpPr/>
      </dsp:nvSpPr>
      <dsp:spPr>
        <a:xfrm rot="3310531">
          <a:off x="1550862" y="1834956"/>
          <a:ext cx="927086" cy="40390"/>
        </a:xfrm>
        <a:custGeom>
          <a:avLst/>
          <a:gdLst/>
          <a:ahLst/>
          <a:cxnLst/>
          <a:rect l="0" t="0" r="0" b="0"/>
          <a:pathLst>
            <a:path>
              <a:moveTo>
                <a:pt x="0" y="20195"/>
              </a:moveTo>
              <a:lnTo>
                <a:pt x="927086" y="201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1228" y="1831974"/>
        <a:ext cx="46354" cy="46354"/>
      </dsp:txXfrm>
    </dsp:sp>
    <dsp:sp modelId="{7443734E-1D74-4864-9695-AA5D81EBF0F5}">
      <dsp:nvSpPr>
        <dsp:cNvPr id="0" name=""/>
        <dsp:cNvSpPr/>
      </dsp:nvSpPr>
      <dsp:spPr>
        <a:xfrm>
          <a:off x="2279119" y="1904785"/>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Unequal</a:t>
          </a:r>
          <a:endParaRPr lang="zh-CN" altLang="en-US" sz="1600" kern="1200" dirty="0">
            <a:latin typeface="Times New Roman" panose="02020603050405020304" pitchFamily="18" charset="0"/>
            <a:cs typeface="Times New Roman" panose="02020603050405020304" pitchFamily="18" charset="0"/>
          </a:endParaRPr>
        </a:p>
      </dsp:txBody>
      <dsp:txXfrm>
        <a:off x="2298502" y="1924168"/>
        <a:ext cx="1284799" cy="623016"/>
      </dsp:txXfrm>
    </dsp:sp>
    <dsp:sp modelId="{6C2A1A55-9B6C-4DE1-8539-E7AF13E22DF0}">
      <dsp:nvSpPr>
        <dsp:cNvPr id="0" name=""/>
        <dsp:cNvSpPr/>
      </dsp:nvSpPr>
      <dsp:spPr>
        <a:xfrm rot="19457599">
          <a:off x="3541403" y="2025219"/>
          <a:ext cx="651990" cy="40390"/>
        </a:xfrm>
        <a:custGeom>
          <a:avLst/>
          <a:gdLst/>
          <a:ahLst/>
          <a:cxnLst/>
          <a:rect l="0" t="0" r="0" b="0"/>
          <a:pathLst>
            <a:path>
              <a:moveTo>
                <a:pt x="0" y="20195"/>
              </a:moveTo>
              <a:lnTo>
                <a:pt x="651990" y="20195"/>
              </a:lnTo>
            </a:path>
          </a:pathLst>
        </a:custGeom>
        <a:noFill/>
        <a:ln w="6350" cap="flat" cmpd="sng" algn="ctr">
          <a:solidFill>
            <a:schemeClr val="dk1"/>
          </a:solidFill>
          <a:prstDash val="solid"/>
          <a:miter lim="800000"/>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51098" y="2029114"/>
        <a:ext cx="32599" cy="32599"/>
      </dsp:txXfrm>
    </dsp:sp>
    <dsp:sp modelId="{D7CE79A9-701D-448F-A593-F7191B64ED51}">
      <dsp:nvSpPr>
        <dsp:cNvPr id="0" name=""/>
        <dsp:cNvSpPr/>
      </dsp:nvSpPr>
      <dsp:spPr>
        <a:xfrm>
          <a:off x="4132111" y="1524260"/>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Image Subordination</a:t>
          </a:r>
          <a:endParaRPr lang="zh-CN" altLang="en-US" sz="1600" kern="1200" dirty="0">
            <a:latin typeface="Times New Roman" panose="02020603050405020304" pitchFamily="18" charset="0"/>
            <a:cs typeface="Times New Roman" panose="02020603050405020304" pitchFamily="18" charset="0"/>
          </a:endParaRPr>
        </a:p>
      </dsp:txBody>
      <dsp:txXfrm>
        <a:off x="4151494" y="1543643"/>
        <a:ext cx="1284799" cy="623016"/>
      </dsp:txXfrm>
    </dsp:sp>
    <dsp:sp modelId="{65EA52A6-260D-4630-A30C-0BE9865B38A2}">
      <dsp:nvSpPr>
        <dsp:cNvPr id="0" name=""/>
        <dsp:cNvSpPr/>
      </dsp:nvSpPr>
      <dsp:spPr>
        <a:xfrm rot="2142401">
          <a:off x="3541403" y="2405744"/>
          <a:ext cx="651990" cy="40390"/>
        </a:xfrm>
        <a:custGeom>
          <a:avLst/>
          <a:gdLst/>
          <a:ahLst/>
          <a:cxnLst/>
          <a:rect l="0" t="0" r="0" b="0"/>
          <a:pathLst>
            <a:path>
              <a:moveTo>
                <a:pt x="0" y="20195"/>
              </a:moveTo>
              <a:lnTo>
                <a:pt x="651990" y="20195"/>
              </a:lnTo>
            </a:path>
          </a:pathLst>
        </a:custGeom>
        <a:noFill/>
        <a:ln w="6350" cap="flat" cmpd="sng" algn="ctr">
          <a:solidFill>
            <a:schemeClr val="dk1"/>
          </a:solidFill>
          <a:prstDash val="solid"/>
          <a:miter lim="800000"/>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51098" y="2409639"/>
        <a:ext cx="32599" cy="32599"/>
      </dsp:txXfrm>
    </dsp:sp>
    <dsp:sp modelId="{BCB6E81C-829A-4291-8D41-B3B7AB21D15C}">
      <dsp:nvSpPr>
        <dsp:cNvPr id="0" name=""/>
        <dsp:cNvSpPr/>
      </dsp:nvSpPr>
      <dsp:spPr>
        <a:xfrm>
          <a:off x="4132111" y="2285310"/>
          <a:ext cx="1323565" cy="66178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Text Subordination</a:t>
          </a:r>
          <a:endParaRPr lang="zh-CN" altLang="en-US" sz="1600" kern="1200" dirty="0">
            <a:latin typeface="Times New Roman" panose="02020603050405020304" pitchFamily="18" charset="0"/>
            <a:cs typeface="Times New Roman" panose="02020603050405020304" pitchFamily="18" charset="0"/>
          </a:endParaRPr>
        </a:p>
      </dsp:txBody>
      <dsp:txXfrm>
        <a:off x="4151494" y="2304693"/>
        <a:ext cx="1284799" cy="62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DD655-FF1F-4552-BC90-8CC408F9C71A}">
      <dsp:nvSpPr>
        <dsp:cNvPr id="0" name=""/>
        <dsp:cNvSpPr/>
      </dsp:nvSpPr>
      <dsp:spPr>
        <a:xfrm>
          <a:off x="492119" y="1324389"/>
          <a:ext cx="1678470"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Logico-Semantic Relations</a:t>
          </a:r>
          <a:endParaRPr lang="zh-CN" altLang="en-US" sz="1600" kern="1200" dirty="0">
            <a:latin typeface="Times New Roman" panose="02020603050405020304" pitchFamily="18" charset="0"/>
            <a:cs typeface="Times New Roman" panose="02020603050405020304" pitchFamily="18" charset="0"/>
          </a:endParaRPr>
        </a:p>
      </dsp:txBody>
      <dsp:txXfrm>
        <a:off x="511352" y="1343622"/>
        <a:ext cx="1640004" cy="618186"/>
      </dsp:txXfrm>
    </dsp:sp>
    <dsp:sp modelId="{5EE37576-5B9D-487C-99AD-87E63214D386}">
      <dsp:nvSpPr>
        <dsp:cNvPr id="0" name=""/>
        <dsp:cNvSpPr/>
      </dsp:nvSpPr>
      <dsp:spPr>
        <a:xfrm rot="17945813">
          <a:off x="1893116" y="1164700"/>
          <a:ext cx="1080269" cy="32092"/>
        </a:xfrm>
        <a:custGeom>
          <a:avLst/>
          <a:gdLst/>
          <a:ahLst/>
          <a:cxnLst/>
          <a:rect l="0" t="0" r="0" b="0"/>
          <a:pathLst>
            <a:path>
              <a:moveTo>
                <a:pt x="0" y="16046"/>
              </a:moveTo>
              <a:lnTo>
                <a:pt x="108026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406244" y="1153740"/>
        <a:ext cx="54013" cy="54013"/>
      </dsp:txXfrm>
    </dsp:sp>
    <dsp:sp modelId="{E7255538-1F62-4F39-9579-93D382D1B730}">
      <dsp:nvSpPr>
        <dsp:cNvPr id="0" name=""/>
        <dsp:cNvSpPr/>
      </dsp:nvSpPr>
      <dsp:spPr>
        <a:xfrm>
          <a:off x="2695912" y="380451"/>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Elaboration</a:t>
          </a:r>
          <a:endParaRPr lang="zh-CN" altLang="en-US" sz="1600" kern="1200" dirty="0">
            <a:latin typeface="Times New Roman" panose="02020603050405020304" pitchFamily="18" charset="0"/>
            <a:cs typeface="Times New Roman" panose="02020603050405020304" pitchFamily="18" charset="0"/>
          </a:endParaRPr>
        </a:p>
      </dsp:txBody>
      <dsp:txXfrm>
        <a:off x="2715145" y="399684"/>
        <a:ext cx="1274839" cy="618186"/>
      </dsp:txXfrm>
    </dsp:sp>
    <dsp:sp modelId="{4A56956A-684E-4BA0-9CD3-C2B981ACB2A8}">
      <dsp:nvSpPr>
        <dsp:cNvPr id="0" name=""/>
        <dsp:cNvSpPr/>
      </dsp:nvSpPr>
      <dsp:spPr>
        <a:xfrm rot="19457599">
          <a:off x="3948410" y="503944"/>
          <a:ext cx="646936" cy="32092"/>
        </a:xfrm>
        <a:custGeom>
          <a:avLst/>
          <a:gdLst/>
          <a:ahLst/>
          <a:cxnLst/>
          <a:rect l="0" t="0" r="0" b="0"/>
          <a:pathLst>
            <a:path>
              <a:moveTo>
                <a:pt x="0" y="16046"/>
              </a:moveTo>
              <a:lnTo>
                <a:pt x="646936"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255705" y="503816"/>
        <a:ext cx="32346" cy="32346"/>
      </dsp:txXfrm>
    </dsp:sp>
    <dsp:sp modelId="{5F5BB9F2-2351-4B3C-94A7-C79F4B009BEB}">
      <dsp:nvSpPr>
        <dsp:cNvPr id="0" name=""/>
        <dsp:cNvSpPr/>
      </dsp:nvSpPr>
      <dsp:spPr>
        <a:xfrm>
          <a:off x="4534539" y="2876"/>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dirty="0">
              <a:latin typeface="Times New Roman" panose="02020603050405020304" pitchFamily="18" charset="0"/>
              <a:cs typeface="Times New Roman" panose="02020603050405020304" pitchFamily="18" charset="0"/>
            </a:rPr>
            <a:t>Exposition</a:t>
          </a:r>
          <a:endParaRPr lang="zh-CN" altLang="en-US" sz="1500" kern="1200" dirty="0">
            <a:latin typeface="Times New Roman" panose="02020603050405020304" pitchFamily="18" charset="0"/>
            <a:cs typeface="Times New Roman" panose="02020603050405020304" pitchFamily="18" charset="0"/>
          </a:endParaRPr>
        </a:p>
      </dsp:txBody>
      <dsp:txXfrm>
        <a:off x="4553772" y="22109"/>
        <a:ext cx="1274839" cy="618186"/>
      </dsp:txXfrm>
    </dsp:sp>
    <dsp:sp modelId="{C621EA79-6523-4FAE-9DDF-800F5F96925E}">
      <dsp:nvSpPr>
        <dsp:cNvPr id="0" name=""/>
        <dsp:cNvSpPr/>
      </dsp:nvSpPr>
      <dsp:spPr>
        <a:xfrm rot="2142401">
          <a:off x="3948410" y="881519"/>
          <a:ext cx="646936" cy="32092"/>
        </a:xfrm>
        <a:custGeom>
          <a:avLst/>
          <a:gdLst/>
          <a:ahLst/>
          <a:cxnLst/>
          <a:rect l="0" t="0" r="0" b="0"/>
          <a:pathLst>
            <a:path>
              <a:moveTo>
                <a:pt x="0" y="16046"/>
              </a:moveTo>
              <a:lnTo>
                <a:pt x="646936"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255705" y="881392"/>
        <a:ext cx="32346" cy="32346"/>
      </dsp:txXfrm>
    </dsp:sp>
    <dsp:sp modelId="{331E04EF-9791-4BEE-9C14-68B470A6C1B0}">
      <dsp:nvSpPr>
        <dsp:cNvPr id="0" name=""/>
        <dsp:cNvSpPr/>
      </dsp:nvSpPr>
      <dsp:spPr>
        <a:xfrm>
          <a:off x="4534539" y="758026"/>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dirty="0">
              <a:latin typeface="Times New Roman" panose="02020603050405020304" pitchFamily="18" charset="0"/>
              <a:cs typeface="Times New Roman" panose="02020603050405020304" pitchFamily="18" charset="0"/>
            </a:rPr>
            <a:t>Exemplification</a:t>
          </a:r>
          <a:endParaRPr lang="zh-CN" altLang="en-US" sz="1500" kern="1200" dirty="0">
            <a:latin typeface="Times New Roman" panose="02020603050405020304" pitchFamily="18" charset="0"/>
            <a:cs typeface="Times New Roman" panose="02020603050405020304" pitchFamily="18" charset="0"/>
          </a:endParaRPr>
        </a:p>
      </dsp:txBody>
      <dsp:txXfrm>
        <a:off x="4553772" y="777259"/>
        <a:ext cx="1274839" cy="618186"/>
      </dsp:txXfrm>
    </dsp:sp>
    <dsp:sp modelId="{A66EFB21-398E-4370-9886-5F9FD2427BF0}">
      <dsp:nvSpPr>
        <dsp:cNvPr id="0" name=""/>
        <dsp:cNvSpPr/>
      </dsp:nvSpPr>
      <dsp:spPr>
        <a:xfrm rot="20413970">
          <a:off x="2154143" y="1542276"/>
          <a:ext cx="558215" cy="32092"/>
        </a:xfrm>
        <a:custGeom>
          <a:avLst/>
          <a:gdLst/>
          <a:ahLst/>
          <a:cxnLst/>
          <a:rect l="0" t="0" r="0" b="0"/>
          <a:pathLst>
            <a:path>
              <a:moveTo>
                <a:pt x="0" y="16046"/>
              </a:moveTo>
              <a:lnTo>
                <a:pt x="558215"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419295" y="1544367"/>
        <a:ext cx="27910" cy="27910"/>
      </dsp:txXfrm>
    </dsp:sp>
    <dsp:sp modelId="{51A8DDC4-8596-482F-A075-93A64C5B4F6F}">
      <dsp:nvSpPr>
        <dsp:cNvPr id="0" name=""/>
        <dsp:cNvSpPr/>
      </dsp:nvSpPr>
      <dsp:spPr>
        <a:xfrm>
          <a:off x="2695912" y="1135602"/>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Extension</a:t>
          </a:r>
          <a:endParaRPr lang="zh-CN" altLang="en-US" sz="1600" kern="1200" dirty="0">
            <a:latin typeface="Times New Roman" panose="02020603050405020304" pitchFamily="18" charset="0"/>
            <a:cs typeface="Times New Roman" panose="02020603050405020304" pitchFamily="18" charset="0"/>
          </a:endParaRPr>
        </a:p>
      </dsp:txBody>
      <dsp:txXfrm>
        <a:off x="2715145" y="1154835"/>
        <a:ext cx="1274839" cy="618186"/>
      </dsp:txXfrm>
    </dsp:sp>
    <dsp:sp modelId="{6D1C4BD5-8962-49EE-B73D-4037D7039CB8}">
      <dsp:nvSpPr>
        <dsp:cNvPr id="0" name=""/>
        <dsp:cNvSpPr/>
      </dsp:nvSpPr>
      <dsp:spPr>
        <a:xfrm rot="3654187">
          <a:off x="1893116" y="2108639"/>
          <a:ext cx="1080269" cy="32092"/>
        </a:xfrm>
        <a:custGeom>
          <a:avLst/>
          <a:gdLst/>
          <a:ahLst/>
          <a:cxnLst/>
          <a:rect l="0" t="0" r="0" b="0"/>
          <a:pathLst>
            <a:path>
              <a:moveTo>
                <a:pt x="0" y="16046"/>
              </a:moveTo>
              <a:lnTo>
                <a:pt x="108026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406244" y="2097678"/>
        <a:ext cx="54013" cy="54013"/>
      </dsp:txXfrm>
    </dsp:sp>
    <dsp:sp modelId="{E6CD3EE1-0258-4910-BF8B-CE8BCCD77B8E}">
      <dsp:nvSpPr>
        <dsp:cNvPr id="0" name=""/>
        <dsp:cNvSpPr/>
      </dsp:nvSpPr>
      <dsp:spPr>
        <a:xfrm>
          <a:off x="2695912" y="2268328"/>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Enhancement</a:t>
          </a:r>
          <a:endParaRPr lang="zh-CN" altLang="en-US" sz="1600" kern="1200" dirty="0">
            <a:latin typeface="Times New Roman" panose="02020603050405020304" pitchFamily="18" charset="0"/>
            <a:cs typeface="Times New Roman" panose="02020603050405020304" pitchFamily="18" charset="0"/>
          </a:endParaRPr>
        </a:p>
      </dsp:txBody>
      <dsp:txXfrm>
        <a:off x="2715145" y="2287561"/>
        <a:ext cx="1274839" cy="618186"/>
      </dsp:txXfrm>
    </dsp:sp>
    <dsp:sp modelId="{5EB59B97-3D82-430C-BB31-8C2373D432D7}">
      <dsp:nvSpPr>
        <dsp:cNvPr id="0" name=""/>
        <dsp:cNvSpPr/>
      </dsp:nvSpPr>
      <dsp:spPr>
        <a:xfrm rot="18289469">
          <a:off x="3811928" y="2203033"/>
          <a:ext cx="919899" cy="32092"/>
        </a:xfrm>
        <a:custGeom>
          <a:avLst/>
          <a:gdLst/>
          <a:ahLst/>
          <a:cxnLst/>
          <a:rect l="0" t="0" r="0" b="0"/>
          <a:pathLst>
            <a:path>
              <a:moveTo>
                <a:pt x="0" y="16046"/>
              </a:moveTo>
              <a:lnTo>
                <a:pt x="919899"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248881" y="2196081"/>
        <a:ext cx="45994" cy="45994"/>
      </dsp:txXfrm>
    </dsp:sp>
    <dsp:sp modelId="{2E4C7C43-7580-469E-9B48-7C3C4D846F83}">
      <dsp:nvSpPr>
        <dsp:cNvPr id="0" name=""/>
        <dsp:cNvSpPr/>
      </dsp:nvSpPr>
      <dsp:spPr>
        <a:xfrm>
          <a:off x="4534539" y="1513177"/>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latin typeface="Times New Roman" panose="02020603050405020304" pitchFamily="18" charset="0"/>
              <a:cs typeface="Times New Roman" panose="02020603050405020304" pitchFamily="18" charset="0"/>
            </a:rPr>
            <a:t>Time</a:t>
          </a:r>
          <a:endParaRPr lang="zh-CN" altLang="en-US" sz="1500" kern="1200">
            <a:latin typeface="Times New Roman" panose="02020603050405020304" pitchFamily="18" charset="0"/>
            <a:cs typeface="Times New Roman" panose="02020603050405020304" pitchFamily="18" charset="0"/>
          </a:endParaRPr>
        </a:p>
      </dsp:txBody>
      <dsp:txXfrm>
        <a:off x="4553772" y="1532410"/>
        <a:ext cx="1274839" cy="618186"/>
      </dsp:txXfrm>
    </dsp:sp>
    <dsp:sp modelId="{06ABEF56-BEFA-4972-80EA-E9A0CDE371F1}">
      <dsp:nvSpPr>
        <dsp:cNvPr id="0" name=""/>
        <dsp:cNvSpPr/>
      </dsp:nvSpPr>
      <dsp:spPr>
        <a:xfrm>
          <a:off x="4009217" y="2580608"/>
          <a:ext cx="525322" cy="32092"/>
        </a:xfrm>
        <a:custGeom>
          <a:avLst/>
          <a:gdLst/>
          <a:ahLst/>
          <a:cxnLst/>
          <a:rect l="0" t="0" r="0" b="0"/>
          <a:pathLst>
            <a:path>
              <a:moveTo>
                <a:pt x="0" y="16046"/>
              </a:moveTo>
              <a:lnTo>
                <a:pt x="525322"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258745" y="2583521"/>
        <a:ext cx="26266" cy="26266"/>
      </dsp:txXfrm>
    </dsp:sp>
    <dsp:sp modelId="{266E2736-8917-4172-80EA-53A146FA0193}">
      <dsp:nvSpPr>
        <dsp:cNvPr id="0" name=""/>
        <dsp:cNvSpPr/>
      </dsp:nvSpPr>
      <dsp:spPr>
        <a:xfrm>
          <a:off x="4534539" y="2268328"/>
          <a:ext cx="1313305"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latin typeface="Times New Roman" panose="02020603050405020304" pitchFamily="18" charset="0"/>
              <a:cs typeface="Times New Roman" panose="02020603050405020304" pitchFamily="18" charset="0"/>
            </a:rPr>
            <a:t>Place</a:t>
          </a:r>
          <a:endParaRPr lang="zh-CN" altLang="en-US" sz="1500" kern="1200">
            <a:latin typeface="Times New Roman" panose="02020603050405020304" pitchFamily="18" charset="0"/>
            <a:cs typeface="Times New Roman" panose="02020603050405020304" pitchFamily="18" charset="0"/>
          </a:endParaRPr>
        </a:p>
      </dsp:txBody>
      <dsp:txXfrm>
        <a:off x="4553772" y="2287561"/>
        <a:ext cx="1274839" cy="618186"/>
      </dsp:txXfrm>
    </dsp:sp>
    <dsp:sp modelId="{E16DBD9C-9E54-4B20-A7C7-3E5E1AD07477}">
      <dsp:nvSpPr>
        <dsp:cNvPr id="0" name=""/>
        <dsp:cNvSpPr/>
      </dsp:nvSpPr>
      <dsp:spPr>
        <a:xfrm rot="3310531">
          <a:off x="3811928" y="2958183"/>
          <a:ext cx="919899" cy="32092"/>
        </a:xfrm>
        <a:custGeom>
          <a:avLst/>
          <a:gdLst/>
          <a:ahLst/>
          <a:cxnLst/>
          <a:rect l="0" t="0" r="0" b="0"/>
          <a:pathLst>
            <a:path>
              <a:moveTo>
                <a:pt x="0" y="16046"/>
              </a:moveTo>
              <a:lnTo>
                <a:pt x="919899"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248881" y="2951232"/>
        <a:ext cx="45994" cy="45994"/>
      </dsp:txXfrm>
    </dsp:sp>
    <dsp:sp modelId="{565C976F-6293-4F06-B5E4-05342F4EB8DB}">
      <dsp:nvSpPr>
        <dsp:cNvPr id="0" name=""/>
        <dsp:cNvSpPr/>
      </dsp:nvSpPr>
      <dsp:spPr>
        <a:xfrm>
          <a:off x="4534539" y="3023478"/>
          <a:ext cx="1467356" cy="656652"/>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Times New Roman" panose="02020603050405020304" pitchFamily="18" charset="0"/>
              <a:cs typeface="Times New Roman" panose="02020603050405020304" pitchFamily="18" charset="0"/>
            </a:rPr>
            <a:t>Reason/Purpose</a:t>
          </a:r>
          <a:endParaRPr lang="zh-CN" altLang="en-US" sz="1600" kern="1200" dirty="0">
            <a:latin typeface="Times New Roman" panose="02020603050405020304" pitchFamily="18" charset="0"/>
            <a:cs typeface="Times New Roman" panose="02020603050405020304" pitchFamily="18" charset="0"/>
          </a:endParaRPr>
        </a:p>
      </dsp:txBody>
      <dsp:txXfrm>
        <a:off x="4553772" y="3042711"/>
        <a:ext cx="1428890" cy="61818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0533F-0FF2-42CD-B8D3-05896C0AD272}" type="datetimeFigureOut">
              <a:rPr lang="zh-CN" altLang="en-US" smtClean="0"/>
              <a:t>2025/5/21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5F78A3-4BF6-4CEB-ACDA-04BCD451A55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79671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40440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52050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4319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75906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91633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23411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75082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19435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81068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20</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959159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36651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85181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27787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EEE81-C4E1-B38F-3010-0F674C1C46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E4D16C-994B-16C6-EE45-620CDEF1CB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42744F-D54B-EC06-641B-9A79229CD0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1FE8AD0-9771-4108-5F26-2190ADE91DDF}"/>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08398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6F52C-7E8F-D506-03FF-06C8BFEAF6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5AD935-A28C-A780-C952-A4B68583A9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C8204A-A568-2F47-30F8-34C45C853A5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38839F-2281-41A2-7AD6-B6325EB153DF}"/>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910753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DD8E-D310-BBAC-20F5-19028A542D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FBF012-4215-57CF-0A6F-8BAD570D2E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4C35E9-194E-FCDB-676F-247DC49622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7EC02C-5AA3-A51C-5ADC-A39FD6A04583}"/>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025837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B0BA9-AAE8-EFC2-221C-41B6E48331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EA4E5B-CEAC-0ED9-CF48-7F27537476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957D9D-63A9-F937-792E-6FC03DA09C1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533E849-5472-CD21-5723-8EBAF8BCE504}"/>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01322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28</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68431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29</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35169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30</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740808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469520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21065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6161304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479503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6792677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8237-99D7-3695-1811-F244E48C40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7B5FA3-A066-EF42-1BF3-FEBEEEAE89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636A4D-6B5E-FA5D-B7F1-CFB7172F883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3C71733-8BB4-A5A9-0B5A-FE992B5F0307}"/>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343238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4A84C-3488-364D-193F-63B5AB8162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711EE1-EB10-76AE-D011-884A2E80E1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ADF654-2937-CA5B-0231-D959464525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78B535-CCBE-7E23-A250-753E8F54612A}"/>
              </a:ext>
            </a:extLst>
          </p:cNvPr>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021240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077360" y="189144"/>
            <a:ext cx="1849550" cy="463227"/>
          </a:xfrm>
          <a:prstGeom prst="rect">
            <a:avLst/>
          </a:prstGeom>
        </p:spPr>
      </p:pic>
      <p:sp>
        <p:nvSpPr>
          <p:cNvPr id="4" name="文本框 3"/>
          <p:cNvSpPr txBox="1"/>
          <p:nvPr userDrawn="1"/>
        </p:nvSpPr>
        <p:spPr>
          <a:xfrm>
            <a:off x="25033" y="6425619"/>
            <a:ext cx="2276733" cy="369332"/>
          </a:xfrm>
          <a:prstGeom prst="rect">
            <a:avLst/>
          </a:prstGeom>
          <a:noFill/>
        </p:spPr>
        <p:txBody>
          <a:bodyPr wrap="square">
            <a:spAutoFit/>
          </a:bodyPr>
          <a:lstStyle/>
          <a:p>
            <a:r>
              <a:rPr lang="zh-CN" altLang="en-US" sz="1800" dirty="0">
                <a:solidFill>
                  <a:schemeClr val="accent3"/>
                </a:solidFill>
                <a:latin typeface="华文行楷" panose="02010800040101010101" pitchFamily="2" charset="-122"/>
                <a:ea typeface="华文行楷" panose="02010800040101010101" pitchFamily="2" charset="-122"/>
              </a:rPr>
              <a:t>明德尚行，学贯中西</a:t>
            </a:r>
            <a:endParaRPr lang="zh-CN" altLang="en-US" dirty="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10849147" y="6382534"/>
            <a:ext cx="1093711" cy="369332"/>
          </a:xfrm>
          <a:prstGeom prst="rect">
            <a:avLst/>
          </a:prstGeom>
        </p:spPr>
        <p:txBody>
          <a:bodyPr lIns="91440" tIns="45720" rIns="91440" bIns="45720"/>
          <a:lstStyle/>
          <a:p>
            <a:pPr algn="ctr">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第 </a:t>
            </a:r>
            <a:fld id="{2EEF1883-7A0E-4F66-9932-E581691AD397}" type="slidenum">
              <a:rPr lang="zh-CN" altLang="en-US" sz="1600">
                <a:solidFill>
                  <a:schemeClr val="tx1">
                    <a:lumMod val="65000"/>
                    <a:lumOff val="35000"/>
                  </a:schemeClr>
                </a:solidFill>
              </a:rPr>
              <a:t>‹#›</a:t>
            </a:fld>
            <a:r>
              <a:rPr lang="zh-CN" altLang="en-US" sz="1600" dirty="0">
                <a:solidFill>
                  <a:schemeClr val="tx1">
                    <a:lumMod val="65000"/>
                    <a:lumOff val="35000"/>
                  </a:schemeClr>
                </a:solidFill>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页</a:t>
            </a:r>
          </a:p>
        </p:txBody>
      </p:sp>
      <p:sp>
        <p:nvSpPr>
          <p:cNvPr id="5" name="文本框 4"/>
          <p:cNvSpPr txBox="1"/>
          <p:nvPr userDrawn="1"/>
        </p:nvSpPr>
        <p:spPr>
          <a:xfrm>
            <a:off x="25033" y="6425619"/>
            <a:ext cx="2276733" cy="369332"/>
          </a:xfrm>
          <a:prstGeom prst="rect">
            <a:avLst/>
          </a:prstGeom>
          <a:noFill/>
        </p:spPr>
        <p:txBody>
          <a:bodyPr wrap="square">
            <a:spAutoFit/>
          </a:bodyPr>
          <a:lstStyle/>
          <a:p>
            <a:r>
              <a:rPr lang="zh-CN" altLang="en-US" sz="1800" dirty="0">
                <a:solidFill>
                  <a:schemeClr val="accent3"/>
                </a:solidFill>
                <a:latin typeface="华文行楷" panose="02010800040101010101" pitchFamily="2" charset="-122"/>
                <a:ea typeface="华文行楷" panose="02010800040101010101" pitchFamily="2" charset="-122"/>
              </a:rPr>
              <a:t>明德尚行，学贯中西</a:t>
            </a:r>
            <a:endParaRPr lang="zh-CN" altLang="en-US" dirty="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a:prstGeom prst="rect">
            <a:avLst/>
          </a:prstGeom>
        </p:spPr>
        <p:txBody>
          <a:bodyPr/>
          <a:lstStyle/>
          <a:p>
            <a:r>
              <a:rPr lang="zh-CN" altLang="en-US"/>
              <a:t>单击此处编辑母版标题样式</a:t>
            </a:r>
          </a:p>
        </p:txBody>
      </p:sp>
      <p:sp>
        <p:nvSpPr>
          <p:cNvPr id="3" name="矩形 2"/>
          <p:cNvSpPr/>
          <p:nvPr userDrawn="1"/>
        </p:nvSpPr>
        <p:spPr>
          <a:xfrm>
            <a:off x="10330283" y="6529705"/>
            <a:ext cx="1033515" cy="296876"/>
          </a:xfrm>
          <a:prstGeom prst="rect">
            <a:avLst/>
          </a:prstGeom>
        </p:spPr>
        <p:txBody>
          <a:bodyPr wrap="square">
            <a:spAutoFit/>
          </a:bodyPr>
          <a:lstStyle/>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模板下载：</a:t>
            </a:r>
            <a:r>
              <a:rPr lang="en-US" altLang="zh-CN" sz="135" dirty="0">
                <a:solidFill>
                  <a:prstClr val="white"/>
                </a:solidFill>
                <a:latin typeface="Calibri" panose="020F0502020204030204"/>
                <a:ea typeface="宋体" panose="02010600030101010101" pitchFamily="2" charset="-122"/>
              </a:rPr>
              <a:t>www.1ppt.com/moban/     </a:t>
            </a:r>
            <a:r>
              <a:rPr lang="zh-CN" altLang="en-US" sz="135" dirty="0">
                <a:solidFill>
                  <a:prstClr val="white"/>
                </a:solidFill>
                <a:latin typeface="Calibri" panose="020F0502020204030204"/>
                <a:ea typeface="宋体" panose="02010600030101010101" pitchFamily="2" charset="-122"/>
              </a:rPr>
              <a:t>行业</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www.1ppt.com/hangye/ </a:t>
            </a:r>
          </a:p>
          <a:p>
            <a:pPr defTabSz="1219200"/>
            <a:r>
              <a:rPr lang="zh-CN" altLang="en-US" sz="135" dirty="0">
                <a:solidFill>
                  <a:prstClr val="white"/>
                </a:solidFill>
                <a:latin typeface="Calibri" panose="020F0502020204030204"/>
                <a:ea typeface="宋体" panose="02010600030101010101" pitchFamily="2" charset="-122"/>
              </a:rPr>
              <a:t>节日</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www.1ppt.com/jieri/           PPT</a:t>
            </a:r>
            <a:r>
              <a:rPr lang="zh-CN" altLang="en-US" sz="135" dirty="0">
                <a:solidFill>
                  <a:prstClr val="white"/>
                </a:solidFill>
                <a:latin typeface="Calibri" panose="020F0502020204030204"/>
                <a:ea typeface="宋体" panose="02010600030101010101" pitchFamily="2" charset="-122"/>
              </a:rPr>
              <a:t>素材下载：</a:t>
            </a:r>
            <a:r>
              <a:rPr lang="en-US" altLang="zh-CN" sz="135" dirty="0">
                <a:solidFill>
                  <a:prstClr val="white"/>
                </a:solidFill>
                <a:latin typeface="Calibri" panose="020F0502020204030204"/>
                <a:ea typeface="宋体" panose="02010600030101010101" pitchFamily="2" charset="-122"/>
              </a:rPr>
              <a:t>www.1ppt.com/sucai/</a:t>
            </a:r>
          </a:p>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背景图片：</a:t>
            </a:r>
            <a:r>
              <a:rPr lang="en-US" altLang="zh-CN" sz="135" dirty="0">
                <a:solidFill>
                  <a:prstClr val="white"/>
                </a:solidFill>
                <a:latin typeface="Calibri" panose="020F0502020204030204"/>
                <a:ea typeface="宋体" panose="02010600030101010101" pitchFamily="2" charset="-122"/>
              </a:rPr>
              <a:t>www.1ppt.com/beijing/      PPT</a:t>
            </a:r>
            <a:r>
              <a:rPr lang="zh-CN" altLang="en-US" sz="135" dirty="0">
                <a:solidFill>
                  <a:prstClr val="white"/>
                </a:solidFill>
                <a:latin typeface="Calibri" panose="020F0502020204030204"/>
                <a:ea typeface="宋体" panose="02010600030101010101" pitchFamily="2" charset="-122"/>
              </a:rPr>
              <a:t>图表下载：</a:t>
            </a:r>
            <a:r>
              <a:rPr lang="en-US" altLang="zh-CN" sz="135" dirty="0">
                <a:solidFill>
                  <a:prstClr val="white"/>
                </a:solidFill>
                <a:latin typeface="Calibri" panose="020F0502020204030204"/>
                <a:ea typeface="宋体" panose="02010600030101010101" pitchFamily="2" charset="-122"/>
              </a:rPr>
              <a:t>www.1ppt.com/tubiao/      </a:t>
            </a:r>
          </a:p>
          <a:p>
            <a:pPr defTabSz="1219200"/>
            <a:r>
              <a:rPr lang="zh-CN" altLang="en-US" sz="135" dirty="0">
                <a:solidFill>
                  <a:prstClr val="white"/>
                </a:solidFill>
                <a:latin typeface="Calibri" panose="020F0502020204030204"/>
                <a:ea typeface="宋体" panose="02010600030101010101" pitchFamily="2" charset="-122"/>
              </a:rPr>
              <a:t>优秀</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下载：</a:t>
            </a:r>
            <a:r>
              <a:rPr lang="en-US" altLang="zh-CN" sz="135" dirty="0">
                <a:solidFill>
                  <a:prstClr val="white"/>
                </a:solidFill>
                <a:latin typeface="Calibri" panose="020F0502020204030204"/>
                <a:ea typeface="宋体" panose="02010600030101010101" pitchFamily="2" charset="-122"/>
              </a:rPr>
              <a:t>www.1ppt.com/xiazai/        PPT</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www.1ppt.com/powerpoint/      </a:t>
            </a:r>
          </a:p>
          <a:p>
            <a:pPr defTabSz="1219200"/>
            <a:r>
              <a:rPr lang="en-US" altLang="zh-CN" sz="135" dirty="0">
                <a:solidFill>
                  <a:prstClr val="white"/>
                </a:solidFill>
                <a:latin typeface="Calibri" panose="020F0502020204030204"/>
                <a:ea typeface="宋体" panose="02010600030101010101" pitchFamily="2" charset="-122"/>
              </a:rPr>
              <a:t>Word</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www.1ppt.com/word/              Excel</a:t>
            </a:r>
            <a:r>
              <a:rPr lang="zh-CN" altLang="en-US" sz="135" dirty="0">
                <a:solidFill>
                  <a:prstClr val="white"/>
                </a:solidFill>
                <a:latin typeface="Calibri" panose="020F0502020204030204"/>
                <a:ea typeface="宋体" panose="02010600030101010101" pitchFamily="2" charset="-122"/>
              </a:rPr>
              <a:t>教程：</a:t>
            </a:r>
            <a:r>
              <a:rPr lang="en-US" altLang="zh-CN" sz="135" dirty="0">
                <a:solidFill>
                  <a:prstClr val="white"/>
                </a:solidFill>
                <a:latin typeface="Calibri" panose="020F0502020204030204"/>
                <a:ea typeface="宋体" panose="02010600030101010101" pitchFamily="2" charset="-122"/>
              </a:rPr>
              <a:t>www.1ppt.com/excel/  </a:t>
            </a:r>
          </a:p>
          <a:p>
            <a:pPr defTabSz="1219200"/>
            <a:r>
              <a:rPr lang="zh-CN" altLang="en-US" sz="135" dirty="0">
                <a:solidFill>
                  <a:prstClr val="white"/>
                </a:solidFill>
                <a:latin typeface="Calibri" panose="020F0502020204030204"/>
                <a:ea typeface="宋体" panose="02010600030101010101" pitchFamily="2" charset="-122"/>
              </a:rPr>
              <a:t>资料下载：</a:t>
            </a:r>
            <a:r>
              <a:rPr lang="en-US" altLang="zh-CN" sz="135" dirty="0">
                <a:solidFill>
                  <a:prstClr val="white"/>
                </a:solidFill>
                <a:latin typeface="Calibri" panose="020F0502020204030204"/>
                <a:ea typeface="宋体" panose="02010600030101010101" pitchFamily="2" charset="-122"/>
              </a:rPr>
              <a:t>www.1ppt.com/ziliao/                PPT</a:t>
            </a:r>
            <a:r>
              <a:rPr lang="zh-CN" altLang="en-US" sz="135" dirty="0">
                <a:solidFill>
                  <a:prstClr val="white"/>
                </a:solidFill>
                <a:latin typeface="Calibri" panose="020F0502020204030204"/>
                <a:ea typeface="宋体" panose="02010600030101010101" pitchFamily="2" charset="-122"/>
              </a:rPr>
              <a:t>课件下载：</a:t>
            </a:r>
            <a:r>
              <a:rPr lang="en-US" altLang="zh-CN" sz="135" dirty="0">
                <a:solidFill>
                  <a:prstClr val="white"/>
                </a:solidFill>
                <a:latin typeface="Calibri" panose="020F0502020204030204"/>
                <a:ea typeface="宋体" panose="02010600030101010101" pitchFamily="2" charset="-122"/>
              </a:rPr>
              <a:t>www.1ppt.com/kejian/ </a:t>
            </a:r>
          </a:p>
          <a:p>
            <a:pPr defTabSz="1219200"/>
            <a:r>
              <a:rPr lang="zh-CN" altLang="en-US" sz="135" dirty="0">
                <a:solidFill>
                  <a:prstClr val="white"/>
                </a:solidFill>
                <a:latin typeface="Calibri" panose="020F0502020204030204"/>
                <a:ea typeface="宋体" panose="02010600030101010101" pitchFamily="2" charset="-122"/>
              </a:rPr>
              <a:t>范文下载：</a:t>
            </a:r>
            <a:r>
              <a:rPr lang="en-US" altLang="zh-CN" sz="135" dirty="0">
                <a:solidFill>
                  <a:prstClr val="white"/>
                </a:solidFill>
                <a:latin typeface="Calibri" panose="020F0502020204030204"/>
                <a:ea typeface="宋体" panose="02010600030101010101" pitchFamily="2" charset="-122"/>
              </a:rPr>
              <a:t>www.1ppt.com/fanwen/             </a:t>
            </a:r>
            <a:r>
              <a:rPr lang="zh-CN" altLang="en-US" sz="135" dirty="0">
                <a:solidFill>
                  <a:prstClr val="white"/>
                </a:solidFill>
                <a:latin typeface="Calibri" panose="020F0502020204030204"/>
                <a:ea typeface="宋体" panose="02010600030101010101" pitchFamily="2" charset="-122"/>
              </a:rPr>
              <a:t>试卷下载：</a:t>
            </a:r>
            <a:r>
              <a:rPr lang="en-US" altLang="zh-CN" sz="135" dirty="0">
                <a:solidFill>
                  <a:prstClr val="white"/>
                </a:solidFill>
                <a:latin typeface="Calibri" panose="020F0502020204030204"/>
                <a:ea typeface="宋体" panose="02010600030101010101" pitchFamily="2" charset="-122"/>
              </a:rPr>
              <a:t>www.1ppt.com/shiti/  </a:t>
            </a:r>
          </a:p>
          <a:p>
            <a:pPr defTabSz="1219200"/>
            <a:r>
              <a:rPr lang="zh-CN" altLang="en-US" sz="135" dirty="0">
                <a:solidFill>
                  <a:prstClr val="white"/>
                </a:solidFill>
                <a:latin typeface="Calibri" panose="020F0502020204030204"/>
                <a:ea typeface="宋体" panose="02010600030101010101" pitchFamily="2" charset="-122"/>
              </a:rPr>
              <a:t>教案下载：</a:t>
            </a:r>
            <a:r>
              <a:rPr lang="en-US" altLang="zh-CN" sz="135" dirty="0">
                <a:solidFill>
                  <a:prstClr val="white"/>
                </a:solidFill>
                <a:latin typeface="Calibri" panose="020F0502020204030204"/>
                <a:ea typeface="宋体" panose="02010600030101010101" pitchFamily="2" charset="-122"/>
              </a:rPr>
              <a:t>www.1ppt.com/jiaoan/        </a:t>
            </a:r>
          </a:p>
          <a:p>
            <a:pPr defTabSz="1219200"/>
            <a:r>
              <a:rPr lang="zh-CN" altLang="en-US" sz="135" dirty="0">
                <a:solidFill>
                  <a:prstClr val="white"/>
                </a:solidFill>
                <a:latin typeface="Calibri" panose="020F0502020204030204"/>
                <a:ea typeface="宋体" panose="02010600030101010101" pitchFamily="2" charset="-122"/>
              </a:rPr>
              <a:t>字体下载：</a:t>
            </a:r>
            <a:r>
              <a:rPr lang="en-US" altLang="zh-CN" sz="135" dirty="0">
                <a:solidFill>
                  <a:prstClr val="white"/>
                </a:solidFill>
                <a:latin typeface="Calibri" panose="020F0502020204030204"/>
                <a:ea typeface="宋体" panose="02010600030101010101" pitchFamily="2" charset="-122"/>
              </a:rPr>
              <a:t>www.1ppt.com/ziti/</a:t>
            </a:r>
          </a:p>
          <a:p>
            <a:pPr defTabSz="1219200"/>
            <a:r>
              <a:rPr lang="en-US" altLang="zh-CN" sz="135" dirty="0">
                <a:solidFill>
                  <a:prstClr val="white"/>
                </a:solidFill>
                <a:latin typeface="Calibri" panose="020F0502020204030204"/>
                <a:ea typeface="宋体" panose="02010600030101010101" pitchFamily="2" charset="-122"/>
              </a:rPr>
              <a:t> </a:t>
            </a:r>
            <a:endParaRPr lang="zh-CN" altLang="en-US" sz="135" dirty="0">
              <a:solidFill>
                <a:prstClr val="white"/>
              </a:solidFill>
              <a:latin typeface="Calibri" panose="020F0502020204030204"/>
              <a:ea typeface="宋体" panose="02010600030101010101" pitchFamily="2" charset="-122"/>
            </a:endParaRPr>
          </a:p>
        </p:txBody>
      </p:sp>
      <p:sp>
        <p:nvSpPr>
          <p:cNvPr id="4" name="文本框 3"/>
          <p:cNvSpPr txBox="1"/>
          <p:nvPr userDrawn="1"/>
        </p:nvSpPr>
        <p:spPr>
          <a:xfrm>
            <a:off x="25033" y="6425619"/>
            <a:ext cx="2276733" cy="369332"/>
          </a:xfrm>
          <a:prstGeom prst="rect">
            <a:avLst/>
          </a:prstGeom>
          <a:noFill/>
        </p:spPr>
        <p:txBody>
          <a:bodyPr wrap="square">
            <a:spAutoFit/>
          </a:bodyPr>
          <a:lstStyle/>
          <a:p>
            <a:r>
              <a:rPr lang="zh-CN" altLang="en-US" sz="1800" dirty="0">
                <a:solidFill>
                  <a:schemeClr val="accent3"/>
                </a:solidFill>
                <a:latin typeface="华文行楷" panose="02010800040101010101" pitchFamily="2" charset="-122"/>
                <a:ea typeface="华文行楷" panose="02010800040101010101" pitchFamily="2" charset="-122"/>
              </a:rPr>
              <a:t>明德尚行，学贯中西</a:t>
            </a:r>
            <a:endParaRPr lang="zh-CN" altLang="en-US" dirty="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文本框 1"/>
          <p:cNvSpPr txBox="1"/>
          <p:nvPr userDrawn="1"/>
        </p:nvSpPr>
        <p:spPr>
          <a:xfrm>
            <a:off x="25033" y="6425619"/>
            <a:ext cx="2276733" cy="369332"/>
          </a:xfrm>
          <a:prstGeom prst="rect">
            <a:avLst/>
          </a:prstGeom>
          <a:noFill/>
        </p:spPr>
        <p:txBody>
          <a:bodyPr wrap="square">
            <a:spAutoFit/>
          </a:bodyPr>
          <a:lstStyle/>
          <a:p>
            <a:r>
              <a:rPr lang="zh-CN" altLang="en-US" sz="1800" dirty="0">
                <a:solidFill>
                  <a:schemeClr val="accent3"/>
                </a:solidFill>
                <a:latin typeface="华文行楷" panose="02010800040101010101" pitchFamily="2" charset="-122"/>
                <a:ea typeface="华文行楷" panose="02010800040101010101" pitchFamily="2" charset="-122"/>
              </a:rPr>
              <a:t>明德尚行，学贯中西</a:t>
            </a:r>
            <a:endParaRPr lang="zh-CN" altLang="en-US" dirty="0">
              <a:solidFill>
                <a:schemeClr val="accent3"/>
              </a:solidFill>
            </a:endParaRPr>
          </a:p>
        </p:txBody>
      </p:sp>
      <p:sp>
        <p:nvSpPr>
          <p:cNvPr id="3" name="梯形 2">
            <a:extLst>
              <a:ext uri="{FF2B5EF4-FFF2-40B4-BE49-F238E27FC236}">
                <a16:creationId xmlns:a16="http://schemas.microsoft.com/office/drawing/2014/main" id="{0EE9E4EB-8E0B-42E9-AC0B-C2F1F9DC1EA4}"/>
              </a:ext>
            </a:extLst>
          </p:cNvPr>
          <p:cNvSpPr/>
          <p:nvPr userDrawn="1"/>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 name="椭圆 3">
            <a:extLst>
              <a:ext uri="{FF2B5EF4-FFF2-40B4-BE49-F238E27FC236}">
                <a16:creationId xmlns:a16="http://schemas.microsoft.com/office/drawing/2014/main" id="{F50748EB-B8C5-4979-BCE6-BA5D48330483}"/>
              </a:ext>
            </a:extLst>
          </p:cNvPr>
          <p:cNvSpPr/>
          <p:nvPr userDrawn="1"/>
        </p:nvSpPr>
        <p:spPr>
          <a:xfrm>
            <a:off x="464768" y="1391626"/>
            <a:ext cx="3102819" cy="31028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4F70562E-7771-4E07-960A-AF6461C71BD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6092" y="1542950"/>
            <a:ext cx="2800169" cy="2800169"/>
          </a:xfrm>
          <a:prstGeom prst="rect">
            <a:avLst/>
          </a:prstGeom>
        </p:spPr>
      </p:pic>
      <p:pic>
        <p:nvPicPr>
          <p:cNvPr id="6" name="图片 5">
            <a:extLst>
              <a:ext uri="{FF2B5EF4-FFF2-40B4-BE49-F238E27FC236}">
                <a16:creationId xmlns:a16="http://schemas.microsoft.com/office/drawing/2014/main" id="{68E976BD-4018-4F7F-B47E-5CF13CB245E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077360" y="189144"/>
            <a:ext cx="1849550" cy="46322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981B521-2E2E-41B2-9433-69364D5DDA0F}" type="datetimeFigureOut">
              <a:rPr lang="zh-CN" altLang="en-US" smtClean="0"/>
              <a:t>2025/5/21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1282D0-AAD4-45D4-BBB1-9C369370A4D1}" type="slidenum">
              <a:rPr lang="zh-CN" altLang="en-US" smtClean="0"/>
              <a:t>‹#›</a:t>
            </a:fld>
            <a:endParaRPr lang="zh-CN" altLang="en-US"/>
          </a:p>
        </p:txBody>
      </p:sp>
      <p:sp>
        <p:nvSpPr>
          <p:cNvPr id="14" name="文本框 13"/>
          <p:cNvSpPr txBox="1"/>
          <p:nvPr userDrawn="1"/>
        </p:nvSpPr>
        <p:spPr>
          <a:xfrm>
            <a:off x="25033" y="6425619"/>
            <a:ext cx="2276733" cy="369332"/>
          </a:xfrm>
          <a:prstGeom prst="rect">
            <a:avLst/>
          </a:prstGeom>
          <a:noFill/>
        </p:spPr>
        <p:txBody>
          <a:bodyPr wrap="square">
            <a:spAutoFit/>
          </a:bodyPr>
          <a:lstStyle/>
          <a:p>
            <a:r>
              <a:rPr lang="zh-CN" altLang="en-US" sz="1800" dirty="0">
                <a:solidFill>
                  <a:schemeClr val="accent3"/>
                </a:solidFill>
                <a:latin typeface="华文行楷" panose="02010800040101010101" pitchFamily="2" charset="-122"/>
                <a:ea typeface="华文行楷" panose="02010800040101010101" pitchFamily="2" charset="-122"/>
              </a:rPr>
              <a:t>明德尚行，学贯中西</a:t>
            </a:r>
            <a:endParaRPr lang="zh-CN" altLang="en-US" dirty="0">
              <a:solidFill>
                <a:schemeClr val="accent3"/>
              </a:solidFill>
            </a:endParaRPr>
          </a:p>
        </p:txBody>
      </p:sp>
      <p:pic>
        <p:nvPicPr>
          <p:cNvPr id="10" name="图片 9">
            <a:extLst>
              <a:ext uri="{FF2B5EF4-FFF2-40B4-BE49-F238E27FC236}">
                <a16:creationId xmlns:a16="http://schemas.microsoft.com/office/drawing/2014/main" id="{82BC98CF-04FD-4FED-B540-3F0938B8909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077360" y="189144"/>
            <a:ext cx="1849550" cy="46322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A1635-0946-C0C0-1D68-8F1C43DECFC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71318F1-6B36-D84A-D9F0-8EDEC479EDB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709D30-BFF1-EF9F-54B4-81ADC1EAF964}"/>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A959DAB0-E0CD-5E4D-7BF2-16E6FCDEA4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85F968-5943-81F1-EEE6-71D5B613D1FD}"/>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2196464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D2540-0D4E-102F-C8B4-ED6C89354A5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CE728A7-26FC-F9F2-EF34-2147A9F2D652}"/>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3A3F43-DF48-03EF-C8C2-7F182D28FE42}"/>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DD7BE1A5-818B-E0A5-9403-27D3D4D221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B6788-3E3B-608F-1E7F-CE5D634E4C0D}"/>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2590477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749A2B-9786-DDC7-53C5-1336A5C433A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CD3FF2F-B5B3-20FE-8220-215D3606F3E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FCB659F-D1BD-47DD-0478-9594463FAFBE}"/>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17BFEB8D-1754-B41C-AA8D-D83418CAB2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27984D-BE78-CC2B-964B-11CD83430AC0}"/>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4071387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7E1ACC-D10A-C998-8995-E850C28FCD8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5D6A6B9-958F-83F7-0905-997D68D1B7C5}"/>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868F131-A837-9F02-3F03-B1130E5613F5}"/>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3C70E6E-8C0D-B03B-70A2-691E01DFE839}"/>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87A91D61-08D4-FF1D-DA11-6AA6B7E768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9EC3FB-C0FD-D73C-3018-BE38B4B1AD69}"/>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1591146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F0677E-1E7B-37D5-5C13-D8C137EDDDE4}"/>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0A3A3A1-A29C-A2FA-5EF2-BA2E8FB7FCE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80FE3E9-830B-E30E-E1F7-630E55015743}"/>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01682E4-D2C7-D926-2CFE-D1F1ED54E37A}"/>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9263DBC-3180-88B0-4D56-CD11C9194ADF}"/>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633810E-638B-8B3B-A7C8-489582FF186D}"/>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8" name="页脚占位符 7">
            <a:extLst>
              <a:ext uri="{FF2B5EF4-FFF2-40B4-BE49-F238E27FC236}">
                <a16:creationId xmlns:a16="http://schemas.microsoft.com/office/drawing/2014/main" id="{7F3AE031-F838-172F-1151-32BA1B8BE2A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205CBCF-E4C8-AFA8-DE09-4DF5365E2BC5}"/>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669481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27DB4-2FC9-442D-E960-6AB66504CBF5}"/>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41A8DF7-4618-C7D1-5837-B1749547DF9B}"/>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4" name="页脚占位符 3">
            <a:extLst>
              <a:ext uri="{FF2B5EF4-FFF2-40B4-BE49-F238E27FC236}">
                <a16:creationId xmlns:a16="http://schemas.microsoft.com/office/drawing/2014/main" id="{19FC343F-7C89-0590-19DC-6972EC21AAE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92CC642-D40D-51C6-3230-491282E299F2}"/>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151027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4BB813B-77A9-C09D-9AC8-2E8E43437313}"/>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3" name="页脚占位符 2">
            <a:extLst>
              <a:ext uri="{FF2B5EF4-FFF2-40B4-BE49-F238E27FC236}">
                <a16:creationId xmlns:a16="http://schemas.microsoft.com/office/drawing/2014/main" id="{C505E2B5-AAAE-1618-C519-B42F626AD15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F395ED-5E28-B6F7-C586-6040E4634737}"/>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945382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A0BA50-41C3-C480-0BC8-F10AEE07D64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9449C99-8CD9-0B03-4EC3-2D2484AFFEC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D57DCB0-AADC-E591-0FF3-43C894A21B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7D663D8-1B0B-4DD4-D013-4C223EB36426}"/>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272E6E6C-7D70-B043-DF81-C4DAF15E37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EDAD24-F58C-68C8-3242-F06CE5450852}"/>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43547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612335-FBB3-EF05-BDDB-D42DB437CBA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F34A92-CA36-763D-2E31-0639ABF8480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AFCF112-B660-68A8-55C3-06987C0A785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533393C-EA01-5180-5DA8-6FCE3B19DFCB}"/>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0A23D0FA-61AA-2BDD-5F2D-E13E41093A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9A8EDA-3F26-8680-745A-1A6512FD95DF}"/>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347907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3DF706-A41F-A0AA-7FB2-56DEF81518CD}"/>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070349D-B354-9DF3-FA6D-2DC91ABC1CB4}"/>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DC5636-44A5-AEED-0154-75CD0E854233}"/>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39E5D19B-25B3-859E-4581-5D74550A1D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03080B-F1B9-FB5C-E589-B5D1A35090F7}"/>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2014195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B911F9C-10AD-CB9F-6C1A-3F1D427B953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F2E406-8A2D-621E-CC40-34816F9C7F1E}"/>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2DC2F0-09DF-C627-0CA3-2136212535BF}"/>
              </a:ext>
            </a:extLst>
          </p:cNvPr>
          <p:cNvSpPr>
            <a:spLocks noGrp="1"/>
          </p:cNvSpPr>
          <p:nvPr>
            <p:ph type="dt" sz="half" idx="10"/>
          </p:nvPr>
        </p:nvSpPr>
        <p:spPr/>
        <p:txBody>
          <a:body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3F880217-CFE0-B3A5-4AD5-7164801AEF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9501ED-BD6C-D5AF-F4D2-D8F9CF1788F9}"/>
              </a:ext>
            </a:extLst>
          </p:cNvPr>
          <p:cNvSpPr>
            <a:spLocks noGrp="1"/>
          </p:cNvSpPr>
          <p:nvPr>
            <p:ph type="sldNum" sz="quarter" idx="12"/>
          </p:nvPr>
        </p:nvSpPr>
        <p:spPr/>
        <p:txBody>
          <a:body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2241219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6870" indent="-356870" algn="just" defTabSz="914400" rtl="0" eaLnBrk="1" latinLnBrk="0" hangingPunct="1">
        <a:lnSpc>
          <a:spcPct val="110000"/>
        </a:lnSpc>
        <a:spcBef>
          <a:spcPts val="1800"/>
        </a:spcBef>
        <a:spcAft>
          <a:spcPts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6870" indent="-356870"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F6B5256-8EE9-137E-1A69-01B8B7F1F9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F491D9-ED4B-4903-9E6B-E161CC7090DE}"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09ED8442-23F8-7D92-DB2E-B85CDAA8F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71646EB-C0F1-ABB8-1F5A-7821C192D3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4E687-C7C0-48CD-B3AE-76BEF7F09761}" type="slidenum">
              <a:rPr lang="zh-CN" altLang="en-US" smtClean="0"/>
              <a:t>‹#›</a:t>
            </a:fld>
            <a:endParaRPr lang="zh-CN" altLang="en-US"/>
          </a:p>
        </p:txBody>
      </p:sp>
    </p:spTree>
    <p:extLst>
      <p:ext uri="{BB962C8B-B14F-4D97-AF65-F5344CB8AC3E}">
        <p14:creationId xmlns:p14="http://schemas.microsoft.com/office/powerpoint/2010/main" val="217679781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hemeOverride" Target="../theme/themeOverride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9.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319099" y="5715715"/>
            <a:ext cx="1856598" cy="37933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答辩人：徐雨翔</a:t>
            </a:r>
            <a:endParaRPr kumimoji="1" lang="en-US" altLang="zh-CN" sz="1865"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nvSpPr>
        <p:spPr>
          <a:xfrm>
            <a:off x="3417374" y="2700932"/>
            <a:ext cx="7785980" cy="2677656"/>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3200" b="1" dirty="0">
                <a:solidFill>
                  <a:schemeClr val="accent1"/>
                </a:solidFill>
                <a:latin typeface="微软雅黑" panose="020B0503020204020204" pitchFamily="34" charset="-122"/>
                <a:ea typeface="微软雅黑" panose="020B0503020204020204" pitchFamily="34" charset="-122"/>
              </a:rPr>
              <a:t>《</a:t>
            </a:r>
            <a:r>
              <a:rPr lang="zh-CN" altLang="en-US" sz="3200" b="1" dirty="0">
                <a:solidFill>
                  <a:schemeClr val="accent1"/>
                </a:solidFill>
                <a:latin typeface="微软雅黑" panose="020B0503020204020204" pitchFamily="34" charset="-122"/>
                <a:ea typeface="微软雅黑" panose="020B0503020204020204" pitchFamily="34" charset="-122"/>
              </a:rPr>
              <a:t>庄子说</a:t>
            </a:r>
            <a:r>
              <a:rPr lang="en-US" altLang="zh-CN" sz="3200" b="1" dirty="0">
                <a:solidFill>
                  <a:schemeClr val="accent1"/>
                </a:solidFill>
                <a:latin typeface="微软雅黑" panose="020B0503020204020204" pitchFamily="34" charset="-122"/>
                <a:ea typeface="微软雅黑" panose="020B0503020204020204" pitchFamily="34" charset="-122"/>
              </a:rPr>
              <a:t>》</a:t>
            </a:r>
            <a:r>
              <a:rPr lang="zh-CN" altLang="en-US" sz="3200" b="1" dirty="0">
                <a:solidFill>
                  <a:schemeClr val="accent1"/>
                </a:solidFill>
                <a:latin typeface="微软雅黑" panose="020B0503020204020204" pitchFamily="34" charset="-122"/>
                <a:ea typeface="微软雅黑" panose="020B0503020204020204" pitchFamily="34" charset="-122"/>
              </a:rPr>
              <a:t>漫画多模态英译研究</a:t>
            </a:r>
            <a:endParaRPr lang="en-US" altLang="zh-CN" sz="3200" b="1" dirty="0">
              <a:solidFill>
                <a:schemeClr val="accent1"/>
              </a:solidFill>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3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STUDY ON THE TRANSLATION OF THE COMIC BOOK </a:t>
            </a:r>
            <a:r>
              <a:rPr kumimoji="0" lang="en-US" altLang="zh-CN" sz="2400" b="1" i="1"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ZHUANGZI SPEAKS</a:t>
            </a: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FROM A MULTIMODAL PERSPECTIVE</a:t>
            </a: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flipH="1">
            <a:off x="3621018" y="3566328"/>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chemeClr val="accent1"/>
          </a:solidFill>
          <a:ln w="5" cap="flat">
            <a:solidFill>
              <a:schemeClr val="accent1"/>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chemeClr val="accent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4">
            <a:extLst>
              <a:ext uri="{28A0092B-C50C-407E-A947-70E740481C1C}">
                <a14:useLocalDpi xmlns:a14="http://schemas.microsoft.com/office/drawing/2010/main" val="0"/>
              </a:ext>
            </a:extLst>
          </a:blip>
          <a:srcRect/>
          <a:stretch/>
        </p:blipFill>
        <p:spPr>
          <a:xfrm>
            <a:off x="3417374" y="1431814"/>
            <a:ext cx="4727087" cy="1183917"/>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4188" y="622441"/>
            <a:ext cx="1528413" cy="1528413"/>
            <a:chOff x="1602769" y="143838"/>
            <a:chExt cx="1331936" cy="1331936"/>
          </a:xfrm>
        </p:grpSpPr>
        <p:sp>
          <p:nvSpPr>
            <p:cNvPr id="4" name="椭圆 3"/>
            <p:cNvSpPr/>
            <p:nvPr/>
          </p:nvSpPr>
          <p:spPr>
            <a:xfrm>
              <a:off x="1602769" y="143838"/>
              <a:ext cx="1331936" cy="1331936"/>
            </a:xfrm>
            <a:prstGeom prst="ellipse">
              <a:avLst/>
            </a:prstGeom>
            <a:ln w="165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46" name="TextBox 145"/>
            <p:cNvSpPr txBox="1"/>
            <p:nvPr/>
          </p:nvSpPr>
          <p:spPr>
            <a:xfrm>
              <a:off x="1679041" y="396413"/>
              <a:ext cx="1189310" cy="56324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p>
          </p:txBody>
        </p:sp>
        <p:sp>
          <p:nvSpPr>
            <p:cNvPr id="147" name="TextBox 146"/>
            <p:cNvSpPr txBox="1"/>
            <p:nvPr/>
          </p:nvSpPr>
          <p:spPr>
            <a:xfrm>
              <a:off x="1638153" y="937949"/>
              <a:ext cx="1263808" cy="2772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 name="Freeform 5"/>
          <p:cNvSpPr/>
          <p:nvPr/>
        </p:nvSpPr>
        <p:spPr bwMode="auto">
          <a:xfrm>
            <a:off x="3177" y="3017035"/>
            <a:ext cx="12188825" cy="1446568"/>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22225"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矩形 30"/>
          <p:cNvSpPr>
            <a:spLocks noChangeArrowheads="1"/>
          </p:cNvSpPr>
          <p:nvPr/>
        </p:nvSpPr>
        <p:spPr bwMode="auto">
          <a:xfrm>
            <a:off x="682075" y="4830355"/>
            <a:ext cx="2167999"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lang="en-US" altLang="zh-CN" sz="2000" b="1" dirty="0">
                <a:solidFill>
                  <a:schemeClr val="accent1"/>
                </a:solidFill>
                <a:sym typeface="微软雅黑" panose="020B0503020204020204" pitchFamily="34" charset="-122"/>
              </a:rPr>
              <a:t>Introduction</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6" name="矩形 64"/>
          <p:cNvSpPr>
            <a:spLocks noChangeArrowheads="1"/>
          </p:cNvSpPr>
          <p:nvPr/>
        </p:nvSpPr>
        <p:spPr bwMode="auto">
          <a:xfrm>
            <a:off x="2530931" y="3040593"/>
            <a:ext cx="2233792" cy="7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Literature Review</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7" name="矩形 66"/>
          <p:cNvSpPr>
            <a:spLocks noChangeArrowheads="1"/>
          </p:cNvSpPr>
          <p:nvPr/>
        </p:nvSpPr>
        <p:spPr bwMode="auto">
          <a:xfrm>
            <a:off x="4504554" y="4375958"/>
            <a:ext cx="2700245" cy="7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Theoretical Framework</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48" name="组合 47"/>
          <p:cNvGrpSpPr/>
          <p:nvPr/>
        </p:nvGrpSpPr>
        <p:grpSpPr>
          <a:xfrm>
            <a:off x="1088011" y="3675719"/>
            <a:ext cx="999564" cy="1001764"/>
            <a:chOff x="3437020" y="1033173"/>
            <a:chExt cx="863676" cy="865577"/>
          </a:xfrm>
        </p:grpSpPr>
        <p:sp>
          <p:nvSpPr>
            <p:cNvPr id="49" name="椭圆 18"/>
            <p:cNvSpPr>
              <a:spLocks noChangeArrowheads="1"/>
            </p:cNvSpPr>
            <p:nvPr/>
          </p:nvSpPr>
          <p:spPr bwMode="auto">
            <a:xfrm>
              <a:off x="3437020" y="1033173"/>
              <a:ext cx="863676" cy="865577"/>
            </a:xfrm>
            <a:prstGeom prst="ellipse">
              <a:avLst/>
            </a:prstGeom>
            <a:solidFill>
              <a:schemeClr val="accent1"/>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0" name="图片 49"/>
            <p:cNvPicPr>
              <a:picLocks noChangeAspect="1"/>
            </p:cNvPicPr>
            <p:nvPr/>
          </p:nvPicPr>
          <p:blipFill>
            <a:blip r:embed="rId4" cstate="screen">
              <a:biLevel thresh="25000"/>
            </a:blip>
            <a:stretch>
              <a:fillRect/>
            </a:stretch>
          </p:blipFill>
          <p:spPr>
            <a:xfrm>
              <a:off x="3587275" y="1169757"/>
              <a:ext cx="552644" cy="566109"/>
            </a:xfrm>
            <a:prstGeom prst="rect">
              <a:avLst/>
            </a:prstGeom>
          </p:spPr>
        </p:pic>
      </p:grpSp>
      <p:sp>
        <p:nvSpPr>
          <p:cNvPr id="51" name="矩形 68"/>
          <p:cNvSpPr>
            <a:spLocks noChangeArrowheads="1"/>
          </p:cNvSpPr>
          <p:nvPr/>
        </p:nvSpPr>
        <p:spPr bwMode="auto">
          <a:xfrm>
            <a:off x="8689640" y="4186756"/>
            <a:ext cx="3160615" cy="16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Comic Translation Strategy and Methods Based</a:t>
            </a:r>
          </a:p>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on Multimodal Analysis</a:t>
            </a:r>
          </a:p>
        </p:txBody>
      </p:sp>
      <p:grpSp>
        <p:nvGrpSpPr>
          <p:cNvPr id="52" name="组合 51"/>
          <p:cNvGrpSpPr/>
          <p:nvPr/>
        </p:nvGrpSpPr>
        <p:grpSpPr>
          <a:xfrm>
            <a:off x="3240691" y="3843014"/>
            <a:ext cx="999564" cy="1001764"/>
            <a:chOff x="3437020" y="2074814"/>
            <a:chExt cx="863676" cy="865577"/>
          </a:xfrm>
        </p:grpSpPr>
        <p:sp>
          <p:nvSpPr>
            <p:cNvPr id="53" name="椭圆 19"/>
            <p:cNvSpPr>
              <a:spLocks noChangeArrowheads="1"/>
            </p:cNvSpPr>
            <p:nvPr/>
          </p:nvSpPr>
          <p:spPr bwMode="auto">
            <a:xfrm>
              <a:off x="3437020" y="2074814"/>
              <a:ext cx="863676" cy="865577"/>
            </a:xfrm>
            <a:prstGeom prst="ellipse">
              <a:avLst/>
            </a:prstGeom>
            <a:solidFill>
              <a:schemeClr val="accent1"/>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4" name="图片 53"/>
            <p:cNvPicPr>
              <a:picLocks noChangeAspect="1"/>
            </p:cNvPicPr>
            <p:nvPr/>
          </p:nvPicPr>
          <p:blipFill>
            <a:blip r:embed="rId5" cstate="screen">
              <a:biLevel thresh="25000"/>
            </a:blip>
            <a:stretch>
              <a:fillRect/>
            </a:stretch>
          </p:blipFill>
          <p:spPr>
            <a:xfrm>
              <a:off x="3596360" y="2243692"/>
              <a:ext cx="553608" cy="567096"/>
            </a:xfrm>
            <a:prstGeom prst="rect">
              <a:avLst/>
            </a:prstGeom>
          </p:spPr>
        </p:pic>
      </p:grpSp>
      <p:grpSp>
        <p:nvGrpSpPr>
          <p:cNvPr id="55" name="组合 54"/>
          <p:cNvGrpSpPr/>
          <p:nvPr/>
        </p:nvGrpSpPr>
        <p:grpSpPr>
          <a:xfrm>
            <a:off x="5316873" y="3137515"/>
            <a:ext cx="999564" cy="999925"/>
            <a:chOff x="3437020" y="3157655"/>
            <a:chExt cx="863676" cy="863988"/>
          </a:xfrm>
        </p:grpSpPr>
        <p:sp>
          <p:nvSpPr>
            <p:cNvPr id="56" name="椭圆 20"/>
            <p:cNvSpPr>
              <a:spLocks noChangeArrowheads="1"/>
            </p:cNvSpPr>
            <p:nvPr/>
          </p:nvSpPr>
          <p:spPr bwMode="auto">
            <a:xfrm>
              <a:off x="3437020" y="3157655"/>
              <a:ext cx="863676" cy="863988"/>
            </a:xfrm>
            <a:prstGeom prst="ellipse">
              <a:avLst/>
            </a:prstGeom>
            <a:solidFill>
              <a:schemeClr val="accent1"/>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57" name="组合 56"/>
            <p:cNvGrpSpPr/>
            <p:nvPr/>
          </p:nvGrpSpPr>
          <p:grpSpPr>
            <a:xfrm>
              <a:off x="3603965" y="3301680"/>
              <a:ext cx="519264" cy="531742"/>
              <a:chOff x="9901114" y="2870043"/>
              <a:chExt cx="1094967" cy="1121279"/>
            </a:xfrm>
          </p:grpSpPr>
          <p:sp>
            <p:nvSpPr>
              <p:cNvPr id="58" name="Freeform 5"/>
              <p:cNvSpPr/>
              <p:nvPr/>
            </p:nvSpPr>
            <p:spPr bwMode="auto">
              <a:xfrm>
                <a:off x="10585467" y="2870043"/>
                <a:ext cx="234963" cy="800500"/>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9" name="Freeform 6"/>
              <p:cNvSpPr/>
              <p:nvPr/>
            </p:nvSpPr>
            <p:spPr bwMode="auto">
              <a:xfrm>
                <a:off x="10044830" y="3280407"/>
                <a:ext cx="289711" cy="34679"/>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0" name="Freeform 7"/>
              <p:cNvSpPr/>
              <p:nvPr/>
            </p:nvSpPr>
            <p:spPr bwMode="auto">
              <a:xfrm>
                <a:off x="10044830" y="3442241"/>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1" name="Freeform 8"/>
              <p:cNvSpPr/>
              <p:nvPr/>
            </p:nvSpPr>
            <p:spPr bwMode="auto">
              <a:xfrm>
                <a:off x="10044830" y="3601186"/>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2" name="Freeform 9"/>
              <p:cNvSpPr>
                <a:spLocks noEditPoints="1"/>
              </p:cNvSpPr>
              <p:nvPr/>
            </p:nvSpPr>
            <p:spPr bwMode="auto">
              <a:xfrm>
                <a:off x="9901114" y="2953851"/>
                <a:ext cx="1094967" cy="1037471"/>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73" name="组合 72"/>
          <p:cNvGrpSpPr/>
          <p:nvPr/>
        </p:nvGrpSpPr>
        <p:grpSpPr>
          <a:xfrm>
            <a:off x="9839559" y="3022992"/>
            <a:ext cx="999564" cy="1001763"/>
            <a:chOff x="3437020" y="5246272"/>
            <a:chExt cx="863676" cy="865576"/>
          </a:xfrm>
        </p:grpSpPr>
        <p:sp>
          <p:nvSpPr>
            <p:cNvPr id="74" name="椭圆 21"/>
            <p:cNvSpPr>
              <a:spLocks noChangeArrowheads="1"/>
            </p:cNvSpPr>
            <p:nvPr/>
          </p:nvSpPr>
          <p:spPr bwMode="auto">
            <a:xfrm>
              <a:off x="3437020" y="5246272"/>
              <a:ext cx="863676" cy="865576"/>
            </a:xfrm>
            <a:prstGeom prst="ellipse">
              <a:avLst/>
            </a:prstGeom>
            <a:solidFill>
              <a:schemeClr val="accent1"/>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5" name="Freeform 9"/>
            <p:cNvSpPr>
              <a:spLocks noEditPoints="1"/>
            </p:cNvSpPr>
            <p:nvPr/>
          </p:nvSpPr>
          <p:spPr bwMode="auto">
            <a:xfrm>
              <a:off x="3564624" y="5446833"/>
              <a:ext cx="605440" cy="464249"/>
            </a:xfrm>
            <a:custGeom>
              <a:avLst/>
              <a:gdLst>
                <a:gd name="T0" fmla="*/ 16 w 104"/>
                <a:gd name="T1" fmla="*/ 2 h 79"/>
                <a:gd name="T2" fmla="*/ 27 w 104"/>
                <a:gd name="T3" fmla="*/ 4 h 79"/>
                <a:gd name="T4" fmla="*/ 19 w 104"/>
                <a:gd name="T5" fmla="*/ 48 h 79"/>
                <a:gd name="T6" fmla="*/ 4 w 104"/>
                <a:gd name="T7" fmla="*/ 45 h 79"/>
                <a:gd name="T8" fmla="*/ 16 w 104"/>
                <a:gd name="T9" fmla="*/ 2 h 79"/>
                <a:gd name="T10" fmla="*/ 18 w 104"/>
                <a:gd name="T11" fmla="*/ 65 h 79"/>
                <a:gd name="T12" fmla="*/ 16 w 104"/>
                <a:gd name="T13" fmla="*/ 72 h 79"/>
                <a:gd name="T14" fmla="*/ 101 w 104"/>
                <a:gd name="T15" fmla="*/ 72 h 79"/>
                <a:gd name="T16" fmla="*/ 104 w 104"/>
                <a:gd name="T17" fmla="*/ 72 h 79"/>
                <a:gd name="T18" fmla="*/ 104 w 104"/>
                <a:gd name="T19" fmla="*/ 68 h 79"/>
                <a:gd name="T20" fmla="*/ 104 w 104"/>
                <a:gd name="T21" fmla="*/ 26 h 79"/>
                <a:gd name="T22" fmla="*/ 104 w 104"/>
                <a:gd name="T23" fmla="*/ 24 h 79"/>
                <a:gd name="T24" fmla="*/ 103 w 104"/>
                <a:gd name="T25" fmla="*/ 23 h 79"/>
                <a:gd name="T26" fmla="*/ 90 w 104"/>
                <a:gd name="T27" fmla="*/ 10 h 79"/>
                <a:gd name="T28" fmla="*/ 89 w 104"/>
                <a:gd name="T29" fmla="*/ 9 h 79"/>
                <a:gd name="T30" fmla="*/ 87 w 104"/>
                <a:gd name="T31" fmla="*/ 9 h 79"/>
                <a:gd name="T32" fmla="*/ 31 w 104"/>
                <a:gd name="T33" fmla="*/ 9 h 79"/>
                <a:gd name="T34" fmla="*/ 31 w 104"/>
                <a:gd name="T35" fmla="*/ 17 h 79"/>
                <a:gd name="T36" fmla="*/ 84 w 104"/>
                <a:gd name="T37" fmla="*/ 17 h 79"/>
                <a:gd name="T38" fmla="*/ 83 w 104"/>
                <a:gd name="T39" fmla="*/ 28 h 79"/>
                <a:gd name="T40" fmla="*/ 83 w 104"/>
                <a:gd name="T41" fmla="*/ 30 h 79"/>
                <a:gd name="T42" fmla="*/ 85 w 104"/>
                <a:gd name="T43" fmla="*/ 30 h 79"/>
                <a:gd name="T44" fmla="*/ 97 w 104"/>
                <a:gd name="T45" fmla="*/ 29 h 79"/>
                <a:gd name="T46" fmla="*/ 97 w 104"/>
                <a:gd name="T47" fmla="*/ 65 h 79"/>
                <a:gd name="T48" fmla="*/ 18 w 104"/>
                <a:gd name="T49" fmla="*/ 65 h 79"/>
                <a:gd name="T50" fmla="*/ 95 w 104"/>
                <a:gd name="T51" fmla="*/ 26 h 79"/>
                <a:gd name="T52" fmla="*/ 86 w 104"/>
                <a:gd name="T53" fmla="*/ 26 h 79"/>
                <a:gd name="T54" fmla="*/ 87 w 104"/>
                <a:gd name="T55" fmla="*/ 18 h 79"/>
                <a:gd name="T56" fmla="*/ 95 w 104"/>
                <a:gd name="T57" fmla="*/ 26 h 79"/>
                <a:gd name="T58" fmla="*/ 32 w 104"/>
                <a:gd name="T59" fmla="*/ 43 h 79"/>
                <a:gd name="T60" fmla="*/ 74 w 104"/>
                <a:gd name="T61" fmla="*/ 43 h 79"/>
                <a:gd name="T62" fmla="*/ 74 w 104"/>
                <a:gd name="T63" fmla="*/ 45 h 79"/>
                <a:gd name="T64" fmla="*/ 32 w 104"/>
                <a:gd name="T65" fmla="*/ 45 h 79"/>
                <a:gd name="T66" fmla="*/ 32 w 104"/>
                <a:gd name="T67" fmla="*/ 43 h 79"/>
                <a:gd name="T68" fmla="*/ 32 w 104"/>
                <a:gd name="T69" fmla="*/ 32 h 79"/>
                <a:gd name="T70" fmla="*/ 71 w 104"/>
                <a:gd name="T71" fmla="*/ 32 h 79"/>
                <a:gd name="T72" fmla="*/ 71 w 104"/>
                <a:gd name="T73" fmla="*/ 35 h 79"/>
                <a:gd name="T74" fmla="*/ 32 w 104"/>
                <a:gd name="T75" fmla="*/ 35 h 79"/>
                <a:gd name="T76" fmla="*/ 32 w 104"/>
                <a:gd name="T77" fmla="*/ 32 h 79"/>
                <a:gd name="T78" fmla="*/ 32 w 104"/>
                <a:gd name="T79" fmla="*/ 22 h 79"/>
                <a:gd name="T80" fmla="*/ 71 w 104"/>
                <a:gd name="T81" fmla="*/ 22 h 79"/>
                <a:gd name="T82" fmla="*/ 71 w 104"/>
                <a:gd name="T83" fmla="*/ 25 h 79"/>
                <a:gd name="T84" fmla="*/ 32 w 104"/>
                <a:gd name="T85" fmla="*/ 25 h 79"/>
                <a:gd name="T86" fmla="*/ 32 w 104"/>
                <a:gd name="T87" fmla="*/ 22 h 79"/>
                <a:gd name="T88" fmla="*/ 3 w 104"/>
                <a:gd name="T89" fmla="*/ 66 h 79"/>
                <a:gd name="T90" fmla="*/ 9 w 104"/>
                <a:gd name="T91" fmla="*/ 68 h 79"/>
                <a:gd name="T92" fmla="*/ 9 w 104"/>
                <a:gd name="T93" fmla="*/ 74 h 79"/>
                <a:gd name="T94" fmla="*/ 5 w 104"/>
                <a:gd name="T95" fmla="*/ 79 h 79"/>
                <a:gd name="T96" fmla="*/ 2 w 104"/>
                <a:gd name="T97" fmla="*/ 78 h 79"/>
                <a:gd name="T98" fmla="*/ 0 w 104"/>
                <a:gd name="T99" fmla="*/ 72 h 79"/>
                <a:gd name="T100" fmla="*/ 3 w 104"/>
                <a:gd name="T101" fmla="*/ 66 h 79"/>
                <a:gd name="T102" fmla="*/ 4 w 104"/>
                <a:gd name="T103" fmla="*/ 48 h 79"/>
                <a:gd name="T104" fmla="*/ 2 w 104"/>
                <a:gd name="T105" fmla="*/ 65 h 79"/>
                <a:gd name="T106" fmla="*/ 12 w 104"/>
                <a:gd name="T107" fmla="*/ 67 h 79"/>
                <a:gd name="T108" fmla="*/ 17 w 104"/>
                <a:gd name="T109" fmla="*/ 51 h 79"/>
                <a:gd name="T110" fmla="*/ 4 w 104"/>
                <a:gd name="T111" fmla="*/ 4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pic>
        <p:nvPicPr>
          <p:cNvPr id="2" name="图片 1">
            <a:extLst>
              <a:ext uri="{FF2B5EF4-FFF2-40B4-BE49-F238E27FC236}">
                <a16:creationId xmlns:a16="http://schemas.microsoft.com/office/drawing/2014/main" id="{15D645E1-AB94-AA0E-55F4-4C420306B96F}"/>
              </a:ext>
            </a:extLst>
          </p:cNvPr>
          <p:cNvPicPr>
            <a:picLocks noChangeAspect="1"/>
          </p:cNvPicPr>
          <p:nvPr/>
        </p:nvPicPr>
        <p:blipFill>
          <a:blip r:embed="rId6"/>
          <a:stretch>
            <a:fillRect/>
          </a:stretch>
        </p:blipFill>
        <p:spPr>
          <a:xfrm>
            <a:off x="7532580" y="2519710"/>
            <a:ext cx="1036410" cy="1036410"/>
          </a:xfrm>
          <a:prstGeom prst="rect">
            <a:avLst/>
          </a:prstGeom>
        </p:spPr>
      </p:pic>
      <p:sp>
        <p:nvSpPr>
          <p:cNvPr id="3" name="矩形 68">
            <a:extLst>
              <a:ext uri="{FF2B5EF4-FFF2-40B4-BE49-F238E27FC236}">
                <a16:creationId xmlns:a16="http://schemas.microsoft.com/office/drawing/2014/main" id="{AD10A239-F728-B57D-9D12-6D0DA66AC631}"/>
              </a:ext>
            </a:extLst>
          </p:cNvPr>
          <p:cNvSpPr>
            <a:spLocks noChangeArrowheads="1"/>
          </p:cNvSpPr>
          <p:nvPr/>
        </p:nvSpPr>
        <p:spPr bwMode="auto">
          <a:xfrm>
            <a:off x="6725011" y="1009253"/>
            <a:ext cx="2651547" cy="16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Multimodal Analysis of </a:t>
            </a:r>
            <a:r>
              <a:rPr kumimoji="0" lang="en-US" altLang="zh-CN" sz="2000" b="1" i="1"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Zhuangzi Speaks </a:t>
            </a: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and</a:t>
            </a:r>
          </a:p>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Its Translation </a:t>
            </a:r>
          </a:p>
        </p:txBody>
      </p:sp>
      <p:sp>
        <p:nvSpPr>
          <p:cNvPr id="7" name="矩形 66">
            <a:extLst>
              <a:ext uri="{FF2B5EF4-FFF2-40B4-BE49-F238E27FC236}">
                <a16:creationId xmlns:a16="http://schemas.microsoft.com/office/drawing/2014/main" id="{BD65526B-3212-9F31-DA41-B2455907FDFF}"/>
              </a:ext>
            </a:extLst>
          </p:cNvPr>
          <p:cNvSpPr>
            <a:spLocks noChangeArrowheads="1"/>
          </p:cNvSpPr>
          <p:nvPr/>
        </p:nvSpPr>
        <p:spPr bwMode="auto">
          <a:xfrm>
            <a:off x="10056787" y="2278373"/>
            <a:ext cx="2700245"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Conclusions</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33762" y="-467071"/>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241655" y="2871254"/>
            <a:ext cx="2281394" cy="52322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Introduction</a:t>
            </a:r>
            <a:endParaRPr kumimoji="0" lang="zh-CN" altLang="en-US" sz="2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2" name="组合 1"/>
          <p:cNvGrpSpPr/>
          <p:nvPr/>
        </p:nvGrpSpPr>
        <p:grpSpPr>
          <a:xfrm>
            <a:off x="7785016" y="2366026"/>
            <a:ext cx="4456037" cy="1536711"/>
            <a:chOff x="5838761" y="1774519"/>
            <a:chExt cx="3342027" cy="1152533"/>
          </a:xfrm>
        </p:grpSpPr>
        <p:grpSp>
          <p:nvGrpSpPr>
            <p:cNvPr id="31" name="组合 30"/>
            <p:cNvGrpSpPr/>
            <p:nvPr/>
          </p:nvGrpSpPr>
          <p:grpSpPr>
            <a:xfrm>
              <a:off x="5838761" y="1774519"/>
              <a:ext cx="3209050" cy="868872"/>
              <a:chOff x="9140243" y="2649839"/>
              <a:chExt cx="4278728" cy="1158496"/>
            </a:xfrm>
          </p:grpSpPr>
          <p:sp>
            <p:nvSpPr>
              <p:cNvPr id="32" name="矩形 31"/>
              <p:cNvSpPr/>
              <p:nvPr/>
            </p:nvSpPr>
            <p:spPr>
              <a:xfrm>
                <a:off x="9140243" y="2649839"/>
                <a:ext cx="2683744" cy="379335"/>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1.1 Research Rationale</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p:txBody>
          </p:sp>
          <p:sp>
            <p:nvSpPr>
              <p:cNvPr id="33" name="矩形 32"/>
              <p:cNvSpPr/>
              <p:nvPr/>
            </p:nvSpPr>
            <p:spPr>
              <a:xfrm>
                <a:off x="9140243" y="3037021"/>
                <a:ext cx="2964267"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1.2 Research Significance</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4" name="矩形 33"/>
              <p:cNvSpPr/>
              <p:nvPr/>
            </p:nvSpPr>
            <p:spPr>
              <a:xfrm>
                <a:off x="9140243" y="3429000"/>
                <a:ext cx="4278728"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r>
                  <a:rPr kumimoji="1" lang="en-US" altLang="zh-CN" sz="1865" dirty="0">
                    <a:solidFill>
                      <a:prstClr val="white"/>
                    </a:solidFill>
                    <a:latin typeface="Arial" panose="020B0604020202020204"/>
                    <a:ea typeface="微软雅黑" panose="020B0503020204020204" pitchFamily="34" charset="-122"/>
                  </a:rPr>
                  <a:t>.</a:t>
                </a: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 Research Objective and Questions</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38" name="矩形 37"/>
            <p:cNvSpPr/>
            <p:nvPr/>
          </p:nvSpPr>
          <p:spPr>
            <a:xfrm>
              <a:off x="5852715" y="2642551"/>
              <a:ext cx="3328073" cy="28450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1.4 Methodology and Research Material</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组合 93"/>
          <p:cNvGrpSpPr/>
          <p:nvPr/>
        </p:nvGrpSpPr>
        <p:grpSpPr>
          <a:xfrm>
            <a:off x="922155" y="784939"/>
            <a:ext cx="10822660" cy="5591915"/>
            <a:chOff x="2877981" y="1279908"/>
            <a:chExt cx="7757234" cy="3947085"/>
          </a:xfrm>
        </p:grpSpPr>
        <p:sp>
          <p:nvSpPr>
            <p:cNvPr id="95" name="矩形 94"/>
            <p:cNvSpPr>
              <a:spLocks noChangeArrowheads="1"/>
            </p:cNvSpPr>
            <p:nvPr/>
          </p:nvSpPr>
          <p:spPr bwMode="auto">
            <a:xfrm>
              <a:off x="2877981" y="1279908"/>
              <a:ext cx="7757234" cy="394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Comics are a pervasive art form and an intrinsic part of the cultural fabric of most countries. </a:t>
              </a: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err="1">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Zanettin</a:t>
              </a: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2015: 3)</a:t>
              </a: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However, perhaps because of its image-based nature, comics are often treated as less worthy of academic research. This is quite true in </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translation </a:t>
              </a: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studies as well.</a:t>
              </a:r>
            </a:p>
            <a:p>
              <a:pPr marL="0" marR="0" lvl="0" indent="0" algn="l" defTabSz="457200" rtl="0" eaLnBrk="1" fontAlgn="auto" latinLnBrk="0" hangingPunct="1">
                <a:lnSpc>
                  <a:spcPct val="150000"/>
                </a:lnSpc>
                <a:spcBef>
                  <a:spcPts val="0"/>
                </a:spcBef>
                <a:spcAft>
                  <a:spcPts val="0"/>
                </a:spcAft>
                <a:buClrTx/>
                <a:buSzTx/>
                <a:buFontTx/>
                <a:buNone/>
                <a:defRPr/>
              </a:pPr>
              <a:endPar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Besides, among the limited number of works dedicated to comic translation, </a:t>
              </a:r>
              <a:r>
                <a:rPr kumimoji="0" lang="en-US" altLang="zh-CN"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most of them restrict themselves to the analysis of verbal text </a:t>
              </a:r>
              <a:r>
                <a:rPr kumimoji="0" lang="en-US" altLang="zh-CN"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which is only part of the equation. </a:t>
              </a:r>
            </a:p>
            <a:p>
              <a:pPr marL="0" marR="0" lvl="0" indent="0" algn="l" defTabSz="457200" rtl="0" eaLnBrk="1" fontAlgn="auto" latinLnBrk="0" hangingPunct="1">
                <a:lnSpc>
                  <a:spcPct val="150000"/>
                </a:lnSpc>
                <a:spcBef>
                  <a:spcPts val="0"/>
                </a:spcBef>
                <a:spcAft>
                  <a:spcPts val="0"/>
                </a:spcAft>
                <a:buClrTx/>
                <a:buSzTx/>
                <a:buFontTx/>
                <a:buNone/>
                <a:defRPr/>
              </a:pPr>
              <a:endPar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defRPr/>
              </a:pP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With the rapid growth of mass media, it is crucial to realize </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the verbal mode is just one of a variety of semiotic systems</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Thus, this thesis intends to apply a multimodal approach to comic translation, exploring the roles of both images and text, based on a case study of </a:t>
              </a:r>
              <a:r>
                <a:rPr lang="en-US" altLang="zh-CN" i="1"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Zhuangzi Speaks.</a:t>
              </a:r>
              <a:endParaRPr kumimoji="0" lang="en-US" altLang="zh-CN" i="1"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lang="en-US" altLang="zh-CN" sz="1600" dirty="0">
                <a:solidFill>
                  <a:prstClr val="black">
                    <a:lumMod val="85000"/>
                    <a:lumOff val="15000"/>
                  </a:prstClr>
                </a:solidFill>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96" name="矩形 95"/>
            <p:cNvSpPr/>
            <p:nvPr/>
          </p:nvSpPr>
          <p:spPr>
            <a:xfrm>
              <a:off x="2963100" y="1279908"/>
              <a:ext cx="132408" cy="28242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3" name="矩形 46"/>
          <p:cNvSpPr>
            <a:spLocks noChangeArrowheads="1"/>
          </p:cNvSpPr>
          <p:nvPr/>
        </p:nvSpPr>
        <p:spPr bwMode="auto">
          <a:xfrm>
            <a:off x="839105" y="236335"/>
            <a:ext cx="3758330"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1.1 Research Rationale</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组合 93"/>
          <p:cNvGrpSpPr/>
          <p:nvPr/>
        </p:nvGrpSpPr>
        <p:grpSpPr>
          <a:xfrm>
            <a:off x="449084" y="701335"/>
            <a:ext cx="5983551" cy="6181975"/>
            <a:chOff x="707472" y="1279908"/>
            <a:chExt cx="5842014" cy="5000862"/>
          </a:xfrm>
        </p:grpSpPr>
        <p:sp>
          <p:nvSpPr>
            <p:cNvPr id="95" name="矩形 94"/>
            <p:cNvSpPr>
              <a:spLocks noChangeArrowheads="1"/>
            </p:cNvSpPr>
            <p:nvPr/>
          </p:nvSpPr>
          <p:spPr bwMode="auto">
            <a:xfrm>
              <a:off x="707472" y="1421118"/>
              <a:ext cx="5842014" cy="4859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457200">
                <a:lnSpc>
                  <a:spcPct val="150000"/>
                </a:lnSpc>
                <a:defRPr/>
              </a:pPr>
              <a:r>
                <a:rPr lang="en-US" altLang="zh-CN" sz="1800" i="1" kern="100" dirty="0">
                  <a:solidFill>
                    <a:srgbClr val="000000"/>
                  </a:solidFill>
                  <a:effectLst/>
                  <a:latin typeface="Times New Roman" panose="02020603050405020304" pitchFamily="18" charset="0"/>
                  <a:ea typeface="宋体" panose="02010600030101010101" pitchFamily="2" charset="-122"/>
                </a:rPr>
                <a:t>Zhuangzi Speaks</a:t>
              </a:r>
              <a:r>
                <a:rPr lang="en-US" altLang="zh-CN" sz="1800" kern="100" dirty="0">
                  <a:solidFill>
                    <a:srgbClr val="000000"/>
                  </a:solidFill>
                  <a:effectLst/>
                  <a:latin typeface="Times New Roman" panose="02020603050405020304" pitchFamily="18" charset="0"/>
                  <a:ea typeface="宋体" panose="02010600030101010101" pitchFamily="2" charset="-122"/>
                </a:rPr>
                <a:t>, a comic book compiled and illustrated by Taiwanese cartoonist Tsai </a:t>
              </a:r>
              <a:r>
                <a:rPr lang="en-US" altLang="zh-CN" sz="1800" kern="100" dirty="0" err="1">
                  <a:solidFill>
                    <a:srgbClr val="000000"/>
                  </a:solidFill>
                  <a:effectLst/>
                  <a:latin typeface="Times New Roman" panose="02020603050405020304" pitchFamily="18" charset="0"/>
                  <a:ea typeface="宋体" panose="02010600030101010101" pitchFamily="2" charset="-122"/>
                </a:rPr>
                <a:t>Chih</a:t>
              </a:r>
              <a:r>
                <a:rPr lang="en-US" altLang="zh-CN" sz="1800" kern="100" dirty="0">
                  <a:solidFill>
                    <a:srgbClr val="000000"/>
                  </a:solidFill>
                  <a:effectLst/>
                  <a:latin typeface="Times New Roman" panose="02020603050405020304" pitchFamily="18" charset="0"/>
                  <a:ea typeface="宋体" panose="02010600030101010101" pitchFamily="2" charset="-122"/>
                </a:rPr>
                <a:t> Chung, draws its content primarily from the Chinese classic </a:t>
              </a:r>
              <a:r>
                <a:rPr lang="en-US" altLang="zh-CN" sz="1800" i="1" kern="100" dirty="0">
                  <a:solidFill>
                    <a:srgbClr val="000000"/>
                  </a:solidFill>
                  <a:effectLst/>
                  <a:latin typeface="Times New Roman" panose="02020603050405020304" pitchFamily="18" charset="0"/>
                  <a:ea typeface="宋体" panose="02010600030101010101" pitchFamily="2" charset="-122"/>
                </a:rPr>
                <a:t>Zhuangzi. </a:t>
              </a:r>
              <a:r>
                <a:rPr lang="en-US" altLang="zh-CN" sz="1800" kern="100" dirty="0">
                  <a:solidFill>
                    <a:srgbClr val="000000"/>
                  </a:solidFill>
                  <a:effectLst/>
                  <a:latin typeface="Times New Roman" panose="02020603050405020304" pitchFamily="18" charset="0"/>
                  <a:ea typeface="宋体" panose="02010600030101010101" pitchFamily="2" charset="-122"/>
                </a:rPr>
                <a:t>Through humorous images and simplified texts, the book conveniently explicates the philosophy of Daoism in a vivid and reader-friendly fashion. </a:t>
              </a:r>
            </a:p>
            <a:p>
              <a:pPr algn="just" defTabSz="457200">
                <a:lnSpc>
                  <a:spcPct val="150000"/>
                </a:lnSpc>
                <a:defRPr/>
              </a:pPr>
              <a:endParaRPr lang="en-US" altLang="zh-CN" kern="100" dirty="0">
                <a:solidFill>
                  <a:srgbClr val="000000"/>
                </a:solidFill>
                <a:latin typeface="Times New Roman" panose="02020603050405020304" pitchFamily="18" charset="0"/>
                <a:ea typeface="宋体" panose="02010600030101010101" pitchFamily="2" charset="-122"/>
              </a:endParaRPr>
            </a:p>
            <a:p>
              <a:pPr algn="just" defTabSz="457200">
                <a:lnSpc>
                  <a:spcPct val="150000"/>
                </a:lnSpc>
                <a:defRPr/>
              </a:pP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The English translation was done by American philosopher B. </a:t>
              </a:r>
              <a:r>
                <a:rPr lang="en-US" altLang="zh-CN"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Bruya</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and has garnered widespread acclaim from Western readers, with an Amazon rating of 4.6 out of 5.0.The resounding success of its translation has already drawn academic interest.</a:t>
              </a:r>
            </a:p>
            <a:p>
              <a:pPr marL="0" marR="0" lvl="0" indent="0" algn="l" defTabSz="457200" rtl="0" eaLnBrk="1" fontAlgn="auto" latinLnBrk="0" hangingPunct="1">
                <a:lnSpc>
                  <a:spcPct val="130000"/>
                </a:lnSpc>
                <a:spcBef>
                  <a:spcPts val="0"/>
                </a:spcBef>
                <a:spcAft>
                  <a:spcPts val="0"/>
                </a:spcAft>
                <a:buClrTx/>
                <a:buSzTx/>
                <a:buFontTx/>
                <a:buNone/>
                <a:defRPr/>
              </a:pPr>
              <a:endParaRPr lang="en-US" altLang="zh-CN" sz="1600" dirty="0">
                <a:solidFill>
                  <a:prstClr val="black">
                    <a:lumMod val="85000"/>
                    <a:lumOff val="15000"/>
                  </a:prstClr>
                </a:solidFill>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96" name="矩形 95"/>
            <p:cNvSpPr/>
            <p:nvPr/>
          </p:nvSpPr>
          <p:spPr>
            <a:xfrm>
              <a:off x="2963100" y="1279908"/>
              <a:ext cx="132408" cy="28242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3" name="矩形 46"/>
          <p:cNvSpPr>
            <a:spLocks noChangeArrowheads="1"/>
          </p:cNvSpPr>
          <p:nvPr/>
        </p:nvSpPr>
        <p:spPr bwMode="auto">
          <a:xfrm>
            <a:off x="634918" y="237124"/>
            <a:ext cx="4939231"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A Synopsis of </a:t>
            </a:r>
            <a:r>
              <a:rPr kumimoji="0" lang="en-US" altLang="zh-CN" sz="2800" b="1" i="1"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Zhuangzi Speaks</a:t>
            </a:r>
            <a:endParaRPr kumimoji="0" lang="zh-CN" altLang="en-US" sz="2800" b="1" i="1"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4" name="图片 3">
            <a:extLst>
              <a:ext uri="{FF2B5EF4-FFF2-40B4-BE49-F238E27FC236}">
                <a16:creationId xmlns:a16="http://schemas.microsoft.com/office/drawing/2014/main" id="{EDD0EA8D-7AA5-4B23-854E-8FDA4014D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4535" y="875897"/>
            <a:ext cx="2664120" cy="4121760"/>
          </a:xfrm>
          <a:prstGeom prst="rect">
            <a:avLst/>
          </a:prstGeom>
        </p:spPr>
      </p:pic>
      <p:pic>
        <p:nvPicPr>
          <p:cNvPr id="5" name="图片 4">
            <a:extLst>
              <a:ext uri="{FF2B5EF4-FFF2-40B4-BE49-F238E27FC236}">
                <a16:creationId xmlns:a16="http://schemas.microsoft.com/office/drawing/2014/main" id="{6929FD74-418D-F2BE-F271-F020D2DA7F78}"/>
              </a:ext>
            </a:extLst>
          </p:cNvPr>
          <p:cNvPicPr>
            <a:picLocks noChangeAspect="1"/>
          </p:cNvPicPr>
          <p:nvPr/>
        </p:nvPicPr>
        <p:blipFill>
          <a:blip r:embed="rId4"/>
          <a:stretch>
            <a:fillRect/>
          </a:stretch>
        </p:blipFill>
        <p:spPr>
          <a:xfrm>
            <a:off x="9217967" y="852675"/>
            <a:ext cx="2974033" cy="4144982"/>
          </a:xfrm>
          <a:prstGeom prst="rect">
            <a:avLst/>
          </a:prstGeom>
        </p:spPr>
      </p:pic>
    </p:spTree>
    <p:extLst>
      <p:ext uri="{BB962C8B-B14F-4D97-AF65-F5344CB8AC3E}">
        <p14:creationId xmlns:p14="http://schemas.microsoft.com/office/powerpoint/2010/main" val="2664842274"/>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4136639"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1.2 Research Significance</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7" name="箭头3"/>
          <p:cNvSpPr/>
          <p:nvPr/>
        </p:nvSpPr>
        <p:spPr bwMode="gray">
          <a:xfrm flipV="1">
            <a:off x="2454115" y="4205423"/>
            <a:ext cx="1093019" cy="152070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9" name="箭头1"/>
          <p:cNvSpPr/>
          <p:nvPr/>
        </p:nvSpPr>
        <p:spPr bwMode="gray">
          <a:xfrm>
            <a:off x="2454116" y="1858913"/>
            <a:ext cx="1093019" cy="176158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0" name="文本1"/>
          <p:cNvSpPr>
            <a:spLocks noChangeArrowheads="1"/>
          </p:cNvSpPr>
          <p:nvPr/>
        </p:nvSpPr>
        <p:spPr bwMode="gray">
          <a:xfrm>
            <a:off x="5077758" y="1577470"/>
            <a:ext cx="6818320" cy="1195991"/>
          </a:xfrm>
          <a:prstGeom prst="roundRect">
            <a:avLst>
              <a:gd name="adj" fmla="val 11505"/>
            </a:avLst>
          </a:prstGeom>
          <a:noFill/>
          <a:ln w="15875" cap="flat" cmpd="sng" algn="ctr">
            <a:solidFill>
              <a:schemeClr val="accent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9400" algn="just"/>
            <a:r>
              <a:rPr lang="en-US" altLang="zh-CN" kern="100" dirty="0">
                <a:solidFill>
                  <a:srgbClr val="000000"/>
                </a:solidFill>
                <a:latin typeface="Times New Roman" panose="02020603050405020304" pitchFamily="18" charset="0"/>
                <a:ea typeface="宋体" panose="02010600030101010101" pitchFamily="2" charset="-122"/>
              </a:rPr>
              <a:t>E</a:t>
            </a:r>
            <a:r>
              <a:rPr lang="en-US" altLang="zh-CN" sz="1800" kern="100" dirty="0">
                <a:solidFill>
                  <a:srgbClr val="000000"/>
                </a:solidFill>
                <a:effectLst/>
                <a:latin typeface="Times New Roman" panose="02020603050405020304" pitchFamily="18" charset="0"/>
                <a:ea typeface="宋体" panose="02010600030101010101" pitchFamily="2" charset="-122"/>
              </a:rPr>
              <a:t>xpand the application of multimodal discourse analysis and add to the findings of image-text relations in the course of comic translation.</a:t>
            </a:r>
            <a:endParaRPr lang="zh-CN" altLang="zh-CN" sz="1800" kern="100" dirty="0">
              <a:solidFill>
                <a:srgbClr val="000000"/>
              </a:solidFill>
              <a:effectLst/>
              <a:latin typeface="Times New Roman" panose="02020603050405020304" pitchFamily="18" charset="0"/>
              <a:ea typeface="宋体" panose="02010600030101010101" pitchFamily="2" charset="-122"/>
            </a:endParaRPr>
          </a:p>
        </p:txBody>
      </p:sp>
      <p:sp>
        <p:nvSpPr>
          <p:cNvPr id="21" name="标题1"/>
          <p:cNvSpPr>
            <a:spLocks noChangeArrowheads="1"/>
          </p:cNvSpPr>
          <p:nvPr/>
        </p:nvSpPr>
        <p:spPr bwMode="gray">
          <a:xfrm>
            <a:off x="3508046" y="1571348"/>
            <a:ext cx="1578859" cy="1202113"/>
          </a:xfrm>
          <a:prstGeom prst="roundRect">
            <a:avLst>
              <a:gd name="adj" fmla="val 11921"/>
            </a:avLst>
          </a:prstGeom>
          <a:solidFill>
            <a:schemeClr val="accent1"/>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lang="en-US" altLang="zh-CN" sz="1865" b="1" dirty="0">
                <a:solidFill>
                  <a:sysClr val="window" lastClr="FFFFFF">
                    <a:lumMod val="95000"/>
                  </a:sysClr>
                </a:solidFill>
                <a:latin typeface="Times New Roman" panose="02020603050405020304" pitchFamily="18" charset="0"/>
                <a:ea typeface="微软雅黑" panose="020B0503020204020204" pitchFamily="34" charset="-122"/>
                <a:cs typeface="Times New Roman" panose="02020603050405020304" pitchFamily="18" charset="0"/>
              </a:rPr>
              <a:t>Theoretical value</a:t>
            </a:r>
            <a:endParaRPr kumimoji="0" lang="zh-CN" altLang="zh-CN" sz="1865" b="1" i="0" u="none" strike="noStrike" kern="1200" cap="none" spc="0" normalizeH="0" baseline="0" noProof="0" dirty="0">
              <a:ln>
                <a:noFill/>
              </a:ln>
              <a:solidFill>
                <a:sysClr val="window" lastClr="FFFFFF">
                  <a:lumMod val="95000"/>
                </a:sys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文本3"/>
          <p:cNvSpPr>
            <a:spLocks noChangeArrowheads="1"/>
          </p:cNvSpPr>
          <p:nvPr/>
        </p:nvSpPr>
        <p:spPr bwMode="ltGray">
          <a:xfrm>
            <a:off x="5316916" y="4689829"/>
            <a:ext cx="5912124" cy="1181401"/>
          </a:xfrm>
          <a:prstGeom prst="roundRect">
            <a:avLst>
              <a:gd name="adj" fmla="val 11505"/>
            </a:avLst>
          </a:prstGeom>
          <a:noFill/>
          <a:ln w="15875" cap="flat" cmpd="sng" algn="ctr">
            <a:solidFill>
              <a:schemeClr val="accent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lang="en-US" altLang="zh-CN" dirty="0">
                <a:solidFill>
                  <a:prstClr val="black">
                    <a:lumMod val="75000"/>
                    <a:lumOff val="25000"/>
                  </a:prstClr>
                </a:solidFill>
                <a:latin typeface="Times New Roman" panose="02020603050405020304" pitchFamily="18" charset="0"/>
                <a:ea typeface="微软雅黑" panose="020B0503020204020204" pitchFamily="34" charset="-122"/>
                <a:cs typeface="Times New Roman" panose="02020603050405020304" pitchFamily="18" charset="0"/>
              </a:rPr>
              <a:t>Identify</a:t>
            </a:r>
            <a:r>
              <a:rPr kumimoji="0" lang="en-US" altLang="zh-CN" b="0" i="0" u="none" strike="noStrike" kern="120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and summarize strategies and methods for Chinese-English comic translation drawn from multimodal analysis and does its part in helping more Chinese comics go global</a:t>
            </a:r>
            <a:r>
              <a:rPr kumimoji="0" lang="en-US" altLang="zh-CN"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 </a:t>
            </a:r>
            <a:endParaRPr kumimoji="0" lang="zh-CN" altLang="zh-CN"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标题3"/>
          <p:cNvSpPr>
            <a:spLocks noChangeArrowheads="1"/>
          </p:cNvSpPr>
          <p:nvPr/>
        </p:nvSpPr>
        <p:spPr bwMode="gray">
          <a:xfrm>
            <a:off x="3508046" y="4689828"/>
            <a:ext cx="1816007" cy="1181401"/>
          </a:xfrm>
          <a:prstGeom prst="roundRect">
            <a:avLst>
              <a:gd name="adj" fmla="val 11921"/>
            </a:avLst>
          </a:prstGeom>
          <a:solidFill>
            <a:schemeClr val="accent1"/>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865" b="1" i="0" u="none" strike="noStrike" kern="1200" cap="none" spc="0" normalizeH="0" baseline="0" noProof="0" dirty="0">
                <a:ln>
                  <a:noFill/>
                </a:ln>
                <a:solidFill>
                  <a:sysClr val="window" lastClr="FFFFFF">
                    <a:lumMod val="95000"/>
                  </a:sys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Practical Value</a:t>
            </a:r>
            <a:endParaRPr kumimoji="0" lang="zh-CN" altLang="zh-CN" sz="1865" b="1" i="0" u="none" strike="noStrike" kern="1200" cap="none" spc="0" normalizeH="0" baseline="0" noProof="0" dirty="0">
              <a:ln>
                <a:noFill/>
              </a:ln>
              <a:solidFill>
                <a:sysClr val="window" lastClr="FFFFFF">
                  <a:lumMod val="95000"/>
                </a:sys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Oval 19"/>
          <p:cNvSpPr>
            <a:spLocks noChangeArrowheads="1"/>
          </p:cNvSpPr>
          <p:nvPr/>
        </p:nvSpPr>
        <p:spPr bwMode="auto">
          <a:xfrm>
            <a:off x="182003" y="3432880"/>
            <a:ext cx="2982897" cy="1009974"/>
          </a:xfrm>
          <a:prstGeom prst="ellipse">
            <a:avLst/>
          </a:prstGeom>
          <a:solidFill>
            <a:schemeClr val="accent1"/>
          </a:solidFill>
          <a:ln w="9525">
            <a:noFill/>
            <a:round/>
          </a:ln>
          <a:effectLst/>
        </p:spPr>
        <p:txBody>
          <a:bodyPr lIns="82824" tIns="41411" rIns="82824" bIns="41411" anchor="ct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en-US" altLang="zh-CN" sz="2535" b="1"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Significance</a:t>
            </a:r>
            <a:endParaRPr kumimoji="0" lang="zh-CN" altLang="en-US" sz="2535" b="1"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6032992"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1.3 Research Objective and Questions</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nvGrpSpPr>
        <p:grpSpPr>
          <a:xfrm>
            <a:off x="2420113" y="1383202"/>
            <a:ext cx="7685313" cy="465118"/>
            <a:chOff x="3002037" y="1465798"/>
            <a:chExt cx="7067433" cy="369332"/>
          </a:xfrm>
          <a:solidFill>
            <a:schemeClr val="accent2">
              <a:lumMod val="75000"/>
            </a:schemeClr>
          </a:solidFill>
        </p:grpSpPr>
        <p:sp>
          <p:nvSpPr>
            <p:cNvPr id="14" name="矩形 13"/>
            <p:cNvSpPr/>
            <p:nvPr/>
          </p:nvSpPr>
          <p:spPr bwMode="auto">
            <a:xfrm>
              <a:off x="3002037" y="1465798"/>
              <a:ext cx="7067433" cy="369332"/>
            </a:xfrm>
            <a:prstGeom prst="rect">
              <a:avLst/>
            </a:prstGeom>
            <a:solidFill>
              <a:schemeClr val="accent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nvSpPr>
          <p:spPr>
            <a:xfrm>
              <a:off x="3033223" y="1474123"/>
              <a:ext cx="5688633" cy="33395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rgbClr val="F8F8F8"/>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Objective</a:t>
              </a:r>
              <a:endParaRPr kumimoji="0" lang="zh-CN" altLang="en-US" sz="2135" b="0" i="0" u="none" strike="noStrike" kern="1200" cap="none" spc="0" normalizeH="0" baseline="0" noProof="0" dirty="0">
                <a:ln>
                  <a:noFill/>
                </a:ln>
                <a:solidFill>
                  <a:srgbClr val="F8F8F8"/>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2420112" y="3970458"/>
            <a:ext cx="7685313" cy="465119"/>
            <a:chOff x="3002037" y="3922395"/>
            <a:chExt cx="7067433" cy="369332"/>
          </a:xfrm>
          <a:solidFill>
            <a:schemeClr val="accent2">
              <a:lumMod val="75000"/>
            </a:schemeClr>
          </a:solidFill>
        </p:grpSpPr>
        <p:sp>
          <p:nvSpPr>
            <p:cNvPr id="19" name="矩形 18"/>
            <p:cNvSpPr/>
            <p:nvPr/>
          </p:nvSpPr>
          <p:spPr bwMode="auto">
            <a:xfrm>
              <a:off x="3002037" y="3922395"/>
              <a:ext cx="7067433" cy="369332"/>
            </a:xfrm>
            <a:prstGeom prst="rect">
              <a:avLst/>
            </a:prstGeom>
            <a:solidFill>
              <a:schemeClr val="accent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Box 19"/>
            <p:cNvSpPr txBox="1"/>
            <p:nvPr/>
          </p:nvSpPr>
          <p:spPr>
            <a:xfrm>
              <a:off x="3023808" y="3939647"/>
              <a:ext cx="4085844" cy="33395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rgbClr val="F8F8F8"/>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Questions</a:t>
              </a:r>
              <a:endParaRPr kumimoji="0" lang="zh-CN" altLang="en-US" sz="2135" b="0" i="0" u="none" strike="noStrike" kern="1200" cap="none" spc="0" normalizeH="0" baseline="0" noProof="0" dirty="0">
                <a:ln>
                  <a:noFill/>
                </a:ln>
                <a:solidFill>
                  <a:srgbClr val="F8F8F8"/>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TextBox 20"/>
          <p:cNvSpPr txBox="1"/>
          <p:nvPr/>
        </p:nvSpPr>
        <p:spPr>
          <a:xfrm>
            <a:off x="2356371" y="1856592"/>
            <a:ext cx="7685312" cy="1981696"/>
          </a:xfrm>
          <a:prstGeom prst="rect">
            <a:avLst/>
          </a:prstGeom>
          <a:noFill/>
        </p:spPr>
        <p:txBody>
          <a:bodyPr wrap="square" lIns="91440" tIns="45720" rIns="91440" bIns="45720" rtlCol="0">
            <a:spAutoFit/>
          </a:bodyPr>
          <a:lstStyle/>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Analyze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the changes in images between the original and the translation with visual grammar by Van Leeuwen.</a:t>
            </a:r>
          </a:p>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Examine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the visual-to-verbal relations in comic translation based on Martinec </a:t>
            </a:r>
            <a:r>
              <a:rPr kumimoji="0" lang="en-US" altLang="zh-CN" sz="1600" b="0" i="0"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Salway</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 image-text relations framework.</a:t>
            </a:r>
          </a:p>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Derive effective translation strategies and methods from the preceding multimodal analysis</a:t>
            </a:r>
          </a:p>
        </p:txBody>
      </p:sp>
      <p:sp>
        <p:nvSpPr>
          <p:cNvPr id="22" name="TextBox 21"/>
          <p:cNvSpPr txBox="1"/>
          <p:nvPr/>
        </p:nvSpPr>
        <p:spPr>
          <a:xfrm>
            <a:off x="2356371" y="4567747"/>
            <a:ext cx="7685312" cy="1660839"/>
          </a:xfrm>
          <a:prstGeom prst="rect">
            <a:avLst/>
          </a:prstGeom>
          <a:noFill/>
        </p:spPr>
        <p:txBody>
          <a:bodyPr wrap="square" lIns="91440" tIns="45720" rIns="91440" bIns="45720" rtlCol="0">
            <a:spAutoFit/>
          </a:bodyPr>
          <a:lstStyle/>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lang="en-US" altLang="zh-CN" sz="1600" dirty="0">
                <a:effectLst/>
                <a:latin typeface="Times New Roman" panose="02020603050405020304" pitchFamily="18" charset="0"/>
                <a:ea typeface="宋体" panose="02010600030101010101" pitchFamily="2" charset="-122"/>
              </a:rPr>
              <a:t>Have the original images been altered in the translation? If so, does it help justify the huge popularity of the comic?</a:t>
            </a:r>
          </a:p>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 most cases, have the image-text relations in the original shifted in the translation? </a:t>
            </a:r>
          </a:p>
          <a:p>
            <a:pPr marL="342900" marR="0" lvl="0" indent="-342900" algn="l" defTabSz="457200" rtl="0" eaLnBrk="1" fontAlgn="auto" latinLnBrk="0" hangingPunct="1">
              <a:lnSpc>
                <a:spcPct val="13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What kind of translation strategies and methods can be drawn based on multimodal analysis?</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7"/>
          <p:cNvSpPr txBox="1"/>
          <p:nvPr/>
        </p:nvSpPr>
        <p:spPr>
          <a:xfrm>
            <a:off x="1193083" y="1907726"/>
            <a:ext cx="8896371" cy="1156855"/>
          </a:xfrm>
          <a:prstGeom prst="rect">
            <a:avLst/>
          </a:prstGeom>
          <a:solidFill>
            <a:schemeClr val="bg1">
              <a:lumMod val="95000"/>
            </a:schemeClr>
          </a:solidFill>
          <a:ln w="12700">
            <a:noFill/>
          </a:ln>
        </p:spPr>
        <p:txBody>
          <a:bodyPr wrap="square" lIns="91440" tIns="45720" rIns="91440" bIns="45720" rtlCol="0">
            <a:spAutoFit/>
          </a:bodyPr>
          <a:lstStyle/>
          <a:p>
            <a:pPr marL="342900" marR="0" lvl="0" indent="-342900" algn="l"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Visual Analysis</a:t>
            </a:r>
          </a:p>
          <a:p>
            <a:pPr marL="342900" marR="0" lvl="0" indent="-342900" algn="l" defTabSz="457200" rtl="0" eaLnBrk="1" fontAlgn="auto" latinLnBrk="0" hangingPunct="1">
              <a:lnSpc>
                <a:spcPct val="150000"/>
              </a:lnSpc>
              <a:spcBef>
                <a:spcPts val="0"/>
              </a:spcBef>
              <a:spcAft>
                <a:spcPts val="0"/>
              </a:spcAft>
              <a:buClrTx/>
              <a:buSzTx/>
              <a:buFontTx/>
              <a:buAutoNum type="arabicPeriod"/>
              <a:defRPr/>
            </a:pPr>
            <a:r>
              <a:rPr lang="en-US" altLang="zh-CN" sz="1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Multimodal Discourse Analysis </a:t>
            </a:r>
          </a:p>
          <a:p>
            <a:pPr marL="342900" marR="0" lvl="0" indent="-342900" algn="l"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Inductive Reasoning</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bwMode="auto">
          <a:xfrm>
            <a:off x="1193083" y="1407058"/>
            <a:ext cx="2757480" cy="424633"/>
          </a:xfrm>
          <a:prstGeom prst="rect">
            <a:avLst/>
          </a:prstGeom>
          <a:solidFill>
            <a:schemeClr val="accent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Methodology</a:t>
            </a:r>
            <a:endParaRPr kumimoji="0" lang="zh-CN"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15"/>
          <p:cNvSpPr txBox="1"/>
          <p:nvPr/>
        </p:nvSpPr>
        <p:spPr>
          <a:xfrm>
            <a:off x="1193083" y="3928842"/>
            <a:ext cx="10998917" cy="787523"/>
          </a:xfrm>
          <a:prstGeom prst="rect">
            <a:avLst/>
          </a:prstGeom>
          <a:solidFill>
            <a:schemeClr val="bg1">
              <a:lumMod val="95000"/>
            </a:schemeClr>
          </a:solidFill>
          <a:ln w="12700">
            <a:noFill/>
          </a:ln>
        </p:spPr>
        <p:txBody>
          <a:bodyPr wrap="square" lIns="91440" tIns="45720" rIns="91440" bIns="45720" rtlCol="0">
            <a:spAutoFit/>
          </a:bodyPr>
          <a:lstStyle/>
          <a:p>
            <a:pPr marL="342900" marR="0" lvl="0" indent="-342900" algn="l"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 latest colored Chinese version of </a:t>
            </a:r>
            <a:r>
              <a:rPr kumimoji="0" lang="en-US" altLang="zh-CN" sz="1600" b="0" i="1"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Zhuangzi Speaks </a:t>
            </a:r>
            <a:r>
              <a:rPr kumimoji="0" lang="en-US" altLang="zh-CN" sz="1600" b="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printed in 2019</a:t>
            </a:r>
          </a:p>
          <a:p>
            <a:pPr marL="342900" marR="0" lvl="0" indent="-342900" algn="l" defTabSz="457200" rtl="0" eaLnBrk="1" fontAlgn="auto" latinLnBrk="0" hangingPunct="1">
              <a:lnSpc>
                <a:spcPct val="150000"/>
              </a:lnSpc>
              <a:spcBef>
                <a:spcPts val="0"/>
              </a:spcBef>
              <a:spcAft>
                <a:spcPts val="0"/>
              </a:spcAft>
              <a:buClrTx/>
              <a:buSzTx/>
              <a:buFontTx/>
              <a:buAutoNum type="arabicPeriod"/>
              <a:defRPr/>
            </a:pPr>
            <a:r>
              <a:rPr kumimoji="0" lang="en-US" altLang="zh-CN" sz="1600" b="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Its first and only monochrome English translation by </a:t>
            </a:r>
            <a:r>
              <a:rPr kumimoji="0" lang="en-US" altLang="zh-CN" sz="1600" b="0" u="none" strike="noStrike" kern="1200" cap="none" spc="0" normalizeH="0" baseline="0" noProof="0" dirty="0" err="1">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Bruya</a:t>
            </a:r>
            <a:r>
              <a:rPr kumimoji="0" lang="en-US" altLang="zh-CN" sz="1600" b="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published in 1992. </a:t>
            </a:r>
            <a:endParaRPr kumimoji="0" lang="zh-CN" altLang="en-US" sz="1600" b="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bwMode="auto">
          <a:xfrm>
            <a:off x="1193083" y="3284395"/>
            <a:ext cx="1929741" cy="424633"/>
          </a:xfrm>
          <a:prstGeom prst="rect">
            <a:avLst/>
          </a:prstGeom>
          <a:solidFill>
            <a:schemeClr val="accent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Materials</a:t>
            </a:r>
            <a:endParaRPr kumimoji="0" lang="zh-CN"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a:spLocks noChangeArrowheads="1"/>
          </p:cNvSpPr>
          <p:nvPr/>
        </p:nvSpPr>
        <p:spPr bwMode="auto">
          <a:xfrm>
            <a:off x="634918" y="237124"/>
            <a:ext cx="6529923"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1.4 Methodology and Research Materials</a:t>
            </a:r>
            <a:endParaRPr kumimoji="0" lang="zh-CN" altLang="en-US" sz="28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extLst>
      <p:ext uri="{BB962C8B-B14F-4D97-AF65-F5344CB8AC3E}">
        <p14:creationId xmlns:p14="http://schemas.microsoft.com/office/powerpoint/2010/main" val="2462836207"/>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25441" y="-443608"/>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4992129" y="3113957"/>
            <a:ext cx="3182281" cy="52322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Literature Review</a:t>
            </a:r>
            <a:endParaRPr kumimoji="0" lang="zh-CN" altLang="en-US" sz="2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31" name="组合 30"/>
          <p:cNvGrpSpPr/>
          <p:nvPr/>
        </p:nvGrpSpPr>
        <p:grpSpPr>
          <a:xfrm>
            <a:off x="7153301" y="2392931"/>
            <a:ext cx="4047775" cy="672647"/>
            <a:chOff x="8508529" y="2676744"/>
            <a:chExt cx="4047769" cy="672647"/>
          </a:xfrm>
        </p:grpSpPr>
        <p:sp>
          <p:nvSpPr>
            <p:cNvPr id="32" name="矩形 31"/>
            <p:cNvSpPr/>
            <p:nvPr/>
          </p:nvSpPr>
          <p:spPr>
            <a:xfrm>
              <a:off x="8508529" y="2676744"/>
              <a:ext cx="3603870" cy="338553"/>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2.1 Previous Studies on Multimodality</a:t>
              </a: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p:txBody>
        </p:sp>
        <p:sp>
          <p:nvSpPr>
            <p:cNvPr id="33" name="矩形 32"/>
            <p:cNvSpPr/>
            <p:nvPr/>
          </p:nvSpPr>
          <p:spPr>
            <a:xfrm>
              <a:off x="8508529" y="3010837"/>
              <a:ext cx="4047769"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2.2 Previous Studies on Comic Translation</a:t>
              </a: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spTree>
    <p:extLst>
      <p:ext uri="{BB962C8B-B14F-4D97-AF65-F5344CB8AC3E}">
        <p14:creationId xmlns:p14="http://schemas.microsoft.com/office/powerpoint/2010/main" val="2316273651"/>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460068" y="1038495"/>
            <a:ext cx="8929378" cy="1193788"/>
            <a:chOff x="1908252" y="2199063"/>
            <a:chExt cx="7609307" cy="1253038"/>
          </a:xfrm>
        </p:grpSpPr>
        <p:sp>
          <p:nvSpPr>
            <p:cNvPr id="7" name="圆角矩形 6"/>
            <p:cNvSpPr/>
            <p:nvPr/>
          </p:nvSpPr>
          <p:spPr>
            <a:xfrm>
              <a:off x="1908252" y="2243636"/>
              <a:ext cx="7528382" cy="116389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2" name="文本框 31"/>
            <p:cNvSpPr txBox="1"/>
            <p:nvPr/>
          </p:nvSpPr>
          <p:spPr>
            <a:xfrm>
              <a:off x="1989177" y="2199063"/>
              <a:ext cx="7528382" cy="1253038"/>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O’Toole</a:t>
              </a:r>
              <a:r>
                <a:rPr lang="en-US" altLang="zh-CN" sz="1600" dirty="0">
                  <a:effectLst/>
                  <a:latin typeface="Times New Roman" panose="02020603050405020304" pitchFamily="18" charset="0"/>
                  <a:ea typeface="宋体" panose="02010600030101010101" pitchFamily="2" charset="-122"/>
                </a:rPr>
                <a:t> was the first to have applied SFG to explore art images in his work </a:t>
              </a:r>
              <a:r>
                <a:rPr lang="en-US" altLang="zh-CN" sz="1600" i="1" dirty="0">
                  <a:effectLst/>
                  <a:latin typeface="Times New Roman" panose="02020603050405020304" pitchFamily="18" charset="0"/>
                  <a:ea typeface="宋体" panose="02010600030101010101" pitchFamily="2" charset="-122"/>
                </a:rPr>
                <a:t>The Language of Displayed Art </a:t>
              </a:r>
              <a:r>
                <a:rPr lang="en-US" altLang="zh-CN" sz="1600" dirty="0">
                  <a:effectLst/>
                  <a:latin typeface="Times New Roman" panose="02020603050405020304" pitchFamily="18" charset="0"/>
                  <a:ea typeface="宋体" panose="02010600030101010101" pitchFamily="2" charset="-122"/>
                </a:rPr>
                <a:t>(O’Toole, 1994) where he proposed three </a:t>
              </a:r>
              <a:r>
                <a:rPr lang="en-US" altLang="zh-CN" sz="1600" dirty="0" err="1">
                  <a:effectLst/>
                  <a:latin typeface="Times New Roman" panose="02020603050405020304" pitchFamily="18" charset="0"/>
                  <a:ea typeface="宋体" panose="02010600030101010101" pitchFamily="2" charset="-122"/>
                </a:rPr>
                <a:t>metafunctions</a:t>
              </a:r>
              <a:r>
                <a:rPr lang="en-US" altLang="zh-CN" sz="1600" dirty="0">
                  <a:effectLst/>
                  <a:latin typeface="Times New Roman" panose="02020603050405020304" pitchFamily="18" charset="0"/>
                  <a:ea typeface="宋体" panose="02010600030101010101" pitchFamily="2" charset="-122"/>
                </a:rPr>
                <a:t>: representational, modal and compositional exist in multimodal discourse like paintings and concluded the artistic discourse can be conceived as a systemic whole with a hierarchy of units for detailed multimodal analysis</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1475104" y="2353948"/>
            <a:ext cx="8834413" cy="1193788"/>
            <a:chOff x="2514608" y="3223395"/>
            <a:chExt cx="7536046" cy="1279931"/>
          </a:xfrm>
        </p:grpSpPr>
        <p:sp>
          <p:nvSpPr>
            <p:cNvPr id="36" name="圆角矩形 35"/>
            <p:cNvSpPr/>
            <p:nvPr/>
          </p:nvSpPr>
          <p:spPr>
            <a:xfrm>
              <a:off x="2514608" y="3267763"/>
              <a:ext cx="7536046" cy="118887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3" name="文本框 32"/>
            <p:cNvSpPr txBox="1"/>
            <p:nvPr/>
          </p:nvSpPr>
          <p:spPr>
            <a:xfrm>
              <a:off x="2670309" y="3223395"/>
              <a:ext cx="7305650" cy="1279931"/>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Kress &amp; Van </a:t>
              </a:r>
              <a:r>
                <a:rPr lang="en-US" altLang="zh-CN" sz="1600" dirty="0" err="1">
                  <a:solidFill>
                    <a:srgbClr val="FF0000"/>
                  </a:solidFill>
                  <a:effectLst/>
                  <a:latin typeface="Times New Roman" panose="02020603050405020304" pitchFamily="18" charset="0"/>
                  <a:ea typeface="宋体" panose="02010600030101010101" pitchFamily="2" charset="-122"/>
                </a:rPr>
                <a:t>Leeuven</a:t>
              </a:r>
              <a:r>
                <a:rPr lang="en-US" altLang="zh-CN" sz="1600" dirty="0">
                  <a:effectLst/>
                  <a:latin typeface="Times New Roman" panose="02020603050405020304" pitchFamily="18" charset="0"/>
                  <a:ea typeface="宋体" panose="02010600030101010101" pitchFamily="2" charset="-122"/>
                </a:rPr>
                <a:t> in their book </a:t>
              </a:r>
              <a:r>
                <a:rPr lang="en-US" altLang="zh-CN" sz="1600" i="1" dirty="0">
                  <a:effectLst/>
                  <a:latin typeface="Times New Roman" panose="02020603050405020304" pitchFamily="18" charset="0"/>
                  <a:ea typeface="宋体" panose="02010600030101010101" pitchFamily="2" charset="-122"/>
                </a:rPr>
                <a:t>Reading Images: Grammar of Visual Design </a:t>
              </a:r>
              <a:r>
                <a:rPr lang="en-US" altLang="zh-CN" sz="1600" dirty="0">
                  <a:effectLst/>
                  <a:latin typeface="Times New Roman" panose="02020603050405020304" pitchFamily="18" charset="0"/>
                  <a:ea typeface="宋体" panose="02010600030101010101" pitchFamily="2" charset="-122"/>
                </a:rPr>
                <a:t>(Kress &amp; Van </a:t>
              </a:r>
              <a:r>
                <a:rPr lang="en-US" altLang="zh-CN" sz="1600" dirty="0" err="1">
                  <a:effectLst/>
                  <a:latin typeface="Times New Roman" panose="02020603050405020304" pitchFamily="18" charset="0"/>
                  <a:ea typeface="宋体" panose="02010600030101010101" pitchFamily="2" charset="-122"/>
                </a:rPr>
                <a:t>Leeuven</a:t>
              </a:r>
              <a:r>
                <a:rPr lang="en-US" altLang="zh-CN" sz="1600" dirty="0">
                  <a:latin typeface="Times New Roman" panose="02020603050405020304" pitchFamily="18" charset="0"/>
                  <a:ea typeface="宋体" panose="02010600030101010101" pitchFamily="2" charset="-122"/>
                </a:rPr>
                <a:t>, </a:t>
              </a:r>
              <a:r>
                <a:rPr lang="en-US" altLang="zh-CN" sz="1600" dirty="0">
                  <a:effectLst/>
                  <a:latin typeface="Times New Roman" panose="02020603050405020304" pitchFamily="18" charset="0"/>
                  <a:ea typeface="宋体" panose="02010600030101010101" pitchFamily="2" charset="-122"/>
                </a:rPr>
                <a:t>1996) took up O’Toole’s idea and theorized images boasted three types of meaning-making resources:  representational, interpersonal, and compositional. They also devised a framework to seek out the meaning of visual composition, affirming the validity of MDA.</a:t>
              </a:r>
              <a:endParaRPr kumimoji="0" lang="zh-CN" altLang="en-US" sz="1600" b="1"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1475103" y="3650225"/>
            <a:ext cx="8834414" cy="1193789"/>
            <a:chOff x="2047582" y="5126523"/>
            <a:chExt cx="7589375" cy="1279929"/>
          </a:xfrm>
        </p:grpSpPr>
        <p:sp>
          <p:nvSpPr>
            <p:cNvPr id="37" name="圆角矩形 36"/>
            <p:cNvSpPr/>
            <p:nvPr/>
          </p:nvSpPr>
          <p:spPr>
            <a:xfrm>
              <a:off x="2047582" y="5172054"/>
              <a:ext cx="7589375" cy="118886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4" name="文本框 33"/>
            <p:cNvSpPr txBox="1"/>
            <p:nvPr/>
          </p:nvSpPr>
          <p:spPr>
            <a:xfrm>
              <a:off x="2393050" y="5126523"/>
              <a:ext cx="7243907" cy="1279929"/>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O’Halloran</a:t>
              </a:r>
              <a:r>
                <a:rPr lang="en-US" altLang="zh-CN" sz="1600" dirty="0">
                  <a:effectLst/>
                  <a:latin typeface="Times New Roman" panose="02020603050405020304" pitchFamily="18" charset="0"/>
                  <a:ea typeface="宋体" panose="02010600030101010101" pitchFamily="2" charset="-122"/>
                </a:rPr>
                <a:t> utilized MDA to investigate the integration of images, mathematical symbolism, and symbolic resources in mathematic texts (O’Halloran, 2005). </a:t>
              </a:r>
            </a:p>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Baldry and Thibault</a:t>
              </a:r>
              <a:r>
                <a:rPr lang="en-US" altLang="zh-CN" sz="1600" dirty="0">
                  <a:effectLst/>
                  <a:latin typeface="Times New Roman" panose="02020603050405020304" pitchFamily="18" charset="0"/>
                  <a:ea typeface="宋体" panose="02010600030101010101" pitchFamily="2" charset="-122"/>
                </a:rPr>
                <a:t> (2006) provided concrete solutions for issues in multimodal discourse and transcription across various media formats such as printed texts, films, and advertisements</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1" name="任意多边形 30"/>
          <p:cNvSpPr/>
          <p:nvPr/>
        </p:nvSpPr>
        <p:spPr>
          <a:xfrm>
            <a:off x="5741150" y="2183874"/>
            <a:ext cx="272249" cy="230039"/>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2" name="任意多边形 31"/>
          <p:cNvSpPr/>
          <p:nvPr/>
        </p:nvSpPr>
        <p:spPr>
          <a:xfrm>
            <a:off x="5741150" y="3494681"/>
            <a:ext cx="272249" cy="203042"/>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3" name="矩形 46"/>
          <p:cNvSpPr>
            <a:spLocks noChangeArrowheads="1"/>
          </p:cNvSpPr>
          <p:nvPr/>
        </p:nvSpPr>
        <p:spPr bwMode="auto">
          <a:xfrm>
            <a:off x="590530" y="0"/>
            <a:ext cx="10098784" cy="935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2.1</a:t>
            </a:r>
            <a:r>
              <a:rPr lang="zh-CN" altLang="en-US" sz="2400" b="1" dirty="0">
                <a:solidFill>
                  <a:schemeClr val="accent1"/>
                </a:solidFill>
                <a:latin typeface="Times New Roman" panose="02020603050405020304" pitchFamily="18" charset="0"/>
                <a:cs typeface="Times New Roman" panose="02020603050405020304" pitchFamily="18" charset="0"/>
              </a:rPr>
              <a:t> </a:t>
            </a:r>
            <a:r>
              <a:rPr lang="en-US" altLang="zh-CN" sz="2400" b="1" dirty="0">
                <a:solidFill>
                  <a:schemeClr val="accent1"/>
                </a:solidFill>
                <a:latin typeface="Times New Roman" panose="02020603050405020304" pitchFamily="18" charset="0"/>
                <a:cs typeface="Times New Roman" panose="02020603050405020304" pitchFamily="18" charset="0"/>
              </a:rPr>
              <a:t>Previous Studies on Multimodality</a:t>
            </a:r>
          </a:p>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2.1.1 Previous Studies on the Application of Multimodal Discourse Analysis</a:t>
            </a: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 name="图片 4">
            <a:extLst>
              <a:ext uri="{FF2B5EF4-FFF2-40B4-BE49-F238E27FC236}">
                <a16:creationId xmlns:a16="http://schemas.microsoft.com/office/drawing/2014/main" id="{FBCDDEAA-A760-6286-5AD2-5FEC6B5DB664}"/>
              </a:ext>
            </a:extLst>
          </p:cNvPr>
          <p:cNvPicPr>
            <a:picLocks noChangeAspect="1"/>
          </p:cNvPicPr>
          <p:nvPr/>
        </p:nvPicPr>
        <p:blipFill>
          <a:blip r:embed="rId4"/>
          <a:stretch>
            <a:fillRect/>
          </a:stretch>
        </p:blipFill>
        <p:spPr>
          <a:xfrm>
            <a:off x="5741150" y="4797285"/>
            <a:ext cx="268247" cy="207282"/>
          </a:xfrm>
          <a:prstGeom prst="rect">
            <a:avLst/>
          </a:prstGeom>
        </p:spPr>
      </p:pic>
      <p:sp>
        <p:nvSpPr>
          <p:cNvPr id="11" name="圆角矩形 36">
            <a:extLst>
              <a:ext uri="{FF2B5EF4-FFF2-40B4-BE49-F238E27FC236}">
                <a16:creationId xmlns:a16="http://schemas.microsoft.com/office/drawing/2014/main" id="{4119A015-ED2B-483A-05AC-4B9CAA892C2D}"/>
              </a:ext>
            </a:extLst>
          </p:cNvPr>
          <p:cNvSpPr/>
          <p:nvPr/>
        </p:nvSpPr>
        <p:spPr>
          <a:xfrm>
            <a:off x="1492514" y="4988970"/>
            <a:ext cx="8896931" cy="1554234"/>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457200" algn="l" defTabSz="457200" rtl="0" eaLnBrk="1" fontAlgn="auto" latinLnBrk="0" hangingPunct="1">
              <a:lnSpc>
                <a:spcPct val="114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Li (2003), Hu (2007), Zhu (2007) </a:t>
            </a:r>
            <a:r>
              <a:rPr lang="en-US" altLang="zh-CN" sz="1600" dirty="0">
                <a:solidFill>
                  <a:schemeClr val="tx1"/>
                </a:solidFill>
                <a:latin typeface="Times New Roman" panose="02020603050405020304" pitchFamily="18" charset="0"/>
                <a:ea typeface="宋体" panose="02010600030101010101" pitchFamily="2" charset="-122"/>
              </a:rPr>
              <a:t>were among the first Chinese scholars to have introduced the concept of MDA, underscoring the significance of non-verbal semiosis. </a:t>
            </a:r>
            <a:r>
              <a:rPr lang="en-US" altLang="zh-CN" sz="1600" dirty="0">
                <a:solidFill>
                  <a:srgbClr val="FF0000"/>
                </a:solidFill>
                <a:latin typeface="Times New Roman" panose="02020603050405020304" pitchFamily="18" charset="0"/>
                <a:ea typeface="宋体" panose="02010600030101010101" pitchFamily="2" charset="-122"/>
              </a:rPr>
              <a:t>Zhang (2009) </a:t>
            </a:r>
            <a:r>
              <a:rPr lang="en-US" altLang="zh-CN" sz="1600" dirty="0">
                <a:solidFill>
                  <a:schemeClr val="tx1"/>
                </a:solidFill>
                <a:latin typeface="Times New Roman" panose="02020603050405020304" pitchFamily="18" charset="0"/>
                <a:ea typeface="宋体" panose="02010600030101010101" pitchFamily="2" charset="-122"/>
              </a:rPr>
              <a:t>employed MDA to study the choice of efficient procedures in foreign language teaching with modern media technology. </a:t>
            </a:r>
            <a:r>
              <a:rPr lang="en-US" altLang="zh-CN" sz="1600" dirty="0">
                <a:solidFill>
                  <a:srgbClr val="FF0000"/>
                </a:solidFill>
                <a:latin typeface="Times New Roman" panose="02020603050405020304" pitchFamily="18" charset="0"/>
                <a:ea typeface="宋体" panose="02010600030101010101" pitchFamily="2" charset="-122"/>
              </a:rPr>
              <a:t>Sun (2012) </a:t>
            </a:r>
            <a:r>
              <a:rPr lang="en-US" altLang="zh-CN" sz="1600" dirty="0">
                <a:solidFill>
                  <a:schemeClr val="tx1"/>
                </a:solidFill>
                <a:latin typeface="Times New Roman" panose="02020603050405020304" pitchFamily="18" charset="0"/>
                <a:ea typeface="宋体" panose="02010600030101010101" pitchFamily="2" charset="-122"/>
              </a:rPr>
              <a:t>utilized visual grammar to describe the emblem of the Xi’an Expo. </a:t>
            </a:r>
            <a:r>
              <a:rPr lang="en-US" altLang="zh-CN" sz="1600" dirty="0">
                <a:solidFill>
                  <a:srgbClr val="FF0000"/>
                </a:solidFill>
                <a:latin typeface="Times New Roman" panose="02020603050405020304" pitchFamily="18" charset="0"/>
                <a:ea typeface="宋体" panose="02010600030101010101" pitchFamily="2" charset="-122"/>
              </a:rPr>
              <a:t>Wang (2020) </a:t>
            </a:r>
            <a:r>
              <a:rPr lang="en-US" altLang="zh-CN" sz="1600" dirty="0">
                <a:solidFill>
                  <a:schemeClr val="tx1"/>
                </a:solidFill>
                <a:latin typeface="Times New Roman" panose="02020603050405020304" pitchFamily="18" charset="0"/>
                <a:ea typeface="宋体" panose="02010600030101010101" pitchFamily="2" charset="-122"/>
              </a:rPr>
              <a:t>pointed out the trend of the integration of critical discourse analysis and multimodal discourse </a:t>
            </a:r>
          </a:p>
          <a:p>
            <a:pPr marL="0" marR="0" lvl="0" indent="457200" algn="l" defTabSz="457200" rtl="0" eaLnBrk="1" fontAlgn="auto" latinLnBrk="0" hangingPunct="1">
              <a:lnSpc>
                <a:spcPct val="114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81097" y="822971"/>
            <a:ext cx="8929378" cy="1151324"/>
            <a:chOff x="1908252" y="2199063"/>
            <a:chExt cx="7609307" cy="1208466"/>
          </a:xfrm>
        </p:grpSpPr>
        <p:sp>
          <p:nvSpPr>
            <p:cNvPr id="7" name="圆角矩形 6"/>
            <p:cNvSpPr/>
            <p:nvPr/>
          </p:nvSpPr>
          <p:spPr>
            <a:xfrm>
              <a:off x="1908252" y="2243636"/>
              <a:ext cx="7528382" cy="116389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2" name="文本框 31"/>
            <p:cNvSpPr txBox="1"/>
            <p:nvPr/>
          </p:nvSpPr>
          <p:spPr>
            <a:xfrm>
              <a:off x="1989177" y="2199063"/>
              <a:ext cx="7528382" cy="958387"/>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 Barthes (1977a,1977b) </a:t>
              </a:r>
              <a:r>
                <a:rPr lang="en-US" altLang="zh-CN" sz="1600" dirty="0">
                  <a:effectLst/>
                  <a:latin typeface="Times New Roman" panose="02020603050405020304" pitchFamily="18" charset="0"/>
                  <a:ea typeface="宋体" panose="02010600030101010101" pitchFamily="2" charset="-122"/>
                </a:rPr>
                <a:t>asserted the relationship between images and text is built upon a simple logic of three potential ways in which they can interact: anchorage (where text supports image), illustration (where image supports text), relay (where the status of two modes is equal).</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1678793" y="2136125"/>
            <a:ext cx="8834413" cy="1193788"/>
            <a:chOff x="2514608" y="3199664"/>
            <a:chExt cx="7536046" cy="1279931"/>
          </a:xfrm>
        </p:grpSpPr>
        <p:sp>
          <p:nvSpPr>
            <p:cNvPr id="36" name="圆角矩形 35"/>
            <p:cNvSpPr/>
            <p:nvPr/>
          </p:nvSpPr>
          <p:spPr>
            <a:xfrm>
              <a:off x="2514608" y="3267763"/>
              <a:ext cx="7536046" cy="118887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3" name="文本框 32"/>
            <p:cNvSpPr txBox="1"/>
            <p:nvPr/>
          </p:nvSpPr>
          <p:spPr>
            <a:xfrm>
              <a:off x="2629805" y="3199664"/>
              <a:ext cx="7305650" cy="1279931"/>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Kress &amp; Van </a:t>
              </a:r>
              <a:r>
                <a:rPr lang="en-US" altLang="zh-CN" sz="1600" dirty="0" err="1">
                  <a:solidFill>
                    <a:srgbClr val="FF0000"/>
                  </a:solidFill>
                  <a:effectLst/>
                  <a:latin typeface="Times New Roman" panose="02020603050405020304" pitchFamily="18" charset="0"/>
                  <a:ea typeface="宋体" panose="02010600030101010101" pitchFamily="2" charset="-122"/>
                </a:rPr>
                <a:t>Leeuven</a:t>
              </a:r>
              <a:r>
                <a:rPr lang="en-US" altLang="zh-CN" sz="1600" dirty="0">
                  <a:effectLst/>
                  <a:latin typeface="Times New Roman" panose="02020603050405020304" pitchFamily="18" charset="0"/>
                  <a:ea typeface="宋体" panose="02010600030101010101" pitchFamily="2" charset="-122"/>
                </a:rPr>
                <a:t> (1996) also admitted there is an intimate relationship between verbal and visual modes, adding what can be expressed in speech or writing through words may well be visually represented using different compositional structures, though they believed images should be seen as being independent of text.</a:t>
              </a:r>
              <a:endParaRPr kumimoji="0" lang="zh-CN" altLang="en-US" sz="1600" b="1"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1681097" y="3449277"/>
            <a:ext cx="8664602" cy="1474506"/>
            <a:chOff x="2193462" y="5126523"/>
            <a:chExt cx="7443495" cy="1580901"/>
          </a:xfrm>
        </p:grpSpPr>
        <p:sp>
          <p:nvSpPr>
            <p:cNvPr id="37" name="圆角矩形 36"/>
            <p:cNvSpPr/>
            <p:nvPr/>
          </p:nvSpPr>
          <p:spPr>
            <a:xfrm>
              <a:off x="2193462" y="5172053"/>
              <a:ext cx="7443495" cy="1535370"/>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4" name="文本框 33"/>
            <p:cNvSpPr txBox="1"/>
            <p:nvPr/>
          </p:nvSpPr>
          <p:spPr>
            <a:xfrm>
              <a:off x="2393050" y="5126523"/>
              <a:ext cx="7243907" cy="1580901"/>
            </a:xfrm>
            <a:prstGeom prst="rect">
              <a:avLst/>
            </a:prstGeom>
            <a:noFill/>
          </p:spPr>
          <p:txBody>
            <a:bodyPr wrap="square" rtlCol="0">
              <a:spAutoFit/>
            </a:bodyPr>
            <a:lstStyle/>
            <a:p>
              <a:pPr marL="0" marR="0" lvl="0" indent="457200" algn="l"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Martinec and </a:t>
              </a:r>
              <a:r>
                <a:rPr lang="en-US" altLang="zh-CN" sz="1600" dirty="0" err="1">
                  <a:solidFill>
                    <a:srgbClr val="FF0000"/>
                  </a:solidFill>
                  <a:effectLst/>
                  <a:latin typeface="Times New Roman" panose="02020603050405020304" pitchFamily="18" charset="0"/>
                  <a:ea typeface="宋体" panose="02010600030101010101" pitchFamily="2" charset="-122"/>
                </a:rPr>
                <a:t>Salway</a:t>
              </a:r>
              <a:r>
                <a:rPr lang="en-US" altLang="zh-CN" sz="1600" dirty="0">
                  <a:solidFill>
                    <a:srgbClr val="FF0000"/>
                  </a:solidFill>
                  <a:effectLst/>
                  <a:latin typeface="Times New Roman" panose="02020603050405020304" pitchFamily="18" charset="0"/>
                  <a:ea typeface="宋体" panose="02010600030101010101" pitchFamily="2" charset="-122"/>
                </a:rPr>
                <a:t> (2005) </a:t>
              </a:r>
              <a:r>
                <a:rPr lang="en-US" altLang="zh-CN" sz="1600" dirty="0">
                  <a:effectLst/>
                  <a:latin typeface="Times New Roman" panose="02020603050405020304" pitchFamily="18" charset="0"/>
                  <a:ea typeface="宋体" panose="02010600030101010101" pitchFamily="2" charset="-122"/>
                </a:rPr>
                <a:t>have extended Halliday's analysis of clause relations within sentences to explore status and logico-semantic relations between language and image. </a:t>
              </a:r>
              <a:r>
                <a:rPr lang="en-US" altLang="zh-CN" sz="1600" dirty="0">
                  <a:solidFill>
                    <a:srgbClr val="FF0000"/>
                  </a:solidFill>
                  <a:effectLst/>
                  <a:latin typeface="Times New Roman" panose="02020603050405020304" pitchFamily="18" charset="0"/>
                  <a:ea typeface="宋体" panose="02010600030101010101" pitchFamily="2" charset="-122"/>
                </a:rPr>
                <a:t>Royce (1998, 2007) </a:t>
              </a:r>
              <a:r>
                <a:rPr lang="en-US" altLang="zh-CN" sz="1600" dirty="0">
                  <a:effectLst/>
                  <a:latin typeface="Times New Roman" panose="02020603050405020304" pitchFamily="18" charset="0"/>
                  <a:ea typeface="宋体" panose="02010600030101010101" pitchFamily="2" charset="-122"/>
                </a:rPr>
                <a:t>examined the </a:t>
              </a:r>
              <a:r>
                <a:rPr lang="en-US" altLang="zh-CN" sz="1600" dirty="0" err="1">
                  <a:effectLst/>
                  <a:latin typeface="Times New Roman" panose="02020603050405020304" pitchFamily="18" charset="0"/>
                  <a:ea typeface="宋体" panose="02010600030101010101" pitchFamily="2" charset="-122"/>
                </a:rPr>
                <a:t>intersemiotic</a:t>
              </a:r>
              <a:r>
                <a:rPr lang="en-US" altLang="zh-CN" sz="1600" dirty="0">
                  <a:effectLst/>
                  <a:latin typeface="Times New Roman" panose="02020603050405020304" pitchFamily="18" charset="0"/>
                  <a:ea typeface="宋体" panose="02010600030101010101" pitchFamily="2" charset="-122"/>
                </a:rPr>
                <a:t> relations between images and text within an advertisement and an article accompanied by caricatures. He found that text and images can ‘complement each other at the semantic level and jointly construct a unified and coherent text’ (Royce,2007:70).</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1" name="任意多边形 30"/>
          <p:cNvSpPr/>
          <p:nvPr/>
        </p:nvSpPr>
        <p:spPr>
          <a:xfrm>
            <a:off x="5699989" y="1959745"/>
            <a:ext cx="272249" cy="230039"/>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2" name="任意多边形 31"/>
          <p:cNvSpPr/>
          <p:nvPr/>
        </p:nvSpPr>
        <p:spPr>
          <a:xfrm>
            <a:off x="5699989" y="3306655"/>
            <a:ext cx="272249" cy="203042"/>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3" name="矩形 46"/>
          <p:cNvSpPr>
            <a:spLocks noChangeArrowheads="1"/>
          </p:cNvSpPr>
          <p:nvPr/>
        </p:nvSpPr>
        <p:spPr bwMode="auto">
          <a:xfrm>
            <a:off x="668781" y="197079"/>
            <a:ext cx="6393539"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2.1.2 Previous Studies on Image-Text Relations</a:t>
            </a: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 name="图片 4">
            <a:extLst>
              <a:ext uri="{FF2B5EF4-FFF2-40B4-BE49-F238E27FC236}">
                <a16:creationId xmlns:a16="http://schemas.microsoft.com/office/drawing/2014/main" id="{FBCDDEAA-A760-6286-5AD2-5FEC6B5DB664}"/>
              </a:ext>
            </a:extLst>
          </p:cNvPr>
          <p:cNvPicPr>
            <a:picLocks noChangeAspect="1"/>
          </p:cNvPicPr>
          <p:nvPr/>
        </p:nvPicPr>
        <p:blipFill>
          <a:blip r:embed="rId3"/>
          <a:stretch>
            <a:fillRect/>
          </a:stretch>
        </p:blipFill>
        <p:spPr>
          <a:xfrm>
            <a:off x="5703991" y="4916812"/>
            <a:ext cx="268247" cy="207282"/>
          </a:xfrm>
          <a:prstGeom prst="rect">
            <a:avLst/>
          </a:prstGeom>
        </p:spPr>
      </p:pic>
      <p:sp>
        <p:nvSpPr>
          <p:cNvPr id="11" name="圆角矩形 36">
            <a:extLst>
              <a:ext uri="{FF2B5EF4-FFF2-40B4-BE49-F238E27FC236}">
                <a16:creationId xmlns:a16="http://schemas.microsoft.com/office/drawing/2014/main" id="{4119A015-ED2B-483A-05AC-4B9CAA892C2D}"/>
              </a:ext>
            </a:extLst>
          </p:cNvPr>
          <p:cNvSpPr/>
          <p:nvPr/>
        </p:nvSpPr>
        <p:spPr>
          <a:xfrm>
            <a:off x="1766003" y="5124094"/>
            <a:ext cx="8896931" cy="1554234"/>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457200" algn="l" defTabSz="457200" rtl="0" eaLnBrk="1" fontAlgn="auto" latinLnBrk="0" hangingPunct="1">
              <a:lnSpc>
                <a:spcPct val="114000"/>
              </a:lnSpc>
              <a:spcBef>
                <a:spcPts val="0"/>
              </a:spcBef>
              <a:spcAft>
                <a:spcPts val="0"/>
              </a:spcAft>
              <a:buClrTx/>
              <a:buSzTx/>
              <a:buFontTx/>
              <a:buNone/>
              <a:tabLst/>
              <a:defRPr/>
            </a:pPr>
            <a:r>
              <a:rPr lang="en-US" altLang="zh-CN" sz="1600" dirty="0">
                <a:solidFill>
                  <a:schemeClr val="tx1"/>
                </a:solidFill>
                <a:latin typeface="Times New Roman" panose="02020603050405020304" pitchFamily="18" charset="0"/>
                <a:ea typeface="宋体" panose="02010600030101010101" pitchFamily="2" charset="-122"/>
              </a:rPr>
              <a:t>In China, </a:t>
            </a:r>
            <a:r>
              <a:rPr lang="en-US" altLang="zh-CN" sz="1600" dirty="0">
                <a:solidFill>
                  <a:srgbClr val="FF0000"/>
                </a:solidFill>
                <a:effectLst/>
                <a:latin typeface="Times New Roman" panose="02020603050405020304" pitchFamily="18" charset="0"/>
                <a:ea typeface="宋体" panose="02010600030101010101" pitchFamily="2" charset="-122"/>
              </a:rPr>
              <a:t>Zhou (2005) </a:t>
            </a:r>
            <a:r>
              <a:rPr lang="en-US" altLang="zh-CN" sz="1600" dirty="0">
                <a:solidFill>
                  <a:schemeClr val="tx1"/>
                </a:solidFill>
                <a:effectLst/>
                <a:latin typeface="Times New Roman" panose="02020603050405020304" pitchFamily="18" charset="0"/>
                <a:ea typeface="宋体" panose="02010600030101010101" pitchFamily="2" charset="-122"/>
              </a:rPr>
              <a:t>was the first to have suggested that the dynamics between images and text had evolved, suggesting a break with the text-central mindset. </a:t>
            </a:r>
          </a:p>
          <a:p>
            <a:pPr marL="0" marR="0" lvl="0" indent="457200" algn="l" defTabSz="457200" rtl="0" eaLnBrk="1" fontAlgn="auto" latinLnBrk="0" hangingPunct="1">
              <a:lnSpc>
                <a:spcPct val="114000"/>
              </a:lnSpc>
              <a:spcBef>
                <a:spcPts val="0"/>
              </a:spcBef>
              <a:spcAft>
                <a:spcPts val="0"/>
              </a:spcAft>
              <a:buClrTx/>
              <a:buSzTx/>
              <a:buFontTx/>
              <a:buNone/>
              <a:tabLst/>
              <a:defRPr/>
            </a:pPr>
            <a:r>
              <a:rPr lang="en-US" altLang="zh-CN" sz="1600" dirty="0">
                <a:solidFill>
                  <a:srgbClr val="FF0000"/>
                </a:solidFill>
                <a:effectLst/>
                <a:latin typeface="Times New Roman" panose="02020603050405020304" pitchFamily="18" charset="0"/>
                <a:ea typeface="宋体" panose="02010600030101010101" pitchFamily="2" charset="-122"/>
              </a:rPr>
              <a:t>Wang and Zeng (2010)</a:t>
            </a:r>
            <a:r>
              <a:rPr lang="en-US" altLang="zh-CN" sz="1600" dirty="0">
                <a:solidFill>
                  <a:schemeClr val="tx1"/>
                </a:solidFill>
                <a:effectLst/>
                <a:latin typeface="Times New Roman" panose="02020603050405020304" pitchFamily="18" charset="0"/>
                <a:ea typeface="宋体" panose="02010600030101010101" pitchFamily="2" charset="-122"/>
              </a:rPr>
              <a:t> conducted an analysis of how verbal and visual symbols interact to convey meaning in comics, probing the implications of inter-semiotic theory for understanding multiple literacies and systemic functional teaching methodologies.</a:t>
            </a:r>
            <a:endParaRPr lang="en-US" altLang="zh-CN" sz="1600" dirty="0">
              <a:solidFill>
                <a:schemeClr val="tx1"/>
              </a:solidFill>
              <a:latin typeface="Times New Roman" panose="02020603050405020304" pitchFamily="18" charset="0"/>
              <a:ea typeface="宋体" panose="02010600030101010101" pitchFamily="2" charset="-122"/>
            </a:endParaRPr>
          </a:p>
          <a:p>
            <a:pPr marL="0" marR="0" lvl="0" indent="457200" algn="l" defTabSz="457200" rtl="0" eaLnBrk="1" fontAlgn="auto" latinLnBrk="0" hangingPunct="1">
              <a:lnSpc>
                <a:spcPct val="114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909579471"/>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458066" y="1073235"/>
            <a:ext cx="8836416" cy="1193788"/>
            <a:chOff x="1906546" y="2235527"/>
            <a:chExt cx="7530088" cy="1253038"/>
          </a:xfrm>
        </p:grpSpPr>
        <p:sp>
          <p:nvSpPr>
            <p:cNvPr id="7" name="圆角矩形 6"/>
            <p:cNvSpPr/>
            <p:nvPr/>
          </p:nvSpPr>
          <p:spPr>
            <a:xfrm>
              <a:off x="1908252" y="2243636"/>
              <a:ext cx="7528382" cy="116389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2" name="文本框 31"/>
            <p:cNvSpPr txBox="1"/>
            <p:nvPr/>
          </p:nvSpPr>
          <p:spPr>
            <a:xfrm>
              <a:off x="1906546" y="2235527"/>
              <a:ext cx="7528382" cy="1253038"/>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Kaindl (1999)</a:t>
              </a:r>
              <a:r>
                <a:rPr lang="en-US" altLang="zh-CN" sz="1600" dirty="0">
                  <a:effectLst/>
                  <a:latin typeface="Times New Roman" panose="02020603050405020304" pitchFamily="18" charset="0"/>
                  <a:ea typeface="宋体" panose="02010600030101010101" pitchFamily="2" charset="-122"/>
                </a:rPr>
                <a:t> first contended ‘neither a linguistic nor a purely textual approach is sufficient to deal comprehensively with these changes’ (in comic translation) (1999: 265). He recognized the significance of non-linguistic elements in comics and its necessary modifications for different cultures and proposed translation procedures based on different image-text relations.</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1475104" y="2395329"/>
            <a:ext cx="8834413" cy="1108858"/>
            <a:chOff x="2514608" y="3267763"/>
            <a:chExt cx="7536046" cy="1188873"/>
          </a:xfrm>
        </p:grpSpPr>
        <p:sp>
          <p:nvSpPr>
            <p:cNvPr id="36" name="圆角矩形 35"/>
            <p:cNvSpPr/>
            <p:nvPr/>
          </p:nvSpPr>
          <p:spPr>
            <a:xfrm>
              <a:off x="2514608" y="3267763"/>
              <a:ext cx="7536046" cy="118887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3" name="文本框 32"/>
            <p:cNvSpPr txBox="1"/>
            <p:nvPr/>
          </p:nvSpPr>
          <p:spPr>
            <a:xfrm>
              <a:off x="2629805" y="3375779"/>
              <a:ext cx="7305650" cy="978957"/>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Kaindl (2004) </a:t>
              </a:r>
              <a:r>
                <a:rPr lang="en-US" altLang="zh-CN" sz="1600" dirty="0">
                  <a:effectLst/>
                  <a:latin typeface="Times New Roman" panose="02020603050405020304" pitchFamily="18" charset="0"/>
                  <a:ea typeface="宋体" panose="02010600030101010101" pitchFamily="2" charset="-122"/>
                </a:rPr>
                <a:t>began examining in earnest the role of multimodality during the translation of humor in comics, zeroing in on the interplay between the visual and the verbal as well as illustrating how humorous meanings are realized across the two modes.</a:t>
              </a:r>
              <a:endParaRPr kumimoji="0" lang="zh-CN" altLang="en-US" sz="1600" b="1"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1492514" y="3663295"/>
            <a:ext cx="8834414" cy="1193788"/>
            <a:chOff x="2047582" y="5126525"/>
            <a:chExt cx="7589375" cy="1279928"/>
          </a:xfrm>
        </p:grpSpPr>
        <p:sp>
          <p:nvSpPr>
            <p:cNvPr id="37" name="圆角矩形 36"/>
            <p:cNvSpPr/>
            <p:nvPr/>
          </p:nvSpPr>
          <p:spPr>
            <a:xfrm>
              <a:off x="2047582" y="5172054"/>
              <a:ext cx="7589375" cy="118886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4" name="文本框 33"/>
            <p:cNvSpPr txBox="1"/>
            <p:nvPr/>
          </p:nvSpPr>
          <p:spPr>
            <a:xfrm>
              <a:off x="2262079" y="5126525"/>
              <a:ext cx="7243907" cy="1279928"/>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err="1">
                  <a:solidFill>
                    <a:srgbClr val="FF0000"/>
                  </a:solidFill>
                  <a:effectLst/>
                  <a:latin typeface="Times New Roman" panose="02020603050405020304" pitchFamily="18" charset="0"/>
                  <a:ea typeface="宋体" panose="02010600030101010101" pitchFamily="2" charset="-122"/>
                </a:rPr>
                <a:t>Celotti</a:t>
              </a:r>
              <a:r>
                <a:rPr lang="en-US" altLang="zh-CN" sz="1600" dirty="0">
                  <a:solidFill>
                    <a:srgbClr val="FF0000"/>
                  </a:solidFill>
                  <a:effectLst/>
                  <a:latin typeface="Times New Roman" panose="02020603050405020304" pitchFamily="18" charset="0"/>
                  <a:ea typeface="宋体" panose="02010600030101010101" pitchFamily="2" charset="-122"/>
                </a:rPr>
                <a:t> (2008) </a:t>
              </a:r>
              <a:r>
                <a:rPr lang="en-US" altLang="zh-CN" sz="1600" dirty="0">
                  <a:effectLst/>
                  <a:latin typeface="Times New Roman" panose="02020603050405020304" pitchFamily="18" charset="0"/>
                  <a:ea typeface="宋体" panose="02010600030101010101" pitchFamily="2" charset="-122"/>
                </a:rPr>
                <a:t>emphasized that comic strip translator should be able to recognize the interaction and autonomy between verbal and visual modes as well as strive to achieve coherence between words and pictures. </a:t>
              </a:r>
              <a:r>
                <a:rPr lang="en-US" altLang="zh-CN" sz="1600" dirty="0" err="1">
                  <a:solidFill>
                    <a:srgbClr val="FF0000"/>
                  </a:solidFill>
                  <a:effectLst/>
                  <a:latin typeface="Times New Roman" panose="02020603050405020304" pitchFamily="18" charset="0"/>
                  <a:ea typeface="宋体" panose="02010600030101010101" pitchFamily="2" charset="-122"/>
                </a:rPr>
                <a:t>Borodo</a:t>
              </a:r>
              <a:r>
                <a:rPr lang="en-US" altLang="zh-CN" sz="1600" dirty="0">
                  <a:solidFill>
                    <a:srgbClr val="FF0000"/>
                  </a:solidFill>
                  <a:effectLst/>
                  <a:latin typeface="Times New Roman" panose="02020603050405020304" pitchFamily="18" charset="0"/>
                  <a:ea typeface="宋体" panose="02010600030101010101" pitchFamily="2" charset="-122"/>
                </a:rPr>
                <a:t> (2015: 25) </a:t>
              </a:r>
              <a:r>
                <a:rPr lang="en-US" altLang="zh-CN" sz="1600" dirty="0">
                  <a:latin typeface="Times New Roman" panose="02020603050405020304" pitchFamily="18" charset="0"/>
                  <a:ea typeface="宋体" panose="02010600030101010101" pitchFamily="2" charset="-122"/>
                </a:rPr>
                <a:t>further</a:t>
              </a:r>
              <a:r>
                <a:rPr lang="en-US" altLang="zh-CN" sz="1600" dirty="0">
                  <a:effectLst/>
                  <a:latin typeface="Times New Roman" panose="02020603050405020304" pitchFamily="18" charset="0"/>
                  <a:ea typeface="宋体" panose="02010600030101010101" pitchFamily="2" charset="-122"/>
                </a:rPr>
                <a:t> argued the visual reinforce the textual, clear up confusion, and facilitate the process of translation through a case study of Polish comics.</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sp>
        <p:nvSpPr>
          <p:cNvPr id="31" name="任意多边形 30"/>
          <p:cNvSpPr/>
          <p:nvPr/>
        </p:nvSpPr>
        <p:spPr>
          <a:xfrm>
            <a:off x="5741150" y="2183874"/>
            <a:ext cx="272249" cy="230039"/>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2" name="任意多边形 31"/>
          <p:cNvSpPr/>
          <p:nvPr/>
        </p:nvSpPr>
        <p:spPr>
          <a:xfrm>
            <a:off x="5741150" y="3494681"/>
            <a:ext cx="272249" cy="203042"/>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3" name="矩形 46"/>
          <p:cNvSpPr>
            <a:spLocks noChangeArrowheads="1"/>
          </p:cNvSpPr>
          <p:nvPr/>
        </p:nvSpPr>
        <p:spPr bwMode="auto">
          <a:xfrm>
            <a:off x="590530" y="0"/>
            <a:ext cx="6974339" cy="935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2.2</a:t>
            </a:r>
            <a:r>
              <a:rPr lang="zh-CN" altLang="en-US" sz="2400" b="1" dirty="0">
                <a:solidFill>
                  <a:schemeClr val="accent1"/>
                </a:solidFill>
                <a:latin typeface="Times New Roman" panose="02020603050405020304" pitchFamily="18" charset="0"/>
                <a:cs typeface="Times New Roman" panose="02020603050405020304" pitchFamily="18" charset="0"/>
              </a:rPr>
              <a:t> </a:t>
            </a:r>
            <a:r>
              <a:rPr lang="en-US" altLang="zh-CN" sz="2400" b="1" dirty="0">
                <a:solidFill>
                  <a:schemeClr val="accent1"/>
                </a:solidFill>
                <a:latin typeface="Times New Roman" panose="02020603050405020304" pitchFamily="18" charset="0"/>
                <a:cs typeface="Times New Roman" panose="02020603050405020304" pitchFamily="18" charset="0"/>
              </a:rPr>
              <a:t>Previous Studies on Comic Translation</a:t>
            </a:r>
          </a:p>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2.2.1 Multimodal Approaches to Comic Translation</a:t>
            </a: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 name="图片 4">
            <a:extLst>
              <a:ext uri="{FF2B5EF4-FFF2-40B4-BE49-F238E27FC236}">
                <a16:creationId xmlns:a16="http://schemas.microsoft.com/office/drawing/2014/main" id="{FBCDDEAA-A760-6286-5AD2-5FEC6B5DB664}"/>
              </a:ext>
            </a:extLst>
          </p:cNvPr>
          <p:cNvPicPr>
            <a:picLocks noChangeAspect="1"/>
          </p:cNvPicPr>
          <p:nvPr/>
        </p:nvPicPr>
        <p:blipFill>
          <a:blip r:embed="rId3"/>
          <a:stretch>
            <a:fillRect/>
          </a:stretch>
        </p:blipFill>
        <p:spPr>
          <a:xfrm>
            <a:off x="5741150" y="4797285"/>
            <a:ext cx="268247" cy="207282"/>
          </a:xfrm>
          <a:prstGeom prst="rect">
            <a:avLst/>
          </a:prstGeom>
        </p:spPr>
      </p:pic>
      <p:sp>
        <p:nvSpPr>
          <p:cNvPr id="11" name="圆角矩形 36">
            <a:extLst>
              <a:ext uri="{FF2B5EF4-FFF2-40B4-BE49-F238E27FC236}">
                <a16:creationId xmlns:a16="http://schemas.microsoft.com/office/drawing/2014/main" id="{4119A015-ED2B-483A-05AC-4B9CAA892C2D}"/>
              </a:ext>
            </a:extLst>
          </p:cNvPr>
          <p:cNvSpPr/>
          <p:nvPr/>
        </p:nvSpPr>
        <p:spPr>
          <a:xfrm>
            <a:off x="1555032" y="4994073"/>
            <a:ext cx="8834414" cy="1328922"/>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457200" algn="just" defTabSz="457200" rtl="0" eaLnBrk="1" fontAlgn="auto" latinLnBrk="0" hangingPunct="1">
              <a:lnSpc>
                <a:spcPct val="114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Shang (2020) </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applied</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Zhang's (2013) </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theory of multimodal discourse analysis to analyze Chinese translation of the Marvel comics, pointing </a:t>
            </a:r>
            <a:r>
              <a:rPr lang="en-US" altLang="zh-CN" sz="1600" dirty="0">
                <a:solidFill>
                  <a:schemeClr val="tx1"/>
                </a:solidFill>
                <a:latin typeface="Times New Roman" panose="02020603050405020304" pitchFamily="18" charset="0"/>
                <a:ea typeface="宋体" panose="02010600030101010101" pitchFamily="2" charset="-122"/>
              </a:rPr>
              <a:t>to the need for </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fully understanding the interaction between various modes. </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Chen (2021)</a:t>
            </a:r>
            <a:r>
              <a:rPr lang="en-US" altLang="zh-CN" sz="1600" dirty="0">
                <a:solidFill>
                  <a:schemeClr val="tx1"/>
                </a:solidFill>
                <a:latin typeface="Times New Roman" panose="02020603050405020304" pitchFamily="18" charset="0"/>
                <a:ea typeface="宋体" panose="02010600030101010101" pitchFamily="2" charset="-122"/>
              </a:rPr>
              <a:t> </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examined the translation of the comic version of Huangdi </a:t>
            </a:r>
            <a:r>
              <a:rPr kumimoji="0" lang="en-US" altLang="zh-CN" sz="16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Neijing</a:t>
            </a:r>
            <a:r>
              <a:rPr lang="en-US" altLang="zh-CN" sz="1600" dirty="0">
                <a:solidFill>
                  <a:schemeClr val="tx1"/>
                </a:solidFill>
                <a:latin typeface="Times New Roman" panose="02020603050405020304" pitchFamily="18" charset="0"/>
                <a:ea typeface="宋体" panose="02010600030101010101" pitchFamily="2" charset="-122"/>
              </a:rPr>
              <a:t>. </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She discovered that the handling of visual information and the structure of text and images play a crucial role in the success of visual storytelling.</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66191803"/>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522586" y="1835730"/>
            <a:ext cx="8929378" cy="1280877"/>
            <a:chOff x="1908252" y="2243636"/>
            <a:chExt cx="7609307" cy="1344448"/>
          </a:xfrm>
        </p:grpSpPr>
        <p:sp>
          <p:nvSpPr>
            <p:cNvPr id="7" name="圆角矩形 6"/>
            <p:cNvSpPr/>
            <p:nvPr/>
          </p:nvSpPr>
          <p:spPr>
            <a:xfrm>
              <a:off x="1908252" y="2243636"/>
              <a:ext cx="7528382" cy="116389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2" name="文本框 31"/>
            <p:cNvSpPr txBox="1"/>
            <p:nvPr/>
          </p:nvSpPr>
          <p:spPr>
            <a:xfrm>
              <a:off x="1989177" y="2335047"/>
              <a:ext cx="7528382" cy="1253037"/>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Huang </a:t>
              </a:r>
              <a:r>
                <a:rPr lang="en-US" altLang="zh-CN" sz="1600" dirty="0" err="1">
                  <a:solidFill>
                    <a:srgbClr val="FF0000"/>
                  </a:solidFill>
                  <a:effectLst/>
                  <a:latin typeface="Times New Roman" panose="02020603050405020304" pitchFamily="18" charset="0"/>
                  <a:ea typeface="宋体" panose="02010600030101010101" pitchFamily="2" charset="-122"/>
                </a:rPr>
                <a:t>Guangzhe</a:t>
              </a:r>
              <a:r>
                <a:rPr lang="en-US" altLang="zh-CN" sz="1600" dirty="0">
                  <a:solidFill>
                    <a:srgbClr val="FF0000"/>
                  </a:solidFill>
                  <a:effectLst/>
                  <a:latin typeface="Times New Roman" panose="02020603050405020304" pitchFamily="18" charset="0"/>
                  <a:ea typeface="宋体" panose="02010600030101010101" pitchFamily="2" charset="-122"/>
                </a:rPr>
                <a:t>(2018) </a:t>
              </a:r>
              <a:r>
                <a:rPr lang="en-US" altLang="zh-CN" sz="1600" dirty="0">
                  <a:effectLst/>
                  <a:latin typeface="Times New Roman" panose="02020603050405020304" pitchFamily="18" charset="0"/>
                  <a:ea typeface="宋体" panose="02010600030101010101" pitchFamily="2" charset="-122"/>
                </a:rPr>
                <a:t>conducted a case study of the reception of the translation of Tsai Chih Chung’s Confucius Speaks in the U.S. Prioritizing the function of images, he suggested the translation of images should seek to enrich visual information, stimulating readers’ desire to identify with translated content. </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1617550" y="3190462"/>
            <a:ext cx="8834413" cy="1198586"/>
            <a:chOff x="2514608" y="3267763"/>
            <a:chExt cx="7536046" cy="1285075"/>
          </a:xfrm>
        </p:grpSpPr>
        <p:sp>
          <p:nvSpPr>
            <p:cNvPr id="36" name="圆角矩形 35"/>
            <p:cNvSpPr/>
            <p:nvPr/>
          </p:nvSpPr>
          <p:spPr>
            <a:xfrm>
              <a:off x="2514608" y="3267763"/>
              <a:ext cx="7536046" cy="1188873"/>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3" name="文本框 32"/>
            <p:cNvSpPr txBox="1"/>
            <p:nvPr/>
          </p:nvSpPr>
          <p:spPr>
            <a:xfrm>
              <a:off x="2615272" y="3272906"/>
              <a:ext cx="7305650" cy="1279932"/>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a:solidFill>
                    <a:srgbClr val="FF0000"/>
                  </a:solidFill>
                  <a:effectLst/>
                  <a:latin typeface="Times New Roman" panose="02020603050405020304" pitchFamily="18" charset="0"/>
                  <a:ea typeface="宋体" panose="02010600030101010101" pitchFamily="2" charset="-122"/>
                </a:rPr>
                <a:t>Han Ziman(2023) </a:t>
              </a:r>
              <a:r>
                <a:rPr lang="en-US" altLang="zh-CN" sz="1600" dirty="0">
                  <a:effectLst/>
                  <a:latin typeface="Times New Roman" panose="02020603050405020304" pitchFamily="18" charset="0"/>
                  <a:ea typeface="宋体" panose="02010600030101010101" pitchFamily="2" charset="-122"/>
                </a:rPr>
                <a:t>analyzed the multimodal characteristics of Zhuangzi's portrayal in Tsai Chih-</a:t>
              </a:r>
              <a:r>
                <a:rPr lang="en-US" altLang="zh-CN" sz="1600" dirty="0" err="1">
                  <a:effectLst/>
                  <a:latin typeface="Times New Roman" panose="02020603050405020304" pitchFamily="18" charset="0"/>
                  <a:ea typeface="宋体" panose="02010600030101010101" pitchFamily="2" charset="-122"/>
                </a:rPr>
                <a:t>chung's</a:t>
              </a:r>
              <a:r>
                <a:rPr lang="en-US" altLang="zh-CN" sz="1600" dirty="0">
                  <a:effectLst/>
                  <a:latin typeface="Times New Roman" panose="02020603050405020304" pitchFamily="18" charset="0"/>
                  <a:ea typeface="宋体" panose="02010600030101010101" pitchFamily="2" charset="-122"/>
                </a:rPr>
                <a:t> </a:t>
              </a:r>
              <a:r>
                <a:rPr lang="en-US" altLang="zh-CN" sz="1600" i="1" dirty="0">
                  <a:effectLst/>
                  <a:latin typeface="Times New Roman" panose="02020603050405020304" pitchFamily="18" charset="0"/>
                  <a:ea typeface="宋体" panose="02010600030101010101" pitchFamily="2" charset="-122"/>
                </a:rPr>
                <a:t>Zhuangzi Speaks </a:t>
              </a:r>
              <a:r>
                <a:rPr lang="en-US" altLang="zh-CN" sz="1600" dirty="0">
                  <a:effectLst/>
                  <a:latin typeface="Times New Roman" panose="02020603050405020304" pitchFamily="18" charset="0"/>
                  <a:ea typeface="宋体" panose="02010600030101010101" pitchFamily="2" charset="-122"/>
                </a:rPr>
                <a:t>by introducing the concept of what he called ‘performative translation’. He found the multimodal information (i.e. gestures, color) in the translation allows readers to understand the characters' actions and emotions without needing a deep knowledge of the culture. </a:t>
              </a:r>
              <a:endParaRPr kumimoji="0" lang="zh-CN" altLang="en-US" sz="1600" b="1"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1600511" y="4502363"/>
            <a:ext cx="8834414" cy="1193788"/>
            <a:chOff x="2047582" y="5172054"/>
            <a:chExt cx="7589375" cy="1279928"/>
          </a:xfrm>
        </p:grpSpPr>
        <p:sp>
          <p:nvSpPr>
            <p:cNvPr id="37" name="圆角矩形 36"/>
            <p:cNvSpPr/>
            <p:nvPr/>
          </p:nvSpPr>
          <p:spPr>
            <a:xfrm>
              <a:off x="2047582" y="5172054"/>
              <a:ext cx="7589375" cy="118886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44" name="文本框 33"/>
            <p:cNvSpPr txBox="1"/>
            <p:nvPr/>
          </p:nvSpPr>
          <p:spPr>
            <a:xfrm>
              <a:off x="2192586" y="5172054"/>
              <a:ext cx="7243907" cy="1279928"/>
            </a:xfrm>
            <a:prstGeom prst="rect">
              <a:avLst/>
            </a:prstGeom>
            <a:noFill/>
          </p:spPr>
          <p:txBody>
            <a:bodyPr wrap="square" rtlCol="0">
              <a:spAutoFit/>
            </a:bodyPr>
            <a:lstStyle/>
            <a:p>
              <a:pPr marL="0" marR="0" lvl="0" indent="457200" algn="just" defTabSz="457200" rtl="0" eaLnBrk="1" fontAlgn="auto" latinLnBrk="0" hangingPunct="1">
                <a:lnSpc>
                  <a:spcPct val="114000"/>
                </a:lnSpc>
                <a:spcBef>
                  <a:spcPts val="0"/>
                </a:spcBef>
                <a:spcAft>
                  <a:spcPts val="0"/>
                </a:spcAft>
                <a:buClrTx/>
                <a:buSzTx/>
                <a:buFontTx/>
                <a:buNone/>
                <a:defRPr/>
              </a:pPr>
              <a:r>
                <a:rPr lang="en-US" altLang="zh-CN" sz="1600" dirty="0">
                  <a:effectLst/>
                  <a:latin typeface="Times New Roman" panose="02020603050405020304" pitchFamily="18" charset="0"/>
                  <a:ea typeface="宋体" panose="02010600030101010101" pitchFamily="2" charset="-122"/>
                </a:rPr>
                <a:t>Most recently, </a:t>
              </a:r>
              <a:r>
                <a:rPr lang="en-US" altLang="zh-CN" sz="1600" dirty="0">
                  <a:solidFill>
                    <a:srgbClr val="FF0000"/>
                  </a:solidFill>
                  <a:effectLst/>
                  <a:latin typeface="Times New Roman" panose="02020603050405020304" pitchFamily="18" charset="0"/>
                  <a:ea typeface="宋体" panose="02010600030101010101" pitchFamily="2" charset="-122"/>
                </a:rPr>
                <a:t>Huang </a:t>
              </a:r>
              <a:r>
                <a:rPr lang="en-US" altLang="zh-CN" sz="1600" dirty="0" err="1">
                  <a:solidFill>
                    <a:srgbClr val="FF0000"/>
                  </a:solidFill>
                  <a:effectLst/>
                  <a:latin typeface="Times New Roman" panose="02020603050405020304" pitchFamily="18" charset="0"/>
                  <a:ea typeface="宋体" panose="02010600030101010101" pitchFamily="2" charset="-122"/>
                </a:rPr>
                <a:t>Guangzhe</a:t>
              </a:r>
              <a:r>
                <a:rPr lang="en-US" altLang="zh-CN" sz="1600" dirty="0">
                  <a:solidFill>
                    <a:srgbClr val="FF0000"/>
                  </a:solidFill>
                  <a:effectLst/>
                  <a:latin typeface="Times New Roman" panose="02020603050405020304" pitchFamily="18" charset="0"/>
                  <a:ea typeface="宋体" panose="02010600030101010101" pitchFamily="2" charset="-122"/>
                </a:rPr>
                <a:t> (2024)</a:t>
              </a:r>
              <a:r>
                <a:rPr lang="en-US" altLang="zh-CN" sz="1600" dirty="0">
                  <a:effectLst/>
                  <a:latin typeface="Times New Roman" panose="02020603050405020304" pitchFamily="18" charset="0"/>
                  <a:ea typeface="宋体" panose="02010600030101010101" pitchFamily="2" charset="-122"/>
                </a:rPr>
                <a:t> also took up </a:t>
              </a:r>
              <a:r>
                <a:rPr lang="en-US" altLang="zh-CN" sz="1600" i="1" dirty="0">
                  <a:effectLst/>
                  <a:latin typeface="Times New Roman" panose="02020603050405020304" pitchFamily="18" charset="0"/>
                  <a:ea typeface="宋体" panose="02010600030101010101" pitchFamily="2" charset="-122"/>
                </a:rPr>
                <a:t>Zhuangzi Speaks</a:t>
              </a:r>
              <a:r>
                <a:rPr lang="en-US" altLang="zh-CN" sz="1600" dirty="0">
                  <a:effectLst/>
                  <a:latin typeface="Times New Roman" panose="02020603050405020304" pitchFamily="18" charset="0"/>
                  <a:ea typeface="宋体" panose="02010600030101010101" pitchFamily="2" charset="-122"/>
                </a:rPr>
                <a:t> and placed its three translations of different languages under scrutiny through the lens of multimodality. He compared the construction of Zhuangzi’s image as a comic character on the front cover of the original and that in different translations.</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sp>
        <p:nvSpPr>
          <p:cNvPr id="31" name="任意多边形 30"/>
          <p:cNvSpPr/>
          <p:nvPr/>
        </p:nvSpPr>
        <p:spPr>
          <a:xfrm>
            <a:off x="5754350" y="2951518"/>
            <a:ext cx="272249" cy="230039"/>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2" name="任意多边形 31"/>
          <p:cNvSpPr/>
          <p:nvPr/>
        </p:nvSpPr>
        <p:spPr>
          <a:xfrm>
            <a:off x="5754349" y="4299321"/>
            <a:ext cx="272249" cy="203042"/>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33" name="矩形 46"/>
          <p:cNvSpPr>
            <a:spLocks noChangeArrowheads="1"/>
          </p:cNvSpPr>
          <p:nvPr/>
        </p:nvSpPr>
        <p:spPr bwMode="auto">
          <a:xfrm>
            <a:off x="668781" y="196910"/>
            <a:ext cx="4832022"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000" b="1" dirty="0">
                <a:solidFill>
                  <a:schemeClr val="accent1"/>
                </a:solidFill>
                <a:latin typeface="Times New Roman" panose="02020603050405020304" pitchFamily="18" charset="0"/>
                <a:cs typeface="Times New Roman" panose="02020603050405020304" pitchFamily="18" charset="0"/>
              </a:rPr>
              <a:t>2.2.1 Translation Studies on Tsai’s Comics</a:t>
            </a: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extLst>
      <p:ext uri="{BB962C8B-B14F-4D97-AF65-F5344CB8AC3E}">
        <p14:creationId xmlns:p14="http://schemas.microsoft.com/office/powerpoint/2010/main" val="3488576771"/>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lang="en-US" altLang="zh-CN" sz="7200" b="1" dirty="0">
                <a:solidFill>
                  <a:prstClr val="white"/>
                </a:solidFill>
                <a:latin typeface="Arial" panose="020B0604020202020204"/>
                <a:ea typeface="微软雅黑" panose="020B0503020204020204" pitchFamily="34" charset="-122"/>
              </a:rPr>
              <a:t>3</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148869" y="2863942"/>
            <a:ext cx="3834639" cy="52322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Theoretical Framework</a:t>
            </a:r>
            <a:endParaRPr kumimoji="0"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1" name="组合 30"/>
          <p:cNvGrpSpPr/>
          <p:nvPr/>
        </p:nvGrpSpPr>
        <p:grpSpPr>
          <a:xfrm>
            <a:off x="9140245" y="2608001"/>
            <a:ext cx="2688172" cy="1158496"/>
            <a:chOff x="9140243" y="2649839"/>
            <a:chExt cx="2688172" cy="1158496"/>
          </a:xfrm>
        </p:grpSpPr>
        <p:sp>
          <p:nvSpPr>
            <p:cNvPr id="32" name="矩形 31"/>
            <p:cNvSpPr/>
            <p:nvPr/>
          </p:nvSpPr>
          <p:spPr>
            <a:xfrm>
              <a:off x="9140243" y="2649839"/>
              <a:ext cx="2637773" cy="379335"/>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dirty="0">
                  <a:solidFill>
                    <a:prstClr val="white"/>
                  </a:solidFill>
                  <a:latin typeface="Arial" panose="020B0604020202020204"/>
                  <a:ea typeface="微软雅黑" panose="020B0503020204020204" pitchFamily="34" charset="-122"/>
                </a:rPr>
                <a:t>3.1</a:t>
              </a: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a:t>
              </a:r>
              <a:r>
                <a:rPr kumimoji="0"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Working Definitions</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33" name="矩形 32"/>
            <p:cNvSpPr/>
            <p:nvPr/>
          </p:nvSpPr>
          <p:spPr>
            <a:xfrm>
              <a:off x="9140243" y="3037021"/>
              <a:ext cx="2203360"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3.2 Theoretical Basis</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矩形 33"/>
            <p:cNvSpPr/>
            <p:nvPr/>
          </p:nvSpPr>
          <p:spPr>
            <a:xfrm>
              <a:off x="9140243" y="3429000"/>
              <a:ext cx="2688172"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3.3 Analytical Framework</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68781" y="297891"/>
            <a:ext cx="3378355"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3.1 Working Definitions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0" name="TextBox 29"/>
          <p:cNvSpPr txBox="1"/>
          <p:nvPr/>
        </p:nvSpPr>
        <p:spPr>
          <a:xfrm>
            <a:off x="1092087" y="1432157"/>
            <a:ext cx="10830125" cy="4510848"/>
          </a:xfrm>
          <a:prstGeom prst="rect">
            <a:avLst/>
          </a:prstGeom>
          <a:noFill/>
        </p:spPr>
        <p:txBody>
          <a:bodyPr wrap="square" lIns="121917" tIns="60959" rIns="121917" bIns="60959"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Mode is a socially shaped and culturally given resource for making meaning</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(Kress, 2009: 54). In other words, image, writing, speech, gesture, music and the like can all be counted as modes as they are able to represent and communicate meanings. </a:t>
            </a: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Multimodality</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was defined by Kress and Van Leeuwen as, ‘The use of </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several semiotic modes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 the design of a semiotic product or event’ (2001: 20). </a:t>
            </a: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Semiotic resource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generally refers to </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resources</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that are capable of </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meaning-making</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Multimodal Discourse: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Here, ‘discourse’ refers to the communication or </a:t>
            </a:r>
            <a:r>
              <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expression of meaning through different modes</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There are two definitions of multimodal discourse: </a:t>
            </a: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 discourse is realized through two or more semiotic modes.</a:t>
            </a: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 discourse is realized through a single mode which contains two or more semiotic resources. </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2960163" cy="8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3.2 Theoretical Basis</a:t>
            </a:r>
          </a:p>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000" b="1" noProof="0" dirty="0">
                <a:solidFill>
                  <a:schemeClr val="accent1"/>
                </a:solidFill>
                <a:latin typeface="Times New Roman" panose="02020603050405020304" pitchFamily="18" charset="0"/>
                <a:cs typeface="Times New Roman" panose="02020603050405020304" pitchFamily="18" charset="0"/>
              </a:rPr>
              <a:t>a. Visual G</a:t>
            </a:r>
            <a:r>
              <a:rPr lang="en-US" altLang="zh-CN" sz="2000" b="1" dirty="0" err="1">
                <a:solidFill>
                  <a:schemeClr val="accent1"/>
                </a:solidFill>
                <a:latin typeface="Times New Roman" panose="02020603050405020304" pitchFamily="18" charset="0"/>
                <a:cs typeface="Times New Roman" panose="02020603050405020304" pitchFamily="18" charset="0"/>
              </a:rPr>
              <a:t>rammar</a:t>
            </a:r>
            <a:r>
              <a:rPr kumimoji="0" lang="en-US" altLang="zh-CN" sz="20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 </a:t>
            </a:r>
            <a:endParaRPr kumimoji="0" lang="zh-CN" altLang="en-US" sz="20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a:extLst>
              <a:ext uri="{FF2B5EF4-FFF2-40B4-BE49-F238E27FC236}">
                <a16:creationId xmlns:a16="http://schemas.microsoft.com/office/drawing/2014/main" id="{DC20D7B4-6773-074A-0470-2F54D9F95B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7775" y="1098896"/>
            <a:ext cx="9869750" cy="5690014"/>
          </a:xfrm>
          <a:prstGeom prst="rect">
            <a:avLst/>
          </a:prstGeom>
        </p:spPr>
      </p:pic>
    </p:spTree>
    <p:extLst>
      <p:ext uri="{BB962C8B-B14F-4D97-AF65-F5344CB8AC3E}">
        <p14:creationId xmlns:p14="http://schemas.microsoft.com/office/powerpoint/2010/main" val="2513506097"/>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6783902"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000" b="1" noProof="0" dirty="0">
                <a:solidFill>
                  <a:schemeClr val="accent1"/>
                </a:solidFill>
                <a:latin typeface="Times New Roman" panose="02020603050405020304" pitchFamily="18" charset="0"/>
                <a:cs typeface="Times New Roman" panose="02020603050405020304" pitchFamily="18" charset="0"/>
              </a:rPr>
              <a:t>b. </a:t>
            </a:r>
            <a:r>
              <a:rPr lang="en-US" altLang="zh-CN" sz="2000" b="1" dirty="0">
                <a:solidFill>
                  <a:schemeClr val="accent1"/>
                </a:solidFill>
                <a:latin typeface="Times New Roman" panose="02020603050405020304" pitchFamily="18" charset="0"/>
                <a:cs typeface="Times New Roman" panose="02020603050405020304" pitchFamily="18" charset="0"/>
              </a:rPr>
              <a:t>Martinec and </a:t>
            </a:r>
            <a:r>
              <a:rPr lang="en-US" altLang="zh-CN" sz="2000" b="1" dirty="0" err="1">
                <a:solidFill>
                  <a:schemeClr val="accent1"/>
                </a:solidFill>
                <a:latin typeface="Times New Roman" panose="02020603050405020304" pitchFamily="18" charset="0"/>
                <a:cs typeface="Times New Roman" panose="02020603050405020304" pitchFamily="18" charset="0"/>
              </a:rPr>
              <a:t>Salway’s</a:t>
            </a:r>
            <a:r>
              <a:rPr lang="en-US" altLang="zh-CN" sz="2000" b="1" dirty="0">
                <a:solidFill>
                  <a:schemeClr val="accent1"/>
                </a:solidFill>
                <a:latin typeface="Times New Roman" panose="02020603050405020304" pitchFamily="18" charset="0"/>
                <a:cs typeface="Times New Roman" panose="02020603050405020304" pitchFamily="18" charset="0"/>
              </a:rPr>
              <a:t> Image-Text Relations Framework</a:t>
            </a:r>
            <a:endParaRPr kumimoji="0" lang="zh-CN" altLang="en-US" sz="20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a:extLst>
              <a:ext uri="{FF2B5EF4-FFF2-40B4-BE49-F238E27FC236}">
                <a16:creationId xmlns:a16="http://schemas.microsoft.com/office/drawing/2014/main" id="{CD20A649-CBB4-3F58-9281-CF070CB6D93E}"/>
              </a:ext>
            </a:extLst>
          </p:cNvPr>
          <p:cNvSpPr txBox="1"/>
          <p:nvPr/>
        </p:nvSpPr>
        <p:spPr>
          <a:xfrm>
            <a:off x="967666" y="783368"/>
            <a:ext cx="9774315" cy="1744901"/>
          </a:xfrm>
          <a:prstGeom prst="rect">
            <a:avLst/>
          </a:prstGeom>
          <a:noFill/>
        </p:spPr>
        <p:txBody>
          <a:bodyPr wrap="square" rtlCol="0">
            <a:spAutoFit/>
          </a:bodyPr>
          <a:lstStyle/>
          <a:p>
            <a:pPr algn="just">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Martinec and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Salway’s</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framework draws mostly on systemic-functional linguistics. They follow Halliday’s description of the relations between clauses in a sentence and apply them to relations between text and images. </a:t>
            </a:r>
          </a:p>
          <a:p>
            <a:pPr algn="just">
              <a:lnSpc>
                <a:spcPct val="130000"/>
              </a:lnSpc>
            </a:pP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They adapt the notion of dependency to describing the logico-semantic relations in a multimodal text while also taking into account Barthes’ relay to present different status between language and images. </a:t>
            </a:r>
            <a:r>
              <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Their system of image-text relations thus serves to specify how both status and logico-semantic relations between images and text are realized</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 name="图示 3">
            <a:extLst>
              <a:ext uri="{FF2B5EF4-FFF2-40B4-BE49-F238E27FC236}">
                <a16:creationId xmlns:a16="http://schemas.microsoft.com/office/drawing/2014/main" id="{07E3D034-AA36-F18D-8617-CB6136B6EAAC}"/>
              </a:ext>
            </a:extLst>
          </p:cNvPr>
          <p:cNvGraphicFramePr/>
          <p:nvPr>
            <p:extLst>
              <p:ext uri="{D42A27DB-BD31-4B8C-83A1-F6EECF244321}">
                <p14:modId xmlns:p14="http://schemas.microsoft.com/office/powerpoint/2010/main" val="3100436265"/>
              </p:ext>
            </p:extLst>
          </p:nvPr>
        </p:nvGraphicFramePr>
        <p:xfrm>
          <a:off x="-102094" y="2855105"/>
          <a:ext cx="5956917" cy="29492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图示 6">
            <a:extLst>
              <a:ext uri="{FF2B5EF4-FFF2-40B4-BE49-F238E27FC236}">
                <a16:creationId xmlns:a16="http://schemas.microsoft.com/office/drawing/2014/main" id="{4C00B0B1-CAE5-AD46-0A62-1F5894337E96}"/>
              </a:ext>
            </a:extLst>
          </p:cNvPr>
          <p:cNvGraphicFramePr/>
          <p:nvPr>
            <p:extLst>
              <p:ext uri="{D42A27DB-BD31-4B8C-83A1-F6EECF244321}">
                <p14:modId xmlns:p14="http://schemas.microsoft.com/office/powerpoint/2010/main" val="2175646109"/>
              </p:ext>
            </p:extLst>
          </p:nvPr>
        </p:nvGraphicFramePr>
        <p:xfrm>
          <a:off x="5428693" y="2585603"/>
          <a:ext cx="6494016" cy="36830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93703527"/>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3672474"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3.3 Analytical Framework</a:t>
            </a: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a:extLst>
              <a:ext uri="{FF2B5EF4-FFF2-40B4-BE49-F238E27FC236}">
                <a16:creationId xmlns:a16="http://schemas.microsoft.com/office/drawing/2014/main" id="{8D7D2B17-3B4F-4E68-211D-884861E60D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07392" y="82292"/>
            <a:ext cx="5704826" cy="6660253"/>
          </a:xfrm>
          <a:prstGeom prst="rect">
            <a:avLst/>
          </a:prstGeom>
          <a:noFill/>
          <a:ln>
            <a:noFill/>
          </a:ln>
        </p:spPr>
      </p:pic>
    </p:spTree>
    <p:extLst>
      <p:ext uri="{BB962C8B-B14F-4D97-AF65-F5344CB8AC3E}">
        <p14:creationId xmlns:p14="http://schemas.microsoft.com/office/powerpoint/2010/main" val="2962758996"/>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6" y="-443607"/>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4</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148224" y="2474893"/>
            <a:ext cx="7142725" cy="954107"/>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28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Multimodal Analysis of </a:t>
            </a:r>
            <a:r>
              <a:rPr lang="en-US" altLang="zh-CN" sz="2800" b="1" i="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Zhuangzi Speaks</a:t>
            </a:r>
            <a:r>
              <a:rPr lang="en-US" altLang="zh-CN" sz="28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 and</a:t>
            </a: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28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Its Translation </a:t>
            </a:r>
            <a:endParaRPr kumimoji="0"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F853DB12-9EAC-6AF3-DA41-3313241140B4}"/>
              </a:ext>
            </a:extLst>
          </p:cNvPr>
          <p:cNvSpPr/>
          <p:nvPr/>
        </p:nvSpPr>
        <p:spPr>
          <a:xfrm>
            <a:off x="8308972" y="3049665"/>
            <a:ext cx="3772571" cy="953338"/>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1865" dirty="0">
                <a:solidFill>
                  <a:prstClr val="white"/>
                </a:solidFill>
                <a:latin typeface="Arial" panose="020B0604020202020204"/>
                <a:ea typeface="微软雅黑" panose="020B0503020204020204" pitchFamily="34" charset="-122"/>
              </a:rPr>
              <a:t>4.1</a:t>
            </a:r>
            <a:r>
              <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Image Analysis</a:t>
            </a: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865" dirty="0">
                <a:solidFill>
                  <a:prstClr val="white"/>
                </a:solidFill>
                <a:latin typeface="Arial" panose="020B0604020202020204"/>
                <a:ea typeface="微软雅黑" panose="020B0503020204020204" pitchFamily="34" charset="-122"/>
              </a:rPr>
              <a:t>4.2 Image-Text Relations Analysis</a:t>
            </a:r>
            <a:endPar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Tree>
    <p:extLst>
      <p:ext uri="{BB962C8B-B14F-4D97-AF65-F5344CB8AC3E}">
        <p14:creationId xmlns:p14="http://schemas.microsoft.com/office/powerpoint/2010/main" val="598307452"/>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3359055" cy="935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4.1 Image Analysis</a:t>
            </a:r>
          </a:p>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4.1.1 Information Value</a:t>
            </a:r>
            <a:endPar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a:extLst>
              <a:ext uri="{FF2B5EF4-FFF2-40B4-BE49-F238E27FC236}">
                <a16:creationId xmlns:a16="http://schemas.microsoft.com/office/drawing/2014/main" id="{2AD7785C-EDA3-2843-CB08-9C96E8BF7BBF}"/>
              </a:ext>
            </a:extLst>
          </p:cNvPr>
          <p:cNvPicPr>
            <a:picLocks noChangeAspect="1"/>
          </p:cNvPicPr>
          <p:nvPr/>
        </p:nvPicPr>
        <p:blipFill>
          <a:blip r:embed="rId3"/>
          <a:stretch>
            <a:fillRect/>
          </a:stretch>
        </p:blipFill>
        <p:spPr>
          <a:xfrm>
            <a:off x="986518" y="1492378"/>
            <a:ext cx="5218628" cy="2511770"/>
          </a:xfrm>
          <a:prstGeom prst="rect">
            <a:avLst/>
          </a:prstGeom>
        </p:spPr>
      </p:pic>
      <p:pic>
        <p:nvPicPr>
          <p:cNvPr id="4" name="图片 3">
            <a:extLst>
              <a:ext uri="{FF2B5EF4-FFF2-40B4-BE49-F238E27FC236}">
                <a16:creationId xmlns:a16="http://schemas.microsoft.com/office/drawing/2014/main" id="{91EB25F4-7E15-B8E4-3C0A-229A9CF59E0A}"/>
              </a:ext>
            </a:extLst>
          </p:cNvPr>
          <p:cNvPicPr>
            <a:picLocks noChangeAspect="1"/>
          </p:cNvPicPr>
          <p:nvPr/>
        </p:nvPicPr>
        <p:blipFill>
          <a:blip r:embed="rId4"/>
          <a:stretch>
            <a:fillRect/>
          </a:stretch>
        </p:blipFill>
        <p:spPr>
          <a:xfrm>
            <a:off x="6324053" y="1510668"/>
            <a:ext cx="5249111" cy="2493480"/>
          </a:xfrm>
          <a:prstGeom prst="rect">
            <a:avLst/>
          </a:prstGeom>
        </p:spPr>
      </p:pic>
      <p:sp>
        <p:nvSpPr>
          <p:cNvPr id="2" name="文本框 1">
            <a:extLst>
              <a:ext uri="{FF2B5EF4-FFF2-40B4-BE49-F238E27FC236}">
                <a16:creationId xmlns:a16="http://schemas.microsoft.com/office/drawing/2014/main" id="{A4B8FF4A-317A-07F3-073E-5826679E93DA}"/>
              </a:ext>
            </a:extLst>
          </p:cNvPr>
          <p:cNvSpPr txBox="1"/>
          <p:nvPr/>
        </p:nvSpPr>
        <p:spPr>
          <a:xfrm>
            <a:off x="791769" y="4107936"/>
            <a:ext cx="5413377" cy="2264081"/>
          </a:xfrm>
          <a:prstGeom prst="rect">
            <a:avLst/>
          </a:prstGeom>
          <a:noFill/>
        </p:spPr>
        <p:txBody>
          <a:bodyPr wrap="square" rtlCol="0">
            <a:spAutoFit/>
          </a:bodyPr>
          <a:lstStyle/>
          <a:p>
            <a:pPr>
              <a:lnSpc>
                <a:spcPct val="15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In the original (the colored picture), it can be seen that the story is expected to be read from right to left. In the translation, it can be seen that the image has been mirror flipped from the original.</a:t>
            </a:r>
          </a:p>
          <a:p>
            <a:pPr>
              <a:lnSpc>
                <a:spcPct val="15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Readers are asked to read the comics from left to right. In this case, the Given-New structure has also changed.</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517136A2-61FA-7A35-4560-FCB478F80FC0}"/>
              </a:ext>
            </a:extLst>
          </p:cNvPr>
          <p:cNvSpPr txBox="1"/>
          <p:nvPr/>
        </p:nvSpPr>
        <p:spPr>
          <a:xfrm>
            <a:off x="6465455" y="4107936"/>
            <a:ext cx="5107709" cy="2301015"/>
          </a:xfrm>
          <a:prstGeom prst="rect">
            <a:avLst/>
          </a:prstGeom>
          <a:noFill/>
        </p:spPr>
        <p:txBody>
          <a:bodyPr wrap="square" rtlCol="0">
            <a:spAutoFit/>
          </a:bodyPr>
          <a:lstStyle/>
          <a:p>
            <a:pPr>
              <a:lnSpc>
                <a:spcPct val="13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For social distance, Zhuangzi in the original right panel is shown in a medium close-up, emphasizing his detached yet instructive presence.</a:t>
            </a:r>
          </a:p>
          <a:p>
            <a:pPr>
              <a:lnSpc>
                <a:spcPct val="130000"/>
              </a:lnSpc>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For power relations, Zhuangzi is depicted to be at eye level, giving him a sense of reason and neutrality and suggesting an equal status with the readers as well.</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87751406"/>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2083257"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4.1.2 Framing</a:t>
            </a: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4" name="矩形 33"/>
          <p:cNvSpPr/>
          <p:nvPr/>
        </p:nvSpPr>
        <p:spPr>
          <a:xfrm>
            <a:off x="9140245" y="3387162"/>
            <a:ext cx="2856488"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3.3 Analytical Framework</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3" name="图片 2">
            <a:extLst>
              <a:ext uri="{FF2B5EF4-FFF2-40B4-BE49-F238E27FC236}">
                <a16:creationId xmlns:a16="http://schemas.microsoft.com/office/drawing/2014/main" id="{F202041F-0C6A-87D0-8DB3-7E739972CB6C}"/>
              </a:ext>
            </a:extLst>
          </p:cNvPr>
          <p:cNvPicPr>
            <a:picLocks noChangeAspect="1"/>
          </p:cNvPicPr>
          <p:nvPr/>
        </p:nvPicPr>
        <p:blipFill>
          <a:blip r:embed="rId3"/>
          <a:stretch>
            <a:fillRect/>
          </a:stretch>
        </p:blipFill>
        <p:spPr>
          <a:xfrm>
            <a:off x="1751641" y="1432787"/>
            <a:ext cx="4535817" cy="3554276"/>
          </a:xfrm>
          <a:prstGeom prst="rect">
            <a:avLst/>
          </a:prstGeom>
        </p:spPr>
      </p:pic>
      <p:pic>
        <p:nvPicPr>
          <p:cNvPr id="4" name="图片 3">
            <a:extLst>
              <a:ext uri="{FF2B5EF4-FFF2-40B4-BE49-F238E27FC236}">
                <a16:creationId xmlns:a16="http://schemas.microsoft.com/office/drawing/2014/main" id="{6C74881C-50E8-EC37-6961-C3915648F96B}"/>
              </a:ext>
            </a:extLst>
          </p:cNvPr>
          <p:cNvPicPr>
            <a:picLocks noChangeAspect="1"/>
          </p:cNvPicPr>
          <p:nvPr/>
        </p:nvPicPr>
        <p:blipFill>
          <a:blip r:embed="rId4"/>
          <a:stretch>
            <a:fillRect/>
          </a:stretch>
        </p:blipFill>
        <p:spPr>
          <a:xfrm>
            <a:off x="6287458" y="1432787"/>
            <a:ext cx="4535817" cy="3493311"/>
          </a:xfrm>
          <a:prstGeom prst="rect">
            <a:avLst/>
          </a:prstGeom>
        </p:spPr>
      </p:pic>
      <p:sp>
        <p:nvSpPr>
          <p:cNvPr id="2" name="文本框 1">
            <a:extLst>
              <a:ext uri="{FF2B5EF4-FFF2-40B4-BE49-F238E27FC236}">
                <a16:creationId xmlns:a16="http://schemas.microsoft.com/office/drawing/2014/main" id="{0482F4E4-0080-1C25-77C5-E146A0D4BD82}"/>
              </a:ext>
            </a:extLst>
          </p:cNvPr>
          <p:cNvSpPr txBox="1"/>
          <p:nvPr/>
        </p:nvSpPr>
        <p:spPr>
          <a:xfrm>
            <a:off x="1995055" y="5264727"/>
            <a:ext cx="8451272" cy="624595"/>
          </a:xfrm>
          <a:prstGeom prst="rect">
            <a:avLst/>
          </a:prstGeom>
          <a:noFill/>
        </p:spPr>
        <p:txBody>
          <a:bodyPr wrap="square" rtlCol="0">
            <a:spAutoFit/>
          </a:bodyPr>
          <a:lstStyle/>
          <a:p>
            <a:pPr>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Framing is about </a:t>
            </a:r>
            <a:r>
              <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the connection and disconnection of the composition</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realized through a variety of framing devices.</a:t>
            </a:r>
          </a:p>
          <a:p>
            <a:pPr>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There are two types of framing: </a:t>
            </a:r>
            <a:r>
              <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Segregation and Separation, </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depending on the degree to which an image is framed</a:t>
            </a:r>
            <a:r>
              <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6479847"/>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2014328"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rPr>
              <a:t>4.1.3 Salience</a:t>
            </a: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a:extLst>
              <a:ext uri="{FF2B5EF4-FFF2-40B4-BE49-F238E27FC236}">
                <a16:creationId xmlns:a16="http://schemas.microsoft.com/office/drawing/2014/main" id="{A0150ACD-3988-FABD-2AFA-CE5AA686D571}"/>
              </a:ext>
            </a:extLst>
          </p:cNvPr>
          <p:cNvPicPr>
            <a:picLocks noChangeAspect="1"/>
          </p:cNvPicPr>
          <p:nvPr/>
        </p:nvPicPr>
        <p:blipFill>
          <a:blip r:embed="rId3"/>
          <a:stretch>
            <a:fillRect/>
          </a:stretch>
        </p:blipFill>
        <p:spPr>
          <a:xfrm>
            <a:off x="2846550" y="1092800"/>
            <a:ext cx="3249450" cy="3194581"/>
          </a:xfrm>
          <a:prstGeom prst="rect">
            <a:avLst/>
          </a:prstGeom>
        </p:spPr>
      </p:pic>
      <p:pic>
        <p:nvPicPr>
          <p:cNvPr id="5" name="图片 4">
            <a:extLst>
              <a:ext uri="{FF2B5EF4-FFF2-40B4-BE49-F238E27FC236}">
                <a16:creationId xmlns:a16="http://schemas.microsoft.com/office/drawing/2014/main" id="{152E132F-FEF7-6157-CCFC-7087CBCBCE43}"/>
              </a:ext>
            </a:extLst>
          </p:cNvPr>
          <p:cNvPicPr>
            <a:picLocks noChangeAspect="1"/>
          </p:cNvPicPr>
          <p:nvPr/>
        </p:nvPicPr>
        <p:blipFill>
          <a:blip r:embed="rId4"/>
          <a:stretch>
            <a:fillRect/>
          </a:stretch>
        </p:blipFill>
        <p:spPr>
          <a:xfrm>
            <a:off x="6225011" y="1092800"/>
            <a:ext cx="3404475" cy="3194581"/>
          </a:xfrm>
          <a:prstGeom prst="rect">
            <a:avLst/>
          </a:prstGeom>
        </p:spPr>
      </p:pic>
      <p:sp>
        <p:nvSpPr>
          <p:cNvPr id="3" name="文本框 2">
            <a:extLst>
              <a:ext uri="{FF2B5EF4-FFF2-40B4-BE49-F238E27FC236}">
                <a16:creationId xmlns:a16="http://schemas.microsoft.com/office/drawing/2014/main" id="{5B725B1E-EE32-015B-21C3-AB9CA1531F17}"/>
              </a:ext>
            </a:extLst>
          </p:cNvPr>
          <p:cNvSpPr txBox="1"/>
          <p:nvPr/>
        </p:nvSpPr>
        <p:spPr>
          <a:xfrm>
            <a:off x="1782618" y="4427940"/>
            <a:ext cx="9975273" cy="1660839"/>
          </a:xfrm>
          <a:prstGeom prst="rect">
            <a:avLst/>
          </a:prstGeom>
          <a:noFill/>
        </p:spPr>
        <p:txBody>
          <a:bodyPr wrap="square" rtlCol="0">
            <a:spAutoFit/>
          </a:bodyPr>
          <a:lstStyle/>
          <a:p>
            <a:pPr>
              <a:lnSpc>
                <a:spcPct val="13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In the original image, the turtle seeks to emphasize the vastness of East Sea against the cramped well where the frog resides, saying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这样的东海才大呢！你的井又算得了什么？”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Here, the first sentence in the utterance is made salient with an exclamation mark while the typography remains unchanged. By contrast, in the English version, the corresponding translated sentence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NOW </a:t>
            </a:r>
            <a:r>
              <a:rPr lang="en-US" altLang="zh-CN" sz="1600" b="1" i="1" dirty="0">
                <a:latin typeface="Times New Roman" panose="02020603050405020304" pitchFamily="18" charset="0"/>
                <a:ea typeface="微软雅黑" panose="020B0503020204020204" pitchFamily="34" charset="-122"/>
                <a:cs typeface="Times New Roman" panose="02020603050405020304" pitchFamily="18" charset="0"/>
              </a:rPr>
              <a:t>THAT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IS BIG</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has undergone dramatic typographical changes: the letters have been boldfaced and, in particular, the word “</a:t>
            </a:r>
            <a:r>
              <a:rPr lang="en-US" altLang="zh-CN" sz="1600" b="1" i="1" dirty="0">
                <a:latin typeface="Times New Roman" panose="02020603050405020304" pitchFamily="18" charset="0"/>
                <a:ea typeface="微软雅黑" panose="020B0503020204020204" pitchFamily="34" charset="-122"/>
                <a:cs typeface="Times New Roman" panose="02020603050405020304" pitchFamily="18" charset="0"/>
              </a:rPr>
              <a:t>THAT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has been simultaneously boldfaced and italicized. </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54947891"/>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6"/>
          <p:cNvSpPr>
            <a:spLocks noChangeArrowheads="1"/>
          </p:cNvSpPr>
          <p:nvPr/>
        </p:nvSpPr>
        <p:spPr bwMode="auto">
          <a:xfrm>
            <a:off x="634918" y="237124"/>
            <a:ext cx="4681340"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4.2 Image-Text Relations Analysis</a:t>
            </a:r>
            <a:endPar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a:extLst>
              <a:ext uri="{FF2B5EF4-FFF2-40B4-BE49-F238E27FC236}">
                <a16:creationId xmlns:a16="http://schemas.microsoft.com/office/drawing/2014/main" id="{1AEC0DD5-A592-42BF-EECA-7C7A5D320EA4}"/>
              </a:ext>
            </a:extLst>
          </p:cNvPr>
          <p:cNvPicPr>
            <a:picLocks noChangeAspect="1"/>
          </p:cNvPicPr>
          <p:nvPr/>
        </p:nvPicPr>
        <p:blipFill>
          <a:blip r:embed="rId3"/>
          <a:stretch>
            <a:fillRect/>
          </a:stretch>
        </p:blipFill>
        <p:spPr>
          <a:xfrm>
            <a:off x="6119195" y="1453052"/>
            <a:ext cx="3052527" cy="3592599"/>
          </a:xfrm>
          <a:prstGeom prst="rect">
            <a:avLst/>
          </a:prstGeom>
        </p:spPr>
      </p:pic>
      <p:pic>
        <p:nvPicPr>
          <p:cNvPr id="4" name="图片 3">
            <a:extLst>
              <a:ext uri="{FF2B5EF4-FFF2-40B4-BE49-F238E27FC236}">
                <a16:creationId xmlns:a16="http://schemas.microsoft.com/office/drawing/2014/main" id="{DFD7E42C-8433-D561-C693-A69423F2A7F7}"/>
              </a:ext>
            </a:extLst>
          </p:cNvPr>
          <p:cNvPicPr>
            <a:picLocks noChangeAspect="1"/>
          </p:cNvPicPr>
          <p:nvPr/>
        </p:nvPicPr>
        <p:blipFill>
          <a:blip r:embed="rId4"/>
          <a:stretch>
            <a:fillRect/>
          </a:stretch>
        </p:blipFill>
        <p:spPr>
          <a:xfrm>
            <a:off x="9247737" y="1541994"/>
            <a:ext cx="2696035" cy="3503658"/>
          </a:xfrm>
          <a:prstGeom prst="rect">
            <a:avLst/>
          </a:prstGeom>
        </p:spPr>
      </p:pic>
      <p:sp>
        <p:nvSpPr>
          <p:cNvPr id="6" name="文本框 5">
            <a:extLst>
              <a:ext uri="{FF2B5EF4-FFF2-40B4-BE49-F238E27FC236}">
                <a16:creationId xmlns:a16="http://schemas.microsoft.com/office/drawing/2014/main" id="{5D414BA3-6A72-1EF7-259B-3938DCBB1974}"/>
              </a:ext>
            </a:extLst>
          </p:cNvPr>
          <p:cNvSpPr txBox="1"/>
          <p:nvPr/>
        </p:nvSpPr>
        <p:spPr>
          <a:xfrm>
            <a:off x="7128821" y="5045651"/>
            <a:ext cx="6139837" cy="524567"/>
          </a:xfrm>
          <a:prstGeom prst="rect">
            <a:avLst/>
          </a:prstGeom>
          <a:noFill/>
        </p:spPr>
        <p:txBody>
          <a:bodyPr wrap="square" rtlCol="0">
            <a:spAutoFit/>
          </a:bodyPr>
          <a:lstStyle/>
          <a:p>
            <a:pPr>
              <a:lnSpc>
                <a:spcPct val="13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Exposition      </a:t>
            </a:r>
            <a:r>
              <a:rPr lang="en-US" altLang="zh-CN" sz="1400" dirty="0">
                <a:latin typeface="Arial" panose="020B0604020202020204" pitchFamily="34"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Exemplification</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1B768D23-FA2B-5F81-A691-C87E39F370E4}"/>
              </a:ext>
            </a:extLst>
          </p:cNvPr>
          <p:cNvCxnSpPr/>
          <p:nvPr/>
        </p:nvCxnSpPr>
        <p:spPr>
          <a:xfrm>
            <a:off x="8851439" y="5339395"/>
            <a:ext cx="9715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17477064-64C8-AA99-B1B0-0373727D6857}"/>
              </a:ext>
            </a:extLst>
          </p:cNvPr>
          <p:cNvGraphicFramePr>
            <a:graphicFrameLocks noGrp="1"/>
          </p:cNvGraphicFramePr>
          <p:nvPr>
            <p:extLst>
              <p:ext uri="{D42A27DB-BD31-4B8C-83A1-F6EECF244321}">
                <p14:modId xmlns:p14="http://schemas.microsoft.com/office/powerpoint/2010/main" val="1464391861"/>
              </p:ext>
            </p:extLst>
          </p:nvPr>
        </p:nvGraphicFramePr>
        <p:xfrm>
          <a:off x="467060" y="1634455"/>
          <a:ext cx="5379558" cy="3070879"/>
        </p:xfrm>
        <a:graphic>
          <a:graphicData uri="http://schemas.openxmlformats.org/drawingml/2006/table">
            <a:tbl>
              <a:tblPr firstRow="1" firstCol="1" bandRow="1">
                <a:tableStyleId>{5C22544A-7EE6-4342-B048-85BDC9FD1C3A}</a:tableStyleId>
              </a:tblPr>
              <a:tblGrid>
                <a:gridCol w="2019280">
                  <a:extLst>
                    <a:ext uri="{9D8B030D-6E8A-4147-A177-3AD203B41FA5}">
                      <a16:colId xmlns:a16="http://schemas.microsoft.com/office/drawing/2014/main" val="512141436"/>
                    </a:ext>
                  </a:extLst>
                </a:gridCol>
                <a:gridCol w="1566660">
                  <a:extLst>
                    <a:ext uri="{9D8B030D-6E8A-4147-A177-3AD203B41FA5}">
                      <a16:colId xmlns:a16="http://schemas.microsoft.com/office/drawing/2014/main" val="345020746"/>
                    </a:ext>
                  </a:extLst>
                </a:gridCol>
                <a:gridCol w="1793618">
                  <a:extLst>
                    <a:ext uri="{9D8B030D-6E8A-4147-A177-3AD203B41FA5}">
                      <a16:colId xmlns:a16="http://schemas.microsoft.com/office/drawing/2014/main" val="1052742318"/>
                    </a:ext>
                  </a:extLst>
                </a:gridCol>
              </a:tblGrid>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Chinese (ST)</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English (TT)</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587238401"/>
                  </a:ext>
                </a:extLst>
              </a:tr>
              <a:tr h="337890">
                <a:tc>
                  <a:txBody>
                    <a:bodyPr/>
                    <a:lstStyle/>
                    <a:p>
                      <a:pPr algn="just">
                        <a:lnSpc>
                          <a:spcPct val="115000"/>
                        </a:lnSpc>
                        <a:buNone/>
                      </a:pPr>
                      <a:r>
                        <a:rPr lang="en-US" sz="1200" kern="100">
                          <a:effectLst/>
                        </a:rPr>
                        <a:t>Image-Text Independent</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dirty="0">
                          <a:effectLst/>
                        </a:rPr>
                        <a:t>Exposition</a:t>
                      </a:r>
                      <a:endParaRPr lang="zh-CN" sz="11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Exemplification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855792588"/>
                  </a:ext>
                </a:extLst>
              </a:tr>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Exemplification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Exposition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949064572"/>
                  </a:ext>
                </a:extLst>
              </a:tr>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Extension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Extension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18533977"/>
                  </a:ext>
                </a:extLst>
              </a:tr>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Enhancement</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Enhancement</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428675313"/>
                  </a:ext>
                </a:extLst>
              </a:tr>
              <a:tr h="705649">
                <a:tc>
                  <a:txBody>
                    <a:bodyPr/>
                    <a:lstStyle/>
                    <a:p>
                      <a:pPr algn="just">
                        <a:lnSpc>
                          <a:spcPct val="115000"/>
                        </a:lnSpc>
                        <a:buNone/>
                      </a:pPr>
                      <a:r>
                        <a:rPr lang="en-US" sz="1200" kern="100">
                          <a:effectLst/>
                        </a:rPr>
                        <a:t>Image-Text Complementary</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Exemplification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Exemplification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405063437"/>
                  </a:ext>
                </a:extLst>
              </a:tr>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Extension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a:effectLst/>
                        </a:rPr>
                        <a:t>Extension</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630273322"/>
                  </a:ext>
                </a:extLst>
              </a:tr>
              <a:tr h="337890">
                <a:tc>
                  <a:txBody>
                    <a:bodyPr/>
                    <a:lstStyle/>
                    <a:p>
                      <a:pPr algn="just">
                        <a:lnSpc>
                          <a:spcPct val="115000"/>
                        </a:lnSpc>
                        <a:buNone/>
                      </a:pPr>
                      <a:r>
                        <a:rPr lang="en-US" sz="1200" kern="100">
                          <a:effectLst/>
                        </a:rPr>
                        <a:t> </a:t>
                      </a:r>
                      <a:endParaRPr lang="zh-CN" sz="1100" kern="10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dirty="0">
                          <a:effectLst/>
                        </a:rPr>
                        <a:t>Enhancement</a:t>
                      </a:r>
                      <a:endParaRPr lang="zh-CN" sz="11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tc>
                <a:tc>
                  <a:txBody>
                    <a:bodyPr/>
                    <a:lstStyle/>
                    <a:p>
                      <a:pPr algn="just">
                        <a:lnSpc>
                          <a:spcPct val="115000"/>
                        </a:lnSpc>
                        <a:buNone/>
                      </a:pPr>
                      <a:r>
                        <a:rPr lang="en-US" sz="1200" kern="100" dirty="0">
                          <a:effectLst/>
                        </a:rPr>
                        <a:t>Enhancement</a:t>
                      </a:r>
                      <a:endParaRPr lang="zh-CN" sz="11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34429305"/>
                  </a:ext>
                </a:extLst>
              </a:tr>
            </a:tbl>
          </a:graphicData>
        </a:graphic>
      </p:graphicFrame>
    </p:spTree>
    <p:extLst>
      <p:ext uri="{BB962C8B-B14F-4D97-AF65-F5344CB8AC3E}">
        <p14:creationId xmlns:p14="http://schemas.microsoft.com/office/powerpoint/2010/main" val="2382802434"/>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EC08-93D7-7FB1-CC2A-ED5E5D39A55E}"/>
            </a:ext>
          </a:extLst>
        </p:cNvPr>
        <p:cNvGrpSpPr/>
        <p:nvPr/>
      </p:nvGrpSpPr>
      <p:grpSpPr>
        <a:xfrm>
          <a:off x="0" y="0"/>
          <a:ext cx="0" cy="0"/>
          <a:chOff x="0" y="0"/>
          <a:chExt cx="0" cy="0"/>
        </a:xfrm>
      </p:grpSpPr>
      <p:sp>
        <p:nvSpPr>
          <p:cNvPr id="19" name="矩形 46">
            <a:extLst>
              <a:ext uri="{FF2B5EF4-FFF2-40B4-BE49-F238E27FC236}">
                <a16:creationId xmlns:a16="http://schemas.microsoft.com/office/drawing/2014/main" id="{8ABAF62D-C422-0051-2D46-28BE17D4E331}"/>
              </a:ext>
            </a:extLst>
          </p:cNvPr>
          <p:cNvSpPr>
            <a:spLocks noChangeArrowheads="1"/>
          </p:cNvSpPr>
          <p:nvPr/>
        </p:nvSpPr>
        <p:spPr bwMode="auto">
          <a:xfrm>
            <a:off x="634918" y="237124"/>
            <a:ext cx="4681340"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4.2 Image-Text Relations Analysis</a:t>
            </a:r>
            <a:endParaRPr kumimoji="0"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20" name="等腰三角形 47">
            <a:extLst>
              <a:ext uri="{FF2B5EF4-FFF2-40B4-BE49-F238E27FC236}">
                <a16:creationId xmlns:a16="http://schemas.microsoft.com/office/drawing/2014/main" id="{FE35D3F6-3558-2129-6B2B-84524521657C}"/>
              </a:ext>
            </a:extLst>
          </p:cNvPr>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a:extLst>
              <a:ext uri="{FF2B5EF4-FFF2-40B4-BE49-F238E27FC236}">
                <a16:creationId xmlns:a16="http://schemas.microsoft.com/office/drawing/2014/main" id="{2A8EB103-7988-4146-072A-1C18FC48718D}"/>
              </a:ext>
            </a:extLst>
          </p:cNvPr>
          <p:cNvSpPr txBox="1"/>
          <p:nvPr/>
        </p:nvSpPr>
        <p:spPr>
          <a:xfrm>
            <a:off x="4390234" y="5975887"/>
            <a:ext cx="6139837" cy="524567"/>
          </a:xfrm>
          <a:prstGeom prst="rect">
            <a:avLst/>
          </a:prstGeom>
          <a:noFill/>
        </p:spPr>
        <p:txBody>
          <a:bodyPr wrap="square" rtlCol="0">
            <a:spAutoFit/>
          </a:bodyPr>
          <a:lstStyle/>
          <a:p>
            <a:pPr>
              <a:lnSpc>
                <a:spcPct val="13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Extension      </a:t>
            </a:r>
            <a:r>
              <a:rPr lang="en-US" altLang="zh-CN" sz="1400" dirty="0">
                <a:latin typeface="Arial" panose="020B0604020202020204" pitchFamily="34"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Extension</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08AD3539-BED8-8C50-DFE1-283C8E27BDB8}"/>
              </a:ext>
            </a:extLst>
          </p:cNvPr>
          <p:cNvCxnSpPr/>
          <p:nvPr/>
        </p:nvCxnSpPr>
        <p:spPr>
          <a:xfrm>
            <a:off x="5911272" y="6313202"/>
            <a:ext cx="9715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69C15465-57FE-B20A-F2BB-70DC11E5A674}"/>
              </a:ext>
            </a:extLst>
          </p:cNvPr>
          <p:cNvPicPr>
            <a:picLocks noChangeAspect="1"/>
          </p:cNvPicPr>
          <p:nvPr/>
        </p:nvPicPr>
        <p:blipFill>
          <a:blip r:embed="rId3"/>
          <a:stretch>
            <a:fillRect/>
          </a:stretch>
        </p:blipFill>
        <p:spPr>
          <a:xfrm>
            <a:off x="949562" y="2747370"/>
            <a:ext cx="4954245" cy="3228517"/>
          </a:xfrm>
          <a:prstGeom prst="rect">
            <a:avLst/>
          </a:prstGeom>
        </p:spPr>
      </p:pic>
      <p:pic>
        <p:nvPicPr>
          <p:cNvPr id="5" name="图片 4">
            <a:extLst>
              <a:ext uri="{FF2B5EF4-FFF2-40B4-BE49-F238E27FC236}">
                <a16:creationId xmlns:a16="http://schemas.microsoft.com/office/drawing/2014/main" id="{2A4785E8-9F9D-306D-DD0A-F7A13A0A855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03807" y="2747369"/>
            <a:ext cx="5047824" cy="3228517"/>
          </a:xfrm>
          <a:prstGeom prst="rect">
            <a:avLst/>
          </a:prstGeom>
          <a:noFill/>
        </p:spPr>
      </p:pic>
      <p:sp>
        <p:nvSpPr>
          <p:cNvPr id="4" name="文本框 3">
            <a:extLst>
              <a:ext uri="{FF2B5EF4-FFF2-40B4-BE49-F238E27FC236}">
                <a16:creationId xmlns:a16="http://schemas.microsoft.com/office/drawing/2014/main" id="{39A71F0A-EE57-5546-74E5-4404B7DC77BD}"/>
              </a:ext>
            </a:extLst>
          </p:cNvPr>
          <p:cNvSpPr txBox="1"/>
          <p:nvPr/>
        </p:nvSpPr>
        <p:spPr>
          <a:xfrm>
            <a:off x="902773" y="882113"/>
            <a:ext cx="5047824" cy="923330"/>
          </a:xfrm>
          <a:prstGeom prst="rect">
            <a:avLst/>
          </a:prstGeom>
          <a:noFill/>
        </p:spPr>
        <p:txBody>
          <a:bodyPr wrap="square">
            <a:spAutoFit/>
          </a:bodyPr>
          <a:lstStyle/>
          <a:p>
            <a:r>
              <a:rPr lang="zh-CN" altLang="en-US" dirty="0"/>
              <a:t>庖丁替文惠君解剖牛，他的动作和刀子出入筋骨缝隙的声音，无不完美，</a:t>
            </a:r>
            <a:r>
              <a:rPr lang="zh-CN" altLang="en-US" dirty="0">
                <a:solidFill>
                  <a:srgbClr val="FF0000"/>
                </a:solidFill>
              </a:rPr>
              <a:t>像古代桑林的妙舞</a:t>
            </a:r>
            <a:r>
              <a:rPr lang="zh-CN" altLang="en-US" dirty="0"/>
              <a:t>；当庖丁解剖完了以后，牛不知道它已经死了。</a:t>
            </a:r>
          </a:p>
        </p:txBody>
      </p:sp>
      <p:sp>
        <p:nvSpPr>
          <p:cNvPr id="9" name="文本框 8">
            <a:extLst>
              <a:ext uri="{FF2B5EF4-FFF2-40B4-BE49-F238E27FC236}">
                <a16:creationId xmlns:a16="http://schemas.microsoft.com/office/drawing/2014/main" id="{C1CB3B02-2139-7B22-49AD-9E9D7F571264}"/>
              </a:ext>
            </a:extLst>
          </p:cNvPr>
          <p:cNvSpPr txBox="1"/>
          <p:nvPr/>
        </p:nvSpPr>
        <p:spPr>
          <a:xfrm>
            <a:off x="5911272" y="346005"/>
            <a:ext cx="5745019" cy="2120068"/>
          </a:xfrm>
          <a:prstGeom prst="rect">
            <a:avLst/>
          </a:prstGeom>
          <a:noFill/>
        </p:spPr>
        <p:txBody>
          <a:bodyPr wrap="square">
            <a:spAutoFit/>
          </a:bodyPr>
          <a:lstStyle/>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rPr>
              <a:t>A certain cook was once commissioned to butcher a cow for King Hui. As he worked, his movements were graceful and faultless. The sound of the knife between the bones </a:t>
            </a:r>
            <a:r>
              <a:rPr lang="en-US" altLang="zh-CN" sz="1800" kern="100" dirty="0">
                <a:solidFill>
                  <a:srgbClr val="FF0000"/>
                </a:solidFill>
                <a:effectLst/>
                <a:latin typeface="Times New Roman" panose="02020603050405020304" pitchFamily="18" charset="0"/>
                <a:ea typeface="宋体" panose="02010600030101010101" pitchFamily="2" charset="-122"/>
              </a:rPr>
              <a:t>was like a whisper in the night</a:t>
            </a:r>
            <a:r>
              <a:rPr lang="en-US" altLang="zh-CN" sz="1800" kern="100" dirty="0">
                <a:solidFill>
                  <a:srgbClr val="000000"/>
                </a:solidFill>
                <a:effectLst/>
                <a:latin typeface="Times New Roman" panose="02020603050405020304" pitchFamily="18" charset="0"/>
                <a:ea typeface="宋体" panose="02010600030101010101" pitchFamily="2" charset="-122"/>
              </a:rPr>
              <a:t>. The cow didn’t even know it was dead.</a:t>
            </a:r>
            <a:endParaRPr lang="zh-CN" altLang="zh-CN" sz="1600" kern="100" dirty="0">
              <a:solidFill>
                <a:srgbClr val="000000"/>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63714669"/>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801F2-1857-E7E8-9248-A2E509045A52}"/>
            </a:ext>
          </a:extLst>
        </p:cNvPr>
        <p:cNvGrpSpPr/>
        <p:nvPr/>
      </p:nvGrpSpPr>
      <p:grpSpPr>
        <a:xfrm>
          <a:off x="0" y="0"/>
          <a:ext cx="0" cy="0"/>
          <a:chOff x="0" y="0"/>
          <a:chExt cx="0" cy="0"/>
        </a:xfrm>
      </p:grpSpPr>
      <p:sp>
        <p:nvSpPr>
          <p:cNvPr id="35" name="梯形 34">
            <a:extLst>
              <a:ext uri="{FF2B5EF4-FFF2-40B4-BE49-F238E27FC236}">
                <a16:creationId xmlns:a16="http://schemas.microsoft.com/office/drawing/2014/main" id="{C4508A96-E222-EC56-36D2-6CCBFF8897EC}"/>
              </a:ext>
            </a:extLst>
          </p:cNvPr>
          <p:cNvSpPr/>
          <p:nvPr/>
        </p:nvSpPr>
        <p:spPr>
          <a:xfrm rot="16200000">
            <a:off x="7446198" y="-451317"/>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a:extLst>
              <a:ext uri="{FF2B5EF4-FFF2-40B4-BE49-F238E27FC236}">
                <a16:creationId xmlns:a16="http://schemas.microsoft.com/office/drawing/2014/main" id="{30488ED5-7A0E-7FE1-2F15-EED915F4158D}"/>
              </a:ext>
            </a:extLst>
          </p:cNvPr>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lang="en-US" altLang="zh-CN" sz="7200" b="1" dirty="0">
                <a:solidFill>
                  <a:prstClr val="white"/>
                </a:solidFill>
                <a:latin typeface="Arial" panose="020B0604020202020204"/>
                <a:ea typeface="微软雅黑" panose="020B0503020204020204" pitchFamily="34" charset="-122"/>
              </a:rPr>
              <a:t>5</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a:extLst>
              <a:ext uri="{FF2B5EF4-FFF2-40B4-BE49-F238E27FC236}">
                <a16:creationId xmlns:a16="http://schemas.microsoft.com/office/drawing/2014/main" id="{DA0E4057-21D3-4C29-9CB9-A72C5DDE6FC6}"/>
              </a:ext>
            </a:extLst>
          </p:cNvPr>
          <p:cNvSpPr/>
          <p:nvPr/>
        </p:nvSpPr>
        <p:spPr>
          <a:xfrm>
            <a:off x="4930390" y="2802387"/>
            <a:ext cx="7523726" cy="954107"/>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Comic Translation Strategy and Methods Based</a:t>
            </a: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28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on Multimodal Analysis</a:t>
            </a:r>
            <a:endParaRPr kumimoji="0"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33976868"/>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DA562-9FCC-EB0D-5126-720E9BA9C9BD}"/>
            </a:ext>
          </a:extLst>
        </p:cNvPr>
        <p:cNvGrpSpPr/>
        <p:nvPr/>
      </p:nvGrpSpPr>
      <p:grpSpPr>
        <a:xfrm>
          <a:off x="0" y="0"/>
          <a:ext cx="0" cy="0"/>
          <a:chOff x="0" y="0"/>
          <a:chExt cx="0" cy="0"/>
        </a:xfrm>
      </p:grpSpPr>
      <p:sp>
        <p:nvSpPr>
          <p:cNvPr id="15" name="矩形 46">
            <a:extLst>
              <a:ext uri="{FF2B5EF4-FFF2-40B4-BE49-F238E27FC236}">
                <a16:creationId xmlns:a16="http://schemas.microsoft.com/office/drawing/2014/main" id="{262DC50A-5434-DC5F-3C2C-82A8BED8FB15}"/>
              </a:ext>
            </a:extLst>
          </p:cNvPr>
          <p:cNvSpPr>
            <a:spLocks noChangeArrowheads="1"/>
          </p:cNvSpPr>
          <p:nvPr/>
        </p:nvSpPr>
        <p:spPr bwMode="auto">
          <a:xfrm>
            <a:off x="1034968" y="297891"/>
            <a:ext cx="340618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5.1 Translation Strategy</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a:extLst>
              <a:ext uri="{FF2B5EF4-FFF2-40B4-BE49-F238E27FC236}">
                <a16:creationId xmlns:a16="http://schemas.microsoft.com/office/drawing/2014/main" id="{CC56CABA-B655-8FA7-371D-2A44AF74EBDB}"/>
              </a:ext>
            </a:extLst>
          </p:cNvPr>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a:extLst>
              <a:ext uri="{FF2B5EF4-FFF2-40B4-BE49-F238E27FC236}">
                <a16:creationId xmlns:a16="http://schemas.microsoft.com/office/drawing/2014/main" id="{7E6CB497-BAAC-A8B7-CD93-69A1345E19DC}"/>
              </a:ext>
            </a:extLst>
          </p:cNvPr>
          <p:cNvSpPr txBox="1"/>
          <p:nvPr/>
        </p:nvSpPr>
        <p:spPr>
          <a:xfrm>
            <a:off x="1575389" y="1314771"/>
            <a:ext cx="9317511" cy="3782061"/>
          </a:xfrm>
          <a:prstGeom prst="rect">
            <a:avLst/>
          </a:prstGeom>
          <a:noFill/>
        </p:spPr>
        <p:txBody>
          <a:bodyPr wrap="square" lIns="91440" tIns="45720" rIns="91440" bIns="45720" rtlCol="0">
            <a:spAutoFit/>
          </a:bodyPr>
          <a:lstStyle/>
          <a:p>
            <a:pPr marR="0" lvl="0" algn="just" defTabSz="457200" rtl="0" eaLnBrk="1" fontAlgn="auto" latinLnBrk="0" hangingPunct="1">
              <a:lnSpc>
                <a:spcPct val="150000"/>
              </a:lnSpc>
              <a:spcBef>
                <a:spcPts val="0"/>
              </a:spcBef>
              <a:spcAft>
                <a:spcPts val="0"/>
              </a:spcAft>
              <a:buClrTx/>
              <a:buSzTx/>
              <a:defRPr/>
            </a:pPr>
            <a:r>
              <a:rPr lang="en-US" altLang="zh-CN" sz="1800" dirty="0">
                <a:effectLst/>
                <a:latin typeface="Times New Roman" panose="02020603050405020304" pitchFamily="18" charset="0"/>
                <a:ea typeface="宋体" panose="02010600030101010101" pitchFamily="2" charset="-122"/>
              </a:rPr>
              <a:t>Drawing on the earlier discussion and supporting examples, it is reasonable to conclude that the translation, overall, is leaning towards domestication, or more specifically, localization.</a:t>
            </a:r>
          </a:p>
          <a:p>
            <a:pPr marR="0" lvl="0" algn="just" defTabSz="457200" rtl="0" eaLnBrk="1" fontAlgn="auto" latinLnBrk="0" hangingPunct="1">
              <a:lnSpc>
                <a:spcPct val="150000"/>
              </a:lnSpc>
              <a:spcBef>
                <a:spcPts val="0"/>
              </a:spcBef>
              <a:spcAft>
                <a:spcPts val="0"/>
              </a:spcAft>
              <a:buClrTx/>
              <a:buSzTx/>
              <a:defRPr/>
            </a:pPr>
            <a:endParaRPr kumimoji="0" lang="en-US" altLang="zh-CN" b="0" i="0" u="none" strike="noStrike" kern="1200" cap="none" spc="0" normalizeH="0" baseline="0" noProof="0" dirty="0">
              <a:ln>
                <a:noFill/>
              </a:ln>
              <a:solidFill>
                <a:prstClr val="black"/>
              </a:solidFill>
              <a:uLnTx/>
              <a:uFillTx/>
              <a:latin typeface="Times New Roman" panose="02020603050405020304" pitchFamily="18" charset="0"/>
              <a:ea typeface="宋体" panose="02010600030101010101" pitchFamily="2"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dirty="0">
                <a:solidFill>
                  <a:prstClr val="black"/>
                </a:solidFill>
                <a:effectLst/>
                <a:latin typeface="Times New Roman" panose="02020603050405020304" pitchFamily="18" charset="0"/>
                <a:ea typeface="宋体" panose="02010600030101010101" pitchFamily="2" charset="-122"/>
                <a:cs typeface="Times New Roman" panose="02020603050405020304" pitchFamily="18" charset="0"/>
              </a:rPr>
              <a:t>Visually speaking, the translator should ensure the comic translation conforms to the reading habits and typography of the target country as opposed to blindly following the original. </a:t>
            </a:r>
          </a:p>
          <a:p>
            <a:pPr marR="0" lvl="0" algn="just" defTabSz="457200" rtl="0" eaLnBrk="1" fontAlgn="auto" latinLnBrk="0" hangingPunct="1">
              <a:lnSpc>
                <a:spcPct val="150000"/>
              </a:lnSpc>
              <a:spcBef>
                <a:spcPts val="0"/>
              </a:spcBef>
              <a:spcAft>
                <a:spcPts val="0"/>
              </a:spcAft>
              <a:buClrTx/>
              <a:buSzTx/>
              <a:defRPr/>
            </a:pPr>
            <a:endParaRPr kumimoji="0" lang="en-US" altLang="zh-CN" b="0" i="0" u="none" strike="noStrike" kern="1200" cap="none" spc="0" normalizeH="0" baseline="0" noProof="0" dirty="0">
              <a:ln>
                <a:noFill/>
              </a:ln>
              <a:solidFill>
                <a:prstClr val="black"/>
              </a:solidFill>
              <a:uLnTx/>
              <a:uFillTx/>
              <a:latin typeface="Times New Roman" panose="02020603050405020304" pitchFamily="18" charset="0"/>
              <a:ea typeface="宋体" panose="02010600030101010101" pitchFamily="2"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As for the translation of </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verbal </a:t>
            </a: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text, the translator is suggested to deploy pertinent and fitting expressions in the target language when translating culturally specific information to avoid overburdening target readers. </a:t>
            </a:r>
          </a:p>
        </p:txBody>
      </p:sp>
    </p:spTree>
    <p:extLst>
      <p:ext uri="{BB962C8B-B14F-4D97-AF65-F5344CB8AC3E}">
        <p14:creationId xmlns:p14="http://schemas.microsoft.com/office/powerpoint/2010/main" val="4002888273"/>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CA8A-894C-D7AC-C98C-17F99FCCF78D}"/>
            </a:ext>
          </a:extLst>
        </p:cNvPr>
        <p:cNvGrpSpPr/>
        <p:nvPr/>
      </p:nvGrpSpPr>
      <p:grpSpPr>
        <a:xfrm>
          <a:off x="0" y="0"/>
          <a:ext cx="0" cy="0"/>
          <a:chOff x="0" y="0"/>
          <a:chExt cx="0" cy="0"/>
        </a:xfrm>
      </p:grpSpPr>
      <p:sp>
        <p:nvSpPr>
          <p:cNvPr id="15" name="矩形 46">
            <a:extLst>
              <a:ext uri="{FF2B5EF4-FFF2-40B4-BE49-F238E27FC236}">
                <a16:creationId xmlns:a16="http://schemas.microsoft.com/office/drawing/2014/main" id="{4E0EF2DA-F449-8984-A81C-E48B388E68B6}"/>
              </a:ext>
            </a:extLst>
          </p:cNvPr>
          <p:cNvSpPr>
            <a:spLocks noChangeArrowheads="1"/>
          </p:cNvSpPr>
          <p:nvPr/>
        </p:nvSpPr>
        <p:spPr bwMode="auto">
          <a:xfrm>
            <a:off x="1034968" y="297891"/>
            <a:ext cx="3441449"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5.2 Translation Methods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a:extLst>
              <a:ext uri="{FF2B5EF4-FFF2-40B4-BE49-F238E27FC236}">
                <a16:creationId xmlns:a16="http://schemas.microsoft.com/office/drawing/2014/main" id="{2CF9B7FB-0A11-65DA-B3DF-F3F64FDD4490}"/>
              </a:ext>
            </a:extLst>
          </p:cNvPr>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a:extLst>
              <a:ext uri="{FF2B5EF4-FFF2-40B4-BE49-F238E27FC236}">
                <a16:creationId xmlns:a16="http://schemas.microsoft.com/office/drawing/2014/main" id="{0A414CD4-4CB1-7733-46F3-0C5D3288F0A2}"/>
              </a:ext>
            </a:extLst>
          </p:cNvPr>
          <p:cNvSpPr txBox="1"/>
          <p:nvPr/>
        </p:nvSpPr>
        <p:spPr>
          <a:xfrm>
            <a:off x="1575389" y="1314771"/>
            <a:ext cx="9317511" cy="5444054"/>
          </a:xfrm>
          <a:prstGeom prst="rect">
            <a:avLst/>
          </a:prstGeom>
          <a:noFill/>
        </p:spPr>
        <p:txBody>
          <a:bodyPr wrap="square" lIns="91440" tIns="45720" rIns="91440" bIns="45720" rtlCol="0">
            <a:spAutoFit/>
          </a:bodyPr>
          <a:lstStyle/>
          <a:p>
            <a:pPr marL="342900" marR="0" lvl="0" indent="-342900" algn="just" defTabSz="457200" rtl="0" eaLnBrk="1" fontAlgn="auto" latinLnBrk="0" hangingPunct="1">
              <a:lnSpc>
                <a:spcPct val="150000"/>
              </a:lnSpc>
              <a:spcBef>
                <a:spcPts val="0"/>
              </a:spcBef>
              <a:spcAft>
                <a:spcPts val="0"/>
              </a:spcAft>
              <a:buClrTx/>
              <a:buSzTx/>
              <a:buAutoNum type="arabicPeriod"/>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Hyponym (Hypernym) Replacement</a:t>
            </a:r>
          </a:p>
          <a:p>
            <a:pPr marR="0" lvl="0" algn="just" defTabSz="457200" rtl="0" eaLnBrk="1" fontAlgn="auto" latinLnBrk="0" hangingPunct="1">
              <a:lnSpc>
                <a:spcPct val="150000"/>
              </a:lnSpc>
              <a:spcBef>
                <a:spcPts val="0"/>
              </a:spcBef>
              <a:spcAft>
                <a:spcPts val="0"/>
              </a:spcAft>
              <a:buClrTx/>
              <a:buSzTx/>
              <a:defRPr/>
            </a:pP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e.g. </a:t>
            </a:r>
            <a:r>
              <a:rPr kumimoji="0" lang="zh-CN" altLang="en-US"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原文：得鱼忘筌</a:t>
            </a:r>
          </a:p>
          <a:p>
            <a:pPr marR="0" lvl="0" algn="just" defTabSz="457200" rtl="0" eaLnBrk="1" fontAlgn="auto" latinLnBrk="0" hangingPunct="1">
              <a:lnSpc>
                <a:spcPct val="150000"/>
              </a:lnSpc>
              <a:spcBef>
                <a:spcPts val="0"/>
              </a:spcBef>
              <a:spcAft>
                <a:spcPts val="0"/>
              </a:spcAft>
              <a:buClrTx/>
              <a:buSzTx/>
              <a:defRPr/>
            </a:pPr>
            <a:r>
              <a:rPr kumimoji="0" lang="zh-CN" altLang="en-US"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译文：</a:t>
            </a: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Catch the fish, discard the trap.</a:t>
            </a:r>
          </a:p>
          <a:p>
            <a:pPr marR="0" lvl="0" algn="just" defTabSz="457200" rtl="0" eaLnBrk="1" fontAlgn="auto" latinLnBrk="0" hangingPunct="1">
              <a:lnSpc>
                <a:spcPct val="150000"/>
              </a:lnSpc>
              <a:spcBef>
                <a:spcPts val="0"/>
              </a:spcBef>
              <a:spcAft>
                <a:spcPts val="0"/>
              </a:spcAft>
              <a:buClrTx/>
              <a:buSzTx/>
              <a:defRPr/>
            </a:pPr>
            <a:endPar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Explication</a:t>
            </a:r>
          </a:p>
          <a:p>
            <a:pPr marR="0" lvl="0" algn="just" defTabSz="457200" rtl="0" eaLnBrk="1" fontAlgn="auto" latinLnBrk="0" hangingPunct="1">
              <a:lnSpc>
                <a:spcPct val="150000"/>
              </a:lnSpc>
              <a:spcBef>
                <a:spcPts val="0"/>
              </a:spcBef>
              <a:spcAft>
                <a:spcPts val="0"/>
              </a:spcAft>
              <a:buClrTx/>
              <a:buSzTx/>
              <a:defRPr/>
            </a:pPr>
            <a:endPar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Addition: </a:t>
            </a:r>
          </a:p>
          <a:p>
            <a:pPr marL="342900" marR="0" lvl="0" indent="-342900" algn="just" defTabSz="457200" rtl="0" eaLnBrk="1" fontAlgn="auto" latinLnBrk="0" hangingPunct="1">
              <a:lnSpc>
                <a:spcPct val="150000"/>
              </a:lnSpc>
              <a:spcBef>
                <a:spcPts val="0"/>
              </a:spcBef>
              <a:spcAft>
                <a:spcPts val="0"/>
              </a:spcAft>
              <a:buClrTx/>
              <a:buSzTx/>
              <a:buAutoNum type="alphaLcPeriod"/>
              <a:defRPr/>
            </a:pP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addition of temporal phrases</a:t>
            </a: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p>
          <a:p>
            <a:pPr marL="342900" marR="0" lvl="0" indent="-342900" algn="just" defTabSz="457200" rtl="0" eaLnBrk="1" fontAlgn="auto" latinLnBrk="0" hangingPunct="1">
              <a:lnSpc>
                <a:spcPct val="150000"/>
              </a:lnSpc>
              <a:spcBef>
                <a:spcPts val="0"/>
              </a:spcBef>
              <a:spcAft>
                <a:spcPts val="0"/>
              </a:spcAft>
              <a:buClrTx/>
              <a:buSzTx/>
              <a:buAutoNum type="alphaLcPeriod"/>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addition of logical conjunctions</a:t>
            </a:r>
          </a:p>
          <a:p>
            <a:pPr marR="0" lvl="0" algn="just" defTabSz="457200" rtl="0" eaLnBrk="1" fontAlgn="auto" latinLnBrk="0" hangingPunct="1">
              <a:lnSpc>
                <a:spcPct val="150000"/>
              </a:lnSpc>
              <a:spcBef>
                <a:spcPts val="0"/>
              </a:spcBef>
              <a:spcAft>
                <a:spcPts val="0"/>
              </a:spcAft>
              <a:buClrTx/>
              <a:buSzTx/>
              <a:defRPr/>
            </a:pP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endPar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just" defTabSz="457200" rtl="0" eaLnBrk="1" fontAlgn="auto" latinLnBrk="0" hangingPunct="1">
              <a:lnSpc>
                <a:spcPct val="150000"/>
              </a:lnSpc>
              <a:spcBef>
                <a:spcPts val="0"/>
              </a:spcBef>
              <a:spcAft>
                <a:spcPts val="0"/>
              </a:spcAft>
              <a:buClrTx/>
              <a:buSzTx/>
              <a:buAutoNum type="arabicPeriod"/>
              <a:defRPr/>
            </a:pPr>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a:extLst>
              <a:ext uri="{FF2B5EF4-FFF2-40B4-BE49-F238E27FC236}">
                <a16:creationId xmlns:a16="http://schemas.microsoft.com/office/drawing/2014/main" id="{AAA0B321-8E04-B33E-4DA6-1D57FF376DBF}"/>
              </a:ext>
            </a:extLst>
          </p:cNvPr>
          <p:cNvPicPr>
            <a:picLocks noChangeAspect="1"/>
          </p:cNvPicPr>
          <p:nvPr/>
        </p:nvPicPr>
        <p:blipFill>
          <a:blip r:embed="rId3"/>
          <a:stretch>
            <a:fillRect/>
          </a:stretch>
        </p:blipFill>
        <p:spPr>
          <a:xfrm>
            <a:off x="6234144" y="1314771"/>
            <a:ext cx="2696035" cy="3503658"/>
          </a:xfrm>
          <a:prstGeom prst="rect">
            <a:avLst/>
          </a:prstGeom>
        </p:spPr>
      </p:pic>
    </p:spTree>
    <p:extLst>
      <p:ext uri="{BB962C8B-B14F-4D97-AF65-F5344CB8AC3E}">
        <p14:creationId xmlns:p14="http://schemas.microsoft.com/office/powerpoint/2010/main" val="1884845183"/>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lang="en-US" altLang="zh-CN" sz="7200" b="1" dirty="0">
                <a:solidFill>
                  <a:prstClr val="white"/>
                </a:solidFill>
                <a:latin typeface="Arial" panose="020B0604020202020204"/>
                <a:ea typeface="微软雅黑" panose="020B0503020204020204" pitchFamily="34" charset="-122"/>
              </a:rPr>
              <a:t>6</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148869" y="2863942"/>
            <a:ext cx="2040943" cy="52322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Conclusions</a:t>
            </a:r>
            <a:endParaRPr kumimoji="0"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1" name="组合 30"/>
          <p:cNvGrpSpPr/>
          <p:nvPr/>
        </p:nvGrpSpPr>
        <p:grpSpPr>
          <a:xfrm>
            <a:off x="9140245" y="2608001"/>
            <a:ext cx="2064989" cy="1158496"/>
            <a:chOff x="9140243" y="2649839"/>
            <a:chExt cx="2064989" cy="1158496"/>
          </a:xfrm>
        </p:grpSpPr>
        <p:sp>
          <p:nvSpPr>
            <p:cNvPr id="32" name="矩形 31"/>
            <p:cNvSpPr/>
            <p:nvPr/>
          </p:nvSpPr>
          <p:spPr>
            <a:xfrm>
              <a:off x="9140243" y="2649839"/>
              <a:ext cx="2064989" cy="379335"/>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5.1</a:t>
              </a: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a:t>
              </a:r>
              <a:r>
                <a:rPr kumimoji="0"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Major Findings</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33" name="矩形 32"/>
            <p:cNvSpPr/>
            <p:nvPr/>
          </p:nvSpPr>
          <p:spPr>
            <a:xfrm>
              <a:off x="9140243" y="3037021"/>
              <a:ext cx="1737976"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5.2 Implications</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矩形 33"/>
            <p:cNvSpPr/>
            <p:nvPr/>
          </p:nvSpPr>
          <p:spPr>
            <a:xfrm>
              <a:off x="9140243" y="3429000"/>
              <a:ext cx="1643399"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5.3 Limitations</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 name="矩形 2">
            <a:extLst>
              <a:ext uri="{FF2B5EF4-FFF2-40B4-BE49-F238E27FC236}">
                <a16:creationId xmlns:a16="http://schemas.microsoft.com/office/drawing/2014/main" id="{6DCEA008-4623-4881-6998-E34F6C148E66}"/>
              </a:ext>
            </a:extLst>
          </p:cNvPr>
          <p:cNvSpPr/>
          <p:nvPr/>
        </p:nvSpPr>
        <p:spPr>
          <a:xfrm>
            <a:off x="9140244" y="3738374"/>
            <a:ext cx="1760418" cy="37933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5.4 Suggestions </a:t>
            </a:r>
            <a:endParaRPr kumimoji="0" lang="zh-CN" altLang="en-US" sz="1865"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58006502"/>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1034968" y="297891"/>
            <a:ext cx="2762160"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6.1 Major Findings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p:cNvSpPr txBox="1"/>
          <p:nvPr/>
        </p:nvSpPr>
        <p:spPr>
          <a:xfrm>
            <a:off x="1575389" y="1314771"/>
            <a:ext cx="9317511" cy="5218736"/>
          </a:xfrm>
          <a:prstGeom prst="rect">
            <a:avLst/>
          </a:prstGeom>
          <a:noFill/>
        </p:spPr>
        <p:txBody>
          <a:bodyPr wrap="square" lIns="91440" tIns="45720" rIns="91440" bIns="45720" rtlCol="0">
            <a:spAutoFit/>
          </a:bodyPr>
          <a:lstStyle/>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Images in the translated version of Zhuangzi Speaks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have indeed undergone visible changes</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The reason has very much to do with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visually different cultural conventions</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Plus, investigation into the interactive function reveals that the way the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visual image itself interacts with the viewer may also contribute to such a huge success.</a:t>
            </a: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endPar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Image-text relations in the translation do exhibit shifts. The disparity mostly stems from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distinct knowledge background and visual literacy of the original and target readers.</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Even when the image-text relations in the translation are the same as those of the original, there are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nuanced differences in how the verbal text modifies the image</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just" defTabSz="457200" rtl="0" eaLnBrk="1" fontAlgn="auto" latinLnBrk="0" hangingPunct="1">
              <a:lnSpc>
                <a:spcPct val="150000"/>
              </a:lnSpc>
              <a:spcBef>
                <a:spcPts val="0"/>
              </a:spcBef>
              <a:spcAft>
                <a:spcPts val="0"/>
              </a:spcAft>
              <a:buClrTx/>
              <a:buSzTx/>
              <a:buFontTx/>
              <a:buAutoNum type="arabicPeriod"/>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 terms of translation strategies, there is a heavy leaning towards domestication both on verbal and visual levels. As for specific translation methods, a characteristic one of comic translation may well be hyponymy replacement since the meaning in comics can always be better articulated via a combination of images and text than in other purely verbal forms.</a:t>
            </a:r>
          </a:p>
        </p:txBody>
      </p:sp>
    </p:spTree>
    <p:extLst>
      <p:ext uri="{BB962C8B-B14F-4D97-AF65-F5344CB8AC3E}">
        <p14:creationId xmlns:p14="http://schemas.microsoft.com/office/powerpoint/2010/main" val="1712220426"/>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2349355"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6.2 Implications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p:cNvSpPr txBox="1"/>
          <p:nvPr/>
        </p:nvSpPr>
        <p:spPr>
          <a:xfrm>
            <a:off x="1437244" y="1344863"/>
            <a:ext cx="9317511" cy="4480073"/>
          </a:xfrm>
          <a:prstGeom prst="rect">
            <a:avLst/>
          </a:prstGeom>
          <a:noFill/>
        </p:spPr>
        <p:txBody>
          <a:bodyPr wrap="square" lIns="91440" tIns="45720" rIns="91440" bIns="45720" rtlCol="0">
            <a:spAutoFit/>
          </a:bodyPr>
          <a:lstStyle/>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 By demonstrating the visual alterations and the changes in image-text relations involved in comic translation, the thesis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emphasizes the importance of conducting multimodal analysis on a discourse that blends linguistic information with images during translation</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Indeed, it identifies the need for translators to acquire visual literacy to address the intimate links between language and visuals.</a:t>
            </a:r>
          </a:p>
          <a:p>
            <a:pPr marR="0" lvl="0" algn="just" defTabSz="457200" rtl="0" eaLnBrk="1" fontAlgn="auto" latinLnBrk="0" hangingPunct="1">
              <a:lnSpc>
                <a:spcPct val="150000"/>
              </a:lnSpc>
              <a:spcBef>
                <a:spcPts val="0"/>
              </a:spcBef>
              <a:spcAft>
                <a:spcPts val="0"/>
              </a:spcAft>
              <a:buClrTx/>
              <a:buSzTx/>
              <a:defRPr/>
            </a:pPr>
            <a:endPar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 It is found that visual grammar and image-text relations theory can go a long way in revealing the meaning of pictorial images and subtle interplay between two modes, making them suitable for future research on comic translation. </a:t>
            </a:r>
          </a:p>
          <a:p>
            <a:pPr marR="0" lvl="0" algn="just" defTabSz="457200" rtl="0" eaLnBrk="1" fontAlgn="auto" latinLnBrk="0" hangingPunct="1">
              <a:lnSpc>
                <a:spcPct val="150000"/>
              </a:lnSpc>
              <a:spcBef>
                <a:spcPts val="0"/>
              </a:spcBef>
              <a:spcAft>
                <a:spcPts val="0"/>
              </a:spcAft>
              <a:buClrTx/>
              <a:buSzTx/>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 The thesis holds practical implications as it derives feasible translation strategies and methods specific to comics from the complimentary image-text relations, offering unique insight for Chinese-English comic translators.</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9500321"/>
      </p:ext>
    </p:extLst>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2229130"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6.3 Limitations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p:cNvSpPr txBox="1"/>
          <p:nvPr/>
        </p:nvSpPr>
        <p:spPr>
          <a:xfrm>
            <a:off x="1437244" y="1558295"/>
            <a:ext cx="9317511" cy="3741409"/>
          </a:xfrm>
          <a:prstGeom prst="rect">
            <a:avLst/>
          </a:prstGeom>
          <a:noFill/>
        </p:spPr>
        <p:txBody>
          <a:bodyPr wrap="square" lIns="91440" tIns="45720" rIns="91440" bIns="45720" rtlCol="0">
            <a:spAutoFit/>
          </a:bodyPr>
          <a:lstStyle/>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 An inherent drawback in multimodal analysis, irrespective of analytical frameworks adopted, is that it depends mostly on observation, thus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susceptible to personal judgement and bias.</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Plus, the thesis fails to identify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the exact role the translator </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plays in altering the images. It could be the result from the press or discussions with the original author and the press. </a:t>
            </a:r>
          </a:p>
          <a:p>
            <a:pPr marR="0" lvl="0" algn="just" defTabSz="457200" rtl="0" eaLnBrk="1" fontAlgn="auto" latinLnBrk="0" hangingPunct="1">
              <a:lnSpc>
                <a:spcPct val="150000"/>
              </a:lnSpc>
              <a:spcBef>
                <a:spcPts val="0"/>
              </a:spcBef>
              <a:spcAft>
                <a:spcPts val="0"/>
              </a:spcAft>
              <a:buClrTx/>
              <a:buSzTx/>
              <a:defRPr/>
            </a:pPr>
            <a:endPar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 The analysis entails a sole translation of the comic book as it is the only one available. The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lack of comparison </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thus means it would be hard-pressed to examine the quality of the translation. </a:t>
            </a:r>
          </a:p>
          <a:p>
            <a:pPr marR="0" lvl="0" algn="just" defTabSz="457200" rtl="0" eaLnBrk="1" fontAlgn="auto" latinLnBrk="0" hangingPunct="1">
              <a:lnSpc>
                <a:spcPct val="150000"/>
              </a:lnSpc>
              <a:spcBef>
                <a:spcPts val="0"/>
              </a:spcBef>
              <a:spcAft>
                <a:spcPts val="0"/>
              </a:spcAft>
              <a:buClrTx/>
              <a:buSzTx/>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 The translation strategies and methods derived from this study may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only apply to similar Chinese comics saturated with culture-loaded content</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479342942"/>
      </p:ext>
    </p:extLst>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4725070"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6.4 Suggestions for Future Studies</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p:cNvSpPr txBox="1"/>
          <p:nvPr/>
        </p:nvSpPr>
        <p:spPr>
          <a:xfrm>
            <a:off x="1437244" y="1558295"/>
            <a:ext cx="9366880" cy="4480073"/>
          </a:xfrm>
          <a:prstGeom prst="rect">
            <a:avLst/>
          </a:prstGeom>
          <a:noFill/>
        </p:spPr>
        <p:txBody>
          <a:bodyPr wrap="square" lIns="91440" tIns="45720" rIns="91440" bIns="45720" rtlCol="0">
            <a:spAutoFit/>
          </a:bodyPr>
          <a:lstStyle/>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The framework of image-text relations could be further refined</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by prescribing how certain linguistic elements in Chinese correspond to what has been represented visually so as to reduce uncertainty and fuzziness. Besides, it would also be interesting to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conduct an interview with the translator </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to determine his role in the visual changes seen in the comic. </a:t>
            </a:r>
          </a:p>
          <a:p>
            <a:pPr marL="342900" marR="0" lvl="0" indent="-342900" algn="just" defTabSz="457200" rtl="0" eaLnBrk="1" fontAlgn="auto" latinLnBrk="0" hangingPunct="1">
              <a:lnSpc>
                <a:spcPct val="150000"/>
              </a:lnSpc>
              <a:spcBef>
                <a:spcPts val="0"/>
              </a:spcBef>
              <a:spcAft>
                <a:spcPts val="0"/>
              </a:spcAft>
              <a:buClrTx/>
              <a:buSzTx/>
              <a:buAutoNum type="arabicPeriod"/>
              <a:defRPr/>
            </a:pPr>
            <a:endPar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 Future research could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take into account translation quality </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by comparing several translations of the same comic book and see how different treatment of image-text relations may affect the reception of certain translated work. </a:t>
            </a:r>
          </a:p>
          <a:p>
            <a:pPr marR="0" lvl="0" algn="just" defTabSz="457200" rtl="0" eaLnBrk="1" fontAlgn="auto" latinLnBrk="0" hangingPunct="1">
              <a:lnSpc>
                <a:spcPct val="150000"/>
              </a:lnSpc>
              <a:spcBef>
                <a:spcPts val="0"/>
              </a:spcBef>
              <a:spcAft>
                <a:spcPts val="0"/>
              </a:spcAft>
              <a:buClrTx/>
              <a:buSzTx/>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 Future researchers should seek to </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extend the application of multimodal analysis to other domains in translation studies</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such as animation translation whose moving images may be distinct from the analysis of stills in comics</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914719364"/>
      </p:ext>
    </p:extLst>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5077609" y="51671"/>
            <a:ext cx="1752269"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sz="2400" b="1" dirty="0">
                <a:solidFill>
                  <a:schemeClr val="accent1"/>
                </a:solidFill>
                <a:latin typeface="Times New Roman" panose="02020603050405020304" pitchFamily="18" charset="0"/>
                <a:cs typeface="Times New Roman" panose="02020603050405020304" pitchFamily="18" charset="0"/>
              </a:rPr>
              <a:t>References </a:t>
            </a:r>
            <a:endParaRPr kumimoji="0"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TextBox 20"/>
          <p:cNvSpPr txBox="1"/>
          <p:nvPr/>
        </p:nvSpPr>
        <p:spPr>
          <a:xfrm>
            <a:off x="652154" y="544111"/>
            <a:ext cx="11539846" cy="6066148"/>
          </a:xfrm>
          <a:prstGeom prst="rect">
            <a:avLst/>
          </a:prstGeom>
          <a:noFill/>
        </p:spPr>
        <p:txBody>
          <a:bodyPr wrap="square" lIns="91440" tIns="45720" rIns="91440" bIns="45720" rtlCol="0">
            <a:spAutoFit/>
          </a:bodyPr>
          <a:lstStyle/>
          <a:p>
            <a:pPr algn="just">
              <a:lnSpc>
                <a:spcPct val="115000"/>
              </a:lnSpc>
              <a:spcBef>
                <a:spcPts val="240"/>
              </a:spcBef>
            </a:pPr>
            <a:r>
              <a:rPr lang="en-US" altLang="zh-CN" sz="1600" kern="100" dirty="0">
                <a:solidFill>
                  <a:srgbClr val="000000"/>
                </a:solidFill>
                <a:effectLst/>
                <a:latin typeface="Times New Roman" panose="02020603050405020304" pitchFamily="18" charset="0"/>
                <a:ea typeface="宋体" panose="02010600030101010101" pitchFamily="2" charset="-122"/>
              </a:rPr>
              <a:t>Barthes, Roland. 1977. </a:t>
            </a:r>
            <a:r>
              <a:rPr lang="en-US" altLang="zh-CN" sz="1600" i="1" kern="100" dirty="0">
                <a:solidFill>
                  <a:srgbClr val="000000"/>
                </a:solidFill>
                <a:effectLst/>
                <a:latin typeface="Times New Roman" panose="02020603050405020304" pitchFamily="18" charset="0"/>
                <a:ea typeface="宋体" panose="02010600030101010101" pitchFamily="2" charset="-122"/>
              </a:rPr>
              <a:t>Image-Music-Text</a:t>
            </a:r>
            <a:r>
              <a:rPr lang="en-US" altLang="zh-CN" sz="1600" kern="100" dirty="0">
                <a:solidFill>
                  <a:srgbClr val="000000"/>
                </a:solidFill>
                <a:effectLst/>
                <a:latin typeface="Times New Roman" panose="02020603050405020304" pitchFamily="18" charset="0"/>
                <a:ea typeface="宋体" panose="02010600030101010101" pitchFamily="2" charset="-122"/>
              </a:rPr>
              <a:t> [M]. New York: Macmillan.</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Baldry, Anthony Peter, and Paul J. Thibault. 2006. </a:t>
            </a:r>
            <a:r>
              <a:rPr lang="en-US" altLang="zh-CN" sz="1600" i="1" kern="100" dirty="0">
                <a:solidFill>
                  <a:srgbClr val="000000"/>
                </a:solidFill>
                <a:effectLst/>
                <a:latin typeface="Times New Roman" panose="02020603050405020304" pitchFamily="18" charset="0"/>
                <a:ea typeface="宋体" panose="02010600030101010101" pitchFamily="2" charset="-122"/>
              </a:rPr>
              <a:t>Multimodal Transcription and Text Analysis: A Multimedia Toolkit and Coursebook</a:t>
            </a:r>
            <a:r>
              <a:rPr lang="en-US" altLang="zh-CN" sz="1600" kern="100" dirty="0">
                <a:solidFill>
                  <a:srgbClr val="000000"/>
                </a:solidFill>
                <a:effectLst/>
                <a:latin typeface="Times New Roman" panose="02020603050405020304" pitchFamily="18" charset="0"/>
                <a:ea typeface="宋体" panose="02010600030101010101" pitchFamily="2" charset="-122"/>
              </a:rPr>
              <a:t> [M]. Sheffield: Equinox.</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Borodo</a:t>
            </a:r>
            <a:r>
              <a:rPr lang="en-US" altLang="zh-CN" sz="1600" kern="100" dirty="0">
                <a:solidFill>
                  <a:srgbClr val="000000"/>
                </a:solidFill>
                <a:effectLst/>
                <a:latin typeface="Times New Roman" panose="02020603050405020304" pitchFamily="18" charset="0"/>
                <a:ea typeface="宋体" panose="02010600030101010101" pitchFamily="2" charset="-122"/>
              </a:rPr>
              <a:t>, </a:t>
            </a:r>
            <a:r>
              <a:rPr lang="en-US" altLang="zh-CN" sz="1600" kern="100" dirty="0" err="1">
                <a:solidFill>
                  <a:srgbClr val="000000"/>
                </a:solidFill>
                <a:effectLst/>
                <a:latin typeface="Times New Roman" panose="02020603050405020304" pitchFamily="18" charset="0"/>
                <a:ea typeface="宋体" panose="02010600030101010101" pitchFamily="2" charset="-122"/>
              </a:rPr>
              <a:t>Michał</a:t>
            </a:r>
            <a:r>
              <a:rPr lang="en-US" altLang="zh-CN" sz="1600" kern="100" dirty="0">
                <a:solidFill>
                  <a:srgbClr val="000000"/>
                </a:solidFill>
                <a:effectLst/>
                <a:latin typeface="Times New Roman" panose="02020603050405020304" pitchFamily="18" charset="0"/>
                <a:ea typeface="宋体" panose="02010600030101010101" pitchFamily="2" charset="-122"/>
              </a:rPr>
              <a:t>. 2015. Multimodality, Translation and Comics [J]. </a:t>
            </a:r>
            <a:r>
              <a:rPr lang="en-US" altLang="zh-CN" sz="1600" i="1" kern="100" dirty="0">
                <a:solidFill>
                  <a:srgbClr val="000000"/>
                </a:solidFill>
                <a:effectLst/>
                <a:latin typeface="Times New Roman" panose="02020603050405020304" pitchFamily="18" charset="0"/>
                <a:ea typeface="宋体" panose="02010600030101010101" pitchFamily="2" charset="-122"/>
              </a:rPr>
              <a:t>Perspectives</a:t>
            </a:r>
            <a:r>
              <a:rPr lang="en-US" altLang="zh-CN" sz="1600" kern="100" dirty="0">
                <a:solidFill>
                  <a:srgbClr val="000000"/>
                </a:solidFill>
                <a:effectLst/>
                <a:latin typeface="Times New Roman" panose="02020603050405020304" pitchFamily="18" charset="0"/>
                <a:ea typeface="宋体" panose="02010600030101010101" pitchFamily="2" charset="-122"/>
              </a:rPr>
              <a:t>, 23(1): 22-41.</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fr-FR" altLang="zh-CN" sz="1600" kern="100" dirty="0" err="1">
                <a:solidFill>
                  <a:srgbClr val="000000"/>
                </a:solidFill>
                <a:effectLst/>
                <a:latin typeface="Times New Roman" panose="02020603050405020304" pitchFamily="18" charset="0"/>
                <a:ea typeface="宋体" panose="02010600030101010101" pitchFamily="2" charset="-122"/>
              </a:rPr>
              <a:t>Celotti</a:t>
            </a:r>
            <a:r>
              <a:rPr lang="fr-FR" altLang="zh-CN" sz="1600" kern="100" dirty="0">
                <a:solidFill>
                  <a:srgbClr val="000000"/>
                </a:solidFill>
                <a:effectLst/>
                <a:latin typeface="Times New Roman" panose="02020603050405020304" pitchFamily="18" charset="0"/>
                <a:ea typeface="宋体" panose="02010600030101010101" pitchFamily="2" charset="-122"/>
              </a:rPr>
              <a:t>, Nadine. 2000. Méditer sur la Traduction des Bandes Dessinées: une Perspective de Sémiologie Parallèle [J]. </a:t>
            </a:r>
            <a:r>
              <a:rPr lang="fr-FR" altLang="zh-CN" sz="1600" i="1" kern="100" dirty="0" err="1">
                <a:solidFill>
                  <a:srgbClr val="000000"/>
                </a:solidFill>
                <a:effectLst/>
                <a:latin typeface="Times New Roman" panose="02020603050405020304" pitchFamily="18" charset="0"/>
                <a:ea typeface="宋体" panose="02010600030101010101" pitchFamily="2" charset="-122"/>
              </a:rPr>
              <a:t>Rivista</a:t>
            </a:r>
            <a:r>
              <a:rPr lang="fr-FR" altLang="zh-CN" sz="1600" i="1" kern="100" dirty="0">
                <a:solidFill>
                  <a:srgbClr val="000000"/>
                </a:solidFill>
                <a:effectLst/>
                <a:latin typeface="Times New Roman" panose="02020603050405020304" pitchFamily="18" charset="0"/>
                <a:ea typeface="宋体" panose="02010600030101010101" pitchFamily="2" charset="-122"/>
              </a:rPr>
              <a:t> </a:t>
            </a:r>
            <a:r>
              <a:rPr lang="fr-FR" altLang="zh-CN" sz="1600" i="1" kern="100" dirty="0" err="1">
                <a:solidFill>
                  <a:srgbClr val="000000"/>
                </a:solidFill>
                <a:effectLst/>
                <a:latin typeface="Times New Roman" panose="02020603050405020304" pitchFamily="18" charset="0"/>
                <a:ea typeface="宋体" panose="02010600030101010101" pitchFamily="2" charset="-122"/>
              </a:rPr>
              <a:t>Internazionale</a:t>
            </a:r>
            <a:r>
              <a:rPr lang="fr-FR" altLang="zh-CN" sz="1600" i="1" kern="100" dirty="0">
                <a:solidFill>
                  <a:srgbClr val="000000"/>
                </a:solidFill>
                <a:effectLst/>
                <a:latin typeface="Times New Roman" panose="02020603050405020304" pitchFamily="18" charset="0"/>
                <a:ea typeface="宋体" panose="02010600030101010101" pitchFamily="2" charset="-122"/>
              </a:rPr>
              <a:t> di </a:t>
            </a:r>
            <a:r>
              <a:rPr lang="fr-FR" altLang="zh-CN" sz="1600" i="1" kern="100" dirty="0" err="1">
                <a:solidFill>
                  <a:srgbClr val="000000"/>
                </a:solidFill>
                <a:effectLst/>
                <a:latin typeface="Times New Roman" panose="02020603050405020304" pitchFamily="18" charset="0"/>
                <a:ea typeface="宋体" panose="02010600030101010101" pitchFamily="2" charset="-122"/>
              </a:rPr>
              <a:t>Tecnica</a:t>
            </a:r>
            <a:r>
              <a:rPr lang="fr-FR" altLang="zh-CN" sz="1600" i="1" kern="100" dirty="0">
                <a:solidFill>
                  <a:srgbClr val="000000"/>
                </a:solidFill>
                <a:effectLst/>
                <a:latin typeface="Times New Roman" panose="02020603050405020304" pitchFamily="18" charset="0"/>
                <a:ea typeface="宋体" panose="02010600030101010101" pitchFamily="2" charset="-122"/>
              </a:rPr>
              <a:t> Della </a:t>
            </a:r>
            <a:r>
              <a:rPr lang="fr-FR" altLang="zh-CN" sz="1600" i="1" kern="100" dirty="0" err="1">
                <a:solidFill>
                  <a:srgbClr val="000000"/>
                </a:solidFill>
                <a:effectLst/>
                <a:latin typeface="Times New Roman" panose="02020603050405020304" pitchFamily="18" charset="0"/>
                <a:ea typeface="宋体" panose="02010600030101010101" pitchFamily="2" charset="-122"/>
              </a:rPr>
              <a:t>Traduzione</a:t>
            </a:r>
            <a:r>
              <a:rPr lang="fr-FR" altLang="zh-CN" sz="1600" kern="100" dirty="0">
                <a:solidFill>
                  <a:srgbClr val="000000"/>
                </a:solidFill>
                <a:effectLst/>
                <a:latin typeface="Times New Roman" panose="02020603050405020304" pitchFamily="18" charset="0"/>
                <a:ea typeface="宋体" panose="02010600030101010101" pitchFamily="2" charset="-122"/>
              </a:rPr>
              <a:t>, 5: 42-45.</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Celotti</a:t>
            </a:r>
            <a:r>
              <a:rPr lang="en-US" altLang="zh-CN" sz="1600" kern="100" dirty="0">
                <a:solidFill>
                  <a:srgbClr val="000000"/>
                </a:solidFill>
                <a:effectLst/>
                <a:latin typeface="Times New Roman" panose="02020603050405020304" pitchFamily="18" charset="0"/>
                <a:ea typeface="宋体" panose="02010600030101010101" pitchFamily="2" charset="-122"/>
              </a:rPr>
              <a:t>, Nadine. 2008. The Translator of Comics as a Semiotic Investigator. In Federico </a:t>
            </a:r>
            <a:r>
              <a:rPr lang="en-US" altLang="zh-CN" sz="1600" kern="100" dirty="0" err="1">
                <a:solidFill>
                  <a:srgbClr val="000000"/>
                </a:solidFill>
                <a:effectLst/>
                <a:latin typeface="Times New Roman" panose="02020603050405020304" pitchFamily="18" charset="0"/>
                <a:ea typeface="宋体" panose="02010600030101010101" pitchFamily="2" charset="-122"/>
              </a:rPr>
              <a:t>Zanettin</a:t>
            </a:r>
            <a:r>
              <a:rPr lang="en-US" altLang="zh-CN" sz="1600" kern="100" dirty="0">
                <a:solidFill>
                  <a:srgbClr val="000000"/>
                </a:solidFill>
                <a:effectLst/>
                <a:latin typeface="Times New Roman" panose="02020603050405020304" pitchFamily="18" charset="0"/>
                <a:ea typeface="宋体" panose="02010600030101010101" pitchFamily="2" charset="-122"/>
              </a:rPr>
              <a:t> (ed.), </a:t>
            </a:r>
            <a:r>
              <a:rPr lang="en-US" altLang="zh-CN" sz="1600" i="1" kern="100" dirty="0">
                <a:solidFill>
                  <a:srgbClr val="000000"/>
                </a:solidFill>
                <a:effectLst/>
                <a:latin typeface="Times New Roman" panose="02020603050405020304" pitchFamily="18" charset="0"/>
                <a:ea typeface="宋体" panose="02010600030101010101" pitchFamily="2" charset="-122"/>
              </a:rPr>
              <a:t>Comics in Translation</a:t>
            </a:r>
            <a:r>
              <a:rPr lang="en-US" altLang="zh-CN" sz="1600" kern="100" dirty="0">
                <a:solidFill>
                  <a:srgbClr val="000000"/>
                </a:solidFill>
                <a:effectLst/>
                <a:latin typeface="Times New Roman" panose="02020603050405020304" pitchFamily="18" charset="0"/>
                <a:ea typeface="宋体" panose="02010600030101010101" pitchFamily="2" charset="-122"/>
              </a:rPr>
              <a:t> (pp. 33-39) [M]. New York: Routledge.</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Delabastita</a:t>
            </a:r>
            <a:r>
              <a:rPr lang="en-US" altLang="zh-CN" sz="1600" kern="100" dirty="0">
                <a:solidFill>
                  <a:srgbClr val="000000"/>
                </a:solidFill>
                <a:effectLst/>
                <a:latin typeface="Times New Roman" panose="02020603050405020304" pitchFamily="18" charset="0"/>
                <a:ea typeface="宋体" panose="02010600030101010101" pitchFamily="2" charset="-122"/>
              </a:rPr>
              <a:t>, Dirk. 1989. Translation and Mass-communication: Film and TV Translation as Evidence of Cultural Dynamics [J]. </a:t>
            </a:r>
            <a:r>
              <a:rPr lang="en-US" altLang="zh-CN" sz="1600" i="1" kern="100" dirty="0">
                <a:solidFill>
                  <a:srgbClr val="000000"/>
                </a:solidFill>
                <a:effectLst/>
                <a:latin typeface="Times New Roman" panose="02020603050405020304" pitchFamily="18" charset="0"/>
                <a:ea typeface="宋体" panose="02010600030101010101" pitchFamily="2" charset="-122"/>
              </a:rPr>
              <a:t>Babel</a:t>
            </a:r>
            <a:r>
              <a:rPr lang="en-US" altLang="zh-CN" sz="1600" kern="100" dirty="0">
                <a:solidFill>
                  <a:srgbClr val="000000"/>
                </a:solidFill>
                <a:effectLst/>
                <a:latin typeface="Times New Roman" panose="02020603050405020304" pitchFamily="18" charset="0"/>
                <a:ea typeface="宋体" panose="02010600030101010101" pitchFamily="2" charset="-122"/>
              </a:rPr>
              <a:t>, 35(4): 193-218.</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Forceville</a:t>
            </a:r>
            <a:r>
              <a:rPr lang="en-US" altLang="zh-CN" sz="1600" kern="100" dirty="0">
                <a:solidFill>
                  <a:srgbClr val="000000"/>
                </a:solidFill>
                <a:effectLst/>
                <a:latin typeface="Times New Roman" panose="02020603050405020304" pitchFamily="18" charset="0"/>
                <a:ea typeface="宋体" panose="02010600030101010101" pitchFamily="2" charset="-122"/>
              </a:rPr>
              <a:t>, Charles, and Eduardo </a:t>
            </a:r>
            <a:r>
              <a:rPr lang="en-US" altLang="zh-CN" sz="1600" kern="100" dirty="0" err="1">
                <a:solidFill>
                  <a:srgbClr val="000000"/>
                </a:solidFill>
                <a:effectLst/>
                <a:latin typeface="Times New Roman" panose="02020603050405020304" pitchFamily="18" charset="0"/>
                <a:ea typeface="宋体" panose="02010600030101010101" pitchFamily="2" charset="-122"/>
              </a:rPr>
              <a:t>Urios-Aparisi</a:t>
            </a:r>
            <a:r>
              <a:rPr lang="en-US" altLang="zh-CN" sz="1600" kern="100" dirty="0">
                <a:solidFill>
                  <a:srgbClr val="000000"/>
                </a:solidFill>
                <a:effectLst/>
                <a:latin typeface="Times New Roman" panose="02020603050405020304" pitchFamily="18" charset="0"/>
                <a:ea typeface="宋体" panose="02010600030101010101" pitchFamily="2" charset="-122"/>
              </a:rPr>
              <a:t>. 2009. </a:t>
            </a:r>
            <a:r>
              <a:rPr lang="en-US" altLang="zh-CN" sz="1600" i="1" kern="100" dirty="0">
                <a:solidFill>
                  <a:srgbClr val="000000"/>
                </a:solidFill>
                <a:effectLst/>
                <a:latin typeface="Times New Roman" panose="02020603050405020304" pitchFamily="18" charset="0"/>
                <a:ea typeface="宋体" panose="02010600030101010101" pitchFamily="2" charset="-122"/>
              </a:rPr>
              <a:t>Multimodal Metaphor</a:t>
            </a:r>
            <a:r>
              <a:rPr lang="en-US" altLang="zh-CN" sz="1600" kern="100" dirty="0">
                <a:solidFill>
                  <a:srgbClr val="000000"/>
                </a:solidFill>
                <a:effectLst/>
                <a:latin typeface="Times New Roman" panose="02020603050405020304" pitchFamily="18" charset="0"/>
                <a:ea typeface="宋体" panose="02010600030101010101" pitchFamily="2" charset="-122"/>
              </a:rPr>
              <a:t> [M]. Berlin: Mouton de Gruyter.</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Grun</a:t>
            </a:r>
            <a:r>
              <a:rPr lang="en-US" altLang="zh-CN" sz="1600" kern="100" dirty="0">
                <a:solidFill>
                  <a:srgbClr val="000000"/>
                </a:solidFill>
                <a:effectLst/>
                <a:latin typeface="Times New Roman" panose="02020603050405020304" pitchFamily="18" charset="0"/>
                <a:ea typeface="宋体" panose="02010600030101010101" pitchFamily="2" charset="-122"/>
              </a:rPr>
              <a:t>, Maria, and Cay </a:t>
            </a:r>
            <a:r>
              <a:rPr lang="en-US" altLang="zh-CN" sz="1600" kern="100" dirty="0" err="1">
                <a:solidFill>
                  <a:srgbClr val="000000"/>
                </a:solidFill>
                <a:effectLst/>
                <a:latin typeface="Times New Roman" panose="02020603050405020304" pitchFamily="18" charset="0"/>
                <a:ea typeface="宋体" panose="02010600030101010101" pitchFamily="2" charset="-122"/>
              </a:rPr>
              <a:t>Dollerup</a:t>
            </a:r>
            <a:r>
              <a:rPr lang="en-US" altLang="zh-CN" sz="1600" kern="100" dirty="0">
                <a:solidFill>
                  <a:srgbClr val="000000"/>
                </a:solidFill>
                <a:effectLst/>
                <a:latin typeface="Times New Roman" panose="02020603050405020304" pitchFamily="18" charset="0"/>
                <a:ea typeface="宋体" panose="02010600030101010101" pitchFamily="2" charset="-122"/>
              </a:rPr>
              <a:t>. 2003. ‘Loss’ and ‘Gain’ in Comics [J]. </a:t>
            </a:r>
            <a:r>
              <a:rPr lang="en-US" altLang="zh-CN" sz="1600" i="1" kern="100" dirty="0">
                <a:solidFill>
                  <a:srgbClr val="000000"/>
                </a:solidFill>
                <a:effectLst/>
                <a:latin typeface="Times New Roman" panose="02020603050405020304" pitchFamily="18" charset="0"/>
                <a:ea typeface="宋体" panose="02010600030101010101" pitchFamily="2" charset="-122"/>
              </a:rPr>
              <a:t>Perspectives: Studies in </a:t>
            </a:r>
            <a:r>
              <a:rPr lang="en-US" altLang="zh-CN" sz="1600" i="1" kern="100" dirty="0" err="1">
                <a:solidFill>
                  <a:srgbClr val="000000"/>
                </a:solidFill>
                <a:effectLst/>
                <a:latin typeface="Times New Roman" panose="02020603050405020304" pitchFamily="18" charset="0"/>
                <a:ea typeface="宋体" panose="02010600030101010101" pitchFamily="2" charset="-122"/>
              </a:rPr>
              <a:t>Translatology</a:t>
            </a:r>
            <a:r>
              <a:rPr lang="en-US" altLang="zh-CN" sz="1600" kern="100" dirty="0">
                <a:solidFill>
                  <a:srgbClr val="000000"/>
                </a:solidFill>
                <a:effectLst/>
                <a:latin typeface="Times New Roman" panose="02020603050405020304" pitchFamily="18" charset="0"/>
                <a:ea typeface="宋体" panose="02010600030101010101" pitchFamily="2" charset="-122"/>
              </a:rPr>
              <a:t>, 11(3): 197-216.</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Halliday, M. A. K., &amp; Matthiessen, Christian. 1985. </a:t>
            </a:r>
            <a:r>
              <a:rPr lang="en-US" altLang="zh-CN" sz="1600" i="1" kern="100" dirty="0">
                <a:solidFill>
                  <a:srgbClr val="000000"/>
                </a:solidFill>
                <a:effectLst/>
                <a:latin typeface="Times New Roman" panose="02020603050405020304" pitchFamily="18" charset="0"/>
                <a:ea typeface="宋体" panose="02010600030101010101" pitchFamily="2" charset="-122"/>
              </a:rPr>
              <a:t>An Introduction to Functional Grammar</a:t>
            </a:r>
            <a:r>
              <a:rPr lang="en-US" altLang="zh-CN" sz="1600" kern="100" dirty="0">
                <a:solidFill>
                  <a:srgbClr val="000000"/>
                </a:solidFill>
                <a:effectLst/>
                <a:latin typeface="Times New Roman" panose="02020603050405020304" pitchFamily="18" charset="0"/>
                <a:ea typeface="宋体" panose="02010600030101010101" pitchFamily="2" charset="-122"/>
              </a:rPr>
              <a:t> [M]. London: Arnold.</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Halliday, M. A. K., and </a:t>
            </a:r>
            <a:r>
              <a:rPr lang="en-US" altLang="zh-CN" sz="1600" kern="100" dirty="0" err="1">
                <a:solidFill>
                  <a:srgbClr val="000000"/>
                </a:solidFill>
                <a:effectLst/>
                <a:latin typeface="Times New Roman" panose="02020603050405020304" pitchFamily="18" charset="0"/>
                <a:ea typeface="宋体" panose="02010600030101010101" pitchFamily="2" charset="-122"/>
              </a:rPr>
              <a:t>Ruqaiya</a:t>
            </a:r>
            <a:r>
              <a:rPr lang="en-US" altLang="zh-CN" sz="1600" kern="100" dirty="0">
                <a:solidFill>
                  <a:srgbClr val="000000"/>
                </a:solidFill>
                <a:effectLst/>
                <a:latin typeface="Times New Roman" panose="02020603050405020304" pitchFamily="18" charset="0"/>
                <a:ea typeface="宋体" panose="02010600030101010101" pitchFamily="2" charset="-122"/>
              </a:rPr>
              <a:t> Hasan. 2014. </a:t>
            </a:r>
            <a:r>
              <a:rPr lang="en-US" altLang="zh-CN" sz="1600" i="1" kern="100" dirty="0">
                <a:solidFill>
                  <a:srgbClr val="000000"/>
                </a:solidFill>
                <a:effectLst/>
                <a:latin typeface="Times New Roman" panose="02020603050405020304" pitchFamily="18" charset="0"/>
                <a:ea typeface="宋体" panose="02010600030101010101" pitchFamily="2" charset="-122"/>
              </a:rPr>
              <a:t>Cohesion in English </a:t>
            </a:r>
            <a:r>
              <a:rPr lang="en-US" altLang="zh-CN" sz="1600" kern="100" dirty="0">
                <a:solidFill>
                  <a:srgbClr val="000000"/>
                </a:solidFill>
                <a:effectLst/>
                <a:latin typeface="Times New Roman" panose="02020603050405020304" pitchFamily="18" charset="0"/>
                <a:ea typeface="宋体" panose="02010600030101010101" pitchFamily="2" charset="-122"/>
              </a:rPr>
              <a:t>[M]. London: Routledge.</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Harvey, Keith. 1998. Compensation. In Mona Baker (ed.), </a:t>
            </a:r>
            <a:r>
              <a:rPr lang="en-US" altLang="zh-CN" sz="1600" i="1" kern="100" dirty="0" err="1">
                <a:solidFill>
                  <a:srgbClr val="000000"/>
                </a:solidFill>
                <a:effectLst/>
                <a:latin typeface="Times New Roman" panose="02020603050405020304" pitchFamily="18" charset="0"/>
                <a:ea typeface="宋体" panose="02010600030101010101" pitchFamily="2" charset="-122"/>
              </a:rPr>
              <a:t>Encyclopaedia</a:t>
            </a:r>
            <a:r>
              <a:rPr lang="en-US" altLang="zh-CN" sz="1600" i="1" kern="100" dirty="0">
                <a:solidFill>
                  <a:srgbClr val="000000"/>
                </a:solidFill>
                <a:effectLst/>
                <a:latin typeface="Times New Roman" panose="02020603050405020304" pitchFamily="18" charset="0"/>
                <a:ea typeface="宋体" panose="02010600030101010101" pitchFamily="2" charset="-122"/>
              </a:rPr>
              <a:t> of Translation Studies</a:t>
            </a:r>
            <a:r>
              <a:rPr lang="en-US" altLang="zh-CN" sz="1600" kern="100" dirty="0">
                <a:solidFill>
                  <a:srgbClr val="000000"/>
                </a:solidFill>
                <a:effectLst/>
                <a:latin typeface="Times New Roman" panose="02020603050405020304" pitchFamily="18" charset="0"/>
                <a:ea typeface="宋体" panose="02010600030101010101" pitchFamily="2" charset="-122"/>
              </a:rPr>
              <a:t> (pp. 37–40) [M]. London: Routledge.</a:t>
            </a:r>
          </a:p>
          <a:p>
            <a:pPr marL="304800" indent="-304800" algn="just">
              <a:lnSpc>
                <a:spcPct val="115000"/>
              </a:lnSpc>
              <a:spcBef>
                <a:spcPts val="240"/>
              </a:spcBef>
              <a:spcAft>
                <a:spcPts val="0"/>
              </a:spcAft>
            </a:pPr>
            <a:r>
              <a:rPr lang="en-US" altLang="zh-CN" sz="1600" kern="100" dirty="0">
                <a:solidFill>
                  <a:srgbClr val="000000"/>
                </a:solidFill>
                <a:latin typeface="Times New Roman" panose="02020603050405020304" pitchFamily="18" charset="0"/>
                <a:ea typeface="宋体" panose="02010600030101010101" pitchFamily="2" charset="-122"/>
              </a:rPr>
              <a:t>Huang, </a:t>
            </a:r>
            <a:r>
              <a:rPr lang="en-US" altLang="zh-CN" sz="1600" kern="100" dirty="0" err="1">
                <a:solidFill>
                  <a:srgbClr val="000000"/>
                </a:solidFill>
                <a:latin typeface="Times New Roman" panose="02020603050405020304" pitchFamily="18" charset="0"/>
                <a:ea typeface="宋体" panose="02010600030101010101" pitchFamily="2" charset="-122"/>
              </a:rPr>
              <a:t>Guangzhe</a:t>
            </a:r>
            <a:r>
              <a:rPr lang="en-US" altLang="zh-CN" sz="1600" kern="100" dirty="0">
                <a:solidFill>
                  <a:srgbClr val="000000"/>
                </a:solidFill>
                <a:latin typeface="Times New Roman" panose="02020603050405020304" pitchFamily="18" charset="0"/>
                <a:ea typeface="宋体" panose="02010600030101010101" pitchFamily="2" charset="-122"/>
              </a:rPr>
              <a:t> 2024. Reframing Zhuangzi through recontextualization: A multimodal analysis of front covers of both Zhuangzi Shuo and its three translations [J]. </a:t>
            </a:r>
            <a:r>
              <a:rPr lang="en-US" altLang="zh-CN" sz="1600" i="1" kern="100" dirty="0">
                <a:solidFill>
                  <a:srgbClr val="000000"/>
                </a:solidFill>
                <a:latin typeface="Times New Roman" panose="02020603050405020304" pitchFamily="18" charset="0"/>
                <a:ea typeface="宋体" panose="02010600030101010101" pitchFamily="2" charset="-122"/>
              </a:rPr>
              <a:t>Babel</a:t>
            </a:r>
            <a:r>
              <a:rPr lang="en-US" altLang="zh-CN" sz="1600" kern="100" dirty="0">
                <a:solidFill>
                  <a:srgbClr val="000000"/>
                </a:solidFill>
                <a:latin typeface="Times New Roman" panose="02020603050405020304" pitchFamily="18" charset="0"/>
                <a:ea typeface="宋体" panose="02010600030101010101" pitchFamily="2" charset="-122"/>
              </a:rPr>
              <a:t>, 70(1-2), 251-276.</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Jewitt</a:t>
            </a:r>
            <a:r>
              <a:rPr lang="en-US" altLang="zh-CN" sz="1600" kern="100" dirty="0">
                <a:solidFill>
                  <a:srgbClr val="000000"/>
                </a:solidFill>
                <a:effectLst/>
                <a:latin typeface="Times New Roman" panose="02020603050405020304" pitchFamily="18" charset="0"/>
                <a:ea typeface="宋体" panose="02010600030101010101" pitchFamily="2" charset="-122"/>
              </a:rPr>
              <a:t>, Carey. 2009. </a:t>
            </a:r>
            <a:r>
              <a:rPr lang="en-US" altLang="zh-CN" sz="1600" i="1" kern="100" dirty="0">
                <a:solidFill>
                  <a:srgbClr val="000000"/>
                </a:solidFill>
                <a:effectLst/>
                <a:latin typeface="Times New Roman" panose="02020603050405020304" pitchFamily="18" charset="0"/>
                <a:ea typeface="宋体" panose="02010600030101010101" pitchFamily="2" charset="-122"/>
              </a:rPr>
              <a:t>The Routledge Handbook of Multimodal Analysis</a:t>
            </a:r>
            <a:r>
              <a:rPr lang="en-US" altLang="zh-CN" sz="1600" kern="100" dirty="0">
                <a:solidFill>
                  <a:srgbClr val="000000"/>
                </a:solidFill>
                <a:effectLst/>
                <a:latin typeface="Times New Roman" panose="02020603050405020304" pitchFamily="18" charset="0"/>
                <a:ea typeface="宋体" panose="02010600030101010101" pitchFamily="2" charset="-122"/>
              </a:rPr>
              <a:t> [M]. London: Routledge. </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Kaindl, Klaus. 1999. Thump, Whizz, </a:t>
            </a:r>
            <a:r>
              <a:rPr lang="en-US" altLang="zh-CN" sz="1600" kern="100" dirty="0" err="1">
                <a:solidFill>
                  <a:srgbClr val="000000"/>
                </a:solidFill>
                <a:effectLst/>
                <a:latin typeface="Times New Roman" panose="02020603050405020304" pitchFamily="18" charset="0"/>
                <a:ea typeface="宋体" panose="02010600030101010101" pitchFamily="2" charset="-122"/>
              </a:rPr>
              <a:t>Poom</a:t>
            </a:r>
            <a:r>
              <a:rPr lang="en-US" altLang="zh-CN" sz="1600" kern="100" dirty="0">
                <a:solidFill>
                  <a:srgbClr val="000000"/>
                </a:solidFill>
                <a:effectLst/>
                <a:latin typeface="Times New Roman" panose="02020603050405020304" pitchFamily="18" charset="0"/>
                <a:ea typeface="宋体" panose="02010600030101010101" pitchFamily="2" charset="-122"/>
              </a:rPr>
              <a:t>: A Framework for the Study of Comics under Translation [J]. </a:t>
            </a:r>
            <a:r>
              <a:rPr lang="en-US" altLang="zh-CN" sz="1600" i="1" kern="100" dirty="0">
                <a:solidFill>
                  <a:srgbClr val="000000"/>
                </a:solidFill>
                <a:effectLst/>
                <a:latin typeface="Times New Roman" panose="02020603050405020304" pitchFamily="18" charset="0"/>
                <a:ea typeface="宋体" panose="02010600030101010101" pitchFamily="2" charset="-122"/>
              </a:rPr>
              <a:t>Target. International Journal of Translation Studies</a:t>
            </a:r>
            <a:r>
              <a:rPr lang="en-US" altLang="zh-CN" sz="1600" kern="100" dirty="0">
                <a:solidFill>
                  <a:srgbClr val="000000"/>
                </a:solidFill>
                <a:effectLst/>
                <a:latin typeface="Times New Roman" panose="02020603050405020304" pitchFamily="18" charset="0"/>
                <a:ea typeface="宋体" panose="02010600030101010101" pitchFamily="2" charset="-122"/>
              </a:rPr>
              <a:t>, 11(2): 263-288.</a:t>
            </a:r>
            <a:endParaRPr lang="zh-CN" altLang="zh-CN" sz="1400" kern="100" dirty="0">
              <a:solidFill>
                <a:srgbClr val="000000"/>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67968503"/>
      </p:ext>
    </p:extLst>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文本框 3">
            <a:extLst>
              <a:ext uri="{FF2B5EF4-FFF2-40B4-BE49-F238E27FC236}">
                <a16:creationId xmlns:a16="http://schemas.microsoft.com/office/drawing/2014/main" id="{F384D38B-4653-2D2C-3250-F353DF1378BC}"/>
              </a:ext>
            </a:extLst>
          </p:cNvPr>
          <p:cNvSpPr txBox="1"/>
          <p:nvPr/>
        </p:nvSpPr>
        <p:spPr>
          <a:xfrm>
            <a:off x="951345" y="64655"/>
            <a:ext cx="10289309" cy="6960047"/>
          </a:xfrm>
          <a:prstGeom prst="rect">
            <a:avLst/>
          </a:prstGeom>
          <a:noFill/>
        </p:spPr>
        <p:txBody>
          <a:bodyPr wrap="square" rtlCol="0">
            <a:spAutoFit/>
          </a:bodyPr>
          <a:lstStyle/>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Kaindl, Klaus. 2004. Multimodality in the Translation of </a:t>
            </a:r>
            <a:r>
              <a:rPr lang="en-US" altLang="zh-CN" sz="1600" kern="100" dirty="0" err="1">
                <a:solidFill>
                  <a:srgbClr val="000000"/>
                </a:solidFill>
                <a:effectLst/>
                <a:latin typeface="Times New Roman" panose="02020603050405020304" pitchFamily="18" charset="0"/>
                <a:ea typeface="宋体" panose="02010600030101010101" pitchFamily="2" charset="-122"/>
              </a:rPr>
              <a:t>Humour</a:t>
            </a:r>
            <a:r>
              <a:rPr lang="en-US" altLang="zh-CN" sz="1600" kern="100" dirty="0">
                <a:solidFill>
                  <a:srgbClr val="000000"/>
                </a:solidFill>
                <a:effectLst/>
                <a:latin typeface="Times New Roman" panose="02020603050405020304" pitchFamily="18" charset="0"/>
                <a:ea typeface="宋体" panose="02010600030101010101" pitchFamily="2" charset="-122"/>
              </a:rPr>
              <a:t> in Comics [J]. </a:t>
            </a:r>
            <a:r>
              <a:rPr lang="en-US" altLang="zh-CN" sz="1600" i="1" kern="100" dirty="0">
                <a:solidFill>
                  <a:srgbClr val="000000"/>
                </a:solidFill>
                <a:effectLst/>
                <a:latin typeface="Times New Roman" panose="02020603050405020304" pitchFamily="18" charset="0"/>
                <a:ea typeface="宋体" panose="02010600030101010101" pitchFamily="2" charset="-122"/>
              </a:rPr>
              <a:t>Perspectives on Multimodality</a:t>
            </a:r>
            <a:r>
              <a:rPr lang="en-US" altLang="zh-CN" sz="1600" kern="100" dirty="0">
                <a:solidFill>
                  <a:srgbClr val="000000"/>
                </a:solidFill>
                <a:effectLst/>
                <a:latin typeface="Times New Roman" panose="02020603050405020304" pitchFamily="18" charset="0"/>
                <a:ea typeface="宋体" panose="02010600030101010101" pitchFamily="2" charset="-122"/>
              </a:rPr>
              <a:t>, 6: 173-209.</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Kress, Gunther, and Theo van Leeuwen. 2001. </a:t>
            </a:r>
            <a:r>
              <a:rPr lang="en-US" altLang="zh-CN" sz="1600" i="1" kern="100" dirty="0">
                <a:solidFill>
                  <a:srgbClr val="000000"/>
                </a:solidFill>
                <a:effectLst/>
                <a:latin typeface="Times New Roman" panose="02020603050405020304" pitchFamily="18" charset="0"/>
                <a:ea typeface="宋体" panose="02010600030101010101" pitchFamily="2" charset="-122"/>
              </a:rPr>
              <a:t>The Modes and Media of Contemporary Communication </a:t>
            </a:r>
            <a:r>
              <a:rPr lang="en-US" altLang="zh-CN" sz="1600" kern="100" dirty="0">
                <a:solidFill>
                  <a:srgbClr val="000000"/>
                </a:solidFill>
                <a:effectLst/>
                <a:latin typeface="Times New Roman" panose="02020603050405020304" pitchFamily="18" charset="0"/>
                <a:ea typeface="宋体" panose="02010600030101010101" pitchFamily="2" charset="-122"/>
              </a:rPr>
              <a:t>[M]. London: Arnold.</a:t>
            </a:r>
            <a:endParaRPr lang="zh-CN" altLang="zh-CN" sz="1400" kern="100" dirty="0">
              <a:solidFill>
                <a:srgbClr val="000000"/>
              </a:solidFill>
              <a:effectLst/>
              <a:latin typeface="Times New Roman" panose="02020603050405020304" pitchFamily="18" charset="0"/>
              <a:ea typeface="宋体" panose="02010600030101010101" pitchFamily="2" charset="-122"/>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endPar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Kress, Gunther., and Theo van Leeuwen. 2002. </a:t>
            </a:r>
            <a:r>
              <a:rPr kumimoji="0" lang="en-US" altLang="zh-CN" sz="16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Colour</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as a Semiotic Mode: Notes for a Grammar of </a:t>
            </a:r>
            <a:r>
              <a:rPr kumimoji="0" lang="en-US" altLang="zh-CN" sz="16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Colour</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[J]. </a:t>
            </a:r>
            <a:r>
              <a:rPr kumimoji="0" lang="en-US" altLang="zh-CN" sz="1600" b="0" i="1"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Visual Communication</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1(3): 343-368. </a:t>
            </a: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Kress, Gunther. 2009. </a:t>
            </a:r>
            <a:r>
              <a:rPr lang="en-US" altLang="zh-CN" sz="1600" i="1" kern="100" dirty="0">
                <a:solidFill>
                  <a:srgbClr val="000000"/>
                </a:solidFill>
                <a:effectLst/>
                <a:latin typeface="Times New Roman" panose="02020603050405020304" pitchFamily="18" charset="0"/>
                <a:ea typeface="宋体" panose="02010600030101010101" pitchFamily="2" charset="-122"/>
              </a:rPr>
              <a:t>Multimodality: A Social Semiotic Approach to Contemporary Communication </a:t>
            </a:r>
            <a:r>
              <a:rPr lang="en-US" altLang="zh-CN" sz="1600" kern="100" dirty="0">
                <a:solidFill>
                  <a:srgbClr val="000000"/>
                </a:solidFill>
                <a:effectLst/>
                <a:latin typeface="Times New Roman" panose="02020603050405020304" pitchFamily="18" charset="0"/>
                <a:ea typeface="宋体" panose="02010600030101010101" pitchFamily="2" charset="-122"/>
              </a:rPr>
              <a:t>[M]. London: Routledge. </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Kress, Gunther, and Theo van Leeuwen. 2020. </a:t>
            </a:r>
            <a:r>
              <a:rPr lang="en-US" altLang="zh-CN" sz="1600" i="1" kern="100" dirty="0">
                <a:solidFill>
                  <a:srgbClr val="000000"/>
                </a:solidFill>
                <a:effectLst/>
                <a:latin typeface="Times New Roman" panose="02020603050405020304" pitchFamily="18" charset="0"/>
                <a:ea typeface="宋体" panose="02010600030101010101" pitchFamily="2" charset="-122"/>
              </a:rPr>
              <a:t>Reading Images: The Grammar of Visual Design </a:t>
            </a:r>
            <a:r>
              <a:rPr lang="en-US" altLang="zh-CN" sz="1600" kern="100" dirty="0">
                <a:solidFill>
                  <a:srgbClr val="000000"/>
                </a:solidFill>
                <a:effectLst/>
                <a:latin typeface="Times New Roman" panose="02020603050405020304" pitchFamily="18" charset="0"/>
                <a:ea typeface="宋体" panose="02010600030101010101" pitchFamily="2" charset="-122"/>
              </a:rPr>
              <a:t>[M]. London: Routledge.</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Ku, Pi-ling. 2000. Tsai </a:t>
            </a:r>
            <a:r>
              <a:rPr lang="en-US" altLang="zh-CN" sz="1600" kern="100" dirty="0" err="1">
                <a:solidFill>
                  <a:srgbClr val="000000"/>
                </a:solidFill>
                <a:effectLst/>
                <a:latin typeface="Times New Roman" panose="02020603050405020304" pitchFamily="18" charset="0"/>
                <a:ea typeface="宋体" panose="02010600030101010101" pitchFamily="2" charset="-122"/>
              </a:rPr>
              <a:t>Chih</a:t>
            </a:r>
            <a:r>
              <a:rPr lang="en-US" altLang="zh-CN" sz="1600" kern="100" dirty="0">
                <a:solidFill>
                  <a:srgbClr val="000000"/>
                </a:solidFill>
                <a:effectLst/>
                <a:latin typeface="Times New Roman" panose="02020603050405020304" pitchFamily="18" charset="0"/>
                <a:ea typeface="宋体" panose="02010600030101010101" pitchFamily="2" charset="-122"/>
              </a:rPr>
              <a:t> Chung: A New Lease of Life for the Chinese Classics [J]. </a:t>
            </a:r>
            <a:r>
              <a:rPr lang="en-US" altLang="zh-CN" sz="1600" i="1" kern="100" dirty="0">
                <a:solidFill>
                  <a:srgbClr val="000000"/>
                </a:solidFill>
                <a:effectLst/>
                <a:latin typeface="Times New Roman" panose="02020603050405020304" pitchFamily="18" charset="0"/>
                <a:ea typeface="宋体" panose="02010600030101010101" pitchFamily="2" charset="-122"/>
              </a:rPr>
              <a:t>International Institute for Asian Studies Newsletter</a:t>
            </a:r>
            <a:r>
              <a:rPr lang="en-US" altLang="zh-CN" sz="1600" kern="100" dirty="0">
                <a:solidFill>
                  <a:srgbClr val="000000"/>
                </a:solidFill>
                <a:effectLst/>
                <a:latin typeface="Times New Roman" panose="02020603050405020304" pitchFamily="18" charset="0"/>
                <a:ea typeface="宋体" panose="02010600030101010101" pitchFamily="2" charset="-122"/>
              </a:rPr>
              <a:t>, 6: 37. </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Laili, Nuri </a:t>
            </a:r>
            <a:r>
              <a:rPr lang="en-US" altLang="zh-CN" sz="1600" kern="100" dirty="0" err="1">
                <a:solidFill>
                  <a:srgbClr val="000000"/>
                </a:solidFill>
                <a:effectLst/>
                <a:latin typeface="Times New Roman" panose="02020603050405020304" pitchFamily="18" charset="0"/>
                <a:ea typeface="宋体" panose="02010600030101010101" pitchFamily="2" charset="-122"/>
              </a:rPr>
              <a:t>Ma'rifatil</a:t>
            </a:r>
            <a:r>
              <a:rPr lang="en-US" altLang="zh-CN" sz="1600" kern="100" dirty="0">
                <a:solidFill>
                  <a:srgbClr val="000000"/>
                </a:solidFill>
                <a:effectLst/>
                <a:latin typeface="Times New Roman" panose="02020603050405020304" pitchFamily="18" charset="0"/>
                <a:ea typeface="宋体" panose="02010600030101010101" pitchFamily="2" charset="-122"/>
              </a:rPr>
              <a:t>. 2008. </a:t>
            </a:r>
            <a:r>
              <a:rPr lang="en-US" altLang="zh-CN" sz="1600" i="1" kern="100" dirty="0">
                <a:solidFill>
                  <a:srgbClr val="000000"/>
                </a:solidFill>
                <a:effectLst/>
                <a:latin typeface="Times New Roman" panose="02020603050405020304" pitchFamily="18" charset="0"/>
                <a:ea typeface="宋体" panose="02010600030101010101" pitchFamily="2" charset="-122"/>
              </a:rPr>
              <a:t>A Study of Onomatopoeia in Avatar Comics</a:t>
            </a:r>
            <a:r>
              <a:rPr lang="en-US" altLang="zh-CN" sz="1600" kern="100" dirty="0">
                <a:solidFill>
                  <a:srgbClr val="000000"/>
                </a:solidFill>
                <a:effectLst/>
                <a:latin typeface="Times New Roman" panose="02020603050405020304" pitchFamily="18" charset="0"/>
                <a:ea typeface="宋体" panose="02010600030101010101" pitchFamily="2" charset="-122"/>
              </a:rPr>
              <a:t> [D]. Universitas Islam Negeri Maulana Malik Ibrahim.</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algn="just">
              <a:lnSpc>
                <a:spcPct val="115000"/>
              </a:lnSpc>
              <a:spcBef>
                <a:spcPts val="240"/>
              </a:spcBef>
            </a:pPr>
            <a:r>
              <a:rPr lang="en-US" altLang="zh-CN" sz="1600" kern="100" dirty="0">
                <a:solidFill>
                  <a:srgbClr val="000000"/>
                </a:solidFill>
                <a:effectLst/>
                <a:latin typeface="Times New Roman" panose="02020603050405020304" pitchFamily="18" charset="0"/>
                <a:ea typeface="宋体" panose="02010600030101010101" pitchFamily="2" charset="-122"/>
              </a:rPr>
              <a:t>Martinec, </a:t>
            </a:r>
            <a:r>
              <a:rPr lang="en-US" altLang="zh-CN" sz="1600" kern="100" dirty="0" err="1">
                <a:solidFill>
                  <a:srgbClr val="000000"/>
                </a:solidFill>
                <a:effectLst/>
                <a:latin typeface="Times New Roman" panose="02020603050405020304" pitchFamily="18" charset="0"/>
                <a:ea typeface="宋体" panose="02010600030101010101" pitchFamily="2" charset="-122"/>
              </a:rPr>
              <a:t>Radan</a:t>
            </a:r>
            <a:r>
              <a:rPr lang="en-US" altLang="zh-CN" sz="1600" kern="100" dirty="0">
                <a:solidFill>
                  <a:srgbClr val="000000"/>
                </a:solidFill>
                <a:effectLst/>
                <a:latin typeface="Times New Roman" panose="02020603050405020304" pitchFamily="18" charset="0"/>
                <a:ea typeface="宋体" panose="02010600030101010101" pitchFamily="2" charset="-122"/>
              </a:rPr>
              <a:t>. 2000. Types of Processes in Action [J]. </a:t>
            </a:r>
            <a:r>
              <a:rPr lang="en-US" altLang="zh-CN" sz="1600" i="1" kern="100" dirty="0" err="1">
                <a:solidFill>
                  <a:srgbClr val="000000"/>
                </a:solidFill>
                <a:effectLst/>
                <a:latin typeface="Times New Roman" panose="02020603050405020304" pitchFamily="18" charset="0"/>
                <a:ea typeface="宋体" panose="02010600030101010101" pitchFamily="2" charset="-122"/>
              </a:rPr>
              <a:t>Semiotica</a:t>
            </a:r>
            <a:r>
              <a:rPr lang="en-US" altLang="zh-CN" sz="1600" kern="100" dirty="0">
                <a:solidFill>
                  <a:srgbClr val="000000"/>
                </a:solidFill>
                <a:effectLst/>
                <a:latin typeface="Times New Roman" panose="02020603050405020304" pitchFamily="18" charset="0"/>
                <a:ea typeface="宋体" panose="02010600030101010101" pitchFamily="2" charset="-122"/>
              </a:rPr>
              <a:t>, 130(3/4): 243-268.</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Martinec, </a:t>
            </a:r>
            <a:r>
              <a:rPr lang="en-US" altLang="zh-CN" sz="1600" kern="100" dirty="0" err="1">
                <a:solidFill>
                  <a:srgbClr val="000000"/>
                </a:solidFill>
                <a:effectLst/>
                <a:latin typeface="Times New Roman" panose="02020603050405020304" pitchFamily="18" charset="0"/>
                <a:ea typeface="宋体" panose="02010600030101010101" pitchFamily="2" charset="-122"/>
              </a:rPr>
              <a:t>Radan</a:t>
            </a:r>
            <a:r>
              <a:rPr lang="en-US" altLang="zh-CN" sz="1600" kern="100" dirty="0">
                <a:solidFill>
                  <a:srgbClr val="000000"/>
                </a:solidFill>
                <a:effectLst/>
                <a:latin typeface="Times New Roman" panose="02020603050405020304" pitchFamily="18" charset="0"/>
                <a:ea typeface="宋体" panose="02010600030101010101" pitchFamily="2" charset="-122"/>
              </a:rPr>
              <a:t>, and Andrew </a:t>
            </a:r>
            <a:r>
              <a:rPr lang="en-US" altLang="zh-CN" sz="1600" kern="100" dirty="0" err="1">
                <a:solidFill>
                  <a:srgbClr val="000000"/>
                </a:solidFill>
                <a:effectLst/>
                <a:latin typeface="Times New Roman" panose="02020603050405020304" pitchFamily="18" charset="0"/>
                <a:ea typeface="宋体" panose="02010600030101010101" pitchFamily="2" charset="-122"/>
              </a:rPr>
              <a:t>Salway</a:t>
            </a:r>
            <a:r>
              <a:rPr lang="en-US" altLang="zh-CN" sz="1600" kern="100" dirty="0">
                <a:solidFill>
                  <a:srgbClr val="000000"/>
                </a:solidFill>
                <a:effectLst/>
                <a:latin typeface="Times New Roman" panose="02020603050405020304" pitchFamily="18" charset="0"/>
                <a:ea typeface="宋体" panose="02010600030101010101" pitchFamily="2" charset="-122"/>
              </a:rPr>
              <a:t>. 2005. A System for Image–Text Relations in New (and Old) Media</a:t>
            </a:r>
            <a:r>
              <a:rPr lang="en-US" altLang="zh-CN" sz="1600" i="1" kern="100" dirty="0">
                <a:solidFill>
                  <a:srgbClr val="000000"/>
                </a:solidFill>
                <a:effectLst/>
                <a:latin typeface="Times New Roman" panose="02020603050405020304" pitchFamily="18" charset="0"/>
                <a:ea typeface="宋体" panose="02010600030101010101" pitchFamily="2" charset="-122"/>
              </a:rPr>
              <a:t> </a:t>
            </a:r>
            <a:r>
              <a:rPr lang="en-US" altLang="zh-CN" sz="1600" kern="100" dirty="0">
                <a:solidFill>
                  <a:srgbClr val="000000"/>
                </a:solidFill>
                <a:effectLst/>
                <a:latin typeface="Times New Roman" panose="02020603050405020304" pitchFamily="18" charset="0"/>
                <a:ea typeface="宋体" panose="02010600030101010101" pitchFamily="2" charset="-122"/>
              </a:rPr>
              <a:t>[J]. </a:t>
            </a:r>
            <a:r>
              <a:rPr lang="en-US" altLang="zh-CN" sz="1600" i="1" kern="100" dirty="0">
                <a:solidFill>
                  <a:srgbClr val="000000"/>
                </a:solidFill>
                <a:effectLst/>
                <a:latin typeface="Times New Roman" panose="02020603050405020304" pitchFamily="18" charset="0"/>
                <a:ea typeface="宋体" panose="02010600030101010101" pitchFamily="2" charset="-122"/>
              </a:rPr>
              <a:t>Visual Communication</a:t>
            </a:r>
            <a:r>
              <a:rPr lang="en-US" altLang="zh-CN" sz="1600" kern="100" dirty="0">
                <a:solidFill>
                  <a:srgbClr val="000000"/>
                </a:solidFill>
                <a:effectLst/>
                <a:latin typeface="Times New Roman" panose="02020603050405020304" pitchFamily="18" charset="0"/>
                <a:ea typeface="宋体" panose="02010600030101010101" pitchFamily="2" charset="-122"/>
              </a:rPr>
              <a:t>, 4(3): 337-371. </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O'toole</a:t>
            </a:r>
            <a:r>
              <a:rPr lang="en-US" altLang="zh-CN" sz="1600" kern="100" dirty="0">
                <a:solidFill>
                  <a:srgbClr val="000000"/>
                </a:solidFill>
                <a:effectLst/>
                <a:latin typeface="Times New Roman" panose="02020603050405020304" pitchFamily="18" charset="0"/>
                <a:ea typeface="宋体" panose="02010600030101010101" pitchFamily="2" charset="-122"/>
              </a:rPr>
              <a:t>, Michael. 1994. </a:t>
            </a:r>
            <a:r>
              <a:rPr lang="en-US" altLang="zh-CN" sz="1600" i="1" kern="100" dirty="0">
                <a:solidFill>
                  <a:srgbClr val="000000"/>
                </a:solidFill>
                <a:effectLst/>
                <a:latin typeface="Times New Roman" panose="02020603050405020304" pitchFamily="18" charset="0"/>
                <a:ea typeface="宋体" panose="02010600030101010101" pitchFamily="2" charset="-122"/>
              </a:rPr>
              <a:t>The Language of Displayed Art </a:t>
            </a:r>
            <a:r>
              <a:rPr lang="en-US" altLang="zh-CN" sz="1600" kern="100" dirty="0">
                <a:solidFill>
                  <a:srgbClr val="000000"/>
                </a:solidFill>
                <a:effectLst/>
                <a:latin typeface="Times New Roman" panose="02020603050405020304" pitchFamily="18" charset="0"/>
                <a:ea typeface="宋体" panose="02010600030101010101" pitchFamily="2" charset="-122"/>
              </a:rPr>
              <a:t>[M]. Vancouver: Fairleigh Dickinson University Press.</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O’Halloran, Kay L. 2004. </a:t>
            </a:r>
            <a:r>
              <a:rPr lang="en-US" altLang="zh-CN" sz="1600" i="1" kern="100" dirty="0">
                <a:solidFill>
                  <a:srgbClr val="000000"/>
                </a:solidFill>
                <a:effectLst/>
                <a:latin typeface="Times New Roman" panose="02020603050405020304" pitchFamily="18" charset="0"/>
                <a:ea typeface="宋体" panose="02010600030101010101" pitchFamily="2" charset="-122"/>
              </a:rPr>
              <a:t>Multimodal Discourse Analysis: Systemic Functional Perspectives</a:t>
            </a:r>
            <a:r>
              <a:rPr lang="en-US" altLang="zh-CN" sz="1600" kern="100" dirty="0">
                <a:solidFill>
                  <a:srgbClr val="000000"/>
                </a:solidFill>
                <a:effectLst/>
                <a:latin typeface="Times New Roman" panose="02020603050405020304" pitchFamily="18" charset="0"/>
                <a:ea typeface="宋体" panose="02010600030101010101" pitchFamily="2" charset="-122"/>
              </a:rPr>
              <a:t> [M]. London: Continuum.</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O'Halloran, Kay L. 2008. </a:t>
            </a:r>
            <a:r>
              <a:rPr lang="en-US" altLang="zh-CN" sz="1600" i="1" kern="100" dirty="0">
                <a:solidFill>
                  <a:srgbClr val="000000"/>
                </a:solidFill>
                <a:effectLst/>
                <a:latin typeface="Times New Roman" panose="02020603050405020304" pitchFamily="18" charset="0"/>
                <a:ea typeface="宋体" panose="02010600030101010101" pitchFamily="2" charset="-122"/>
              </a:rPr>
              <a:t>Mathematical Discourse: Language, Symbolism and Visual Images </a:t>
            </a:r>
            <a:r>
              <a:rPr lang="en-US" altLang="zh-CN" sz="1600" kern="100" dirty="0">
                <a:solidFill>
                  <a:srgbClr val="000000"/>
                </a:solidFill>
                <a:effectLst/>
                <a:latin typeface="Times New Roman" panose="02020603050405020304" pitchFamily="18" charset="0"/>
                <a:ea typeface="宋体" panose="02010600030101010101" pitchFamily="2" charset="-122"/>
              </a:rPr>
              <a:t>[M]. London: A&amp;C Black.</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rPr>
              <a:t>Royce, Terry D. 2007. </a:t>
            </a:r>
            <a:r>
              <a:rPr lang="en-US" altLang="zh-CN" sz="1600" i="1" kern="100" dirty="0">
                <a:solidFill>
                  <a:srgbClr val="000000"/>
                </a:solidFill>
                <a:effectLst/>
                <a:latin typeface="Times New Roman" panose="02020603050405020304" pitchFamily="18" charset="0"/>
                <a:ea typeface="宋体" panose="02010600030101010101" pitchFamily="2" charset="-122"/>
              </a:rPr>
              <a:t>New Directions in the Analysis of Multimodal Discourse </a:t>
            </a:r>
            <a:r>
              <a:rPr lang="en-US" altLang="zh-CN" sz="1600" kern="100" dirty="0">
                <a:solidFill>
                  <a:srgbClr val="000000"/>
                </a:solidFill>
                <a:effectLst/>
                <a:latin typeface="Times New Roman" panose="02020603050405020304" pitchFamily="18" charset="0"/>
                <a:ea typeface="宋体" panose="02010600030101010101" pitchFamily="2" charset="-122"/>
              </a:rPr>
              <a:t>[M]. London: Routledge.</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indent="-304800" algn="just">
              <a:lnSpc>
                <a:spcPct val="115000"/>
              </a:lnSpc>
              <a:spcBef>
                <a:spcPts val="240"/>
              </a:spcBef>
              <a:spcAft>
                <a:spcPts val="0"/>
              </a:spcAft>
            </a:pPr>
            <a:r>
              <a:rPr lang="en-US" altLang="zh-CN" sz="1600" kern="100" dirty="0" err="1">
                <a:solidFill>
                  <a:srgbClr val="000000"/>
                </a:solidFill>
                <a:effectLst/>
                <a:latin typeface="Times New Roman" panose="02020603050405020304" pitchFamily="18" charset="0"/>
                <a:ea typeface="宋体" panose="02010600030101010101" pitchFamily="2" charset="-122"/>
              </a:rPr>
              <a:t>Zanettin</a:t>
            </a:r>
            <a:r>
              <a:rPr lang="en-US" altLang="zh-CN" sz="1600" kern="100" dirty="0">
                <a:solidFill>
                  <a:srgbClr val="000000"/>
                </a:solidFill>
                <a:effectLst/>
                <a:latin typeface="Times New Roman" panose="02020603050405020304" pitchFamily="18" charset="0"/>
                <a:ea typeface="宋体" panose="02010600030101010101" pitchFamily="2" charset="-122"/>
              </a:rPr>
              <a:t>, Federico. 2010. </a:t>
            </a:r>
            <a:r>
              <a:rPr lang="en-US" altLang="zh-CN" sz="1600" kern="100" dirty="0" err="1">
                <a:solidFill>
                  <a:srgbClr val="000000"/>
                </a:solidFill>
                <a:effectLst/>
                <a:latin typeface="Times New Roman" panose="02020603050405020304" pitchFamily="18" charset="0"/>
                <a:ea typeface="宋体" panose="02010600030101010101" pitchFamily="2" charset="-122"/>
              </a:rPr>
              <a:t>Humour</a:t>
            </a:r>
            <a:r>
              <a:rPr lang="en-US" altLang="zh-CN" sz="1600" kern="100" dirty="0">
                <a:solidFill>
                  <a:srgbClr val="000000"/>
                </a:solidFill>
                <a:effectLst/>
                <a:latin typeface="Times New Roman" panose="02020603050405020304" pitchFamily="18" charset="0"/>
                <a:ea typeface="宋体" panose="02010600030101010101" pitchFamily="2" charset="-122"/>
              </a:rPr>
              <a:t> in Translated Cartoons and Comics [J]. </a:t>
            </a:r>
            <a:r>
              <a:rPr lang="en-US" altLang="zh-CN" sz="1600" i="1" kern="100" dirty="0">
                <a:solidFill>
                  <a:srgbClr val="000000"/>
                </a:solidFill>
                <a:effectLst/>
                <a:latin typeface="Times New Roman" panose="02020603050405020304" pitchFamily="18" charset="0"/>
                <a:ea typeface="宋体" panose="02010600030101010101" pitchFamily="2" charset="-122"/>
              </a:rPr>
              <a:t>Translation, </a:t>
            </a:r>
            <a:r>
              <a:rPr lang="en-US" altLang="zh-CN" sz="1600" i="1" kern="100" dirty="0" err="1">
                <a:solidFill>
                  <a:srgbClr val="000000"/>
                </a:solidFill>
                <a:effectLst/>
                <a:latin typeface="Times New Roman" panose="02020603050405020304" pitchFamily="18" charset="0"/>
                <a:ea typeface="宋体" panose="02010600030101010101" pitchFamily="2" charset="-122"/>
              </a:rPr>
              <a:t>Humour</a:t>
            </a:r>
            <a:r>
              <a:rPr lang="en-US" altLang="zh-CN" sz="1600" i="1" kern="100" dirty="0">
                <a:solidFill>
                  <a:srgbClr val="000000"/>
                </a:solidFill>
                <a:effectLst/>
                <a:latin typeface="Times New Roman" panose="02020603050405020304" pitchFamily="18" charset="0"/>
                <a:ea typeface="宋体" panose="02010600030101010101" pitchFamily="2" charset="-122"/>
              </a:rPr>
              <a:t> and the Media</a:t>
            </a:r>
            <a:r>
              <a:rPr lang="en-US" altLang="zh-CN" sz="1600" kern="100" dirty="0">
                <a:solidFill>
                  <a:srgbClr val="000000"/>
                </a:solidFill>
                <a:effectLst/>
                <a:latin typeface="Times New Roman" panose="02020603050405020304" pitchFamily="18" charset="0"/>
                <a:ea typeface="宋体" panose="02010600030101010101" pitchFamily="2" charset="-122"/>
              </a:rPr>
              <a:t>, 2: 34-52.</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algn="just">
              <a:lnSpc>
                <a:spcPct val="115000"/>
              </a:lnSpc>
              <a:spcBef>
                <a:spcPts val="240"/>
              </a:spcBef>
            </a:pPr>
            <a:r>
              <a:rPr lang="en-US" altLang="zh-CN" sz="1600" kern="100" dirty="0" err="1">
                <a:solidFill>
                  <a:srgbClr val="000000"/>
                </a:solidFill>
                <a:effectLst/>
                <a:latin typeface="Times New Roman" panose="02020603050405020304" pitchFamily="18" charset="0"/>
                <a:ea typeface="宋体" panose="02010600030101010101" pitchFamily="2" charset="-122"/>
              </a:rPr>
              <a:t>Zanettin</a:t>
            </a:r>
            <a:r>
              <a:rPr lang="en-US" altLang="zh-CN" sz="1600" kern="100" dirty="0">
                <a:solidFill>
                  <a:srgbClr val="000000"/>
                </a:solidFill>
                <a:effectLst/>
                <a:latin typeface="Times New Roman" panose="02020603050405020304" pitchFamily="18" charset="0"/>
                <a:ea typeface="宋体" panose="02010600030101010101" pitchFamily="2" charset="-122"/>
              </a:rPr>
              <a:t>, Federico. 2015. </a:t>
            </a:r>
            <a:r>
              <a:rPr lang="en-US" altLang="zh-CN" sz="1600" i="1" kern="100" dirty="0">
                <a:solidFill>
                  <a:srgbClr val="000000"/>
                </a:solidFill>
                <a:effectLst/>
                <a:latin typeface="Times New Roman" panose="02020603050405020304" pitchFamily="18" charset="0"/>
                <a:ea typeface="宋体" panose="02010600030101010101" pitchFamily="2" charset="-122"/>
              </a:rPr>
              <a:t>Comics in Translation </a:t>
            </a:r>
            <a:r>
              <a:rPr lang="en-US" altLang="zh-CN" sz="1600" kern="100" dirty="0">
                <a:solidFill>
                  <a:srgbClr val="000000"/>
                </a:solidFill>
                <a:effectLst/>
                <a:latin typeface="Times New Roman" panose="02020603050405020304" pitchFamily="18" charset="0"/>
                <a:ea typeface="宋体" panose="02010600030101010101" pitchFamily="2" charset="-122"/>
              </a:rPr>
              <a:t>[M]</a:t>
            </a:r>
            <a:r>
              <a:rPr lang="en-US" altLang="zh-CN" sz="1600" i="1" kern="100" dirty="0">
                <a:solidFill>
                  <a:srgbClr val="000000"/>
                </a:solidFill>
                <a:effectLst/>
                <a:latin typeface="Times New Roman" panose="02020603050405020304" pitchFamily="18" charset="0"/>
                <a:ea typeface="宋体" panose="02010600030101010101" pitchFamily="2" charset="-122"/>
              </a:rPr>
              <a:t>.</a:t>
            </a:r>
            <a:r>
              <a:rPr lang="en-US" altLang="zh-CN" sz="1600" kern="100" dirty="0">
                <a:solidFill>
                  <a:srgbClr val="000000"/>
                </a:solidFill>
                <a:effectLst/>
                <a:latin typeface="Times New Roman" panose="02020603050405020304" pitchFamily="18" charset="0"/>
                <a:ea typeface="宋体" panose="02010600030101010101" pitchFamily="2" charset="-122"/>
              </a:rPr>
              <a:t> New York: Routledge.</a:t>
            </a:r>
            <a:endParaRPr lang="zh-CN" altLang="zh-CN" sz="1600" kern="100" dirty="0">
              <a:solidFill>
                <a:srgbClr val="000000"/>
              </a:solidFill>
              <a:effectLst/>
              <a:latin typeface="Times New Roman" panose="02020603050405020304" pitchFamily="18" charset="0"/>
              <a:ea typeface="宋体" panose="02010600030101010101" pitchFamily="2" charset="-122"/>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endParaRPr kumimoji="0" lang="zh-CN" altLang="zh-CN" sz="14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38943782"/>
      </p:ext>
    </p:extLst>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a:extLst>
              <a:ext uri="{FF2B5EF4-FFF2-40B4-BE49-F238E27FC236}">
                <a16:creationId xmlns:a16="http://schemas.microsoft.com/office/drawing/2014/main" id="{3E31F449-EBE9-00F8-2989-1F0643241E8C}"/>
              </a:ext>
            </a:extLst>
          </p:cNvPr>
          <p:cNvSpPr txBox="1"/>
          <p:nvPr/>
        </p:nvSpPr>
        <p:spPr>
          <a:xfrm>
            <a:off x="668781" y="544111"/>
            <a:ext cx="10991272" cy="6476517"/>
          </a:xfrm>
          <a:prstGeom prst="rect">
            <a:avLst/>
          </a:prstGeom>
          <a:noFill/>
        </p:spPr>
        <p:txBody>
          <a:bodyPr wrap="square" rtlCol="0">
            <a:spAutoFit/>
          </a:bodyPr>
          <a:lstStyle/>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陈静</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刘云虹</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漫画版</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黄帝内经</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养生图典</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汉英</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与中医药典籍多模态翻译</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北京第二外国语学院学报</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,2021,43(03):103-115.</a:t>
            </a: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胡壮麟</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社会符号学研究中的多模态化</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语言教学与研究</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,2007,(01):1-10.</a:t>
            </a: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冯德正</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张德禄</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Kay O'Halloran.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多模态语篇分析的进展与前沿</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当代语言学</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2014, 16(01): 88-99+126.</a:t>
            </a: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冯德正</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赵秀凤</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多模态转喻与图像语篇意义建构</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 </a:t>
            </a: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外语学刊</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2017, (06): 8-13.</a:t>
            </a: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韩子满</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黄广哲</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典籍的“演译”：典籍漫画《庄子说》的人物多模态改写</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外语研究</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,2023,40(01):81-86.</a:t>
            </a:r>
            <a:endPar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黄广哲</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朱琳</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以蔡志忠典籍漫画《孔子说》在美国的译介谈符际翻译</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上海翻译</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,2018,(01):84-89+95</a:t>
            </a:r>
            <a:r>
              <a:rPr kumimoji="0" lang="en-US" altLang="zh-CN" sz="14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梁萍</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朱斌</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中国传统文化典籍的多模态翻译探索——以蔡志忠《老子说》</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中英文对照版</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为例</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菏泽学院学报</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,2023,45(01):137-142.</a:t>
            </a:r>
            <a:endPar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李战子</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多模式话语的社会符号学分析</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外语研究</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,2003,(05):1-8+80.</a:t>
            </a:r>
            <a:endPar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商祥艳</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多模态视角下的漫画翻译研究</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中国石油大学</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北京</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),2022.</a:t>
            </a:r>
            <a:endPar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孙毅</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多模态话语意义建构——以</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2011</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西安世界园艺博览会会徽为基点</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外语与外语教学</a:t>
            </a:r>
            <a:r>
              <a:rPr kumimoji="0" lang="en-US" altLang="zh-CN" sz="16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,2012,(01):44-47.</a:t>
            </a:r>
          </a:p>
          <a:p>
            <a:pPr marL="304800" indent="-304800" algn="just">
              <a:lnSpc>
                <a:spcPct val="115000"/>
              </a:lnSpc>
              <a:spcBef>
                <a:spcPts val="310"/>
              </a:spcBef>
              <a:spcAft>
                <a:spcPts val="0"/>
              </a:spcAft>
            </a:pPr>
            <a:r>
              <a:rPr lang="zh-CN" altLang="zh-CN" sz="1600" kern="100" dirty="0">
                <a:solidFill>
                  <a:srgbClr val="000000"/>
                </a:solidFill>
                <a:latin typeface="Times New Roman" panose="02020603050405020304" pitchFamily="18" charset="0"/>
                <a:ea typeface="宋体" panose="02010600030101010101" pitchFamily="2" charset="-122"/>
              </a:rPr>
              <a:t>王建开</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经典与当代的融合</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中国文学作品英译的通俗形态</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当代外语研究</a:t>
            </a:r>
            <a:r>
              <a:rPr lang="en-US" altLang="zh-CN" sz="1600" kern="100" dirty="0">
                <a:solidFill>
                  <a:srgbClr val="000000"/>
                </a:solidFill>
                <a:latin typeface="Times New Roman" panose="02020603050405020304" pitchFamily="18" charset="0"/>
                <a:ea typeface="宋体" panose="02010600030101010101" pitchFamily="2" charset="-122"/>
              </a:rPr>
              <a:t>,2014(10):49-54+78.</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indent="-304800" algn="just">
              <a:lnSpc>
                <a:spcPct val="115000"/>
              </a:lnSpc>
              <a:spcBef>
                <a:spcPts val="310"/>
              </a:spcBef>
              <a:spcAft>
                <a:spcPts val="0"/>
              </a:spcAft>
            </a:pPr>
            <a:r>
              <a:rPr lang="zh-CN" altLang="zh-CN" sz="1600" kern="100" dirty="0">
                <a:solidFill>
                  <a:srgbClr val="000000"/>
                </a:solidFill>
                <a:latin typeface="Times New Roman" panose="02020603050405020304" pitchFamily="18" charset="0"/>
                <a:ea typeface="宋体" panose="02010600030101010101" pitchFamily="2" charset="-122"/>
              </a:rPr>
              <a:t>王振华</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瞿桃</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多模态语篇的评价研究</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过去、现在与未来</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外国语</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上海外国语大学学报</a:t>
            </a:r>
            <a:r>
              <a:rPr lang="en-US" altLang="zh-CN" sz="1600" kern="100" dirty="0">
                <a:solidFill>
                  <a:srgbClr val="000000"/>
                </a:solidFill>
                <a:latin typeface="Times New Roman" panose="02020603050405020304" pitchFamily="18" charset="0"/>
                <a:ea typeface="宋体" panose="02010600030101010101" pitchFamily="2" charset="-122"/>
              </a:rPr>
              <a:t>),2020,43(06):42-51.</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indent="-304800" algn="just">
              <a:lnSpc>
                <a:spcPct val="115000"/>
              </a:lnSpc>
              <a:spcBef>
                <a:spcPts val="310"/>
              </a:spcBef>
              <a:spcAft>
                <a:spcPts val="0"/>
              </a:spcAft>
            </a:pPr>
            <a:r>
              <a:rPr lang="zh-CN" altLang="zh-CN" sz="1600" kern="100" dirty="0">
                <a:solidFill>
                  <a:srgbClr val="000000"/>
                </a:solidFill>
                <a:latin typeface="Times New Roman" panose="02020603050405020304" pitchFamily="18" charset="0"/>
                <a:ea typeface="宋体" panose="02010600030101010101" pitchFamily="2" charset="-122"/>
              </a:rPr>
              <a:t>杨向荣</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黄培</a:t>
            </a:r>
            <a:r>
              <a:rPr lang="en-US" altLang="zh-CN" sz="1600" kern="100" dirty="0">
                <a:solidFill>
                  <a:srgbClr val="000000"/>
                </a:solidFill>
                <a:latin typeface="Times New Roman" panose="02020603050405020304" pitchFamily="18" charset="0"/>
                <a:ea typeface="宋体" panose="02010600030101010101" pitchFamily="2" charset="-122"/>
              </a:rPr>
              <a:t>.2014.</a:t>
            </a:r>
            <a:r>
              <a:rPr lang="zh-CN" altLang="zh-CN" sz="1600" kern="100" dirty="0">
                <a:solidFill>
                  <a:srgbClr val="000000"/>
                </a:solidFill>
                <a:latin typeface="Times New Roman" panose="02020603050405020304" pitchFamily="18" charset="0"/>
                <a:ea typeface="宋体" panose="02010600030101010101" pitchFamily="2" charset="-122"/>
              </a:rPr>
              <a:t>图像叙事中的语图互文——基于蔡志忠漫画艺术的图文关系探究</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百家评论</a:t>
            </a:r>
            <a:r>
              <a:rPr lang="en-US" altLang="zh-CN" sz="1600" kern="100" dirty="0">
                <a:solidFill>
                  <a:srgbClr val="000000"/>
                </a:solidFill>
                <a:latin typeface="Times New Roman" panose="02020603050405020304" pitchFamily="18" charset="0"/>
                <a:ea typeface="宋体" panose="02010600030101010101" pitchFamily="2" charset="-122"/>
              </a:rPr>
              <a:t>, (04):83-90.</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indent="-304800" algn="just">
              <a:lnSpc>
                <a:spcPct val="115000"/>
              </a:lnSpc>
              <a:spcBef>
                <a:spcPts val="310"/>
              </a:spcBef>
              <a:spcAft>
                <a:spcPts val="0"/>
              </a:spcAft>
            </a:pPr>
            <a:r>
              <a:rPr lang="zh-CN" altLang="zh-CN" sz="1600" kern="100" dirty="0">
                <a:solidFill>
                  <a:srgbClr val="000000"/>
                </a:solidFill>
                <a:latin typeface="Times New Roman" panose="02020603050405020304" pitchFamily="18" charset="0"/>
                <a:ea typeface="宋体" panose="02010600030101010101" pitchFamily="2" charset="-122"/>
              </a:rPr>
              <a:t>杨纯芝</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覃俐俐</a:t>
            </a:r>
            <a:r>
              <a:rPr lang="en-US" altLang="zh-CN" sz="1600" kern="100" dirty="0">
                <a:solidFill>
                  <a:srgbClr val="000000"/>
                </a:solidFill>
                <a:latin typeface="Times New Roman" panose="02020603050405020304" pitchFamily="18" charset="0"/>
                <a:ea typeface="宋体" panose="02010600030101010101" pitchFamily="2" charset="-122"/>
              </a:rPr>
              <a:t>. </a:t>
            </a:r>
            <a:r>
              <a:rPr lang="zh-CN" altLang="zh-CN" sz="1600" kern="100" dirty="0">
                <a:solidFill>
                  <a:srgbClr val="000000"/>
                </a:solidFill>
                <a:latin typeface="Times New Roman" panose="02020603050405020304" pitchFamily="18" charset="0"/>
                <a:ea typeface="宋体" panose="02010600030101010101" pitchFamily="2" charset="-122"/>
              </a:rPr>
              <a:t>漫画翻译研究</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回顾与前瞻</a:t>
            </a:r>
            <a:r>
              <a:rPr lang="en-US" altLang="zh-CN" sz="1600" kern="100" dirty="0">
                <a:solidFill>
                  <a:srgbClr val="000000"/>
                </a:solidFill>
                <a:latin typeface="Times New Roman" panose="02020603050405020304" pitchFamily="18" charset="0"/>
                <a:ea typeface="宋体" panose="02010600030101010101" pitchFamily="2" charset="-122"/>
              </a:rPr>
              <a:t>[C]//</a:t>
            </a:r>
            <a:r>
              <a:rPr lang="zh-CN" altLang="zh-CN" sz="1600" kern="100" dirty="0">
                <a:solidFill>
                  <a:srgbClr val="000000"/>
                </a:solidFill>
                <a:latin typeface="Times New Roman" panose="02020603050405020304" pitchFamily="18" charset="0"/>
                <a:ea typeface="宋体" panose="02010600030101010101" pitchFamily="2" charset="-122"/>
              </a:rPr>
              <a:t>四川西部文献编译研究中心</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外语教育与翻译发展创新研究</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第七卷）</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四川师范大学电子出版社</a:t>
            </a:r>
            <a:r>
              <a:rPr lang="en-US" altLang="zh-CN" sz="1600" kern="100" dirty="0">
                <a:solidFill>
                  <a:srgbClr val="000000"/>
                </a:solidFill>
                <a:latin typeface="Times New Roman" panose="02020603050405020304" pitchFamily="18" charset="0"/>
                <a:ea typeface="宋体" panose="02010600030101010101" pitchFamily="2" charset="-122"/>
              </a:rPr>
              <a:t>,2018:6.</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zh-CN" sz="1600" kern="100" dirty="0">
                <a:solidFill>
                  <a:srgbClr val="000000"/>
                </a:solidFill>
                <a:latin typeface="Times New Roman" panose="02020603050405020304" pitchFamily="18" charset="0"/>
                <a:ea typeface="宋体" panose="02010600030101010101" pitchFamily="2" charset="-122"/>
              </a:rPr>
              <a:t>喻旭东</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陈琳</a:t>
            </a:r>
            <a:r>
              <a:rPr lang="en-US" altLang="zh-CN" sz="1600" kern="100" dirty="0">
                <a:solidFill>
                  <a:srgbClr val="000000"/>
                </a:solidFill>
                <a:latin typeface="Times New Roman" panose="02020603050405020304" pitchFamily="18" charset="0"/>
                <a:ea typeface="宋体" panose="02010600030101010101" pitchFamily="2" charset="-122"/>
              </a:rPr>
              <a:t>.2019.</a:t>
            </a:r>
            <a:r>
              <a:rPr lang="zh-CN" altLang="zh-CN" sz="1600" kern="100" dirty="0">
                <a:solidFill>
                  <a:srgbClr val="000000"/>
                </a:solidFill>
                <a:latin typeface="Times New Roman" panose="02020603050405020304" pitchFamily="18" charset="0"/>
                <a:ea typeface="宋体" panose="02010600030101010101" pitchFamily="2" charset="-122"/>
              </a:rPr>
              <a:t>儿童绘本突出语相翻译研究</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成都师范学院学报</a:t>
            </a:r>
            <a:r>
              <a:rPr lang="en-US" altLang="zh-CN" sz="1600" kern="100" dirty="0">
                <a:solidFill>
                  <a:srgbClr val="000000"/>
                </a:solidFill>
                <a:latin typeface="Times New Roman" panose="02020603050405020304" pitchFamily="18" charset="0"/>
                <a:ea typeface="宋体" panose="02010600030101010101" pitchFamily="2" charset="-122"/>
              </a:rPr>
              <a:t>,35(3):101-107.</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zh-CN" sz="1600" kern="100" dirty="0">
                <a:solidFill>
                  <a:srgbClr val="000000"/>
                </a:solidFill>
                <a:latin typeface="Times New Roman" panose="02020603050405020304" pitchFamily="18" charset="0"/>
                <a:ea typeface="宋体" panose="02010600030101010101" pitchFamily="2" charset="-122"/>
              </a:rPr>
              <a:t>朱永生</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多模态话语分析的理论基础与研究方法</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外语学刊</a:t>
            </a:r>
            <a:r>
              <a:rPr lang="en-US" altLang="zh-CN" sz="1600" kern="100" dirty="0">
                <a:solidFill>
                  <a:srgbClr val="000000"/>
                </a:solidFill>
                <a:latin typeface="Times New Roman" panose="02020603050405020304" pitchFamily="18" charset="0"/>
                <a:ea typeface="宋体" panose="02010600030101010101" pitchFamily="2" charset="-122"/>
              </a:rPr>
              <a:t>,2007,(5):82-86.</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zh-CN" sz="1600" kern="100" dirty="0">
                <a:solidFill>
                  <a:srgbClr val="000000"/>
                </a:solidFill>
                <a:latin typeface="Times New Roman" panose="02020603050405020304" pitchFamily="18" charset="0"/>
                <a:ea typeface="宋体" panose="02010600030101010101" pitchFamily="2" charset="-122"/>
              </a:rPr>
              <a:t>张德禄</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多模态话语分析综合理论框架探索</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中国外语</a:t>
            </a:r>
            <a:r>
              <a:rPr lang="en-US" altLang="zh-CN" sz="1600" kern="100" dirty="0">
                <a:solidFill>
                  <a:srgbClr val="000000"/>
                </a:solidFill>
                <a:latin typeface="Times New Roman" panose="02020603050405020304" pitchFamily="18" charset="0"/>
                <a:ea typeface="宋体" panose="02010600030101010101" pitchFamily="2" charset="-122"/>
              </a:rPr>
              <a:t>,2009,6(01):24-30.</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endParaRPr kumimoji="0" lang="zh-CN" altLang="zh-CN" sz="12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862747278"/>
      </p:ext>
    </p:extLst>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AAFB2-3020-0F1E-89F7-EC27AEE663EF}"/>
            </a:ext>
          </a:extLst>
        </p:cNvPr>
        <p:cNvGrpSpPr/>
        <p:nvPr/>
      </p:nvGrpSpPr>
      <p:grpSpPr>
        <a:xfrm>
          <a:off x="0" y="0"/>
          <a:ext cx="0" cy="0"/>
          <a:chOff x="0" y="0"/>
          <a:chExt cx="0" cy="0"/>
        </a:xfrm>
      </p:grpSpPr>
      <p:sp>
        <p:nvSpPr>
          <p:cNvPr id="16" name="等腰三角形 47">
            <a:extLst>
              <a:ext uri="{FF2B5EF4-FFF2-40B4-BE49-F238E27FC236}">
                <a16:creationId xmlns:a16="http://schemas.microsoft.com/office/drawing/2014/main" id="{BA865441-9AE4-822B-1E74-1BC3A89746F1}"/>
              </a:ext>
            </a:extLst>
          </p:cNvPr>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a:extLst>
              <a:ext uri="{FF2B5EF4-FFF2-40B4-BE49-F238E27FC236}">
                <a16:creationId xmlns:a16="http://schemas.microsoft.com/office/drawing/2014/main" id="{480E7D73-AE94-9268-FDDB-D9C53AA1DA06}"/>
              </a:ext>
            </a:extLst>
          </p:cNvPr>
          <p:cNvSpPr txBox="1"/>
          <p:nvPr/>
        </p:nvSpPr>
        <p:spPr>
          <a:xfrm>
            <a:off x="932873" y="688747"/>
            <a:ext cx="10991272" cy="1807546"/>
          </a:xfrm>
          <a:prstGeom prst="rect">
            <a:avLst/>
          </a:prstGeom>
          <a:noFill/>
        </p:spPr>
        <p:txBody>
          <a:bodyPr wrap="square" rtlCol="0">
            <a:spAutoFit/>
          </a:bodyPr>
          <a:lstStyle/>
          <a:p>
            <a:pPr marL="304800" marR="0" lvl="0" indent="-304800" algn="just" defTabSz="914400" rtl="0" eaLnBrk="1" fontAlgn="auto" latinLnBrk="0" hangingPunct="1">
              <a:lnSpc>
                <a:spcPct val="115000"/>
              </a:lnSpc>
              <a:spcBef>
                <a:spcPts val="240"/>
              </a:spcBef>
              <a:spcAft>
                <a:spcPts val="0"/>
              </a:spcAft>
              <a:buClrTx/>
              <a:buSzTx/>
              <a:buFontTx/>
              <a:buNone/>
              <a:tabLst/>
              <a:defRPr/>
            </a:pPr>
            <a:r>
              <a:rPr lang="en-US" altLang="zh-CN" sz="1600" kern="100" dirty="0">
                <a:solidFill>
                  <a:srgbClr val="000000"/>
                </a:solidFill>
                <a:latin typeface="Times New Roman" panose="02020603050405020304" pitchFamily="18" charset="0"/>
                <a:ea typeface="宋体" panose="02010600030101010101" pitchFamily="2" charset="-122"/>
              </a:rPr>
              <a:t>.</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zh-CN" sz="1600" kern="100" dirty="0">
                <a:solidFill>
                  <a:srgbClr val="000000"/>
                </a:solidFill>
                <a:latin typeface="Times New Roman" panose="02020603050405020304" pitchFamily="18" charset="0"/>
                <a:ea typeface="宋体" panose="02010600030101010101" pitchFamily="2" charset="-122"/>
              </a:rPr>
              <a:t>张曼</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浅析对外汉语教学的多模态模式</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现代交际</a:t>
            </a:r>
            <a:r>
              <a:rPr lang="en-US" altLang="zh-CN" sz="1600" kern="100" dirty="0">
                <a:solidFill>
                  <a:srgbClr val="000000"/>
                </a:solidFill>
                <a:latin typeface="Times New Roman" panose="02020603050405020304" pitchFamily="18" charset="0"/>
                <a:ea typeface="宋体" panose="02010600030101010101" pitchFamily="2" charset="-122"/>
              </a:rPr>
              <a:t>,2011,(11):217+216.</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zh-CN" sz="1600" kern="100" dirty="0">
                <a:solidFill>
                  <a:srgbClr val="000000"/>
                </a:solidFill>
                <a:latin typeface="Times New Roman" panose="02020603050405020304" pitchFamily="18" charset="0"/>
                <a:ea typeface="宋体" panose="02010600030101010101" pitchFamily="2" charset="-122"/>
              </a:rPr>
              <a:t>周宪</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“读图时代”的图文“战争”</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文学评论</a:t>
            </a:r>
            <a:r>
              <a:rPr lang="en-US" altLang="zh-CN" sz="1600" kern="100" dirty="0">
                <a:solidFill>
                  <a:srgbClr val="000000"/>
                </a:solidFill>
                <a:latin typeface="Times New Roman" panose="02020603050405020304" pitchFamily="18" charset="0"/>
                <a:ea typeface="宋体" panose="02010600030101010101" pitchFamily="2" charset="-122"/>
              </a:rPr>
              <a:t>,2005,(06):140-148.</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indent="-304800" algn="just">
              <a:lnSpc>
                <a:spcPct val="115000"/>
              </a:lnSpc>
              <a:spcBef>
                <a:spcPts val="310"/>
              </a:spcBef>
              <a:spcAft>
                <a:spcPts val="0"/>
              </a:spcAft>
            </a:pPr>
            <a:r>
              <a:rPr lang="zh-CN" altLang="zh-CN" sz="1600" kern="100" dirty="0">
                <a:solidFill>
                  <a:srgbClr val="000000"/>
                </a:solidFill>
                <a:latin typeface="Times New Roman" panose="02020603050405020304" pitchFamily="18" charset="0"/>
                <a:ea typeface="宋体" panose="02010600030101010101" pitchFamily="2" charset="-122"/>
              </a:rPr>
              <a:t>曾方本</a:t>
            </a:r>
            <a:r>
              <a:rPr lang="en-US" altLang="zh-CN" sz="1600" kern="100" dirty="0">
                <a:solidFill>
                  <a:srgbClr val="000000"/>
                </a:solidFill>
                <a:latin typeface="Times New Roman" panose="02020603050405020304" pitchFamily="18" charset="0"/>
                <a:ea typeface="宋体" panose="02010600030101010101" pitchFamily="2" charset="-122"/>
              </a:rPr>
              <a:t>.</a:t>
            </a:r>
            <a:r>
              <a:rPr lang="zh-CN" altLang="zh-CN" sz="1600" kern="100" dirty="0">
                <a:solidFill>
                  <a:srgbClr val="000000"/>
                </a:solidFill>
                <a:latin typeface="Times New Roman" panose="02020603050405020304" pitchFamily="18" charset="0"/>
                <a:ea typeface="宋体" panose="02010600030101010101" pitchFamily="2" charset="-122"/>
              </a:rPr>
              <a:t>多模态语篇里图文关系的解构及其模式研究——关于图文关系的三种理论评述</a:t>
            </a:r>
            <a:r>
              <a:rPr lang="en-US" altLang="zh-CN" sz="1600" kern="100" dirty="0">
                <a:solidFill>
                  <a:srgbClr val="000000"/>
                </a:solidFill>
                <a:latin typeface="Times New Roman" panose="02020603050405020304" pitchFamily="18" charset="0"/>
                <a:ea typeface="宋体" panose="02010600030101010101" pitchFamily="2" charset="-122"/>
              </a:rPr>
              <a:t>[J].</a:t>
            </a:r>
            <a:r>
              <a:rPr lang="zh-CN" altLang="zh-CN" sz="1600" kern="100" dirty="0">
                <a:solidFill>
                  <a:srgbClr val="000000"/>
                </a:solidFill>
                <a:latin typeface="Times New Roman" panose="02020603050405020304" pitchFamily="18" charset="0"/>
                <a:ea typeface="宋体" panose="02010600030101010101" pitchFamily="2" charset="-122"/>
              </a:rPr>
              <a:t>外国语文</a:t>
            </a:r>
            <a:r>
              <a:rPr lang="en-US" altLang="zh-CN" sz="1600" kern="100" dirty="0">
                <a:solidFill>
                  <a:srgbClr val="000000"/>
                </a:solidFill>
                <a:latin typeface="Times New Roman" panose="02020603050405020304" pitchFamily="18" charset="0"/>
                <a:ea typeface="宋体" panose="02010600030101010101" pitchFamily="2" charset="-122"/>
              </a:rPr>
              <a:t>,2010,26(04):60-64.</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228600" algn="just"/>
            <a:r>
              <a:rPr lang="en-US" altLang="zh-CN" sz="1600" kern="100" dirty="0">
                <a:solidFill>
                  <a:srgbClr val="000000"/>
                </a:solidFill>
                <a:latin typeface="Times New Roman" panose="02020603050405020304" pitchFamily="18" charset="0"/>
                <a:ea typeface="宋体" panose="02010600030101010101" pitchFamily="2" charset="-122"/>
              </a:rPr>
              <a:t> </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endParaRPr kumimoji="0" lang="zh-CN" altLang="zh-CN" sz="12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026860895"/>
      </p:ext>
    </p:extLst>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CB79-913E-5CF2-CE71-DD3C23CB0AC3}"/>
            </a:ext>
          </a:extLst>
        </p:cNvPr>
        <p:cNvGrpSpPr/>
        <p:nvPr/>
      </p:nvGrpSpPr>
      <p:grpSpPr>
        <a:xfrm>
          <a:off x="0" y="0"/>
          <a:ext cx="0" cy="0"/>
          <a:chOff x="0" y="0"/>
          <a:chExt cx="0" cy="0"/>
        </a:xfrm>
      </p:grpSpPr>
      <p:sp>
        <p:nvSpPr>
          <p:cNvPr id="16" name="等腰三角形 47">
            <a:extLst>
              <a:ext uri="{FF2B5EF4-FFF2-40B4-BE49-F238E27FC236}">
                <a16:creationId xmlns:a16="http://schemas.microsoft.com/office/drawing/2014/main" id="{2B8F12C7-E215-D1DB-B587-CE572367BCE5}"/>
              </a:ext>
            </a:extLst>
          </p:cNvPr>
          <p:cNvSpPr>
            <a:spLocks noChangeArrowheads="1"/>
          </p:cNvSpPr>
          <p:nvPr/>
        </p:nvSpPr>
        <p:spPr bwMode="auto">
          <a:xfrm rot="5400000">
            <a:off x="-53049" y="209721"/>
            <a:ext cx="774879" cy="668780"/>
          </a:xfrm>
          <a:prstGeom prst="triangle">
            <a:avLst>
              <a:gd name="adj" fmla="val 50000"/>
            </a:avLst>
          </a:prstGeom>
          <a:solidFill>
            <a:schemeClr val="accent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a:extLst>
              <a:ext uri="{FF2B5EF4-FFF2-40B4-BE49-F238E27FC236}">
                <a16:creationId xmlns:a16="http://schemas.microsoft.com/office/drawing/2014/main" id="{4B9AF105-9164-A02E-D6AF-43998D2B5A76}"/>
              </a:ext>
            </a:extLst>
          </p:cNvPr>
          <p:cNvSpPr txBox="1"/>
          <p:nvPr/>
        </p:nvSpPr>
        <p:spPr>
          <a:xfrm>
            <a:off x="3833091" y="2138856"/>
            <a:ext cx="6714836" cy="2155334"/>
          </a:xfrm>
          <a:prstGeom prst="rect">
            <a:avLst/>
          </a:prstGeom>
          <a:noFill/>
        </p:spPr>
        <p:txBody>
          <a:bodyPr wrap="square" rtlCol="0">
            <a:spAutoFit/>
          </a:bodyPr>
          <a:lstStyle/>
          <a:p>
            <a:pPr marL="304800" marR="0" lvl="0" indent="-304800" algn="just" defTabSz="914400" rtl="0" eaLnBrk="1" fontAlgn="auto" latinLnBrk="0" hangingPunct="1">
              <a:lnSpc>
                <a:spcPct val="115000"/>
              </a:lnSpc>
              <a:spcBef>
                <a:spcPts val="240"/>
              </a:spcBef>
              <a:spcAft>
                <a:spcPts val="0"/>
              </a:spcAft>
              <a:buClrTx/>
              <a:buSzTx/>
              <a:buFontTx/>
              <a:buNone/>
              <a:tabLst/>
              <a:defRPr/>
            </a:pPr>
            <a:r>
              <a:rPr lang="en-US" altLang="zh-CN" sz="1600" kern="100" dirty="0">
                <a:solidFill>
                  <a:srgbClr val="000000"/>
                </a:solidFill>
                <a:latin typeface="Times New Roman" panose="02020603050405020304" pitchFamily="18" charset="0"/>
                <a:ea typeface="宋体" panose="02010600030101010101" pitchFamily="2" charset="-122"/>
              </a:rPr>
              <a:t>.</a:t>
            </a:r>
            <a:endParaRPr lang="zh-CN" altLang="zh-CN" sz="1600" kern="100" dirty="0">
              <a:solidFill>
                <a:srgbClr val="000000"/>
              </a:solidFill>
              <a:latin typeface="Times New Roman" panose="02020603050405020304" pitchFamily="18" charset="0"/>
              <a:ea typeface="宋体" panose="02010600030101010101" pitchFamily="2" charset="-122"/>
            </a:endParaRPr>
          </a:p>
          <a:p>
            <a:pPr algn="just">
              <a:lnSpc>
                <a:spcPct val="115000"/>
              </a:lnSpc>
              <a:spcBef>
                <a:spcPts val="310"/>
              </a:spcBef>
            </a:pPr>
            <a:r>
              <a:rPr lang="zh-CN" altLang="en-US" sz="7200" kern="100" dirty="0">
                <a:solidFill>
                  <a:srgbClr val="000000"/>
                </a:solidFill>
                <a:latin typeface="Times New Roman" panose="02020603050405020304" pitchFamily="18" charset="0"/>
                <a:ea typeface="宋体" panose="02010600030101010101" pitchFamily="2" charset="-122"/>
              </a:rPr>
              <a:t>谢谢聆听！</a:t>
            </a:r>
            <a:endParaRPr lang="zh-CN" altLang="zh-CN" sz="7200" kern="100" dirty="0">
              <a:solidFill>
                <a:srgbClr val="000000"/>
              </a:solidFill>
              <a:latin typeface="Times New Roman" panose="02020603050405020304" pitchFamily="18" charset="0"/>
              <a:ea typeface="宋体" panose="02010600030101010101" pitchFamily="2" charset="-122"/>
            </a:endParaRPr>
          </a:p>
          <a:p>
            <a:pPr marL="228600" algn="just"/>
            <a:r>
              <a:rPr lang="en-US" altLang="zh-CN" sz="1600" kern="100" dirty="0">
                <a:solidFill>
                  <a:srgbClr val="000000"/>
                </a:solidFill>
                <a:latin typeface="Times New Roman" panose="02020603050405020304" pitchFamily="18" charset="0"/>
                <a:ea typeface="宋体" panose="02010600030101010101" pitchFamily="2" charset="-122"/>
              </a:rPr>
              <a:t> </a:t>
            </a:r>
            <a:endParaRPr lang="zh-CN" altLang="zh-CN" sz="1600" kern="100" dirty="0">
              <a:solidFill>
                <a:srgbClr val="000000"/>
              </a:solidFill>
              <a:latin typeface="Times New Roman" panose="02020603050405020304" pitchFamily="18" charset="0"/>
              <a:ea typeface="宋体" panose="02010600030101010101" pitchFamily="2" charset="-122"/>
            </a:endParaRPr>
          </a:p>
          <a:p>
            <a:pPr marL="304800" marR="0" lvl="0" indent="-304800" algn="just" defTabSz="914400" rtl="0" eaLnBrk="1" fontAlgn="auto" latinLnBrk="0" hangingPunct="1">
              <a:lnSpc>
                <a:spcPct val="115000"/>
              </a:lnSpc>
              <a:spcBef>
                <a:spcPts val="240"/>
              </a:spcBef>
              <a:spcAft>
                <a:spcPts val="0"/>
              </a:spcAft>
              <a:buClrTx/>
              <a:buSzTx/>
              <a:buFontTx/>
              <a:buNone/>
              <a:tabLst/>
              <a:defRPr/>
            </a:pPr>
            <a:endParaRPr kumimoji="0" lang="zh-CN" altLang="zh-CN" sz="12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67992079"/>
      </p:ext>
    </p:extLst>
  </p:cSld>
  <p:clrMapOvr>
    <a:masterClrMapping/>
  </p:clrMapOvr>
  <p:transition spd="slow">
    <p:cove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E4MTE4ZmEzYTFiZGMyY2Y2NjA4NTk4ZTBkMmZhYTgifQ=="/>
</p:tagLst>
</file>

<file path=ppt/theme/theme1.xml><?xml version="1.0" encoding="utf-8"?>
<a:theme xmlns:a="http://schemas.openxmlformats.org/drawingml/2006/main" name="第一PPT，www.1ppt.com">
  <a:themeElements>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节标题">
  <a:themeElements>
    <a:clrScheme name="Office">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2.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3.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4.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5.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6.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7.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8.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ppt/theme/themeOverride9.xml><?xml version="1.0" encoding="utf-8"?>
<a:themeOverride xmlns:a="http://schemas.openxmlformats.org/drawingml/2006/main">
  <a:clrScheme name="自定义 2">
    <a:dk1>
      <a:srgbClr val="000000"/>
    </a:dk1>
    <a:lt1>
      <a:srgbClr val="FFFFFF"/>
    </a:lt1>
    <a:dk2>
      <a:srgbClr val="3F3F3F"/>
    </a:dk2>
    <a:lt2>
      <a:srgbClr val="E3DED1"/>
    </a:lt2>
    <a:accent1>
      <a:srgbClr val="15499A"/>
    </a:accent1>
    <a:accent2>
      <a:srgbClr val="7F7F7F"/>
    </a:accent2>
    <a:accent3>
      <a:srgbClr val="414456"/>
    </a:accent3>
    <a:accent4>
      <a:srgbClr val="444455"/>
    </a:accent4>
    <a:accent5>
      <a:srgbClr val="444455"/>
    </a:accent5>
    <a:accent6>
      <a:srgbClr val="7F7F7F"/>
    </a:accent6>
    <a:hlink>
      <a:srgbClr val="002060"/>
    </a:hlink>
    <a:folHlink>
      <a:srgbClr val="B26B02"/>
    </a:folHlink>
  </a:clrScheme>
</a:themeOverride>
</file>

<file path=docProps/app.xml><?xml version="1.0" encoding="utf-8"?>
<Properties xmlns="http://schemas.openxmlformats.org/officeDocument/2006/extended-properties" xmlns:vt="http://schemas.openxmlformats.org/officeDocument/2006/docPropsVTypes">
  <TotalTime>9802</TotalTime>
  <Words>4363</Words>
  <Application>Microsoft Office PowerPoint</Application>
  <PresentationFormat>宽屏</PresentationFormat>
  <Paragraphs>314</Paragraphs>
  <Slides>37</Slides>
  <Notes>37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37</vt:i4>
      </vt:variant>
    </vt:vector>
  </HeadingPairs>
  <TitlesOfParts>
    <vt:vector size="48" baseType="lpstr">
      <vt:lpstr>等线</vt:lpstr>
      <vt:lpstr>华文行楷</vt:lpstr>
      <vt:lpstr>微软雅黑</vt:lpstr>
      <vt:lpstr>幼圆</vt:lpstr>
      <vt:lpstr>Arial</vt:lpstr>
      <vt:lpstr>Arial Black</vt:lpstr>
      <vt:lpstr>Calibri</vt:lpstr>
      <vt:lpstr>Times New Roman</vt:lpstr>
      <vt:lpstr>Wingdings 2</vt:lpstr>
      <vt:lpstr>第一PPT，www.1ppt.com</vt:lpstr>
      <vt:lpstr>节标题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雨翔 徐</cp:lastModifiedBy>
  <cp:revision>46</cp:revision>
  <dcterms:created xsi:type="dcterms:W3CDTF">2020-10-03T12:01:00Z</dcterms:created>
  <dcterms:modified xsi:type="dcterms:W3CDTF">2025-05-21T12:37:59Z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4E046D964F3F451DA5DD0267338B585B_12</vt:lpwstr>
  </property>
  <property fmtid="{D5CDD505-2E9C-101B-9397-08002B2CF9AE}" pid="3" name="KSOProductBuildVer">
    <vt:lpwstr>2052-12.1.0.15990</vt:lpwstr>
  </property>
</Properties>
</file>