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6" r:id="rId11"/>
    <p:sldId id="267" r:id="rId12"/>
    <p:sldId id="265"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6858000" type="screen4x3"/>
  <p:notesSz cx="6858000" cy="9144000"/>
  <p:custDataLst>
    <p:tags r:id="rId30"/>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7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howGuides="1">
      <p:cViewPr varScale="1">
        <p:scale>
          <a:sx n="72" d="100"/>
          <a:sy n="72" d="100"/>
        </p:scale>
        <p:origin x="932" y="64"/>
      </p:cViewPr>
      <p:guideLst>
        <p:guide orient="horz" pos="207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宋体" panose="02010600030101010101" pitchFamily="2" charset="-122"/>
                <a:cs typeface="+mn-cs"/>
              </a:rPr>
              <a:t>2026/9/19</a:t>
            </a:fld>
            <a:endParaRPr lang="zh-CN" altLang="en-US" strike="noStrike" noProof="1"/>
          </a:p>
        </p:txBody>
      </p:sp>
      <p:sp>
        <p:nvSpPr>
          <p:cNvPr id="2052"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9BE5B5-CE4E-1680-C8F3-10236471A4CC}"/>
              </a:ext>
            </a:extLst>
          </p:cNvPr>
          <p:cNvSpPr>
            <a:spLocks noGrp="1"/>
          </p:cNvSpPr>
          <p:nvPr>
            <p:ph type="ctrTitle"/>
          </p:nvPr>
        </p:nvSpPr>
        <p:spPr/>
        <p:txBody>
          <a:bodyPr/>
          <a:lstStyle/>
          <a:p>
            <a:r>
              <a:rPr lang="en-US" altLang="zh-CN" sz="2800" dirty="0"/>
              <a:t>News-editing in the AI age</a:t>
            </a:r>
            <a:endParaRPr lang="zh-CN" altLang="en-US" sz="2800" dirty="0"/>
          </a:p>
        </p:txBody>
      </p:sp>
      <p:sp>
        <p:nvSpPr>
          <p:cNvPr id="3" name="副标题 2">
            <a:extLst>
              <a:ext uri="{FF2B5EF4-FFF2-40B4-BE49-F238E27FC236}">
                <a16:creationId xmlns:a16="http://schemas.microsoft.com/office/drawing/2014/main" id="{DE54DE42-F902-13AC-E903-B285CEFB6691}"/>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947003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B742CF-5672-62FD-8FAE-CFB4D9992BFF}"/>
              </a:ext>
            </a:extLst>
          </p:cNvPr>
          <p:cNvSpPr>
            <a:spLocks noGrp="1"/>
          </p:cNvSpPr>
          <p:nvPr>
            <p:ph type="title"/>
          </p:nvPr>
        </p:nvSpPr>
        <p:spPr/>
        <p:txBody>
          <a:bodyPr/>
          <a:lstStyle/>
          <a:p>
            <a:br>
              <a:rPr lang="en-US" altLang="zh-CN" sz="2400" dirty="0"/>
            </a:br>
            <a:r>
              <a:rPr lang="en-US" altLang="zh-CN" sz="2400" dirty="0"/>
              <a:t>Why News Trans-editing?</a:t>
            </a:r>
            <a:br>
              <a:rPr lang="zh-CN" altLang="en-US" sz="2400" dirty="0"/>
            </a:br>
            <a:endParaRPr lang="zh-CN" altLang="en-US" sz="2400" dirty="0"/>
          </a:p>
        </p:txBody>
      </p:sp>
      <p:sp>
        <p:nvSpPr>
          <p:cNvPr id="3" name="内容占位符 2">
            <a:extLst>
              <a:ext uri="{FF2B5EF4-FFF2-40B4-BE49-F238E27FC236}">
                <a16:creationId xmlns:a16="http://schemas.microsoft.com/office/drawing/2014/main" id="{3A7B2175-8AB4-BD7E-8E13-EC49B48AFFF1}"/>
              </a:ext>
            </a:extLst>
          </p:cNvPr>
          <p:cNvSpPr>
            <a:spLocks noGrp="1"/>
          </p:cNvSpPr>
          <p:nvPr>
            <p:ph idx="1"/>
          </p:nvPr>
        </p:nvSpPr>
        <p:spPr>
          <a:xfrm>
            <a:off x="457200" y="1340768"/>
            <a:ext cx="8229600" cy="4785395"/>
          </a:xfrm>
        </p:spPr>
        <p:txBody>
          <a:bodyPr/>
          <a:lstStyle/>
          <a:p>
            <a:pPr marL="0" indent="0" algn="just">
              <a:lnSpc>
                <a:spcPts val="2600"/>
              </a:lnSpc>
              <a:buNone/>
            </a:pPr>
            <a:r>
              <a:rPr lang="en-US" altLang="zh-CN" sz="2000" dirty="0"/>
              <a:t>News is </a:t>
            </a:r>
            <a:r>
              <a:rPr lang="en-US" altLang="zh-CN" sz="2000" dirty="0">
                <a:solidFill>
                  <a:srgbClr val="FF0000"/>
                </a:solidFill>
              </a:rPr>
              <a:t>especially suitable </a:t>
            </a:r>
            <a:r>
              <a:rPr lang="en-US" altLang="zh-CN" sz="2000" dirty="0"/>
              <a:t>for AI-integrated translation teaching.</a:t>
            </a:r>
          </a:p>
          <a:p>
            <a:pPr marL="0" indent="0" algn="just">
              <a:lnSpc>
                <a:spcPts val="2600"/>
              </a:lnSpc>
              <a:buNone/>
            </a:pPr>
            <a:r>
              <a:rPr lang="en-US" altLang="zh-CN" sz="2000" dirty="0"/>
              <a:t>News texts have clear </a:t>
            </a:r>
            <a:r>
              <a:rPr lang="en-US" altLang="zh-CN" sz="2000" dirty="0">
                <a:solidFill>
                  <a:srgbClr val="FF0000"/>
                </a:solidFill>
              </a:rPr>
              <a:t>constraints</a:t>
            </a:r>
            <a:r>
              <a:rPr lang="en-US" altLang="zh-CN" sz="2000" dirty="0"/>
              <a:t>. </a:t>
            </a:r>
          </a:p>
          <a:p>
            <a:pPr marL="0" indent="0" algn="just">
              <a:lnSpc>
                <a:spcPts val="2600"/>
              </a:lnSpc>
              <a:buNone/>
            </a:pPr>
            <a:r>
              <a:rPr lang="en-US" altLang="zh-CN" sz="2000" dirty="0" err="1">
                <a:solidFill>
                  <a:srgbClr val="FF0000"/>
                </a:solidFill>
              </a:rPr>
              <a:t>Ttime</a:t>
            </a:r>
            <a:r>
              <a:rPr lang="en-US" altLang="zh-CN" sz="2000" dirty="0">
                <a:solidFill>
                  <a:srgbClr val="FF0000"/>
                </a:solidFill>
              </a:rPr>
              <a:t> </a:t>
            </a:r>
            <a:r>
              <a:rPr lang="en-US" altLang="zh-CN" sz="2000" dirty="0"/>
              <a:t>Pressure: News has to be processed quickly.</a:t>
            </a:r>
            <a:r>
              <a:rPr lang="zh-CN" altLang="en-US" sz="2000" dirty="0"/>
              <a:t> </a:t>
            </a:r>
            <a:endParaRPr lang="en-US" altLang="zh-CN" sz="2000" dirty="0"/>
          </a:p>
          <a:p>
            <a:pPr marL="0" indent="0" algn="just">
              <a:lnSpc>
                <a:spcPts val="2600"/>
              </a:lnSpc>
              <a:buNone/>
            </a:pPr>
            <a:r>
              <a:rPr lang="en-US" altLang="zh-CN" sz="2000" dirty="0">
                <a:solidFill>
                  <a:srgbClr val="FF0000"/>
                </a:solidFill>
              </a:rPr>
              <a:t>Factual </a:t>
            </a:r>
            <a:r>
              <a:rPr lang="en-US" altLang="zh-CN" sz="2000" dirty="0"/>
              <a:t>density: Names, numbers, dates, places and titles must be handled accurately.</a:t>
            </a:r>
          </a:p>
          <a:p>
            <a:pPr marL="0" indent="0" algn="just">
              <a:lnSpc>
                <a:spcPts val="2600"/>
              </a:lnSpc>
              <a:buNone/>
            </a:pPr>
            <a:r>
              <a:rPr lang="en-US" altLang="zh-CN" sz="2000" dirty="0">
                <a:solidFill>
                  <a:srgbClr val="FF0000"/>
                </a:solidFill>
              </a:rPr>
              <a:t>Genre</a:t>
            </a:r>
            <a:r>
              <a:rPr lang="en-US" altLang="zh-CN" sz="2000" dirty="0"/>
              <a:t> conventions: Headlines, leads, attribution and paragraphing follow recognizable patterns. </a:t>
            </a:r>
          </a:p>
          <a:p>
            <a:pPr marL="0" indent="0" algn="just">
              <a:lnSpc>
                <a:spcPts val="2600"/>
              </a:lnSpc>
              <a:buNone/>
            </a:pPr>
            <a:r>
              <a:rPr lang="en-US" altLang="zh-CN" sz="2000" dirty="0"/>
              <a:t>Audience orientation: Different readers require different degrees of background and explanation. </a:t>
            </a:r>
          </a:p>
          <a:p>
            <a:pPr marL="0" indent="0" algn="just">
              <a:lnSpc>
                <a:spcPts val="2600"/>
              </a:lnSpc>
              <a:buNone/>
            </a:pPr>
            <a:r>
              <a:rPr lang="en-US" altLang="zh-CN" sz="2000" dirty="0"/>
              <a:t>Ethical sensitivity: Bias, legal risk, attribution and verification are central.</a:t>
            </a:r>
          </a:p>
          <a:p>
            <a:pPr marL="0" indent="0" algn="just">
              <a:lnSpc>
                <a:spcPts val="2600"/>
              </a:lnSpc>
              <a:buNone/>
            </a:pPr>
            <a:r>
              <a:rPr lang="en-US" altLang="zh-CN" sz="2000" dirty="0"/>
              <a:t>Platform </a:t>
            </a:r>
            <a:r>
              <a:rPr lang="en-US" altLang="zh-CN" sz="2000" dirty="0">
                <a:solidFill>
                  <a:srgbClr val="FF0000"/>
                </a:solidFill>
              </a:rPr>
              <a:t>variation</a:t>
            </a:r>
            <a:r>
              <a:rPr lang="en-US" altLang="zh-CN" sz="2000" dirty="0"/>
              <a:t>: A story can become a headline, push alert, social teaser, short news item or explainer. </a:t>
            </a:r>
          </a:p>
        </p:txBody>
      </p:sp>
    </p:spTree>
    <p:extLst>
      <p:ext uri="{BB962C8B-B14F-4D97-AF65-F5344CB8AC3E}">
        <p14:creationId xmlns:p14="http://schemas.microsoft.com/office/powerpoint/2010/main" val="2808685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1F830C-F864-1603-365D-35800A76DA2D}"/>
              </a:ext>
            </a:extLst>
          </p:cNvPr>
          <p:cNvSpPr>
            <a:spLocks noGrp="1"/>
          </p:cNvSpPr>
          <p:nvPr>
            <p:ph type="title"/>
          </p:nvPr>
        </p:nvSpPr>
        <p:spPr/>
        <p:txBody>
          <a:bodyPr/>
          <a:lstStyle/>
          <a:p>
            <a:r>
              <a:rPr lang="en-US" altLang="zh-CN" sz="2400" dirty="0"/>
              <a:t>The AI-Age Teaching Challenge</a:t>
            </a:r>
            <a:endParaRPr lang="zh-CN" altLang="en-US" sz="2400" dirty="0"/>
          </a:p>
        </p:txBody>
      </p:sp>
      <p:sp>
        <p:nvSpPr>
          <p:cNvPr id="3" name="内容占位符 2">
            <a:extLst>
              <a:ext uri="{FF2B5EF4-FFF2-40B4-BE49-F238E27FC236}">
                <a16:creationId xmlns:a16="http://schemas.microsoft.com/office/drawing/2014/main" id="{2FB3B38A-9923-3788-B2D9-187DF1B8916B}"/>
              </a:ext>
            </a:extLst>
          </p:cNvPr>
          <p:cNvSpPr>
            <a:spLocks noGrp="1"/>
          </p:cNvSpPr>
          <p:nvPr>
            <p:ph idx="1"/>
          </p:nvPr>
        </p:nvSpPr>
        <p:spPr>
          <a:xfrm>
            <a:off x="457200" y="1600200"/>
            <a:ext cx="7355160" cy="4525963"/>
          </a:xfrm>
        </p:spPr>
        <p:txBody>
          <a:bodyPr/>
          <a:lstStyle/>
          <a:p>
            <a:pPr marL="0" indent="0">
              <a:lnSpc>
                <a:spcPts val="2600"/>
              </a:lnSpc>
              <a:buNone/>
            </a:pPr>
            <a:r>
              <a:rPr lang="en-US" altLang="zh-CN" sz="2000" dirty="0"/>
              <a:t>Before AI </a:t>
            </a:r>
          </a:p>
          <a:p>
            <a:pPr marL="0" indent="0">
              <a:lnSpc>
                <a:spcPts val="2600"/>
              </a:lnSpc>
              <a:buNone/>
            </a:pPr>
            <a:endParaRPr lang="en-US" altLang="zh-CN" sz="2000" dirty="0"/>
          </a:p>
          <a:p>
            <a:pPr marL="0" indent="0">
              <a:lnSpc>
                <a:spcPts val="2600"/>
              </a:lnSpc>
              <a:buNone/>
            </a:pPr>
            <a:r>
              <a:rPr lang="en-US" altLang="zh-CN" sz="2000" dirty="0"/>
              <a:t>Students often struggle with: </a:t>
            </a:r>
          </a:p>
          <a:p>
            <a:pPr marL="0" indent="0">
              <a:lnSpc>
                <a:spcPts val="2600"/>
              </a:lnSpc>
              <a:buNone/>
            </a:pPr>
            <a:r>
              <a:rPr lang="en-US" altLang="zh-CN" sz="2000" dirty="0"/>
              <a:t>Comprehension</a:t>
            </a:r>
          </a:p>
          <a:p>
            <a:pPr marL="0" indent="0">
              <a:lnSpc>
                <a:spcPts val="2600"/>
              </a:lnSpc>
              <a:buNone/>
            </a:pPr>
            <a:r>
              <a:rPr lang="en-US" altLang="zh-CN" sz="2000" dirty="0"/>
              <a:t>Vocabulary</a:t>
            </a:r>
          </a:p>
          <a:p>
            <a:pPr marL="0" indent="0">
              <a:lnSpc>
                <a:spcPts val="2600"/>
              </a:lnSpc>
              <a:buNone/>
            </a:pPr>
            <a:r>
              <a:rPr lang="en-US" altLang="zh-CN" sz="2000" dirty="0"/>
              <a:t>Sentence structure</a:t>
            </a:r>
          </a:p>
          <a:p>
            <a:pPr marL="0" indent="0">
              <a:lnSpc>
                <a:spcPts val="2600"/>
              </a:lnSpc>
              <a:buNone/>
            </a:pPr>
            <a:r>
              <a:rPr lang="en-US" altLang="zh-CN" sz="2000" dirty="0"/>
              <a:t>Idiomatic expression</a:t>
            </a:r>
          </a:p>
          <a:p>
            <a:pPr marL="0" indent="0">
              <a:lnSpc>
                <a:spcPts val="2600"/>
              </a:lnSpc>
              <a:buNone/>
            </a:pPr>
            <a:r>
              <a:rPr lang="en-US" altLang="zh-CN" sz="2000" dirty="0"/>
              <a:t>Target-language fluency</a:t>
            </a:r>
            <a:endParaRPr lang="zh-CN" altLang="en-US" sz="2000" dirty="0"/>
          </a:p>
        </p:txBody>
      </p:sp>
    </p:spTree>
    <p:extLst>
      <p:ext uri="{BB962C8B-B14F-4D97-AF65-F5344CB8AC3E}">
        <p14:creationId xmlns:p14="http://schemas.microsoft.com/office/powerpoint/2010/main" val="130348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FE28B837-2D97-0223-9964-5C239B2F9781}"/>
              </a:ext>
            </a:extLst>
          </p:cNvPr>
          <p:cNvSpPr txBox="1">
            <a:spLocks noGrp="1"/>
          </p:cNvSpPr>
          <p:nvPr>
            <p:ph idx="1"/>
          </p:nvPr>
        </p:nvSpPr>
        <p:spPr>
          <a:xfrm>
            <a:off x="539552" y="476672"/>
            <a:ext cx="8229600" cy="5509200"/>
          </a:xfrm>
          <a:prstGeom prst="rect">
            <a:avLst/>
          </a:prstGeom>
          <a:noFill/>
        </p:spPr>
        <p:txBody>
          <a:bodyPr wrap="square" rtlCol="0">
            <a:spAutoFit/>
          </a:bodyPr>
          <a:lstStyle/>
          <a:p>
            <a:pPr marL="0" indent="0">
              <a:buNone/>
            </a:pPr>
            <a:endParaRPr lang="en-US" altLang="zh-CN" sz="2000" dirty="0"/>
          </a:p>
          <a:p>
            <a:pPr marL="0" indent="0">
              <a:buNone/>
            </a:pPr>
            <a:r>
              <a:rPr lang="en-US" altLang="zh-CN" sz="2000" dirty="0"/>
              <a:t>With AI</a:t>
            </a:r>
          </a:p>
          <a:p>
            <a:pPr marL="0" indent="0">
              <a:buNone/>
            </a:pPr>
            <a:r>
              <a:rPr lang="en-US" altLang="zh-CN" sz="2000" dirty="0"/>
              <a:t>The visible language problem is partly reduced But deeper editorial problems become more important: </a:t>
            </a:r>
          </a:p>
          <a:p>
            <a:pPr marL="0" indent="0">
              <a:buNone/>
            </a:pPr>
            <a:r>
              <a:rPr lang="en-US" altLang="zh-CN" sz="2000" dirty="0"/>
              <a:t>What is the news angle?</a:t>
            </a:r>
          </a:p>
          <a:p>
            <a:pPr marL="0" indent="0">
              <a:buNone/>
            </a:pPr>
            <a:r>
              <a:rPr lang="en-US" altLang="zh-CN" sz="2000" dirty="0"/>
              <a:t>What should be foregrounded? </a:t>
            </a:r>
          </a:p>
          <a:p>
            <a:pPr marL="0" indent="0">
              <a:buNone/>
            </a:pPr>
            <a:r>
              <a:rPr lang="en-US" altLang="zh-CN" sz="2000" dirty="0"/>
              <a:t>What must be verified? </a:t>
            </a:r>
          </a:p>
          <a:p>
            <a:pPr marL="0" indent="0">
              <a:buNone/>
            </a:pPr>
            <a:r>
              <a:rPr lang="en-US" altLang="zh-CN" sz="2000" dirty="0"/>
              <a:t>What can be omitted? </a:t>
            </a:r>
          </a:p>
          <a:p>
            <a:pPr marL="0" indent="0">
              <a:buNone/>
            </a:pPr>
            <a:r>
              <a:rPr lang="en-US" altLang="zh-CN" sz="2000" dirty="0"/>
              <a:t>What needs localization?</a:t>
            </a:r>
          </a:p>
          <a:p>
            <a:pPr marL="0" indent="0">
              <a:buNone/>
            </a:pPr>
            <a:r>
              <a:rPr lang="en-US" altLang="zh-CN" sz="2000" dirty="0"/>
              <a:t>What should not be “improved” by AI?</a:t>
            </a:r>
          </a:p>
          <a:p>
            <a:pPr marL="0" indent="0">
              <a:buNone/>
            </a:pPr>
            <a:r>
              <a:rPr lang="en-US" altLang="zh-CN" sz="2000" dirty="0"/>
              <a:t>What legal or ethical caution is required? </a:t>
            </a:r>
          </a:p>
          <a:p>
            <a:pPr marL="0" indent="0">
              <a:buNone/>
            </a:pPr>
            <a:endParaRPr lang="en-US" altLang="zh-CN" sz="2000" dirty="0"/>
          </a:p>
          <a:p>
            <a:pPr marL="0" indent="0">
              <a:buNone/>
            </a:pPr>
            <a:r>
              <a:rPr lang="en-US" altLang="zh-CN" sz="2000" dirty="0"/>
              <a:t>Pedagogical shift:</a:t>
            </a:r>
            <a:r>
              <a:rPr lang="zh-CN" altLang="en-US" sz="2000" dirty="0"/>
              <a:t> </a:t>
            </a:r>
            <a:endParaRPr lang="en-US" altLang="zh-CN" sz="2000" dirty="0"/>
          </a:p>
          <a:p>
            <a:pPr marL="0" indent="0">
              <a:buNone/>
            </a:pPr>
            <a:r>
              <a:rPr lang="en-US" altLang="zh-CN" sz="2000" dirty="0"/>
              <a:t>From correcting language errors to evaluating editorial decisions. </a:t>
            </a:r>
          </a:p>
          <a:p>
            <a:pPr marL="0" indent="0">
              <a:buNone/>
            </a:pPr>
            <a:endParaRPr lang="en-US" altLang="zh-CN" sz="2000" dirty="0"/>
          </a:p>
        </p:txBody>
      </p:sp>
    </p:spTree>
    <p:extLst>
      <p:ext uri="{BB962C8B-B14F-4D97-AF65-F5344CB8AC3E}">
        <p14:creationId xmlns:p14="http://schemas.microsoft.com/office/powerpoint/2010/main" val="792620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EBBB34-EE02-1033-25D7-4095CBD586C3}"/>
              </a:ext>
            </a:extLst>
          </p:cNvPr>
          <p:cNvSpPr>
            <a:spLocks noGrp="1"/>
          </p:cNvSpPr>
          <p:nvPr>
            <p:ph type="title"/>
          </p:nvPr>
        </p:nvSpPr>
        <p:spPr/>
        <p:txBody>
          <a:bodyPr/>
          <a:lstStyle/>
          <a:p>
            <a:r>
              <a:rPr lang="en-US" altLang="zh-CN" sz="2400" dirty="0"/>
              <a:t>News Worthiness</a:t>
            </a:r>
            <a:endParaRPr lang="zh-CN" altLang="en-US" sz="2400" dirty="0"/>
          </a:p>
        </p:txBody>
      </p:sp>
      <p:sp>
        <p:nvSpPr>
          <p:cNvPr id="3" name="内容占位符 2">
            <a:extLst>
              <a:ext uri="{FF2B5EF4-FFF2-40B4-BE49-F238E27FC236}">
                <a16:creationId xmlns:a16="http://schemas.microsoft.com/office/drawing/2014/main" id="{0869F702-8D11-7025-B516-EE59403846C6}"/>
              </a:ext>
            </a:extLst>
          </p:cNvPr>
          <p:cNvSpPr>
            <a:spLocks noGrp="1"/>
          </p:cNvSpPr>
          <p:nvPr>
            <p:ph idx="1"/>
          </p:nvPr>
        </p:nvSpPr>
        <p:spPr/>
        <p:txBody>
          <a:bodyPr/>
          <a:lstStyle/>
          <a:p>
            <a:pPr marL="0" indent="0">
              <a:lnSpc>
                <a:spcPts val="2600"/>
              </a:lnSpc>
              <a:buNone/>
            </a:pPr>
            <a:r>
              <a:rPr lang="en-US" altLang="zh-CN" sz="2000" dirty="0"/>
              <a:t>News Values: Timeliness, Impact, Proximity/ relevance, Oddity, Conflict, Celebrity, Human Interest/ emotion. </a:t>
            </a:r>
          </a:p>
          <a:p>
            <a:pPr marL="0" indent="0">
              <a:lnSpc>
                <a:spcPts val="2600"/>
              </a:lnSpc>
              <a:buNone/>
            </a:pPr>
            <a:endParaRPr lang="en-US" altLang="zh-CN" sz="2000" dirty="0"/>
          </a:p>
          <a:p>
            <a:pPr marL="0" indent="0">
              <a:lnSpc>
                <a:spcPts val="2600"/>
              </a:lnSpc>
              <a:buNone/>
            </a:pPr>
            <a:endParaRPr lang="en-US" altLang="zh-CN" sz="2000" dirty="0"/>
          </a:p>
          <a:p>
            <a:pPr marL="0" indent="0">
              <a:lnSpc>
                <a:spcPts val="2600"/>
              </a:lnSpc>
              <a:buNone/>
            </a:pPr>
            <a:r>
              <a:rPr lang="en-US" altLang="zh-CN" sz="2000" dirty="0"/>
              <a:t>These news values change with translation and therefore need to be reconsidered in news trans-editing. </a:t>
            </a:r>
            <a:endParaRPr lang="zh-CN" altLang="en-US" sz="2000" dirty="0"/>
          </a:p>
        </p:txBody>
      </p:sp>
    </p:spTree>
    <p:extLst>
      <p:ext uri="{BB962C8B-B14F-4D97-AF65-F5344CB8AC3E}">
        <p14:creationId xmlns:p14="http://schemas.microsoft.com/office/powerpoint/2010/main" val="3403446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C04CAA-ABA2-ABA7-BA96-2BB64A9FC20D}"/>
              </a:ext>
            </a:extLst>
          </p:cNvPr>
          <p:cNvSpPr>
            <a:spLocks noGrp="1"/>
          </p:cNvSpPr>
          <p:nvPr>
            <p:ph type="title"/>
          </p:nvPr>
        </p:nvSpPr>
        <p:spPr/>
        <p:txBody>
          <a:bodyPr/>
          <a:lstStyle/>
          <a:p>
            <a:r>
              <a:rPr lang="en-US" altLang="zh-CN" sz="2400" dirty="0"/>
              <a:t>Key Dimensions of News Trans-editing</a:t>
            </a:r>
            <a:endParaRPr lang="zh-CN" altLang="en-US" sz="2400" dirty="0"/>
          </a:p>
        </p:txBody>
      </p:sp>
      <p:sp>
        <p:nvSpPr>
          <p:cNvPr id="3" name="内容占位符 2">
            <a:extLst>
              <a:ext uri="{FF2B5EF4-FFF2-40B4-BE49-F238E27FC236}">
                <a16:creationId xmlns:a16="http://schemas.microsoft.com/office/drawing/2014/main" id="{B18D9F0D-B528-809D-4655-531755F97084}"/>
              </a:ext>
            </a:extLst>
          </p:cNvPr>
          <p:cNvSpPr>
            <a:spLocks noGrp="1"/>
          </p:cNvSpPr>
          <p:nvPr>
            <p:ph idx="1"/>
          </p:nvPr>
        </p:nvSpPr>
        <p:spPr/>
        <p:txBody>
          <a:bodyPr/>
          <a:lstStyle/>
          <a:p>
            <a:pPr marL="0" indent="0">
              <a:lnSpc>
                <a:spcPts val="2600"/>
              </a:lnSpc>
              <a:buNone/>
            </a:pPr>
            <a:r>
              <a:rPr lang="en-US" altLang="zh-CN" sz="2000" dirty="0">
                <a:solidFill>
                  <a:srgbClr val="FF0000"/>
                </a:solidFill>
              </a:rPr>
              <a:t>Language</a:t>
            </a:r>
            <a:r>
              <a:rPr lang="en-US" altLang="zh-CN" sz="2000" dirty="0"/>
              <a:t> Adaptation: clarity and fluency</a:t>
            </a:r>
          </a:p>
          <a:p>
            <a:pPr marL="0" indent="0">
              <a:lnSpc>
                <a:spcPts val="2600"/>
              </a:lnSpc>
              <a:buNone/>
            </a:pPr>
            <a:r>
              <a:rPr lang="en-US" altLang="zh-CN" sz="2000" dirty="0">
                <a:solidFill>
                  <a:srgbClr val="FF0000"/>
                </a:solidFill>
              </a:rPr>
              <a:t>Contextualizing </a:t>
            </a:r>
            <a:r>
              <a:rPr lang="en-US" altLang="zh-CN" sz="2000" dirty="0"/>
              <a:t>News: background info etc.</a:t>
            </a:r>
          </a:p>
          <a:p>
            <a:pPr marL="0" indent="0">
              <a:lnSpc>
                <a:spcPts val="2600"/>
              </a:lnSpc>
              <a:buNone/>
            </a:pPr>
            <a:r>
              <a:rPr lang="en-US" altLang="zh-CN" sz="2000" dirty="0"/>
              <a:t>Maintaining </a:t>
            </a:r>
            <a:r>
              <a:rPr lang="en-US" altLang="zh-CN" sz="2000" dirty="0">
                <a:solidFill>
                  <a:srgbClr val="FF0000"/>
                </a:solidFill>
              </a:rPr>
              <a:t>Journalistic Integrity</a:t>
            </a:r>
            <a:r>
              <a:rPr lang="en-US" altLang="zh-CN" sz="2000" dirty="0"/>
              <a:t>: accuracy, impartiality</a:t>
            </a:r>
          </a:p>
          <a:p>
            <a:pPr marL="0" indent="0">
              <a:lnSpc>
                <a:spcPts val="2600"/>
              </a:lnSpc>
              <a:buNone/>
            </a:pPr>
            <a:r>
              <a:rPr lang="en-US" altLang="zh-CN" sz="2000" dirty="0"/>
              <a:t>Tailoring for </a:t>
            </a:r>
            <a:r>
              <a:rPr lang="en-US" altLang="zh-CN" sz="2000" dirty="0">
                <a:solidFill>
                  <a:srgbClr val="FF0000"/>
                </a:solidFill>
              </a:rPr>
              <a:t>Local Relevance</a:t>
            </a:r>
            <a:r>
              <a:rPr lang="en-US" altLang="zh-CN" sz="2000" dirty="0"/>
              <a:t>: reader’s interest &amp; concerns</a:t>
            </a:r>
          </a:p>
          <a:p>
            <a:pPr marL="0" indent="0">
              <a:lnSpc>
                <a:spcPts val="2600"/>
              </a:lnSpc>
              <a:buNone/>
            </a:pPr>
            <a:r>
              <a:rPr lang="en-US" altLang="zh-CN" sz="2000" dirty="0"/>
              <a:t>Adapting </a:t>
            </a:r>
            <a:r>
              <a:rPr lang="en-US" altLang="zh-CN" sz="2000" dirty="0">
                <a:solidFill>
                  <a:srgbClr val="FF0000"/>
                </a:solidFill>
              </a:rPr>
              <a:t>News-writing style</a:t>
            </a:r>
          </a:p>
          <a:p>
            <a:pPr marL="0" indent="0">
              <a:lnSpc>
                <a:spcPts val="2600"/>
              </a:lnSpc>
              <a:buNone/>
            </a:pPr>
            <a:r>
              <a:rPr lang="en-US" altLang="zh-CN" sz="2000" dirty="0"/>
              <a:t>Ensuring </a:t>
            </a:r>
            <a:r>
              <a:rPr lang="en-US" altLang="zh-CN" sz="2000" dirty="0">
                <a:solidFill>
                  <a:srgbClr val="FF0000"/>
                </a:solidFill>
              </a:rPr>
              <a:t>Cultural </a:t>
            </a:r>
            <a:r>
              <a:rPr lang="en-US" altLang="zh-CN" sz="2000" dirty="0"/>
              <a:t>Sensitivity</a:t>
            </a:r>
          </a:p>
          <a:p>
            <a:pPr marL="0" indent="0">
              <a:lnSpc>
                <a:spcPts val="2600"/>
              </a:lnSpc>
              <a:buNone/>
            </a:pPr>
            <a:r>
              <a:rPr lang="en-US" altLang="zh-CN" sz="2000" dirty="0"/>
              <a:t>Managing </a:t>
            </a:r>
            <a:r>
              <a:rPr lang="en-US" altLang="zh-CN" sz="2000" dirty="0">
                <a:solidFill>
                  <a:srgbClr val="FF0000"/>
                </a:solidFill>
              </a:rPr>
              <a:t>ideological </a:t>
            </a:r>
            <a:r>
              <a:rPr lang="en-US" altLang="zh-CN" sz="2000" dirty="0"/>
              <a:t>shift</a:t>
            </a:r>
          </a:p>
          <a:p>
            <a:pPr marL="0" indent="0">
              <a:lnSpc>
                <a:spcPts val="2600"/>
              </a:lnSpc>
              <a:buNone/>
            </a:pPr>
            <a:endParaRPr lang="en-US" altLang="zh-CN" sz="2000" dirty="0"/>
          </a:p>
          <a:p>
            <a:pPr marL="0" indent="0">
              <a:lnSpc>
                <a:spcPts val="2600"/>
              </a:lnSpc>
              <a:buNone/>
            </a:pPr>
            <a:r>
              <a:rPr lang="en-US" altLang="zh-CN" sz="2000" dirty="0">
                <a:solidFill>
                  <a:srgbClr val="FF0000"/>
                </a:solidFill>
              </a:rPr>
              <a:t>Prompting without genre knowledge produces fluent but unreliable output.</a:t>
            </a:r>
          </a:p>
          <a:p>
            <a:pPr marL="0" indent="0">
              <a:lnSpc>
                <a:spcPts val="2600"/>
              </a:lnSpc>
              <a:buNone/>
            </a:pPr>
            <a:endParaRPr lang="zh-CN" altLang="en-US" sz="2000" dirty="0"/>
          </a:p>
        </p:txBody>
      </p:sp>
    </p:spTree>
    <p:extLst>
      <p:ext uri="{BB962C8B-B14F-4D97-AF65-F5344CB8AC3E}">
        <p14:creationId xmlns:p14="http://schemas.microsoft.com/office/powerpoint/2010/main" val="2818227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8BE48D-3D74-EEDB-044D-5ABB97CB60D8}"/>
              </a:ext>
            </a:extLst>
          </p:cNvPr>
          <p:cNvSpPr>
            <a:spLocks noGrp="1"/>
          </p:cNvSpPr>
          <p:nvPr>
            <p:ph type="title"/>
          </p:nvPr>
        </p:nvSpPr>
        <p:spPr/>
        <p:txBody>
          <a:bodyPr/>
          <a:lstStyle/>
          <a:p>
            <a:r>
              <a:rPr lang="en-US" altLang="zh-CN" sz="2400" dirty="0"/>
              <a:t>Style guide tensions(1): Headline style </a:t>
            </a:r>
            <a:endParaRPr lang="zh-CN" altLang="en-US" sz="2400" dirty="0"/>
          </a:p>
        </p:txBody>
      </p:sp>
      <p:sp>
        <p:nvSpPr>
          <p:cNvPr id="3" name="内容占位符 2">
            <a:extLst>
              <a:ext uri="{FF2B5EF4-FFF2-40B4-BE49-F238E27FC236}">
                <a16:creationId xmlns:a16="http://schemas.microsoft.com/office/drawing/2014/main" id="{BBE4993D-00E4-FCFA-DA8C-FA74D39CC9F5}"/>
              </a:ext>
            </a:extLst>
          </p:cNvPr>
          <p:cNvSpPr>
            <a:spLocks noGrp="1"/>
          </p:cNvSpPr>
          <p:nvPr>
            <p:ph idx="1"/>
          </p:nvPr>
        </p:nvSpPr>
        <p:spPr/>
        <p:txBody>
          <a:bodyPr/>
          <a:lstStyle/>
          <a:p>
            <a:pPr marL="0" indent="0">
              <a:buNone/>
            </a:pPr>
            <a:r>
              <a:rPr lang="en-US" altLang="zh-CN" sz="2000" dirty="0"/>
              <a:t>English: compressed, verb-driven, centralized info.</a:t>
            </a:r>
          </a:p>
          <a:p>
            <a:pPr marL="0" indent="0">
              <a:buNone/>
            </a:pPr>
            <a:r>
              <a:rPr lang="en-US" altLang="zh-CN" sz="2000" dirty="0"/>
              <a:t>Chinese: may be fuller, more rhythmical, sometimes more evaluative depending on the platform, esp. in local news (relevance)</a:t>
            </a:r>
          </a:p>
          <a:p>
            <a:pPr marL="0" indent="0">
              <a:buNone/>
            </a:pPr>
            <a:endParaRPr lang="en-US" altLang="zh-CN" sz="2000" dirty="0"/>
          </a:p>
          <a:p>
            <a:pPr marL="0" indent="0">
              <a:buNone/>
            </a:pPr>
            <a:r>
              <a:rPr lang="en-US" altLang="zh-CN" sz="2000" dirty="0"/>
              <a:t>E.g. </a:t>
            </a:r>
            <a:r>
              <a:rPr lang="zh-CN" altLang="en-US" sz="2000" dirty="0"/>
              <a:t>公安部原副部长李东生受贿获刑</a:t>
            </a:r>
            <a:r>
              <a:rPr lang="en-US" altLang="zh-CN" sz="2000" dirty="0"/>
              <a:t>15</a:t>
            </a:r>
            <a:r>
              <a:rPr lang="zh-CN" altLang="en-US" sz="2000" dirty="0"/>
              <a:t>年</a:t>
            </a:r>
            <a:endParaRPr lang="en-US" altLang="zh-CN" sz="2000" dirty="0"/>
          </a:p>
          <a:p>
            <a:pPr marL="0" indent="0">
              <a:buNone/>
            </a:pPr>
            <a:r>
              <a:rPr lang="en-US" altLang="zh-CN" sz="2000" dirty="0"/>
              <a:t>China jails ex-national police deputy</a:t>
            </a:r>
          </a:p>
          <a:p>
            <a:pPr marL="0" indent="0">
              <a:buNone/>
            </a:pPr>
            <a:endParaRPr lang="en-US" altLang="zh-CN" sz="2000" dirty="0"/>
          </a:p>
          <a:p>
            <a:pPr marL="0" indent="0">
              <a:buNone/>
            </a:pPr>
            <a:r>
              <a:rPr lang="zh-CN" altLang="en-US" sz="2000" dirty="0"/>
              <a:t>偷渡男医院抢枪轰警</a:t>
            </a:r>
            <a:endParaRPr lang="en-US" altLang="zh-CN" sz="2000" dirty="0"/>
          </a:p>
          <a:p>
            <a:pPr marL="0" indent="0">
              <a:buNone/>
            </a:pPr>
            <a:r>
              <a:rPr lang="zh-CN" altLang="en-US" sz="2000" dirty="0"/>
              <a:t>北区急症室发难 </a:t>
            </a:r>
            <a:r>
              <a:rPr lang="en-US" altLang="zh-CN" sz="2000" dirty="0"/>
              <a:t>6</a:t>
            </a:r>
            <a:r>
              <a:rPr lang="zh-CN" altLang="en-US" sz="2000" dirty="0"/>
              <a:t>发全开警臂中弹</a:t>
            </a:r>
            <a:endParaRPr lang="en-US" altLang="zh-CN" sz="2000" dirty="0"/>
          </a:p>
          <a:p>
            <a:pPr marL="0" indent="0">
              <a:buNone/>
            </a:pPr>
            <a:r>
              <a:rPr lang="en-US" altLang="zh-CN" sz="2000" dirty="0"/>
              <a:t>Gunshot chaos in hospital </a:t>
            </a:r>
          </a:p>
          <a:p>
            <a:pPr marL="0" indent="0">
              <a:buNone/>
            </a:pPr>
            <a:endParaRPr lang="en-US" altLang="zh-CN" sz="2000" dirty="0"/>
          </a:p>
          <a:p>
            <a:pPr marL="0" indent="0">
              <a:buNone/>
            </a:pPr>
            <a:r>
              <a:rPr lang="zh-CN" altLang="en-US" sz="2000" dirty="0"/>
              <a:t>强冠董事长涉地沟油遭羁押</a:t>
            </a:r>
            <a:endParaRPr lang="en-US" altLang="zh-CN" sz="2000" dirty="0"/>
          </a:p>
          <a:p>
            <a:pPr marL="0" indent="0">
              <a:buNone/>
            </a:pPr>
            <a:r>
              <a:rPr lang="en-US" altLang="zh-CN" sz="2000" dirty="0"/>
              <a:t>Boss of Taiwan ‘gutter oil’ company detained</a:t>
            </a:r>
            <a:endParaRPr lang="zh-CN" altLang="en-US" sz="2000" dirty="0"/>
          </a:p>
        </p:txBody>
      </p:sp>
    </p:spTree>
    <p:extLst>
      <p:ext uri="{BB962C8B-B14F-4D97-AF65-F5344CB8AC3E}">
        <p14:creationId xmlns:p14="http://schemas.microsoft.com/office/powerpoint/2010/main" val="2894935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7D12E8-3445-06D4-66CF-6E943B7295E7}"/>
              </a:ext>
            </a:extLst>
          </p:cNvPr>
          <p:cNvSpPr>
            <a:spLocks noGrp="1"/>
          </p:cNvSpPr>
          <p:nvPr>
            <p:ph type="title"/>
          </p:nvPr>
        </p:nvSpPr>
        <p:spPr/>
        <p:txBody>
          <a:bodyPr/>
          <a:lstStyle/>
          <a:p>
            <a:r>
              <a:rPr lang="en-US" altLang="zh-CN" sz="2000" dirty="0"/>
              <a:t>Style guide tension (2): Lead style</a:t>
            </a:r>
            <a:endParaRPr lang="zh-CN" altLang="en-US" sz="2000" dirty="0"/>
          </a:p>
        </p:txBody>
      </p:sp>
      <p:sp>
        <p:nvSpPr>
          <p:cNvPr id="3" name="内容占位符 2">
            <a:extLst>
              <a:ext uri="{FF2B5EF4-FFF2-40B4-BE49-F238E27FC236}">
                <a16:creationId xmlns:a16="http://schemas.microsoft.com/office/drawing/2014/main" id="{E89ABF56-9953-8A68-9DC3-529BE3AB5401}"/>
              </a:ext>
            </a:extLst>
          </p:cNvPr>
          <p:cNvSpPr>
            <a:spLocks noGrp="1"/>
          </p:cNvSpPr>
          <p:nvPr>
            <p:ph idx="1"/>
          </p:nvPr>
        </p:nvSpPr>
        <p:spPr/>
        <p:txBody>
          <a:bodyPr/>
          <a:lstStyle/>
          <a:p>
            <a:pPr marL="0" indent="0">
              <a:buNone/>
            </a:pPr>
            <a:r>
              <a:rPr lang="en-US" altLang="zh-CN" sz="2000" dirty="0"/>
              <a:t>English and Chinese lead share the same features: </a:t>
            </a:r>
          </a:p>
          <a:p>
            <a:pPr marL="0" indent="0">
              <a:buNone/>
            </a:pPr>
            <a:r>
              <a:rPr lang="en-US" altLang="zh-CN" sz="2000" dirty="0">
                <a:solidFill>
                  <a:srgbClr val="FF0000"/>
                </a:solidFill>
              </a:rPr>
              <a:t>Informative</a:t>
            </a:r>
          </a:p>
          <a:p>
            <a:pPr marL="0" indent="0">
              <a:buNone/>
            </a:pPr>
            <a:r>
              <a:rPr lang="en-US" altLang="zh-CN" sz="2000" dirty="0">
                <a:solidFill>
                  <a:srgbClr val="FF0000"/>
                </a:solidFill>
              </a:rPr>
              <a:t>Economical</a:t>
            </a:r>
            <a:r>
              <a:rPr lang="en-US" altLang="zh-CN" sz="2000" dirty="0"/>
              <a:t>—often one sentence of around 20-30 words, though Chinese leads may be longer </a:t>
            </a:r>
          </a:p>
          <a:p>
            <a:pPr marL="0" indent="0">
              <a:buNone/>
            </a:pPr>
            <a:r>
              <a:rPr lang="en-US" altLang="zh-CN" sz="2000" dirty="0">
                <a:solidFill>
                  <a:srgbClr val="FF0000"/>
                </a:solidFill>
              </a:rPr>
              <a:t>Appealing</a:t>
            </a:r>
          </a:p>
          <a:p>
            <a:pPr marL="0" indent="0">
              <a:buNone/>
            </a:pPr>
            <a:r>
              <a:rPr lang="en-US" altLang="zh-CN" sz="2000" dirty="0">
                <a:solidFill>
                  <a:srgbClr val="FF0000"/>
                </a:solidFill>
              </a:rPr>
              <a:t>Clear and specific</a:t>
            </a:r>
          </a:p>
          <a:p>
            <a:pPr marL="0" indent="0">
              <a:buNone/>
            </a:pPr>
            <a:endParaRPr lang="en-US" altLang="zh-CN" sz="2000" dirty="0">
              <a:solidFill>
                <a:srgbClr val="FF0000"/>
              </a:solidFill>
            </a:endParaRPr>
          </a:p>
          <a:p>
            <a:pPr marL="0" indent="0">
              <a:buNone/>
            </a:pPr>
            <a:r>
              <a:rPr lang="en-US" altLang="zh-CN" sz="2000" dirty="0"/>
              <a:t>Differences: </a:t>
            </a:r>
          </a:p>
          <a:p>
            <a:pPr marL="0" indent="0">
              <a:buNone/>
            </a:pPr>
            <a:r>
              <a:rPr lang="en-US" altLang="zh-CN" sz="2000" dirty="0"/>
              <a:t>English leads tend to foreground the most newsworthy point quickly</a:t>
            </a:r>
          </a:p>
          <a:p>
            <a:pPr marL="0" indent="0">
              <a:buNone/>
            </a:pPr>
            <a:r>
              <a:rPr lang="en-US" altLang="zh-CN" sz="2000" dirty="0"/>
              <a:t>Chinese leads may carry more context, official framing, or background information.  </a:t>
            </a:r>
            <a:endParaRPr lang="zh-CN" altLang="en-US" sz="2000" dirty="0"/>
          </a:p>
        </p:txBody>
      </p:sp>
    </p:spTree>
    <p:extLst>
      <p:ext uri="{BB962C8B-B14F-4D97-AF65-F5344CB8AC3E}">
        <p14:creationId xmlns:p14="http://schemas.microsoft.com/office/powerpoint/2010/main" val="3679792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0F76AA-CC23-2C33-A34F-67DAFE51DD3F}"/>
              </a:ext>
            </a:extLst>
          </p:cNvPr>
          <p:cNvSpPr>
            <a:spLocks noGrp="1"/>
          </p:cNvSpPr>
          <p:nvPr>
            <p:ph type="title"/>
          </p:nvPr>
        </p:nvSpPr>
        <p:spPr/>
        <p:txBody>
          <a:bodyPr/>
          <a:lstStyle/>
          <a:p>
            <a:r>
              <a:rPr lang="en-US" altLang="zh-CN" sz="2400" dirty="0"/>
              <a:t>Some basic rules for Eng. News lead: </a:t>
            </a:r>
            <a:endParaRPr lang="zh-CN" altLang="en-US" sz="2400" dirty="0"/>
          </a:p>
        </p:txBody>
      </p:sp>
      <p:sp>
        <p:nvSpPr>
          <p:cNvPr id="3" name="内容占位符 2">
            <a:extLst>
              <a:ext uri="{FF2B5EF4-FFF2-40B4-BE49-F238E27FC236}">
                <a16:creationId xmlns:a16="http://schemas.microsoft.com/office/drawing/2014/main" id="{93149422-60DC-8A20-E09F-E1CE28AA633A}"/>
              </a:ext>
            </a:extLst>
          </p:cNvPr>
          <p:cNvSpPr>
            <a:spLocks noGrp="1"/>
          </p:cNvSpPr>
          <p:nvPr>
            <p:ph idx="1"/>
          </p:nvPr>
        </p:nvSpPr>
        <p:spPr/>
        <p:txBody>
          <a:bodyPr/>
          <a:lstStyle/>
          <a:p>
            <a:pPr marL="0" indent="0">
              <a:lnSpc>
                <a:spcPts val="2600"/>
              </a:lnSpc>
              <a:buNone/>
            </a:pPr>
            <a:r>
              <a:rPr lang="en-US" altLang="zh-CN" sz="2000" dirty="0"/>
              <a:t>Rule 1: Avoid start an English lead with a prepositional phrase. (when and where)</a:t>
            </a:r>
          </a:p>
          <a:p>
            <a:pPr marL="0" indent="0">
              <a:lnSpc>
                <a:spcPts val="2600"/>
              </a:lnSpc>
              <a:buNone/>
            </a:pPr>
            <a:r>
              <a:rPr lang="en-US" altLang="zh-CN" sz="2000" dirty="0"/>
              <a:t>Rule 2: Use an immediate identification lead only for famous people, places or things</a:t>
            </a:r>
          </a:p>
          <a:p>
            <a:pPr marL="0" indent="0">
              <a:lnSpc>
                <a:spcPts val="2600"/>
              </a:lnSpc>
              <a:buNone/>
            </a:pPr>
            <a:r>
              <a:rPr lang="en-US" altLang="zh-CN" sz="2000" dirty="0"/>
              <a:t>Rule 3: Don’t start with a source</a:t>
            </a:r>
          </a:p>
          <a:p>
            <a:pPr marL="0" indent="0">
              <a:lnSpc>
                <a:spcPts val="2600"/>
              </a:lnSpc>
              <a:buNone/>
            </a:pPr>
            <a:r>
              <a:rPr lang="en-US" altLang="zh-CN" sz="2000" dirty="0"/>
              <a:t>Rule 4: Key information preferably goes first</a:t>
            </a:r>
          </a:p>
          <a:p>
            <a:pPr marL="0" indent="0">
              <a:lnSpc>
                <a:spcPts val="2600"/>
              </a:lnSpc>
              <a:buNone/>
            </a:pPr>
            <a:r>
              <a:rPr lang="en-US" altLang="zh-CN" sz="2000" dirty="0"/>
              <a:t>Rule 5: Avoid jargon. </a:t>
            </a:r>
          </a:p>
          <a:p>
            <a:pPr marL="0" indent="0">
              <a:lnSpc>
                <a:spcPts val="2600"/>
              </a:lnSpc>
              <a:buNone/>
            </a:pPr>
            <a:r>
              <a:rPr lang="en-US" altLang="zh-CN" sz="2000" dirty="0"/>
              <a:t>Rule 6: Every word must count. </a:t>
            </a:r>
            <a:endParaRPr lang="zh-CN" altLang="en-US" sz="2000" dirty="0"/>
          </a:p>
        </p:txBody>
      </p:sp>
    </p:spTree>
    <p:extLst>
      <p:ext uri="{BB962C8B-B14F-4D97-AF65-F5344CB8AC3E}">
        <p14:creationId xmlns:p14="http://schemas.microsoft.com/office/powerpoint/2010/main" val="2867003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2F1CC6D-A290-9A8C-1ECA-6A8B774C3A43}"/>
              </a:ext>
            </a:extLst>
          </p:cNvPr>
          <p:cNvSpPr>
            <a:spLocks noGrp="1"/>
          </p:cNvSpPr>
          <p:nvPr>
            <p:ph idx="1"/>
          </p:nvPr>
        </p:nvSpPr>
        <p:spPr>
          <a:xfrm>
            <a:off x="457200" y="548680"/>
            <a:ext cx="8229600" cy="5577483"/>
          </a:xfrm>
        </p:spPr>
        <p:txBody>
          <a:bodyPr/>
          <a:lstStyle/>
          <a:p>
            <a:pPr marL="0" indent="0">
              <a:lnSpc>
                <a:spcPts val="2600"/>
              </a:lnSpc>
              <a:buNone/>
            </a:pPr>
            <a:r>
              <a:rPr lang="en-US" altLang="zh-CN" sz="2000" dirty="0" err="1"/>
              <a:t>E.g</a:t>
            </a:r>
            <a:r>
              <a:rPr lang="en-US" altLang="zh-CN" sz="2000" dirty="0"/>
              <a:t> </a:t>
            </a:r>
            <a:r>
              <a:rPr lang="zh-CN" altLang="en-US" sz="2000" dirty="0"/>
              <a:t>沙田大浦道凌晨发生车祸，司机当场死亡，十二名乘客重伤。</a:t>
            </a:r>
            <a:endParaRPr lang="en-US" altLang="zh-CN" sz="2000" dirty="0"/>
          </a:p>
          <a:p>
            <a:pPr marL="0" indent="0">
              <a:lnSpc>
                <a:spcPts val="2600"/>
              </a:lnSpc>
              <a:buNone/>
            </a:pPr>
            <a:r>
              <a:rPr lang="en-US" altLang="zh-CN" sz="2000" dirty="0"/>
              <a:t>The driver died and 12 passengers suffered severe injuries early this morning in a one-bus accident on Taipo Road in Shatin. </a:t>
            </a:r>
          </a:p>
          <a:p>
            <a:pPr marL="0" indent="0">
              <a:buNone/>
            </a:pPr>
            <a:endParaRPr lang="en-US" altLang="zh-CN" dirty="0"/>
          </a:p>
          <a:p>
            <a:pPr marL="0" indent="0">
              <a:buNone/>
            </a:pPr>
            <a:r>
              <a:rPr lang="en-US" altLang="zh-CN" sz="2000" dirty="0"/>
              <a:t>July 14 (Reuters)- The death toll from</a:t>
            </a:r>
            <a:r>
              <a:rPr lang="en-US" altLang="zh-CN" sz="2000" u="sng" dirty="0">
                <a:solidFill>
                  <a:srgbClr val="FF0000"/>
                </a:solidFill>
              </a:rPr>
              <a:t> twin earthquakes </a:t>
            </a:r>
            <a:r>
              <a:rPr lang="en-US" altLang="zh-CN" sz="2000" dirty="0"/>
              <a:t>in Venezuela </a:t>
            </a:r>
            <a:r>
              <a:rPr lang="en-US" altLang="zh-CN" sz="2000" u="sng" dirty="0">
                <a:solidFill>
                  <a:srgbClr val="FF0000"/>
                </a:solidFill>
              </a:rPr>
              <a:t>last month </a:t>
            </a:r>
            <a:r>
              <a:rPr lang="en-US" altLang="zh-CN" sz="2000" dirty="0"/>
              <a:t>has risen to 4734, according to figures released by </a:t>
            </a:r>
            <a:r>
              <a:rPr lang="en-US" altLang="zh-CN" sz="2000" u="sng" dirty="0">
                <a:solidFill>
                  <a:srgbClr val="FF0000"/>
                </a:solidFill>
              </a:rPr>
              <a:t>top lawmaker</a:t>
            </a:r>
            <a:r>
              <a:rPr lang="en-US" altLang="zh-CN" sz="2000" dirty="0"/>
              <a:t> Jorge Rodriguez on Tuesday. </a:t>
            </a:r>
          </a:p>
          <a:p>
            <a:pPr marL="0" indent="0">
              <a:buNone/>
            </a:pPr>
            <a:r>
              <a:rPr lang="en-US" altLang="zh-CN" sz="2000" dirty="0"/>
              <a:t>The number of injured in the </a:t>
            </a:r>
            <a:r>
              <a:rPr lang="en-US" altLang="zh-CN" sz="2000" u="sng" dirty="0">
                <a:solidFill>
                  <a:srgbClr val="FF0000"/>
                </a:solidFill>
              </a:rPr>
              <a:t>June 24 </a:t>
            </a:r>
            <a:r>
              <a:rPr lang="en-US" altLang="zh-CN" sz="2000" dirty="0"/>
              <a:t>quakes was unchanged at 16740, while 17907 people remained homeless. </a:t>
            </a:r>
          </a:p>
          <a:p>
            <a:pPr marL="0" indent="0">
              <a:buNone/>
            </a:pPr>
            <a:endParaRPr lang="en-US" altLang="zh-CN" sz="2000" dirty="0"/>
          </a:p>
          <a:p>
            <a:pPr marL="0" indent="0">
              <a:buNone/>
            </a:pPr>
            <a:r>
              <a:rPr lang="zh-CN" altLang="en-US" sz="2000" dirty="0"/>
              <a:t>据新华社加拉加斯</a:t>
            </a:r>
            <a:r>
              <a:rPr lang="en-US" altLang="zh-CN" sz="2000" dirty="0"/>
              <a:t>7</a:t>
            </a:r>
            <a:r>
              <a:rPr lang="zh-CN" altLang="en-US" sz="2000" dirty="0"/>
              <a:t>月</a:t>
            </a:r>
            <a:r>
              <a:rPr lang="en-US" altLang="zh-CN" sz="2000" dirty="0"/>
              <a:t>14</a:t>
            </a:r>
            <a:r>
              <a:rPr lang="zh-CN" altLang="en-US" sz="2000" dirty="0"/>
              <a:t>日电</a:t>
            </a:r>
            <a:r>
              <a:rPr lang="en-US" altLang="zh-CN" sz="2000" dirty="0"/>
              <a:t>-</a:t>
            </a:r>
            <a:r>
              <a:rPr lang="zh-CN" altLang="en-US" sz="2000" u="sng" dirty="0">
                <a:solidFill>
                  <a:srgbClr val="FF0000"/>
                </a:solidFill>
              </a:rPr>
              <a:t>委内瑞拉全国代表大会主席豪尔赫</a:t>
            </a:r>
            <a:r>
              <a:rPr lang="en-US" altLang="zh-CN" sz="2000" u="sng" dirty="0">
                <a:solidFill>
                  <a:srgbClr val="FF0000"/>
                </a:solidFill>
              </a:rPr>
              <a:t>·</a:t>
            </a:r>
            <a:r>
              <a:rPr lang="zh-CN" altLang="en-US" sz="2000" u="sng" dirty="0">
                <a:solidFill>
                  <a:srgbClr val="FF0000"/>
                </a:solidFill>
              </a:rPr>
              <a:t>罗德里格斯</a:t>
            </a:r>
            <a:r>
              <a:rPr lang="en-US" altLang="zh-CN" sz="2000" u="sng" dirty="0">
                <a:solidFill>
                  <a:srgbClr val="FF0000"/>
                </a:solidFill>
              </a:rPr>
              <a:t>14</a:t>
            </a:r>
            <a:r>
              <a:rPr lang="zh-CN" altLang="en-US" sz="2000" u="sng" dirty="0">
                <a:solidFill>
                  <a:srgbClr val="FF0000"/>
                </a:solidFill>
              </a:rPr>
              <a:t>日</a:t>
            </a:r>
            <a:r>
              <a:rPr lang="zh-CN" altLang="en-US" sz="2000" dirty="0"/>
              <a:t>在社交媒体发文说，</a:t>
            </a:r>
            <a:r>
              <a:rPr lang="zh-CN" altLang="en-US" sz="2000" u="sng" dirty="0">
                <a:solidFill>
                  <a:srgbClr val="FF0000"/>
                </a:solidFill>
              </a:rPr>
              <a:t>该国</a:t>
            </a:r>
            <a:r>
              <a:rPr lang="en-US" altLang="zh-CN" sz="2000" u="sng" dirty="0">
                <a:solidFill>
                  <a:srgbClr val="FF0000"/>
                </a:solidFill>
              </a:rPr>
              <a:t>6</a:t>
            </a:r>
            <a:r>
              <a:rPr lang="zh-CN" altLang="en-US" sz="2000" u="sng" dirty="0">
                <a:solidFill>
                  <a:srgbClr val="FF0000"/>
                </a:solidFill>
              </a:rPr>
              <a:t>月</a:t>
            </a:r>
            <a:r>
              <a:rPr lang="en-US" altLang="zh-CN" sz="2000" u="sng" dirty="0">
                <a:solidFill>
                  <a:srgbClr val="FF0000"/>
                </a:solidFill>
              </a:rPr>
              <a:t>24</a:t>
            </a:r>
            <a:r>
              <a:rPr lang="zh-CN" altLang="en-US" sz="2000" u="sng" dirty="0">
                <a:solidFill>
                  <a:srgbClr val="FF0000"/>
                </a:solidFill>
              </a:rPr>
              <a:t>日</a:t>
            </a:r>
            <a:r>
              <a:rPr lang="zh-CN" altLang="en-US" sz="2000" dirty="0"/>
              <a:t>发生的两次强震已造成</a:t>
            </a:r>
            <a:r>
              <a:rPr lang="en-US" altLang="zh-CN" sz="2000" dirty="0"/>
              <a:t>4734</a:t>
            </a:r>
            <a:r>
              <a:rPr lang="zh-CN" altLang="en-US" sz="2000" dirty="0"/>
              <a:t>人死亡、</a:t>
            </a:r>
            <a:r>
              <a:rPr lang="en-US" altLang="zh-CN" sz="2000" dirty="0"/>
              <a:t>16740</a:t>
            </a:r>
            <a:r>
              <a:rPr lang="zh-CN" altLang="en-US" sz="2000" dirty="0"/>
              <a:t>人受伤。</a:t>
            </a:r>
          </a:p>
        </p:txBody>
      </p:sp>
    </p:spTree>
    <p:extLst>
      <p:ext uri="{BB962C8B-B14F-4D97-AF65-F5344CB8AC3E}">
        <p14:creationId xmlns:p14="http://schemas.microsoft.com/office/powerpoint/2010/main" val="356588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67C9069-A0D2-8D4A-0A5C-F0AD5C12540C}"/>
              </a:ext>
            </a:extLst>
          </p:cNvPr>
          <p:cNvSpPr>
            <a:spLocks noGrp="1"/>
          </p:cNvSpPr>
          <p:nvPr>
            <p:ph idx="1"/>
          </p:nvPr>
        </p:nvSpPr>
        <p:spPr>
          <a:xfrm>
            <a:off x="457200" y="188640"/>
            <a:ext cx="8229600" cy="5937523"/>
          </a:xfrm>
        </p:spPr>
        <p:txBody>
          <a:bodyPr/>
          <a:lstStyle/>
          <a:p>
            <a:pPr marL="0" indent="0">
              <a:buNone/>
            </a:pPr>
            <a:endParaRPr lang="en-US" altLang="zh-CN" sz="2000" dirty="0"/>
          </a:p>
          <a:p>
            <a:pPr marL="0" indent="0">
              <a:lnSpc>
                <a:spcPts val="2600"/>
              </a:lnSpc>
              <a:buNone/>
            </a:pPr>
            <a:r>
              <a:rPr lang="zh-CN" altLang="en-US" sz="2000" dirty="0"/>
              <a:t>周二，冰雨和停电连续第三天搅乱了莫斯科的航空运输，导致数以千计的旅客受困机场。由于缺少食物，加上资讯沟通不畅，愤怒的旅客在莫斯科主要机场殴打了俄罗斯国际航空公司（</a:t>
            </a:r>
            <a:r>
              <a:rPr lang="en-US" altLang="zh-CN" sz="2000" dirty="0"/>
              <a:t>Aeroflot</a:t>
            </a:r>
            <a:r>
              <a:rPr lang="zh-CN" altLang="en-US" sz="2000" dirty="0"/>
              <a:t>）的工作人员。</a:t>
            </a:r>
            <a:endParaRPr lang="en-US" altLang="zh-CN" sz="2000" dirty="0"/>
          </a:p>
          <a:p>
            <a:pPr marL="0" indent="0">
              <a:lnSpc>
                <a:spcPts val="2600"/>
              </a:lnSpc>
              <a:buNone/>
            </a:pPr>
            <a:endParaRPr lang="en-US" altLang="zh-CN" sz="2000" dirty="0"/>
          </a:p>
          <a:p>
            <a:pPr marL="0" indent="0">
              <a:lnSpc>
                <a:spcPts val="2600"/>
              </a:lnSpc>
              <a:buNone/>
            </a:pPr>
            <a:r>
              <a:rPr lang="en-US" altLang="zh-CN" sz="2000" dirty="0"/>
              <a:t>AI Translation:</a:t>
            </a:r>
          </a:p>
          <a:p>
            <a:pPr marL="0" indent="0">
              <a:lnSpc>
                <a:spcPts val="2600"/>
              </a:lnSpc>
              <a:buNone/>
            </a:pPr>
            <a:r>
              <a:rPr lang="en-US" altLang="zh-CN" sz="2000" dirty="0"/>
              <a:t>On Tuesday, freezing rain and power outages disrupted air travel in Moscow for a third consecutive day, leaving thousands of passengers stranded at airports. With food supplies running short and information poorly communicated, angry passengers assaulted staff members of Aeroflot, Russia’s flagship carrier, at Moscow’s main airport. </a:t>
            </a:r>
            <a:endParaRPr lang="zh-CN" altLang="en-US" sz="2000" dirty="0"/>
          </a:p>
        </p:txBody>
      </p:sp>
    </p:spTree>
    <p:extLst>
      <p:ext uri="{BB962C8B-B14F-4D97-AF65-F5344CB8AC3E}">
        <p14:creationId xmlns:p14="http://schemas.microsoft.com/office/powerpoint/2010/main" val="3012862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8349AE0F-9B21-90B1-44D2-9E6AFC5E1D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9552" y="620688"/>
            <a:ext cx="8064896" cy="4824536"/>
          </a:xfrm>
        </p:spPr>
      </p:pic>
    </p:spTree>
    <p:extLst>
      <p:ext uri="{BB962C8B-B14F-4D97-AF65-F5344CB8AC3E}">
        <p14:creationId xmlns:p14="http://schemas.microsoft.com/office/powerpoint/2010/main" val="4086262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334847-F348-4380-01AD-FBE20D4233FF}"/>
              </a:ext>
            </a:extLst>
          </p:cNvPr>
          <p:cNvSpPr>
            <a:spLocks noGrp="1"/>
          </p:cNvSpPr>
          <p:nvPr>
            <p:ph type="title"/>
          </p:nvPr>
        </p:nvSpPr>
        <p:spPr/>
        <p:txBody>
          <a:bodyPr/>
          <a:lstStyle/>
          <a:p>
            <a:br>
              <a:rPr lang="en-US" altLang="zh-CN" sz="2400" dirty="0"/>
            </a:br>
            <a:r>
              <a:rPr lang="en-US" altLang="zh-CN" sz="2400" dirty="0"/>
              <a:t>Style guide tensions (3): </a:t>
            </a:r>
            <a:r>
              <a:rPr lang="en-US" altLang="zh-CN" sz="2400" dirty="0" err="1"/>
              <a:t>Localisation</a:t>
            </a:r>
            <a:r>
              <a:rPr lang="en-US" altLang="zh-CN" sz="2400" dirty="0"/>
              <a:t> </a:t>
            </a:r>
            <a:br>
              <a:rPr lang="zh-CN" altLang="en-US" dirty="0"/>
            </a:br>
            <a:endParaRPr lang="zh-CN" altLang="en-US" dirty="0"/>
          </a:p>
        </p:txBody>
      </p:sp>
      <p:sp>
        <p:nvSpPr>
          <p:cNvPr id="3" name="内容占位符 2">
            <a:extLst>
              <a:ext uri="{FF2B5EF4-FFF2-40B4-BE49-F238E27FC236}">
                <a16:creationId xmlns:a16="http://schemas.microsoft.com/office/drawing/2014/main" id="{501CAD75-311D-4F26-ED44-098ED154F253}"/>
              </a:ext>
            </a:extLst>
          </p:cNvPr>
          <p:cNvSpPr>
            <a:spLocks noGrp="1"/>
          </p:cNvSpPr>
          <p:nvPr>
            <p:ph idx="1"/>
          </p:nvPr>
        </p:nvSpPr>
        <p:spPr>
          <a:xfrm>
            <a:off x="457200" y="1268760"/>
            <a:ext cx="8229600" cy="4857403"/>
          </a:xfrm>
        </p:spPr>
        <p:txBody>
          <a:bodyPr/>
          <a:lstStyle/>
          <a:p>
            <a:pPr marL="0" indent="0">
              <a:buNone/>
            </a:pPr>
            <a:r>
              <a:rPr lang="en-US" altLang="zh-CN" sz="2000" dirty="0"/>
              <a:t>Hongkong readers, mainland readers and international readers may need different backgrounds. </a:t>
            </a:r>
          </a:p>
          <a:p>
            <a:pPr marL="0" indent="0">
              <a:buNone/>
            </a:pPr>
            <a:endParaRPr lang="en-US" altLang="zh-CN" sz="2000" dirty="0"/>
          </a:p>
          <a:p>
            <a:pPr marL="0" indent="0">
              <a:lnSpc>
                <a:spcPts val="2200"/>
              </a:lnSpc>
              <a:buNone/>
            </a:pPr>
            <a:r>
              <a:rPr lang="en-US" altLang="zh-CN" sz="1800" dirty="0"/>
              <a:t>Hong Kong boat crash off Lamma Island kills 36</a:t>
            </a:r>
            <a:br>
              <a:rPr lang="en-US" altLang="zh-CN" sz="1800" dirty="0"/>
            </a:br>
            <a:r>
              <a:rPr lang="en-US" altLang="zh-CN" sz="1800" dirty="0"/>
              <a:t>A collision between two passenger boats off Hong Kong has left at least 36 people dead, officials say.</a:t>
            </a:r>
            <a:br>
              <a:rPr lang="en-US" altLang="zh-CN" sz="1800" dirty="0"/>
            </a:br>
            <a:r>
              <a:rPr lang="en-US" altLang="zh-CN" sz="1800" dirty="0"/>
              <a:t>........</a:t>
            </a:r>
            <a:br>
              <a:rPr lang="en-US" altLang="zh-CN" sz="1800" dirty="0"/>
            </a:br>
            <a:r>
              <a:rPr lang="en-US" altLang="zh-CN" sz="1800" u="sng" dirty="0"/>
              <a:t>Lamma lies some 3km (two miles) south-west of Hong Kong Island, and is popular with tourists and expatriates.</a:t>
            </a:r>
            <a:br>
              <a:rPr lang="en-US" altLang="zh-CN" sz="1800" u="sng" dirty="0"/>
            </a:br>
            <a:r>
              <a:rPr lang="en-US" altLang="zh-CN" sz="1800" u="sng" dirty="0"/>
              <a:t>Hong Kong is one of the world's busiest shipping channels, but its ferries have a good safety record.</a:t>
            </a:r>
          </a:p>
          <a:p>
            <a:pPr marL="0" indent="0">
              <a:lnSpc>
                <a:spcPts val="2200"/>
              </a:lnSpc>
              <a:buNone/>
            </a:pPr>
            <a:r>
              <a:rPr lang="en-US" altLang="zh-CN" sz="1800" dirty="0"/>
              <a:t>In in the UK, the government recommends eating no more than 70g of read or processed meat a day –</a:t>
            </a:r>
            <a:br>
              <a:rPr lang="en-US" altLang="zh-CN" sz="1800" dirty="0"/>
            </a:br>
            <a:r>
              <a:rPr lang="en-US" altLang="zh-CN" sz="1800" dirty="0"/>
              <a:t>the equivalent of two slices of bacon.</a:t>
            </a:r>
            <a:br>
              <a:rPr lang="en-US" altLang="zh-CN" sz="1800" dirty="0"/>
            </a:br>
            <a:r>
              <a:rPr lang="zh-CN" altLang="en-US" sz="1800" dirty="0"/>
              <a:t>根據英國政府有關部門的建議，每人每天食用的紅肉不應當超過</a:t>
            </a:r>
            <a:r>
              <a:rPr lang="en-US" altLang="zh-CN" sz="1800" dirty="0"/>
              <a:t>70</a:t>
            </a:r>
            <a:r>
              <a:rPr lang="zh-CN" altLang="en-US" sz="1800" dirty="0"/>
              <a:t>克，</a:t>
            </a:r>
            <a:r>
              <a:rPr lang="zh-CN" altLang="en-US" sz="1800" u="sng" dirty="0"/>
              <a:t>相當於一根半臘腸。</a:t>
            </a:r>
          </a:p>
          <a:p>
            <a:pPr marL="0" indent="0">
              <a:buNone/>
            </a:pPr>
            <a:endParaRPr lang="zh-CN" altLang="en-US" sz="2000" dirty="0"/>
          </a:p>
        </p:txBody>
      </p:sp>
    </p:spTree>
    <p:extLst>
      <p:ext uri="{BB962C8B-B14F-4D97-AF65-F5344CB8AC3E}">
        <p14:creationId xmlns:p14="http://schemas.microsoft.com/office/powerpoint/2010/main" val="2438297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4AEB4D-11A7-8069-5FF4-712A1BF6D2D0}"/>
              </a:ext>
            </a:extLst>
          </p:cNvPr>
          <p:cNvSpPr>
            <a:spLocks noGrp="1"/>
          </p:cNvSpPr>
          <p:nvPr>
            <p:ph type="title"/>
          </p:nvPr>
        </p:nvSpPr>
        <p:spPr/>
        <p:txBody>
          <a:bodyPr/>
          <a:lstStyle/>
          <a:p>
            <a:r>
              <a:rPr lang="en-US" altLang="zh-CN" sz="2400" dirty="0"/>
              <a:t>Style guide tensions (4): Register and political nuance</a:t>
            </a:r>
            <a:endParaRPr lang="zh-CN" altLang="en-US" sz="2400" dirty="0"/>
          </a:p>
        </p:txBody>
      </p:sp>
      <p:sp>
        <p:nvSpPr>
          <p:cNvPr id="3" name="内容占位符 2">
            <a:extLst>
              <a:ext uri="{FF2B5EF4-FFF2-40B4-BE49-F238E27FC236}">
                <a16:creationId xmlns:a16="http://schemas.microsoft.com/office/drawing/2014/main" id="{57A9EF3B-25A8-CF66-9AC2-D067C45BC5B6}"/>
              </a:ext>
            </a:extLst>
          </p:cNvPr>
          <p:cNvSpPr>
            <a:spLocks noGrp="1"/>
          </p:cNvSpPr>
          <p:nvPr>
            <p:ph idx="1"/>
          </p:nvPr>
        </p:nvSpPr>
        <p:spPr/>
        <p:txBody>
          <a:bodyPr/>
          <a:lstStyle/>
          <a:p>
            <a:pPr marL="0" indent="0">
              <a:buNone/>
            </a:pPr>
            <a:r>
              <a:rPr lang="en-US" altLang="zh-CN" sz="2000" dirty="0"/>
              <a:t>Some terms are not neutral across contexts.</a:t>
            </a:r>
            <a:br>
              <a:rPr lang="en-US" altLang="zh-CN" sz="2000" dirty="0"/>
            </a:br>
            <a:endParaRPr lang="en-US" altLang="zh-CN" sz="2000" dirty="0"/>
          </a:p>
          <a:p>
            <a:pPr marL="0" indent="0">
              <a:buNone/>
            </a:pPr>
            <a:r>
              <a:rPr lang="en-US" altLang="zh-CN" sz="2000" dirty="0"/>
              <a:t>Examples:</a:t>
            </a:r>
            <a:br>
              <a:rPr lang="en-US" altLang="zh-CN" sz="2000" dirty="0"/>
            </a:br>
            <a:r>
              <a:rPr lang="en-US" altLang="zh-CN" sz="2000" dirty="0"/>
              <a:t>“said” vs. “claimed”</a:t>
            </a:r>
          </a:p>
          <a:p>
            <a:pPr marL="0" indent="0">
              <a:buNone/>
            </a:pPr>
            <a:r>
              <a:rPr lang="en-US" altLang="zh-CN" sz="2000" dirty="0"/>
              <a:t>“riot” vs. “protest”</a:t>
            </a:r>
            <a:br>
              <a:rPr lang="en-US" altLang="zh-CN" sz="2000" dirty="0"/>
            </a:br>
            <a:r>
              <a:rPr lang="en-US" altLang="zh-CN" sz="2000" dirty="0"/>
              <a:t>“mainland” vs. “China”</a:t>
            </a:r>
            <a:br>
              <a:rPr lang="en-US" altLang="zh-CN" sz="2000" dirty="0"/>
            </a:br>
            <a:r>
              <a:rPr lang="en-US" altLang="zh-CN" sz="2000" dirty="0"/>
              <a:t>“officials said” vs. “state media said”</a:t>
            </a:r>
          </a:p>
          <a:p>
            <a:pPr marL="0" indent="0">
              <a:buNone/>
            </a:pPr>
            <a:r>
              <a:rPr lang="en-US" altLang="zh-CN" sz="2000" dirty="0"/>
              <a:t> </a:t>
            </a:r>
          </a:p>
          <a:p>
            <a:pPr marL="0" indent="0">
              <a:buNone/>
            </a:pPr>
            <a:r>
              <a:rPr lang="zh-CN" altLang="en-US" sz="2000" dirty="0"/>
              <a:t>外交部发言人称，有关制裁“完全没有法律依据”。</a:t>
            </a:r>
            <a:br>
              <a:rPr lang="zh-CN" altLang="en-US" sz="2000" dirty="0"/>
            </a:br>
            <a:r>
              <a:rPr lang="en-US" altLang="zh-CN" sz="2000" dirty="0"/>
              <a:t>The spokesperson claimed the sanctions had "no legal basis whatsoever." (x)</a:t>
            </a:r>
            <a:br>
              <a:rPr lang="en-US" altLang="zh-CN" sz="2000" dirty="0"/>
            </a:br>
            <a:r>
              <a:rPr lang="en-US" altLang="zh-CN" sz="2000" dirty="0"/>
              <a:t>Said, stated...</a:t>
            </a:r>
          </a:p>
          <a:p>
            <a:pPr marL="0" indent="0">
              <a:buNone/>
            </a:pPr>
            <a:endParaRPr lang="zh-CN" altLang="en-US" dirty="0"/>
          </a:p>
        </p:txBody>
      </p:sp>
    </p:spTree>
    <p:extLst>
      <p:ext uri="{BB962C8B-B14F-4D97-AF65-F5344CB8AC3E}">
        <p14:creationId xmlns:p14="http://schemas.microsoft.com/office/powerpoint/2010/main" val="4058740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4B1BACFB-87FF-D5D0-7838-58B791671F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28" y="764704"/>
            <a:ext cx="8496944" cy="5112568"/>
          </a:xfrm>
        </p:spPr>
      </p:pic>
    </p:spTree>
    <p:extLst>
      <p:ext uri="{BB962C8B-B14F-4D97-AF65-F5344CB8AC3E}">
        <p14:creationId xmlns:p14="http://schemas.microsoft.com/office/powerpoint/2010/main" val="3426681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B5687B-052D-60D4-5714-83875EA0E4E2}"/>
              </a:ext>
            </a:extLst>
          </p:cNvPr>
          <p:cNvSpPr>
            <a:spLocks noGrp="1"/>
          </p:cNvSpPr>
          <p:nvPr>
            <p:ph type="title"/>
          </p:nvPr>
        </p:nvSpPr>
        <p:spPr/>
        <p:txBody>
          <a:bodyPr/>
          <a:lstStyle/>
          <a:p>
            <a:r>
              <a:rPr lang="en-US" altLang="zh-CN" sz="2400" dirty="0"/>
              <a:t>Style guide tension (5): structural difference</a:t>
            </a:r>
            <a:endParaRPr lang="zh-CN" altLang="en-US" sz="2400" dirty="0"/>
          </a:p>
        </p:txBody>
      </p:sp>
      <p:pic>
        <p:nvPicPr>
          <p:cNvPr id="5" name="内容占位符 4">
            <a:extLst>
              <a:ext uri="{FF2B5EF4-FFF2-40B4-BE49-F238E27FC236}">
                <a16:creationId xmlns:a16="http://schemas.microsoft.com/office/drawing/2014/main" id="{7EE1C283-1F3B-EB90-5AA0-B342B03BFA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3124" y="1484784"/>
            <a:ext cx="8363272" cy="4680520"/>
          </a:xfrm>
        </p:spPr>
      </p:pic>
    </p:spTree>
    <p:extLst>
      <p:ext uri="{BB962C8B-B14F-4D97-AF65-F5344CB8AC3E}">
        <p14:creationId xmlns:p14="http://schemas.microsoft.com/office/powerpoint/2010/main" val="3583986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2A198418-F3FA-B1A6-2C3D-3285020D72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692696"/>
            <a:ext cx="8352928" cy="5178322"/>
          </a:xfrm>
        </p:spPr>
      </p:pic>
    </p:spTree>
    <p:extLst>
      <p:ext uri="{BB962C8B-B14F-4D97-AF65-F5344CB8AC3E}">
        <p14:creationId xmlns:p14="http://schemas.microsoft.com/office/powerpoint/2010/main" val="3113722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2D2FCFE9-1DCD-AF5F-2D85-8608134998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7585" y="836712"/>
            <a:ext cx="7488832" cy="5289451"/>
          </a:xfrm>
        </p:spPr>
      </p:pic>
    </p:spTree>
    <p:extLst>
      <p:ext uri="{BB962C8B-B14F-4D97-AF65-F5344CB8AC3E}">
        <p14:creationId xmlns:p14="http://schemas.microsoft.com/office/powerpoint/2010/main" val="3592528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77D8CD-F4F6-378D-C4C0-E99937ECC6AA}"/>
              </a:ext>
            </a:extLst>
          </p:cNvPr>
          <p:cNvSpPr>
            <a:spLocks noGrp="1"/>
          </p:cNvSpPr>
          <p:nvPr>
            <p:ph type="title"/>
          </p:nvPr>
        </p:nvSpPr>
        <p:spPr/>
        <p:txBody>
          <a:bodyPr/>
          <a:lstStyle/>
          <a:p>
            <a:r>
              <a:rPr lang="en-US" altLang="zh-CN" sz="2400" dirty="0"/>
              <a:t>AI in the news ecosystem</a:t>
            </a:r>
            <a:endParaRPr lang="zh-CN" altLang="en-US" sz="2400" dirty="0"/>
          </a:p>
        </p:txBody>
      </p:sp>
      <p:sp>
        <p:nvSpPr>
          <p:cNvPr id="3" name="内容占位符 2">
            <a:extLst>
              <a:ext uri="{FF2B5EF4-FFF2-40B4-BE49-F238E27FC236}">
                <a16:creationId xmlns:a16="http://schemas.microsoft.com/office/drawing/2014/main" id="{9DB5E8CB-933A-98CD-8B71-6865553F7890}"/>
              </a:ext>
            </a:extLst>
          </p:cNvPr>
          <p:cNvSpPr>
            <a:spLocks noGrp="1"/>
          </p:cNvSpPr>
          <p:nvPr>
            <p:ph idx="1"/>
          </p:nvPr>
        </p:nvSpPr>
        <p:spPr/>
        <p:txBody>
          <a:bodyPr/>
          <a:lstStyle/>
          <a:p>
            <a:pPr marL="0" indent="0">
              <a:buNone/>
            </a:pPr>
            <a:r>
              <a:rPr lang="en-US" altLang="zh-CN" sz="2000" dirty="0"/>
              <a:t>AI is already used or discussed in many newsroom-related tasks:</a:t>
            </a:r>
          </a:p>
          <a:p>
            <a:pPr marL="0" indent="0">
              <a:buNone/>
            </a:pPr>
            <a:endParaRPr lang="en-US" altLang="zh-CN" sz="2000" dirty="0"/>
          </a:p>
          <a:p>
            <a:pPr marL="0" indent="0">
              <a:buNone/>
            </a:pPr>
            <a:r>
              <a:rPr lang="en-US" altLang="zh-CN" sz="2000" dirty="0"/>
              <a:t>Automated News Writing</a:t>
            </a:r>
          </a:p>
          <a:p>
            <a:pPr marL="0" indent="0">
              <a:buNone/>
            </a:pPr>
            <a:r>
              <a:rPr lang="en-US" altLang="zh-CN" sz="2000" dirty="0"/>
              <a:t>Fact-checking support</a:t>
            </a:r>
          </a:p>
          <a:p>
            <a:pPr marL="0" indent="0">
              <a:buNone/>
            </a:pPr>
            <a:r>
              <a:rPr lang="en-US" altLang="zh-CN" sz="2000" dirty="0"/>
              <a:t>Data Extraction / Analysis</a:t>
            </a:r>
          </a:p>
          <a:p>
            <a:pPr marL="0" indent="0">
              <a:buNone/>
            </a:pPr>
            <a:r>
              <a:rPr lang="en-US" altLang="zh-CN" sz="2000" dirty="0"/>
              <a:t>Personalized News Feeds</a:t>
            </a:r>
          </a:p>
          <a:p>
            <a:pPr marL="0" indent="0">
              <a:buNone/>
            </a:pPr>
            <a:r>
              <a:rPr lang="en-US" altLang="zh-CN" sz="2000" dirty="0"/>
              <a:t>Transcription and Translation (AP) </a:t>
            </a:r>
          </a:p>
          <a:p>
            <a:pPr marL="0" indent="0">
              <a:buNone/>
            </a:pPr>
            <a:r>
              <a:rPr lang="en-US" altLang="zh-CN" sz="2000" dirty="0"/>
              <a:t>AI-Generated Visual Content</a:t>
            </a:r>
          </a:p>
          <a:p>
            <a:pPr marL="0" indent="0">
              <a:buNone/>
            </a:pPr>
            <a:r>
              <a:rPr lang="en-US" altLang="zh-CN" sz="2000" dirty="0"/>
              <a:t>Story Summarization /headline draft</a:t>
            </a:r>
          </a:p>
          <a:p>
            <a:pPr marL="0" indent="0">
              <a:buNone/>
            </a:pPr>
            <a:r>
              <a:rPr lang="en-US" altLang="zh-CN" sz="2000" dirty="0"/>
              <a:t>Style / grammar checking</a:t>
            </a:r>
          </a:p>
          <a:p>
            <a:pPr marL="0" indent="0">
              <a:buNone/>
            </a:pPr>
            <a:endParaRPr lang="zh-CN" altLang="en-US" dirty="0"/>
          </a:p>
        </p:txBody>
      </p:sp>
    </p:spTree>
    <p:extLst>
      <p:ext uri="{BB962C8B-B14F-4D97-AF65-F5344CB8AC3E}">
        <p14:creationId xmlns:p14="http://schemas.microsoft.com/office/powerpoint/2010/main" val="3072023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CF5328-E1DD-951D-84DE-D4BF2527CCD1}"/>
              </a:ext>
            </a:extLst>
          </p:cNvPr>
          <p:cNvSpPr>
            <a:spLocks noGrp="1"/>
          </p:cNvSpPr>
          <p:nvPr>
            <p:ph type="title"/>
          </p:nvPr>
        </p:nvSpPr>
        <p:spPr/>
        <p:txBody>
          <a:bodyPr/>
          <a:lstStyle/>
          <a:p>
            <a:r>
              <a:rPr lang="en-US" altLang="zh-CN" sz="2400" dirty="0"/>
              <a:t>Where AI Enters the Workflow</a:t>
            </a:r>
            <a:endParaRPr lang="zh-CN" altLang="en-US" sz="2400" dirty="0"/>
          </a:p>
        </p:txBody>
      </p:sp>
      <p:graphicFrame>
        <p:nvGraphicFramePr>
          <p:cNvPr id="4" name="内容占位符 3">
            <a:extLst>
              <a:ext uri="{FF2B5EF4-FFF2-40B4-BE49-F238E27FC236}">
                <a16:creationId xmlns:a16="http://schemas.microsoft.com/office/drawing/2014/main" id="{7D226406-F102-E903-8EC2-A11CF75875A9}"/>
              </a:ext>
            </a:extLst>
          </p:cNvPr>
          <p:cNvGraphicFramePr>
            <a:graphicFrameLocks noGrp="1"/>
          </p:cNvGraphicFramePr>
          <p:nvPr>
            <p:ph idx="1"/>
            <p:extLst>
              <p:ext uri="{D42A27DB-BD31-4B8C-83A1-F6EECF244321}">
                <p14:modId xmlns:p14="http://schemas.microsoft.com/office/powerpoint/2010/main" val="1867781101"/>
              </p:ext>
            </p:extLst>
          </p:nvPr>
        </p:nvGraphicFramePr>
        <p:xfrm>
          <a:off x="683568" y="1452396"/>
          <a:ext cx="7848872" cy="4903013"/>
        </p:xfrm>
        <a:graphic>
          <a:graphicData uri="http://schemas.openxmlformats.org/drawingml/2006/table">
            <a:tbl>
              <a:tblPr/>
              <a:tblGrid>
                <a:gridCol w="2808312">
                  <a:extLst>
                    <a:ext uri="{9D8B030D-6E8A-4147-A177-3AD203B41FA5}">
                      <a16:colId xmlns:a16="http://schemas.microsoft.com/office/drawing/2014/main" val="4083348816"/>
                    </a:ext>
                  </a:extLst>
                </a:gridCol>
                <a:gridCol w="2520280">
                  <a:extLst>
                    <a:ext uri="{9D8B030D-6E8A-4147-A177-3AD203B41FA5}">
                      <a16:colId xmlns:a16="http://schemas.microsoft.com/office/drawing/2014/main" val="637793681"/>
                    </a:ext>
                  </a:extLst>
                </a:gridCol>
                <a:gridCol w="2520280">
                  <a:extLst>
                    <a:ext uri="{9D8B030D-6E8A-4147-A177-3AD203B41FA5}">
                      <a16:colId xmlns:a16="http://schemas.microsoft.com/office/drawing/2014/main" val="3889011346"/>
                    </a:ext>
                  </a:extLst>
                </a:gridCol>
              </a:tblGrid>
              <a:tr h="273955">
                <a:tc>
                  <a:txBody>
                    <a:bodyPr/>
                    <a:lstStyle/>
                    <a:p>
                      <a:pPr algn="l">
                        <a:lnSpc>
                          <a:spcPts val="1875"/>
                        </a:lnSpc>
                        <a:buNone/>
                      </a:pPr>
                      <a:r>
                        <a:rPr lang="en-US" sz="1600" b="0">
                          <a:effectLst/>
                          <a:latin typeface="quote-cjk-patch"/>
                        </a:rPr>
                        <a:t>Stage</a:t>
                      </a:r>
                    </a:p>
                  </a:txBody>
                  <a:tcPr marL="41093" marR="45659" marT="28537" marB="28537" anchor="ctr">
                    <a:lnL>
                      <a:noFill/>
                    </a:lnL>
                    <a:lnR>
                      <a:noFill/>
                    </a:lnR>
                    <a:lnT>
                      <a:noFill/>
                    </a:lnT>
                    <a:lnB>
                      <a:noFill/>
                    </a:lnB>
                    <a:solidFill>
                      <a:srgbClr val="FFFF00"/>
                    </a:solidFill>
                  </a:tcPr>
                </a:tc>
                <a:tc>
                  <a:txBody>
                    <a:bodyPr/>
                    <a:lstStyle/>
                    <a:p>
                      <a:pPr algn="l">
                        <a:lnSpc>
                          <a:spcPts val="1875"/>
                        </a:lnSpc>
                        <a:buNone/>
                      </a:pPr>
                      <a:r>
                        <a:rPr lang="en-US" sz="1600" b="0">
                          <a:effectLst/>
                          <a:latin typeface="quote-cjk-patch"/>
                        </a:rPr>
                        <a:t>Human decision</a:t>
                      </a:r>
                    </a:p>
                  </a:txBody>
                  <a:tcPr marL="45659" marR="45659" marT="28537" marB="28537" anchor="ctr">
                    <a:lnL>
                      <a:noFill/>
                    </a:lnL>
                    <a:lnR>
                      <a:noFill/>
                    </a:lnR>
                    <a:lnT>
                      <a:noFill/>
                    </a:lnT>
                    <a:lnB>
                      <a:noFill/>
                    </a:lnB>
                    <a:solidFill>
                      <a:srgbClr val="FFFF00"/>
                    </a:solidFill>
                  </a:tcPr>
                </a:tc>
                <a:tc>
                  <a:txBody>
                    <a:bodyPr/>
                    <a:lstStyle/>
                    <a:p>
                      <a:pPr algn="l">
                        <a:lnSpc>
                          <a:spcPts val="1875"/>
                        </a:lnSpc>
                        <a:buNone/>
                      </a:pPr>
                      <a:r>
                        <a:rPr lang="en-US" sz="1600" b="0">
                          <a:effectLst/>
                          <a:latin typeface="quote-cjk-patch"/>
                        </a:rPr>
                        <a:t>AI support</a:t>
                      </a:r>
                    </a:p>
                  </a:txBody>
                  <a:tcPr marL="45659" marR="45659" marT="28537" marB="28537" anchor="ctr">
                    <a:lnL>
                      <a:noFill/>
                    </a:lnL>
                    <a:lnR>
                      <a:noFill/>
                    </a:lnR>
                    <a:lnT>
                      <a:noFill/>
                    </a:lnT>
                    <a:lnB>
                      <a:noFill/>
                    </a:lnB>
                    <a:solidFill>
                      <a:srgbClr val="FFFF00"/>
                    </a:solidFill>
                  </a:tcPr>
                </a:tc>
                <a:extLst>
                  <a:ext uri="{0D108BD9-81ED-4DB2-BD59-A6C34878D82A}">
                    <a16:rowId xmlns:a16="http://schemas.microsoft.com/office/drawing/2014/main" val="3791557644"/>
                  </a:ext>
                </a:extLst>
              </a:tr>
              <a:tr h="599276">
                <a:tc>
                  <a:txBody>
                    <a:bodyPr/>
                    <a:lstStyle/>
                    <a:p>
                      <a:pPr>
                        <a:lnSpc>
                          <a:spcPts val="1875"/>
                        </a:lnSpc>
                        <a:buNone/>
                      </a:pPr>
                      <a:r>
                        <a:rPr lang="en-US" sz="1600" b="0">
                          <a:effectLst/>
                          <a:latin typeface="quote-cjk-patch"/>
                        </a:rPr>
                        <a:t>Comprehension</a:t>
                      </a:r>
                    </a:p>
                  </a:txBody>
                  <a:tcPr marL="41093" marR="45659" marT="28537" marB="28537" anchor="ctr">
                    <a:lnL>
                      <a:noFill/>
                    </a:lnL>
                    <a:lnR>
                      <a:noFill/>
                    </a:lnR>
                    <a:lnT>
                      <a:noFill/>
                    </a:lnT>
                    <a:lnB>
                      <a:noFill/>
                    </a:lnB>
                    <a:solidFill>
                      <a:srgbClr val="FFFF00"/>
                    </a:solidFill>
                  </a:tcPr>
                </a:tc>
                <a:tc>
                  <a:txBody>
                    <a:bodyPr/>
                    <a:lstStyle/>
                    <a:p>
                      <a:pPr>
                        <a:lnSpc>
                          <a:spcPts val="1875"/>
                        </a:lnSpc>
                        <a:buNone/>
                      </a:pPr>
                      <a:r>
                        <a:rPr lang="en-US" sz="1600" b="0" dirty="0">
                          <a:effectLst/>
                          <a:latin typeface="quote-cjk-patch"/>
                        </a:rPr>
                        <a:t>Identify story angle, key facts, and sensitive points.</a:t>
                      </a:r>
                    </a:p>
                  </a:txBody>
                  <a:tcPr marL="45659"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Summarizes; extracts facts</a:t>
                      </a:r>
                    </a:p>
                  </a:txBody>
                  <a:tcPr marL="45659" marR="41093" marT="28537" marB="28537" anchor="ctr">
                    <a:lnL>
                      <a:noFill/>
                    </a:lnL>
                    <a:lnR>
                      <a:noFill/>
                    </a:lnR>
                    <a:lnT>
                      <a:noFill/>
                    </a:lnT>
                    <a:lnB>
                      <a:noFill/>
                    </a:lnB>
                    <a:solidFill>
                      <a:srgbClr val="FFFF00"/>
                    </a:solidFill>
                  </a:tcPr>
                </a:tc>
                <a:extLst>
                  <a:ext uri="{0D108BD9-81ED-4DB2-BD59-A6C34878D82A}">
                    <a16:rowId xmlns:a16="http://schemas.microsoft.com/office/drawing/2014/main" val="1812876276"/>
                  </a:ext>
                </a:extLst>
              </a:tr>
              <a:tr h="490836">
                <a:tc>
                  <a:txBody>
                    <a:bodyPr/>
                    <a:lstStyle/>
                    <a:p>
                      <a:pPr>
                        <a:lnSpc>
                          <a:spcPts val="1875"/>
                        </a:lnSpc>
                        <a:buNone/>
                      </a:pPr>
                      <a:r>
                        <a:rPr lang="en-US" sz="1600" b="0">
                          <a:effectLst/>
                          <a:latin typeface="quote-cjk-patch"/>
                        </a:rPr>
                        <a:t>Selection / Deletion / Restructuring</a:t>
                      </a:r>
                    </a:p>
                  </a:txBody>
                  <a:tcPr marL="41093"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Decide what to keep, omit, shorten, or foreground.</a:t>
                      </a:r>
                    </a:p>
                  </a:txBody>
                  <a:tcPr marL="45659"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Suggests cuts, summaries, and order.</a:t>
                      </a:r>
                    </a:p>
                  </a:txBody>
                  <a:tcPr marL="45659" marR="41093" marT="28537" marB="28537" anchor="ctr">
                    <a:lnL>
                      <a:noFill/>
                    </a:lnL>
                    <a:lnR>
                      <a:noFill/>
                    </a:lnR>
                    <a:lnT>
                      <a:noFill/>
                    </a:lnT>
                    <a:lnB>
                      <a:noFill/>
                    </a:lnB>
                    <a:solidFill>
                      <a:srgbClr val="FFFF00"/>
                    </a:solidFill>
                  </a:tcPr>
                </a:tc>
                <a:extLst>
                  <a:ext uri="{0D108BD9-81ED-4DB2-BD59-A6C34878D82A}">
                    <a16:rowId xmlns:a16="http://schemas.microsoft.com/office/drawing/2014/main" val="840125930"/>
                  </a:ext>
                </a:extLst>
              </a:tr>
              <a:tr h="490836">
                <a:tc>
                  <a:txBody>
                    <a:bodyPr/>
                    <a:lstStyle/>
                    <a:p>
                      <a:pPr>
                        <a:lnSpc>
                          <a:spcPts val="1875"/>
                        </a:lnSpc>
                        <a:buNone/>
                      </a:pPr>
                      <a:r>
                        <a:rPr lang="en-US" sz="1600" b="0">
                          <a:effectLst/>
                          <a:latin typeface="quote-cjk-patch"/>
                        </a:rPr>
                        <a:t>Terminology</a:t>
                      </a:r>
                    </a:p>
                  </a:txBody>
                  <a:tcPr marL="41093"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Verify names, titles, institutions, and terms.</a:t>
                      </a:r>
                    </a:p>
                  </a:txBody>
                  <a:tcPr marL="45659"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Suggest glossary; checks consistency</a:t>
                      </a:r>
                    </a:p>
                  </a:txBody>
                  <a:tcPr marL="45659" marR="41093" marT="28537" marB="28537" anchor="ctr">
                    <a:lnL>
                      <a:noFill/>
                    </a:lnL>
                    <a:lnR>
                      <a:noFill/>
                    </a:lnR>
                    <a:lnT>
                      <a:noFill/>
                    </a:lnT>
                    <a:lnB>
                      <a:noFill/>
                    </a:lnB>
                    <a:solidFill>
                      <a:srgbClr val="FFFF00"/>
                    </a:solidFill>
                  </a:tcPr>
                </a:tc>
                <a:extLst>
                  <a:ext uri="{0D108BD9-81ED-4DB2-BD59-A6C34878D82A}">
                    <a16:rowId xmlns:a16="http://schemas.microsoft.com/office/drawing/2014/main" val="2182777082"/>
                  </a:ext>
                </a:extLst>
              </a:tr>
              <a:tr h="490836">
                <a:tc>
                  <a:txBody>
                    <a:bodyPr/>
                    <a:lstStyle/>
                    <a:p>
                      <a:pPr>
                        <a:lnSpc>
                          <a:spcPts val="1875"/>
                        </a:lnSpc>
                        <a:buNone/>
                      </a:pPr>
                      <a:r>
                        <a:rPr lang="en-US" sz="1600" b="0" dirty="0">
                          <a:effectLst/>
                          <a:latin typeface="quote-cjk-patch"/>
                        </a:rPr>
                        <a:t>Drafting</a:t>
                      </a:r>
                    </a:p>
                  </a:txBody>
                  <a:tcPr marL="41093"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-Judge accuracy, readability, and genre fit</a:t>
                      </a:r>
                    </a:p>
                  </a:txBody>
                  <a:tcPr marL="45659"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Produce initial translation or trans-edited draft.</a:t>
                      </a:r>
                    </a:p>
                  </a:txBody>
                  <a:tcPr marL="45659" marR="41093" marT="28537" marB="28537" anchor="ctr">
                    <a:lnL>
                      <a:noFill/>
                    </a:lnL>
                    <a:lnR>
                      <a:noFill/>
                    </a:lnR>
                    <a:lnT>
                      <a:noFill/>
                    </a:lnT>
                    <a:lnB>
                      <a:noFill/>
                    </a:lnB>
                    <a:solidFill>
                      <a:srgbClr val="FFFF00"/>
                    </a:solidFill>
                  </a:tcPr>
                </a:tc>
                <a:extLst>
                  <a:ext uri="{0D108BD9-81ED-4DB2-BD59-A6C34878D82A}">
                    <a16:rowId xmlns:a16="http://schemas.microsoft.com/office/drawing/2014/main" val="882027182"/>
                  </a:ext>
                </a:extLst>
              </a:tr>
              <a:tr h="382395">
                <a:tc>
                  <a:txBody>
                    <a:bodyPr/>
                    <a:lstStyle/>
                    <a:p>
                      <a:pPr>
                        <a:lnSpc>
                          <a:spcPts val="1875"/>
                        </a:lnSpc>
                        <a:buNone/>
                      </a:pPr>
                      <a:r>
                        <a:rPr lang="en-US" sz="1600" b="0">
                          <a:effectLst/>
                          <a:latin typeface="quote-cjk-patch"/>
                        </a:rPr>
                        <a:t>Headline / Lead</a:t>
                      </a:r>
                    </a:p>
                  </a:txBody>
                  <a:tcPr marL="41093"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Frame the story clearly and accurately</a:t>
                      </a:r>
                    </a:p>
                  </a:txBody>
                  <a:tcPr marL="45659"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Generate headline and lead options</a:t>
                      </a:r>
                    </a:p>
                  </a:txBody>
                  <a:tcPr marL="45659" marR="41093" marT="28537" marB="28537" anchor="ctr">
                    <a:lnL>
                      <a:noFill/>
                    </a:lnL>
                    <a:lnR>
                      <a:noFill/>
                    </a:lnR>
                    <a:lnT>
                      <a:noFill/>
                    </a:lnT>
                    <a:lnB>
                      <a:noFill/>
                    </a:lnB>
                    <a:solidFill>
                      <a:srgbClr val="FFFF00"/>
                    </a:solidFill>
                  </a:tcPr>
                </a:tc>
                <a:extLst>
                  <a:ext uri="{0D108BD9-81ED-4DB2-BD59-A6C34878D82A}">
                    <a16:rowId xmlns:a16="http://schemas.microsoft.com/office/drawing/2014/main" val="1139814139"/>
                  </a:ext>
                </a:extLst>
              </a:tr>
              <a:tr h="490836">
                <a:tc>
                  <a:txBody>
                    <a:bodyPr/>
                    <a:lstStyle/>
                    <a:p>
                      <a:pPr>
                        <a:lnSpc>
                          <a:spcPts val="1875"/>
                        </a:lnSpc>
                        <a:buNone/>
                      </a:pPr>
                      <a:r>
                        <a:rPr lang="en-US" sz="1600" b="0">
                          <a:effectLst/>
                          <a:latin typeface="quote-cjk-patch"/>
                        </a:rPr>
                        <a:t>Localization / Contextualization</a:t>
                      </a:r>
                    </a:p>
                  </a:txBody>
                  <a:tcPr marL="41093"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Decide what background readers need</a:t>
                      </a:r>
                    </a:p>
                  </a:txBody>
                  <a:tcPr marL="45659"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Suggests context or knowledge gaps.</a:t>
                      </a:r>
                    </a:p>
                  </a:txBody>
                  <a:tcPr marL="45659" marR="41093" marT="28537" marB="28537" anchor="ctr">
                    <a:lnL>
                      <a:noFill/>
                    </a:lnL>
                    <a:lnR>
                      <a:noFill/>
                    </a:lnR>
                    <a:lnT>
                      <a:noFill/>
                    </a:lnT>
                    <a:lnB>
                      <a:noFill/>
                    </a:lnB>
                    <a:solidFill>
                      <a:srgbClr val="FFFF00"/>
                    </a:solidFill>
                  </a:tcPr>
                </a:tc>
                <a:extLst>
                  <a:ext uri="{0D108BD9-81ED-4DB2-BD59-A6C34878D82A}">
                    <a16:rowId xmlns:a16="http://schemas.microsoft.com/office/drawing/2014/main" val="2209483308"/>
                  </a:ext>
                </a:extLst>
              </a:tr>
              <a:tr h="707717">
                <a:tc>
                  <a:txBody>
                    <a:bodyPr/>
                    <a:lstStyle/>
                    <a:p>
                      <a:pPr>
                        <a:lnSpc>
                          <a:spcPts val="1875"/>
                        </a:lnSpc>
                        <a:buNone/>
                      </a:pPr>
                      <a:r>
                        <a:rPr lang="en-US" sz="1600" b="0">
                          <a:effectLst/>
                          <a:latin typeface="quote-cjk-patch"/>
                        </a:rPr>
                        <a:t>Style editing</a:t>
                      </a:r>
                    </a:p>
                  </a:txBody>
                  <a:tcPr marL="41093"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Match platform style, tone, register, and length</a:t>
                      </a:r>
                    </a:p>
                  </a:txBody>
                  <a:tcPr marL="45659"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Improve fluency, concision, readability, and news style.</a:t>
                      </a:r>
                    </a:p>
                  </a:txBody>
                  <a:tcPr marL="45659" marR="41093" marT="28537" marB="28537" anchor="ctr">
                    <a:lnL>
                      <a:noFill/>
                    </a:lnL>
                    <a:lnR>
                      <a:noFill/>
                    </a:lnR>
                    <a:lnT>
                      <a:noFill/>
                    </a:lnT>
                    <a:lnB>
                      <a:noFill/>
                    </a:lnB>
                    <a:solidFill>
                      <a:srgbClr val="FFFF00"/>
                    </a:solidFill>
                  </a:tcPr>
                </a:tc>
                <a:extLst>
                  <a:ext uri="{0D108BD9-81ED-4DB2-BD59-A6C34878D82A}">
                    <a16:rowId xmlns:a16="http://schemas.microsoft.com/office/drawing/2014/main" val="3062243020"/>
                  </a:ext>
                </a:extLst>
              </a:tr>
              <a:tr h="599276">
                <a:tc>
                  <a:txBody>
                    <a:bodyPr/>
                    <a:lstStyle/>
                    <a:p>
                      <a:pPr>
                        <a:lnSpc>
                          <a:spcPts val="1875"/>
                        </a:lnSpc>
                        <a:buNone/>
                      </a:pPr>
                      <a:r>
                        <a:rPr lang="en-US" sz="1600" b="0">
                          <a:effectLst/>
                          <a:latin typeface="quote-cjk-patch"/>
                        </a:rPr>
                        <a:t>Verification</a:t>
                      </a:r>
                    </a:p>
                  </a:txBody>
                  <a:tcPr marL="41093" marR="45659" marT="28537" marB="28537" anchor="ctr">
                    <a:lnL>
                      <a:noFill/>
                    </a:lnL>
                    <a:lnR>
                      <a:noFill/>
                    </a:lnR>
                    <a:lnT>
                      <a:noFill/>
                    </a:lnT>
                    <a:lnB>
                      <a:noFill/>
                    </a:lnB>
                    <a:solidFill>
                      <a:srgbClr val="FFFF00"/>
                    </a:solidFill>
                  </a:tcPr>
                </a:tc>
                <a:tc>
                  <a:txBody>
                    <a:bodyPr/>
                    <a:lstStyle/>
                    <a:p>
                      <a:pPr>
                        <a:lnSpc>
                          <a:spcPts val="1875"/>
                        </a:lnSpc>
                        <a:buNone/>
                      </a:pPr>
                      <a:r>
                        <a:rPr lang="en-US" sz="1600" b="0">
                          <a:effectLst/>
                          <a:latin typeface="quote-cjk-patch"/>
                        </a:rPr>
                        <a:t>Check facts, attribution, risks, and source consistency.</a:t>
                      </a:r>
                    </a:p>
                  </a:txBody>
                  <a:tcPr marL="45659" marR="45659" marT="28537" marB="28537" anchor="ctr">
                    <a:lnL>
                      <a:noFill/>
                    </a:lnL>
                    <a:lnR>
                      <a:noFill/>
                    </a:lnR>
                    <a:lnT>
                      <a:noFill/>
                    </a:lnT>
                    <a:lnB>
                      <a:noFill/>
                    </a:lnB>
                    <a:solidFill>
                      <a:srgbClr val="FFFF00"/>
                    </a:solidFill>
                  </a:tcPr>
                </a:tc>
                <a:tc>
                  <a:txBody>
                    <a:bodyPr/>
                    <a:lstStyle/>
                    <a:p>
                      <a:pPr>
                        <a:lnSpc>
                          <a:spcPts val="1875"/>
                        </a:lnSpc>
                        <a:buNone/>
                      </a:pPr>
                      <a:r>
                        <a:rPr lang="en-US" sz="1600" b="0" dirty="0">
                          <a:effectLst/>
                          <a:latin typeface="quote-cjk-patch"/>
                        </a:rPr>
                        <a:t>Compares source and draft; flags issues.</a:t>
                      </a:r>
                    </a:p>
                  </a:txBody>
                  <a:tcPr marL="45659" marR="41093" marT="28537" marB="28537" anchor="ctr">
                    <a:lnL>
                      <a:noFill/>
                    </a:lnL>
                    <a:lnR>
                      <a:noFill/>
                    </a:lnR>
                    <a:lnT>
                      <a:noFill/>
                    </a:lnT>
                    <a:lnB>
                      <a:noFill/>
                    </a:lnB>
                    <a:solidFill>
                      <a:srgbClr val="FFFF00"/>
                    </a:solidFill>
                  </a:tcPr>
                </a:tc>
                <a:extLst>
                  <a:ext uri="{0D108BD9-81ED-4DB2-BD59-A6C34878D82A}">
                    <a16:rowId xmlns:a16="http://schemas.microsoft.com/office/drawing/2014/main" val="3500239831"/>
                  </a:ext>
                </a:extLst>
              </a:tr>
            </a:tbl>
          </a:graphicData>
        </a:graphic>
      </p:graphicFrame>
    </p:spTree>
    <p:extLst>
      <p:ext uri="{BB962C8B-B14F-4D97-AF65-F5344CB8AC3E}">
        <p14:creationId xmlns:p14="http://schemas.microsoft.com/office/powerpoint/2010/main" val="2480070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9F33C7-C50B-65FC-1541-6244B3E470E5}"/>
              </a:ext>
            </a:extLst>
          </p:cNvPr>
          <p:cNvSpPr>
            <a:spLocks noGrp="1"/>
          </p:cNvSpPr>
          <p:nvPr>
            <p:ph type="title"/>
          </p:nvPr>
        </p:nvSpPr>
        <p:spPr/>
        <p:txBody>
          <a:bodyPr/>
          <a:lstStyle/>
          <a:p>
            <a:r>
              <a:rPr lang="en-US" altLang="zh-CN" sz="2400" dirty="0"/>
              <a:t>Possibility of creating a Multi-Agent System</a:t>
            </a:r>
            <a:endParaRPr lang="zh-CN" altLang="en-US" sz="2400" dirty="0"/>
          </a:p>
        </p:txBody>
      </p:sp>
      <p:graphicFrame>
        <p:nvGraphicFramePr>
          <p:cNvPr id="4" name="内容占位符 3">
            <a:extLst>
              <a:ext uri="{FF2B5EF4-FFF2-40B4-BE49-F238E27FC236}">
                <a16:creationId xmlns:a16="http://schemas.microsoft.com/office/drawing/2014/main" id="{5BBE80A0-69E8-C351-EE31-11C677CACFFA}"/>
              </a:ext>
            </a:extLst>
          </p:cNvPr>
          <p:cNvGraphicFramePr>
            <a:graphicFrameLocks noGrp="1"/>
          </p:cNvGraphicFramePr>
          <p:nvPr>
            <p:ph idx="1"/>
            <p:extLst>
              <p:ext uri="{D42A27DB-BD31-4B8C-83A1-F6EECF244321}">
                <p14:modId xmlns:p14="http://schemas.microsoft.com/office/powerpoint/2010/main" val="662655338"/>
              </p:ext>
            </p:extLst>
          </p:nvPr>
        </p:nvGraphicFramePr>
        <p:xfrm>
          <a:off x="971600" y="1843881"/>
          <a:ext cx="7272808" cy="3314700"/>
        </p:xfrm>
        <a:graphic>
          <a:graphicData uri="http://schemas.openxmlformats.org/drawingml/2006/table">
            <a:tbl>
              <a:tblPr/>
              <a:tblGrid>
                <a:gridCol w="3636404">
                  <a:extLst>
                    <a:ext uri="{9D8B030D-6E8A-4147-A177-3AD203B41FA5}">
                      <a16:colId xmlns:a16="http://schemas.microsoft.com/office/drawing/2014/main" val="1751469062"/>
                    </a:ext>
                  </a:extLst>
                </a:gridCol>
                <a:gridCol w="3636404">
                  <a:extLst>
                    <a:ext uri="{9D8B030D-6E8A-4147-A177-3AD203B41FA5}">
                      <a16:colId xmlns:a16="http://schemas.microsoft.com/office/drawing/2014/main" val="3030590436"/>
                    </a:ext>
                  </a:extLst>
                </a:gridCol>
              </a:tblGrid>
              <a:tr h="0">
                <a:tc>
                  <a:txBody>
                    <a:bodyPr/>
                    <a:lstStyle/>
                    <a:p>
                      <a:pPr algn="l">
                        <a:lnSpc>
                          <a:spcPts val="1875"/>
                        </a:lnSpc>
                        <a:buNone/>
                      </a:pPr>
                      <a:r>
                        <a:rPr lang="en-US" b="0">
                          <a:effectLst/>
                          <a:latin typeface="quote-cjk-patch"/>
                        </a:rPr>
                        <a:t>Workflow stage</a:t>
                      </a:r>
                    </a:p>
                  </a:txBody>
                  <a:tcPr marR="101600" marT="63500" marB="63500" anchor="ctr">
                    <a:lnL>
                      <a:noFill/>
                    </a:lnL>
                    <a:lnR>
                      <a:noFill/>
                    </a:lnR>
                    <a:lnT>
                      <a:noFill/>
                    </a:lnT>
                    <a:lnB>
                      <a:noFill/>
                    </a:lnB>
                    <a:solidFill>
                      <a:srgbClr val="FFFF00"/>
                    </a:solidFill>
                  </a:tcPr>
                </a:tc>
                <a:tc>
                  <a:txBody>
                    <a:bodyPr/>
                    <a:lstStyle/>
                    <a:p>
                      <a:pPr algn="l">
                        <a:lnSpc>
                          <a:spcPts val="1875"/>
                        </a:lnSpc>
                        <a:buNone/>
                      </a:pPr>
                      <a:r>
                        <a:rPr lang="en-US" b="0">
                          <a:effectLst/>
                          <a:latin typeface="quote-cjk-patch"/>
                        </a:rPr>
                        <a:t>Possible AI agent</a:t>
                      </a:r>
                    </a:p>
                  </a:txBody>
                  <a:tcPr marL="101600" marR="101600" marT="63500" marB="63500" anchor="ctr">
                    <a:lnL>
                      <a:noFill/>
                    </a:lnL>
                    <a:lnR>
                      <a:noFill/>
                    </a:lnR>
                    <a:lnT>
                      <a:noFill/>
                    </a:lnT>
                    <a:lnB>
                      <a:noFill/>
                    </a:lnB>
                    <a:solidFill>
                      <a:srgbClr val="FFFF00"/>
                    </a:solidFill>
                  </a:tcPr>
                </a:tc>
                <a:extLst>
                  <a:ext uri="{0D108BD9-81ED-4DB2-BD59-A6C34878D82A}">
                    <a16:rowId xmlns:a16="http://schemas.microsoft.com/office/drawing/2014/main" val="898153657"/>
                  </a:ext>
                </a:extLst>
              </a:tr>
              <a:tr h="0">
                <a:tc>
                  <a:txBody>
                    <a:bodyPr/>
                    <a:lstStyle/>
                    <a:p>
                      <a:pPr>
                        <a:lnSpc>
                          <a:spcPts val="1875"/>
                        </a:lnSpc>
                        <a:buNone/>
                      </a:pPr>
                      <a:r>
                        <a:rPr lang="en-US" b="0">
                          <a:effectLst/>
                          <a:latin typeface="quote-cjk-patch"/>
                        </a:rPr>
                        <a:t>Source Comprehension</a:t>
                      </a:r>
                    </a:p>
                  </a:txBody>
                  <a:tcPr marR="101600" marT="63500" marB="63500" anchor="ctr">
                    <a:lnL>
                      <a:noFill/>
                    </a:lnL>
                    <a:lnR>
                      <a:noFill/>
                    </a:lnR>
                    <a:lnT>
                      <a:noFill/>
                    </a:lnT>
                    <a:lnB>
                      <a:noFill/>
                    </a:lnB>
                    <a:solidFill>
                      <a:srgbClr val="FFFF00"/>
                    </a:solidFill>
                  </a:tcPr>
                </a:tc>
                <a:tc>
                  <a:txBody>
                    <a:bodyPr/>
                    <a:lstStyle/>
                    <a:p>
                      <a:pPr>
                        <a:lnSpc>
                          <a:spcPts val="1875"/>
                        </a:lnSpc>
                        <a:buNone/>
                      </a:pPr>
                      <a:r>
                        <a:rPr lang="en-US" b="0">
                          <a:effectLst/>
                          <a:latin typeface="quote-cjk-patch"/>
                        </a:rPr>
                        <a:t>Source Analyst</a:t>
                      </a:r>
                    </a:p>
                  </a:txBody>
                  <a:tcPr marL="101600" marT="63500" marB="63500" anchor="ctr">
                    <a:lnL>
                      <a:noFill/>
                    </a:lnL>
                    <a:lnR>
                      <a:noFill/>
                    </a:lnR>
                    <a:lnT>
                      <a:noFill/>
                    </a:lnT>
                    <a:lnB>
                      <a:noFill/>
                    </a:lnB>
                    <a:solidFill>
                      <a:srgbClr val="FFFF00"/>
                    </a:solidFill>
                  </a:tcPr>
                </a:tc>
                <a:extLst>
                  <a:ext uri="{0D108BD9-81ED-4DB2-BD59-A6C34878D82A}">
                    <a16:rowId xmlns:a16="http://schemas.microsoft.com/office/drawing/2014/main" val="430869545"/>
                  </a:ext>
                </a:extLst>
              </a:tr>
              <a:tr h="0">
                <a:tc>
                  <a:txBody>
                    <a:bodyPr/>
                    <a:lstStyle/>
                    <a:p>
                      <a:pPr>
                        <a:lnSpc>
                          <a:spcPts val="1875"/>
                        </a:lnSpc>
                        <a:buNone/>
                      </a:pPr>
                      <a:r>
                        <a:rPr lang="en-US" b="0">
                          <a:effectLst/>
                          <a:latin typeface="quote-cjk-patch"/>
                        </a:rPr>
                        <a:t>Selection / Deletion / Restructuring</a:t>
                      </a:r>
                    </a:p>
                  </a:txBody>
                  <a:tcPr marR="101600" marT="63500" marB="63500" anchor="ctr">
                    <a:lnL>
                      <a:noFill/>
                    </a:lnL>
                    <a:lnR>
                      <a:noFill/>
                    </a:lnR>
                    <a:lnT>
                      <a:noFill/>
                    </a:lnT>
                    <a:lnB>
                      <a:noFill/>
                    </a:lnB>
                    <a:solidFill>
                      <a:srgbClr val="FFFF00"/>
                    </a:solidFill>
                  </a:tcPr>
                </a:tc>
                <a:tc>
                  <a:txBody>
                    <a:bodyPr/>
                    <a:lstStyle/>
                    <a:p>
                      <a:pPr>
                        <a:lnSpc>
                          <a:spcPts val="1875"/>
                        </a:lnSpc>
                        <a:buNone/>
                      </a:pPr>
                      <a:r>
                        <a:rPr lang="en-US" b="0">
                          <a:effectLst/>
                          <a:latin typeface="quote-cjk-patch"/>
                        </a:rPr>
                        <a:t>News Editor</a:t>
                      </a:r>
                    </a:p>
                  </a:txBody>
                  <a:tcPr marL="101600" marT="63500" marB="63500" anchor="ctr">
                    <a:lnL>
                      <a:noFill/>
                    </a:lnL>
                    <a:lnR>
                      <a:noFill/>
                    </a:lnR>
                    <a:lnT>
                      <a:noFill/>
                    </a:lnT>
                    <a:lnB>
                      <a:noFill/>
                    </a:lnB>
                    <a:solidFill>
                      <a:srgbClr val="FFFF00"/>
                    </a:solidFill>
                  </a:tcPr>
                </a:tc>
                <a:extLst>
                  <a:ext uri="{0D108BD9-81ED-4DB2-BD59-A6C34878D82A}">
                    <a16:rowId xmlns:a16="http://schemas.microsoft.com/office/drawing/2014/main" val="1584922127"/>
                  </a:ext>
                </a:extLst>
              </a:tr>
              <a:tr h="0">
                <a:tc>
                  <a:txBody>
                    <a:bodyPr/>
                    <a:lstStyle/>
                    <a:p>
                      <a:pPr>
                        <a:lnSpc>
                          <a:spcPts val="1875"/>
                        </a:lnSpc>
                        <a:buNone/>
                      </a:pPr>
                      <a:r>
                        <a:rPr lang="en-US" b="0">
                          <a:effectLst/>
                          <a:latin typeface="quote-cjk-patch"/>
                        </a:rPr>
                        <a:t>Terminology</a:t>
                      </a:r>
                    </a:p>
                  </a:txBody>
                  <a:tcPr marR="101600" marT="63500" marB="63500" anchor="ctr">
                    <a:lnL>
                      <a:noFill/>
                    </a:lnL>
                    <a:lnR>
                      <a:noFill/>
                    </a:lnR>
                    <a:lnT>
                      <a:noFill/>
                    </a:lnT>
                    <a:lnB>
                      <a:noFill/>
                    </a:lnB>
                    <a:solidFill>
                      <a:srgbClr val="FFFF00"/>
                    </a:solidFill>
                  </a:tcPr>
                </a:tc>
                <a:tc>
                  <a:txBody>
                    <a:bodyPr/>
                    <a:lstStyle/>
                    <a:p>
                      <a:pPr>
                        <a:lnSpc>
                          <a:spcPts val="1875"/>
                        </a:lnSpc>
                        <a:buNone/>
                      </a:pPr>
                      <a:r>
                        <a:rPr lang="en-US" b="0">
                          <a:effectLst/>
                          <a:latin typeface="quote-cjk-patch"/>
                        </a:rPr>
                        <a:t>Terminology Checker</a:t>
                      </a:r>
                    </a:p>
                  </a:txBody>
                  <a:tcPr marL="101600" marT="63500" marB="63500" anchor="ctr">
                    <a:lnL>
                      <a:noFill/>
                    </a:lnL>
                    <a:lnR>
                      <a:noFill/>
                    </a:lnR>
                    <a:lnT>
                      <a:noFill/>
                    </a:lnT>
                    <a:lnB>
                      <a:noFill/>
                    </a:lnB>
                    <a:solidFill>
                      <a:srgbClr val="FFFF00"/>
                    </a:solidFill>
                  </a:tcPr>
                </a:tc>
                <a:extLst>
                  <a:ext uri="{0D108BD9-81ED-4DB2-BD59-A6C34878D82A}">
                    <a16:rowId xmlns:a16="http://schemas.microsoft.com/office/drawing/2014/main" val="1639693477"/>
                  </a:ext>
                </a:extLst>
              </a:tr>
              <a:tr h="0">
                <a:tc>
                  <a:txBody>
                    <a:bodyPr/>
                    <a:lstStyle/>
                    <a:p>
                      <a:pPr>
                        <a:lnSpc>
                          <a:spcPts val="1875"/>
                        </a:lnSpc>
                        <a:buNone/>
                      </a:pPr>
                      <a:r>
                        <a:rPr lang="en-US" b="0">
                          <a:effectLst/>
                          <a:latin typeface="quote-cjk-patch"/>
                        </a:rPr>
                        <a:t>Drafting</a:t>
                      </a:r>
                    </a:p>
                  </a:txBody>
                  <a:tcPr marR="101600" marT="63500" marB="63500" anchor="ctr">
                    <a:lnL>
                      <a:noFill/>
                    </a:lnL>
                    <a:lnR>
                      <a:noFill/>
                    </a:lnR>
                    <a:lnT>
                      <a:noFill/>
                    </a:lnT>
                    <a:lnB>
                      <a:noFill/>
                    </a:lnB>
                    <a:solidFill>
                      <a:srgbClr val="FFFF00"/>
                    </a:solidFill>
                  </a:tcPr>
                </a:tc>
                <a:tc>
                  <a:txBody>
                    <a:bodyPr/>
                    <a:lstStyle/>
                    <a:p>
                      <a:pPr>
                        <a:lnSpc>
                          <a:spcPts val="1875"/>
                        </a:lnSpc>
                        <a:buNone/>
                      </a:pPr>
                      <a:r>
                        <a:rPr lang="en-US" b="0">
                          <a:effectLst/>
                          <a:latin typeface="quote-cjk-patch"/>
                        </a:rPr>
                        <a:t>Translator / Trans-Editor</a:t>
                      </a:r>
                    </a:p>
                  </a:txBody>
                  <a:tcPr marL="101600" marT="63500" marB="63500" anchor="ctr">
                    <a:lnL>
                      <a:noFill/>
                    </a:lnL>
                    <a:lnR>
                      <a:noFill/>
                    </a:lnR>
                    <a:lnT>
                      <a:noFill/>
                    </a:lnT>
                    <a:lnB>
                      <a:noFill/>
                    </a:lnB>
                    <a:solidFill>
                      <a:srgbClr val="FFFF00"/>
                    </a:solidFill>
                  </a:tcPr>
                </a:tc>
                <a:extLst>
                  <a:ext uri="{0D108BD9-81ED-4DB2-BD59-A6C34878D82A}">
                    <a16:rowId xmlns:a16="http://schemas.microsoft.com/office/drawing/2014/main" val="2466663860"/>
                  </a:ext>
                </a:extLst>
              </a:tr>
              <a:tr h="0">
                <a:tc>
                  <a:txBody>
                    <a:bodyPr/>
                    <a:lstStyle/>
                    <a:p>
                      <a:pPr>
                        <a:lnSpc>
                          <a:spcPts val="1875"/>
                        </a:lnSpc>
                        <a:buNone/>
                      </a:pPr>
                      <a:r>
                        <a:rPr lang="en-US" b="0">
                          <a:effectLst/>
                          <a:latin typeface="quote-cjk-patch"/>
                        </a:rPr>
                        <a:t>Headline / Lead</a:t>
                      </a:r>
                    </a:p>
                  </a:txBody>
                  <a:tcPr marR="101600" marT="63500" marB="63500" anchor="ctr">
                    <a:lnL>
                      <a:noFill/>
                    </a:lnL>
                    <a:lnR>
                      <a:noFill/>
                    </a:lnR>
                    <a:lnT>
                      <a:noFill/>
                    </a:lnT>
                    <a:lnB>
                      <a:noFill/>
                    </a:lnB>
                    <a:solidFill>
                      <a:srgbClr val="FFFF00"/>
                    </a:solidFill>
                  </a:tcPr>
                </a:tc>
                <a:tc>
                  <a:txBody>
                    <a:bodyPr/>
                    <a:lstStyle/>
                    <a:p>
                      <a:pPr>
                        <a:lnSpc>
                          <a:spcPts val="1875"/>
                        </a:lnSpc>
                        <a:buNone/>
                      </a:pPr>
                      <a:r>
                        <a:rPr lang="en-US" b="0">
                          <a:effectLst/>
                          <a:latin typeface="quote-cjk-patch"/>
                        </a:rPr>
                        <a:t>Headline &amp; Lead Editor</a:t>
                      </a:r>
                    </a:p>
                  </a:txBody>
                  <a:tcPr marL="101600" marT="63500" marB="63500" anchor="ctr">
                    <a:lnL>
                      <a:noFill/>
                    </a:lnL>
                    <a:lnR>
                      <a:noFill/>
                    </a:lnR>
                    <a:lnT>
                      <a:noFill/>
                    </a:lnT>
                    <a:lnB>
                      <a:noFill/>
                    </a:lnB>
                    <a:solidFill>
                      <a:srgbClr val="FFFF00"/>
                    </a:solidFill>
                  </a:tcPr>
                </a:tc>
                <a:extLst>
                  <a:ext uri="{0D108BD9-81ED-4DB2-BD59-A6C34878D82A}">
                    <a16:rowId xmlns:a16="http://schemas.microsoft.com/office/drawing/2014/main" val="615789449"/>
                  </a:ext>
                </a:extLst>
              </a:tr>
              <a:tr h="0">
                <a:tc>
                  <a:txBody>
                    <a:bodyPr/>
                    <a:lstStyle/>
                    <a:p>
                      <a:pPr>
                        <a:lnSpc>
                          <a:spcPts val="1875"/>
                        </a:lnSpc>
                        <a:buNone/>
                      </a:pPr>
                      <a:r>
                        <a:rPr lang="en-US" b="0">
                          <a:effectLst/>
                          <a:latin typeface="quote-cjk-patch"/>
                        </a:rPr>
                        <a:t>Localization / Contextualization</a:t>
                      </a:r>
                    </a:p>
                  </a:txBody>
                  <a:tcPr marR="101600" marT="63500" marB="63500" anchor="ctr">
                    <a:lnL>
                      <a:noFill/>
                    </a:lnL>
                    <a:lnR>
                      <a:noFill/>
                    </a:lnR>
                    <a:lnT>
                      <a:noFill/>
                    </a:lnT>
                    <a:lnB>
                      <a:noFill/>
                    </a:lnB>
                    <a:solidFill>
                      <a:srgbClr val="FFFF00"/>
                    </a:solidFill>
                  </a:tcPr>
                </a:tc>
                <a:tc>
                  <a:txBody>
                    <a:bodyPr/>
                    <a:lstStyle/>
                    <a:p>
                      <a:pPr>
                        <a:lnSpc>
                          <a:spcPts val="1875"/>
                        </a:lnSpc>
                        <a:buNone/>
                      </a:pPr>
                      <a:r>
                        <a:rPr lang="en-US" b="0">
                          <a:effectLst/>
                          <a:latin typeface="quote-cjk-patch"/>
                        </a:rPr>
                        <a:t>Audience Editor</a:t>
                      </a:r>
                    </a:p>
                  </a:txBody>
                  <a:tcPr marL="101600" marT="63500" marB="63500" anchor="ctr">
                    <a:lnL>
                      <a:noFill/>
                    </a:lnL>
                    <a:lnR>
                      <a:noFill/>
                    </a:lnR>
                    <a:lnT>
                      <a:noFill/>
                    </a:lnT>
                    <a:lnB>
                      <a:noFill/>
                    </a:lnB>
                    <a:solidFill>
                      <a:srgbClr val="FFFF00"/>
                    </a:solidFill>
                  </a:tcPr>
                </a:tc>
                <a:extLst>
                  <a:ext uri="{0D108BD9-81ED-4DB2-BD59-A6C34878D82A}">
                    <a16:rowId xmlns:a16="http://schemas.microsoft.com/office/drawing/2014/main" val="2573344529"/>
                  </a:ext>
                </a:extLst>
              </a:tr>
              <a:tr h="0">
                <a:tc>
                  <a:txBody>
                    <a:bodyPr/>
                    <a:lstStyle/>
                    <a:p>
                      <a:pPr>
                        <a:lnSpc>
                          <a:spcPts val="1875"/>
                        </a:lnSpc>
                        <a:buNone/>
                      </a:pPr>
                      <a:r>
                        <a:rPr lang="en-US" b="0">
                          <a:effectLst/>
                          <a:latin typeface="quote-cjk-patch"/>
                        </a:rPr>
                        <a:t>Style editing</a:t>
                      </a:r>
                    </a:p>
                  </a:txBody>
                  <a:tcPr marR="101600" marT="63500" marB="63500" anchor="ctr">
                    <a:lnL>
                      <a:noFill/>
                    </a:lnL>
                    <a:lnR>
                      <a:noFill/>
                    </a:lnR>
                    <a:lnT>
                      <a:noFill/>
                    </a:lnT>
                    <a:lnB>
                      <a:noFill/>
                    </a:lnB>
                    <a:solidFill>
                      <a:srgbClr val="FFFF00"/>
                    </a:solidFill>
                  </a:tcPr>
                </a:tc>
                <a:tc>
                  <a:txBody>
                    <a:bodyPr/>
                    <a:lstStyle/>
                    <a:p>
                      <a:pPr>
                        <a:lnSpc>
                          <a:spcPts val="1875"/>
                        </a:lnSpc>
                        <a:buNone/>
                      </a:pPr>
                      <a:r>
                        <a:rPr lang="en-US" b="0">
                          <a:effectLst/>
                          <a:latin typeface="quote-cjk-patch"/>
                        </a:rPr>
                        <a:t>Style Editor</a:t>
                      </a:r>
                    </a:p>
                  </a:txBody>
                  <a:tcPr marL="101600" marT="63500" marB="63500" anchor="ctr">
                    <a:lnL>
                      <a:noFill/>
                    </a:lnL>
                    <a:lnR>
                      <a:noFill/>
                    </a:lnR>
                    <a:lnT>
                      <a:noFill/>
                    </a:lnT>
                    <a:lnB>
                      <a:noFill/>
                    </a:lnB>
                    <a:solidFill>
                      <a:srgbClr val="FFFF00"/>
                    </a:solidFill>
                  </a:tcPr>
                </a:tc>
                <a:extLst>
                  <a:ext uri="{0D108BD9-81ED-4DB2-BD59-A6C34878D82A}">
                    <a16:rowId xmlns:a16="http://schemas.microsoft.com/office/drawing/2014/main" val="3680181945"/>
                  </a:ext>
                </a:extLst>
              </a:tr>
              <a:tr h="0">
                <a:tc>
                  <a:txBody>
                    <a:bodyPr/>
                    <a:lstStyle/>
                    <a:p>
                      <a:pPr>
                        <a:lnSpc>
                          <a:spcPts val="1875"/>
                        </a:lnSpc>
                        <a:buNone/>
                      </a:pPr>
                      <a:r>
                        <a:rPr lang="en-US" b="0">
                          <a:effectLst/>
                          <a:latin typeface="quote-cjk-patch"/>
                        </a:rPr>
                        <a:t>Verification</a:t>
                      </a:r>
                    </a:p>
                  </a:txBody>
                  <a:tcPr marR="101600" marT="63500" marB="63500" anchor="ctr">
                    <a:lnL>
                      <a:noFill/>
                    </a:lnL>
                    <a:lnR>
                      <a:noFill/>
                    </a:lnR>
                    <a:lnT>
                      <a:noFill/>
                    </a:lnT>
                    <a:lnB>
                      <a:noFill/>
                    </a:lnB>
                    <a:solidFill>
                      <a:srgbClr val="FFFF00"/>
                    </a:solidFill>
                  </a:tcPr>
                </a:tc>
                <a:tc>
                  <a:txBody>
                    <a:bodyPr/>
                    <a:lstStyle/>
                    <a:p>
                      <a:pPr>
                        <a:lnSpc>
                          <a:spcPts val="1875"/>
                        </a:lnSpc>
                        <a:buNone/>
                      </a:pPr>
                      <a:r>
                        <a:rPr lang="en-US" b="0" dirty="0">
                          <a:effectLst/>
                          <a:latin typeface="quote-cjk-patch"/>
                        </a:rPr>
                        <a:t>Fact &amp; Risk Checker</a:t>
                      </a:r>
                    </a:p>
                  </a:txBody>
                  <a:tcPr marL="101600" marT="63500" marB="63500" anchor="ctr">
                    <a:lnL>
                      <a:noFill/>
                    </a:lnL>
                    <a:lnR>
                      <a:noFill/>
                    </a:lnR>
                    <a:lnT>
                      <a:noFill/>
                    </a:lnT>
                    <a:lnB>
                      <a:noFill/>
                    </a:lnB>
                    <a:solidFill>
                      <a:srgbClr val="FFFF00"/>
                    </a:solidFill>
                  </a:tcPr>
                </a:tc>
                <a:extLst>
                  <a:ext uri="{0D108BD9-81ED-4DB2-BD59-A6C34878D82A}">
                    <a16:rowId xmlns:a16="http://schemas.microsoft.com/office/drawing/2014/main" val="3118527209"/>
                  </a:ext>
                </a:extLst>
              </a:tr>
            </a:tbl>
          </a:graphicData>
        </a:graphic>
      </p:graphicFrame>
      <p:sp>
        <p:nvSpPr>
          <p:cNvPr id="6" name="文本框 5">
            <a:extLst>
              <a:ext uri="{FF2B5EF4-FFF2-40B4-BE49-F238E27FC236}">
                <a16:creationId xmlns:a16="http://schemas.microsoft.com/office/drawing/2014/main" id="{694BB394-BBF8-3D49-C3CA-FB95B3699F53}"/>
              </a:ext>
            </a:extLst>
          </p:cNvPr>
          <p:cNvSpPr txBox="1"/>
          <p:nvPr/>
        </p:nvSpPr>
        <p:spPr>
          <a:xfrm>
            <a:off x="1259632" y="5301208"/>
            <a:ext cx="6408712" cy="646331"/>
          </a:xfrm>
          <a:prstGeom prst="rect">
            <a:avLst/>
          </a:prstGeom>
          <a:noFill/>
        </p:spPr>
        <p:txBody>
          <a:bodyPr wrap="square">
            <a:spAutoFit/>
          </a:bodyPr>
          <a:lstStyle/>
          <a:p>
            <a:r>
              <a:rPr lang="en-US" altLang="zh-CN" b="0" i="0" dirty="0">
                <a:solidFill>
                  <a:srgbClr val="0F1115"/>
                </a:solidFill>
                <a:effectLst/>
                <a:latin typeface="quote-cjk-patch"/>
              </a:rPr>
              <a:t>Multi-agent AI can simulate a newsroom workflow, but students should remain the final accountable editors.</a:t>
            </a:r>
            <a:endParaRPr lang="zh-CN" altLang="en-US" dirty="0"/>
          </a:p>
        </p:txBody>
      </p:sp>
    </p:spTree>
    <p:extLst>
      <p:ext uri="{BB962C8B-B14F-4D97-AF65-F5344CB8AC3E}">
        <p14:creationId xmlns:p14="http://schemas.microsoft.com/office/powerpoint/2010/main" val="2950835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3D133F-DAFE-D862-41B2-5249623B58F7}"/>
              </a:ext>
            </a:extLst>
          </p:cNvPr>
          <p:cNvSpPr>
            <a:spLocks noGrp="1"/>
          </p:cNvSpPr>
          <p:nvPr>
            <p:ph type="title"/>
          </p:nvPr>
        </p:nvSpPr>
        <p:spPr/>
        <p:txBody>
          <a:bodyPr/>
          <a:lstStyle/>
          <a:p>
            <a:r>
              <a:rPr lang="en-US" altLang="zh-CN" sz="2400" dirty="0"/>
              <a:t>Why Not Focus on One Specific AI Tool?</a:t>
            </a:r>
            <a:endParaRPr lang="zh-CN" altLang="en-US" sz="2400" dirty="0"/>
          </a:p>
        </p:txBody>
      </p:sp>
      <p:sp>
        <p:nvSpPr>
          <p:cNvPr id="3" name="内容占位符 2">
            <a:extLst>
              <a:ext uri="{FF2B5EF4-FFF2-40B4-BE49-F238E27FC236}">
                <a16:creationId xmlns:a16="http://schemas.microsoft.com/office/drawing/2014/main" id="{B01622E5-0EBE-EA2D-FFF9-FB12CDF2571A}"/>
              </a:ext>
            </a:extLst>
          </p:cNvPr>
          <p:cNvSpPr>
            <a:spLocks noGrp="1"/>
          </p:cNvSpPr>
          <p:nvPr>
            <p:ph idx="1"/>
          </p:nvPr>
        </p:nvSpPr>
        <p:spPr/>
        <p:txBody>
          <a:bodyPr/>
          <a:lstStyle/>
          <a:p>
            <a:pPr marL="0" indent="0">
              <a:buNone/>
            </a:pPr>
            <a:r>
              <a:rPr lang="en-US" altLang="zh-CN" sz="2000" dirty="0"/>
              <a:t>AI tools change quickly.</a:t>
            </a:r>
          </a:p>
          <a:p>
            <a:pPr marL="0" indent="0">
              <a:buNone/>
            </a:pPr>
            <a:r>
              <a:rPr lang="en-US" altLang="zh-CN" sz="2000" dirty="0"/>
              <a:t>Students may have unequal access to paid tools.</a:t>
            </a:r>
          </a:p>
          <a:p>
            <a:pPr marL="0" indent="0">
              <a:buNone/>
            </a:pPr>
            <a:r>
              <a:rPr lang="en-US" altLang="zh-CN" sz="2000" dirty="0"/>
              <a:t>Different institutions have different policies.</a:t>
            </a:r>
          </a:p>
          <a:p>
            <a:pPr marL="0" indent="0">
              <a:buNone/>
            </a:pPr>
            <a:r>
              <a:rPr lang="en-US" altLang="zh-CN" sz="2000" dirty="0"/>
              <a:t>Tool performance varies by task, language pair and news genre.</a:t>
            </a:r>
          </a:p>
          <a:p>
            <a:pPr marL="0" indent="0">
              <a:buNone/>
            </a:pPr>
            <a:r>
              <a:rPr lang="en-US" altLang="zh-CN" sz="2000" dirty="0"/>
              <a:t>Over-reliance reduces transferability.</a:t>
            </a:r>
          </a:p>
          <a:p>
            <a:pPr marL="0" indent="0">
              <a:buNone/>
            </a:pPr>
            <a:endParaRPr lang="en-US" altLang="zh-CN" sz="2000" dirty="0"/>
          </a:p>
          <a:p>
            <a:pPr marL="0" indent="0">
              <a:buNone/>
            </a:pPr>
            <a:r>
              <a:rPr lang="en-US" altLang="zh-CN" sz="2000" dirty="0"/>
              <a:t>The goal is to train transferable AI literacy and editorial judgment, not dependence on one tool.</a:t>
            </a:r>
          </a:p>
          <a:p>
            <a:pPr marL="0" indent="0">
              <a:buNone/>
            </a:pPr>
            <a:endParaRPr lang="zh-CN" altLang="en-US" dirty="0"/>
          </a:p>
        </p:txBody>
      </p:sp>
    </p:spTree>
    <p:extLst>
      <p:ext uri="{BB962C8B-B14F-4D97-AF65-F5344CB8AC3E}">
        <p14:creationId xmlns:p14="http://schemas.microsoft.com/office/powerpoint/2010/main" val="3434850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481FE2-C178-ACC9-0DF3-1D1FE4CEE04B}"/>
              </a:ext>
            </a:extLst>
          </p:cNvPr>
          <p:cNvSpPr>
            <a:spLocks noGrp="1"/>
          </p:cNvSpPr>
          <p:nvPr>
            <p:ph type="title"/>
          </p:nvPr>
        </p:nvSpPr>
        <p:spPr/>
        <p:txBody>
          <a:bodyPr/>
          <a:lstStyle/>
          <a:p>
            <a:r>
              <a:rPr lang="en-US" altLang="zh-CN" sz="2400" dirty="0"/>
              <a:t>Prompting Principles for AI-Assisted News Trans-Editing</a:t>
            </a:r>
            <a:endParaRPr lang="zh-CN" altLang="en-US" sz="2400" dirty="0"/>
          </a:p>
        </p:txBody>
      </p:sp>
      <p:sp>
        <p:nvSpPr>
          <p:cNvPr id="3" name="内容占位符 2">
            <a:extLst>
              <a:ext uri="{FF2B5EF4-FFF2-40B4-BE49-F238E27FC236}">
                <a16:creationId xmlns:a16="http://schemas.microsoft.com/office/drawing/2014/main" id="{1589C599-8651-60D8-5DB8-422EDD4D73A5}"/>
              </a:ext>
            </a:extLst>
          </p:cNvPr>
          <p:cNvSpPr>
            <a:spLocks noGrp="1"/>
          </p:cNvSpPr>
          <p:nvPr>
            <p:ph idx="1"/>
          </p:nvPr>
        </p:nvSpPr>
        <p:spPr>
          <a:xfrm>
            <a:off x="457200" y="1600200"/>
            <a:ext cx="8229600" cy="4781128"/>
          </a:xfrm>
        </p:spPr>
        <p:txBody>
          <a:bodyPr/>
          <a:lstStyle/>
          <a:p>
            <a:pPr marL="0" indent="0">
              <a:buNone/>
            </a:pPr>
            <a:r>
              <a:rPr lang="en-US" altLang="zh-CN" sz="1800" b="1" dirty="0"/>
              <a:t>Define the role</a:t>
            </a:r>
            <a:br>
              <a:rPr lang="en-US" altLang="zh-CN" sz="1800" dirty="0"/>
            </a:br>
            <a:r>
              <a:rPr lang="en-US" altLang="zh-CN" sz="1800" dirty="0"/>
              <a:t>Ask AI to act as a news trans-editor, not just a translator.</a:t>
            </a:r>
            <a:br>
              <a:rPr lang="en-US" altLang="zh-CN" sz="1800" dirty="0"/>
            </a:br>
            <a:r>
              <a:rPr lang="en-US" altLang="zh-CN" sz="1800" b="1" dirty="0"/>
              <a:t>Specify the task</a:t>
            </a:r>
            <a:br>
              <a:rPr lang="en-US" altLang="zh-CN" sz="1800" dirty="0"/>
            </a:br>
            <a:r>
              <a:rPr lang="en-US" altLang="zh-CN" sz="1800" dirty="0"/>
              <a:t>Translation, compression, headline rewriting, lead revision, style editing, or verification.</a:t>
            </a:r>
            <a:br>
              <a:rPr lang="en-US" altLang="zh-CN" sz="1800" dirty="0"/>
            </a:br>
            <a:r>
              <a:rPr lang="en-US" altLang="zh-CN" sz="1800" b="1" dirty="0"/>
              <a:t>Provide context</a:t>
            </a:r>
            <a:br>
              <a:rPr lang="en-US" altLang="zh-CN" sz="1800" dirty="0"/>
            </a:br>
            <a:r>
              <a:rPr lang="en-US" altLang="zh-CN" sz="1800" dirty="0"/>
              <a:t>Source, target audience, platform, news genre, and intended length.</a:t>
            </a:r>
            <a:br>
              <a:rPr lang="en-US" altLang="zh-CN" sz="1800" dirty="0"/>
            </a:br>
            <a:r>
              <a:rPr lang="en-US" altLang="zh-CN" sz="1800" b="1" dirty="0"/>
              <a:t>Set constraints</a:t>
            </a:r>
            <a:br>
              <a:rPr lang="en-US" altLang="zh-CN" sz="1800" dirty="0"/>
            </a:br>
            <a:r>
              <a:rPr lang="en-US" altLang="zh-CN" sz="1800" dirty="0"/>
              <a:t>Preserve facts, attribution, tone, legal caution, and journalistic neutrality.</a:t>
            </a:r>
            <a:br>
              <a:rPr lang="en-US" altLang="zh-CN" sz="1800" dirty="0"/>
            </a:br>
            <a:r>
              <a:rPr lang="en-US" altLang="zh-CN" sz="1800" b="1" dirty="0"/>
              <a:t>Request options</a:t>
            </a:r>
            <a:br>
              <a:rPr lang="en-US" altLang="zh-CN" sz="1800" dirty="0"/>
            </a:br>
            <a:r>
              <a:rPr lang="en-US" altLang="zh-CN" sz="1800" dirty="0"/>
              <a:t>Ask for alternative headlines, leads, structures, or wording choices.</a:t>
            </a:r>
            <a:br>
              <a:rPr lang="en-US" altLang="zh-CN" sz="1800" dirty="0"/>
            </a:br>
            <a:r>
              <a:rPr lang="en-US" altLang="zh-CN" sz="1800" b="1" dirty="0"/>
              <a:t>Require justification</a:t>
            </a:r>
            <a:br>
              <a:rPr lang="en-US" altLang="zh-CN" sz="1800" dirty="0"/>
            </a:br>
            <a:r>
              <a:rPr lang="en-US" altLang="zh-CN" sz="1800" dirty="0"/>
              <a:t>Ask AI to explain major changes, omissions, or framing choices.</a:t>
            </a:r>
            <a:br>
              <a:rPr lang="en-US" altLang="zh-CN" sz="1800" dirty="0"/>
            </a:br>
            <a:r>
              <a:rPr lang="en-US" altLang="zh-CN" sz="1800" b="1" dirty="0"/>
              <a:t>Verify, then revise</a:t>
            </a:r>
            <a:br>
              <a:rPr lang="en-US" altLang="zh-CN" sz="1800" dirty="0"/>
            </a:br>
            <a:r>
              <a:rPr lang="en-US" altLang="zh-CN" sz="1800" dirty="0"/>
              <a:t>Treat AI output as a draft, not as the final version.</a:t>
            </a:r>
            <a:endParaRPr lang="zh-CN" altLang="en-US" sz="1800" dirty="0"/>
          </a:p>
        </p:txBody>
      </p:sp>
    </p:spTree>
    <p:extLst>
      <p:ext uri="{BB962C8B-B14F-4D97-AF65-F5344CB8AC3E}">
        <p14:creationId xmlns:p14="http://schemas.microsoft.com/office/powerpoint/2010/main" val="1845171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80BFA7-F28C-DDEB-680E-F4DED06E4F4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158C61F-CC96-28E7-9D9B-D2E5BE694240}"/>
              </a:ext>
            </a:extLst>
          </p:cNvPr>
          <p:cNvSpPr>
            <a:spLocks noGrp="1"/>
          </p:cNvSpPr>
          <p:nvPr>
            <p:ph idx="1"/>
          </p:nvPr>
        </p:nvSpPr>
        <p:spPr/>
        <p:txBody>
          <a:bodyPr/>
          <a:lstStyle/>
          <a:p>
            <a:pPr marL="0" indent="0">
              <a:buNone/>
            </a:pPr>
            <a:r>
              <a:rPr lang="en-US" altLang="zh-CN" sz="2000" dirty="0"/>
              <a:t>In actual use, prompts do not have to be long; they just need to be clear, practical, and followed by careful checking and revision.</a:t>
            </a:r>
            <a:endParaRPr lang="zh-CN" altLang="en-US" sz="2000" dirty="0"/>
          </a:p>
        </p:txBody>
      </p:sp>
    </p:spTree>
    <p:extLst>
      <p:ext uri="{BB962C8B-B14F-4D97-AF65-F5344CB8AC3E}">
        <p14:creationId xmlns:p14="http://schemas.microsoft.com/office/powerpoint/2010/main" val="1866413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5F187-384F-3B59-7A6D-265778B5062B}"/>
              </a:ext>
            </a:extLst>
          </p:cNvPr>
          <p:cNvSpPr>
            <a:spLocks noGrp="1"/>
          </p:cNvSpPr>
          <p:nvPr>
            <p:ph type="title"/>
          </p:nvPr>
        </p:nvSpPr>
        <p:spPr/>
        <p:txBody>
          <a:bodyPr/>
          <a:lstStyle/>
          <a:p>
            <a:r>
              <a:rPr lang="en-US" altLang="zh-CN" sz="2400" dirty="0"/>
              <a:t>Prompt used</a:t>
            </a:r>
            <a:endParaRPr lang="zh-CN" altLang="en-US" sz="2400" dirty="0"/>
          </a:p>
        </p:txBody>
      </p:sp>
      <p:sp>
        <p:nvSpPr>
          <p:cNvPr id="3" name="内容占位符 2">
            <a:extLst>
              <a:ext uri="{FF2B5EF4-FFF2-40B4-BE49-F238E27FC236}">
                <a16:creationId xmlns:a16="http://schemas.microsoft.com/office/drawing/2014/main" id="{5AB0D363-1816-A0CF-FCF4-7478C61D1B22}"/>
              </a:ext>
            </a:extLst>
          </p:cNvPr>
          <p:cNvSpPr>
            <a:spLocks noGrp="1"/>
          </p:cNvSpPr>
          <p:nvPr>
            <p:ph idx="1"/>
          </p:nvPr>
        </p:nvSpPr>
        <p:spPr>
          <a:xfrm>
            <a:off x="457200" y="1417638"/>
            <a:ext cx="8229600" cy="4737125"/>
          </a:xfrm>
        </p:spPr>
        <p:txBody>
          <a:bodyPr/>
          <a:lstStyle/>
          <a:p>
            <a:pPr marL="0" indent="0">
              <a:lnSpc>
                <a:spcPts val="2600"/>
              </a:lnSpc>
              <a:buNone/>
            </a:pPr>
            <a:r>
              <a:rPr lang="en-US" altLang="zh-CN" sz="2000" dirty="0"/>
              <a:t>Act as a bilingual news editor. Trans-edit the Chinese news report into English for readers in Hong Kong.</a:t>
            </a:r>
          </a:p>
          <a:p>
            <a:pPr marL="0" indent="0">
              <a:lnSpc>
                <a:spcPts val="2600"/>
              </a:lnSpc>
              <a:buNone/>
            </a:pPr>
            <a:endParaRPr lang="en-US" altLang="zh-CN" sz="2000" dirty="0"/>
          </a:p>
          <a:p>
            <a:pPr marL="0" indent="0">
              <a:lnSpc>
                <a:spcPts val="2600"/>
              </a:lnSpc>
              <a:buNone/>
            </a:pPr>
            <a:r>
              <a:rPr lang="en-US" altLang="zh-CN" sz="2000" dirty="0"/>
              <a:t>Requirements:</a:t>
            </a:r>
          </a:p>
          <a:p>
            <a:pPr marL="0" indent="0">
              <a:lnSpc>
                <a:spcPts val="2600"/>
              </a:lnSpc>
              <a:buNone/>
            </a:pPr>
            <a:r>
              <a:rPr lang="en-US" altLang="zh-CN" sz="2000" dirty="0"/>
              <a:t>150-200 words;</a:t>
            </a:r>
            <a:br>
              <a:rPr lang="en-US" altLang="zh-CN" sz="2000" dirty="0"/>
            </a:br>
            <a:r>
              <a:rPr lang="en-US" altLang="zh-CN" sz="2000" dirty="0"/>
              <a:t>English hard-news writing style;</a:t>
            </a:r>
            <a:br>
              <a:rPr lang="en-US" altLang="zh-CN" sz="2000" dirty="0"/>
            </a:br>
            <a:r>
              <a:rPr lang="en-US" altLang="zh-CN" sz="2000" dirty="0"/>
              <a:t>Retain names, numbers, dates and attribution accurately;</a:t>
            </a:r>
            <a:br>
              <a:rPr lang="en-US" altLang="zh-CN" sz="2000" dirty="0"/>
            </a:br>
            <a:r>
              <a:rPr lang="en-US" altLang="zh-CN" sz="2000" dirty="0"/>
              <a:t>Add background info for Hong Kong readers;</a:t>
            </a:r>
            <a:br>
              <a:rPr lang="en-US" altLang="zh-CN" sz="2000" dirty="0"/>
            </a:br>
            <a:r>
              <a:rPr lang="en-US" altLang="zh-CN" sz="2000" dirty="0"/>
              <a:t>List any facts that require manual verification.</a:t>
            </a:r>
          </a:p>
          <a:p>
            <a:pPr marL="0" indent="0">
              <a:buNone/>
            </a:pPr>
            <a:endParaRPr lang="zh-CN" altLang="en-US" dirty="0"/>
          </a:p>
        </p:txBody>
      </p:sp>
    </p:spTree>
    <p:extLst>
      <p:ext uri="{BB962C8B-B14F-4D97-AF65-F5344CB8AC3E}">
        <p14:creationId xmlns:p14="http://schemas.microsoft.com/office/powerpoint/2010/main" val="42432705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DD4169-FF73-E58F-8D89-E70A7566C21E}"/>
              </a:ext>
            </a:extLst>
          </p:cNvPr>
          <p:cNvSpPr>
            <a:spLocks noGrp="1"/>
          </p:cNvSpPr>
          <p:nvPr>
            <p:ph type="title"/>
          </p:nvPr>
        </p:nvSpPr>
        <p:spPr/>
        <p:txBody>
          <a:bodyPr/>
          <a:lstStyle/>
          <a:p>
            <a:r>
              <a:rPr lang="en-US" altLang="zh-CN" sz="2400" dirty="0"/>
              <a:t> Discussion: What AI Did Well and Poorly</a:t>
            </a:r>
            <a:endParaRPr lang="zh-CN" altLang="en-US" sz="2400" dirty="0"/>
          </a:p>
        </p:txBody>
      </p:sp>
      <p:sp>
        <p:nvSpPr>
          <p:cNvPr id="3" name="内容占位符 2">
            <a:extLst>
              <a:ext uri="{FF2B5EF4-FFF2-40B4-BE49-F238E27FC236}">
                <a16:creationId xmlns:a16="http://schemas.microsoft.com/office/drawing/2014/main" id="{26FBA71D-A773-FBA8-67BD-B458E2FDDE75}"/>
              </a:ext>
            </a:extLst>
          </p:cNvPr>
          <p:cNvSpPr>
            <a:spLocks noGrp="1"/>
          </p:cNvSpPr>
          <p:nvPr>
            <p:ph idx="1"/>
          </p:nvPr>
        </p:nvSpPr>
        <p:spPr/>
        <p:txBody>
          <a:bodyPr/>
          <a:lstStyle/>
          <a:p>
            <a:pPr marL="0" indent="0">
              <a:buNone/>
            </a:pPr>
            <a:r>
              <a:rPr lang="en-US" altLang="zh-CN" sz="2000" dirty="0"/>
              <a:t>Which AI error was most dangerous?</a:t>
            </a:r>
          </a:p>
          <a:p>
            <a:pPr marL="0" indent="0">
              <a:buNone/>
            </a:pPr>
            <a:r>
              <a:rPr lang="en-US" altLang="zh-CN" sz="2000" dirty="0"/>
              <a:t>Which AI error was most subtle?</a:t>
            </a:r>
          </a:p>
          <a:p>
            <a:pPr marL="0" indent="0">
              <a:buNone/>
            </a:pPr>
            <a:r>
              <a:rPr lang="en-US" altLang="zh-CN" sz="2000" dirty="0"/>
              <a:t>Which AI error would students probably miss?</a:t>
            </a:r>
          </a:p>
          <a:p>
            <a:pPr marL="0" indent="0">
              <a:buNone/>
            </a:pPr>
            <a:r>
              <a:rPr lang="en-US" altLang="zh-CN" sz="2000" dirty="0"/>
              <a:t>What kind of prompt or workflow might prevent this?</a:t>
            </a:r>
          </a:p>
          <a:p>
            <a:pPr marL="0" indent="0">
              <a:buNone/>
            </a:pPr>
            <a:r>
              <a:rPr lang="en-US" altLang="zh-CN" sz="2000" dirty="0"/>
              <a:t>What human knowledge is still required?</a:t>
            </a:r>
          </a:p>
          <a:p>
            <a:pPr marL="0" indent="0">
              <a:buNone/>
            </a:pPr>
            <a:r>
              <a:rPr lang="en-US" altLang="zh-CN" sz="2000" dirty="0"/>
              <a:t>How would you turn this error into a teachable moment?</a:t>
            </a:r>
          </a:p>
          <a:p>
            <a:pPr marL="0" indent="0">
              <a:buNone/>
            </a:pPr>
            <a:endParaRPr lang="zh-CN" altLang="en-US" dirty="0"/>
          </a:p>
        </p:txBody>
      </p:sp>
    </p:spTree>
    <p:extLst>
      <p:ext uri="{BB962C8B-B14F-4D97-AF65-F5344CB8AC3E}">
        <p14:creationId xmlns:p14="http://schemas.microsoft.com/office/powerpoint/2010/main" val="3496538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514EAB-EFF1-CDF2-1E37-927231D8DF6F}"/>
              </a:ext>
            </a:extLst>
          </p:cNvPr>
          <p:cNvSpPr>
            <a:spLocks noGrp="1"/>
          </p:cNvSpPr>
          <p:nvPr>
            <p:ph type="title"/>
          </p:nvPr>
        </p:nvSpPr>
        <p:spPr/>
        <p:txBody>
          <a:bodyPr/>
          <a:lstStyle/>
          <a:p>
            <a:r>
              <a:rPr lang="en-US" altLang="zh-CN" sz="2400" dirty="0"/>
              <a:t>What AI Did Well and Poorly</a:t>
            </a:r>
            <a:endParaRPr lang="zh-CN" altLang="en-US" sz="2400" dirty="0"/>
          </a:p>
        </p:txBody>
      </p:sp>
      <p:sp>
        <p:nvSpPr>
          <p:cNvPr id="3" name="内容占位符 2">
            <a:extLst>
              <a:ext uri="{FF2B5EF4-FFF2-40B4-BE49-F238E27FC236}">
                <a16:creationId xmlns:a16="http://schemas.microsoft.com/office/drawing/2014/main" id="{7DA626C3-384F-B9C5-0FCB-EB34E7D6F0A5}"/>
              </a:ext>
            </a:extLst>
          </p:cNvPr>
          <p:cNvSpPr>
            <a:spLocks noGrp="1"/>
          </p:cNvSpPr>
          <p:nvPr>
            <p:ph idx="1"/>
          </p:nvPr>
        </p:nvSpPr>
        <p:spPr>
          <a:xfrm>
            <a:off x="457200" y="1600200"/>
            <a:ext cx="3178696" cy="4525963"/>
          </a:xfrm>
        </p:spPr>
        <p:txBody>
          <a:bodyPr/>
          <a:lstStyle/>
          <a:p>
            <a:pPr marL="0" indent="0">
              <a:buNone/>
            </a:pPr>
            <a:r>
              <a:rPr lang="en-US" altLang="zh-CN" sz="2000" b="1" dirty="0"/>
              <a:t>Common wins:</a:t>
            </a:r>
            <a:endParaRPr lang="en-US" altLang="zh-CN" sz="2000" dirty="0"/>
          </a:p>
          <a:p>
            <a:pPr marL="0" indent="0">
              <a:buNone/>
            </a:pPr>
            <a:r>
              <a:rPr lang="en-US" altLang="zh-CN" sz="2000" dirty="0"/>
              <a:t>speed;</a:t>
            </a:r>
          </a:p>
          <a:p>
            <a:pPr marL="0" indent="0">
              <a:buNone/>
            </a:pPr>
            <a:r>
              <a:rPr lang="en-US" altLang="zh-CN" sz="2000" dirty="0"/>
              <a:t>variant generation;</a:t>
            </a:r>
          </a:p>
          <a:p>
            <a:pPr marL="0" indent="0">
              <a:buNone/>
            </a:pPr>
            <a:r>
              <a:rPr lang="en-US" altLang="zh-CN" sz="2000" dirty="0"/>
              <a:t>headline brainstorming;</a:t>
            </a:r>
          </a:p>
          <a:p>
            <a:pPr marL="0" indent="0">
              <a:buNone/>
            </a:pPr>
            <a:r>
              <a:rPr lang="en-US" altLang="zh-CN" sz="2000" dirty="0" err="1"/>
              <a:t>gisting</a:t>
            </a:r>
            <a:r>
              <a:rPr lang="en-US" altLang="zh-CN" sz="2000" dirty="0"/>
              <a:t>;</a:t>
            </a:r>
          </a:p>
          <a:p>
            <a:pPr marL="0" indent="0">
              <a:buNone/>
            </a:pPr>
            <a:r>
              <a:rPr lang="en-US" altLang="zh-CN" sz="2000" dirty="0"/>
              <a:t>terminology recall;</a:t>
            </a:r>
          </a:p>
          <a:p>
            <a:pPr marL="0" indent="0">
              <a:buNone/>
            </a:pPr>
            <a:r>
              <a:rPr lang="en-US" altLang="zh-CN" sz="2000" dirty="0"/>
              <a:t>structure suggestions;</a:t>
            </a:r>
          </a:p>
          <a:p>
            <a:pPr marL="0" indent="0">
              <a:buNone/>
            </a:pPr>
            <a:r>
              <a:rPr lang="en-US" altLang="zh-CN" sz="2000" dirty="0"/>
              <a:t>concise rewriting.</a:t>
            </a:r>
          </a:p>
          <a:p>
            <a:endParaRPr lang="zh-CN" altLang="en-US" dirty="0"/>
          </a:p>
        </p:txBody>
      </p:sp>
      <p:sp>
        <p:nvSpPr>
          <p:cNvPr id="4" name="内容占位符 2">
            <a:extLst>
              <a:ext uri="{FF2B5EF4-FFF2-40B4-BE49-F238E27FC236}">
                <a16:creationId xmlns:a16="http://schemas.microsoft.com/office/drawing/2014/main" id="{1A840D91-6D5E-3433-C497-410E1B24D6B2}"/>
              </a:ext>
            </a:extLst>
          </p:cNvPr>
          <p:cNvSpPr txBox="1">
            <a:spLocks/>
          </p:cNvSpPr>
          <p:nvPr/>
        </p:nvSpPr>
        <p:spPr>
          <a:xfrm>
            <a:off x="4211960" y="1600200"/>
            <a:ext cx="4248472" cy="4525963"/>
          </a:xfrm>
          <a:prstGeom prst="rect">
            <a:avLst/>
          </a:prstGeom>
          <a:noFill/>
          <a:ln w="9525">
            <a:noFill/>
          </a:ln>
        </p:spPr>
        <p:txBody>
          <a:bodyPr anchor="t" anchorCtr="0"/>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en-US" altLang="zh-CN" sz="1800" b="1" dirty="0"/>
              <a:t>Common failures:</a:t>
            </a:r>
            <a:endParaRPr lang="en-US" altLang="zh-CN" sz="1800" dirty="0"/>
          </a:p>
          <a:p>
            <a:pPr marL="0" indent="0">
              <a:buNone/>
            </a:pPr>
            <a:r>
              <a:rPr lang="en-US" altLang="zh-CN" sz="1800" dirty="0"/>
              <a:t>numbers and dates drift;</a:t>
            </a:r>
          </a:p>
          <a:p>
            <a:pPr marL="0" indent="0">
              <a:buNone/>
            </a:pPr>
            <a:r>
              <a:rPr lang="en-US" altLang="zh-CN" sz="1800" dirty="0"/>
              <a:t>invented background;</a:t>
            </a:r>
          </a:p>
          <a:p>
            <a:pPr marL="0" indent="0">
              <a:buNone/>
            </a:pPr>
            <a:r>
              <a:rPr lang="en-US" altLang="zh-CN" sz="1800" dirty="0"/>
              <a:t>loss of attribution;</a:t>
            </a:r>
          </a:p>
          <a:p>
            <a:pPr marL="0" indent="0">
              <a:buNone/>
            </a:pPr>
            <a:r>
              <a:rPr lang="en-US" altLang="zh-CN" sz="1800" dirty="0"/>
              <a:t>overconfident causal language;</a:t>
            </a:r>
          </a:p>
          <a:p>
            <a:pPr marL="0" indent="0">
              <a:buNone/>
            </a:pPr>
            <a:r>
              <a:rPr lang="en-US" altLang="zh-CN" sz="1800" dirty="0"/>
              <a:t>loaded terms;</a:t>
            </a:r>
          </a:p>
          <a:p>
            <a:pPr marL="0" indent="0">
              <a:buNone/>
            </a:pPr>
            <a:r>
              <a:rPr lang="en-US" altLang="zh-CN" sz="1800" dirty="0"/>
              <a:t>wrong register;</a:t>
            </a:r>
          </a:p>
          <a:p>
            <a:pPr marL="0" indent="0">
              <a:buNone/>
            </a:pPr>
            <a:r>
              <a:rPr lang="en-US" altLang="zh-CN" sz="1800" dirty="0"/>
              <a:t>inappropriate localization;</a:t>
            </a:r>
          </a:p>
          <a:p>
            <a:pPr marL="0" indent="0">
              <a:buNone/>
            </a:pPr>
            <a:r>
              <a:rPr lang="en-US" altLang="zh-CN" sz="1800" dirty="0"/>
              <a:t>headline sensationalism;</a:t>
            </a:r>
          </a:p>
          <a:p>
            <a:pPr marL="0" indent="0">
              <a:buNone/>
            </a:pPr>
            <a:r>
              <a:rPr lang="en-US" altLang="zh-CN" sz="1800" dirty="0"/>
              <a:t>failure to understand legal caution;</a:t>
            </a:r>
          </a:p>
          <a:p>
            <a:pPr marL="0" indent="0">
              <a:buNone/>
            </a:pPr>
            <a:r>
              <a:rPr lang="en-US" altLang="zh-CN" sz="1800" dirty="0"/>
              <a:t>outdated information.</a:t>
            </a:r>
          </a:p>
          <a:p>
            <a:pPr marL="0" indent="0">
              <a:buNone/>
            </a:pPr>
            <a:r>
              <a:rPr lang="en-US" altLang="zh-CN" sz="1800" dirty="0"/>
              <a:t>Students accepting AI explanations uncritically</a:t>
            </a:r>
          </a:p>
          <a:p>
            <a:endParaRPr lang="zh-CN" altLang="en-US" dirty="0"/>
          </a:p>
        </p:txBody>
      </p:sp>
    </p:spTree>
    <p:extLst>
      <p:ext uri="{BB962C8B-B14F-4D97-AF65-F5344CB8AC3E}">
        <p14:creationId xmlns:p14="http://schemas.microsoft.com/office/powerpoint/2010/main" val="37695544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E2NzE3ZDc2NjU4NWFjZWQ5ZTEzZTAzMjZmMzIxNDc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TotalTime>
  <Words>1734</Words>
  <Application>Microsoft Office PowerPoint</Application>
  <PresentationFormat>全屏显示(4:3)</PresentationFormat>
  <Paragraphs>204</Paragraphs>
  <Slides>27</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27</vt:i4>
      </vt:variant>
    </vt:vector>
  </HeadingPairs>
  <TitlesOfParts>
    <vt:vector size="31" baseType="lpstr">
      <vt:lpstr>quote-cjk-patch</vt:lpstr>
      <vt:lpstr>Arial</vt:lpstr>
      <vt:lpstr>Calibri</vt:lpstr>
      <vt:lpstr>默认设计模板</vt:lpstr>
      <vt:lpstr>News-editing in the AI age</vt:lpstr>
      <vt:lpstr> Why News Trans-editing? </vt:lpstr>
      <vt:lpstr>The AI-Age Teaching Challenge</vt:lpstr>
      <vt:lpstr>PowerPoint 演示文稿</vt:lpstr>
      <vt:lpstr>News Worthiness</vt:lpstr>
      <vt:lpstr>Key Dimensions of News Trans-editing</vt:lpstr>
      <vt:lpstr>Style guide tensions(1): Headline style </vt:lpstr>
      <vt:lpstr>Style guide tension (2): Lead style</vt:lpstr>
      <vt:lpstr>Some basic rules for Eng. News lead: </vt:lpstr>
      <vt:lpstr>PowerPoint 演示文稿</vt:lpstr>
      <vt:lpstr>PowerPoint 演示文稿</vt:lpstr>
      <vt:lpstr>PowerPoint 演示文稿</vt:lpstr>
      <vt:lpstr> Style guide tensions (3): Localisation  </vt:lpstr>
      <vt:lpstr>Style guide tensions (4): Register and political nuance</vt:lpstr>
      <vt:lpstr>PowerPoint 演示文稿</vt:lpstr>
      <vt:lpstr>Style guide tension (5): structural difference</vt:lpstr>
      <vt:lpstr>PowerPoint 演示文稿</vt:lpstr>
      <vt:lpstr>PowerPoint 演示文稿</vt:lpstr>
      <vt:lpstr>AI in the news ecosystem</vt:lpstr>
      <vt:lpstr>Where AI Enters the Workflow</vt:lpstr>
      <vt:lpstr>Possibility of creating a Multi-Agent System</vt:lpstr>
      <vt:lpstr>Why Not Focus on One Specific AI Tool?</vt:lpstr>
      <vt:lpstr>Prompting Principles for AI-Assisted News Trans-Editing</vt:lpstr>
      <vt:lpstr>PowerPoint 演示文稿</vt:lpstr>
      <vt:lpstr>Prompt used</vt:lpstr>
      <vt:lpstr> Discussion: What AI Did Well and Poorly</vt:lpstr>
      <vt:lpstr>What AI Did Well and Poorly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_x000b_Translation Theories </dc:title>
  <dc:creator>吴边</dc:creator>
  <cp:lastModifiedBy>边 吴</cp:lastModifiedBy>
  <cp:revision>69</cp:revision>
  <dcterms:created xsi:type="dcterms:W3CDTF">2021-03-03T12:16:00Z</dcterms:created>
  <dcterms:modified xsi:type="dcterms:W3CDTF">2026-09-19T12:50:31Z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2052-11.1.0.12313</vt:lpwstr>
  </property>
  <property fmtid="{D5CDD505-2E9C-101B-9397-08002B2CF9AE}" pid="3" name="ICV">
    <vt:lpwstr>C015D6413B91411C9A1CB84E0490C3C0</vt:lpwstr>
  </property>
</Properties>
</file>